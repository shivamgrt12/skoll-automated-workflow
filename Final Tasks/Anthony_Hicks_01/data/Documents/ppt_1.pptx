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retirement savings</c:v>
                </c:pt>
              </c:strCache>
            </c:strRef>
          </c:tx>
          <c:spPr>
            <a:solidFill>
              <a:srgbClr val="D8A72A"/>
            </a:solidFill>
            <a:ln w="31750">
              <a:solidFill>
                <a:srgbClr val="D8A72A"/>
              </a:solidFill>
            </a:ln>
          </c:spPr>
          <c:cat>
            <c:strRef>
              <c:f>Sheet1!$A$2:$A$9</c:f>
              <c:strCache>
                <c:ptCount val="8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106</c:v>
                </c:pt>
                <c:pt idx="1">
                  <c:v>118</c:v>
                </c:pt>
                <c:pt idx="2">
                  <c:v>131</c:v>
                </c:pt>
                <c:pt idx="3">
                  <c:v>145</c:v>
                </c:pt>
                <c:pt idx="4">
                  <c:v>160</c:v>
                </c:pt>
                <c:pt idx="5">
                  <c:v>176</c:v>
                </c:pt>
                <c:pt idx="6">
                  <c:v>193</c:v>
                </c:pt>
                <c:pt idx="7">
                  <c:v>212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DB1C4"/>
            </a:solidFill>
          </a:ln>
        </c:spPr>
        <c:txPr>
          <a:bodyPr/>
          <a:lstStyle/>
          <a:p>
            <a:pPr>
              <a:defRPr sz="1100">
                <a:solidFill>
                  <a:srgbClr val="9DB1C4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9DB1C4"/>
            </a:solidFill>
          </a:ln>
        </c:spPr>
        <c:txPr>
          <a:bodyPr/>
          <a:lstStyle/>
          <a:p>
            <a:pPr>
              <a:defRPr sz="1100">
                <a:solidFill>
                  <a:srgbClr val="9DB1C4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D8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2F6FA"/>
                </a:solidFill>
                <a:latin typeface="Calibri"/>
              </a:rPr>
              <a:t>Road to Retirement by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971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0C75A"/>
                </a:solidFill>
                <a:latin typeface="Calibri"/>
              </a:rPr>
              <a:t>A personal savings plan, built one steady decision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DB1C4"/>
                </a:solidFill>
                <a:latin typeface="Calibri"/>
              </a:rPr>
              <a:t>Anthony J. Hicks   |   Birmingham, Alabama   |   Reviewed February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8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A"/>
                </a:solidFill>
                <a:latin typeface="Calibri"/>
              </a:rPr>
              <a:t>Where things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D8A72A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06040" cy="2377440"/>
          </a:xfrm>
          <a:prstGeom prst="rect">
            <a:avLst/>
          </a:prstGeom>
          <a:solidFill>
            <a:srgbClr val="17293B"/>
          </a:solidFill>
          <a:ln w="12700">
            <a:solidFill>
              <a:srgbClr val="D8A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0C75A"/>
                </a:solidFill>
                <a:latin typeface="Calibri"/>
              </a:rPr>
              <a:t>Self managed 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2F6FA"/>
                </a:solidFill>
                <a:latin typeface="Calibri"/>
              </a:rPr>
              <a:t>$68,860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9DB1C4"/>
                </a:solidFill>
                <a:latin typeface="Calibri"/>
              </a:rPr>
              <a:t>grown from $56,200 in a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8144" y="1828800"/>
            <a:ext cx="2606040" cy="2377440"/>
          </a:xfrm>
          <a:prstGeom prst="rect">
            <a:avLst/>
          </a:prstGeom>
          <a:solidFill>
            <a:srgbClr val="17293B"/>
          </a:solidFill>
          <a:ln w="12700">
            <a:solidFill>
              <a:srgbClr val="D8A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201168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0C75A"/>
                </a:solidFill>
                <a:latin typeface="Calibri"/>
              </a:rPr>
              <a:t>High yield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2F6FA"/>
                </a:solidFill>
                <a:latin typeface="Calibri"/>
              </a:rPr>
              <a:t>$37,232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35204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9DB1C4"/>
                </a:solidFill>
                <a:latin typeface="Calibri"/>
              </a:rPr>
              <a:t>4.75% yield, no withdrawals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828800"/>
            <a:ext cx="2606040" cy="2377440"/>
          </a:xfrm>
          <a:prstGeom prst="rect">
            <a:avLst/>
          </a:prstGeom>
          <a:solidFill>
            <a:srgbClr val="17293B"/>
          </a:solidFill>
          <a:ln w="12700">
            <a:solidFill>
              <a:srgbClr val="D8A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01168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0C75A"/>
                </a:solidFill>
                <a:latin typeface="Calibri"/>
              </a:rPr>
              <a:t>Age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2F6FA"/>
                </a:solidFill>
                <a:latin typeface="Calibri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5204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9DB1C4"/>
                </a:solidFill>
                <a:latin typeface="Calibri"/>
              </a:rPr>
              <a:t>twelve years at the same carrier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1828800"/>
            <a:ext cx="2606040" cy="2377440"/>
          </a:xfrm>
          <a:prstGeom prst="rect">
            <a:avLst/>
          </a:prstGeom>
          <a:solidFill>
            <a:srgbClr val="17293B"/>
          </a:solidFill>
          <a:ln w="12700">
            <a:solidFill>
              <a:srgbClr val="D8A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201168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0C75A"/>
                </a:solidFill>
                <a:latin typeface="Calibri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2F6FA"/>
                </a:solidFill>
                <a:latin typeface="Calibri"/>
              </a:rPr>
              <a:t>Age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5204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9DB1C4"/>
                </a:solidFill>
                <a:latin typeface="Calibri"/>
              </a:rPr>
              <a:t>park the truck for good by 2032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DB1C4"/>
                </a:solidFill>
                <a:latin typeface="Calibri"/>
              </a:rPr>
              <a:t>No employer match. Every dollar saved is one I set aside myself.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8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A"/>
                </a:solidFill>
                <a:latin typeface="Calibri"/>
              </a:rPr>
              <a:t>Savings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D8A72A"/>
                </a:solidFill>
                <a:latin typeface="Calibri"/>
              </a:rPr>
              <a:t>02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881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9DB1C4"/>
                </a:solidFill>
                <a:latin typeface="Calibri"/>
              </a:rPr>
              <a:t>Illustrative, in thousands. Assumes steady transfers and a moderate return. Actual results vary.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8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A"/>
                </a:solidFill>
                <a:latin typeface="Calibri"/>
              </a:rPr>
              <a:t>Monthly contribution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D8A72A"/>
                </a:solidFill>
                <a:latin typeface="Calibri"/>
              </a:rP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1C2B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27432" marB="27432" anchor="ctr">
                    <a:solidFill>
                      <a:srgbClr val="D8A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C2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R="73152" marT="27432" marB="27432" anchor="ctr">
                    <a:solidFill>
                      <a:srgbClr val="D8A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C2B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73152" marR="73152" marT="27432" marB="27432" anchor="ctr">
                    <a:solidFill>
                      <a:srgbClr val="D8A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C2B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73152" marT="27432" marB="27432" anchor="ctr">
                    <a:solidFill>
                      <a:srgbClr val="D8A72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Self managed IRA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$6,000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Fully deductible, no workplace plan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High yield savings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$2,400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Emergency and house fund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Catch up room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Available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$1,000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Age 50 plus, not yet used</a:t>
                      </a:r>
                    </a:p>
                  </a:txBody>
                  <a:tcPr marL="73152" marR="73152" marT="27432" marB="27432" anchor="ctr">
                    <a:solidFill>
                      <a:srgbClr val="17293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Total set aside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$700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$8,400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2F6FA"/>
                          </a:solidFill>
                          <a:latin typeface="Calibri"/>
                        </a:rPr>
                        <a:t>Before any year end extra</a:t>
                      </a:r>
                    </a:p>
                  </a:txBody>
                  <a:tcPr marL="73152" marR="73152" marT="27432" marB="27432" anchor="ctr">
                    <a:solidFill>
                      <a:srgbClr val="12283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F0C75A"/>
                </a:solidFill>
                <a:latin typeface="Calibri"/>
              </a:rPr>
              <a:t>The plan only works if the transfer clears on the first of the month, every month.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8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A"/>
                </a:solidFill>
                <a:latin typeface="Calibri"/>
              </a:rPr>
              <a:t>Milestones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D8A72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F0C75A"/>
                </a:solidFill>
                <a:latin typeface="Calibri"/>
              </a:rPr>
              <a:t>Now to 2027.</a:t>
            </a:r>
            <a:r>
              <a:rPr sz="1800">
                <a:solidFill>
                  <a:srgbClr val="F2F6FA"/>
                </a:solidFill>
                <a:latin typeface="Calibri"/>
              </a:rPr>
              <a:t>  Keep the IRA transfer steady and grow the high yield account past forty thousand.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0C75A"/>
                </a:solidFill>
                <a:latin typeface="Calibri"/>
              </a:rPr>
              <a:t>Around 2028.</a:t>
            </a:r>
            <a:r>
              <a:rPr sz="1800">
                <a:solidFill>
                  <a:srgbClr val="F2F6FA"/>
                </a:solidFill>
                <a:latin typeface="Calibri"/>
              </a:rPr>
              <a:t>  Start pricing small houses near Nashville and Birmingham, no rush.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0C75A"/>
                </a:solidFill>
                <a:latin typeface="Calibri"/>
              </a:rPr>
              <a:t>By 2030.</a:t>
            </a:r>
            <a:r>
              <a:rPr sz="1800">
                <a:solidFill>
                  <a:srgbClr val="F2F6FA"/>
                </a:solidFill>
                <a:latin typeface="Calibri"/>
              </a:rPr>
              <a:t>  Combined savings near one hundred seventy five thousand if the plan holds.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0C75A"/>
                </a:solidFill>
                <a:latin typeface="Calibri"/>
              </a:rPr>
              <a:t>Age 58 to 60.</a:t>
            </a:r>
            <a:r>
              <a:rPr sz="1800">
                <a:solidFill>
                  <a:srgbClr val="F2F6FA"/>
                </a:solidFill>
                <a:latin typeface="Calibri"/>
              </a:rPr>
              <a:t>  Decide on the last full year of long hauls and the move off the road.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8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2F6FA"/>
                </a:solidFill>
                <a:latin typeface="Calibri"/>
              </a:rPr>
              <a:t>Money is a form of patience.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9184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0C75A"/>
                </a:solidFill>
                <a:latin typeface="Calibri"/>
              </a:rPr>
              <a:t>Thirty years of small, deliberate choices got me here. Seven more steady years and the truck becomes a choice, not a paycheck.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Hicks</dc:creator>
  <cp:lastModifiedBy>Anthony Hicks</cp:lastModifiedBy>
  <cp:revision>1</cp:revision>
  <dcterms:created xsi:type="dcterms:W3CDTF">2026-02-10T09:00:00Z</dcterms:created>
  <dcterms:modified xsi:type="dcterms:W3CDTF">2026-02-10T09:00:00Z</dcterms:modified>
</cp:coreProperties>
</file>