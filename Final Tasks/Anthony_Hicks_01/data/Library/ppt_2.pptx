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Showers</c:v>
                </c:pt>
              </c:strCache>
            </c:strRef>
          </c:tx>
          <c:spPr>
            <a:solidFill>
              <a:srgbClr val="3E7A4C"/>
            </a:solidFill>
            <a:ln w="31750">
              <a:solidFill>
                <a:srgbClr val="3E7A4C"/>
              </a:solidFill>
            </a:ln>
          </c:spPr>
          <c:cat>
            <c:strRef>
              <c:f>Sheet1!$A$2:$A$6</c:f>
              <c:strCache>
                <c:ptCount val="5"/>
                <c:pt idx="0">
                  <c:v>Nashville N</c:v>
                </c:pt>
                <c:pt idx="1">
                  <c:v>Cullman</c:v>
                </c:pt>
                <c:pt idx="2">
                  <c:v>Lincoln Trail</c:v>
                </c:pt>
                <c:pt idx="3">
                  <c:v>Ridge Gateway</c:v>
                </c:pt>
                <c:pt idx="4">
                  <c:v>Music City W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4.6</c:v>
                </c:pt>
                <c:pt idx="1">
                  <c:v>3.8</c:v>
                </c:pt>
                <c:pt idx="2">
                  <c:v>4.0</c:v>
                </c:pt>
                <c:pt idx="3">
                  <c:v>4.3</c:v>
                </c:pt>
                <c:pt idx="4">
                  <c:v>4.1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Parking</c:v>
                </c:pt>
              </c:strCache>
            </c:strRef>
          </c:tx>
          <c:spPr>
            <a:solidFill>
              <a:srgbClr val="C08A2E"/>
            </a:solidFill>
            <a:ln w="31750">
              <a:solidFill>
                <a:srgbClr val="C08A2E"/>
              </a:solidFill>
            </a:ln>
          </c:spPr>
          <c:cat>
            <c:strRef>
              <c:f>Sheet1!$A$2:$A$6</c:f>
              <c:strCache>
                <c:ptCount val="5"/>
                <c:pt idx="0">
                  <c:v>Nashville N</c:v>
                </c:pt>
                <c:pt idx="1">
                  <c:v>Cullman</c:v>
                </c:pt>
                <c:pt idx="2">
                  <c:v>Lincoln Trail</c:v>
                </c:pt>
                <c:pt idx="3">
                  <c:v>Ridge Gateway</c:v>
                </c:pt>
                <c:pt idx="4">
                  <c:v>Music City W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4.2</c:v>
                </c:pt>
                <c:pt idx="1">
                  <c:v>4.4</c:v>
                </c:pt>
                <c:pt idx="2">
                  <c:v>4.3</c:v>
                </c:pt>
                <c:pt idx="3">
                  <c:v>3.5</c:v>
                </c:pt>
                <c:pt idx="4">
                  <c:v>3.6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Food</c:v>
                </c:pt>
              </c:strCache>
            </c:strRef>
          </c:tx>
          <c:spPr>
            <a:solidFill>
              <a:srgbClr val="8FA94B"/>
            </a:solidFill>
            <a:ln w="31750">
              <a:solidFill>
                <a:srgbClr val="8FA94B"/>
              </a:solidFill>
            </a:ln>
          </c:spPr>
          <c:cat>
            <c:strRef>
              <c:f>Sheet1!$A$2:$A$6</c:f>
              <c:strCache>
                <c:ptCount val="5"/>
                <c:pt idx="0">
                  <c:v>Nashville N</c:v>
                </c:pt>
                <c:pt idx="1">
                  <c:v>Cullman</c:v>
                </c:pt>
                <c:pt idx="2">
                  <c:v>Lincoln Trail</c:v>
                </c:pt>
                <c:pt idx="3">
                  <c:v>Ridge Gateway</c:v>
                </c:pt>
                <c:pt idx="4">
                  <c:v>Music City W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4.0</c:v>
                </c:pt>
                <c:pt idx="1">
                  <c:v>3.5</c:v>
                </c:pt>
                <c:pt idx="2">
                  <c:v>3.7</c:v>
                </c:pt>
                <c:pt idx="3">
                  <c:v>3.8</c:v>
                </c:pt>
                <c:pt idx="4">
                  <c:v>4.2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2C25"/>
            </a:solidFill>
          </a:ln>
        </c:spPr>
        <c:txPr>
          <a:bodyPr/>
          <a:lstStyle/>
          <a:p>
            <a:pPr>
              <a:defRPr sz="1100">
                <a:solidFill>
                  <a:srgbClr val="2A2C2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2A2C25"/>
            </a:solidFill>
          </a:ln>
        </c:spPr>
        <c:txPr>
          <a:bodyPr/>
          <a:lstStyle/>
          <a:p>
            <a:pPr>
              <a:defRPr sz="1100">
                <a:solidFill>
                  <a:srgbClr val="2A2C25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2A2C25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4EEDD"/>
                </a:solidFill>
                <a:latin typeface="Georgia"/>
              </a:rPr>
              <a:t>Southeast and Midwest Corridor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031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1">
                <a:solidFill>
                  <a:srgbClr val="2F5D3A"/>
                </a:solidFill>
                <a:latin typeface="Georgia"/>
              </a:rPr>
              <a:t>Where to fuel, where to park, where to sleep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926080"/>
            <a:ext cx="3200400" cy="54864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5852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E6B58"/>
                </a:solidFill>
                <a:latin typeface="Georgia"/>
              </a:rPr>
              <a:t>Field tested notes, kept by Anthony Hicks   |   I-65, I-20, I-40, I-75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4EEDD"/>
                </a:solidFill>
                <a:latin typeface="Georgia"/>
              </a:rPr>
              <a:t>The corridors I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2F5D3A"/>
                </a:solidFill>
                <a:latin typeface="Georgia"/>
              </a:rPr>
              <a:t>I-65, the backbone.</a:t>
            </a:r>
            <a:r>
              <a:rPr sz="1800">
                <a:solidFill>
                  <a:srgbClr val="2A2C25"/>
                </a:solidFill>
                <a:latin typeface="Georgia"/>
              </a:rPr>
              <a:t>  Birmingham up through Nashville to Louisville and Indianapolis. Most of my miles.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2F5D3A"/>
                </a:solidFill>
                <a:latin typeface="Georgia"/>
              </a:rPr>
              <a:t>I-20, the east west.</a:t>
            </a:r>
            <a:r>
              <a:rPr sz="1800">
                <a:solidFill>
                  <a:srgbClr val="2A2C25"/>
                </a:solidFill>
                <a:latin typeface="Georgia"/>
              </a:rPr>
              <a:t>  Birmingham to Atlanta and over to the Carolinas. Daytime through the city.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2F5D3A"/>
                </a:solidFill>
                <a:latin typeface="Georgia"/>
              </a:rPr>
              <a:t>I-40, the Tennessee line.</a:t>
            </a:r>
            <a:r>
              <a:rPr sz="1800">
                <a:solidFill>
                  <a:srgbClr val="2A2C25"/>
                </a:solidFill>
                <a:latin typeface="Georgia"/>
              </a:rPr>
              <a:t>  Memphis to Nashville to Knoxville. Good food, tight weekend parking.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2F5D3A"/>
                </a:solidFill>
                <a:latin typeface="Georgia"/>
              </a:rPr>
              <a:t>I-75, the Midwest reach.</a:t>
            </a:r>
            <a:r>
              <a:rPr sz="1800">
                <a:solidFill>
                  <a:srgbClr val="2A2C25"/>
                </a:solidFill>
                <a:latin typeface="Georgia"/>
              </a:rPr>
              <a:t>  Up to Cincinnati and back. A long turnaround but steady freight.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4EEDD"/>
                </a:solidFill>
                <a:latin typeface="Georgia"/>
              </a:rPr>
              <a:t>Top rated stops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4EEDD"/>
                          </a:solidFill>
                          <a:latin typeface="Calibri"/>
                        </a:rPr>
                        <a:t>Stop</a:t>
                      </a:r>
                    </a:p>
                  </a:txBody>
                  <a:tcPr marL="73152" marR="73152" marT="27432" marB="27432" anchor="ctr">
                    <a:solidFill>
                      <a:srgbClr val="2F5D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4EEDD"/>
                          </a:solidFill>
                          <a:latin typeface="Calibri"/>
                        </a:rPr>
                        <a:t>Exit</a:t>
                      </a:r>
                    </a:p>
                  </a:txBody>
                  <a:tcPr marL="73152" marR="73152" marT="27432" marB="27432" anchor="ctr">
                    <a:solidFill>
                      <a:srgbClr val="2F5D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4EEDD"/>
                          </a:solidFill>
                          <a:latin typeface="Calibri"/>
                        </a:rPr>
                        <a:t>Showers</a:t>
                      </a:r>
                    </a:p>
                  </a:txBody>
                  <a:tcPr marL="73152" marR="73152" marT="27432" marB="27432" anchor="ctr">
                    <a:solidFill>
                      <a:srgbClr val="2F5D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4EEDD"/>
                          </a:solidFill>
                          <a:latin typeface="Calibri"/>
                        </a:rPr>
                        <a:t>Parking</a:t>
                      </a:r>
                    </a:p>
                  </a:txBody>
                  <a:tcPr marL="73152" marR="73152" marT="27432" marB="27432" anchor="ctr">
                    <a:solidFill>
                      <a:srgbClr val="2F5D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4EEDD"/>
                          </a:solidFill>
                          <a:latin typeface="Calibri"/>
                        </a:rPr>
                        <a:t>Food</a:t>
                      </a:r>
                    </a:p>
                  </a:txBody>
                  <a:tcPr marL="73152" marR="73152" marT="27432" marB="27432" anchor="ctr">
                    <a:solidFill>
                      <a:srgbClr val="2F5D3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Nashville North</a:t>
                      </a:r>
                    </a:p>
                  </a:txBody>
                  <a:tcPr marL="73152" marR="73152" marT="27432" marB="27432" anchor="ctr">
                    <a:solidFill>
                      <a:srgbClr val="FFF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I-65 Exit 231</a:t>
                      </a:r>
                    </a:p>
                  </a:txBody>
                  <a:tcPr marL="73152" marR="73152" marT="27432" marB="27432" anchor="ctr">
                    <a:solidFill>
                      <a:srgbClr val="FFF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4.6</a:t>
                      </a:r>
                    </a:p>
                  </a:txBody>
                  <a:tcPr marL="73152" marR="73152" marT="27432" marB="27432" anchor="ctr">
                    <a:solidFill>
                      <a:srgbClr val="FFF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4.2</a:t>
                      </a:r>
                    </a:p>
                  </a:txBody>
                  <a:tcPr marL="73152" marR="73152" marT="27432" marB="27432" anchor="ctr">
                    <a:solidFill>
                      <a:srgbClr val="FFF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73152" marR="73152" marT="27432" marB="27432" anchor="ctr">
                    <a:solidFill>
                      <a:srgbClr val="FFFD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Cullman Plaza</a:t>
                      </a:r>
                    </a:p>
                  </a:txBody>
                  <a:tcPr marL="73152" marR="73152" marT="27432" marB="27432" anchor="ctr">
                    <a:solidFill>
                      <a:srgbClr val="EFE7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I-65 Exit 99</a:t>
                      </a:r>
                    </a:p>
                  </a:txBody>
                  <a:tcPr marL="73152" marR="73152" marT="27432" marB="27432" anchor="ctr">
                    <a:solidFill>
                      <a:srgbClr val="EFE7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3.8</a:t>
                      </a:r>
                    </a:p>
                  </a:txBody>
                  <a:tcPr marL="73152" marR="73152" marT="27432" marB="27432" anchor="ctr">
                    <a:solidFill>
                      <a:srgbClr val="EFE7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4.4</a:t>
                      </a:r>
                    </a:p>
                  </a:txBody>
                  <a:tcPr marL="73152" marR="73152" marT="27432" marB="27432" anchor="ctr">
                    <a:solidFill>
                      <a:srgbClr val="EFE7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 marL="73152" marR="73152" marT="27432" marB="27432" anchor="ctr">
                    <a:solidFill>
                      <a:srgbClr val="EFE7D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Lincoln Trail</a:t>
                      </a:r>
                    </a:p>
                  </a:txBody>
                  <a:tcPr marL="73152" marR="73152" marT="27432" marB="27432" anchor="ctr">
                    <a:solidFill>
                      <a:srgbClr val="FFF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I-65 Exit 308</a:t>
                      </a:r>
                    </a:p>
                  </a:txBody>
                  <a:tcPr marL="73152" marR="73152" marT="27432" marB="27432" anchor="ctr">
                    <a:solidFill>
                      <a:srgbClr val="FFF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73152" marR="73152" marT="27432" marB="27432" anchor="ctr">
                    <a:solidFill>
                      <a:srgbClr val="FFF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4.3</a:t>
                      </a:r>
                    </a:p>
                  </a:txBody>
                  <a:tcPr marL="73152" marR="73152" marT="27432" marB="27432" anchor="ctr">
                    <a:solidFill>
                      <a:srgbClr val="FFF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3.7</a:t>
                      </a:r>
                    </a:p>
                  </a:txBody>
                  <a:tcPr marL="73152" marR="73152" marT="27432" marB="27432" anchor="ctr">
                    <a:solidFill>
                      <a:srgbClr val="FFFD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Ridge Gateway</a:t>
                      </a:r>
                    </a:p>
                  </a:txBody>
                  <a:tcPr marL="73152" marR="73152" marT="27432" marB="27432" anchor="ctr">
                    <a:solidFill>
                      <a:srgbClr val="EFE7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I-75 Exit 11</a:t>
                      </a:r>
                    </a:p>
                  </a:txBody>
                  <a:tcPr marL="73152" marR="73152" marT="27432" marB="27432" anchor="ctr">
                    <a:solidFill>
                      <a:srgbClr val="EFE7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4.3</a:t>
                      </a:r>
                    </a:p>
                  </a:txBody>
                  <a:tcPr marL="73152" marR="73152" marT="27432" marB="27432" anchor="ctr">
                    <a:solidFill>
                      <a:srgbClr val="EFE7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 marL="73152" marR="73152" marT="27432" marB="27432" anchor="ctr">
                    <a:solidFill>
                      <a:srgbClr val="EFE7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3.8</a:t>
                      </a:r>
                    </a:p>
                  </a:txBody>
                  <a:tcPr marL="73152" marR="73152" marT="27432" marB="27432" anchor="ctr">
                    <a:solidFill>
                      <a:srgbClr val="EFE7D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Music City West</a:t>
                      </a:r>
                    </a:p>
                  </a:txBody>
                  <a:tcPr marL="73152" marR="73152" marT="27432" marB="27432" anchor="ctr">
                    <a:solidFill>
                      <a:srgbClr val="FFF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I-40 Exit 147</a:t>
                      </a:r>
                    </a:p>
                  </a:txBody>
                  <a:tcPr marL="73152" marR="73152" marT="27432" marB="27432" anchor="ctr">
                    <a:solidFill>
                      <a:srgbClr val="FFF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4.1</a:t>
                      </a:r>
                    </a:p>
                  </a:txBody>
                  <a:tcPr marL="73152" marR="73152" marT="27432" marB="27432" anchor="ctr">
                    <a:solidFill>
                      <a:srgbClr val="FFF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3.6</a:t>
                      </a:r>
                    </a:p>
                  </a:txBody>
                  <a:tcPr marL="73152" marR="73152" marT="27432" marB="27432" anchor="ctr">
                    <a:solidFill>
                      <a:srgbClr val="FFF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A2C25"/>
                          </a:solidFill>
                          <a:latin typeface="Calibri"/>
                        </a:rPr>
                        <a:t>4.2</a:t>
                      </a:r>
                    </a:p>
                  </a:txBody>
                  <a:tcPr marL="73152" marR="73152" marT="27432" marB="27432" anchor="ctr">
                    <a:solidFill>
                      <a:srgbClr val="FFFD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937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E6B58"/>
                </a:solidFill>
                <a:latin typeface="Georgia"/>
              </a:rPr>
              <a:t>Scale is one to five. Showers and parking carry the most weight after dark.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4EEDD"/>
                </a:solidFill>
                <a:latin typeface="Georgia"/>
              </a:rPr>
              <a:t>Ratings by stop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280160"/>
          <a:ext cx="108813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4EEDD"/>
                </a:solidFill>
                <a:latin typeface="Georgia"/>
              </a:rPr>
              <a:t>Pull in early. The good spots are gone by six.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3200400"/>
            <a:ext cx="2743200" cy="54864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3832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DDE7D4"/>
                </a:solidFill>
                <a:latin typeface="Georgia"/>
              </a:rPr>
              <a:t>A vetted stop and a hot shower beats another hour of daylight. Thirty years says so.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Hicks</dc:creator>
  <cp:lastModifiedBy>Anthony Hicks</cp:lastModifiedBy>
  <cp:revision>1</cp:revision>
  <dcterms:created xsi:type="dcterms:W3CDTF">2026-02-10T09:00:00Z</dcterms:created>
  <dcterms:modified xsi:type="dcterms:W3CDTF">2026-02-10T09:00:00Z</dcterms:modified>
</cp:coreProperties>
</file>