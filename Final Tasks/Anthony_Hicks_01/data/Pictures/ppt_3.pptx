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hours per night</c:v>
                </c:pt>
              </c:strCache>
            </c:strRef>
          </c:tx>
          <c:spPr>
            <a:solidFill>
              <a:srgbClr val="36B0B3"/>
            </a:solidFill>
            <a:ln w="31750">
              <a:solidFill>
                <a:srgbClr val="36B0B3"/>
              </a:solidFill>
            </a:ln>
          </c:spPr>
          <c:cat>
            <c:strRef>
              <c:f>Sheet1!$A$2:$A$9</c:f>
              <c:strCache>
                <c:ptCount val="8"/>
                <c:pt idx="0">
                  <c:v>Wk1</c:v>
                </c:pt>
                <c:pt idx="1">
                  <c:v>Wk2</c:v>
                </c:pt>
                <c:pt idx="2">
                  <c:v>Wk3</c:v>
                </c:pt>
                <c:pt idx="3">
                  <c:v>Wk4</c:v>
                </c:pt>
                <c:pt idx="4">
                  <c:v>Wk5</c:v>
                </c:pt>
                <c:pt idx="5">
                  <c:v>Wk6</c:v>
                </c:pt>
                <c:pt idx="6">
                  <c:v>Wk7</c:v>
                </c:pt>
                <c:pt idx="7">
                  <c:v>Wk8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6.9</c:v>
                </c:pt>
                <c:pt idx="1">
                  <c:v>7.1</c:v>
                </c:pt>
                <c:pt idx="2">
                  <c:v>6.6</c:v>
                </c:pt>
                <c:pt idx="3">
                  <c:v>6.8</c:v>
                </c:pt>
                <c:pt idx="4">
                  <c:v>7.0</c:v>
                </c:pt>
                <c:pt idx="5">
                  <c:v>6.5</c:v>
                </c:pt>
                <c:pt idx="6">
                  <c:v>6.9</c:v>
                </c:pt>
                <c:pt idx="7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FB6B8"/>
            </a:solidFill>
          </a:ln>
        </c:spPr>
        <c:txPr>
          <a:bodyPr/>
          <a:lstStyle/>
          <a:p>
            <a:pPr>
              <a:defRPr sz="1100">
                <a:solidFill>
                  <a:srgbClr val="8FB6B8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8FB6B8"/>
            </a:solidFill>
          </a:ln>
        </c:spPr>
        <c:txPr>
          <a:bodyPr/>
          <a:lstStyle/>
          <a:p>
            <a:pPr>
              <a:defRPr sz="1100">
                <a:solidFill>
                  <a:srgbClr val="8FB6B8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Events per hour</c:v>
                </c:pt>
              </c:strCache>
            </c:strRef>
          </c:tx>
          <c:spPr>
            <a:solidFill>
              <a:srgbClr val="6FD3D5"/>
            </a:solidFill>
            <a:ln w="31750">
              <a:solidFill>
                <a:srgbClr val="6FD3D5"/>
              </a:solidFill>
            </a:ln>
          </c:spPr>
          <c:cat>
            <c:strRef>
              <c:f>Sheet1!$A$2:$A$9</c:f>
              <c:strCache>
                <c:ptCount val="8"/>
                <c:pt idx="0">
                  <c:v>Wk1</c:v>
                </c:pt>
                <c:pt idx="1">
                  <c:v>Wk2</c:v>
                </c:pt>
                <c:pt idx="2">
                  <c:v>Wk3</c:v>
                </c:pt>
                <c:pt idx="3">
                  <c:v>Wk4</c:v>
                </c:pt>
                <c:pt idx="4">
                  <c:v>Wk5</c:v>
                </c:pt>
                <c:pt idx="5">
                  <c:v>Wk6</c:v>
                </c:pt>
                <c:pt idx="6">
                  <c:v>Wk7</c:v>
                </c:pt>
                <c:pt idx="7">
                  <c:v>Wk8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3.0</c:v>
                </c:pt>
                <c:pt idx="1">
                  <c:v>3.4</c:v>
                </c:pt>
                <c:pt idx="2">
                  <c:v>3.1</c:v>
                </c:pt>
                <c:pt idx="3">
                  <c:v>3.6</c:v>
                </c:pt>
                <c:pt idx="4">
                  <c:v>3.0</c:v>
                </c:pt>
                <c:pt idx="5">
                  <c:v>3.8</c:v>
                </c:pt>
                <c:pt idx="6">
                  <c:v>3.2</c:v>
                </c:pt>
                <c:pt idx="7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FB6B8"/>
            </a:solidFill>
          </a:ln>
        </c:spPr>
        <c:txPr>
          <a:bodyPr/>
          <a:lstStyle/>
          <a:p>
            <a:pPr>
              <a:defRPr sz="1100">
                <a:solidFill>
                  <a:srgbClr val="8FB6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8FB6B8"/>
            </a:solidFill>
          </a:ln>
        </c:spPr>
        <c:txPr>
          <a:bodyPr/>
          <a:lstStyle/>
          <a:p>
            <a:pPr>
              <a:defRPr sz="1100">
                <a:solidFill>
                  <a:srgbClr val="8FB6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164592" cy="6858000"/>
          </a:xfrm>
          <a:prstGeom prst="rect">
            <a:avLst/>
          </a:prstGeom>
          <a:solidFill>
            <a:srgbClr val="14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0" y="0"/>
            <a:ext cx="164592" cy="6858000"/>
          </a:xfrm>
          <a:prstGeom prst="rect">
            <a:avLst/>
          </a:prstGeom>
          <a:solidFill>
            <a:srgbClr val="36B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07040" y="0"/>
            <a:ext cx="164592" cy="6858000"/>
          </a:xfrm>
          <a:prstGeom prst="rect">
            <a:avLst/>
          </a:prstGeom>
          <a:solidFill>
            <a:srgbClr val="14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AF6F6"/>
                </a:solidFill>
                <a:latin typeface="Calibri"/>
              </a:rPr>
              <a:t>Sleep Apnea and DOT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0040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6FD3D5"/>
                </a:solidFill>
                <a:latin typeface="Calibri"/>
              </a:rPr>
              <a:t>Staying on therapy keeps the medical card, and the card keeps the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521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FB6B8"/>
                </a:solidFill>
                <a:latin typeface="Calibri"/>
              </a:rPr>
              <a:t>Personal therapy summary   |   Anthony Hicks   |   for the sleep clinic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6B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AF6F6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36B0B3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6FD3D5"/>
                </a:solidFill>
                <a:latin typeface="Calibri"/>
              </a:rPr>
              <a:t>The card is annual now.</a:t>
            </a:r>
            <a:r>
              <a:rPr sz="1800">
                <a:solidFill>
                  <a:srgbClr val="EAF6F6"/>
                </a:solidFill>
                <a:latin typeface="Calibri"/>
              </a:rPr>
              <a:t>  Renewal needs ninety days of compliance data at each exam.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6FD3D5"/>
                </a:solidFill>
                <a:latin typeface="Calibri"/>
              </a:rPr>
              <a:t>Compliance has a floor.</a:t>
            </a:r>
            <a:r>
              <a:rPr sz="1800">
                <a:solidFill>
                  <a:srgbClr val="EAF6F6"/>
                </a:solidFill>
                <a:latin typeface="Calibri"/>
              </a:rPr>
              <a:t>  Four hours or more on seventy percent of nights, every thirty day window.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6FD3D5"/>
                </a:solidFill>
                <a:latin typeface="Calibri"/>
              </a:rPr>
              <a:t>The numbers are good.</a:t>
            </a:r>
            <a:r>
              <a:rPr sz="1800">
                <a:solidFill>
                  <a:srgbClr val="EAF6F6"/>
                </a:solidFill>
                <a:latin typeface="Calibri"/>
              </a:rPr>
              <a:t>  Compliance at 93 percent, breathing events at 3.2 per hour on therapy.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6FD3D5"/>
                </a:solidFill>
                <a:latin typeface="Calibri"/>
              </a:rPr>
              <a:t>It is a habit, not a chore.</a:t>
            </a:r>
            <a:r>
              <a:rPr sz="1800">
                <a:solidFill>
                  <a:srgbClr val="EAF6F6"/>
                </a:solidFill>
                <a:latin typeface="Calibri"/>
              </a:rPr>
              <a:t>  Mask on by half past eight, machine synced, lights out by half past nine.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6B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AF6F6"/>
                </a:solidFill>
                <a:latin typeface="Calibri"/>
              </a:rPr>
              <a:t>Nightly hours on therapy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36B0B3"/>
                </a:solidFill>
                <a:latin typeface="Calibri"/>
              </a:rPr>
              <a:t>02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10881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8FB6B8"/>
                </a:solidFill>
                <a:latin typeface="Calibri"/>
              </a:rPr>
              <a:t>Well above the four hour minimum every week. Average near six hours fifty minutes.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6B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AF6F6"/>
                </a:solidFill>
                <a:latin typeface="Calibri"/>
              </a:rPr>
              <a:t>Breathing events per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36B0B3"/>
                </a:solidFill>
                <a:latin typeface="Calibri"/>
              </a:rPr>
              <a:t>03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10881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8FB6B8"/>
                </a:solidFill>
                <a:latin typeface="Calibri"/>
              </a:rPr>
              <a:t>Target is below five. Every week clears it with room to spare.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36B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AF6F6"/>
                </a:solidFill>
                <a:latin typeface="Calibri"/>
              </a:rPr>
              <a:t>Supply replacement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45720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i="0">
                <a:solidFill>
                  <a:srgbClr val="36B0B3"/>
                </a:solidFill>
                <a:latin typeface="Calibri"/>
              </a:rPr>
              <a:t>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070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3A3E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36B0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3A3E"/>
                          </a:solidFill>
                          <a:latin typeface="Calibri"/>
                        </a:rPr>
                        <a:t>Replace every</a:t>
                      </a:r>
                    </a:p>
                  </a:txBody>
                  <a:tcPr marL="73152" marR="73152" marT="27432" marB="27432" anchor="ctr">
                    <a:solidFill>
                      <a:srgbClr val="36B0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3A3E"/>
                          </a:solidFill>
                          <a:latin typeface="Calibri"/>
                        </a:rPr>
                        <a:t>Next due</a:t>
                      </a:r>
                    </a:p>
                  </a:txBody>
                  <a:tcPr marL="73152" marR="73152" marT="27432" marB="27432" anchor="ctr">
                    <a:solidFill>
                      <a:srgbClr val="36B0B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Nasal pillow cushion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2 weeks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Nov 15, 2025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Ultra fine filter</a:t>
                      </a:r>
                    </a:p>
                  </a:txBody>
                  <a:tcPr marL="73152" marR="73152" marT="27432" marB="27432" anchor="ctr">
                    <a:solidFill>
                      <a:srgbClr val="103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1 month</a:t>
                      </a:r>
                    </a:p>
                  </a:txBody>
                  <a:tcPr marL="73152" marR="73152" marT="27432" marB="27432" anchor="ctr">
                    <a:solidFill>
                      <a:srgbClr val="103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Dec 1, 2025</a:t>
                      </a:r>
                    </a:p>
                  </a:txBody>
                  <a:tcPr marL="73152" marR="73152" marT="27432" marB="27432" anchor="ctr">
                    <a:solidFill>
                      <a:srgbClr val="1034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Heated tubing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3 months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Feb 1, 2026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Full mask frame</a:t>
                      </a:r>
                    </a:p>
                  </a:txBody>
                  <a:tcPr marL="73152" marR="73152" marT="27432" marB="27432" anchor="ctr">
                    <a:solidFill>
                      <a:srgbClr val="103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6 months</a:t>
                      </a:r>
                    </a:p>
                  </a:txBody>
                  <a:tcPr marL="73152" marR="73152" marT="27432" marB="27432" anchor="ctr">
                    <a:solidFill>
                      <a:srgbClr val="103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Jan 2027</a:t>
                      </a:r>
                    </a:p>
                  </a:txBody>
                  <a:tcPr marL="73152" marR="73152" marT="27432" marB="27432" anchor="ctr">
                    <a:solidFill>
                      <a:srgbClr val="1034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Device review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5 years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AF6F6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73152" marR="73152" marT="27432" marB="27432" anchor="ctr">
                    <a:solidFill>
                      <a:srgbClr val="143E4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6FD3D5"/>
                </a:solidFill>
                <a:latin typeface="Calibri"/>
              </a:rPr>
              <a:t>Auto shipped and billed to insurance. Next renewal exam January 28, 2027.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Hicks</dc:creator>
  <cp:lastModifiedBy>Anthony Hicks</cp:lastModifiedBy>
  <cp:revision>1</cp:revision>
  <dcterms:created xsi:type="dcterms:W3CDTF">2026-02-10T09:00:00Z</dcterms:created>
  <dcterms:modified xsi:type="dcterms:W3CDTF">2026-02-10T09:00:00Z</dcterms:modified>
</cp:coreProperties>
</file>