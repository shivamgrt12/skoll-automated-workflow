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Miles</c:v>
                </c:pt>
              </c:strCache>
            </c:strRef>
          </c:tx>
          <c:spPr>
            <a:solidFill>
              <a:srgbClr val="C7384F"/>
            </a:solidFill>
            <a:ln w="31750">
              <a:solidFill>
                <a:srgbClr val="C7384F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10240</c:v>
                </c:pt>
                <c:pt idx="1">
                  <c:v>9880</c:v>
                </c:pt>
                <c:pt idx="2">
                  <c:v>11020</c:v>
                </c:pt>
                <c:pt idx="3">
                  <c:v>10460</c:v>
                </c:pt>
                <c:pt idx="4">
                  <c:v>11240</c:v>
                </c:pt>
                <c:pt idx="5">
                  <c:v>10760</c:v>
                </c:pt>
                <c:pt idx="6">
                  <c:v>11120</c:v>
                </c:pt>
                <c:pt idx="7">
                  <c:v>10980</c:v>
                </c:pt>
                <c:pt idx="8">
                  <c:v>10320</c:v>
                </c:pt>
                <c:pt idx="9">
                  <c:v>11460</c:v>
                </c:pt>
                <c:pt idx="10">
                  <c:v>9980</c:v>
                </c:pt>
                <c:pt idx="11">
                  <c:v>8920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9DA6"/>
            </a:solidFill>
          </a:ln>
        </c:spPr>
        <c:txPr>
          <a:bodyPr/>
          <a:lstStyle/>
          <a:p>
            <a:pPr>
              <a:defRPr sz="1100">
                <a:solidFill>
                  <a:srgbClr val="9A9DA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9A9DA6"/>
            </a:solidFill>
          </a:ln>
        </c:spPr>
        <c:txPr>
          <a:bodyPr/>
          <a:lstStyle/>
          <a:p>
            <a:pPr>
              <a:defRPr sz="1100">
                <a:solidFill>
                  <a:srgbClr val="9A9DA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73152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1F1F3"/>
                </a:solidFill>
                <a:latin typeface="Calibri"/>
              </a:rPr>
              <a:t>2025 Driving Year in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9260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C7384F"/>
                </a:solidFill>
                <a:latin typeface="Calibri"/>
              </a:rPr>
              <a:t>One year, one truck, a quarter million safe miles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9A9DA6"/>
                </a:solidFill>
                <a:latin typeface="Calibri"/>
              </a:rPr>
              <a:t>Anthony J. Hicks, Driver RFS-1847   |   Ridgeline Freight Solutions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1F1F3"/>
                </a:solidFill>
                <a:latin typeface="Calibri"/>
              </a:rPr>
              <a:t>The headline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9E1B32"/>
                </a:solidFill>
                <a:latin typeface="Calibr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2606040" cy="2286000"/>
          </a:xfrm>
          <a:prstGeom prst="rect">
            <a:avLst/>
          </a:prstGeom>
          <a:solidFill>
            <a:srgbClr val="212329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C9A227"/>
                </a:solidFill>
                <a:latin typeface="Calibri"/>
              </a:rPr>
              <a:t>126,480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9A9DA6"/>
                </a:solidFill>
                <a:latin typeface="Calibri"/>
              </a:rPr>
              <a:t>miles driven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38144" y="1920240"/>
            <a:ext cx="2606040" cy="2286000"/>
          </a:xfrm>
          <a:prstGeom prst="rect">
            <a:avLst/>
          </a:prstGeom>
          <a:solidFill>
            <a:srgbClr val="212329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8144" y="23317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C9A227"/>
                </a:solidFill>
                <a:latin typeface="Calibri"/>
              </a:rPr>
              <a:t>248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144" y="338328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9A9DA6"/>
                </a:solidFill>
                <a:latin typeface="Calibri"/>
              </a:rPr>
              <a:t>loads completed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1920240"/>
            <a:ext cx="2606040" cy="2286000"/>
          </a:xfrm>
          <a:prstGeom prst="rect">
            <a:avLst/>
          </a:prstGeom>
          <a:solidFill>
            <a:srgbClr val="212329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23317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C9A227"/>
                </a:solidFill>
                <a:latin typeface="Calibri"/>
              </a:rPr>
              <a:t>98.2%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338328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9A9DA6"/>
                </a:solidFill>
                <a:latin typeface="Calibri"/>
              </a:rPr>
              <a:t>on time delivery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72" y="1920240"/>
            <a:ext cx="2606040" cy="2286000"/>
          </a:xfrm>
          <a:prstGeom prst="rect">
            <a:avLst/>
          </a:prstGeom>
          <a:solidFill>
            <a:srgbClr val="212329"/>
          </a:solidFill>
          <a:ln w="12700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233172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C9A227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338328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9A9DA6"/>
                </a:solidFill>
                <a:latin typeface="Calibri"/>
              </a:rPr>
              <a:t>at fault accidents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C7384F"/>
                </a:solidFill>
                <a:latin typeface="Calibri"/>
              </a:rPr>
              <a:t>Top five percent of the fleet. Zero violations across four roadside inspections.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1F1F3"/>
                </a:solidFill>
                <a:latin typeface="Calibri"/>
              </a:rPr>
              <a:t>Miles by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9E1B32"/>
                </a:solidFill>
                <a:latin typeface="Calibri"/>
              </a:rPr>
              <a:t>02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108813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9A9DA6"/>
                </a:solidFill>
                <a:latin typeface="Calibri"/>
              </a:rPr>
              <a:t>December dips for home time and the holidays. Steady the rest of the year.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1F1F3"/>
                </a:solidFill>
                <a:latin typeface="Calibri"/>
              </a:rPr>
              <a:t>Top lanes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9E1B32"/>
                </a:solidFill>
                <a:latin typeface="Calibri"/>
              </a:rPr>
              <a:t>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1F1F3"/>
                          </a:solidFill>
                          <a:latin typeface="Calibri"/>
                        </a:rPr>
                        <a:t>Lane</a:t>
                      </a:r>
                    </a:p>
                  </a:txBody>
                  <a:tcPr marL="73152" marR="73152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1F1F3"/>
                          </a:solidFill>
                          <a:latin typeface="Calibri"/>
                        </a:rPr>
                        <a:t>Corridor</a:t>
                      </a:r>
                    </a:p>
                  </a:txBody>
                  <a:tcPr marL="73152" marR="73152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1F1F3"/>
                          </a:solidFill>
                          <a:latin typeface="Calibri"/>
                        </a:rPr>
                        <a:t>Loads</a:t>
                      </a:r>
                    </a:p>
                  </a:txBody>
                  <a:tcPr marL="73152" marR="73152" marT="27432" marB="27432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1F1F3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73152" marR="73152" marT="27432" marB="27432" anchor="ctr">
                    <a:solidFill>
                      <a:srgbClr val="9E1B3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Birmingham to Nashville</a:t>
                      </a:r>
                    </a:p>
                  </a:txBody>
                  <a:tcPr marL="73152" marR="73152" marT="27432" marB="27432" anchor="ctr">
                    <a:solidFill>
                      <a:srgbClr val="212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I-65</a:t>
                      </a:r>
                    </a:p>
                  </a:txBody>
                  <a:tcPr marL="73152" marR="73152" marT="27432" marB="27432" anchor="ctr">
                    <a:solidFill>
                      <a:srgbClr val="212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3152" marR="73152" marT="27432" marB="27432" anchor="ctr">
                    <a:solidFill>
                      <a:srgbClr val="212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73152" marR="73152" marT="27432" marB="27432" anchor="ctr">
                    <a:solidFill>
                      <a:srgbClr val="212329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Nashville to Columbus</a:t>
                      </a:r>
                    </a:p>
                  </a:txBody>
                  <a:tcPr marL="73152" marR="73152" marT="27432" marB="27432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I-65 / I-71</a:t>
                      </a:r>
                    </a:p>
                  </a:txBody>
                  <a:tcPr marL="73152" marR="73152" marT="27432" marB="27432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73152" marR="73152" marT="27432" marB="27432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marL="73152" marR="73152" marT="27432" marB="27432" anchor="ctr">
                    <a:solidFill>
                      <a:srgbClr val="1C1E2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Birmingham to Atlanta</a:t>
                      </a:r>
                    </a:p>
                  </a:txBody>
                  <a:tcPr marL="73152" marR="73152" marT="27432" marB="27432" anchor="ctr">
                    <a:solidFill>
                      <a:srgbClr val="212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I-20</a:t>
                      </a:r>
                    </a:p>
                  </a:txBody>
                  <a:tcPr marL="73152" marR="73152" marT="27432" marB="27432" anchor="ctr">
                    <a:solidFill>
                      <a:srgbClr val="212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73152" marR="73152" marT="27432" marB="27432" anchor="ctr">
                    <a:solidFill>
                      <a:srgbClr val="212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73152" marR="73152" marT="27432" marB="27432" anchor="ctr">
                    <a:solidFill>
                      <a:srgbClr val="212329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Memphis to Birmingham</a:t>
                      </a:r>
                    </a:p>
                  </a:txBody>
                  <a:tcPr marL="73152" marR="73152" marT="27432" marB="27432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I-22</a:t>
                      </a:r>
                    </a:p>
                  </a:txBody>
                  <a:tcPr marL="73152" marR="73152" marT="27432" marB="27432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73152" marR="73152" marT="27432" marB="27432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73152" marR="73152" marT="27432" marB="27432" anchor="ctr">
                    <a:solidFill>
                      <a:srgbClr val="1C1E2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Louisville to Indianapolis</a:t>
                      </a:r>
                    </a:p>
                  </a:txBody>
                  <a:tcPr marL="73152" marR="73152" marT="27432" marB="27432" anchor="ctr">
                    <a:solidFill>
                      <a:srgbClr val="212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I-65</a:t>
                      </a:r>
                    </a:p>
                  </a:txBody>
                  <a:tcPr marL="73152" marR="73152" marT="27432" marB="27432" anchor="ctr">
                    <a:solidFill>
                      <a:srgbClr val="212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3152" marR="73152" marT="27432" marB="27432" anchor="ctr">
                    <a:solidFill>
                      <a:srgbClr val="212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1F1F3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73152" marR="73152" marT="27432" marB="27432" anchor="ctr">
                    <a:solidFill>
                      <a:srgbClr val="21232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C9A227"/>
                </a:solidFill>
                <a:latin typeface="Calibri"/>
              </a:rPr>
              <a:t>Total freight value moved was about five and a half million dollars.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1F1F3"/>
                </a:solidFill>
                <a:latin typeface="Calibri"/>
              </a:rPr>
              <a:t>Goals for next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C7384F"/>
                </a:solidFill>
                <a:latin typeface="Calibri"/>
              </a:rPr>
              <a:t>Hold the zero.</a:t>
            </a:r>
            <a:r>
              <a:rPr sz="1800">
                <a:solidFill>
                  <a:srgbClr val="F1F1F3"/>
                </a:solidFill>
                <a:latin typeface="Calibri"/>
              </a:rPr>
              <a:t>  Another year with no violations and no at fault incidents.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7384F"/>
                </a:solidFill>
                <a:latin typeface="Calibri"/>
              </a:rPr>
              <a:t>Stay above 98 percent.</a:t>
            </a:r>
            <a:r>
              <a:rPr sz="1800">
                <a:solidFill>
                  <a:srgbClr val="F1F1F3"/>
                </a:solidFill>
                <a:latin typeface="Calibri"/>
              </a:rPr>
              <a:t>  On time delivery on every assigned load.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7384F"/>
                </a:solidFill>
                <a:latin typeface="Calibri"/>
              </a:rPr>
              <a:t>Keep the card clean.</a:t>
            </a:r>
            <a:r>
              <a:rPr sz="1800">
                <a:solidFill>
                  <a:srgbClr val="F1F1F3"/>
                </a:solidFill>
                <a:latin typeface="Calibri"/>
              </a:rPr>
              <a:t>  Compliance above ninety percent into the January 2027 renewal.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Hicks</dc:creator>
  <cp:lastModifiedBy>Anthony Hicks</cp:lastModifiedBy>
  <cp:revision>1</cp:revision>
  <dcterms:created xsi:type="dcterms:W3CDTF">2026-02-10T09:00:00Z</dcterms:created>
  <dcterms:modified xsi:type="dcterms:W3CDTF">2026-02-10T09:00:00Z</dcterms:modified>
</cp:coreProperties>
</file>