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303520"/>
            <a:ext cx="11640312" cy="73152"/>
          </a:xfrm>
          <a:prstGeom prst="rect">
            <a:avLst/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942D"/>
                </a:solidFill>
              </a:rPr>
              <a:t>NORTH FRISIAN MEDIEVAL WRECK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C8DC"/>
                </a:solidFill>
              </a:rPr>
              <a:t>DFG PROJECT GR 4471/3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PHASE 3 ANNUAL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4C8DC"/>
                </a:solidFill>
              </a:rPr>
              <a:t>Field Season: June - August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Presented by: Prof. Dr. Gloria Gross, Principal Investigator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4C8"/>
                </a:solidFill>
              </a:rPr>
              <a:t>Nordmeer Maritime University | Hamburg Maritime Museum | Caledonia Maritime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4"/>
                </a:solidFill>
              </a:rPr>
              <a:t>North Sea Coastal Heritage Annual Consortium | November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Season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Phase 3: June - August 2025 | Site NF-7, North Frisian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560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560320" cy="73152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F264B"/>
                </a:solidFill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64B"/>
                </a:solidFill>
              </a:rPr>
              <a:t>Dive Pairs
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C"/>
                </a:solidFill>
              </a:rPr>
              <a:t>1 abort (visibility)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554480"/>
            <a:ext cx="2560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554480"/>
            <a:ext cx="2560320" cy="73152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F264B"/>
                </a:solidFill>
              </a:rPr>
              <a:t>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64B"/>
                </a:solidFill>
              </a:rPr>
              <a:t>Finds
Catalogued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C"/>
                </a:solidFill>
              </a:rPr>
              <a:t>Phase 3 season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554480"/>
            <a:ext cx="2560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1554480"/>
            <a:ext cx="2560320" cy="73152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F264B"/>
                </a:solidFill>
              </a:rPr>
              <a:t>62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64B"/>
                </a:solidFill>
              </a:rPr>
              <a:t>Hull Area
Documented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C"/>
                </a:solidFill>
              </a:rPr>
              <a:t>Photogrammetric mosaic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554480"/>
            <a:ext cx="2560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1554480"/>
            <a:ext cx="2560320" cy="73152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F264B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64B"/>
                </a:solidFill>
              </a:rPr>
              <a:t>New Targets
Identified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88C"/>
                </a:solidFill>
              </a:rPr>
              <a:t>T08 - possible adjacent wreck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023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F264B"/>
                </a:solidFill>
              </a:rPr>
              <a:t>All primary phase objectives achieved. Phase 4 submission to DFG due 05.11.2026.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3 Finds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84 individually catalogued finds transferred to Hamburg Maritime Museum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508760"/>
            <a:ext cx="6858000" cy="438912"/>
          </a:xfrm>
          <a:prstGeom prst="rect">
            <a:avLst/>
          </a:prstGeom>
          <a:solidFill>
            <a:srgbClr val="0F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270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64B"/>
                </a:solidFill>
              </a:rPr>
              <a:t>Structural timber (planks, frames)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7232" y="15544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64B"/>
                </a:solidFill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75688"/>
            <a:ext cx="4866967" cy="438912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939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64B"/>
                </a:solidFill>
              </a:rPr>
              <a:t>Iron fastenings (nails, bolts)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6199" y="21214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64B"/>
                </a:solidFill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642616"/>
            <a:ext cx="1991032" cy="438912"/>
          </a:xfrm>
          <a:prstGeom prst="rect">
            <a:avLst/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66090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64B"/>
                </a:solidFill>
              </a:rPr>
              <a:t>Ceramics (stoneware, greyware)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0264" y="26883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64B"/>
                </a:solidFill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09544"/>
            <a:ext cx="1548580" cy="438912"/>
          </a:xfrm>
          <a:prstGeom prst="rect">
            <a:avLst/>
          </a:prstGeom>
          <a:solidFill>
            <a:srgbClr val="5A8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22783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64B"/>
                </a:solidFill>
              </a:rPr>
              <a:t>Rope and rigging (hemp)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7812" y="32552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64B"/>
                </a:solidFill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776472"/>
            <a:ext cx="1327354" cy="438912"/>
          </a:xfrm>
          <a:prstGeom prst="rect">
            <a:avLst/>
          </a:prstGeom>
          <a:solidFill>
            <a:srgbClr val="8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79475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64B"/>
                </a:solidFill>
              </a:rPr>
              <a:t>Cargo material (barrel staves)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6586" y="3822191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64B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343400"/>
            <a:ext cx="1991032" cy="438912"/>
          </a:xfrm>
          <a:prstGeom prst="rect">
            <a:avLst/>
          </a:prstGeom>
          <a:solidFill>
            <a:srgbClr val="B4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36168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64B"/>
                </a:solidFill>
              </a:rPr>
              <a:t>Other incl. environmental samples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0264" y="43891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64B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9436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88C"/>
                </a:solidFill>
              </a:rPr>
              <a:t>Key find: NF7-014, clinker plank 2.4m, recovered 14.08.2025. Now in wet storage at Hamburg Maritime Museum.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Conservation Status at Hamburg Maritime Museum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Report from Dr. Frida Moe, Curator of Maritime Collections | November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Condition A
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Stable, passive drying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51760" cy="3200400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Condition B
Fair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37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Treatment in progress or 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651760" cy="3200400"/>
          </a:xfrm>
          <a:prstGeom prst="rect">
            <a:avLst/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Condition C
Poor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Active treatment commenced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651760" cy="3200400"/>
          </a:xfrm>
          <a:prstGeom prst="rect">
            <a:avLst/>
          </a:prstGeom>
          <a:solidFill>
            <a:srgbClr val="B4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459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Condition D
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37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Specialist treatment 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37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F264B"/>
                </a:solidFill>
              </a:rPr>
              <a:t>All 84 finds held under Lending and Conservation Agreement HMM-CHM-22. Full conservation treatment estimated 18 months for iron assemblage.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Target T08: Phase 4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Sonar anomaly identified August 2025 - possible adjacent wreck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64B"/>
                </a:solidFill>
              </a:rPr>
              <a:t>What we know about T08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64B"/>
                </a:solidFill>
              </a:rPr>
              <a:t>- Hard linear MBES anomaly, H1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64B"/>
                </a:solidFill>
              </a:rPr>
              <a:t>- Located 38 m north-north-east of NF-7 hull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64B"/>
                </a:solidFill>
              </a:rPr>
              <a:t>- Sonar signature consistent with buried timber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95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64B"/>
                </a:solidFill>
              </a:rPr>
              <a:t>- Not consistent with ballast or modern debris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64B"/>
                </a:solidFill>
              </a:rPr>
              <a:t>- Not diver-inspected in 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64B"/>
                </a:solidFill>
              </a:rPr>
              <a:t>- Detected in late-season sonar run, grid sector D2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576072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64B"/>
                </a:solidFill>
              </a:rPr>
              <a:t>Phase 4 Plan for T08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64B"/>
                </a:solidFill>
              </a:rPr>
              <a:t>1. Community consultation (Aurich) before any T08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786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64B"/>
                </a:solidFill>
              </a:rPr>
              <a:t>2. Diver inspection during Phase 4 (summer 2027)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540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64B"/>
                </a:solidFill>
              </a:rPr>
              <a:t>3. Targeted sediment coring to test for organic preservation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295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64B"/>
                </a:solidFill>
              </a:rPr>
              <a:t>4. If confirmed, scope assessment for future excavation seasons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050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88C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80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64B"/>
                </a:solidFill>
              </a:rPr>
              <a:t>T08 investigation will not proceed without prior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956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64B"/>
                </a:solidFill>
              </a:rPr>
              <a:t>consultation in line with Frisian heritage partnership protocol.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4 Planning - Summer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DFG Phase 4 submission deadline: 05 November 2026 | Base: Husum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645920" cy="475488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636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Nov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601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52704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64B"/>
                </a:solidFill>
              </a:rPr>
              <a:t>DFG Phase 4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636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88C"/>
                </a:solidFill>
              </a:rPr>
              <a:t>Target T08 and extended NF-7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1645920" cy="475488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Dec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075688"/>
            <a:ext cx="9601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09397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64B"/>
                </a:solidFill>
              </a:rPr>
              <a:t>Community consultation meetings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305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88C"/>
                </a:solidFill>
              </a:rPr>
              <a:t>Pre-season Aurich meetings with A. Reimer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42616"/>
            <a:ext cx="1645920" cy="475488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642616"/>
            <a:ext cx="9601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66090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64B"/>
                </a:solidFill>
              </a:rPr>
              <a:t>Permits and vessel charter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88C"/>
                </a:solidFill>
              </a:rPr>
              <a:t>Nordfriesland permits + Nordkai charter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09544"/>
            <a:ext cx="1645920" cy="475488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May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3209544"/>
            <a:ext cx="9601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22783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64B"/>
                </a:solidFill>
              </a:rPr>
              <a:t>Husum base camp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644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88C"/>
                </a:solidFill>
              </a:rPr>
              <a:t>Field house booking and equipment logistics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76472"/>
            <a:ext cx="1645920" cy="475488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3133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Jun-Aug 2027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776472"/>
            <a:ext cx="9601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3794759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64B"/>
                </a:solidFill>
              </a:rPr>
              <a:t>Phase 4 field season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83133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88C"/>
                </a:solidFill>
              </a:rPr>
              <a:t>NF-7 continuation + T08 inspection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43400"/>
            <a:ext cx="1645920" cy="475488"/>
          </a:xfrm>
          <a:prstGeom prst="rect">
            <a:avLst/>
          </a:prstGeom>
          <a:solidFill>
            <a:srgbClr val="00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982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Oct 2027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4343400"/>
            <a:ext cx="9601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43616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64B"/>
                </a:solidFill>
              </a:rPr>
              <a:t>Phase 4 interim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3982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88C"/>
                </a:solidFill>
              </a:rPr>
              <a:t>DFG reporting and conservation handover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0"/>
            <a:ext cx="11640312" cy="73152"/>
          </a:xfrm>
          <a:prstGeom prst="rect">
            <a:avLst/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942D"/>
                </a:solidFill>
              </a:rPr>
              <a:t>Prof. Dr. Gloria Gross | g.gross@nordmeer-maritime.de | +49 171 555 7700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Nordmeer Maritime University | Am Sandtorkai 48 | 20457 Hamburg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CA0B4"/>
                </a:solidFill>
              </a:rPr>
              <a:t>With thanks to: Hamburg Maritime Museum | Caledonia Maritime University
Nordkai Marine Services | Frisian Cultural Heritage, Aurich | Deutsche Forschungsgemeinschaft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