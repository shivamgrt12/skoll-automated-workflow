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7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14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274320"/>
          </a:xfrm>
          <a:prstGeom prst="rect">
            <a:avLst/>
          </a:prstGeom>
          <a:solidFill>
            <a:srgbClr val="8CC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C341"/>
                </a:solidFill>
              </a:rPr>
              <a:t>EU HORIZON EUROPE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CLIMATE CHANGE, ACCELERATED EROSION,
AND THE ARCHAEOLOGY OF THE SUBMERGED
NORTH SEA HERITAGE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A0AA"/>
                </a:solidFill>
              </a:rPr>
              <a:t>Grant Reference: 101187724 | Submitted: 13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Lead PI: Prof. Dr. Gloria Gross | Nordmeer Maritime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Co-PI: Prof. James Whitfield | Caledonia Maritime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2B4"/>
                </a:solidFill>
              </a:rPr>
              <a:t>Decision expected: Q4 2026 | Total requested: EUR 4,452,000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A3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Problem We Are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C341"/>
                </a:solidFill>
              </a:rPr>
              <a:t>Climate change is destroying irreplaceable underwater heritage faster than we can document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91440"/>
          </a:xfrm>
          <a:prstGeom prst="rect">
            <a:avLst/>
          </a:prstGeom>
          <a:solidFill>
            <a:srgbClr val="28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47882"/>
                </a:solidFill>
              </a:rPr>
              <a:t>1.7 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A6E64"/>
                </a:solidFill>
              </a:rPr>
              <a:t>Sea temperature rise in the German Bight since 1970, accelerating organic site decay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00" cy="91440"/>
          </a:xfrm>
          <a:prstGeom prst="rect">
            <a:avLst/>
          </a:prstGeom>
          <a:solidFill>
            <a:srgbClr val="28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47882"/>
                </a:solidFill>
              </a:rPr>
              <a:t>+38%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A6E64"/>
                </a:solidFill>
              </a:rPr>
              <a:t>Increase in severe storm frequency since 1980, exposing buried wreck deposits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54864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383280"/>
            <a:ext cx="5486400" cy="91440"/>
          </a:xfrm>
          <a:prstGeom prst="rect">
            <a:avLst/>
          </a:prstGeom>
          <a:solidFill>
            <a:srgbClr val="28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7472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47882"/>
                </a:solidFill>
              </a:rPr>
              <a:t>-0.12 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A6E64"/>
                </a:solidFill>
              </a:rPr>
              <a:t>Ocean acidification 1990-2024 reducing sediment buffering capacity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383280"/>
            <a:ext cx="54864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383280"/>
            <a:ext cx="5486400" cy="91440"/>
          </a:xfrm>
          <a:prstGeom prst="rect">
            <a:avLst/>
          </a:prstGeom>
          <a:solidFill>
            <a:srgbClr val="28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47472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47882"/>
                </a:solidFill>
              </a:rPr>
              <a:t>600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51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A6E64"/>
                </a:solidFill>
              </a:rPr>
              <a:t>Survival time now at risk for organic material at sites like NF-7 - within one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Our Approach: Paired Archaeology and Oceanography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C341"/>
                </a:solidFill>
              </a:rPr>
              <a:t>Five-year systematic programme across German Bight and Scottish waters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88720" cy="502920"/>
          </a:xfrm>
          <a:prstGeom prst="rect">
            <a:avLst/>
          </a:prstGeom>
          <a:solidFill>
            <a:srgbClr val="0A3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813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373C"/>
                </a:solidFill>
              </a:rPr>
              <a:t>Methodology and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E64"/>
                </a:solidFill>
              </a:rPr>
              <a:t>Months 1-18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7882"/>
                </a:solidFill>
              </a:rPr>
              <a:t>Nordmeer MU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20824"/>
            <a:ext cx="1188720" cy="502920"/>
          </a:xfrm>
          <a:prstGeom prst="rect">
            <a:avLst/>
          </a:prstGeom>
          <a:solidFill>
            <a:srgbClr val="14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66543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84831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373C"/>
                </a:solidFill>
              </a:rPr>
              <a:t>German Bight Sites (8)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1122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E64"/>
                </a:solidFill>
              </a:rPr>
              <a:t>Months 6-42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1122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7882"/>
                </a:solidFill>
              </a:rPr>
              <a:t>Nordmeer MU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24328"/>
            <a:ext cx="1188720" cy="502920"/>
          </a:xfrm>
          <a:prstGeom prst="rect">
            <a:avLst/>
          </a:prstGeom>
          <a:solidFill>
            <a:srgbClr val="28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7004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68833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373C"/>
                </a:solidFill>
              </a:rPr>
              <a:t>Scottish Waters (6 sites)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715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E64"/>
                </a:solidFill>
              </a:rPr>
              <a:t>Months 6-42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715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7882"/>
                </a:solidFill>
              </a:rPr>
              <a:t>Caledonia MU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27832"/>
            <a:ext cx="1188720" cy="502920"/>
          </a:xfrm>
          <a:prstGeom prst="rect">
            <a:avLst/>
          </a:prstGeom>
          <a:solidFill>
            <a:srgbClr val="00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735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WP4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2918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373C"/>
                </a:solidFill>
              </a:rPr>
              <a:t>Sediment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319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E64"/>
                </a:solidFill>
              </a:rPr>
              <a:t>Months 12-48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319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7882"/>
                </a:solidFill>
              </a:rPr>
              <a:t>Joint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31336"/>
            <a:ext cx="1188720" cy="502920"/>
          </a:xfrm>
          <a:prstGeom prst="rect">
            <a:avLst/>
          </a:prstGeom>
          <a:solidFill>
            <a:srgbClr val="3C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87705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WP5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8953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373C"/>
                </a:solidFill>
              </a:rPr>
              <a:t>Oceanographic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9227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E64"/>
                </a:solidFill>
              </a:rPr>
              <a:t>Months 6-54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9227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7882"/>
                </a:solidFill>
              </a:rPr>
              <a:t>Joint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34840"/>
            <a:ext cx="1188720" cy="502920"/>
          </a:xfrm>
          <a:prstGeom prst="rect">
            <a:avLst/>
          </a:prstGeom>
          <a:solidFill>
            <a:srgbClr val="64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WP6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4988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373C"/>
                </a:solidFill>
              </a:rPr>
              <a:t>Risk Model Development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E64"/>
                </a:solidFill>
              </a:rPr>
              <a:t>Months 36-60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7882"/>
                </a:solidFill>
              </a:rPr>
              <a:t>Nordmeer MU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038344"/>
            <a:ext cx="1188720" cy="502920"/>
          </a:xfrm>
          <a:prstGeom prst="rect">
            <a:avLst/>
          </a:prstGeom>
          <a:solidFill>
            <a:srgbClr val="8CC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08406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WP7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1023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373C"/>
                </a:solidFill>
              </a:rPr>
              <a:t>Dissemination and Policy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1297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E64"/>
                </a:solidFill>
              </a:rPr>
              <a:t>Months 1-60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51297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7882"/>
                </a:solidFill>
              </a:rPr>
              <a:t>Joint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A3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Budget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C341"/>
                </a:solidFill>
              </a:rPr>
              <a:t>Total requested: EUR 4,452,000 over 60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4572000" cy="475488"/>
          </a:xfrm>
          <a:prstGeom prst="rect">
            <a:avLst/>
          </a:prstGeom>
          <a:solidFill>
            <a:srgbClr val="14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48132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417320"/>
            <a:ext cx="2377440" cy="475488"/>
          </a:xfrm>
          <a:prstGeom prst="rect">
            <a:avLst/>
          </a:prstGeom>
          <a:solidFill>
            <a:srgbClr val="14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02352" y="1481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Nordmeer MU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417320"/>
            <a:ext cx="2377440" cy="475488"/>
          </a:xfrm>
          <a:prstGeom prst="rect">
            <a:avLst/>
          </a:prstGeom>
          <a:solidFill>
            <a:srgbClr val="14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1231" y="1481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Caledonia MU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0" y="1417320"/>
            <a:ext cx="2377440" cy="475488"/>
          </a:xfrm>
          <a:prstGeom prst="rect">
            <a:avLst/>
          </a:prstGeom>
          <a:solidFill>
            <a:srgbClr val="14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0112" y="1481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11095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975103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373C"/>
                </a:solidFill>
              </a:rPr>
              <a:t>Personnel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911095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2352" y="197510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1,240,000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911095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197510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980,000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1911095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0112" y="197510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2,220,000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04872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46887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373C"/>
                </a:solidFill>
              </a:rPr>
              <a:t>Field operations and equipment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404872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246887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480,000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2404872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246887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360,000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2404872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40112" y="246887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840,000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898648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96265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373C"/>
                </a:solidFill>
              </a:rPr>
              <a:t>Analytical and laboratory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2898648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2352" y="29626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180,000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2898648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71231" y="29626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145,000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2898648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0112" y="29626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325,000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92424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45643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373C"/>
                </a:solidFill>
              </a:rPr>
              <a:t>Computing and 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3392424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02352" y="34564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95,000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3392424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71231" y="34564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75,000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66960" y="3392424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0112" y="34564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170,000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886200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395020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373C"/>
                </a:solidFill>
              </a:rPr>
              <a:t>Dissemination and policy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0" y="3886200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02352" y="39502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85,000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3886200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71231" y="39502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70,000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66960" y="3886200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40112" y="39502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155,000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379976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444398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373C"/>
                </a:solidFill>
              </a:rPr>
              <a:t>Indirect costs (20%)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0" y="4379976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02352" y="44439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416,000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79" y="4379976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71231" y="44439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326,000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66960" y="4379976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40112" y="44439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373C"/>
                </a:solidFill>
              </a:rPr>
              <a:t>EUR 742,000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873752"/>
            <a:ext cx="4572000" cy="475488"/>
          </a:xfrm>
          <a:prstGeom prst="rect">
            <a:avLst/>
          </a:prstGeom>
          <a:solidFill>
            <a:srgbClr val="0A3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" y="49377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0" y="4873752"/>
            <a:ext cx="2377440" cy="475488"/>
          </a:xfrm>
          <a:prstGeom prst="rect">
            <a:avLst/>
          </a:prstGeom>
          <a:solidFill>
            <a:srgbClr val="0A3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02352" y="49377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EUR 2,496,000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79" y="4873752"/>
            <a:ext cx="2377440" cy="475488"/>
          </a:xfrm>
          <a:prstGeom prst="rect">
            <a:avLst/>
          </a:prstGeom>
          <a:solidFill>
            <a:srgbClr val="0A3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71231" y="49377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EUR 1,956,000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66960" y="4873752"/>
            <a:ext cx="2377440" cy="475488"/>
          </a:xfrm>
          <a:prstGeom prst="rect">
            <a:avLst/>
          </a:prstGeom>
          <a:solidFill>
            <a:srgbClr val="0A3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40112" y="49377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EUR 4,452,000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Team and 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C341"/>
                </a:solidFill>
              </a:rPr>
              <a:t>Leading expertise across marine archaeology and oceanographic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486400" cy="2286000"/>
          </a:xfrm>
          <a:prstGeom prst="rect">
            <a:avLst/>
          </a:prstGeom>
          <a:solidFill>
            <a:srgbClr val="F5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486400" cy="109728"/>
          </a:xfrm>
          <a:prstGeom prst="rect">
            <a:avLst/>
          </a:prstGeom>
          <a:solidFill>
            <a:srgbClr val="28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373C"/>
                </a:solidFill>
              </a:rPr>
              <a:t>Prof. Dr. Gloria Gross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7882"/>
                </a:solidFill>
              </a:rPr>
              <a:t>Lead PI - German Bight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E64"/>
                </a:solidFill>
              </a:rPr>
              <a:t>Nordmeer Maritime University
Phase 1-3 North Frisian Survey PI
20 years North Sea fieldwork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5486400" cy="2286000"/>
          </a:xfrm>
          <a:prstGeom prst="rect">
            <a:avLst/>
          </a:prstGeom>
          <a:solidFill>
            <a:srgbClr val="F5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5486400" cy="109728"/>
          </a:xfrm>
          <a:prstGeom prst="rect">
            <a:avLst/>
          </a:prstGeom>
          <a:solidFill>
            <a:srgbClr val="28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373C"/>
                </a:solidFill>
              </a:rPr>
              <a:t>Prof. James Whitfield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7882"/>
                </a:solidFill>
              </a:rPr>
              <a:t>Co-PI - Scottish Waters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E64"/>
                </a:solidFill>
              </a:rPr>
              <a:t>Caledonia Maritime University
3 co-authored papers with PI
Atlantic wreck site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40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373C"/>
                </a:solidFill>
              </a:rPr>
              <a:t>Expected Deliverables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320040" cy="320040"/>
          </a:xfrm>
          <a:prstGeom prst="rect">
            <a:avLst/>
          </a:prstGeom>
          <a:solidFill>
            <a:srgbClr val="28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074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373C"/>
                </a:solidFill>
              </a:rPr>
              <a:t>First quantified risk model for organic site degradation under climate projections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64608"/>
            <a:ext cx="320040" cy="320040"/>
          </a:xfrm>
          <a:prstGeom prst="rect">
            <a:avLst/>
          </a:prstGeom>
          <a:solidFill>
            <a:srgbClr val="28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828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373C"/>
                </a:solidFill>
              </a:rPr>
              <a:t>Detailed documentation of 14 high-risk North Sea wreck sites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40096"/>
            <a:ext cx="320040" cy="320040"/>
          </a:xfrm>
          <a:prstGeom prst="rect">
            <a:avLst/>
          </a:prstGeom>
          <a:solidFill>
            <a:srgbClr val="28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583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373C"/>
                </a:solidFill>
              </a:rPr>
              <a:t>Reusable methodology for heritage agencies across North Sea and Baltic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815583"/>
            <a:ext cx="320040" cy="320040"/>
          </a:xfrm>
          <a:prstGeom prst="rect">
            <a:avLst/>
          </a:prstGeom>
          <a:solidFill>
            <a:srgbClr val="28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338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373C"/>
                </a:solidFill>
              </a:rPr>
              <a:t>Direct policy input to EU Cultural Heritage Action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