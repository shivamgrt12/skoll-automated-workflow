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2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2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9128"/>
                </a:solidFill>
              </a:rPr>
              <a:t>MARE 6010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Maritime Archaeology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1C391"/>
                </a:solidFill>
              </a:rPr>
              <a:t>Lecture 8: Site NF-7 from Discovery to Current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F8C"/>
                </a:solidFill>
              </a:rPr>
              <a:t>How a sonar anomaly becomes an excavated 14th-century Hanseatic merchant vessel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Prof. Dr. Gloria Gross | MARE 6010 | Nordmeer Maritime University | 02.12.2025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C2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C391"/>
                </a:solidFill>
              </a:rPr>
              <a:t>By the end of this session, you will be able to...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94360" cy="54864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2646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C230F"/>
                </a:solidFill>
              </a:rPr>
              <a:t>Describe the full research cycle from archival research to excavation reporting, using NF-7 as a worked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594360" cy="54864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4883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C230F"/>
                </a:solidFill>
              </a:rPr>
              <a:t>Explain how MBES sonar data is interpreted for archaeological feature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39"/>
            <a:ext cx="594360" cy="54864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88035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89503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C230F"/>
                </a:solidFill>
              </a:rPr>
              <a:t>Discuss the relationship between dive operations planning and scientific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66159"/>
            <a:ext cx="594360" cy="54864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61187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21023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C230F"/>
                </a:solidFill>
              </a:rPr>
              <a:t>Apply the principles of finds recording and context to a real assemblage from NF-7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79"/>
            <a:ext cx="594360" cy="54864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343399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52543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C230F"/>
                </a:solidFill>
              </a:rPr>
              <a:t>Identify the conservation challenges specific to waterlogged organic assemblages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1: From Archive to Sonar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C391"/>
                </a:solidFill>
              </a:rPr>
              <a:t>How archival research and MBES survey identified Site NF-7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097280" cy="137160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230F"/>
                </a:solidFill>
              </a:rPr>
              <a:t>2020-21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417320"/>
            <a:ext cx="10424160" cy="13716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30F"/>
                </a:solidFill>
              </a:rPr>
              <a:t>Archival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5A50"/>
                </a:solidFill>
              </a:rPr>
              <a:t>Historical charts from the 17th-19th century show place names in the North Frisian waters that suggest local knowledge of hazards. Frisian oral tradition collected by A. Reimer adds a further dimension. These together define a search area of approximately 15 km2.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1097280" cy="137160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2918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230F"/>
                </a:solidFill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971800"/>
            <a:ext cx="10424160" cy="13716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30F"/>
                </a:solidFill>
              </a:rPr>
              <a:t>Legacy data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5A50"/>
                </a:solidFill>
              </a:rPr>
              <a:t>Commercial hydrographic survey data from 1998-2015 (obtained from the BSH archive) shows two high-backscatter features in the search area. Neither was interpreted archaeologically by the original surveyors. Re-interpretation using the project classification scheme flags both as H1-class candidates.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26280"/>
            <a:ext cx="1097280" cy="137160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846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230F"/>
                </a:solidFill>
              </a:rPr>
              <a:t>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526280"/>
            <a:ext cx="10424160" cy="13716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30F"/>
                </a:solidFill>
              </a:rPr>
              <a:t>MBES survey - NF-7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5A50"/>
                </a:solidFill>
              </a:rPr>
              <a:t>Project MBES survey at 400 kHz and 0.5-degree beam resolution confirms the anomaly at 12-13m depth. Diver inspection in June 2023 finds exposed clinker timbers. Site NF-7 is designated and the survey continues.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C2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NF-7 Material Assemblage - What the Finds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C391"/>
                </a:solidFill>
              </a:rPr>
              <a:t>Combining structural, cargo, and personal finds to reconstruct the vessel and its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59436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Clinker timbers
(hull)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30F"/>
                </a:solidFill>
              </a:rPr>
              <a:t>Tell us about: ship construction
technology. Clinker = overlapping
planks. North European cog type.
Oak species consistent with
northern German/Baltic timber.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59436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Stoneware ceramics
(cargo)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659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30F"/>
                </a:solidFill>
              </a:rPr>
              <a:t>Tell us about: trade network
and cargo origin. Langerwehe
production, Rhineland, 1350-1420.
Hanseatic distribution route.
Dating evidence for the 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43200" cy="59436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Iron fastenings
(structure)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30F"/>
                </a:solidFill>
              </a:rPr>
              <a:t>Tell us about: construction
methods and repair history.
Nail morphology consistent with
14th-century dating. Evidence of
vessel maintenance.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371600"/>
            <a:ext cx="2743200" cy="59436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17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Hemp rope
(rigging)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96596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0574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30F"/>
                </a:solidFill>
              </a:rPr>
              <a:t>Tell us about: rig type and
cargo securing methods. Rare
survival - only possible in
anaerobic waterlogged
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A5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Seminar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C391"/>
                </a:solidFill>
              </a:rPr>
              <a:t>15 minutes group work - apply today's case study to your semester project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09728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230F"/>
                </a:solidFill>
              </a:rPr>
              <a:t>Working with your assigned NF-7 dataset extract: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40080" cy="50292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30F"/>
                </a:solidFill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5798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30F"/>
                </a:solidFill>
              </a:rPr>
              <a:t>Look at the sonar mosaic extract provided. Classify the three indicated anomalies using the H1/H2/P1/D1/N scheme. Explain your reasoning for each classification.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61487"/>
            <a:ext cx="640080" cy="50292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7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30F"/>
                </a:solidFill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16351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30F"/>
                </a:solidFill>
              </a:rPr>
              <a:t>From the finds register extract, select two finds from different material categories. For each: what does this find tell us about the vessel? What additional analysis would help?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5"/>
            <a:ext cx="640080" cy="50292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65575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30F"/>
                </a:solidFill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19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30F"/>
                </a:solidFill>
              </a:rPr>
              <a:t>One of the anomalies has been diver-inspected and found to be modern debris. How does this affect your overall site interpretation? What would you do next?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78223"/>
            <a:ext cx="640080" cy="502920"/>
          </a:xfrm>
          <a:prstGeom prst="rect">
            <a:avLst/>
          </a:prstGeom>
          <a:solidFill>
            <a:srgbClr val="D2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23943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30F"/>
                </a:solidFill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33087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30F"/>
                </a:solidFill>
              </a:rPr>
              <a:t>Draft a one-paragraph entry for the site report describing the ceramic assemblage, using the vocabulary and standards introduced in lecture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