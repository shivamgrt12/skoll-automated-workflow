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347472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3DCF5"/>
                </a:solidFill>
              </a:rPr>
              <a:t>North Sea Coastal Heritage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Year 3 Progress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96C8"/>
                </a:solidFill>
              </a:rPr>
              <a:t>North Sea Coastal Heritage Annual Consortium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C3D7"/>
                </a:solidFill>
              </a:rPr>
              <a:t>Hamburg Maritime Museum | 12 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3246"/>
                </a:solidFill>
              </a:rPr>
              <a:t>Co-PI: Prof. Dr. Gloria Gross, Nordmeer Maritime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33246"/>
                </a:solidFill>
              </a:rPr>
              <a:t>Co-PI: Dr. Frida Moe, Hamburg Maritime Museum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296"/>
                </a:solidFill>
              </a:rPr>
              <a:t>HMM-CHM-22 | Year 3 of 4 | Reporting period: January -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Programme Status - Year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96C8"/>
                </a:solidFill>
              </a:rPr>
              <a:t>HMM-CHM-22 | Schleswig-Holstein Coastal Survey | 2022-2026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91440" cy="749808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Seabed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250"/>
                </a:solidFill>
              </a:rPr>
              <a:t>✓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89888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296"/>
                </a:solidFill>
              </a:rPr>
              <a:t>74% of target area completed. Final 26% planned for summer 2026. Coverage map updated October 2025.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21408"/>
            <a:ext cx="11430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91440" cy="749808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Feature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250"/>
                </a:solidFill>
              </a:rPr>
              <a:t>✓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31136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296"/>
                </a:solidFill>
              </a:rPr>
              <a:t>187 candidate features logged. 42 diver-inspected. 28 confirmed anthropogenic, 9 high-confidence medieval.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62656"/>
            <a:ext cx="11430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62656"/>
            <a:ext cx="91440" cy="749808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083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Frisian consultation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741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250"/>
                </a:solidFill>
              </a:rPr>
              <a:t>✓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072384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296"/>
                </a:solidFill>
              </a:rPr>
              <a:t>4 community meetings held in 2025. A. Reimer confirmed for Year 4 advisory role. Protocol document updated.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03904"/>
            <a:ext cx="11430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03904"/>
            <a:ext cx="91440" cy="749808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496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Year 3 deliverables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15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250"/>
                </a:solidFill>
              </a:rPr>
              <a:t>✓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91363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296"/>
                </a:solidFill>
              </a:rPr>
              <a:t>Year 3 progress report delivered. Feature catalogue updated. GIS data package transferred to museum.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45152"/>
            <a:ext cx="11430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645152"/>
            <a:ext cx="91440" cy="749808"/>
          </a:xfrm>
          <a:prstGeom prst="rect">
            <a:avLst/>
          </a:prstGeom>
          <a:solidFill>
            <a:srgbClr val="E6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6908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Consortium 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056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6432"/>
                </a:solidFill>
              </a:rPr>
              <a:t>In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7548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296"/>
                </a:solidFill>
              </a:rPr>
              <a:t>1 conference paper presented (Hamburg Archaeology Days, October 2025). Journal submission in preparation.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Register - Year 3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96C8"/>
                </a:solidFill>
              </a:rPr>
              <a:t>187 candidate features | 42 diver-inspected | Distribution across 6 survey zones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2194560" cy="201168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Total features
in register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25880"/>
            <a:ext cx="2194560" cy="2011680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Diver
inspected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325880"/>
            <a:ext cx="2194560" cy="2011680"/>
          </a:xfrm>
          <a:prstGeom prst="rect">
            <a:avLst/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Confirmed
anthropogenic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325880"/>
            <a:ext cx="2194560" cy="2011680"/>
          </a:xfrm>
          <a:prstGeom prst="rect">
            <a:avLst/>
          </a:prstGeom>
          <a:solidFill>
            <a:srgbClr val="E6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High-confidence
medieval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325880"/>
            <a:ext cx="2194560" cy="2011680"/>
          </a:xfrm>
          <a:prstGeom prst="rect">
            <a:avLst/>
          </a:prstGeom>
          <a:solidFill>
            <a:srgbClr val="64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Recommended for
priority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3246"/>
                </a:solidFill>
              </a:rPr>
              <a:t>Zone breakdown: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69080"/>
            <a:ext cx="11612880" cy="420624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1239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2394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Area (km2)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12394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1239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Features logged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12394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Inspected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12394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07992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562855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North Frisian Outer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562855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3.8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562855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562855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562855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562855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946904"/>
            <a:ext cx="11612880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0017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Pellworm Channel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0017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2.1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0017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0017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0017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0017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385816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4068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Eiderstedt Coast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4406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4.5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54406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85%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440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4406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4406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824728"/>
            <a:ext cx="11612880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87959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Fohr-Amrum Gap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87959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2.9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587959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68%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587959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587959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87959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263640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31850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Sylt Southern Approach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63185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3.2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0" y="63185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55%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0" y="631850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27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63185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63185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6702552"/>
            <a:ext cx="11612880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757416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Inner Wattenmeer (partial)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67574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6.4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31920" y="67574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44%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0" y="675741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67574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67574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8296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Year 4 Plan and Final Programme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96C8"/>
                </a:solidFill>
              </a:rPr>
              <a:t>HMM-CHM-22 concludes December 2026 | All deliverables on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463040" cy="777240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904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325880"/>
            <a:ext cx="10058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Complete survey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3990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96C8"/>
                </a:solidFill>
              </a:rPr>
              <a:t>NMU Field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373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8296"/>
                </a:solidFill>
              </a:rPr>
              <a:t>Final MBES survey lines in Zones 5 and 6. Close coverage gap in Sylt Southern Approach.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1463040" cy="777240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212848"/>
            <a:ext cx="10058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2585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Diver inspection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96C8"/>
                </a:solidFill>
              </a:rPr>
              <a:t>G. Gross / N. Johansen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243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8296"/>
                </a:solidFill>
              </a:rPr>
              <a:t>Inspect 20 high-priority features from Year 4 survey. Complete outstanding Year 3 inspections.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99815"/>
            <a:ext cx="1463040" cy="777240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644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099815"/>
            <a:ext cx="10058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314553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Final feature catalogue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1729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96C8"/>
                </a:solidFill>
              </a:rPr>
              <a:t>NMU / HMM Joint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5112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8296"/>
                </a:solidFill>
              </a:rPr>
              <a:t>Integrate all four years of survey data. Produce final GeoPackage for museum archive.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86783"/>
            <a:ext cx="1463040" cy="777240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51375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3986783"/>
            <a:ext cx="10058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403250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Programme final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059935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96C8"/>
                </a:solidFill>
              </a:rPr>
              <a:t>G. Gross / F. Moe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39826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8296"/>
                </a:solidFill>
              </a:rPr>
              <a:t>Full report to heritage authority and DFG. Exhibition planning brief for museum. Frisian consultation close report.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73751"/>
            <a:ext cx="1463040" cy="777240"/>
          </a:xfrm>
          <a:prstGeom prst="rect">
            <a:avLst/>
          </a:prstGeom>
          <a:solidFill>
            <a:srgbClr val="41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038343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4873751"/>
            <a:ext cx="10058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491947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3246"/>
                </a:solidFill>
              </a:rPr>
              <a:t>Journal publication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946903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96C8"/>
                </a:solidFill>
              </a:rPr>
              <a:t>G. Gross / F. Moe / J. Whitfield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285231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8296"/>
                </a:solidFill>
              </a:rPr>
              <a:t>Submit joint paper on methodology and results to International Journal of Nautical Archaeology.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C3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233246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1648C"/>
                </a:solidFill>
              </a:rPr>
              <a:t>Questions and consortium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3246"/>
                </a:solidFill>
              </a:rPr>
              <a:t>Prof. Dr. Gloria Gross | g.gross@nordmeer-maritime.de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3246"/>
                </a:solidFill>
              </a:rPr>
              <a:t>Dr. Frida Moe | f.moe@hamburgmuseum.de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296"/>
                </a:solidFill>
              </a:rPr>
              <a:t>Nordmeer Maritime University | Am Sandtorkai 48 | 20457 Hamburg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296"/>
                </a:solidFill>
              </a:rPr>
              <a:t>Hamburg Maritime Museum | HMM-CHM-22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