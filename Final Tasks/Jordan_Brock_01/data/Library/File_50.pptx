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Listens per episode</c:v>
                </c:pt>
              </c:strCache>
            </c:strRef>
          </c:tx>
          <c:spPr>
            <a:ln w="31750">
              <a:solidFill>
                <a:srgbClr val="C98A3A"/>
              </a:solidFill>
            </a:ln>
          </c:spPr>
          <c:cat>
            <c:strRef>
              <c:f>Sheet1!$A$2:$A$6</c:f>
              <c:strCache>
                <c:ptCount val="5"/>
                <c:pt idx="0">
                  <c:v>Ep 1</c:v>
                </c:pt>
                <c:pt idx="1">
                  <c:v>Ep 2</c:v>
                </c:pt>
                <c:pt idx="2">
                  <c:v>Ep 3</c:v>
                </c:pt>
                <c:pt idx="3">
                  <c:v>Ep 4</c:v>
                </c:pt>
                <c:pt idx="4">
                  <c:v>Pilot avg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</c:v>
                </c:pt>
                <c:pt idx="1">
                  <c:v>610</c:v>
                </c:pt>
                <c:pt idx="2">
                  <c:v>880</c:v>
                </c:pt>
                <c:pt idx="3">
                  <c:v>1240</c:v>
                </c:pt>
                <c:pt idx="4">
                  <c:v>790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C9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FBF3EC"/>
                </a:solidFill>
                <a:latin typeface="Calibri"/>
              </a:rPr>
              <a:t>LEADING OUT 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E7C9A9"/>
                </a:solidFill>
                <a:latin typeface="Calibri"/>
              </a:rPr>
              <a:t>Conversations on psychological safety and how real teams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46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7C9A9"/>
                </a:solidFill>
                <a:latin typeface="Calibri"/>
              </a:rPr>
              <a:t>A podcast media kit  .  Host: Dr. Jordan Brock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C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BF3EC"/>
                </a:solidFill>
                <a:latin typeface="Calibri"/>
              </a:rPr>
              <a:t>About the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6400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B1218"/>
                </a:solidFill>
                <a:latin typeface="Calibri"/>
              </a:rPr>
              <a:t>Thirty minute interviews with leaders on the conditions that let teams tell the truth. Each episode turns one hard idea into something a manager can try the next morning.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463040"/>
            <a:ext cx="4114800" cy="4206240"/>
          </a:xfrm>
          <a:prstGeom prst="rect">
            <a:avLst/>
          </a:prstGeom>
          <a:solidFill>
            <a:srgbClr val="7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691640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BF3EC"/>
                </a:solidFill>
                <a:latin typeface="Calibri"/>
              </a:rPr>
              <a:t>30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19456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7C9A9"/>
                </a:solidFill>
                <a:latin typeface="Calibri"/>
              </a:rPr>
              <a:t>episode 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017520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BF3EC"/>
                </a:solidFill>
                <a:latin typeface="Calibri"/>
              </a:rPr>
              <a:t>Weekly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520439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7C9A9"/>
                </a:solidFill>
                <a:latin typeface="Calibri"/>
              </a:rPr>
              <a:t>release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343400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BF3EC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484632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7C9A9"/>
                </a:solidFill>
                <a:latin typeface="Calibri"/>
              </a:rPr>
              <a:t>pilot episodes recorded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7A2740"/>
                </a:solidFill>
                <a:latin typeface="Calibri"/>
              </a:rPr>
              <a:t>Leading Out Loud  .  media 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0080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7A274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BF3EC"/>
                </a:solidFill>
                <a:latin typeface="Calibri"/>
              </a:rPr>
              <a:t>Episode lineup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777240" cy="713232"/>
          </a:xfrm>
          <a:prstGeom prst="rect">
            <a:avLst/>
          </a:prstGeom>
          <a:solidFill>
            <a:srgbClr val="5C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C98A3A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1371600"/>
            <a:ext cx="10058400" cy="713232"/>
          </a:xfrm>
          <a:prstGeom prst="rect">
            <a:avLst/>
          </a:prstGeom>
          <a:solidFill>
            <a:srgbClr val="FBF3EC"/>
          </a:solidFill>
          <a:ln w="12700">
            <a:solidFill>
              <a:srgbClr val="E0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444752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B1218"/>
                </a:solidFill>
                <a:latin typeface="Calibri"/>
              </a:rPr>
              <a:t>Naming the Unsaid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444752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A2740"/>
                </a:solidFill>
                <a:latin typeface="Calibri"/>
              </a:rPr>
              <a:t>with Dr. Amy Lindgren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12848"/>
            <a:ext cx="777240" cy="713232"/>
          </a:xfrm>
          <a:prstGeom prst="rect">
            <a:avLst/>
          </a:prstGeom>
          <a:solidFill>
            <a:srgbClr val="5C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12848"/>
            <a:ext cx="7772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C98A3A"/>
                </a:solidFill>
                <a:latin typeface="Calibri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2212848"/>
            <a:ext cx="10058400" cy="713232"/>
          </a:xfrm>
          <a:prstGeom prst="rect">
            <a:avLst/>
          </a:prstGeom>
          <a:solidFill>
            <a:srgbClr val="FBF3EC"/>
          </a:solidFill>
          <a:ln w="12700">
            <a:solidFill>
              <a:srgbClr val="E0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2286000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B1218"/>
                </a:solidFill>
                <a:latin typeface="Calibri"/>
              </a:rPr>
              <a:t>Trust on the Trading Floor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A2740"/>
                </a:solidFill>
                <a:latin typeface="Calibri"/>
              </a:rPr>
              <a:t>with Karen Cho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54096"/>
            <a:ext cx="777240" cy="713232"/>
          </a:xfrm>
          <a:prstGeom prst="rect">
            <a:avLst/>
          </a:prstGeom>
          <a:solidFill>
            <a:srgbClr val="5C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54096"/>
            <a:ext cx="7772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C98A3A"/>
                </a:solidFill>
                <a:latin typeface="Calibri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3054096"/>
            <a:ext cx="10058400" cy="713232"/>
          </a:xfrm>
          <a:prstGeom prst="rect">
            <a:avLst/>
          </a:prstGeom>
          <a:solidFill>
            <a:srgbClr val="FBF3EC"/>
          </a:solidFill>
          <a:ln w="12700">
            <a:solidFill>
              <a:srgbClr val="E0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3127248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B1218"/>
                </a:solidFill>
                <a:latin typeface="Calibri"/>
              </a:rPr>
              <a:t>When Safety Scales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127248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A2740"/>
                </a:solidFill>
                <a:latin typeface="Calibri"/>
              </a:rPr>
              <a:t>with Marcus Webb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95344"/>
            <a:ext cx="777240" cy="713232"/>
          </a:xfrm>
          <a:prstGeom prst="rect">
            <a:avLst/>
          </a:prstGeom>
          <a:solidFill>
            <a:srgbClr val="5C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95344"/>
            <a:ext cx="7772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C98A3A"/>
                </a:solidFill>
                <a:latin typeface="Calibri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3895344"/>
            <a:ext cx="10058400" cy="713232"/>
          </a:xfrm>
          <a:prstGeom prst="rect">
            <a:avLst/>
          </a:prstGeom>
          <a:solidFill>
            <a:srgbClr val="FBF3EC"/>
          </a:solidFill>
          <a:ln w="12700">
            <a:solidFill>
              <a:srgbClr val="E0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7360" y="3968496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B1218"/>
                </a:solidFill>
                <a:latin typeface="Calibri"/>
              </a:rPr>
              <a:t>The Quiet Quitting Myth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968496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A2740"/>
                </a:solidFill>
                <a:latin typeface="Calibri"/>
              </a:rPr>
              <a:t>with Dr. Brian Mitchell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36592"/>
            <a:ext cx="777240" cy="713232"/>
          </a:xfrm>
          <a:prstGeom prst="rect">
            <a:avLst/>
          </a:prstGeom>
          <a:solidFill>
            <a:srgbClr val="5C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36592"/>
            <a:ext cx="7772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C98A3A"/>
                </a:solidFill>
                <a:latin typeface="Calibri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4736592"/>
            <a:ext cx="10058400" cy="713232"/>
          </a:xfrm>
          <a:prstGeom prst="rect">
            <a:avLst/>
          </a:prstGeom>
          <a:solidFill>
            <a:srgbClr val="FBF3EC"/>
          </a:solidFill>
          <a:ln w="12700">
            <a:solidFill>
              <a:srgbClr val="E0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4809744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B1218"/>
                </a:solidFill>
                <a:latin typeface="Calibri"/>
              </a:rPr>
              <a:t>Feedback Without Fear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09744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A2740"/>
                </a:solidFill>
                <a:latin typeface="Calibri"/>
              </a:rPr>
              <a:t>with Patricia Okafor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577840"/>
            <a:ext cx="777240" cy="713232"/>
          </a:xfrm>
          <a:prstGeom prst="rect">
            <a:avLst/>
          </a:prstGeom>
          <a:solidFill>
            <a:srgbClr val="5C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577840"/>
            <a:ext cx="7772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C98A3A"/>
                </a:solidFill>
                <a:latin typeface="Calibri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08760" y="5577840"/>
            <a:ext cx="10058400" cy="713232"/>
          </a:xfrm>
          <a:prstGeom prst="rect">
            <a:avLst/>
          </a:prstGeom>
          <a:solidFill>
            <a:srgbClr val="FBF3EC"/>
          </a:solidFill>
          <a:ln w="12700">
            <a:solidFill>
              <a:srgbClr val="E0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37360" y="5650992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B1218"/>
                </a:solidFill>
                <a:latin typeface="Calibri"/>
              </a:rPr>
              <a:t>Leading After Layoffs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650992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7A2740"/>
                </a:solidFill>
                <a:latin typeface="Calibri"/>
              </a:rPr>
              <a:t>with Guest to be confirmed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7A2740"/>
                </a:solidFill>
                <a:latin typeface="Calibri"/>
              </a:rPr>
              <a:t>Leading Out Loud  .  episode guide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7A274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BF3EC"/>
                </a:solidFill>
                <a:latin typeface="Calibri"/>
              </a:rPr>
              <a:t>Audience momentum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4630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0" y="1645920"/>
            <a:ext cx="3291840" cy="4206240"/>
          </a:xfrm>
          <a:prstGeom prst="rect">
            <a:avLst/>
          </a:prstGeom>
          <a:solidFill>
            <a:srgbClr val="7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82880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7C9A9"/>
                </a:solidFill>
                <a:latin typeface="Calibri"/>
              </a:rPr>
              <a:t>Building to weekly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560320"/>
            <a:ext cx="29260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BF3EC"/>
                </a:solidFill>
                <a:latin typeface="Calibri"/>
              </a:rPr>
              <a:t>Each pilot grew on word of mouth alone. Weekly release and a guest network are the next lever.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7C9A9"/>
                </a:solidFill>
                <a:latin typeface="Calibri"/>
              </a:rPr>
              <a:t>Illustrative pilot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E7C9A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2B1218"/>
                </a:solidFill>
                <a:latin typeface="Calibri"/>
              </a:rPr>
              <a:t>Be a guest. Reach leaders who 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747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3A2A0B"/>
                </a:solidFill>
                <a:latin typeface="Calibri"/>
              </a:rPr>
              <a:t>We record remotely in about forty five minutes. You bring one strong idea, we make it useful for an audience of working managers.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760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2A0B"/>
                </a:solidFill>
                <a:latin typeface="Calibri"/>
              </a:rPr>
              <a:t>Leading Out Loud  .  hosted by Dr. Jordan Brock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Jordan Brock</dc:creator>
  <cp:keywords/>
  <dc:description/>
  <cp:lastModifiedBy>Jordan Brock</cp:lastModifiedBy>
  <cp:revision>2</cp:revision>
  <dcterms:created xsi:type="dcterms:W3CDTF">2026-02-20T09:15:00Z</dcterms:created>
  <dcterms:modified xsi:type="dcterms:W3CDTF">2026-02-20T09:15:00Z</dcterms:modified>
  <cp:category/>
</cp:coreProperties>
</file>