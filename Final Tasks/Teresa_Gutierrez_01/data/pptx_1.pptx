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Teresa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Wk 11/02</c:v>
                </c:pt>
                <c:pt idx="1">
                  <c:v>Wk 11/09</c:v>
                </c:pt>
                <c:pt idx="2">
                  <c:v>Wk 11/16</c:v>
                </c:pt>
                <c:pt idx="3">
                  <c:v>Wk 11/23</c:v>
                </c:pt>
                <c:pt idx="4">
                  <c:v>Wk 11/30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</c:v>
                </c:pt>
                <c:pt idx="1">
                  <c:v>34</c:v>
                </c:pt>
                <c:pt idx="2">
                  <c:v>36</c:v>
                </c:pt>
                <c:pt idx="3">
                  <c:v>30</c:v>
                </c:pt>
                <c:pt idx="4">
                  <c:v>34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Danny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Wk 11/02</c:v>
                </c:pt>
                <c:pt idx="1">
                  <c:v>Wk 11/09</c:v>
                </c:pt>
                <c:pt idx="2">
                  <c:v>Wk 11/16</c:v>
                </c:pt>
                <c:pt idx="3">
                  <c:v>Wk 11/23</c:v>
                </c:pt>
                <c:pt idx="4">
                  <c:v>Wk 11/30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32</c:v>
                </c:pt>
                <c:pt idx="1">
                  <c:v>32</c:v>
                </c:pt>
                <c:pt idx="2">
                  <c:v>36</c:v>
                </c:pt>
                <c:pt idx="3">
                  <c:v>28</c:v>
                </c:pt>
                <c:pt idx="4">
                  <c:v>32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Apprentice A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Wk 11/02</c:v>
                </c:pt>
                <c:pt idx="1">
                  <c:v>Wk 11/09</c:v>
                </c:pt>
                <c:pt idx="2">
                  <c:v>Wk 11/16</c:v>
                </c:pt>
                <c:pt idx="3">
                  <c:v>Wk 11/23</c:v>
                </c:pt>
                <c:pt idx="4">
                  <c:v>Wk 11/30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30</c:v>
                </c:pt>
                <c:pt idx="1">
                  <c:v>32</c:v>
                </c:pt>
                <c:pt idx="2">
                  <c:v>34</c:v>
                </c:pt>
                <c:pt idx="3">
                  <c:v>28</c:v>
                </c:pt>
                <c:pt idx="4">
                  <c:v>32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Apprentice B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Wk 11/02</c:v>
                </c:pt>
                <c:pt idx="1">
                  <c:v>Wk 11/09</c:v>
                </c:pt>
                <c:pt idx="2">
                  <c:v>Wk 11/16</c:v>
                </c:pt>
                <c:pt idx="3">
                  <c:v>Wk 11/23</c:v>
                </c:pt>
                <c:pt idx="4">
                  <c:v>Wk 11/30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24</c:v>
                </c:pt>
                <c:pt idx="1">
                  <c:v>28</c:v>
                </c:pt>
                <c:pt idx="2">
                  <c:v>30</c:v>
                </c:pt>
                <c:pt idx="3">
                  <c:v>24</c:v>
                </c:pt>
                <c:pt idx="4">
                  <c:v>28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MC cable</c:v>
                </c:pt>
                <c:pt idx="1">
                  <c:v>Panels and breakers</c:v>
                </c:pt>
                <c:pt idx="2">
                  <c:v>Devices and trim</c:v>
                </c:pt>
                <c:pt idx="3">
                  <c:v>Lighting controls</c:v>
                </c:pt>
                <c:pt idx="4">
                  <c:v>Conduit and supports</c:v>
                </c:pt>
                <c:pt idx="5">
                  <c:v>Consumables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8420</c:v>
                </c:pt>
                <c:pt idx="1">
                  <c:v>6150</c:v>
                </c:pt>
                <c:pt idx="2">
                  <c:v>2980</c:v>
                </c:pt>
                <c:pt idx="3">
                  <c:v>4310</c:v>
                </c:pt>
                <c:pt idx="4">
                  <c:v>1860</c:v>
                </c:pt>
                <c:pt idx="5">
                  <c:v>1280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4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54864"/>
          </a:xfrm>
          <a:prstGeom prst="rect">
            <a:avLst/>
          </a:prstGeom>
          <a:solidFill>
            <a:srgbClr val="DC8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72800" cy="12801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Downtown Bangor Commercial Rewiring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972800" cy="6400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>
                <a:solidFill>
                  <a:srgbClr val="FFDCB4"/>
                </a:solidFill>
                <a:latin typeface="Calibri"/>
              </a:rPr>
              <a:t>Phase Status Report and 30-Day Outlook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E1E6F0"/>
                </a:solidFill>
              </a:rPr>
              <a:t>Project Lead: Teresa Gutierrez, Journeyman Electrician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E1E6F0"/>
                </a:solidFill>
              </a:rPr>
              <a:t>Foreman: Steve Gilmore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E1E6F0"/>
                </a:solidFill>
              </a:rPr>
              <a:t>Penobscot Electrical Contractors, 144 Perry Road, Bangor ME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E1E6F0"/>
                </a:solidFill>
              </a:rPr>
              <a:t>Reporting period: November 5,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C4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Project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114300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0">
                <a:solidFill>
                  <a:srgbClr val="EBEBEB"/>
                </a:solidFill>
                <a:latin typeface="Calibri"/>
              </a:rPr>
              <a:t>Three floors, full panel and branch-circuit replacement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202630"/>
                </a:solidFill>
                <a:latin typeface="Calibri"/>
              </a:rPr>
              <a:t>  •  Whole-building rewire of a three-story downtown office building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02630"/>
                </a:solidFill>
                <a:latin typeface="Calibri"/>
              </a:rPr>
              <a:t>  •  Replace branch circuits, distribution panels A, B, and C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02630"/>
                </a:solidFill>
                <a:latin typeface="Calibri"/>
              </a:rPr>
              <a:t>  •  New lighting controls and occupancy sensors throughout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02630"/>
                </a:solidFill>
                <a:latin typeface="Calibri"/>
              </a:rPr>
              <a:t>  •  Modern device counts to current NEC requirements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02630"/>
                </a:solidFill>
                <a:latin typeface="Calibri"/>
              </a:rPr>
              <a:t>  •  Coordinated cutovers after hours to keep tenants live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02630"/>
                </a:solidFill>
                <a:latin typeface="Calibri"/>
              </a:rPr>
              <a:t>  •  As-built drawings and inspector sign-off at closeout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09728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C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234440"/>
            <a:ext cx="475488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800" b="1">
                <a:solidFill>
                  <a:srgbClr val="1C416E"/>
                </a:solidFill>
                <a:latin typeface="Calibri"/>
              </a:rPr>
              <a:t>Key Facts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1783080"/>
            <a:ext cx="219456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1">
                <a:solidFill>
                  <a:srgbClr val="505050"/>
                </a:solidFill>
                <a:latin typeface="Calibri"/>
              </a:rPr>
              <a:t>Project start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1783080"/>
            <a:ext cx="27432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0">
                <a:solidFill>
                  <a:srgbClr val="202630"/>
                </a:solidFill>
                <a:latin typeface="Calibri"/>
              </a:rPr>
              <a:t>October 14,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194560"/>
            <a:ext cx="219456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1">
                <a:solidFill>
                  <a:srgbClr val="505050"/>
                </a:solidFill>
                <a:latin typeface="Calibri"/>
              </a:rPr>
              <a:t>Closeout target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2194560"/>
            <a:ext cx="27432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0">
                <a:solidFill>
                  <a:srgbClr val="202630"/>
                </a:solidFill>
                <a:latin typeface="Calibri"/>
              </a:rPr>
              <a:t>January 29, 2027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606040"/>
            <a:ext cx="219456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1">
                <a:solidFill>
                  <a:srgbClr val="505050"/>
                </a:solidFill>
                <a:latin typeface="Calibri"/>
              </a:rPr>
              <a:t>Lead electrician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2606040"/>
            <a:ext cx="27432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0">
                <a:solidFill>
                  <a:srgbClr val="202630"/>
                </a:solidFill>
                <a:latin typeface="Calibri"/>
              </a:rPr>
              <a:t>Teresa Gutierrez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3017520"/>
            <a:ext cx="219456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1">
                <a:solidFill>
                  <a:srgbClr val="505050"/>
                </a:solidFill>
                <a:latin typeface="Calibri"/>
              </a:rPr>
              <a:t>Foreman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3017520"/>
            <a:ext cx="27432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0">
                <a:solidFill>
                  <a:srgbClr val="202630"/>
                </a:solidFill>
                <a:latin typeface="Calibri"/>
              </a:rPr>
              <a:t>Steve Gilmore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3429000"/>
            <a:ext cx="219456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1">
                <a:solidFill>
                  <a:srgbClr val="505050"/>
                </a:solidFill>
                <a:latin typeface="Calibri"/>
              </a:rPr>
              <a:t>Crew size on site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3429000"/>
            <a:ext cx="27432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0">
                <a:solidFill>
                  <a:srgbClr val="202630"/>
                </a:solidFill>
                <a:latin typeface="Calibri"/>
              </a:rPr>
              <a:t>4 to 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3840480"/>
            <a:ext cx="219456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1">
                <a:solidFill>
                  <a:srgbClr val="505050"/>
                </a:solidFill>
                <a:latin typeface="Calibri"/>
              </a:rPr>
              <a:t>Working hours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3840480"/>
            <a:ext cx="27432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0">
                <a:solidFill>
                  <a:srgbClr val="202630"/>
                </a:solidFill>
                <a:latin typeface="Calibri"/>
              </a:rPr>
              <a:t>7:00 AM to 3:30 PM, cutovers after hours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4251960"/>
            <a:ext cx="219456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1">
                <a:solidFill>
                  <a:srgbClr val="505050"/>
                </a:solidFill>
                <a:latin typeface="Calibri"/>
              </a:rPr>
              <a:t>Permit number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4251960"/>
            <a:ext cx="27432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0">
                <a:solidFill>
                  <a:srgbClr val="202630"/>
                </a:solidFill>
                <a:latin typeface="Calibri"/>
              </a:rPr>
              <a:t>BGR-COM-2026-1407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C4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Penobscot Electrical Contractors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6601968"/>
            <a:ext cx="4114800" cy="25603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Slide 2 of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C4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Phase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114300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0">
                <a:solidFill>
                  <a:srgbClr val="EBEBEB"/>
                </a:solidFill>
                <a:latin typeface="Calibri"/>
              </a:rPr>
              <a:t>Demo, rough-in, cutover, trim, and closeout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97280"/>
          <a:ext cx="112471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Phase</a:t>
                      </a:r>
                    </a:p>
                  </a:txBody>
                  <a:tcPr>
                    <a:solidFill>
                      <a:srgbClr val="1C41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Area</a:t>
                      </a:r>
                    </a:p>
                  </a:txBody>
                  <a:tcPr>
                    <a:solidFill>
                      <a:srgbClr val="1C41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Task</a:t>
                      </a:r>
                    </a:p>
                  </a:txBody>
                  <a:tcPr>
                    <a:solidFill>
                      <a:srgbClr val="1C41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Target</a:t>
                      </a:r>
                    </a:p>
                  </a:txBody>
                  <a:tcPr>
                    <a:solidFill>
                      <a:srgbClr val="1C41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1C416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Phase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Floor 1 East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Demo existing branch circuits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11/06/2026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Complete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Phase 1</a:t>
                      </a:r>
                    </a:p>
                  </a:txBody>
                  <a:tcPr>
                    <a:solidFill>
                      <a:srgbClr val="D7E1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Floor 1 East</a:t>
                      </a:r>
                    </a:p>
                  </a:txBody>
                  <a:tcPr>
                    <a:solidFill>
                      <a:srgbClr val="D7E1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Pull new MC cable home runs</a:t>
                      </a:r>
                    </a:p>
                  </a:txBody>
                  <a:tcPr>
                    <a:solidFill>
                      <a:srgbClr val="D7E1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11/20/2026</a:t>
                      </a:r>
                    </a:p>
                  </a:txBody>
                  <a:tcPr>
                    <a:solidFill>
                      <a:srgbClr val="D7E1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In progress</a:t>
                      </a:r>
                    </a:p>
                  </a:txBody>
                  <a:tcPr>
                    <a:solidFill>
                      <a:srgbClr val="D7E1E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Phase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Main Room MDP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Panel A cutover, after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11/25/2026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Scheduled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Phase 2</a:t>
                      </a:r>
                    </a:p>
                  </a:txBody>
                  <a:tcPr>
                    <a:solidFill>
                      <a:srgbClr val="D7E1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Floor 2 West</a:t>
                      </a:r>
                    </a:p>
                  </a:txBody>
                  <a:tcPr>
                    <a:solidFill>
                      <a:srgbClr val="D7E1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Rough in receptacles and switches</a:t>
                      </a:r>
                    </a:p>
                  </a:txBody>
                  <a:tcPr>
                    <a:solidFill>
                      <a:srgbClr val="D7E1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12/11/2026</a:t>
                      </a:r>
                    </a:p>
                  </a:txBody>
                  <a:tcPr>
                    <a:solidFill>
                      <a:srgbClr val="D7E1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Scheduled</a:t>
                      </a:r>
                    </a:p>
                  </a:txBody>
                  <a:tcPr>
                    <a:solidFill>
                      <a:srgbClr val="D7E1E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Phase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Floor 2 West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Panel B cutover, after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12/18/2026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Scheduled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Phase 3</a:t>
                      </a:r>
                    </a:p>
                  </a:txBody>
                  <a:tcPr>
                    <a:solidFill>
                      <a:srgbClr val="D7E1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Floor 3</a:t>
                      </a:r>
                    </a:p>
                  </a:txBody>
                  <a:tcPr>
                    <a:solidFill>
                      <a:srgbClr val="D7E1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Lighting controls and occupancy sensors</a:t>
                      </a:r>
                    </a:p>
                  </a:txBody>
                  <a:tcPr>
                    <a:solidFill>
                      <a:srgbClr val="D7E1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01/08/2027</a:t>
                      </a:r>
                    </a:p>
                  </a:txBody>
                  <a:tcPr>
                    <a:solidFill>
                      <a:srgbClr val="D7E1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Scheduled</a:t>
                      </a:r>
                    </a:p>
                  </a:txBody>
                  <a:tcPr>
                    <a:solidFill>
                      <a:srgbClr val="D7E1E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Phase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Floor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Final trim, devices and labeling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01/22/2027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Scheduled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Closeout</a:t>
                      </a:r>
                    </a:p>
                  </a:txBody>
                  <a:tcPr>
                    <a:solidFill>
                      <a:srgbClr val="D7E1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Whole building</a:t>
                      </a:r>
                    </a:p>
                  </a:txBody>
                  <a:tcPr>
                    <a:solidFill>
                      <a:srgbClr val="D7E1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Inspection and as-built markups</a:t>
                      </a:r>
                    </a:p>
                  </a:txBody>
                  <a:tcPr>
                    <a:solidFill>
                      <a:srgbClr val="D7E1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01/29/2027</a:t>
                      </a:r>
                    </a:p>
                  </a:txBody>
                  <a:tcPr>
                    <a:solidFill>
                      <a:srgbClr val="D7E1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Scheduled</a:t>
                      </a:r>
                    </a:p>
                  </a:txBody>
                  <a:tcPr>
                    <a:solidFill>
                      <a:srgbClr val="D7E1EE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C4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Lead: Teresa Gutierrez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601968"/>
            <a:ext cx="4114800" cy="25603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Slide 3 of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C4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Crew Hours by Week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114300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0">
                <a:solidFill>
                  <a:srgbClr val="EBEBEB"/>
                </a:solidFill>
                <a:latin typeface="Calibri"/>
              </a:rPr>
              <a:t>Week of November 2 through end of phase 1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097280"/>
          <a:ext cx="77724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778240" y="1280160"/>
            <a:ext cx="310896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C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0" y="1417320"/>
            <a:ext cx="283464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600" b="1">
                <a:solidFill>
                  <a:srgbClr val="1C416E"/>
                </a:solidFill>
                <a:latin typeface="Calibri"/>
              </a:rPr>
              <a:t>Notes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1874519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>
                <a:solidFill>
                  <a:srgbClr val="202630"/>
                </a:solidFill>
                <a:latin typeface="Calibri"/>
              </a:rPr>
              <a:t>  •  Voluntary overtime budgeted at time-and-a-half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202630"/>
                </a:solidFill>
                <a:latin typeface="Calibri"/>
              </a:rPr>
              <a:t>  •  Cutover weekends shift one crew member to Saturday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202630"/>
                </a:solidFill>
                <a:latin typeface="Calibri"/>
              </a:rPr>
              <a:t>  •  Apprentices roll off after Phase 1 trim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202630"/>
                </a:solidFill>
                <a:latin typeface="Calibri"/>
              </a:rPr>
              <a:t>  •  Danny covers floor 2 rough-in while Teresa runs Panel A cutover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C4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Penobscot Electrical Contractors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601968"/>
            <a:ext cx="4114800" cy="25603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Slide 4 of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C4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Safety and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114300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0">
                <a:solidFill>
                  <a:srgbClr val="EBEBEB"/>
                </a:solidFill>
                <a:latin typeface="Calibri"/>
              </a:rPr>
              <a:t>Arc flash, lockout-tagout, and PPE posture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274320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C7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2743200" cy="8229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4400" b="1">
                <a:solidFill>
                  <a:srgbClr val="1C7848"/>
                </a:solidFill>
                <a:latin typeface="Calibri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274320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100" b="0">
                <a:solidFill>
                  <a:srgbClr val="464646"/>
                </a:solidFill>
                <a:latin typeface="Calibri"/>
              </a:rPr>
              <a:t>Recordable incidents this project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188720"/>
            <a:ext cx="274320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C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325880"/>
            <a:ext cx="2743200" cy="8229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4400" b="1">
                <a:solidFill>
                  <a:srgbClr val="1C416E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194560"/>
            <a:ext cx="274320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100" b="0">
                <a:solidFill>
                  <a:srgbClr val="464646"/>
                </a:solidFill>
                <a:latin typeface="Calibri"/>
              </a:rPr>
              <a:t>Crew, all OSHA 30 current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188720"/>
            <a:ext cx="274320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C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325880"/>
            <a:ext cx="2743200" cy="8229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4400" b="1">
                <a:solidFill>
                  <a:srgbClr val="1C416E"/>
                </a:solidFill>
                <a:latin typeface="Calibri"/>
              </a:rPr>
              <a:t>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194560"/>
            <a:ext cx="274320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100" b="0">
                <a:solidFill>
                  <a:srgbClr val="464646"/>
                </a:solidFill>
                <a:latin typeface="Calibri"/>
              </a:rPr>
              <a:t>LOTO procedures executed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1188720"/>
            <a:ext cx="274320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C7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1325880"/>
            <a:ext cx="2743200" cy="8229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4400" b="1">
                <a:solidFill>
                  <a:srgbClr val="1C7848"/>
                </a:solidFill>
                <a:latin typeface="Calibri"/>
              </a:rP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2194560"/>
            <a:ext cx="274320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100" b="0">
                <a:solidFill>
                  <a:srgbClr val="464646"/>
                </a:solidFill>
                <a:latin typeface="Calibri"/>
              </a:rPr>
              <a:t>PPE compliance audits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017520"/>
            <a:ext cx="1133856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600" b="1">
                <a:solidFill>
                  <a:srgbClr val="1C416E"/>
                </a:solidFill>
                <a:latin typeface="Calibri"/>
              </a:rPr>
              <a:t>Job Hazard Analysis highlights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202630"/>
                </a:solidFill>
                <a:latin typeface="Calibri"/>
              </a:rPr>
              <a:t>  •  Arc flash boundary established at Panel A and Panel B, category 2 PPE on cutover nights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202630"/>
                </a:solidFill>
                <a:latin typeface="Calibri"/>
              </a:rPr>
              <a:t>  •  Hot work permit on file for the MDP relocation; fire watch identified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202630"/>
                </a:solidFill>
                <a:latin typeface="Calibri"/>
              </a:rPr>
              <a:t>  •  Aerial lift inspections logged daily; both operators current per Cert 04/22/2025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202630"/>
                </a:solidFill>
                <a:latin typeface="Calibri"/>
              </a:rPr>
              <a:t>  •  Daily safety stand-up at 7:00 AM with the GC and the trades on site that day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C4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OSHA 30 current for all crew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6601968"/>
            <a:ext cx="4114800" cy="25603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Slide 5 of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C4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Materials Spend to 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114300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0">
                <a:solidFill>
                  <a:srgbClr val="EBEBEB"/>
                </a:solidFill>
                <a:latin typeface="Calibri"/>
              </a:rPr>
              <a:t>Phase 1 and ordered for Phase 2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097280"/>
          <a:ext cx="58521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675120" y="1280160"/>
          <a:ext cx="51206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Category</a:t>
                      </a:r>
                    </a:p>
                  </a:txBody>
                  <a:tcPr>
                    <a:solidFill>
                      <a:srgbClr val="1C41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USD</a:t>
                      </a:r>
                    </a:p>
                  </a:txBody>
                  <a:tcPr>
                    <a:solidFill>
                      <a:srgbClr val="1C416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MC cable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$8,420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Panels and breakers</a:t>
                      </a:r>
                    </a:p>
                  </a:txBody>
                  <a:tcPr>
                    <a:solidFill>
                      <a:srgbClr val="D7E1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$6,150</a:t>
                      </a:r>
                    </a:p>
                  </a:txBody>
                  <a:tcPr>
                    <a:solidFill>
                      <a:srgbClr val="D7E1E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Devices and trim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$2,980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Lighting controls</a:t>
                      </a:r>
                    </a:p>
                  </a:txBody>
                  <a:tcPr>
                    <a:solidFill>
                      <a:srgbClr val="D7E1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$4,310</a:t>
                      </a:r>
                    </a:p>
                  </a:txBody>
                  <a:tcPr>
                    <a:solidFill>
                      <a:srgbClr val="D7E1E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Conduit and supports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$1,860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Consumables</a:t>
                      </a:r>
                    </a:p>
                  </a:txBody>
                  <a:tcPr>
                    <a:solidFill>
                      <a:srgbClr val="D7E1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$1,280</a:t>
                      </a:r>
                    </a:p>
                  </a:txBody>
                  <a:tcPr>
                    <a:solidFill>
                      <a:srgbClr val="D7E1E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Total to 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$25,000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C4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Procurement: Aubuchon and Granite City Electric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601968"/>
            <a:ext cx="4114800" cy="25603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Slide 6 of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C4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Risk Register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114300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0">
                <a:solidFill>
                  <a:srgbClr val="EBEBEB"/>
                </a:solidFill>
                <a:latin typeface="Calibri"/>
              </a:rPr>
              <a:t>Top risks tracked weekly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97280"/>
          <a:ext cx="1124712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Risk</a:t>
                      </a:r>
                    </a:p>
                  </a:txBody>
                  <a:tcPr>
                    <a:solidFill>
                      <a:srgbClr val="1C41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Likelihood</a:t>
                      </a:r>
                    </a:p>
                  </a:txBody>
                  <a:tcPr>
                    <a:solidFill>
                      <a:srgbClr val="1C41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Impact</a:t>
                      </a:r>
                    </a:p>
                  </a:txBody>
                  <a:tcPr>
                    <a:solidFill>
                      <a:srgbClr val="1C41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>
                    <a:solidFill>
                      <a:srgbClr val="1C41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Mitigation</a:t>
                      </a:r>
                    </a:p>
                  </a:txBody>
                  <a:tcPr>
                    <a:solidFill>
                      <a:srgbClr val="1C416E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MDP relocation slips into Thanksgiving week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Teresa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Confirm GC sign-off by 11/18, pre-stage panel A on 11/22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Lighting controls back-order</a:t>
                      </a:r>
                    </a:p>
                  </a:txBody>
                  <a:tcPr>
                    <a:solidFill>
                      <a:srgbClr val="D7E1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D7E1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D7E1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Steve</a:t>
                      </a:r>
                    </a:p>
                  </a:txBody>
                  <a:tcPr>
                    <a:solidFill>
                      <a:srgbClr val="D7E1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Place Phase 3 order by 11/30, alt vendor identified</a:t>
                      </a:r>
                    </a:p>
                  </a:txBody>
                  <a:tcPr>
                    <a:solidFill>
                      <a:srgbClr val="D7E1EE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Tenant after-hours access friction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GC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Standing badge list; security walkthrough each cutover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Weather delay on rooftop conduit run</a:t>
                      </a:r>
                    </a:p>
                  </a:txBody>
                  <a:tcPr>
                    <a:solidFill>
                      <a:srgbClr val="D7E1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D7E1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D7E1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Crew</a:t>
                      </a:r>
                    </a:p>
                  </a:txBody>
                  <a:tcPr>
                    <a:solidFill>
                      <a:srgbClr val="D7E1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Indoor priority list available for cold days</a:t>
                      </a:r>
                    </a:p>
                  </a:txBody>
                  <a:tcPr>
                    <a:solidFill>
                      <a:srgbClr val="D7E1EE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Inspector availability in late January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Steve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Pre-book inspection slot for 01/28 by 12/15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C4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Owner labels reflect on-site responsibility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601968"/>
            <a:ext cx="4114800" cy="25603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Slide 7 of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C4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Next 30 Days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114300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0">
                <a:solidFill>
                  <a:srgbClr val="EBEBEB"/>
                </a:solidFill>
                <a:latin typeface="Calibri"/>
              </a:rPr>
              <a:t>Through end of phase 1 and into rough-in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56692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202630"/>
                </a:solidFill>
                <a:latin typeface="Calibri"/>
              </a:rPr>
              <a:t>  •  Wk 11/09: finish floor 1 east MC home runs, label terminations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02630"/>
                </a:solidFill>
                <a:latin typeface="Calibri"/>
              </a:rPr>
              <a:t>  •  Wk 11/16: panel A pre-stage, after-hours walk on 11/20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02630"/>
                </a:solidFill>
                <a:latin typeface="Calibri"/>
              </a:rPr>
              <a:t>  •  Wk 11/23: panel A cutover overnight 11/24 into 11/25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02630"/>
                </a:solidFill>
                <a:latin typeface="Calibri"/>
              </a:rPr>
              <a:t>  •  Wk 11/30: start floor 2 west rough-in, devices and switches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097280"/>
            <a:ext cx="5303520" cy="5120640"/>
          </a:xfrm>
          <a:prstGeom prst="roundRect">
            <a:avLst/>
          </a:prstGeom>
          <a:solidFill>
            <a:srgbClr val="FCF7EE"/>
          </a:solidFill>
          <a:ln w="19050">
            <a:solidFill>
              <a:srgbClr val="DC8A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234440"/>
            <a:ext cx="502920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800" b="1">
                <a:solidFill>
                  <a:srgbClr val="DC8A18"/>
                </a:solidFill>
                <a:latin typeface="Calibri"/>
              </a:rPr>
              <a:t>Asks of the office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78308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202630"/>
                </a:solidFill>
                <a:latin typeface="Calibri"/>
              </a:rPr>
              <a:t>  •  Confirm overtime budget for the 11/24 cutover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202630"/>
                </a:solidFill>
                <a:latin typeface="Calibri"/>
              </a:rPr>
              <a:t>  •  Approve Phase 3 lighting controls PO by 11/30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202630"/>
                </a:solidFill>
                <a:latin typeface="Calibri"/>
              </a:rPr>
              <a:t>  •  Schedule a second arc flash refresher for Q1 2027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202630"/>
                </a:solidFill>
                <a:latin typeface="Calibri"/>
              </a:rPr>
              <a:t>  •  Block off 01/28 for inspector walk-through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C4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Questions: tgutierrez@penobscotelectrical.com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601968"/>
            <a:ext cx="4114800" cy="25603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Slide 8 of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