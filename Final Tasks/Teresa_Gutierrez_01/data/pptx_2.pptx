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gross USD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Teresa, Penobscot Electrical</c:v>
                </c:pt>
                <c:pt idx="1">
                  <c:v>Brian, Bangor Dental Group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62000</c:v>
                </c:pt>
                <c:pt idx="1">
                  <c:v>44000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Sheet1!$A$2:$A$15</c:f>
              <c:strCache>
                <c:ptCount val="14"/>
                <c:pt idx="0">
                  <c:v>Mortgage</c:v>
                </c:pt>
                <c:pt idx="1">
                  <c:v>Utilities</c:v>
                </c:pt>
                <c:pt idx="2">
                  <c:v>Truck</c:v>
                </c:pt>
                <c:pt idx="3">
                  <c:v>Auto insurance</c:v>
                </c:pt>
                <c:pt idx="4">
                  <c:v>Groceries</c:v>
                </c:pt>
                <c:pt idx="5">
                  <c:v>Gas</c:v>
                </c:pt>
                <c:pt idx="6">
                  <c:v>Phone</c:v>
                </c:pt>
                <c:pt idx="7">
                  <c:v>Health insurance</c:v>
                </c:pt>
                <c:pt idx="8">
                  <c:v>Prescriptions</c:v>
                </c:pt>
                <c:pt idx="9">
                  <c:v>Subscriptions</c:v>
                </c:pt>
                <c:pt idx="10">
                  <c:v>Dining out</c:v>
                </c:pt>
                <c:pt idx="11">
                  <c:v>Kids activities</c:v>
                </c:pt>
                <c:pt idx="12">
                  <c:v>Personal</c:v>
                </c:pt>
                <c:pt idx="13">
                  <c:v>Home maintenance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1340</c:v>
                </c:pt>
                <c:pt idx="1">
                  <c:v>275</c:v>
                </c:pt>
                <c:pt idx="2">
                  <c:v>365</c:v>
                </c:pt>
                <c:pt idx="3">
                  <c:v>130</c:v>
                </c:pt>
                <c:pt idx="4">
                  <c:v>440</c:v>
                </c:pt>
                <c:pt idx="5">
                  <c:v>120</c:v>
                </c:pt>
                <c:pt idx="6">
                  <c:v>60</c:v>
                </c:pt>
                <c:pt idx="7">
                  <c:v>310</c:v>
                </c:pt>
                <c:pt idx="8">
                  <c:v>55</c:v>
                </c:pt>
                <c:pt idx="9">
                  <c:v>38</c:v>
                </c:pt>
                <c:pt idx="10">
                  <c:v>85</c:v>
                </c:pt>
                <c:pt idx="11">
                  <c:v>130</c:v>
                </c:pt>
                <c:pt idx="12">
                  <c:v>95</c:v>
                </c:pt>
                <c:pt idx="13">
                  <c:v>75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 balance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Oct 25</c:v>
                </c:pt>
                <c:pt idx="1">
                  <c:v>Nov 25</c:v>
                </c:pt>
                <c:pt idx="2">
                  <c:v>Dec 25</c:v>
                </c:pt>
                <c:pt idx="3">
                  <c:v>Jan 26</c:v>
                </c:pt>
                <c:pt idx="4">
                  <c:v>Feb 26</c:v>
                </c:pt>
                <c:pt idx="5">
                  <c:v>Oct 26 (proj)</c:v>
                </c:pt>
                <c:pt idx="6">
                  <c:v>Jan 27 (proj)</c:v>
                </c:pt>
                <c:pt idx="7">
                  <c:v>Jun 27 (proj)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11571</c:v>
                </c:pt>
                <c:pt idx="1">
                  <c:v>12055</c:v>
                </c:pt>
                <c:pt idx="2">
                  <c:v>12539</c:v>
                </c:pt>
                <c:pt idx="3">
                  <c:v>13021</c:v>
                </c:pt>
                <c:pt idx="4">
                  <c:v>13504</c:v>
                </c:pt>
                <c:pt idx="5">
                  <c:v>16880</c:v>
                </c:pt>
                <c:pt idx="6">
                  <c:v>18326</c:v>
                </c:pt>
                <c:pt idx="7">
                  <c:v>20000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FXAIX</c:v>
                </c:pt>
                <c:pt idx="1">
                  <c:v>FZROX</c:v>
                </c:pt>
                <c:pt idx="2">
                  <c:v>Cash reserves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7560</c:v>
                </c:pt>
                <c:pt idx="1">
                  <c:v>2890</c:v>
                </c:pt>
                <c:pt idx="2">
                  <c:v>750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87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Gutierrez Household Financial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000" b="0">
                <a:solidFill>
                  <a:srgbClr val="E6E1CD"/>
                </a:solidFill>
                <a:latin typeface="Calibri"/>
              </a:rPr>
              <a:t>Quarter-end snapshot and 2027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E1DCCD"/>
                </a:solidFill>
              </a:rPr>
              <a:t>Prepared by Teresa and Brian Gutierrez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DCCD"/>
                </a:solidFill>
              </a:rPr>
              <a:t>87 Birch Street, Bangor, Maine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DCCD"/>
                </a:solidFill>
              </a:rPr>
              <a:t>Review date: October 4, 2026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E1DCCD"/>
                </a:solidFill>
              </a:rPr>
              <a:t>For household use, not for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Income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Two earners, steady union scale plus dental office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188720"/>
            <a:ext cx="41148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32588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E543C"/>
                </a:solidFill>
                <a:latin typeface="Calibri"/>
              </a:rPr>
              <a:t>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874519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64646"/>
                </a:solidFill>
                <a:latin typeface="Calibri"/>
              </a:rPr>
              <a:t>Combined gross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874519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$106,000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377439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64646"/>
                </a:solidFill>
                <a:latin typeface="Calibri"/>
              </a:rPr>
              <a:t>Teresa monthly take-home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2377439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$4,000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8036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64646"/>
                </a:solidFill>
                <a:latin typeface="Calibri"/>
              </a:rPr>
              <a:t>Brian net biweekly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88036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$1,420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8328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64646"/>
                </a:solidFill>
                <a:latin typeface="Calibri"/>
              </a:rPr>
              <a:t>Health, dental, retirement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338328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Pre-tax via payroll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886200"/>
            <a:ext cx="210312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464646"/>
                </a:solidFill>
                <a:latin typeface="Calibri"/>
              </a:rPr>
              <a:t>Overtime at time-and-a-half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886200"/>
            <a:ext cx="18288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Voluntary, project crunches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Source: payroll statements through September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Monthly Expenses, Teresa's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Total $3,518 against $4,000 take-home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097280"/>
          <a:ext cx="640080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188720"/>
            <a:ext cx="48463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325880"/>
            <a:ext cx="45720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1E543C"/>
                </a:solidFill>
                <a:latin typeface="Calibri"/>
              </a:rPr>
              <a:t>Where the money goes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874519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Mortgage is 38% of monthly outflow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Groceries and dining together $525, about 15%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Kids activities cover soccer and dance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Subscriptions stay flat: Netflix, Disney+, ESPN+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$482 left over goes straight to the savings transfer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Source: budget xlsx and Bangor Savings checking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Savings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From $11,571 last October toward the $20,000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8160" y="1280160"/>
            <a:ext cx="3657600" cy="4572000"/>
          </a:xfrm>
          <a:prstGeom prst="roundRect">
            <a:avLst/>
          </a:prstGeom>
          <a:solidFill>
            <a:srgbClr val="FCF7EE"/>
          </a:solidFill>
          <a:ln w="19050">
            <a:solidFill>
              <a:srgbClr val="C8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338328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800" b="1">
                <a:solidFill>
                  <a:srgbClr val="C8781E"/>
                </a:solidFill>
                <a:latin typeface="Calibri"/>
              </a:rPr>
              <a:t>Math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Current balance $13,504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Monthly delta $482 confirmed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Gap to target $6,496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Projected hit June 2027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Rounding up to $500 would advance two months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Account ending 8820 at Bangor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Debt Paydown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Mortgage and truck loan only, no credit card debt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Loan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Lender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Balance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Payment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Maturity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Mortgage ending 6033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$198,000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4.05%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$1,340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Sept 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Truck loan ending 7741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Ford Credit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$22,000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5.90% APR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$365 monthly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June 2028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Visa ending 3052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Bangor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$0 carried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Pay in 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Revolving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34840"/>
            <a:ext cx="11247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Truck loan amortizes to zero in 26 months at current payment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Mortgage extra principal not planned until savings target is met</a:t>
            </a:r>
          </a:p>
          <a:p>
            <a:pPr algn="l">
              <a:spcAft>
                <a:spcPts val="600"/>
              </a:spcAft>
            </a:pPr>
            <a:r>
              <a:rPr sz="1200">
                <a:solidFill>
                  <a:srgbClr val="232823"/>
                </a:solidFill>
                <a:latin typeface="Calibri"/>
              </a:rPr>
              <a:t>  •  Visa cleared monthly, autopay full balance from checking 4417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All accounts current as of October 4,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Retirement Holdings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Roth IRA at Fidelity plus the IBEW pension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54864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280160"/>
          <a:ext cx="53949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Holding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Shares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E543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Fidelity 500 Index, FXAIX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41.882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$7,560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Fidelity ZERO Total Market, FZROX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168.240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$2,890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Fidelity Government Cash Reserves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750.000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Total Roth IRA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$11,200</a:t>
                      </a:r>
                    </a:p>
                  </a:txBody>
                  <a:tcPr>
                    <a:solidFill>
                      <a:srgbClr val="E0EAE2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Vested IBEW Local 567 pension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82828"/>
                          </a:solidFill>
                        </a:rPr>
                        <a:t>Separate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Source: Roth IRA quarterly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2027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Three priorities and one stretch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5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C543C"/>
                </a:solidFill>
                <a:latin typeface="Calibri"/>
              </a:rPr>
              <a:t>Hit the $20,000 savings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Maintain $482 monthly transfer; round to $500 in months without a heating bill spike. Project hit June 2027.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7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C8781E"/>
                </a:solidFill>
                <a:latin typeface="Calibri"/>
              </a:rPr>
              <a:t>Pay the Sugarloaf ski week without a credit 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Save $850 over December and January into the same savings account; do not float the trip on the Visa.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749039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371600"/>
            <a:ext cx="3383280" cy="9144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1C416E"/>
                </a:solidFill>
                <a:latin typeface="Calibri"/>
              </a:rPr>
              <a:t>Bathroom retile finished before April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468880"/>
            <a:ext cx="3383280" cy="3474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232823"/>
                </a:solidFill>
                <a:latin typeface="Calibri"/>
              </a:rPr>
              <a:t>Buy the porcelain in November, set tile across two weekends, grout cure between. Aubuchon for thinset and grout.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Reviewed with Brian on October 4,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0">
                <a:solidFill>
                  <a:srgbClr val="EBEBEB"/>
                </a:solidFill>
                <a:latin typeface="Calibri"/>
              </a:rPr>
              <a:t>Steady, on track, no surprises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Income stable; no payroll changes expected before contract renewal in 2028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Expenses inside the budget every month since the last review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Savings on pace; June 2027 hit on $20,000 target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Debt service comfortable; truck loan in the home stretch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Retirement on autopilot through the Fidelity contribution schedule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32823"/>
                </a:solidFill>
                <a:latin typeface="Calibri"/>
              </a:rPr>
              <a:t>  •  Next review on the first of January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E5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Prepared by Teresa and Brian Gutierrez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601968"/>
            <a:ext cx="4114800" cy="256032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