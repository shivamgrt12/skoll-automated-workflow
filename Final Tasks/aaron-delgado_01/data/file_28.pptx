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minutes in session</c:v>
                </c:pt>
              </c:strCache>
            </c:strRef>
          </c:tx>
          <c:dPt>
            <c:idx val="0"/>
            <c:spPr>
              <a:solidFill>
                <a:srgbClr val="E8A33D"/>
              </a:solidFill>
            </c:spPr>
          </c:dPt>
          <c:dPt>
            <c:idx val="1"/>
            <c:spPr>
              <a:solidFill>
                <a:srgbClr val="E8A33D"/>
              </a:solidFill>
            </c:spPr>
          </c:dPt>
          <c:dPt>
            <c:idx val="2"/>
            <c:spPr>
              <a:solidFill>
                <a:srgbClr val="E8A33D"/>
              </a:solidFill>
            </c:spPr>
          </c:dPt>
          <c:dPt>
            <c:idx val="3"/>
            <c:spPr>
              <a:solidFill>
                <a:srgbClr val="E8A33D"/>
              </a:solidFill>
            </c:spPr>
          </c:dPt>
          <c:dPt>
            <c:idx val="4"/>
            <c:spPr>
              <a:solidFill>
                <a:srgbClr val="E8A33D"/>
              </a:solidFill>
            </c:spPr>
          </c:dPt>
          <c:dPt>
            <c:idx val="5"/>
            <c:spPr>
              <a:solidFill>
                <a:srgbClr val="E8A33D"/>
              </a:solidFill>
            </c:spPr>
          </c:dPt>
          <c:cat>
            <c:strRef>
              <c:f>Sheet1!$A$2:$A$7</c:f>
              <c:strCache>
                <c:ptCount val="6"/>
                <c:pt idx="0">
                  <c:v>Wk 1</c:v>
                </c:pt>
                <c:pt idx="1">
                  <c:v>Wk 2</c:v>
                </c:pt>
                <c:pt idx="2">
                  <c:v>Wk 3</c:v>
                </c:pt>
                <c:pt idx="3">
                  <c:v>Wk 4</c:v>
                </c:pt>
                <c:pt idx="4">
                  <c:v>Wk 5</c:v>
                </c:pt>
                <c:pt idx="5">
                  <c:v>Wk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9</c:v>
                </c:pt>
                <c:pt idx="3">
                  <c:v>9</c:v>
                </c:pt>
                <c:pt idx="4">
                  <c:v>11</c:v>
                </c:pt>
                <c:pt idx="5">
                  <c:v>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EAF0F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005840"/>
            <a:ext cx="2468880" cy="2468880"/>
          </a:xfrm>
          <a:prstGeom prst="ellipse">
            <a:avLst/>
          </a:prstGeom>
          <a:solidFill>
            <a:srgbClr val="1C2D49"/>
          </a:solidFill>
          <a:ln w="1905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55480" y="1691640"/>
            <a:ext cx="1097280" cy="109728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7772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EAF0F8"/>
                </a:solidFill>
                <a:latin typeface="Verdana"/>
              </a:rPr>
              <a:t>LANTERN KEEPER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0040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E8A33D"/>
                </a:solidFill>
                <a:latin typeface="Calibri"/>
              </a:rPr>
              <a:t>Vertical Slice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862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DA0BD"/>
                </a:solidFill>
                <a:latin typeface="Calibri"/>
              </a:rPr>
              <a:t>Solo weekend build  /  atmospheric puzzle-platformer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DA0BD"/>
                </a:solidFill>
                <a:latin typeface="Calibri"/>
              </a:rPr>
              <a:t>A. Delgado   |   February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A33D"/>
                </a:solidFill>
                <a:latin typeface="Verdana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371600"/>
            <a:ext cx="2011680" cy="73152"/>
          </a:xfrm>
          <a:prstGeom prst="rect">
            <a:avLst/>
          </a:prstGeom>
          <a:solidFill>
            <a:srgbClr val="7F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rgbClr val="16233A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E8A33D"/>
                </a:solidFill>
                <a:latin typeface="Verdan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956816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EAF0F8"/>
                </a:solidFill>
                <a:latin typeface="Calibri"/>
              </a:rPr>
              <a:t>Where the build stands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880360"/>
            <a:ext cx="566928" cy="566928"/>
          </a:xfrm>
          <a:prstGeom prst="ellipse">
            <a:avLst/>
          </a:prstGeom>
          <a:solidFill>
            <a:srgbClr val="16233A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E8A33D"/>
                </a:solidFill>
                <a:latin typeface="Verdan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916936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EAF0F8"/>
                </a:solidFill>
                <a:latin typeface="Calibri"/>
              </a:rPr>
              <a:t>Playtest signal, six weeks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840480"/>
            <a:ext cx="566928" cy="566928"/>
          </a:xfrm>
          <a:prstGeom prst="ellipse">
            <a:avLst/>
          </a:prstGeom>
          <a:solidFill>
            <a:srgbClr val="16233A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E8A33D"/>
                </a:solidFill>
                <a:latin typeface="Verdan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877056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EAF0F8"/>
                </a:solidFill>
                <a:latin typeface="Calibri"/>
              </a:rPr>
              <a:t>Design pillars holding the level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800600"/>
            <a:ext cx="566928" cy="566928"/>
          </a:xfrm>
          <a:prstGeom prst="ellipse">
            <a:avLst/>
          </a:prstGeom>
          <a:solidFill>
            <a:srgbClr val="16233A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E8A33D"/>
                </a:solidFill>
                <a:latin typeface="Verdan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4837176"/>
            <a:ext cx="8229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EAF0F8"/>
                </a:solidFill>
                <a:latin typeface="Calibri"/>
              </a:rPr>
              <a:t>Risks and the next milestone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A33D"/>
                </a:solidFill>
                <a:latin typeface="Verdana"/>
              </a:rPr>
              <a:t>Where the build stands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828800"/>
            <a:ext cx="3383280" cy="2377440"/>
          </a:xfrm>
          <a:prstGeom prst="rect">
            <a:avLst/>
          </a:prstGeom>
          <a:solidFill>
            <a:srgbClr val="16233A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4028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A33D"/>
                </a:solidFill>
                <a:latin typeface="Verdana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29184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AF0F8"/>
                </a:solidFill>
                <a:latin typeface="Calibri"/>
              </a:rPr>
              <a:t>levels playable end to 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828800"/>
            <a:ext cx="3383280" cy="2377440"/>
          </a:xfrm>
          <a:prstGeom prst="rect">
            <a:avLst/>
          </a:prstGeom>
          <a:solidFill>
            <a:srgbClr val="16233A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24028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A33D"/>
                </a:solidFill>
                <a:latin typeface="Verdana"/>
              </a:rPr>
              <a:t>11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29184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AF0F8"/>
                </a:solidFill>
                <a:latin typeface="Calibri"/>
              </a:rPr>
              <a:t>median playtest session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828800"/>
            <a:ext cx="3383280" cy="2377440"/>
          </a:xfrm>
          <a:prstGeom prst="rect">
            <a:avLst/>
          </a:prstGeom>
          <a:solidFill>
            <a:srgbClr val="16233A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224028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8A33D"/>
                </a:solidFill>
                <a:latin typeface="Verdana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291840"/>
            <a:ext cx="2834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AF0F8"/>
                </a:solidFill>
                <a:latin typeface="Calibri"/>
              </a:rPr>
              <a:t>external playtesters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8DA0BD"/>
                </a:solidFill>
                <a:latin typeface="Calibri"/>
              </a:rPr>
              <a:t>The slice now runs front to back without a hard reset. Lighting guides the player through the ruins, and the lantern mechanic reads clearly in blind tests. Pacing in the third level still drags before the water puzzle.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A33D"/>
                </a:solidFill>
                <a:latin typeface="Verdana"/>
              </a:rPr>
              <a:t>Playtest signal, six weeks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68680" y="1554480"/>
          <a:ext cx="104241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58978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DA0BD"/>
                </a:solidFill>
                <a:latin typeface="Calibri"/>
              </a:rPr>
              <a:t>Sessions lengthen as onboarding friction drops. Target for the next slice is a 15 minute median.</a:t>
            </a:r>
          </a:p>
        </p:txBody>
      </p:sp>
    </p:spTree>
  </p:cSld>
  <p:clrMapOvr>
    <a:masterClrMapping/>
  </p:clrMapOvr>
  <p:transition spd="med">
    <p:split orient="horz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A33D"/>
                </a:solidFill>
                <a:latin typeface="Verdana"/>
              </a:rPr>
              <a:t>Design pillars holding the level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828800"/>
            <a:ext cx="3383280" cy="4023360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828800"/>
            <a:ext cx="3383280" cy="146304"/>
          </a:xfrm>
          <a:prstGeom prst="rect">
            <a:avLst/>
          </a:prstGeom>
          <a:solidFill>
            <a:srgbClr val="7F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4028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A33D"/>
                </a:solidFill>
                <a:latin typeface="Calibri"/>
              </a:rPr>
              <a:t>Environmental storytelling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00400"/>
            <a:ext cx="28346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F0F8"/>
                </a:solidFill>
                <a:latin typeface="Calibri"/>
              </a:rPr>
              <a:t>The space tells the story before any text appears. Worn paths, spent lanterns, and collapsed beams carry the history of the place.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828800"/>
            <a:ext cx="3383280" cy="4023360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828800"/>
            <a:ext cx="3383280" cy="146304"/>
          </a:xfrm>
          <a:prstGeom prst="rect">
            <a:avLst/>
          </a:prstGeom>
          <a:solidFill>
            <a:srgbClr val="7F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224028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A33D"/>
                </a:solidFill>
                <a:latin typeface="Calibri"/>
              </a:rPr>
              <a:t>Spatial puzzles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200400"/>
            <a:ext cx="28346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F0F8"/>
                </a:solidFill>
                <a:latin typeface="Calibri"/>
              </a:rPr>
              <a:t>Each room is a small machine. The player reads geometry and light, then acts. No tutorial pop ups, only legible space.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1828800"/>
            <a:ext cx="3383280" cy="4023360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828800"/>
            <a:ext cx="3383280" cy="146304"/>
          </a:xfrm>
          <a:prstGeom prst="rect">
            <a:avLst/>
          </a:prstGeom>
          <a:solidFill>
            <a:srgbClr val="7F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240280"/>
            <a:ext cx="2834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A33D"/>
                </a:solidFill>
                <a:latin typeface="Calibri"/>
              </a:rPr>
              <a:t>Light as a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200400"/>
            <a:ext cx="28346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EAF0F8"/>
                </a:solidFill>
                <a:latin typeface="Calibri"/>
              </a:rPr>
              <a:t>The lantern is both tool and compass. Warm pools pull the eye forward and mark what is safe to touch.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A33D"/>
                </a:solidFill>
                <a:latin typeface="Verdana"/>
              </a:rPr>
              <a:t>Risks and the next milestone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737360"/>
            <a:ext cx="5120640" cy="3931920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FD4C1"/>
                </a:solidFill>
                <a:latin typeface="Calibri"/>
              </a:rPr>
              <a:t>Open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46634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0">
                <a:solidFill>
                  <a:srgbClr val="EAF0F8"/>
                </a:solidFill>
                <a:latin typeface="Calibri"/>
              </a:rPr>
              <a:t>Third level pacing drags before the water puzzle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0">
                <a:solidFill>
                  <a:srgbClr val="EAF0F8"/>
                </a:solidFill>
                <a:latin typeface="Calibri"/>
              </a:rPr>
              <a:t>Save system not yet wired for mid level checkpoints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0">
                <a:solidFill>
                  <a:srgbClr val="EAF0F8"/>
                </a:solidFill>
                <a:latin typeface="Calibri"/>
              </a:rPr>
              <a:t>Ambient audio loops are rough cuts from my own 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737360"/>
            <a:ext cx="5120640" cy="3931920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A33D"/>
                </a:solidFill>
                <a:latin typeface="Calibri"/>
              </a:rPr>
              <a:t>Next milestone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51760"/>
            <a:ext cx="46634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0">
                <a:solidFill>
                  <a:srgbClr val="EAF0F8"/>
                </a:solidFill>
                <a:latin typeface="Calibri"/>
              </a:rPr>
              <a:t>Re-cut level three and rebalance the water puzzle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0">
                <a:solidFill>
                  <a:srgbClr val="EAF0F8"/>
                </a:solidFill>
                <a:latin typeface="Calibri"/>
              </a:rPr>
              <a:t>Add three checkpoints per level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400" b="0">
                <a:solidFill>
                  <a:srgbClr val="EAF0F8"/>
                </a:solidFill>
                <a:latin typeface="Calibri"/>
              </a:rPr>
              <a:t>Book a fresh playtest round for October 2026</a:t>
            </a:r>
          </a:p>
        </p:txBody>
      </p:sp>
    </p:spTree>
  </p:cSld>
  <p:clrMapOvr>
    <a:masterClrMapping/>
  </p:clrMapOvr>
  <p:transition spd="med">
    <p:cover dir="d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0E1726"/>
                </a:solidFill>
                <a:latin typeface="Calibri"/>
              </a:rPr>
              <a:t>Next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0E1726"/>
                </a:solidFill>
                <a:latin typeface="Verdana"/>
              </a:rPr>
              <a:t>October 2026 build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5778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AF0F8"/>
                </a:solidFill>
                <a:latin typeface="Calibri"/>
              </a:rPr>
              <a:t>Ship the slice, then decide on a wider build.</a:t>
            </a:r>
          </a:p>
        </p:txBody>
      </p:sp>
    </p:spTree>
  </p:cSld>
  <p:clrMapOvr>
    <a:masterClrMapping/>
  </p:clrMapOvr>
  <p:transition spd="med">
    <p:zoom dir="in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