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 level's build time</c:v>
                </c:pt>
              </c:strCache>
            </c:strRef>
          </c:tx>
          <c:dPt>
            <c:idx val="0"/>
            <c:spPr>
              <a:solidFill>
                <a:srgbClr val="4FD1C5"/>
              </a:solidFill>
            </c:spPr>
          </c:dPt>
          <c:dPt>
            <c:idx val="1"/>
            <c:spPr>
              <a:solidFill>
                <a:srgbClr val="E0B252"/>
              </a:solidFill>
            </c:spPr>
          </c:dPt>
          <c:dPt>
            <c:idx val="2"/>
            <c:spPr>
              <a:solidFill>
                <a:srgbClr val="E9E2D0"/>
              </a:solidFill>
            </c:spPr>
          </c:dPt>
          <c:dPt>
            <c:idx val="3"/>
            <c:spPr>
              <a:solidFill>
                <a:srgbClr val="6FB1A8"/>
              </a:solidFill>
            </c:spPr>
          </c:dPt>
          <c:dPt>
            <c:idx val="4"/>
            <c:spPr>
              <a:solidFill>
                <a:srgbClr val="C77B4A"/>
              </a:solidFill>
            </c:spPr>
          </c:dPt>
          <c:cat>
            <c:strRef>
              <c:f>Sheet1!$A$2:$A$6</c:f>
              <c:strCache>
                <c:ptCount val="5"/>
                <c:pt idx="0">
                  <c:v>Blockout</c:v>
                </c:pt>
                <c:pt idx="1">
                  <c:v>Lighting and mood</c:v>
                </c:pt>
                <c:pt idx="2">
                  <c:v>Puzzle logic</c:v>
                </c:pt>
                <c:pt idx="3">
                  <c:v>Playtest and cut</c:v>
                </c:pt>
                <c:pt idx="4">
                  <c:v>Polish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</c:v>
                </c:pt>
                <c:pt idx="1">
                  <c:v>0.18</c:v>
                </c:pt>
                <c:pt idx="2">
                  <c:v>0.24</c:v>
                </c:pt>
                <c:pt idx="3">
                  <c:v>0.21</c:v>
                </c:pt>
                <c:pt idx="4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1302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100">
          <a:solidFill>
            <a:srgbClr val="E9E2D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822960"/>
          </a:xfrm>
          <a:prstGeom prst="rect">
            <a:avLst/>
          </a:prstGeom>
          <a:solidFill>
            <a:srgbClr val="E0B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09728" cy="82296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09728" cy="822960"/>
          </a:xfrm>
          <a:prstGeom prst="rect">
            <a:avLst/>
          </a:prstGeom>
          <a:solidFill>
            <a:srgbClr val="E0B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09728" cy="82296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09728" cy="822960"/>
          </a:xfrm>
          <a:prstGeom prst="rect">
            <a:avLst/>
          </a:prstGeom>
          <a:solidFill>
            <a:srgbClr val="E0B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9E2D0"/>
                </a:solidFill>
                <a:latin typeface="Verdana"/>
              </a:rPr>
              <a:t>Environmental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4FD1C5"/>
                </a:solidFill>
                <a:latin typeface="Verdana"/>
              </a:rPr>
              <a:t>Storytelling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206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FB3AC"/>
                </a:solidFill>
                <a:latin typeface="Calibri"/>
              </a:rPr>
              <a:t>A working level designer's notes on telling story through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3AC"/>
                </a:solidFill>
                <a:latin typeface="Calibri"/>
              </a:rPr>
              <a:t>A. Delgado   |   craft talk   |   February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0"/>
            <a:ext cx="5239512" cy="6858000"/>
          </a:xfrm>
          <a:prstGeom prst="rect">
            <a:avLst/>
          </a:prstGeom>
          <a:solidFill>
            <a:srgbClr val="173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4FD1C5"/>
                </a:solidFill>
                <a:latin typeface="Verdana"/>
              </a:rPr>
              <a:t>Who I 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57607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600" b="0">
                <a:solidFill>
                  <a:srgbClr val="E9E2D0"/>
                </a:solidFill>
                <a:latin typeface="Calibri"/>
              </a:rPr>
              <a:t>Fifteen years designing game levels, with a focus on environmental storytelling and spatial puzzles.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600" b="0">
                <a:solidFill>
                  <a:srgbClr val="E9E2D0"/>
                </a:solidFill>
                <a:latin typeface="Calibri"/>
              </a:rPr>
              <a:t>Twenty five years of kendo and fifteen of judo, both taught at a small academy I co-own.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600" b="0">
                <a:solidFill>
                  <a:srgbClr val="E9E2D0"/>
                </a:solidFill>
                <a:latin typeface="Calibri"/>
              </a:rPr>
              <a:t>Weekends go to a solo puzzle-platformer about a keeper of lanterns.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2801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0B252"/>
                </a:solidFill>
                <a:latin typeface="Verdana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057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FB3AC"/>
                </a:solidFill>
                <a:latin typeface="Calibri"/>
              </a:rPr>
              <a:t>yrs level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8803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0B252"/>
                </a:solidFill>
                <a:latin typeface="Verdana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657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FB3AC"/>
                </a:solidFill>
                <a:latin typeface="Calibri"/>
              </a:rPr>
              <a:t>yrs kendo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4805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0B252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52578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FB3AC"/>
                </a:solidFill>
                <a:latin typeface="Calibri"/>
              </a:rPr>
              <a:t>solo game in build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4FD1C5"/>
                </a:solidFill>
                <a:latin typeface="Verdana"/>
              </a:rPr>
              <a:t>Three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737360"/>
            <a:ext cx="10424160" cy="1325880"/>
          </a:xfrm>
          <a:prstGeom prst="rect">
            <a:avLst/>
          </a:prstGeom>
          <a:solidFill>
            <a:srgbClr val="173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0B252"/>
                </a:solidFill>
                <a:latin typeface="Verdan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901952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FD1C5"/>
                </a:solidFill>
                <a:latin typeface="Calibri"/>
              </a:rPr>
              <a:t>Read before you tell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395728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9E2D0"/>
                </a:solidFill>
                <a:latin typeface="Calibri"/>
              </a:rPr>
              <a:t>A room should answer the question, what happened here, before a single line of dialogue runs.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218688"/>
            <a:ext cx="10424160" cy="1325880"/>
          </a:xfrm>
          <a:prstGeom prst="rect">
            <a:avLst/>
          </a:prstGeom>
          <a:solidFill>
            <a:srgbClr val="173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01568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0B252"/>
                </a:solidFill>
                <a:latin typeface="Verdan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38328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FD1C5"/>
                </a:solidFill>
                <a:latin typeface="Calibri"/>
              </a:rPr>
              <a:t>Let geometry teach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877056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9E2D0"/>
                </a:solidFill>
                <a:latin typeface="Calibri"/>
              </a:rPr>
              <a:t>Players learn the rules from shape and light, not from a panel of text that interrupts the moment.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700016"/>
            <a:ext cx="10424160" cy="1325880"/>
          </a:xfrm>
          <a:prstGeom prst="rect">
            <a:avLst/>
          </a:prstGeom>
          <a:solidFill>
            <a:srgbClr val="173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82896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0B252"/>
                </a:solidFill>
                <a:latin typeface="Verdan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864608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FD1C5"/>
                </a:solidFill>
                <a:latin typeface="Calibri"/>
              </a:rPr>
              <a:t>Reward the curious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358384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9E2D0"/>
                </a:solidFill>
                <a:latin typeface="Calibri"/>
              </a:rPr>
              <a:t>The player who looks closely finds the better story. Hide intent in plain sight, never behind a wall.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4FD1C5"/>
                </a:solidFill>
                <a:latin typeface="Verdana"/>
              </a:rPr>
              <a:t>Where the design hours actually go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011680" y="1554480"/>
          <a:ext cx="81381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4FD1C5"/>
                </a:solidFill>
                <a:latin typeface="Verdana"/>
              </a:rPr>
              <a:t>The same room, two 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737360"/>
            <a:ext cx="5120640" cy="4023360"/>
          </a:xfrm>
          <a:prstGeom prst="rect">
            <a:avLst/>
          </a:prstGeom>
          <a:solidFill>
            <a:srgbClr val="173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737360"/>
            <a:ext cx="5120640" cy="548640"/>
          </a:xfrm>
          <a:prstGeom prst="rect">
            <a:avLst/>
          </a:prstGeom>
          <a:solidFill>
            <a:srgbClr val="3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0A0A0"/>
                </a:solidFill>
                <a:latin typeface="Calibri"/>
              </a:rPr>
              <a:t>Told at the 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2D0"/>
                </a:solidFill>
                <a:latin typeface="Calibri"/>
              </a:rPr>
              <a:t>A note on the floor explains the flood. A marker points to the valve. The room does the player's thinking for them and the moment goes flat.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37360"/>
            <a:ext cx="5120640" cy="4023360"/>
          </a:xfrm>
          <a:prstGeom prst="rect">
            <a:avLst/>
          </a:prstGeom>
          <a:solidFill>
            <a:srgbClr val="173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737360"/>
            <a:ext cx="5120640" cy="548640"/>
          </a:xfrm>
          <a:prstGeom prst="rect">
            <a:avLst/>
          </a:prstGeom>
          <a:solidFill>
            <a:srgbClr val="1F3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FD1C5"/>
                </a:solidFill>
                <a:latin typeface="Calibri"/>
              </a:rPr>
              <a:t>Built into the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2D0"/>
                </a:solidFill>
                <a:latin typeface="Calibri"/>
              </a:rPr>
              <a:t>Waterline stains climb the wall. A rusted valve catches the lantern light. The player reads the history, finds the fix, and owns the solution.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1302E"/>
                </a:solidFill>
                <a:latin typeface="Verdana"/>
              </a:rPr>
              <a:t>Three things to take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1">
                <a:solidFill>
                  <a:srgbClr val="11302E"/>
                </a:solidFill>
                <a:latin typeface="Calibri"/>
              </a:rPr>
              <a:t>Trust the player to read a space.</a:t>
            </a:r>
          </a:p>
          <a:p>
            <a:pPr algn="l">
              <a:lnSpc>
                <a:spcPct val="160000"/>
              </a:lnSpc>
            </a:pPr>
            <a:r>
              <a:rPr sz="2200" b="1">
                <a:solidFill>
                  <a:srgbClr val="11302E"/>
                </a:solidFill>
                <a:latin typeface="Calibri"/>
              </a:rPr>
              <a:t>Cut the text that the room already says.</a:t>
            </a:r>
          </a:p>
          <a:p>
            <a:pPr algn="l">
              <a:lnSpc>
                <a:spcPct val="160000"/>
              </a:lnSpc>
            </a:pPr>
            <a:r>
              <a:rPr sz="2200" b="1">
                <a:solidFill>
                  <a:srgbClr val="11302E"/>
                </a:solidFill>
                <a:latin typeface="Calibri"/>
              </a:rPr>
              <a:t>Light is the cheapest, clearest guide you have.</a:t>
            </a:r>
          </a:p>
        </p:txBody>
      </p:sp>
    </p:spTree>
  </p:cSld>
  <p:clrMapOvr>
    <a:masterClrMapping/>
  </p:clrMapOvr>
  <p:transition spd="med">
    <p:cover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4688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9E2D0"/>
                </a:solidFill>
                <a:latin typeface="Verdan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FB3AC"/>
                </a:solidFill>
                <a:latin typeface="Calibri"/>
              </a:rPr>
              <a:t>Questions are welcome. Find me on the floor after the session.</a:t>
            </a:r>
          </a:p>
        </p:txBody>
      </p:sp>
    </p:spTree>
  </p:cSld>
  <p:clrMapOvr>
    <a:masterClrMapping/>
  </p:clrMapOvr>
  <p:transition spd="med">
    <p:zoom dir="in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