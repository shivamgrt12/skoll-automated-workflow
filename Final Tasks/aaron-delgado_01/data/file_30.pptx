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members</c:v>
                </c:pt>
              </c:strCache>
            </c:strRef>
          </c:tx>
          <c:dPt>
            <c:idx val="0"/>
            <c:spPr>
              <a:solidFill>
                <a:srgbClr val="9E2B25"/>
              </a:solidFill>
            </c:spPr>
          </c:dPt>
          <c:dPt>
            <c:idx val="1"/>
            <c:spPr>
              <a:solidFill>
                <a:srgbClr val="C4A04A"/>
              </a:solidFill>
            </c:spPr>
          </c:dPt>
          <c:dPt>
            <c:idx val="2"/>
            <c:spPr>
              <a:solidFill>
                <a:srgbClr val="6B8E7B"/>
              </a:solidFill>
            </c:spPr>
          </c:dPt>
          <c:dPt>
            <c:idx val="3"/>
            <c:spPr>
              <a:solidFill>
                <a:srgbClr val="2A2A2E"/>
              </a:solidFill>
            </c:spPr>
          </c:dPt>
          <c:cat>
            <c:strRef>
              <c:f>Sheet1!$A$2:$A$5</c:f>
              <c:strCache>
                <c:ptCount val="4"/>
                <c:pt idx="0">
                  <c:v>Youth Kendo</c:v>
                </c:pt>
                <c:pt idx="1">
                  <c:v>Adult Kendo</c:v>
                </c:pt>
                <c:pt idx="2">
                  <c:v>Judo Fundamentals</c:v>
                </c:pt>
                <c:pt idx="3">
                  <c:v>Private Lessons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22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A2A2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Verdana"/>
              </a:rPr>
              <a:t>CEDAR RIDGE MARTIAL ARTS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4A04A"/>
                </a:solidFill>
                <a:latin typeface="Calibri"/>
              </a:rPr>
              <a:t>Winter Term Operating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17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A2A2E"/>
                </a:solidFill>
                <a:latin typeface="Calibri"/>
              </a:rPr>
              <a:t>Prepared for the ownership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A726B"/>
                </a:solidFill>
                <a:latin typeface="Calibri"/>
              </a:rPr>
              <a:t>Beaverton, Oregon   |   February 2026</a:t>
            </a:r>
          </a:p>
        </p:txBody>
      </p:sp>
    </p:spTree>
  </p:cSld>
  <p:clrMapOvr>
    <a:masterClrMapping/>
  </p:clrMapOvr>
  <p:transition spd="med">
    <p:cover dir="d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E2B25"/>
                </a:solidFill>
                <a:latin typeface="Verdana"/>
              </a:rPr>
              <a:t>On the table today</a:t>
            </a:r>
          </a:p>
        </p:txBody>
      </p:sp>
      <p:sp>
        <p:nvSpPr>
          <p:cNvPr id="5" name="Diamond 4"/>
          <p:cNvSpPr/>
          <p:nvPr/>
        </p:nvSpPr>
        <p:spPr>
          <a:xfrm>
            <a:off x="868680" y="1792224"/>
            <a:ext cx="256032" cy="256032"/>
          </a:xfrm>
          <a:prstGeom prst="diamond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2A2A2E"/>
                </a:solidFill>
                <a:latin typeface="Calibri"/>
              </a:rPr>
              <a:t>Enrollment by program</a:t>
            </a:r>
          </a:p>
        </p:txBody>
      </p:sp>
      <p:sp>
        <p:nvSpPr>
          <p:cNvPr id="7" name="Diamond 6"/>
          <p:cNvSpPr/>
          <p:nvPr/>
        </p:nvSpPr>
        <p:spPr>
          <a:xfrm>
            <a:off x="868680" y="2633472"/>
            <a:ext cx="256032" cy="256032"/>
          </a:xfrm>
          <a:prstGeom prst="diamond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78608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2A2A2E"/>
                </a:solidFill>
                <a:latin typeface="Calibri"/>
              </a:rPr>
              <a:t>Term scorecard</a:t>
            </a:r>
          </a:p>
        </p:txBody>
      </p:sp>
      <p:sp>
        <p:nvSpPr>
          <p:cNvPr id="9" name="Diamond 8"/>
          <p:cNvSpPr/>
          <p:nvPr/>
        </p:nvSpPr>
        <p:spPr>
          <a:xfrm>
            <a:off x="868680" y="3474720"/>
            <a:ext cx="256032" cy="256032"/>
          </a:xfrm>
          <a:prstGeom prst="diamond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19856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2A2A2E"/>
                </a:solidFill>
                <a:latin typeface="Calibri"/>
              </a:rPr>
              <a:t>The Cedar Ridge Open, October 2026</a:t>
            </a:r>
          </a:p>
        </p:txBody>
      </p:sp>
      <p:sp>
        <p:nvSpPr>
          <p:cNvPr id="11" name="Diamond 10"/>
          <p:cNvSpPr/>
          <p:nvPr/>
        </p:nvSpPr>
        <p:spPr>
          <a:xfrm>
            <a:off x="868680" y="4315968"/>
            <a:ext cx="256032" cy="256032"/>
          </a:xfrm>
          <a:prstGeom prst="diamond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261104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2A2A2E"/>
                </a:solidFill>
                <a:latin typeface="Calibri"/>
              </a:rPr>
              <a:t>Lease and cost watch</a:t>
            </a:r>
          </a:p>
        </p:txBody>
      </p:sp>
      <p:sp>
        <p:nvSpPr>
          <p:cNvPr id="13" name="Diamond 12"/>
          <p:cNvSpPr/>
          <p:nvPr/>
        </p:nvSpPr>
        <p:spPr>
          <a:xfrm>
            <a:off x="868680" y="5157216"/>
            <a:ext cx="256032" cy="256032"/>
          </a:xfrm>
          <a:prstGeom prst="diamond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10235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2A2A2E"/>
                </a:solidFill>
                <a:latin typeface="Calibri"/>
              </a:rPr>
              <a:t>Priorities for spring term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E2B25"/>
                </a:solidFill>
                <a:latin typeface="Verdana"/>
              </a:rPr>
              <a:t>Enrollment by program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554480"/>
          <a:ext cx="104241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A726B"/>
                </a:solidFill>
                <a:latin typeface="Calibri"/>
              </a:rPr>
              <a:t>Youth kendo carries the term. Private lessons stay small by design and protect instructor time.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E2B25"/>
                </a:solidFill>
                <a:latin typeface="Verdana"/>
              </a:rPr>
              <a:t>Term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2542032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2542032" cy="128016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774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9E2B25"/>
                </a:solidFill>
                <a:latin typeface="Verdana"/>
              </a:rPr>
              <a:t>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2A2E"/>
                </a:solidFill>
                <a:latin typeface="Calibri"/>
              </a:rPr>
              <a:t>active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726B"/>
                </a:solidFill>
                <a:latin typeface="Calibri"/>
              </a:rPr>
              <a:t>across four programs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42032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542032" cy="128016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9E2B25"/>
                </a:solidFill>
                <a:latin typeface="Verdana"/>
              </a:rP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918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2A2E"/>
                </a:solidFill>
                <a:latin typeface="Calibri"/>
              </a:rPr>
              <a:t>term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726B"/>
                </a:solidFill>
                <a:latin typeface="Calibri"/>
              </a:rPr>
              <a:t>up from 84% last term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2542032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2542032" cy="128016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9E2B25"/>
                </a:solidFill>
                <a:latin typeface="Verdana"/>
              </a:rPr>
              <a:t>$14,200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2A2E"/>
                </a:solidFill>
                <a:latin typeface="Calibri"/>
              </a:rPr>
              <a:t>monthly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726B"/>
                </a:solidFill>
                <a:latin typeface="Calibri"/>
              </a:rPr>
              <a:t>net of the rent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828800"/>
            <a:ext cx="2542032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828800"/>
            <a:ext cx="2542032" cy="128016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3774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9E2B25"/>
                </a:solidFill>
                <a:latin typeface="Verdana"/>
              </a:rPr>
              <a:t>4.8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918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2A2E"/>
                </a:solidFill>
                <a:latin typeface="Calibri"/>
              </a:rPr>
              <a:t>parent satisfaction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A726B"/>
                </a:solidFill>
                <a:latin typeface="Calibri"/>
              </a:rPr>
              <a:t>winter survey, 61 replies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Verdana"/>
              </a:rPr>
              <a:t>The Cedar Ridge Open,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1371600" cy="6400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A2A2E"/>
                </a:solidFill>
                <a:latin typeface="Calibri"/>
              </a:rPr>
              <a:t>08:00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691640"/>
            <a:ext cx="8961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91640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A2A2E"/>
                </a:solidFill>
                <a:latin typeface="Calibri"/>
              </a:rPr>
              <a:t>Doors, registration desk and equipment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468880"/>
            <a:ext cx="1371600" cy="6400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A2A2E"/>
                </a:solidFill>
                <a:latin typeface="Calibri"/>
              </a:rPr>
              <a:t>09:00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468880"/>
            <a:ext cx="8961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468880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A2A2E"/>
                </a:solidFill>
                <a:latin typeface="Calibri"/>
              </a:rPr>
              <a:t>Youth divisions, pool rounds on three courts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246120"/>
            <a:ext cx="1371600" cy="6400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A2A2E"/>
                </a:solidFill>
                <a:latin typeface="Calibri"/>
              </a:rPr>
              <a:t>12:00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3246120"/>
            <a:ext cx="8961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246120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A2A2E"/>
                </a:solidFill>
                <a:latin typeface="Calibri"/>
              </a:rPr>
              <a:t>Lunch break, vendor and demo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023360"/>
            <a:ext cx="1371600" cy="6400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A2A2E"/>
                </a:solidFill>
                <a:latin typeface="Calibri"/>
              </a:rPr>
              <a:t>13:30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023360"/>
            <a:ext cx="8961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023360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A2A2E"/>
                </a:solidFill>
                <a:latin typeface="Calibri"/>
              </a:rPr>
              <a:t>Adult divisions and finals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00600"/>
            <a:ext cx="1371600" cy="6400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A2A2E"/>
                </a:solidFill>
                <a:latin typeface="Calibri"/>
              </a:rPr>
              <a:t>16:30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4800600"/>
            <a:ext cx="8961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4800600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A2A2E"/>
                </a:solidFill>
                <a:latin typeface="Calibri"/>
              </a:rPr>
              <a:t>Awards, group photo, and breakdown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E2B25"/>
                </a:solidFill>
                <a:latin typeface="Verdana"/>
              </a:rPr>
              <a:t>Lease and cost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83080"/>
            <a:ext cx="146304" cy="8686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E2B25"/>
                </a:solidFill>
                <a:latin typeface="Calibri"/>
              </a:rPr>
              <a:t>Rent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783080"/>
            <a:ext cx="7223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A2A2E"/>
                </a:solidFill>
                <a:latin typeface="Calibri"/>
              </a:rPr>
              <a:t>Holding at the agreed split through the current lease term. Renewal talks open in November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807208"/>
            <a:ext cx="146304" cy="8686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07208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E2B25"/>
                </a:solidFill>
                <a:latin typeface="Calibri"/>
              </a:rPr>
              <a:t>Mat replacement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807208"/>
            <a:ext cx="7223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A2A2E"/>
                </a:solidFill>
                <a:latin typeface="Calibri"/>
              </a:rPr>
              <a:t>Two panels in the judo area are worn. Quote in hand, work planned for the winter closure week.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831336"/>
            <a:ext cx="146304" cy="8686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31336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E2B25"/>
                </a:solidFill>
                <a:latin typeface="Calibri"/>
              </a:rPr>
              <a:t>Insurance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831336"/>
            <a:ext cx="7223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A2A2E"/>
                </a:solidFill>
                <a:latin typeface="Calibri"/>
              </a:rPr>
              <a:t>Annual liability renewal cleared in January 2026, premium flat year over year.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855464"/>
            <a:ext cx="146304" cy="86868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55464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E2B25"/>
                </a:solidFill>
                <a:latin typeface="Calibri"/>
              </a:rPr>
              <a:t>Utilities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855464"/>
            <a:ext cx="7223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A2A2E"/>
                </a:solidFill>
                <a:latin typeface="Calibri"/>
              </a:rPr>
              <a:t>Winter heating pushed the monthly average up. Watching the next two cycles before any change.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4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4A04A"/>
                </a:solidFill>
                <a:latin typeface="Verdana"/>
              </a:rPr>
              <a:t>Priorities for spring 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058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Grow adult kendo with a beginner intake night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Lock the October Open date and open registration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Replace the worn judo mats during the closure week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Prepare the renewal case ahead of November talks</a:t>
            </a:r>
          </a:p>
        </p:txBody>
      </p:sp>
    </p:spTree>
  </p:cSld>
  <p:clrMapOvr>
    <a:masterClrMapping/>
  </p:clrMapOvr>
  <p:transition spd="med">
    <p:zoom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