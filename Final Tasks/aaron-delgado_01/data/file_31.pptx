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Planned spend</c:v>
                </c:pt>
              </c:strCache>
            </c:strRef>
          </c:tx>
          <c:dPt>
            <c:idx val="0"/>
            <c:spPr>
              <a:solidFill>
                <a:srgbClr val="C75D3C"/>
              </a:solidFill>
            </c:spPr>
          </c:dPt>
          <c:dPt>
            <c:idx val="1"/>
            <c:spPr>
              <a:solidFill>
                <a:srgbClr val="2E4374"/>
              </a:solidFill>
            </c:spPr>
          </c:dPt>
          <c:dPt>
            <c:idx val="2"/>
            <c:spPr>
              <a:solidFill>
                <a:srgbClr val="6B8E7B"/>
              </a:solidFill>
            </c:spPr>
          </c:dPt>
          <c:dPt>
            <c:idx val="3"/>
            <c:spPr>
              <a:solidFill>
                <a:srgbClr val="D89B53"/>
              </a:solidFill>
            </c:spPr>
          </c:dPt>
          <c:dPt>
            <c:idx val="4"/>
            <c:spPr>
              <a:solidFill>
                <a:srgbClr val="7A6FA6"/>
              </a:solidFill>
            </c:spPr>
          </c:dPt>
          <c:cat>
            <c:strRef>
              <c:f>Sheet1!$A$2:$A$6</c:f>
              <c:strCache>
                <c:ptCount val="5"/>
                <c:pt idx="0">
                  <c:v>Flights</c:v>
                </c:pt>
                <c:pt idx="1">
                  <c:v>Lodging</c:v>
                </c:pt>
                <c:pt idx="2">
                  <c:v>Food</c:v>
                </c:pt>
                <c:pt idx="3">
                  <c:v>Transit, activities</c:v>
                </c:pt>
                <c:pt idx="4">
                  <c:v>Buffer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6000</c:v>
                </c:pt>
                <c:pt idx="1">
                  <c:v>2800</c:v>
                </c:pt>
                <c:pt idx="2">
                  <c:v>3000</c:v>
                </c:pt>
                <c:pt idx="3">
                  <c:v>2400</c:v>
                </c:pt>
                <c:pt idx="4">
                  <c:v>1800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33312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75D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E43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052560" y="914400"/>
            <a:ext cx="2194560" cy="2194560"/>
          </a:xfrm>
          <a:prstGeom prst="ellipse">
            <a:avLst/>
          </a:prstGeom>
          <a:solidFill>
            <a:srgbClr val="C75D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377440"/>
            <a:ext cx="8229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2E4374"/>
                </a:solidFill>
                <a:latin typeface="Verdana"/>
              </a:rPr>
              <a:t>Tokyo, Family Trip Brief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347472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C75D3C"/>
                </a:solidFill>
                <a:latin typeface="Calibri"/>
              </a:rPr>
              <a:t>Planning brief for the Delgado family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585216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A8175"/>
                </a:solidFill>
                <a:latin typeface="Calibri"/>
              </a:rPr>
              <a:t>Target window: spring 2028   |   draft v2</a:t>
            </a:r>
          </a:p>
        </p:txBody>
      </p:sp>
    </p:spTree>
  </p:cSld>
  <p:clrMapOvr>
    <a:masterClrMapping/>
  </p:clrMapOvr>
  <p:transition spd="med">
    <p:push dir="l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2E4374"/>
                </a:solidFill>
                <a:latin typeface="Verdana"/>
              </a:rPr>
              <a:t>Who is going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828800"/>
            <a:ext cx="254203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773936" y="2148840"/>
            <a:ext cx="731520" cy="731520"/>
          </a:xfrm>
          <a:prstGeom prst="ellipse">
            <a:avLst/>
          </a:prstGeom>
          <a:solidFill>
            <a:srgbClr val="6B8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06324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2E4374"/>
                </a:solidFill>
                <a:latin typeface="Calibri"/>
              </a:rPr>
              <a:t>Aaron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52044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75D3C"/>
                </a:solidFill>
                <a:latin typeface="Calibri"/>
              </a:rPr>
              <a:t>age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023360"/>
            <a:ext cx="2103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33312E"/>
                </a:solidFill>
                <a:latin typeface="Calibri"/>
              </a:rPr>
              <a:t>planner and lead navigator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1828800"/>
            <a:ext cx="254203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71416" y="2148840"/>
            <a:ext cx="731520" cy="731520"/>
          </a:xfrm>
          <a:prstGeom prst="ellipse">
            <a:avLst/>
          </a:prstGeom>
          <a:solidFill>
            <a:srgbClr val="6B8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0" y="306324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2E4374"/>
                </a:solidFill>
                <a:latin typeface="Calibri"/>
              </a:rPr>
              <a:t>Megan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4023360"/>
            <a:ext cx="2103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33312E"/>
                </a:solidFill>
                <a:latin typeface="Calibri"/>
              </a:rPr>
              <a:t>trip co-pilot, books the stays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828800"/>
            <a:ext cx="254203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168896" y="2148840"/>
            <a:ext cx="731520" cy="731520"/>
          </a:xfrm>
          <a:prstGeom prst="ellipse">
            <a:avLst/>
          </a:prstGeom>
          <a:solidFill>
            <a:srgbClr val="6B8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06324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2E4374"/>
                </a:solidFill>
                <a:latin typeface="Calibri"/>
              </a:rPr>
              <a:t>Hannah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52044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75D3C"/>
                </a:solidFill>
                <a:latin typeface="Calibri"/>
              </a:rPr>
              <a:t>age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023360"/>
            <a:ext cx="2103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33312E"/>
                </a:solidFill>
                <a:latin typeface="Calibri"/>
              </a:rPr>
              <a:t>wants the train rides and the aquarium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1828800"/>
            <a:ext cx="254203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866376" y="2148840"/>
            <a:ext cx="731520" cy="731520"/>
          </a:xfrm>
          <a:prstGeom prst="ellipse">
            <a:avLst/>
          </a:prstGeom>
          <a:solidFill>
            <a:srgbClr val="6B8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306324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2E4374"/>
                </a:solidFill>
                <a:latin typeface="Calibri"/>
              </a:rPr>
              <a:t>Kyle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352044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75D3C"/>
                </a:solidFill>
                <a:latin typeface="Calibri"/>
              </a:rPr>
              <a:t>age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4023360"/>
            <a:ext cx="2103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33312E"/>
                </a:solidFill>
                <a:latin typeface="Calibri"/>
              </a:rPr>
              <a:t>naps scheduled, snacks always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2E4374"/>
                </a:solidFill>
                <a:latin typeface="Verdana"/>
              </a:rPr>
              <a:t>Budget at a glance (USD)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868680" y="1554480"/>
          <a:ext cx="786384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9052560" y="2194560"/>
            <a:ext cx="2286000" cy="2377440"/>
          </a:xfrm>
          <a:prstGeom prst="rect">
            <a:avLst/>
          </a:prstGeom>
          <a:solidFill>
            <a:srgbClr val="2E43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0" y="2468880"/>
            <a:ext cx="1920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D9DEEC"/>
                </a:solidFill>
                <a:latin typeface="Calibri"/>
              </a:rPr>
              <a:t>Total goal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0" y="2971800"/>
            <a:ext cx="2011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Verdana"/>
              </a:rPr>
              <a:t>$16,000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3840480"/>
            <a:ext cx="1920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AEB6CF"/>
                </a:solidFill>
                <a:latin typeface="Calibri"/>
              </a:rPr>
              <a:t>seven night trip</a:t>
            </a:r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2E4374"/>
                </a:solidFill>
                <a:latin typeface="Verdana"/>
              </a:rPr>
              <a:t>Itinerary outline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783080"/>
            <a:ext cx="2377440" cy="868680"/>
          </a:xfrm>
          <a:prstGeom prst="rect">
            <a:avLst/>
          </a:prstGeom>
          <a:solidFill>
            <a:srgbClr val="C75D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21945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Days 1 to 3</a:t>
            </a:r>
          </a:p>
        </p:txBody>
      </p:sp>
      <p:sp>
        <p:nvSpPr>
          <p:cNvPr id="6" name="Rectangle 5"/>
          <p:cNvSpPr/>
          <p:nvPr/>
        </p:nvSpPr>
        <p:spPr>
          <a:xfrm>
            <a:off x="3337560" y="1783080"/>
            <a:ext cx="7955279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783080"/>
            <a:ext cx="75895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33312E"/>
                </a:solidFill>
                <a:latin typeface="Calibri"/>
              </a:rPr>
              <a:t>Settle in, neighborhood parks, an easy aquarium day for the kids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807208"/>
            <a:ext cx="2377440" cy="868680"/>
          </a:xfrm>
          <a:prstGeom prst="rect">
            <a:avLst/>
          </a:prstGeom>
          <a:solidFill>
            <a:srgbClr val="C75D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807208"/>
            <a:ext cx="21945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Days 4 to 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2807208"/>
            <a:ext cx="7955279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2807208"/>
            <a:ext cx="75895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33312E"/>
                </a:solidFill>
                <a:latin typeface="Calibri"/>
              </a:rPr>
              <a:t>Day trips by train, a hot spring town, slow mornings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3831336"/>
            <a:ext cx="2377440" cy="868680"/>
          </a:xfrm>
          <a:prstGeom prst="rect">
            <a:avLst/>
          </a:prstGeom>
          <a:solidFill>
            <a:srgbClr val="C75D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831336"/>
            <a:ext cx="21945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Days 7 to 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7560" y="3831336"/>
            <a:ext cx="7955279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3831336"/>
            <a:ext cx="75895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33312E"/>
                </a:solidFill>
                <a:latin typeface="Calibri"/>
              </a:rPr>
              <a:t>Museums and a kid-friendly science hall, early nights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4855464"/>
            <a:ext cx="2377440" cy="868680"/>
          </a:xfrm>
          <a:prstGeom prst="rect">
            <a:avLst/>
          </a:prstGeom>
          <a:solidFill>
            <a:srgbClr val="C75D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855464"/>
            <a:ext cx="21945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Days 9 to 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37560" y="4855464"/>
            <a:ext cx="7955279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0" y="4855464"/>
            <a:ext cx="75895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33312E"/>
                </a:solidFill>
                <a:latin typeface="Calibri"/>
              </a:rPr>
              <a:t>Markets, last gifts, repack and fly home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2E4374"/>
                </a:solidFill>
                <a:latin typeface="Verdana"/>
              </a:rPr>
              <a:t>Logistics to lock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737360"/>
            <a:ext cx="51206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C75D3C"/>
                </a:solidFill>
                <a:latin typeface="Calibri"/>
              </a:rPr>
              <a:t>Before we 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466344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400" b="0">
                <a:solidFill>
                  <a:srgbClr val="33312E"/>
                </a:solidFill>
                <a:latin typeface="Calibri"/>
              </a:rPr>
              <a:t>Renew Kyle's passport, his expires next year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400" b="0">
                <a:solidFill>
                  <a:srgbClr val="33312E"/>
                </a:solidFill>
                <a:latin typeface="Calibri"/>
              </a:rPr>
              <a:t>Confirm school break dates for Hannah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400" b="0">
                <a:solidFill>
                  <a:srgbClr val="33312E"/>
                </a:solidFill>
                <a:latin typeface="Calibri"/>
              </a:rPr>
              <a:t>Hold flights when the fare alert clears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737360"/>
            <a:ext cx="5120640" cy="4023360"/>
          </a:xfrm>
          <a:prstGeom prst="rect">
            <a:avLst/>
          </a:prstGeom>
          <a:solidFill>
            <a:srgbClr val="2E43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Savings progress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651760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$9,075 of $16,000 set aside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3474720"/>
            <a:ext cx="4572000" cy="411480"/>
          </a:xfrm>
          <a:prstGeom prst="rect">
            <a:avLst/>
          </a:prstGeom>
          <a:solidFill>
            <a:srgbClr val="1E2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3474720"/>
            <a:ext cx="2596896" cy="411480"/>
          </a:xfrm>
          <a:prstGeom prst="rect">
            <a:avLst/>
          </a:prstGeom>
          <a:solidFill>
            <a:srgbClr val="6B8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023360"/>
            <a:ext cx="4572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D9DEEC"/>
                </a:solidFill>
                <a:latin typeface="Calibri"/>
              </a:rPr>
              <a:t>On track at $350 set aside each month. Goal is funded during 2027, ahead of the trip.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B8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82296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F3A30"/>
                </a:solidFill>
                <a:latin typeface="Verdana"/>
              </a:rPr>
              <a:t>Keeping it kid friendly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011680"/>
            <a:ext cx="1005840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1">
                <a:solidFill>
                  <a:srgbClr val="13251E"/>
                </a:solidFill>
                <a:latin typeface="Calibri"/>
              </a:rPr>
              <a:t>One big thing a day, never two. The rest stays loose.</a:t>
            </a:r>
          </a:p>
          <a:p>
            <a:pPr algn="l">
              <a:lnSpc>
                <a:spcPct val="150000"/>
              </a:lnSpc>
            </a:pPr>
            <a:r>
              <a:rPr sz="2000" b="1">
                <a:solidFill>
                  <a:srgbClr val="13251E"/>
                </a:solidFill>
                <a:latin typeface="Calibri"/>
              </a:rPr>
              <a:t>Naptime built into every afternoon for Kyle.</a:t>
            </a:r>
          </a:p>
          <a:p>
            <a:pPr algn="l">
              <a:lnSpc>
                <a:spcPct val="150000"/>
              </a:lnSpc>
            </a:pPr>
            <a:r>
              <a:rPr sz="2000" b="1">
                <a:solidFill>
                  <a:srgbClr val="13251E"/>
                </a:solidFill>
                <a:latin typeface="Calibri"/>
              </a:rPr>
              <a:t>Hannah picks one stop a day so it feels like hers too.</a:t>
            </a:r>
          </a:p>
          <a:p>
            <a:pPr algn="l">
              <a:lnSpc>
                <a:spcPct val="150000"/>
              </a:lnSpc>
            </a:pPr>
            <a:r>
              <a:rPr sz="2000" b="1">
                <a:solidFill>
                  <a:srgbClr val="13251E"/>
                </a:solidFill>
                <a:latin typeface="Calibri"/>
              </a:rPr>
              <a:t>Snacks and water on hand before anyone asks.</a:t>
            </a:r>
          </a:p>
        </p:txBody>
      </p:sp>
    </p:spTree>
  </p:cSld>
  <p:clrMapOvr>
    <a:masterClrMapping/>
  </p:clrMapOvr>
  <p:transition spd="med">
    <p:cover dir="d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43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75D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3716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Verdana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468880"/>
            <a:ext cx="100584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2000" b="0">
                <a:solidFill>
                  <a:srgbClr val="FFFFFF"/>
                </a:solidFill>
                <a:latin typeface="Calibri"/>
              </a:rPr>
              <a:t>1.  Renew the passport this month</a:t>
            </a:r>
          </a:p>
          <a:p>
            <a:pPr algn="l">
              <a:lnSpc>
                <a:spcPct val="155000"/>
              </a:lnSpc>
            </a:pPr>
            <a:r>
              <a:rPr sz="2000" b="0">
                <a:solidFill>
                  <a:srgbClr val="FFFFFF"/>
                </a:solidFill>
                <a:latin typeface="Calibri"/>
              </a:rPr>
              <a:t>2.  Keep the monthly transfer going</a:t>
            </a:r>
          </a:p>
          <a:p>
            <a:pPr algn="l">
              <a:lnSpc>
                <a:spcPct val="155000"/>
              </a:lnSpc>
            </a:pPr>
            <a:r>
              <a:rPr sz="2000" b="0">
                <a:solidFill>
                  <a:srgbClr val="FFFFFF"/>
                </a:solidFill>
                <a:latin typeface="Calibri"/>
              </a:rPr>
              <a:t>3.  Book flights when the fare drops</a:t>
            </a:r>
          </a:p>
          <a:p>
            <a:pPr algn="l">
              <a:lnSpc>
                <a:spcPct val="155000"/>
              </a:lnSpc>
            </a:pPr>
            <a:r>
              <a:rPr sz="2000" b="0">
                <a:solidFill>
                  <a:srgbClr val="FFFFFF"/>
                </a:solidFill>
                <a:latin typeface="Calibri"/>
              </a:rPr>
              <a:t>4.  Shortlist family stays once the fund is on target</a:t>
            </a:r>
          </a:p>
        </p:txBody>
      </p:sp>
    </p:spTree>
  </p:cSld>
  <p:clrMapOvr>
    <a:masterClrMapping/>
  </p:clrMapOvr>
  <p:transition spd="med">
    <p:zoom dir="in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