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Value (000s)</c:v>
                </c:pt>
              </c:strCache>
            </c:strRef>
          </c:tx>
          <c:spPr>
            <a:solidFill>
              <a:srgbClr val="6B7A3A"/>
            </a:solidFill>
          </c:spPr>
          <c:cat>
            <c:strRef>
              <c:f>Sheet1!$A$2:$A$4</c:f>
              <c:strCache>
                <c:ptCount val="3"/>
                <c:pt idx="0">
                  <c:v>Pinehurst Ct</c:v>
                </c:pt>
                <c:pt idx="1">
                  <c:v>Dodson Ave</c:v>
                </c:pt>
                <c:pt idx="2">
                  <c:v>Pelican Dr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260</c:v>
                </c:pt>
                <c:pt idx="1">
                  <c:v>310</c:v>
                </c:pt>
                <c:pt idx="2">
                  <c:v>395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7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B272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Cash Flow</c:v>
                </c:pt>
              </c:strCache>
            </c:strRef>
          </c:tx>
          <c:spPr>
            <a:solidFill>
              <a:srgbClr val="3F7D4F"/>
            </a:solidFill>
          </c:spPr>
          <c:cat>
            <c:strRef>
              <c:f>Sheet1!$A$2:$A$4</c:f>
              <c:strCache>
                <c:ptCount val="3"/>
                <c:pt idx="0">
                  <c:v>Pinehurst Ct</c:v>
                </c:pt>
                <c:pt idx="1">
                  <c:v>Dodson Ave</c:v>
                </c:pt>
                <c:pt idx="2">
                  <c:v>Pelican Dr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17379</c:v>
                </c:pt>
                <c:pt idx="1">
                  <c:v>8660</c:v>
                </c:pt>
                <c:pt idx="2">
                  <c:v>7335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7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B272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B5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EFE6"/>
                </a:solidFill>
                <a:latin typeface="Calibri"/>
              </a:rPr>
              <a:t>Garcia Real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B5662E"/>
                </a:solidFill>
                <a:latin typeface="Calibri"/>
              </a:rPr>
              <a:t>Portfolio Review and Fourth Property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BFAE"/>
                </a:solidFill>
                <a:latin typeface="Calibri"/>
              </a:rPr>
              <a:t>Owner: Aaron Nikolaos Garcia  |  Manager: Tony DeLuca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C9283"/>
                </a:solidFill>
                <a:latin typeface="Calibri"/>
              </a:rPr>
              <a:t>Compiled by Eleni Garcia, CPA  |  As of February 2026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B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EFE6"/>
                </a:solidFill>
                <a:latin typeface="Calibri"/>
              </a:rPr>
              <a:t>Portfolio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B5662E"/>
                </a:solidFill>
                <a:latin typeface="Calibri"/>
              </a:rPr>
              <a:t>$965K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B2722"/>
                </a:solidFill>
                <a:latin typeface="Calibri"/>
              </a:rPr>
              <a:t>Estimated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554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82880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B5662E"/>
                </a:solidFill>
                <a:latin typeface="Calibri"/>
              </a:rPr>
              <a:t>$76,200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6060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B2722"/>
                </a:solidFill>
                <a:latin typeface="Calibri"/>
              </a:rPr>
              <a:t>Gross Annual 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B5662E"/>
                </a:solidFill>
                <a:latin typeface="Calibri"/>
              </a:rPr>
              <a:t>$33,374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060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B2722"/>
                </a:solidFill>
                <a:latin typeface="Calibri"/>
              </a:rPr>
              <a:t>Net Annual Cash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554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82880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B5662E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60604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B2722"/>
                </a:solidFill>
                <a:latin typeface="Calibri"/>
              </a:rPr>
              <a:t>Occupancy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B2722"/>
                </a:solidFill>
                <a:latin typeface="Calibri"/>
              </a:rPr>
              <a:t>Three properties across Tarpon Springs and Palm Harbor, four rental units in total.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722"/>
                </a:solidFill>
                <a:latin typeface="Calibri"/>
              </a:rPr>
              <a:t>One property is owned free and clear and is a candidate for a 1031 exchange.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722"/>
                </a:solidFill>
                <a:latin typeface="Calibri"/>
              </a:rPr>
              <a:t>All units are leased with tenants in good standing.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B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EFE6"/>
                </a:solidFill>
                <a:latin typeface="Calibri"/>
              </a:rPr>
              <a:t>Value and Cash Flow by Property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55778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371600"/>
          <a:ext cx="54864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4EFE6"/>
                </a:solidFill>
                <a:latin typeface="Calibri"/>
              </a:rPr>
              <a:t>Fourth Property: 4-Unit Multifamily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675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383280"/>
              </a:tblGrid>
              <a:tr h="58293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EFE6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2E2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EFE6"/>
                          </a:solidFill>
                        </a:rPr>
                        <a:t>Target Scenario</a:t>
                      </a:r>
                    </a:p>
                  </a:txBody>
                  <a:tcPr>
                    <a:solidFill>
                      <a:srgbClr val="2E2A24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Purchase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$595,000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Down Payment (25%)</a:t>
                      </a:r>
                    </a:p>
                  </a:txBody>
                  <a:tcPr>
                    <a:solidFill>
                      <a:srgbClr val="E8E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$148,750</a:t>
                      </a:r>
                    </a:p>
                  </a:txBody>
                  <a:tcPr>
                    <a:solidFill>
                      <a:srgbClr val="E8E0D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Assumed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6.75%, 30-year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Gross Annual Rent</a:t>
                      </a:r>
                    </a:p>
                  </a:txBody>
                  <a:tcPr>
                    <a:solidFill>
                      <a:srgbClr val="E8E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$62,400</a:t>
                      </a:r>
                    </a:p>
                  </a:txBody>
                  <a:tcPr>
                    <a:solidFill>
                      <a:srgbClr val="E8E0D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Projected Net Cash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$5,636 /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Cash-on-Cash Return</a:t>
                      </a:r>
                    </a:p>
                  </a:txBody>
                  <a:tcPr>
                    <a:solidFill>
                      <a:srgbClr val="E8E0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3.15%</a:t>
                      </a:r>
                    </a:p>
                  </a:txBody>
                  <a:tcPr>
                    <a:solidFill>
                      <a:srgbClr val="E8E0D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Target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B2722"/>
                          </a:solidFill>
                        </a:rPr>
                        <a:t>December 31,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80960" y="1554480"/>
            <a:ext cx="3931920" cy="4297680"/>
          </a:xfrm>
          <a:prstGeom prst="rect">
            <a:avLst/>
          </a:prstGeom>
          <a:solidFill>
            <a:srgbClr val="2E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8288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5662E"/>
                </a:solidFill>
                <a:latin typeface="Calibri"/>
              </a:rPr>
              <a:t>Funding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377440"/>
            <a:ext cx="3520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E6DECF"/>
                </a:solidFill>
                <a:latin typeface="Calibri"/>
              </a:rPr>
              <a:t>Fund the down payment from 2026 distribution income.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6DECF"/>
                </a:solidFill>
                <a:latin typeface="Calibri"/>
              </a:rPr>
              <a:t>Consider a 1031 exchange of the Pinehurst Court property to defer capital gains.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6DECF"/>
                </a:solidFill>
                <a:latin typeface="Calibri"/>
              </a:rPr>
              <a:t>Hold real estate reserves for closing and first-year repairs.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EFE6"/>
                </a:solidFill>
                <a:latin typeface="Calibri"/>
              </a:rPr>
              <a:t>Steady portfolio, disciplined growth.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9BFAE"/>
                </a:solidFill>
                <a:latin typeface="Calibri"/>
              </a:rPr>
              <a:t>Three performing properties fund a measured move to a fourth. The math is run on the napkin and then on the spreadsheet, the same way it always has been.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