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Dine-In</c:v>
                </c:pt>
              </c:strCache>
            </c:strRef>
          </c:tx>
          <c:spPr>
            <a:solidFill>
              <a:srgbClr val="1565A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178.0</c:v>
                </c:pt>
                <c:pt idx="1">
                  <c:v>171.0</c:v>
                </c:pt>
                <c:pt idx="2">
                  <c:v>166.0</c:v>
                </c:pt>
                <c:pt idx="3">
                  <c:v>192.4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Takeout and Events</c:v>
                </c:pt>
              </c:strCache>
            </c:strRef>
          </c:tx>
          <c:spPr>
            <a:solidFill>
              <a:srgbClr val="C8992E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17.5</c:v>
                </c:pt>
                <c:pt idx="1">
                  <c:v>16.0</c:v>
                </c:pt>
                <c:pt idx="2">
                  <c:v>15.5</c:v>
                </c:pt>
                <c:pt idx="3">
                  <c:v>17.5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0303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0303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20303C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8992E"/>
              </a:solidFill>
            </c:spPr>
          </c:dPt>
          <c:dPt>
            <c:idx val="1"/>
            <c:spPr>
              <a:solidFill>
                <a:srgbClr val="1565A3"/>
              </a:solidFill>
            </c:spPr>
          </c:dPt>
          <c:dPt>
            <c:idx val="2"/>
            <c:spPr>
              <a:solidFill>
                <a:srgbClr val="2B86C5"/>
              </a:solidFill>
            </c:spPr>
          </c:dPt>
          <c:dPt>
            <c:idx val="3"/>
            <c:spPr>
              <a:solidFill>
                <a:srgbClr val="7FA8C9"/>
              </a:solidFill>
            </c:spPr>
          </c:dPt>
          <c:dPt>
            <c:idx val="4"/>
            <c:spPr>
              <a:solidFill>
                <a:srgbClr val="3FA372"/>
              </a:solidFill>
            </c:spPr>
          </c:dPt>
          <c:cat>
            <c:strRef>
              <c:f>Sheet1!$A$2:$A$6</c:f>
              <c:strCache>
                <c:ptCount val="5"/>
                <c:pt idx="0">
                  <c:v>Food and Beverage</c:v>
                </c:pt>
                <c:pt idx="1">
                  <c:v>Labor</c:v>
                </c:pt>
                <c:pt idx="2">
                  <c:v>Rent</c:v>
                </c:pt>
                <c:pt idx="3">
                  <c:v>Other Operating</c:v>
                </c:pt>
                <c:pt idx="4">
                  <c:v>Net Operating Income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0.394</c:v>
                </c:pt>
                <c:pt idx="1">
                  <c:v>0.331</c:v>
                </c:pt>
                <c:pt idx="2">
                  <c:v>0.093</c:v>
                </c:pt>
                <c:pt idx="3">
                  <c:v>0.155</c:v>
                </c:pt>
                <c:pt idx="4">
                  <c:v>0.027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>
              <a:solidFill>
                <a:srgbClr val="20303C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B86C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180.0</c:v>
                </c:pt>
                <c:pt idx="1">
                  <c:v>175.0</c:v>
                </c:pt>
                <c:pt idx="2">
                  <c:v>168.0</c:v>
                </c:pt>
                <c:pt idx="3">
                  <c:v>194.1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8992E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195.5</c:v>
                </c:pt>
                <c:pt idx="1">
                  <c:v>186.0</c:v>
                </c:pt>
                <c:pt idx="2">
                  <c:v>180.0</c:v>
                </c:pt>
                <c:pt idx="3">
                  <c:v>209.9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0303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0303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20303C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C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8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Mykonos Taverna Alt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8992E"/>
                </a:solidFill>
                <a:latin typeface="Calibri"/>
              </a:rPr>
              <a:t>Annual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BD0E0"/>
                </a:solidFill>
                <a:latin typeface="Calibri"/>
              </a:rPr>
              <a:t>Prepared by Eleni Garcia, CPA  |  Reviewed by Aaron Garcia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C9"/>
                </a:solidFill>
                <a:latin typeface="Calibri"/>
              </a:rPr>
              <a:t>Fiscal Year 2025  |  4847 Alternate 19 N, Palm Harbor, FL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06040" cy="182880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565A3"/>
                </a:solidFill>
                <a:latin typeface="Calibri"/>
              </a:rPr>
              <a:t>$850K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303C"/>
                </a:solidFill>
                <a:latin typeface="Calibri"/>
              </a:rPr>
              <a:t>2025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B77"/>
                </a:solidFill>
                <a:latin typeface="Calibri"/>
              </a:rPr>
              <a:t>up 8.1% over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06040" cy="182880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916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565A3"/>
                </a:solidFill>
                <a:latin typeface="Calibri"/>
              </a:rPr>
              <a:t>32.0%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303C"/>
                </a:solidFill>
                <a:latin typeface="Calibri"/>
              </a:rPr>
              <a:t>Food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B77"/>
                </a:solidFill>
                <a:latin typeface="Calibri"/>
              </a:rPr>
              <a:t>target 30%, supplier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06040" cy="182880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565A3"/>
                </a:solidFill>
                <a:latin typeface="Calibr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2316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303C"/>
                </a:solidFill>
                <a:latin typeface="Calibri"/>
              </a:rPr>
              <a:t>Labor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B77"/>
                </a:solidFill>
                <a:latin typeface="Calibri"/>
              </a:rPr>
              <a:t>two server roles being filled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463040"/>
            <a:ext cx="2606040" cy="182880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916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565A3"/>
                </a:solidFill>
                <a:latin typeface="Calibri"/>
              </a:rPr>
              <a:t>$209.9K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2316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303C"/>
                </a:solidFill>
                <a:latin typeface="Calibri"/>
              </a:rPr>
              <a:t>Q4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B77"/>
                </a:solidFill>
                <a:latin typeface="Calibri"/>
              </a:rPr>
              <a:t>strongest quarter of the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Alt 19 carried steady dinner service through the snowbird season with the larger dining room near capacity on weekends.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Revenue growth was driven by dine-in volume and private events, not by price increases.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Margin pressure is concentrated in food cost. A lamb supplier review is underway to bring the ratio back toward 30%.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Two front-of-house vacancies are in active recruiting with trial shifts scheduled.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Revenue by Quarter (2025)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554480"/>
            <a:ext cx="3200400" cy="448056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828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3C61"/>
                </a:solidFill>
                <a:latin typeface="Calibri"/>
              </a:rP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37744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0303C"/>
                </a:solidFill>
                <a:latin typeface="Calibri"/>
              </a:rPr>
              <a:t>Q4 was the strongest quarter at $209.9K.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0303C"/>
                </a:solidFill>
                <a:latin typeface="Calibri"/>
              </a:rPr>
              <a:t>Dine-in is the engine of the business.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0303C"/>
                </a:solidFill>
                <a:latin typeface="Calibri"/>
              </a:rPr>
              <a:t>Events are small but growing and high margin.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0303C"/>
                </a:solidFill>
                <a:latin typeface="Calibri"/>
              </a:rPr>
              <a:t>Figures in thousands of USD.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Each Dollar Goes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603504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040880" y="1554480"/>
            <a:ext cx="4480560" cy="4480560"/>
          </a:xfrm>
          <a:prstGeom prst="rect">
            <a:avLst/>
          </a:prstGeom>
          <a:solidFill>
            <a:srgbClr val="EEF4F9"/>
          </a:solidFill>
          <a:ln w="12700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8288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3C61"/>
                </a:solidFill>
                <a:latin typeface="Calibri"/>
              </a:rPr>
              <a:t>Reading the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377440"/>
            <a:ext cx="4069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0303C"/>
                </a:solidFill>
                <a:latin typeface="Calibri"/>
              </a:rPr>
              <a:t>Food and labor together are about 72% of revenue, in line with the prior year.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0303C"/>
                </a:solidFill>
                <a:latin typeface="Calibri"/>
              </a:rPr>
              <a:t>Net operating income of 2.7% reflects an insurance allocation timing item, corrected at year end.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0303C"/>
                </a:solidFill>
                <a:latin typeface="Calibri"/>
              </a:rPr>
              <a:t>Bringing food cost to the 30% target is the single biggest lever.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Two-Year Revenue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C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Priorities for the Year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3152" cy="4389120"/>
          </a:xfrm>
          <a:prstGeom prst="rect">
            <a:avLst/>
          </a:prstGeom>
          <a:solidFill>
            <a:srgbClr val="C8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DCE8F2"/>
                </a:solidFill>
                <a:latin typeface="Calibri"/>
              </a:rPr>
              <a:t>Lamb supplier review to restore the 30% food cost target.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DCE8F2"/>
                </a:solidFill>
                <a:latin typeface="Calibri"/>
              </a:rPr>
              <a:t>Fill the two front-of-house roles and stabilize weekend coverage.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DCE8F2"/>
                </a:solidFill>
                <a:latin typeface="Calibri"/>
              </a:rPr>
              <a:t>Grow private events and catering, the highest margin revenue line.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DCE8F2"/>
                </a:solidFill>
                <a:latin typeface="Calibri"/>
              </a:rPr>
              <a:t>Hold labor near 35% while protecting service quality.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DCE8F2"/>
                </a:solidFill>
                <a:latin typeface="Calibri"/>
              </a:rPr>
              <a:t>Evaluate a measured takeout expansion without compromising the dining room.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