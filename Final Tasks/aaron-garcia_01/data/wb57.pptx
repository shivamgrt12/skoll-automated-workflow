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Herb Blend</c:v>
                </c:pt>
              </c:strCache>
            </c:strRef>
          </c:tx>
          <c:spPr>
            <a:solidFill>
              <a:srgbClr val="E0683C"/>
            </a:solidFill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85</c:v>
                </c:pt>
                <c:pt idx="2">
                  <c:v>110</c:v>
                </c:pt>
                <c:pt idx="3">
                  <c:v>130</c:v>
                </c:pt>
                <c:pt idx="4">
                  <c:v>150</c:v>
                </c:pt>
                <c:pt idx="5">
                  <c:v>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Oregano</c:v>
                </c:pt>
              </c:strCache>
            </c:strRef>
          </c:tx>
          <c:spPr>
            <a:solidFill>
              <a:srgbClr val="1F7A73"/>
            </a:solidFill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80</c:v>
                </c:pt>
                <c:pt idx="3">
                  <c:v>95</c:v>
                </c:pt>
                <c:pt idx="4">
                  <c:v>110</c:v>
                </c:pt>
                <c:pt idx="5">
                  <c:v>125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 Salt</c:v>
                </c:pt>
              </c:strCache>
            </c:strRef>
          </c:tx>
          <c:spPr>
            <a:solidFill>
              <a:srgbClr val="EBA93B"/>
            </a:solidFill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</c:v>
                </c:pt>
                <c:pt idx="1">
                  <c:v>45</c:v>
                </c:pt>
                <c:pt idx="2">
                  <c:v>60</c:v>
                </c:pt>
                <c:pt idx="3">
                  <c:v>72</c:v>
                </c:pt>
                <c:pt idx="4">
                  <c:v>85</c:v>
                </c:pt>
                <c:pt idx="5">
                  <c:v>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A223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A2230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2A2230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2011680" cy="109728"/>
          </a:xfrm>
          <a:prstGeom prst="rect">
            <a:avLst/>
          </a:prstGeom>
          <a:solidFill>
            <a:srgbClr val="EB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BF4EC"/>
                </a:solidFill>
                <a:latin typeface="Calibri"/>
              </a:rPr>
              <a:t>Mykonos Spice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BA93B"/>
                </a:solidFill>
                <a:latin typeface="Calibri"/>
              </a:rPr>
              <a:t>Direct-to-Home Product Launch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B6C2"/>
                </a:solidFill>
                <a:latin typeface="Calibri"/>
              </a:rPr>
              <a:t>Approved by Aaron Garcia and Andreas Garcia  |  February 2026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BF4EC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A2230"/>
                </a:solidFill>
                <a:latin typeface="Calibri"/>
              </a:rPr>
              <a:t>The same blends used in the restaurant kitchen for twenty years, packaged for home cooks.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A2230"/>
                </a:solidFill>
                <a:latin typeface="Calibri"/>
              </a:rPr>
              <a:t>Customers already ask what is on the food. This bottles the answer.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A2230"/>
                </a:solidFill>
                <a:latin typeface="Calibri"/>
              </a:rPr>
              <a:t>Low startup cost. Inventory is sourced through existing restaurant suppliers.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A2230"/>
                </a:solidFill>
                <a:latin typeface="Calibri"/>
              </a:rPr>
              <a:t>Andreas leads the online storefront and fulfillment.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554480"/>
            <a:ext cx="3931920" cy="4297680"/>
          </a:xfrm>
          <a:prstGeom prst="rect">
            <a:avLst/>
          </a:prstGeom>
          <a:solidFill>
            <a:srgbClr val="3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9202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A93B"/>
                </a:solidFill>
                <a:latin typeface="Calibri"/>
              </a:rPr>
              <a:t>Launch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468880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9DDE6"/>
                </a:solidFill>
                <a:latin typeface="Calibri"/>
              </a:rPr>
              <a:t>Three products plus a gift set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9DDE6"/>
                </a:solidFill>
                <a:latin typeface="Calibri"/>
              </a:rPr>
              <a:t>200 units of each in stock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9DDE6"/>
                </a:solidFill>
                <a:latin typeface="Calibri"/>
              </a:rPr>
              <a:t>First 90 days at full retail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9DDE6"/>
                </a:solidFill>
                <a:latin typeface="Calibri"/>
              </a:rPr>
              <a:t>Reassess pricing after launch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BF4EC"/>
                </a:solidFill>
                <a:latin typeface="Calibri"/>
              </a:rPr>
              <a:t>Three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66160" cy="164592"/>
          </a:xfrm>
          <a:prstGeom prst="rect">
            <a:avLst/>
          </a:prstGeom>
          <a:solidFill>
            <a:srgbClr val="E0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A2230"/>
                </a:solidFill>
                <a:latin typeface="Calibri"/>
              </a:rPr>
              <a:t>Greek Herb Blend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0683C"/>
                </a:solidFill>
                <a:latin typeface="Calibri"/>
              </a:rPr>
              <a:t>$12.99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3154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048"/>
                </a:solidFill>
                <a:latin typeface="Calibri"/>
              </a:rPr>
              <a:t>Oregano, thyme, rosemary, marjoram, and a touch of sumac.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155448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19" y="1554480"/>
            <a:ext cx="3566160" cy="164592"/>
          </a:xfrm>
          <a:prstGeom prst="rect">
            <a:avLst/>
          </a:prstGeom>
          <a:solidFill>
            <a:srgbClr val="1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A2230"/>
                </a:solidFill>
                <a:latin typeface="Calibri"/>
              </a:rPr>
              <a:t>Mountain Oregano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697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7A73"/>
                </a:solidFill>
                <a:latin typeface="Calibri"/>
              </a:rPr>
              <a:t>$9.99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383280"/>
            <a:ext cx="3154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048"/>
                </a:solidFill>
                <a:latin typeface="Calibri"/>
              </a:rPr>
              <a:t>Single origin oregano from Kozani, nothing added.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55448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554480"/>
            <a:ext cx="3566160" cy="164592"/>
          </a:xfrm>
          <a:prstGeom prst="rect">
            <a:avLst/>
          </a:prstGeom>
          <a:solidFill>
            <a:srgbClr val="EB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8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A2230"/>
                </a:solidFill>
                <a:latin typeface="Calibri"/>
              </a:rPr>
              <a:t>Aegean Sea Salt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8" y="26974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BA93B"/>
                </a:solidFill>
                <a:latin typeface="Calibri"/>
              </a:rPr>
              <a:t>$10.99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3383280"/>
            <a:ext cx="3154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048"/>
                </a:solidFill>
                <a:latin typeface="Calibri"/>
              </a:rPr>
              <a:t>Hand harvested flake salt, medium coarse.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BF4EC"/>
                </a:solidFill>
                <a:latin typeface="Calibri"/>
              </a:rPr>
              <a:t>Projected Units Sold (First 6 Months)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BF4EC"/>
                </a:solidFill>
                <a:latin typeface="Calibri"/>
              </a:rPr>
              <a:t>Channels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3152" cy="4389120"/>
          </a:xfrm>
          <a:prstGeom prst="rect">
            <a:avLst/>
          </a:prstGeom>
          <a:solidFill>
            <a:srgbClr val="EB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9DDE6"/>
                </a:solidFill>
                <a:latin typeface="Calibri"/>
              </a:rPr>
              <a:t>Sell through an online storefront and a national marketplace listing.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9DDE6"/>
                </a:solidFill>
                <a:latin typeface="Calibri"/>
              </a:rPr>
              <a:t>Ship by standard priority mail with simple kraft packaging.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9DDE6"/>
                </a:solidFill>
                <a:latin typeface="Calibri"/>
              </a:rPr>
              <a:t>Offer a three-product gift set at $29.99 for the holidays.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9DDE6"/>
                </a:solidFill>
                <a:latin typeface="Calibri"/>
              </a:rPr>
              <a:t>Finalize label design with the local Tarpon Springs designer.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9DDE6"/>
                </a:solidFill>
                <a:latin typeface="Calibri"/>
              </a:rPr>
              <a:t>Review the first 90 days of sales data before any price change.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