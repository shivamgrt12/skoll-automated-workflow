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F4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2011680" cy="73152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8881F"/>
                </a:solidFill>
                <a:latin typeface="Calibri"/>
              </a:rPr>
              <a:t>HONEYCOMB BAKERY RVA, CARYTOWN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>
                <a:solidFill>
                  <a:srgbClr val="FBF6EC"/>
                </a:solidFill>
                <a:latin typeface="Calibri"/>
              </a:rPr>
              <a:t>Holiday Gift-Box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D8CBB4"/>
                </a:solidFill>
                <a:latin typeface="Calibri"/>
              </a:rPr>
              <a:t>2026 Season Plan, prepared by Aiden McCarthy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881F"/>
                </a:solidFill>
                <a:latin typeface="Calibri"/>
              </a:rPr>
              <a:t>WHERE WE LANDED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6F4711"/>
                </a:solidFill>
                <a:latin typeface="Calibri"/>
              </a:rPr>
              <a:t>2025 result, 2026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463040" cy="4572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2430703" cy="1920240"/>
          </a:xfrm>
          <a:prstGeom prst="rect">
            <a:avLst/>
          </a:prstGeom>
          <a:solidFill>
            <a:srgbClr val="F4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2430703" cy="109728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243070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6F4711"/>
                </a:solidFill>
                <a:latin typeface="Calibri"/>
              </a:rPr>
              <a:t>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243070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A6054"/>
                </a:solidFill>
                <a:latin typeface="Calibri"/>
              </a:rPr>
              <a:t>boxes sold in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7983" y="2103120"/>
            <a:ext cx="2430703" cy="1920240"/>
          </a:xfrm>
          <a:prstGeom prst="rect">
            <a:avLst/>
          </a:prstGeom>
          <a:solidFill>
            <a:srgbClr val="F4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7983" y="2103120"/>
            <a:ext cx="2430703" cy="109728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983" y="2542032"/>
            <a:ext cx="243070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6F4711"/>
                </a:solidFill>
                <a:latin typeface="Calibri"/>
              </a:rPr>
              <a:t>$5,259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983" y="3474720"/>
            <a:ext cx="243070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A6054"/>
                </a:solidFill>
                <a:latin typeface="Calibri"/>
              </a:rPr>
              <a:t>gross, 2025 program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2103120"/>
            <a:ext cx="2430703" cy="1920240"/>
          </a:xfrm>
          <a:prstGeom prst="rect">
            <a:avLst/>
          </a:prstGeom>
          <a:solidFill>
            <a:srgbClr val="F4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2103120"/>
            <a:ext cx="2430703" cy="109728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3007" y="2542032"/>
            <a:ext cx="243070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6F4711"/>
                </a:solidFill>
                <a:latin typeface="Calibri"/>
              </a:rPr>
              <a:t>90 to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3474720"/>
            <a:ext cx="243070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A6054"/>
                </a:solidFill>
                <a:latin typeface="Calibri"/>
              </a:rPr>
              <a:t>box goal for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38031" y="2103120"/>
            <a:ext cx="2430703" cy="1920240"/>
          </a:xfrm>
          <a:prstGeom prst="rect">
            <a:avLst/>
          </a:prstGeom>
          <a:solidFill>
            <a:srgbClr val="F4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38031" y="2103120"/>
            <a:ext cx="2430703" cy="109728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38031" y="2542032"/>
            <a:ext cx="243070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6F4711"/>
                </a:solidFill>
                <a:latin typeface="Calibri"/>
              </a:rPr>
              <a:t>110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8031" y="3474720"/>
            <a:ext cx="243070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A6054"/>
                </a:solidFill>
                <a:latin typeface="Calibri"/>
              </a:rPr>
              <a:t>stretch 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2628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A241E"/>
                </a:solidFill>
                <a:latin typeface="Calibri"/>
              </a:rPr>
              <a:t>Program runs October through early January. Pre-orders open mid-October. Production window December 1 to 23. Pickup at the bakery or shipping by UPS and USPS. In-store Open House the first Saturday of December.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881F"/>
                </a:solidFill>
                <a:latin typeface="Calibri"/>
              </a:rPr>
              <a:t>THE LINEUP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6F4711"/>
                </a:solidFill>
                <a:latin typeface="Calibri"/>
              </a:rPr>
              <a:t>2026 boxes and pricing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463040" cy="4572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28800"/>
          <a:ext cx="1078992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2194560"/>
                <a:gridCol w="1005840"/>
                <a:gridCol w="64008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BF6EC"/>
                          </a:solidFill>
                          <a:latin typeface="Calibri"/>
                        </a:defRPr>
                      </a:pPr>
                      <a:r>
                        <a:t>SKU</a:t>
                      </a:r>
                    </a:p>
                  </a:txBody>
                  <a:tcPr anchor="ctr">
                    <a:solidFill>
                      <a:srgbClr val="6F47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BF6EC"/>
                          </a:solidFill>
                          <a:latin typeface="Calibri"/>
                        </a:defRPr>
                      </a:pPr>
                      <a:r>
                        <a:t>Box</a:t>
                      </a:r>
                    </a:p>
                  </a:txBody>
                  <a:tcPr anchor="ctr">
                    <a:solidFill>
                      <a:srgbClr val="6F47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BF6EC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6F47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BF6EC"/>
                          </a:solidFill>
                          <a:latin typeface="Calibri"/>
                        </a:defRPr>
                      </a:pPr>
                      <a:r>
                        <a:t>Contents</a:t>
                      </a:r>
                    </a:p>
                  </a:txBody>
                  <a:tcPr anchor="ctr">
                    <a:solidFill>
                      <a:srgbClr val="6F47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HGB-S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Classic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$48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Country Sourdough, Seeded Rye, 6 Almond Financiers, Spiced Brittle 4oz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HGB-M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Baker's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$72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2 Country Sourdough, Einkorn Batard, 8 pastries, Brittle, Honey 4oz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HGB-L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Full Honeycomb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$95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2 Sourdough, Rye, Einkorn, 12 pastries, Brittle, Honey 8oz, tote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HGB-GF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GF Gift Box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$68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2 GF Miche, 8 GF Financiers, 4 GF Muffins, Honey 4oz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881F"/>
                </a:solidFill>
                <a:latin typeface="Calibri"/>
              </a:rPr>
              <a:t>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6F4711"/>
                </a:solidFill>
                <a:latin typeface="Calibri"/>
              </a:rPr>
              <a:t>How the boxes get made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463040" cy="4572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Bread component: Kenji handles the Saturday bake, cooled overnight, slipped into bags Sunday morning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Pastry component: Aiden preps financiers and muffins Tuesday and Wednesday during ship weeks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Brittle made in one batch on the Tuesday of each ship week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Honey add-on ordered from Shenandoah Valley Apiary, minimum 50 jars, order by November 1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All production completed by December 22, no SKU shortages in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881F"/>
                </a:solidFill>
                <a:latin typeface="Calibri"/>
              </a:rPr>
              <a:t>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6F4711"/>
                </a:solidFill>
                <a:latin typeface="Calibri"/>
              </a:rPr>
              <a:t>Key 2026 deadlines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463040" cy="4572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28800"/>
          <a:ext cx="1042416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768096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BF6EC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6F47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BF6EC"/>
                          </a:solidFill>
                          <a:latin typeface="Calibri"/>
                        </a:defRPr>
                      </a:pPr>
                      <a:r>
                        <a:t>Milestone</a:t>
                      </a:r>
                    </a:p>
                  </a:txBody>
                  <a:tcPr anchor="ctr">
                    <a:solidFill>
                      <a:srgbClr val="6F47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October 15, 2026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Packaging order placed, Etsy and BigCommerce listings live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October 20,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Newsletter to subscriber list, pre-order announcement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November 1, 2026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Instagram posts begin, three per week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December 5,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Holiday Open House, 9 AM to 2 PM, final pre-order deadline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December 20 to 23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Pickup window and final shipping days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January 5, 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Post-season recap and thank-you 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881F"/>
                </a:solidFill>
                <a:latin typeface="Calibri"/>
              </a:rPr>
              <a:t>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6F4711"/>
                </a:solidFill>
                <a:latin typeface="Calibri"/>
              </a:rPr>
              <a:t>Estimated 2026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463040" cy="4572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3332378" cy="1920240"/>
          </a:xfrm>
          <a:prstGeom prst="rect">
            <a:avLst/>
          </a:prstGeom>
          <a:solidFill>
            <a:srgbClr val="F4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3332378" cy="109728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33323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6F4711"/>
                </a:solidFill>
                <a:latin typeface="Calibri"/>
              </a:rPr>
              <a:t>$6,480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33323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A6054"/>
                </a:solidFill>
                <a:latin typeface="Calibri"/>
              </a:rPr>
              <a:t>revenue, 90 boxes at $72 avg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9658" y="2103120"/>
            <a:ext cx="3332378" cy="1920240"/>
          </a:xfrm>
          <a:prstGeom prst="rect">
            <a:avLst/>
          </a:prstGeom>
          <a:solidFill>
            <a:srgbClr val="F4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9658" y="2103120"/>
            <a:ext cx="3332378" cy="109728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9658" y="2542032"/>
            <a:ext cx="33323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6F4711"/>
                </a:solidFill>
                <a:latin typeface="Calibri"/>
              </a:rPr>
              <a:t>$3,203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9658" y="3474720"/>
            <a:ext cx="33323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A6054"/>
                </a:solidFill>
                <a:latin typeface="Calibri"/>
              </a:rPr>
              <a:t>total costs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6356" y="2103120"/>
            <a:ext cx="3332378" cy="1920240"/>
          </a:xfrm>
          <a:prstGeom prst="rect">
            <a:avLst/>
          </a:prstGeom>
          <a:solidFill>
            <a:srgbClr val="F4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6356" y="2103120"/>
            <a:ext cx="3332378" cy="109728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2542032"/>
            <a:ext cx="33323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6F4711"/>
                </a:solidFill>
                <a:latin typeface="Calibri"/>
              </a:rPr>
              <a:t>$3,277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474720"/>
            <a:ext cx="33323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A6054"/>
                </a:solidFill>
                <a:latin typeface="Calibri"/>
              </a:rPr>
              <a:t>net estimated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A241E"/>
                </a:solidFill>
                <a:latin typeface="Calibri"/>
              </a:rPr>
              <a:t>Costs: ingredients and honey $1,540, packaging $680, shipping materials $190, marketing $145, Etsy and payment fees about $648. Margins hold as long as honey and flour costs stay near current levels.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881F"/>
                </a:solidFill>
                <a:latin typeface="Calibri"/>
              </a:rPr>
              <a:t>WHAT WE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6F4711"/>
                </a:solidFill>
                <a:latin typeface="Calibri"/>
              </a:rPr>
              <a:t>Carrying 2025 lessons into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463040" cy="4572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Move more shipping to UPS Ground, USPS crushed two boxes last year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GF Gift Box sold out first, add five more to the 2026 allocation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Spiced brittle was the most mentioned item in reviews, keep the recipe exactly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Close the Open House at 2 PM, customers arrived after the 2025 sellout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List the honey add-on at launch, not in November, to capture early sales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2026-02-15T09:00:00Z</dcterms:created>
  <dcterms:modified xsi:type="dcterms:W3CDTF">2026-02-15T09:00:00Z</dcterms:modified>
</cp:coreProperties>
</file>