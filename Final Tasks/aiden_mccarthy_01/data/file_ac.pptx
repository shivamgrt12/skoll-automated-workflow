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F47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788920"/>
            <a:ext cx="2011680" cy="73152"/>
          </a:xfrm>
          <a:prstGeom prst="rect">
            <a:avLst/>
          </a:prstGeom>
          <a:solidFill>
            <a:srgbClr val="C88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8881F"/>
                </a:solidFill>
                <a:latin typeface="Calibri"/>
              </a:rPr>
              <a:t>HONEYCOMB BAKERY RVA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600" b="1">
                <a:solidFill>
                  <a:srgbClr val="FBF6EC"/>
                </a:solidFill>
                <a:latin typeface="Calibri"/>
              </a:rPr>
              <a:t>Wholesale Bread Partnership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D8CBB4"/>
                </a:solidFill>
                <a:latin typeface="Calibri"/>
              </a:rPr>
              <a:t>Prepared for Broad Street Grounds,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8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8881F"/>
                </a:solidFill>
                <a:latin typeface="Calibri"/>
              </a:rPr>
              <a:t>ABOUT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6F4711"/>
                </a:solidFill>
                <a:latin typeface="Calibri"/>
              </a:rPr>
              <a:t>A small bakery that delivers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463040" cy="45720"/>
          </a:xfrm>
          <a:prstGeom prst="rect">
            <a:avLst/>
          </a:prstGeom>
          <a:solidFill>
            <a:srgbClr val="C88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7899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2A241E"/>
                </a:solidFill>
                <a:latin typeface="Calibri"/>
              </a:rPr>
              <a:t>-  Artisan bakery in Carytown, Richmond, opened March 2023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2A241E"/>
                </a:solidFill>
                <a:latin typeface="Calibri"/>
              </a:rPr>
              <a:t>-  Naturally leavened breads, no commercial yeast, no preservatives or dough conditioners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2A241E"/>
                </a:solidFill>
                <a:latin typeface="Calibri"/>
              </a:rPr>
              <a:t>-  Delivering wholesale to Richmond coffee shops since November 2023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2A241E"/>
                </a:solidFill>
                <a:latin typeface="Calibri"/>
              </a:rPr>
              <a:t>-  Currently serving three accounts in the Fan and Carytown: Ironwood Coffee, Black Hand Cafe, The Carafe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2A241E"/>
                </a:solidFill>
                <a:latin typeface="Calibri"/>
              </a:rPr>
              <a:t>-  Opening one additional wholesale slot, and we think Broad Street Grounds is a good fit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8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8881F"/>
                </a:solidFill>
                <a:latin typeface="Calibri"/>
              </a:rPr>
              <a:t>PRODUCTS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6F4711"/>
                </a:solidFill>
                <a:latin typeface="Calibri"/>
              </a:rPr>
              <a:t>Available breads and wholesale pricing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463040" cy="45720"/>
          </a:xfrm>
          <a:prstGeom prst="rect">
            <a:avLst/>
          </a:prstGeom>
          <a:solidFill>
            <a:srgbClr val="C88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828800"/>
          <a:ext cx="10424160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20640"/>
                <a:gridCol w="1828800"/>
                <a:gridCol w="347472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BF6EC"/>
                          </a:solidFill>
                          <a:latin typeface="Calibri"/>
                        </a:defRPr>
                      </a:pPr>
                      <a:r>
                        <a:t>Bread</a:t>
                      </a:r>
                    </a:p>
                  </a:txBody>
                  <a:tcPr anchor="ctr">
                    <a:solidFill>
                      <a:srgbClr val="6F47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BF6EC"/>
                          </a:solidFill>
                          <a:latin typeface="Calibri"/>
                        </a:defRPr>
                      </a:pPr>
                      <a:r>
                        <a:t>Weight</a:t>
                      </a:r>
                    </a:p>
                  </a:txBody>
                  <a:tcPr anchor="ctr">
                    <a:solidFill>
                      <a:srgbClr val="6F47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BF6EC"/>
                          </a:solidFill>
                          <a:latin typeface="Calibri"/>
                        </a:defRPr>
                      </a:pPr>
                      <a:r>
                        <a:t>Wholesale</a:t>
                      </a:r>
                    </a:p>
                  </a:txBody>
                  <a:tcPr anchor="ctr">
                    <a:solidFill>
                      <a:srgbClr val="6F471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A241E"/>
                          </a:solidFill>
                          <a:latin typeface="Calibri"/>
                        </a:defRPr>
                      </a:pPr>
                      <a:r>
                        <a:t>Country Sourdough</a:t>
                      </a:r>
                    </a:p>
                  </a:txBody>
                  <a:tcPr anchor="ctr">
                    <a:solidFill>
                      <a:srgbClr val="F4EC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241E"/>
                          </a:solidFill>
                          <a:latin typeface="Calibri"/>
                        </a:defRPr>
                      </a:pPr>
                      <a:r>
                        <a:t>900g</a:t>
                      </a:r>
                    </a:p>
                  </a:txBody>
                  <a:tcPr anchor="ctr">
                    <a:solidFill>
                      <a:srgbClr val="F4EC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241E"/>
                          </a:solidFill>
                          <a:latin typeface="Calibri"/>
                        </a:defRPr>
                      </a:pPr>
                      <a:r>
                        <a:t>$9.00 per loaf</a:t>
                      </a:r>
                    </a:p>
                  </a:txBody>
                  <a:tcPr anchor="ctr">
                    <a:solidFill>
                      <a:srgbClr val="F4ECD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A241E"/>
                          </a:solidFill>
                          <a:latin typeface="Calibri"/>
                        </a:defRPr>
                      </a:pPr>
                      <a:r>
                        <a:t>Seeded Rye, caraway and sunflower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241E"/>
                          </a:solidFill>
                          <a:latin typeface="Calibri"/>
                        </a:defRPr>
                      </a:pPr>
                      <a:r>
                        <a:t>750g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241E"/>
                          </a:solidFill>
                          <a:latin typeface="Calibri"/>
                        </a:defRPr>
                      </a:pPr>
                      <a:r>
                        <a:t>$8.50 per loaf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A241E"/>
                          </a:solidFill>
                          <a:latin typeface="Calibri"/>
                        </a:defRPr>
                      </a:pPr>
                      <a:r>
                        <a:t>Oat Porridge Loaf</a:t>
                      </a:r>
                    </a:p>
                  </a:txBody>
                  <a:tcPr anchor="ctr">
                    <a:solidFill>
                      <a:srgbClr val="F4EC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241E"/>
                          </a:solidFill>
                          <a:latin typeface="Calibri"/>
                        </a:defRPr>
                      </a:pPr>
                      <a:r>
                        <a:t>800g</a:t>
                      </a:r>
                    </a:p>
                  </a:txBody>
                  <a:tcPr anchor="ctr">
                    <a:solidFill>
                      <a:srgbClr val="F4EC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241E"/>
                          </a:solidFill>
                          <a:latin typeface="Calibri"/>
                        </a:defRPr>
                      </a:pPr>
                      <a:r>
                        <a:t>$9.00 per loaf</a:t>
                      </a:r>
                    </a:p>
                  </a:txBody>
                  <a:tcPr anchor="ctr">
                    <a:solidFill>
                      <a:srgbClr val="F4ECD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A241E"/>
                          </a:solidFill>
                          <a:latin typeface="Calibri"/>
                        </a:defRPr>
                      </a:pPr>
                      <a:r>
                        <a:t>Einkorn Batard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241E"/>
                          </a:solidFill>
                          <a:latin typeface="Calibri"/>
                        </a:defRPr>
                      </a:pPr>
                      <a:r>
                        <a:t>600g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241E"/>
                          </a:solidFill>
                          <a:latin typeface="Calibri"/>
                        </a:defRPr>
                      </a:pPr>
                      <a:r>
                        <a:t>$9.50 per loaf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A241E"/>
                          </a:solidFill>
                          <a:latin typeface="Calibri"/>
                        </a:defRPr>
                      </a:pPr>
                      <a:r>
                        <a:t>GF Miche, dedicated GF area</a:t>
                      </a:r>
                    </a:p>
                  </a:txBody>
                  <a:tcPr anchor="ctr">
                    <a:solidFill>
                      <a:srgbClr val="F4EC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241E"/>
                          </a:solidFill>
                          <a:latin typeface="Calibri"/>
                        </a:defRPr>
                      </a:pPr>
                      <a:r>
                        <a:t>700g</a:t>
                      </a:r>
                    </a:p>
                  </a:txBody>
                  <a:tcPr anchor="ctr">
                    <a:solidFill>
                      <a:srgbClr val="F4EC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241E"/>
                          </a:solidFill>
                          <a:latin typeface="Calibri"/>
                        </a:defRPr>
                      </a:pPr>
                      <a:r>
                        <a:t>$10.50 per loaf</a:t>
                      </a:r>
                    </a:p>
                  </a:txBody>
                  <a:tcPr anchor="ctr">
                    <a:solidFill>
                      <a:srgbClr val="F4ECD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A241E"/>
                          </a:solidFill>
                          <a:latin typeface="Calibri"/>
                        </a:defRPr>
                      </a:pPr>
                      <a:r>
                        <a:t>GF Sandwich Loaf, dedicated GF area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241E"/>
                          </a:solidFill>
                          <a:latin typeface="Calibri"/>
                        </a:defRPr>
                      </a:pPr>
                      <a:r>
                        <a:t>800g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A241E"/>
                          </a:solidFill>
                          <a:latin typeface="Calibri"/>
                        </a:defRPr>
                      </a:pPr>
                      <a:r>
                        <a:t>$10.00 per loaf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8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8881F"/>
                </a:solidFill>
                <a:latin typeface="Calibri"/>
              </a:rPr>
              <a:t>TERMS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6F4711"/>
                </a:solidFill>
                <a:latin typeface="Calibri"/>
              </a:rPr>
              <a:t>Delivery and invoicing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463040" cy="45720"/>
          </a:xfrm>
          <a:prstGeom prst="rect">
            <a:avLst/>
          </a:prstGeom>
          <a:solidFill>
            <a:srgbClr val="C88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7899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2A241E"/>
                </a:solidFill>
                <a:latin typeface="Calibri"/>
              </a:rPr>
              <a:t>-  Minimum weekly order: 6 loaves, any combination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2A241E"/>
                </a:solidFill>
                <a:latin typeface="Calibri"/>
              </a:rPr>
              <a:t>-  Delivery day: Monday, 7:00 AM to 8:00 AM, driven by Kenji Alford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2A241E"/>
                </a:solidFill>
                <a:latin typeface="Calibri"/>
              </a:rPr>
              <a:t>-  Coverage: any Broad Street location between VCU and Willow Lawn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2A241E"/>
                </a:solidFill>
                <a:latin typeface="Calibri"/>
              </a:rPr>
              <a:t>-  Invoicing: monthly, net 15, by ACH, business check, or Zelle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2A241E"/>
                </a:solidFill>
                <a:latin typeface="Calibri"/>
              </a:rPr>
              <a:t>-  Pricing fixed for the first six months of any new account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8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8881F"/>
                </a:solidFill>
                <a:latin typeface="Calibri"/>
              </a:rPr>
              <a:t>SAMPLE WEEK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6F4711"/>
                </a:solidFill>
                <a:latin typeface="Calibri"/>
              </a:rPr>
              <a:t>What a typical order looks like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463040" cy="45720"/>
          </a:xfrm>
          <a:prstGeom prst="rect">
            <a:avLst/>
          </a:prstGeom>
          <a:solidFill>
            <a:srgbClr val="C88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3332378" cy="1920240"/>
          </a:xfrm>
          <a:prstGeom prst="rect">
            <a:avLst/>
          </a:prstGeom>
          <a:solidFill>
            <a:srgbClr val="F4E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03120"/>
            <a:ext cx="3332378" cy="109728"/>
          </a:xfrm>
          <a:prstGeom prst="rect">
            <a:avLst/>
          </a:prstGeom>
          <a:solidFill>
            <a:srgbClr val="C88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42032"/>
            <a:ext cx="333237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6F4711"/>
                </a:solidFill>
                <a:latin typeface="Calibri"/>
              </a:rPr>
              <a:t>$71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74720"/>
            <a:ext cx="333237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6A6054"/>
                </a:solidFill>
                <a:latin typeface="Calibri"/>
              </a:rPr>
              <a:t>per week, 8 loaves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29658" y="2103120"/>
            <a:ext cx="3332378" cy="1920240"/>
          </a:xfrm>
          <a:prstGeom prst="rect">
            <a:avLst/>
          </a:prstGeom>
          <a:solidFill>
            <a:srgbClr val="F4E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29658" y="2103120"/>
            <a:ext cx="3332378" cy="109728"/>
          </a:xfrm>
          <a:prstGeom prst="rect">
            <a:avLst/>
          </a:prstGeom>
          <a:solidFill>
            <a:srgbClr val="C88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29658" y="2542032"/>
            <a:ext cx="333237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6F4711"/>
                </a:solidFill>
                <a:latin typeface="Calibri"/>
              </a:rPr>
              <a:t>$284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9658" y="3474720"/>
            <a:ext cx="333237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6A6054"/>
                </a:solidFill>
                <a:latin typeface="Calibri"/>
              </a:rPr>
              <a:t>per month, 4 weeks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36356" y="2103120"/>
            <a:ext cx="3332378" cy="1920240"/>
          </a:xfrm>
          <a:prstGeom prst="rect">
            <a:avLst/>
          </a:prstGeom>
          <a:solidFill>
            <a:srgbClr val="F4E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6356" y="2103120"/>
            <a:ext cx="3332378" cy="109728"/>
          </a:xfrm>
          <a:prstGeom prst="rect">
            <a:avLst/>
          </a:prstGeom>
          <a:solidFill>
            <a:srgbClr val="C88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2542032"/>
            <a:ext cx="333237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6F4711"/>
                </a:solidFill>
                <a:latin typeface="Calibri"/>
              </a:rPr>
              <a:t>48 hrs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474720"/>
            <a:ext cx="333237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6A6054"/>
                </a:solidFill>
                <a:latin typeface="Calibri"/>
              </a:rPr>
              <a:t>notice for any change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526280"/>
            <a:ext cx="10607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2A241E"/>
                </a:solidFill>
                <a:latin typeface="Calibri"/>
              </a:rPr>
              <a:t>Example: 4 Country Sourdough at $9.00, 2 Seeded Rye at $8.50, 2 Oat Porridge at $9.00. Your standing order can vary week to week with 48 hours notice.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8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8881F"/>
                </a:solidFill>
                <a:latin typeface="Calibri"/>
              </a:rPr>
              <a:t>GLUTEN-FREE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6F4711"/>
                </a:solidFill>
                <a:latin typeface="Calibri"/>
              </a:rPr>
              <a:t>A line built for celiac customers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463040" cy="45720"/>
          </a:xfrm>
          <a:prstGeom prst="rect">
            <a:avLst/>
          </a:prstGeom>
          <a:solidFill>
            <a:srgbClr val="C88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7899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2A241E"/>
                </a:solidFill>
                <a:latin typeface="Calibri"/>
              </a:rPr>
              <a:t>-  GF Miche and GF Sandwich Loaf available from our dedicated GF prep area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2A241E"/>
                </a:solidFill>
                <a:latin typeface="Calibri"/>
              </a:rPr>
              <a:t>-  Separate boards, mixers, toasters, and colanders, all marked with green tape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2A241E"/>
                </a:solidFill>
                <a:latin typeface="Calibri"/>
              </a:rPr>
              <a:t>-  Area cleaned independently before every GF run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2A241E"/>
                </a:solidFill>
                <a:latin typeface="Calibri"/>
              </a:rPr>
              <a:t>-  No documented cross-contamination incident since the GF line opened in May 2023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2A241E"/>
                </a:solidFill>
                <a:latin typeface="Calibri"/>
              </a:rPr>
              <a:t>-  Aiden, the owner, has celiac disease, so this is personal, not a checkbox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8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8881F"/>
                </a:solidFill>
                <a:latin typeface="Calibri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6F4711"/>
                </a:solidFill>
                <a:latin typeface="Calibri"/>
              </a:rPr>
              <a:t>Low commitment to start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1463040" cy="45720"/>
          </a:xfrm>
          <a:prstGeom prst="rect">
            <a:avLst/>
          </a:prstGeom>
          <a:solidFill>
            <a:srgbClr val="C88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7899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2A241E"/>
                </a:solidFill>
                <a:latin typeface="Calibri"/>
              </a:rPr>
              <a:t>-  Two-week trial order at no commitment, quantities you choose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2A241E"/>
                </a:solidFill>
                <a:latin typeface="Calibri"/>
              </a:rPr>
              <a:t>-  We invoice normally, then both decide if the fit is right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2A241E"/>
                </a:solidFill>
                <a:latin typeface="Calibri"/>
              </a:rPr>
              <a:t>-  Six-month review target: April 17, 2027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6F4711"/>
                </a:solidFill>
                <a:latin typeface="Calibri"/>
              </a:rPr>
              <a:t>Contact Aiden McCarthy: 804-555-0147, aiden@honeycombbakeryrva.com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6A6054"/>
                </a:solidFill>
                <a:latin typeface="Calibri"/>
              </a:rPr>
              <a:t>Honeycomb Bakery RVA, 2819 West Cary Street, Richmond, VA 23221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/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2026-02-15T09:00:00Z</dcterms:created>
  <dcterms:modified xsi:type="dcterms:W3CDTF">2026-02-15T09:00:00Z</dcterms:modified>
</cp:coreProperties>
</file>