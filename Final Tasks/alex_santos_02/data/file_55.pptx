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13303F"/>
                </a:solidFill>
              </a:rPr>
              <a:t>Mussel cover falls under warmer conditions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mussel cover (%)</c:v>
                </c:pt>
              </c:strCache>
            </c:strRef>
          </c:tx>
          <c:spPr>
            <a:solidFill>
              <a:srgbClr val="2E9CCA"/>
            </a:solidFill>
          </c:spPr>
          <c:cat>
            <c:strRef>
              <c:f>Sheet1!$A$2:$A$3</c:f>
              <c:strCache>
                <c:ptCount val="2"/>
                <c:pt idx="0">
                  <c:v>Coolest visit
(Dash Pt, 13.9 C)</c:v>
                </c:pt>
                <c:pt idx="1">
                  <c:v>Warmest visit
(Owen Bch, 16.3 C)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44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0E2A3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3303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13303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51960"/>
            <a:ext cx="12192000" cy="82296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920240"/>
            <a:ext cx="109728" cy="1554480"/>
          </a:xfrm>
          <a:prstGeom prst="rect">
            <a:avLst/>
          </a:prstGeom>
          <a:solidFill>
            <a:srgbClr val="6FD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5097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Warming Waters, Shifting Shores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6FD0C5"/>
                </a:solidFill>
                <a:latin typeface="Calibri"/>
              </a:rPr>
              <a:t>Temperature and intertidal invertebrate communities in southern Puget Sound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5097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4FAFC"/>
                </a:solidFill>
                <a:latin typeface="Calibri"/>
              </a:rPr>
              <a:t>Alex Santos  |  Coastal Ecology Lab, Puget Sound Institute of Science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E9CCA"/>
                </a:solidFill>
                <a:latin typeface="Calibri"/>
              </a:rPr>
              <a:t>Graduate Seminar, BIOL 595  |  February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82296" cy="329184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691640"/>
            <a:ext cx="9509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1" i="0">
                <a:solidFill>
                  <a:srgbClr val="13303F"/>
                </a:solidFill>
                <a:latin typeface="Calibri"/>
              </a:rPr>
              <a:t>Marine heatwaves are intensifying across the Salish Sea.</a:t>
            </a:r>
          </a:p>
          <a:p>
            <a:pPr algn="l">
              <a:spcAft>
                <a:spcPts val="1400"/>
              </a:spcAft>
            </a:pPr>
            <a:r>
              <a:rPr sz="2100" b="1" i="0">
                <a:solidFill>
                  <a:srgbClr val="13303F"/>
                </a:solidFill>
                <a:latin typeface="Calibri"/>
              </a:rPr>
              <a:t>Intertidal animals already live at the edge of their heat tolerance.</a:t>
            </a:r>
          </a:p>
          <a:p>
            <a:pPr algn="l">
              <a:spcAft>
                <a:spcPts val="1400"/>
              </a:spcAft>
            </a:pPr>
            <a:r>
              <a:rPr sz="2100" b="1" i="0">
                <a:solidFill>
                  <a:srgbClr val="2E9CCA"/>
                </a:solidFill>
                <a:latin typeface="Calibri"/>
              </a:rPr>
              <a:t>Does summer water temperature shift who lives where on the rocks?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13303F"/>
                </a:solidFill>
                <a:latin typeface="Calibri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5A6B74"/>
                </a:solidFill>
                <a:latin typeface="Calibri"/>
              </a:rPr>
              <a:t>This talk reports one field season across three southern Puget Sound sites, and what the community data can and cannot say.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How I looked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91640"/>
            <a:ext cx="3200400" cy="1828800"/>
          </a:xfrm>
          <a:prstGeom prst="roundRect">
            <a:avLst/>
          </a:prstGeom>
          <a:solidFill>
            <a:srgbClr val="14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3200400" cy="90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31640"/>
            <a:ext cx="32004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6FD0C5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1640"/>
            <a:ext cx="32004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F4FAFC"/>
                </a:solidFill>
                <a:latin typeface="Calibri"/>
              </a:rPr>
              <a:t>Fixed sites: Titlow, Owen Beach, Dash 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691640"/>
            <a:ext cx="3200400" cy="1828800"/>
          </a:xfrm>
          <a:prstGeom prst="roundRect">
            <a:avLst/>
          </a:prstGeom>
          <a:solidFill>
            <a:srgbClr val="14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15968" y="1691640"/>
            <a:ext cx="3200400" cy="90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1831640"/>
            <a:ext cx="32004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6FD0C5"/>
                </a:solidFill>
                <a:latin typeface="Calibri"/>
              </a:rPr>
              <a:t>Jul-Oct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511640"/>
            <a:ext cx="32004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F4FAFC"/>
                </a:solidFill>
                <a:latin typeface="Calibri"/>
              </a:rPr>
              <a:t>2025 sampling window, fixed transects and quadrats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08976" y="1691640"/>
            <a:ext cx="3200400" cy="1828800"/>
          </a:xfrm>
          <a:prstGeom prst="roundRect">
            <a:avLst/>
          </a:prstGeom>
          <a:solidFill>
            <a:srgbClr val="14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08976" y="1691640"/>
            <a:ext cx="3200400" cy="90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08976" y="1831640"/>
            <a:ext cx="32004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6FD0C5"/>
                </a:solidFill>
                <a:latin typeface="Calibri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6" y="2511640"/>
            <a:ext cx="32004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F4FAFC"/>
                </a:solidFill>
                <a:latin typeface="Calibri"/>
              </a:rPr>
              <a:t>Grid intersections per 0.25 m quadrat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10424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3303F"/>
                </a:solidFill>
                <a:latin typeface="Calibri"/>
              </a:rPr>
              <a:t>Quadrat counts and percent cover along fixed intertidal transects, water and air temperature at each transect.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13303F"/>
                </a:solidFill>
                <a:latin typeface="Calibri"/>
              </a:rPr>
              <a:t>Analysis in R 4.4.1: non-metric multidimensional scaling on Bray-Curtis dissimilarities, then PERMANOVA.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10896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 I found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554480"/>
          <a:ext cx="548640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675120" y="1691640"/>
            <a:ext cx="4206240" cy="1143000"/>
          </a:xfrm>
          <a:prstGeom prst="roundRect">
            <a:avLst/>
          </a:prstGeom>
          <a:solidFill>
            <a:srgbClr val="14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0" y="1691640"/>
            <a:ext cx="4206240" cy="90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31640"/>
            <a:ext cx="420624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6FD0C5"/>
                </a:solidFill>
                <a:latin typeface="Calibri"/>
              </a:rPr>
              <a:t>R2 = 0.21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511640"/>
            <a:ext cx="420624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F4FAFC"/>
                </a:solidFill>
                <a:latin typeface="Calibri"/>
              </a:rPr>
              <a:t>Community variation explained by temperature (p = 0.018)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017520"/>
            <a:ext cx="4206240" cy="1143000"/>
          </a:xfrm>
          <a:prstGeom prst="roundRect">
            <a:avLst/>
          </a:prstGeom>
          <a:solidFill>
            <a:srgbClr val="143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0" y="3017520"/>
            <a:ext cx="4206240" cy="90000"/>
          </a:xfrm>
          <a:prstGeom prst="round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157520"/>
            <a:ext cx="420624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6FD0C5"/>
                </a:solidFill>
                <a:latin typeface="Calibri"/>
              </a:rPr>
              <a:t>stress 0.14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837520"/>
            <a:ext cx="420624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F4FAFC"/>
                </a:solidFill>
                <a:latin typeface="Calibri"/>
              </a:rPr>
              <a:t>NMDS ordination, clean cool vs warm separation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434840"/>
            <a:ext cx="4206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13303F"/>
                </a:solidFill>
                <a:latin typeface="Calibri"/>
              </a:rPr>
              <a:t>A real signal, but noisy. Not a single-driver story.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What it means, and what it does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82296" cy="3383280"/>
          </a:xfrm>
          <a:prstGeom prst="rect">
            <a:avLst/>
          </a:prstGeom>
          <a:solidFill>
            <a:srgbClr val="2E9C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828800"/>
            <a:ext cx="96926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Warming is reshaping these communities, subtly, now.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FD0C5"/>
                </a:solidFill>
                <a:latin typeface="Calibri"/>
              </a:rPr>
              <a:t>One season and three sites is a real limit on how far this goes.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6FD0C5"/>
                </a:solidFill>
                <a:latin typeface="Calibri"/>
              </a:rPr>
              <a:t>Next: multi-year sampling and chemistry covariates with Dr. Hull.</a:t>
            </a:r>
          </a:p>
          <a:p>
            <a:pPr algn="l">
              <a:spcAft>
                <a:spcPts val="1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1400"/>
              </a:spcAft>
            </a:pPr>
            <a:r>
              <a:rPr sz="1500" b="0" i="1">
                <a:solidFill>
                  <a:srgbClr val="F4FAFC"/>
                </a:solidFill>
                <a:latin typeface="Calibri"/>
              </a:rPr>
              <a:t>With thanks to Dr. Lindstrom, Yolanda Reeves, and the Coastal Ecology Lab.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Warming Waters, Shifting Shores</dc:title>
  <dc:subject>Graduate seminar BIOL 595</dc:subject>
  <dc:creator>Alex Santos</dc:creator>
  <cp:keywords/>
  <dc:description/>
  <cp:lastModifiedBy>Alex Santos</cp:lastModifiedBy>
  <cp:revision>1</cp:revision>
  <dcterms:created xsi:type="dcterms:W3CDTF">2013-01-27T09:14:16Z</dcterms:created>
  <dcterms:modified xsi:type="dcterms:W3CDTF">2013-01-27T09:15:58Z</dcterms:modified>
  <cp:category/>
</cp:coreProperties>
</file>