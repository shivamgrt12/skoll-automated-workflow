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50">
                <a:solidFill>
                  <a:srgbClr val="222A35"/>
                </a:solidFill>
              </a:rPr>
              <a:t>Diversity declines as mean site temperature rises (deg C)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Shannon diversity (H)</c:v>
                </c:pt>
              </c:strCache>
            </c:strRef>
          </c:tx>
          <c:spPr>
            <a:ln w="31750">
              <a:solidFill>
                <a:srgbClr val="E0A458"/>
              </a:solidFill>
            </a:ln>
          </c:spPr>
          <c:cat>
            <c:strRef>
              <c:f>Sheet1!$A$2:$A$9</c:f>
              <c:strCache>
                <c:ptCount val="8"/>
                <c:pt idx="0">
                  <c:v>11.2</c:v>
                </c:pt>
                <c:pt idx="1">
                  <c:v>11.8</c:v>
                </c:pt>
                <c:pt idx="2">
                  <c:v>12.4</c:v>
                </c:pt>
                <c:pt idx="3">
                  <c:v>13.1</c:v>
                </c:pt>
                <c:pt idx="4">
                  <c:v>13.9</c:v>
                </c:pt>
                <c:pt idx="5">
                  <c:v>14.6</c:v>
                </c:pt>
                <c:pt idx="6">
                  <c:v>15.2</c:v>
                </c:pt>
                <c:pt idx="7">
                  <c:v>15.8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2.41</c:v>
                </c:pt>
                <c:pt idx="1">
                  <c:v>2.33</c:v>
                </c:pt>
                <c:pt idx="2">
                  <c:v>2.21</c:v>
                </c:pt>
                <c:pt idx="3">
                  <c:v>2.07</c:v>
                </c:pt>
                <c:pt idx="4">
                  <c:v>1.95</c:v>
                </c:pt>
                <c:pt idx="5">
                  <c:v>1.81</c:v>
                </c:pt>
                <c:pt idx="6">
                  <c:v>1.72</c:v>
                </c:pt>
                <c:pt idx="7">
                  <c:v>1.62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22A35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000">
                <a:solidFill>
                  <a:srgbClr val="222A35"/>
                </a:solidFill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645920"/>
            <a:ext cx="969264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4200" b="1" i="0">
                <a:solidFill>
                  <a:srgbClr val="FFFFFF"/>
                </a:solidFill>
                <a:latin typeface="Calibri"/>
              </a:rPr>
              <a:t>Thesis Committee Progress Review</a:t>
            </a:r>
          </a:p>
          <a:p>
            <a:pPr algn="l">
              <a:spcAft>
                <a:spcPts val="1200"/>
              </a:spcAft>
            </a:pPr>
            <a:r>
              <a:rPr sz="1800" b="0" i="0">
                <a:solidFill>
                  <a:srgbClr val="F0C98A"/>
                </a:solidFill>
                <a:latin typeface="Calibri"/>
              </a:rPr>
              <a:t>Effects of ocean warming on intertidal invertebrate community composition in Puget Sound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4572000"/>
            <a:ext cx="969264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F5F6F8"/>
                </a:solidFill>
                <a:latin typeface="Calibri"/>
              </a:rPr>
              <a:t>Alex Santos  |  M.S. Marine Biology  |  Puget Sound Institute of Science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E0A458"/>
                </a:solidFill>
                <a:latin typeface="Calibri"/>
              </a:rPr>
              <a:t>Progress meeting, January 22, 2027  |  Committee: Dr. Sarah Lindstrom, Dr. Marcus Hull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Where things stand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2461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600200"/>
            <a:ext cx="3246120" cy="90000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40200"/>
            <a:ext cx="32461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F2733"/>
                </a:solidFill>
                <a:latin typeface="Calibri"/>
              </a:rPr>
              <a:t>Field done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420200"/>
            <a:ext cx="32461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4707E"/>
                </a:solidFill>
                <a:latin typeface="Calibri"/>
              </a:rPr>
              <a:t>All 2025 survey data entered, cross-checked, and locked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600200"/>
            <a:ext cx="32461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246120" cy="90000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43400" y="1740200"/>
            <a:ext cx="32461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F2733"/>
                </a:solidFill>
                <a:latin typeface="Calibri"/>
              </a:rPr>
              <a:t>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43400" y="2420200"/>
            <a:ext cx="32461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4707E"/>
                </a:solidFill>
                <a:latin typeface="Calibri"/>
              </a:rPr>
              <a:t>NMDS, PERMANOVA, and diversity indices complete in 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1600200"/>
            <a:ext cx="3246120" cy="1737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7863840" y="1600200"/>
            <a:ext cx="3246120" cy="90000"/>
          </a:xfrm>
          <a:prstGeom prst="round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1740200"/>
            <a:ext cx="324612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3400" b="1" i="0">
                <a:solidFill>
                  <a:srgbClr val="1F2733"/>
                </a:solidFill>
                <a:latin typeface="Calibri"/>
              </a:rPr>
              <a:t>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2420200"/>
            <a:ext cx="32461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250" b="0" i="0">
                <a:solidFill>
                  <a:srgbClr val="64707E"/>
                </a:solidFill>
                <a:latin typeface="Calibri"/>
              </a:rPr>
              <a:t>Chapter 3 drafted, Chapter 4 in progress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3703320"/>
            <a:ext cx="10424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A35"/>
                </a:solidFill>
                <a:latin typeface="Calibri"/>
              </a:rPr>
              <a:t>Since the last check-in I locked the survey database with Yolanda, finished the Site 7 thermal-gradient analysis, and circulated a Chapter 3 results draft to Dr. Lindstrom.</a:t>
            </a:r>
          </a:p>
          <a:p>
            <a:pPr algn="l">
              <a:spcAft>
                <a:spcPts val="800"/>
              </a:spcAft>
            </a:pPr>
            <a:r>
              <a:rPr sz="1600" b="0" i="0">
                <a:solidFill>
                  <a:srgbClr val="222A35"/>
                </a:solidFill>
                <a:latin typeface="Calibri"/>
              </a:rPr>
              <a:t>This meeting is to confirm framing on the central result and agree the path to a spring 2027 defense.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Chapter status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1554480"/>
          <a:ext cx="1051560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3017520"/>
                <a:gridCol w="4572000"/>
              </a:tblGrid>
              <a:tr h="59436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Chapter</a:t>
                      </a:r>
                    </a:p>
                  </a:txBody>
                  <a:tcPr anchor="ctr"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 anchor="ctr">
                    <a:solidFill>
                      <a:srgbClr val="1F27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Next action</a:t>
                      </a:r>
                    </a:p>
                  </a:txBody>
                  <a:tcPr anchor="ctr">
                    <a:solidFill>
                      <a:srgbClr val="1F2733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1  Introduction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FA77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Light edit after results lock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2  Methods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FA776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Add evenness metric description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3  Results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5FA776"/>
                          </a:solidFill>
                          <a:latin typeface="Calibri"/>
                        </a:rPr>
                        <a:t>Full draft with advisor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Address S.L. comments, finalize tables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4  Discussion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C9785B"/>
                          </a:solidFill>
                          <a:latin typeface="Calibri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Place results in Salish Sea warming context</a:t>
                      </a:r>
                    </a:p>
                  </a:txBody>
                  <a:tcPr anchor="ctr">
                    <a:solidFill>
                      <a:srgbClr val="ECEEF1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5  Conclusion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C9785B"/>
                          </a:solidFill>
                          <a:latin typeface="Calibri"/>
                        </a:rPr>
                        <a:t>Outline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222A35"/>
                          </a:solidFill>
                          <a:latin typeface="Calibri"/>
                        </a:rPr>
                        <a:t>Draft after Chapter 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097280"/>
          </a:xfrm>
          <a:prstGeom prst="rect">
            <a:avLst/>
          </a:prstGeom>
          <a:solidFill>
            <a:srgbClr val="1F27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97280"/>
            <a:ext cx="12192000" cy="54864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92608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The central result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822960" y="1600200"/>
          <a:ext cx="6400800" cy="39319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498079" y="1737360"/>
            <a:ext cx="36576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500" b="1" i="0">
                <a:solidFill>
                  <a:srgbClr val="222A35"/>
                </a:solidFill>
                <a:latin typeface="Calibri"/>
              </a:rPr>
              <a:t>Eight-site survey, southern Puget Sound.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222A35"/>
                </a:solidFill>
                <a:latin typeface="Calibri"/>
              </a:rPr>
              <a:t>Shannon, Simpson, and evenness all fall along the thermal gradient.</a:t>
            </a:r>
          </a:p>
          <a:p>
            <a:pPr algn="l">
              <a:spcAft>
                <a:spcPts val="1000"/>
              </a:spcAft>
            </a:pPr>
            <a:r>
              <a:rPr sz="1500" b="0" i="0">
                <a:solidFill>
                  <a:srgbClr val="64707E"/>
                </a:solidFill>
                <a:latin typeface="Calibri"/>
              </a:rPr>
              <a:t>Site 7 (Titlow) remains the focal comparison site for Chapter 3.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7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0A4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Open questions for the committee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987552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600"/>
              </a:spcAft>
            </a:pPr>
            <a:r>
              <a:rPr sz="1900" b="0" i="0">
                <a:solidFill>
                  <a:srgbClr val="FFFFFF"/>
                </a:solidFill>
                <a:latin typeface="Calibri"/>
              </a:rPr>
              <a:t>How hard should Chapter 4 lean on a single-season result before the multi-year data lands?</a:t>
            </a:r>
          </a:p>
          <a:p>
            <a:pPr algn="l">
              <a:spcAft>
                <a:spcPts val="1600"/>
              </a:spcAft>
            </a:pPr>
            <a:r>
              <a:rPr sz="1900" b="0" i="0">
                <a:solidFill>
                  <a:srgbClr val="F0C98A"/>
                </a:solidFill>
                <a:latin typeface="Calibri"/>
              </a:rPr>
              <a:t>Is the eight-site diversity gradient worth a short standalone section, or a figure inside Chapter 3?</a:t>
            </a:r>
          </a:p>
          <a:p>
            <a:pPr algn="l">
              <a:spcAft>
                <a:spcPts val="1600"/>
              </a:spcAft>
            </a:pPr>
            <a:r>
              <a:rPr sz="1900" b="0" i="0">
                <a:solidFill>
                  <a:srgbClr val="F0C98A"/>
                </a:solidFill>
                <a:latin typeface="Calibri"/>
              </a:rPr>
              <a:t>Target the spring 2027 defense window, or build in a buffer for the chemistry covariate work?</a:t>
            </a:r>
          </a:p>
        </p:txBody>
      </p:sp>
    </p:spTree>
  </p:cSld>
  <p:clrMapOvr>
    <a:masterClrMapping/>
  </p:clrMapOvr>
  <p:transition spd="med">
    <p:push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Thesis Committee Progress Review</dc:title>
  <dc:subject>M.S. Marine Biology committee meeting</dc:subject>
  <dc:creator>Alex Santos</dc:creator>
  <cp:keywords/>
  <dc:description/>
  <cp:lastModifiedBy>Alex Santos</cp:lastModifiedBy>
  <cp:revision>1</cp:revision>
  <dcterms:created xsi:type="dcterms:W3CDTF">2013-01-27T09:14:16Z</dcterms:created>
  <dcterms:modified xsi:type="dcterms:W3CDTF">2013-01-27T09:15:58Z</dcterms:modified>
  <cp:category/>
</cp:coreProperties>
</file>