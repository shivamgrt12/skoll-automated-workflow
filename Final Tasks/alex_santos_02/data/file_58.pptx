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463040" cy="1097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Rocky Intertidal Quadrat Sampling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CDE5D2"/>
                </a:solidFill>
                <a:latin typeface="Calibri"/>
              </a:rPr>
              <a:t>Field methods training for new survey 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Coastal Ecology Lab, Puget Sound Institute of Science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DE5D2"/>
                </a:solidFill>
                <a:latin typeface="Calibri"/>
              </a:rPr>
              <a:t>Standard Operating Procedure CE-04, version 2.1  |  Prepared by Yolanda Reeves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we do it the same way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82296" cy="3383280"/>
          </a:xfrm>
          <a:prstGeom prst="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692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0" i="0">
                <a:solidFill>
                  <a:srgbClr val="1C2B23"/>
                </a:solidFill>
                <a:latin typeface="Calibri"/>
              </a:rPr>
              <a:t>Comparable data is the whole point. If two people count the same rock differently, the warming signal vanishes into the noise.</a:t>
            </a:r>
          </a:p>
          <a:p>
            <a:pPr algn="l">
              <a:spcAft>
                <a:spcPts val="1600"/>
              </a:spcAft>
            </a:pPr>
            <a:r>
              <a:rPr sz="1900" b="1" i="0">
                <a:solidFill>
                  <a:srgbClr val="2C6B52"/>
                </a:solidFill>
                <a:latin typeface="Calibri"/>
              </a:rPr>
              <a:t>Fixed transects, fixed quadrats, same grid, same day-of entry. Boring on purpose.</a:t>
            </a:r>
          </a:p>
          <a:p>
            <a:pPr algn="l">
              <a:spcAft>
                <a:spcPts val="1600"/>
              </a:spcAft>
            </a:pPr>
            <a:r>
              <a:rPr sz="1900" b="0" i="0">
                <a:solidFill>
                  <a:srgbClr val="1C2B23"/>
                </a:solidFill>
                <a:latin typeface="Calibri"/>
              </a:rPr>
              <a:t>Every count you record this season sits next to counts from last season. Consistency is what makes the comparison honest.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Gear check before you leave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64592" cy="2834640"/>
          </a:xfrm>
          <a:prstGeom prst="round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4D3B"/>
                </a:solidFill>
                <a:latin typeface="Calibri"/>
              </a:rPr>
              <a:t>Quadrat and tape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2608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B23"/>
                </a:solidFill>
                <a:latin typeface="Calibri"/>
              </a:rPr>
              <a:t>0.25 m PVC quadrat with the 25-point string grid, 50 m transect tape, 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164592" cy="2834640"/>
          </a:xfrm>
          <a:prstGeom prst="round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4D3B"/>
                </a:solidFill>
                <a:latin typeface="Calibri"/>
              </a:rPr>
              <a:t>Record and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2608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B23"/>
                </a:solidFill>
                <a:latin typeface="Calibri"/>
              </a:rPr>
              <a:t>Rite in the Rain sheet or field tablet, thermometer for water and air, GPS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29184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164592" cy="2834640"/>
          </a:xfrm>
          <a:prstGeom prst="roundRect">
            <a:avLst/>
          </a:prstGeom>
          <a:solidFill>
            <a:srgbClr val="5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4D3B"/>
                </a:solidFill>
                <a:latin typeface="Calibri"/>
              </a:rPr>
              <a:t>Confirm and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8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2B23"/>
                </a:solidFill>
                <a:latin typeface="Calibri"/>
              </a:rPr>
              <a:t>Camera with scale bar, the field guide for in-place species checks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sampling sequence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66928" cy="566928"/>
          </a:xfrm>
          <a:prstGeom prst="ellipse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6362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2704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B23"/>
                </a:solidFill>
                <a:latin typeface="Calibri"/>
              </a:rPr>
              <a:t>Arrive at least 60 minutes before predicted low tide. Confirm tide height against the NOAA Tacoma station.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258568"/>
            <a:ext cx="566928" cy="566928"/>
          </a:xfrm>
          <a:prstGeom prst="ellipse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76856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B23"/>
                </a:solidFill>
                <a:latin typeface="Calibri"/>
              </a:rPr>
              <a:t>Lay the transect perpendicular to the waterline, high to low zone. Record the start GPS.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08376"/>
            <a:ext cx="566928" cy="566928"/>
          </a:xfrm>
          <a:prstGeom prst="ellipse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26664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B23"/>
                </a:solidFill>
                <a:latin typeface="Calibri"/>
              </a:rPr>
              <a:t>Place quadrats at fixed 5 m intervals. Record water and air temperature at the transect start.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58184"/>
            <a:ext cx="566928" cy="566928"/>
          </a:xfrm>
          <a:prstGeom prst="ellipse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130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76472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B23"/>
                </a:solidFill>
                <a:latin typeface="Calibri"/>
              </a:rPr>
              <a:t>Count every mobile invertebrate, estimate percent cover of sessile taxa using the 25 grid points.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507992"/>
            <a:ext cx="566928" cy="566928"/>
          </a:xfrm>
          <a:prstGeom prst="ellipse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6285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2628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C2B23"/>
                </a:solidFill>
                <a:latin typeface="Calibri"/>
              </a:rPr>
              <a:t>Photograph each quadrat with the scale bar visible. Enter the data the same day.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Safety and the data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109728" cy="3200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9692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The tide is the boss. Watch the water, work the falling tide, leave on the turn.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CDE5D2"/>
                </a:solidFill>
                <a:latin typeface="Calibri"/>
              </a:rPr>
              <a:t>Flag any temperature reading outside 5 to 25 C for a re-check before you log it.</a:t>
            </a:r>
          </a:p>
          <a:p>
            <a:pPr algn="l">
              <a:spcAft>
                <a:spcPts val="1600"/>
              </a:spcAft>
            </a:pPr>
            <a:r>
              <a:rPr sz="2000" b="0" i="0">
                <a:solidFill>
                  <a:srgbClr val="CDE5D2"/>
                </a:solidFill>
                <a:latin typeface="Calibri"/>
              </a:rPr>
              <a:t>Raw counts export as tab-separated files to the shared lab drive. Never edit a raw file, corrections go in a separate log.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Rocky Intertidal Quadrat Sampling</dc:title>
  <dc:subject>Field methods training SOP CE-04</dc:subject>
  <dc:creator>Alex Santos</dc:creator>
  <cp:keywords/>
  <dc:description/>
  <cp:lastModifiedBy>Alex Santos</cp:lastModifiedBy>
  <cp:revision>1</cp:revision>
  <dcterms:created xsi:type="dcterms:W3CDTF">2013-01-27T09:14:16Z</dcterms:created>
  <dcterms:modified xsi:type="dcterms:W3CDTF">2013-01-27T09:15:58Z</dcterms:modified>
  <cp:category/>
</cp:coreProperties>
</file>