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Tuition</c:v>
                </c:pt>
              </c:strCache>
            </c:strRef>
          </c:tx>
          <c:spPr>
            <a:solidFill>
              <a:srgbClr val="2A6F74"/>
            </a:solidFill>
          </c:spPr>
          <c:cat>
            <c:strRef>
              <c:f>Sheet1!$A$2:$A$5</c:f>
              <c:strCache>
                <c:ptCount val="4"/>
                <c:pt idx="0">
                  <c:v>State U</c:v>
                </c:pt>
                <c:pt idx="1">
                  <c:v>Midwest</c:v>
                </c:pt>
                <c:pt idx="2">
                  <c:v>Great Lakes</c:v>
                </c:pt>
                <c:pt idx="3">
                  <c:v>Exec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28000</c:v>
                </c:pt>
                <c:pt idx="1">
                  <c:v>35000</c:v>
                </c:pt>
                <c:pt idx="2">
                  <c:v>24000</c:v>
                </c:pt>
                <c:pt idx="3">
                  <c:v>42000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20302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F716F"/>
            </a:solidFill>
          </a:ln>
        </c:spPr>
        <c:txPr>
          <a:bodyPr/>
          <a:lstStyle/>
          <a:p>
            <a:pPr>
              <a:defRPr sz="1100">
                <a:solidFill>
                  <a:srgbClr val="5F716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6F74"/>
                </a:solidFill>
                <a:latin typeface="Calibri"/>
              </a:rPr>
              <a:t>CAREER INVESTMENT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7078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20302F"/>
                </a:solidFill>
                <a:latin typeface="Cambria"/>
              </a:rPr>
              <a:t>The Case for an Analytics 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995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F716F"/>
                </a:solidFill>
                <a:latin typeface="Calibri"/>
              </a:rPr>
              <a:t>A structured look at four programs, the cost against the plan, and what sponsorship would unlock.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00040"/>
            <a:ext cx="4114800" cy="18288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5548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Prepared for the November 10, 2026 one on one with Tom Hadley, Director of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01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0302F"/>
                </a:solidFill>
                <a:latin typeface="Cambria"/>
              </a:rPr>
              <a:t>Scope is capped, the lever is a credential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00800" cy="4114800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8521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20302F"/>
                </a:solidFill>
                <a:latin typeface="Calibri"/>
              </a:rPr>
              <a:t>•  Nearly four years in the analyst seat with strong client outcomes.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0302F"/>
                </a:solidFill>
                <a:latin typeface="Calibri"/>
              </a:rPr>
              <a:t>•  The next step is scope and strategy, not another dashboard.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0302F"/>
                </a:solidFill>
                <a:latin typeface="Calibri"/>
              </a:rPr>
              <a:t>•  An analytics or strategy MBA is the clearest path to that conversation.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0302F"/>
                </a:solidFill>
                <a:latin typeface="Calibri"/>
              </a:rPr>
              <a:t>•  Full price tuition competes directly with the emergency fund goal.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0302F"/>
                </a:solidFill>
                <a:latin typeface="Calibri"/>
              </a:rPr>
              <a:t>•  The question is whether the firm shares the investment.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783080"/>
            <a:ext cx="4389120" cy="4114800"/>
          </a:xfrm>
          <a:prstGeom prst="roundRect">
            <a:avLst>
              <a:gd name="adj" fmla="val 6000"/>
            </a:avLst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03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E6E5"/>
                </a:solidFill>
                <a:latin typeface="Calibri"/>
              </a:rPr>
              <a:t>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1460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Under $35,000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6616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6E5"/>
                </a:solidFill>
                <a:latin typeface="Calibri"/>
              </a:rPr>
              <a:t>Target total cost, no loans, on a schedule that survives a full work week and the monthly Akron visits.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716F"/>
                </a:solidFill>
                <a:latin typeface="Calibri"/>
              </a:rPr>
              <a:t>Online MBA  |  Sponsorship Business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716F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02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0302F"/>
                </a:solidFill>
                <a:latin typeface="Cambria"/>
              </a:rPr>
              <a:t>Four programs,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64007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484"/>
                <a:gridCol w="1347536"/>
                <a:gridCol w="1122947"/>
                <a:gridCol w="1459831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Tuition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State University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$28,000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Midwest Business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$35,000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Great Lakes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$24,000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Executive Online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$42,000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783080"/>
            <a:ext cx="4389120" cy="4114800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9659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893C"/>
                </a:solidFill>
                <a:latin typeface="Calibri"/>
              </a:rPr>
              <a:t>Total tuition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69480" y="2331720"/>
          <a:ext cx="42976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716F"/>
                </a:solidFill>
                <a:latin typeface="Calibri"/>
              </a:rPr>
              <a:t>Online MBA  |  Sponsorship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716F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0302F"/>
                </a:solidFill>
                <a:latin typeface="Cambria"/>
              </a:rPr>
              <a:t>State University Online is the pick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E6E5"/>
                </a:solidFill>
                <a:latin typeface="Calibri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State University Online MBA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484632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20302F"/>
                </a:solidFill>
                <a:latin typeface="Calibri"/>
              </a:rPr>
              <a:t>•  $28,000 total, lowest cost of the online options.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0302F"/>
                </a:solidFill>
                <a:latin typeface="Calibri"/>
              </a:rPr>
              <a:t>•  Flexible, mostly asynchronous, fits the work week.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0302F"/>
                </a:solidFill>
                <a:latin typeface="Calibri"/>
              </a:rPr>
              <a:t>•  Strong Columbus metro alumni network for staying local.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0302F"/>
                </a:solidFill>
                <a:latin typeface="Calibri"/>
              </a:rPr>
              <a:t>•  Applications open October 2026, deadline December 1,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A3B46"/>
                </a:solidFill>
                <a:latin typeface="Calibri"/>
              </a:rPr>
              <a:t>Cost split under a 50 percent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02F"/>
                </a:solidFill>
                <a:latin typeface="Calibri"/>
              </a:rPr>
              <a:t>Employer sponsorship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5F716F"/>
                </a:solidFill>
                <a:latin typeface="Calibri"/>
              </a:rPr>
              <a:t>$14,000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743200"/>
            <a:ext cx="2514600" cy="201168"/>
          </a:xfrm>
          <a:prstGeom prst="roundRect">
            <a:avLst>
              <a:gd name="adj" fmla="val 6000"/>
            </a:avLst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735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02F"/>
                </a:solidFill>
                <a:latin typeface="Calibri"/>
              </a:rPr>
              <a:t>From travel and bonus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735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5F716F"/>
                </a:solidFill>
                <a:latin typeface="Calibri"/>
              </a:rPr>
              <a:t>$14,000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66160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3566160"/>
            <a:ext cx="2514600" cy="201168"/>
          </a:xfrm>
          <a:prstGeom prst="roundRect">
            <a:avLst>
              <a:gd name="adj" fmla="val 6000"/>
            </a:avLst>
          </a:prstGeom>
          <a:solidFill>
            <a:srgbClr val="B88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29768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716F"/>
                </a:solidFill>
                <a:latin typeface="Calibri"/>
              </a:rPr>
              <a:t>A half match brings the personal cost to about $583 a month over 24 months, which the surplus absorbs without touching the emergency fund.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716F"/>
                </a:solidFill>
                <a:latin typeface="Calibri"/>
              </a:rPr>
              <a:t>Online MBA  |  Sponsorship Business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716F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04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0302F"/>
                </a:solidFill>
                <a:latin typeface="Cambria"/>
              </a:rPr>
              <a:t>What the firm gets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" cy="1828800"/>
          </a:xfrm>
          <a:prstGeom prst="rect">
            <a:avLst/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6F74"/>
                </a:solidFill>
                <a:latin typeface="Cambria"/>
              </a:rPr>
              <a:t>3.6x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5F716F"/>
                </a:solidFill>
                <a:latin typeface="Calibri"/>
              </a:rPr>
              <a:t>efficiency gaps found in Q4 already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28800"/>
            <a:ext cx="109728" cy="182880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574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8A3B46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9260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5F716F"/>
                </a:solidFill>
                <a:latin typeface="Calibri"/>
              </a:rPr>
              <a:t>client accounts under active benchmarking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109728" cy="1828800"/>
          </a:xfrm>
          <a:prstGeom prst="rect">
            <a:avLst/>
          </a:prstGeom>
          <a:solidFill>
            <a:srgbClr val="B88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0574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B8893C"/>
                </a:solidFill>
                <a:latin typeface="Cambria"/>
              </a:rPr>
              <a:t>24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9260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5F716F"/>
                </a:solidFill>
                <a:latin typeface="Calibri"/>
              </a:rPr>
              <a:t>to a strategy credential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2A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E6E5"/>
                </a:solidFill>
                <a:latin typeface="Calibri"/>
              </a:rPr>
              <a:t>The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 retained analyst moving into strategy scope, applying the coursework directly to live client work, at half the market cost of hiring that skill set from outside.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716F"/>
                </a:solidFill>
                <a:latin typeface="Calibri"/>
              </a:rPr>
              <a:t>Online MBA  |  Sponsorship Business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716F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8A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716F"/>
                </a:solidFill>
                <a:latin typeface="Calibri"/>
              </a:rPr>
              <a:t>05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0302F"/>
                </a:solidFill>
                <a:latin typeface="Cambria"/>
              </a:rPr>
              <a:t>The ask, and the timeline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730137"/>
                <a:gridCol w="2299062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2A6F7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Confirm sponsorship appetite in the one on one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November 10, 2026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Tom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Submit application to State University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By December 1, 2026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Andrea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Formalize any match in writing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Before enrollment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Andrea, Tom</a:t>
                      </a:r>
                    </a:p>
                  </a:txBody>
                  <a:tcPr marL="73152" marR="73152" marT="27432" marB="27432">
                    <a:solidFill>
                      <a:srgbClr val="EEF2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0302F"/>
                          </a:solidFill>
                          <a:latin typeface="Calibri"/>
                        </a:rPr>
                        <a:t>Program start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January 2027 cohort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0302F"/>
                          </a:solidFill>
                          <a:latin typeface="Calibri"/>
                        </a:rPr>
                        <a:t>Andrea</a:t>
                      </a:r>
                    </a:p>
                  </a:txBody>
                  <a:tcPr marL="73152" marR="73152" marT="27432" marB="27432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3B46"/>
                </a:solidFill>
                <a:latin typeface="Calibri"/>
              </a:rPr>
              <a:t>The ask: a conversation about a partial tuition match for an analytics focused MBA that pays back into client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716F"/>
                </a:solidFill>
                <a:latin typeface="Calibri"/>
              </a:rPr>
              <a:t>Online MBA  |  Sponsorship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716F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