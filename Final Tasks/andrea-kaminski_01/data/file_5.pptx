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Cost per lead</c:v>
                </c:pt>
              </c:strCache>
            </c:strRef>
          </c:tx>
          <c:spPr>
            <a:solidFill>
              <a:srgbClr val="D97A5A"/>
            </a:solidFill>
          </c:spPr>
          <c:cat>
            <c:strRef>
              <c:f>Sheet1!$A$2:$A$5</c:f>
              <c:strCache>
                <c:ptCount val="4"/>
                <c:pt idx="0">
                  <c:v>Acct A</c:v>
                </c:pt>
                <c:pt idx="1">
                  <c:v>Acct B</c:v>
                </c:pt>
                <c:pt idx="2">
                  <c:v>Acct C</c:v>
                </c:pt>
                <c:pt idx="3">
                  <c:v>Acct 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48.1</c:v>
                </c:pt>
                <c:pt idx="1">
                  <c:v>72.4</c:v>
                </c:pt>
                <c:pt idx="2">
                  <c:v>19.9</c:v>
                </c:pt>
                <c:pt idx="3">
                  <c:v>55.3</c:v>
                </c:pt>
              </c:numCache>
            </c:numRef>
          </c:val>
        </c:ser>
        <c:dLbls>
          <c:numFmt formatCode="&quot;$&quot;0.00" sourceLinked="0"/>
          <c:txPr>
            <a:bodyPr/>
            <a:lstStyle/>
            <a:p>
              <a:pPr>
                <a:defRPr sz="1100" b="1">
                  <a:solidFill>
                    <a:srgbClr val="EAF1FB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90A3C0"/>
            </a:solidFill>
          </a:ln>
        </c:spPr>
        <c:txPr>
          <a:bodyPr/>
          <a:lstStyle/>
          <a:p>
            <a:pPr>
              <a:defRPr sz="1100">
                <a:solidFill>
                  <a:srgbClr val="90A3C0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CTR</c:v>
                </c:pt>
              </c:strCache>
            </c:strRef>
          </c:tx>
          <c:spPr>
            <a:solidFill>
              <a:srgbClr val="4F8FE0"/>
            </a:solidFill>
          </c:spPr>
          <c:cat>
            <c:strRef>
              <c:f>Sheet1!$A$2:$A$5</c:f>
              <c:strCache>
                <c:ptCount val="4"/>
                <c:pt idx="0">
                  <c:v>Acct A</c:v>
                </c:pt>
                <c:pt idx="1">
                  <c:v>Acct B</c:v>
                </c:pt>
                <c:pt idx="2">
                  <c:v>Acct C</c:v>
                </c:pt>
                <c:pt idx="3">
                  <c:v>Acct 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2.2</c:v>
                </c:pt>
                <c:pt idx="1">
                  <c:v>0.8</c:v>
                </c:pt>
                <c:pt idx="2">
                  <c:v>8.0</c:v>
                </c:pt>
                <c:pt idx="3">
                  <c:v>1.7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100" b="1">
                  <a:solidFill>
                    <a:srgbClr val="EAF1FB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90A3C0"/>
            </a:solidFill>
          </a:ln>
        </c:spPr>
        <c:txPr>
          <a:bodyPr/>
          <a:lstStyle/>
          <a:p>
            <a:pPr>
              <a:defRPr sz="1100">
                <a:solidFill>
                  <a:srgbClr val="90A3C0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spPr>
              <a:solidFill>
                <a:srgbClr val="4F8FE0"/>
              </a:solidFill>
            </c:spPr>
          </c:dPt>
          <c:dPt>
            <c:idx val="1"/>
            <c:spPr>
              <a:solidFill>
                <a:srgbClr val="57B98A"/>
              </a:solidFill>
            </c:spPr>
          </c:dPt>
          <c:dPt>
            <c:idx val="2"/>
            <c:spPr>
              <a:solidFill>
                <a:srgbClr val="9A7BD0"/>
              </a:solidFill>
            </c:spPr>
          </c:dPt>
          <c:dPt>
            <c:idx val="3"/>
            <c:spPr>
              <a:solidFill>
                <a:srgbClr val="D97A5A"/>
              </a:solidFill>
            </c:spPr>
          </c:dPt>
          <c:cat>
            <c:strRef>
              <c:f>Sheet1!$A$2:$A$5</c:f>
              <c:strCache>
                <c:ptCount val="4"/>
                <c:pt idx="0">
                  <c:v>Account A</c:v>
                </c:pt>
                <c:pt idx="1">
                  <c:v>Account D</c:v>
                </c:pt>
                <c:pt idx="2">
                  <c:v>Account C</c:v>
                </c:pt>
                <c:pt idx="3">
                  <c:v>Account B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312</c:v>
                </c:pt>
                <c:pt idx="1">
                  <c:v>256</c:v>
                </c:pt>
                <c:pt idx="2">
                  <c:v>228</c:v>
                </c:pt>
                <c:pt idx="3">
                  <c:v>141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100" b="1">
                  <a:solidFill>
                    <a:srgbClr val="FFFFFF"/>
                  </a:solidFill>
                  <a:latin typeface="Calibri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1100">
              <a:solidFill>
                <a:srgbClr val="EAF1FB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8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828800"/>
            <a:ext cx="822960" cy="822960"/>
          </a:xfrm>
          <a:prstGeom prst="roundRect">
            <a:avLst>
              <a:gd name="adj" fmla="val 6000"/>
            </a:avLst>
          </a:prstGeom>
          <a:solidFill>
            <a:srgbClr val="4F8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993392"/>
            <a:ext cx="640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803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F8FE0"/>
                </a:solidFill>
                <a:latin typeface="Calibri"/>
              </a:rPr>
              <a:t>B2B CAMPAIGN BENCHMARKING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EAF1FB"/>
                </a:solidFill>
                <a:latin typeface="Calibri"/>
              </a:rPr>
              <a:t>Q4 Benchmarking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70916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90A3C0"/>
                </a:solidFill>
                <a:latin typeface="Calibri"/>
              </a:rPr>
              <a:t>Four mid market accounts, read for one quarter, packaged as decisions the client can act 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5715000"/>
            <a:ext cx="4114800" cy="18288"/>
          </a:xfrm>
          <a:prstGeom prst="rect">
            <a:avLst/>
          </a:prstGeom>
          <a:solidFill>
            <a:srgbClr val="57B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8521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0A3C0"/>
                </a:solidFill>
                <a:latin typeface="Calibri"/>
              </a:rPr>
              <a:t>Owner: Andrea Kaminski, Marketing Analyst   |   Internal review Nov 10, 2026   |   Client due Nov 20,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46304" cy="868680"/>
          </a:xfrm>
          <a:prstGeom prst="rect">
            <a:avLst/>
          </a:prstGeom>
          <a:solidFill>
            <a:srgbClr val="4F8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0A3C0"/>
                </a:solidFill>
                <a:latin typeface="Calibri"/>
              </a:rPr>
              <a:t>01 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749808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EAF1FB"/>
                </a:solidFill>
                <a:latin typeface="Calibri"/>
              </a:rPr>
              <a:t>Spend is flat, efficiency is not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486400" cy="4206240"/>
          </a:xfrm>
          <a:prstGeom prst="roundRect">
            <a:avLst>
              <a:gd name="adj" fmla="val 6000"/>
            </a:avLst>
          </a:prstGeom>
          <a:solidFill>
            <a:srgbClr val="1B2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8FE0"/>
                </a:solidFill>
                <a:latin typeface="Calibri"/>
              </a:rPr>
              <a:t>The question from the 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68880"/>
            <a:ext cx="5029200" cy="3291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</a:pPr>
            <a:r>
              <a:rPr sz="1500">
                <a:solidFill>
                  <a:srgbClr val="EAF1FB"/>
                </a:solidFill>
                <a:latin typeface="Calibri"/>
              </a:rPr>
              <a:t>•  Four channels run in parallel with no shared efficiency view.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EAF1FB"/>
                </a:solidFill>
                <a:latin typeface="Calibri"/>
              </a:rPr>
              <a:t>•  Budget held flat into Q4, so growth has to come from mix, not more money.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EAF1FB"/>
                </a:solidFill>
                <a:latin typeface="Calibri"/>
              </a:rPr>
              <a:t>•  Cost per lead ranges from under $20 to over $70 with no agreed reason.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EAF1FB"/>
                </a:solidFill>
                <a:latin typeface="Calibri"/>
              </a:rPr>
              <a:t>•  Each account marketing lead wants a defensible next move, not a data export.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737360"/>
            <a:ext cx="5303520" cy="4206240"/>
          </a:xfrm>
          <a:prstGeom prst="roundRect">
            <a:avLst>
              <a:gd name="adj" fmla="val 6000"/>
            </a:avLst>
          </a:prstGeom>
          <a:solidFill>
            <a:srgbClr val="1B2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92024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0A94F"/>
                </a:solidFill>
                <a:latin typeface="Calibri"/>
              </a:rPr>
              <a:t>Cost per lead by account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55080" y="2377440"/>
          <a:ext cx="512064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0A3C0"/>
                </a:solidFill>
                <a:latin typeface="Calibri"/>
              </a:rPr>
              <a:t>Q4 Benchmarking Report  |  Crestline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644652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0A3C0"/>
                </a:solidFill>
                <a:latin typeface="Calibri"/>
              </a:rPr>
              <a:t>Andrea Kaminski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46304" cy="868680"/>
          </a:xfrm>
          <a:prstGeom prst="rect">
            <a:avLst/>
          </a:prstGeom>
          <a:solidFill>
            <a:srgbClr val="4F8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0A3C0"/>
                </a:solidFill>
                <a:latin typeface="Calibri"/>
              </a:rPr>
              <a:t>02 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749808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EAF1FB"/>
                </a:solidFill>
                <a:latin typeface="Calibri"/>
              </a:rPr>
              <a:t>Email is carrying the quarter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577840" cy="4206240"/>
          </a:xfrm>
          <a:prstGeom prst="roundRect">
            <a:avLst>
              <a:gd name="adj" fmla="val 6000"/>
            </a:avLst>
          </a:prstGeom>
          <a:solidFill>
            <a:srgbClr val="1B2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8FE0"/>
                </a:solidFill>
                <a:latin typeface="Calibri"/>
              </a:rPr>
              <a:t>Click through rate by account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2331720"/>
          <a:ext cx="539496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965960"/>
          <a:ext cx="52120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0190"/>
                <a:gridCol w="1520190"/>
                <a:gridCol w="977265"/>
                <a:gridCol w="1194435"/>
              </a:tblGrid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Account</a:t>
                      </a:r>
                    </a:p>
                  </a:txBody>
                  <a:tcPr marL="73152" marR="73152" marT="36576" marB="36576">
                    <a:solidFill>
                      <a:srgbClr val="4F8F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Channel</a:t>
                      </a:r>
                    </a:p>
                  </a:txBody>
                  <a:tcPr marL="73152" marR="73152" marT="36576" marB="36576">
                    <a:solidFill>
                      <a:srgbClr val="4F8FE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CTR</a:t>
                      </a:r>
                    </a:p>
                  </a:txBody>
                  <a:tcPr marL="73152" marR="73152" marT="36576" marB="36576">
                    <a:solidFill>
                      <a:srgbClr val="4F8FE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Cost/lead</a:t>
                      </a:r>
                    </a:p>
                  </a:txBody>
                  <a:tcPr marL="73152" marR="73152" marT="36576" marB="36576">
                    <a:solidFill>
                      <a:srgbClr val="4F8FE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EAF1FB"/>
                          </a:solidFill>
                          <a:latin typeface="Calibri"/>
                        </a:rPr>
                        <a:t>Account A</a:t>
                      </a:r>
                    </a:p>
                  </a:txBody>
                  <a:tcPr marL="73152" marR="73152" marT="27432" marB="27432">
                    <a:solidFill>
                      <a:srgbClr val="1B2C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EAF1FB"/>
                          </a:solidFill>
                          <a:latin typeface="Calibri"/>
                        </a:rPr>
                        <a:t>Paid search</a:t>
                      </a:r>
                    </a:p>
                  </a:txBody>
                  <a:tcPr marL="73152" marR="73152" marT="27432" marB="27432">
                    <a:solidFill>
                      <a:srgbClr val="1B2C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>
                          <a:solidFill>
                            <a:srgbClr val="EAF1FB"/>
                          </a:solidFill>
                          <a:latin typeface="Calibri"/>
                        </a:rPr>
                        <a:t>2.2%</a:t>
                      </a:r>
                    </a:p>
                  </a:txBody>
                  <a:tcPr marL="73152" marR="73152" marT="27432" marB="27432">
                    <a:solidFill>
                      <a:srgbClr val="1B2C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>
                          <a:solidFill>
                            <a:srgbClr val="EAF1FB"/>
                          </a:solidFill>
                          <a:latin typeface="Calibri"/>
                        </a:rPr>
                        <a:t>$48.10</a:t>
                      </a:r>
                    </a:p>
                  </a:txBody>
                  <a:tcPr marL="73152" marR="73152" marT="27432" marB="27432">
                    <a:solidFill>
                      <a:srgbClr val="1B2C44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EAF1FB"/>
                          </a:solidFill>
                          <a:latin typeface="Calibri"/>
                        </a:rPr>
                        <a:t>Account B</a:t>
                      </a:r>
                    </a:p>
                  </a:txBody>
                  <a:tcPr marL="73152" marR="73152" marT="27432" marB="27432"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EAF1FB"/>
                          </a:solidFill>
                          <a:latin typeface="Calibri"/>
                        </a:rPr>
                        <a:t>Display</a:t>
                      </a:r>
                    </a:p>
                  </a:txBody>
                  <a:tcPr marL="73152" marR="73152" marT="27432" marB="27432"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>
                          <a:solidFill>
                            <a:srgbClr val="EAF1FB"/>
                          </a:solidFill>
                          <a:latin typeface="Calibri"/>
                        </a:rPr>
                        <a:t>0.8%</a:t>
                      </a:r>
                    </a:p>
                  </a:txBody>
                  <a:tcPr marL="73152" marR="73152" marT="27432" marB="27432"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>
                          <a:solidFill>
                            <a:srgbClr val="EAF1FB"/>
                          </a:solidFill>
                          <a:latin typeface="Calibri"/>
                        </a:rPr>
                        <a:t>$72.40</a:t>
                      </a:r>
                    </a:p>
                  </a:txBody>
                  <a:tcPr marL="73152" marR="73152" marT="27432" marB="27432">
                    <a:solidFill>
                      <a:srgbClr val="0F1C2E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EAF1FB"/>
                          </a:solidFill>
                          <a:latin typeface="Calibri"/>
                        </a:rPr>
                        <a:t>Account C</a:t>
                      </a:r>
                    </a:p>
                  </a:txBody>
                  <a:tcPr marL="73152" marR="73152" marT="27432" marB="27432">
                    <a:solidFill>
                      <a:srgbClr val="1B2C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EAF1FB"/>
                          </a:solidFill>
                          <a:latin typeface="Calibri"/>
                        </a:rPr>
                        <a:t>Email</a:t>
                      </a:r>
                    </a:p>
                  </a:txBody>
                  <a:tcPr marL="73152" marR="73152" marT="27432" marB="27432">
                    <a:solidFill>
                      <a:srgbClr val="1B2C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>
                          <a:solidFill>
                            <a:srgbClr val="EAF1FB"/>
                          </a:solidFill>
                          <a:latin typeface="Calibri"/>
                        </a:rPr>
                        <a:t>8.0%</a:t>
                      </a:r>
                    </a:p>
                  </a:txBody>
                  <a:tcPr marL="73152" marR="73152" marT="27432" marB="27432">
                    <a:solidFill>
                      <a:srgbClr val="1B2C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>
                          <a:solidFill>
                            <a:srgbClr val="EAF1FB"/>
                          </a:solidFill>
                          <a:latin typeface="Calibri"/>
                        </a:rPr>
                        <a:t>$19.90</a:t>
                      </a:r>
                    </a:p>
                  </a:txBody>
                  <a:tcPr marL="73152" marR="73152" marT="27432" marB="27432">
                    <a:solidFill>
                      <a:srgbClr val="1B2C44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EAF1FB"/>
                          </a:solidFill>
                          <a:latin typeface="Calibri"/>
                        </a:rPr>
                        <a:t>Account D</a:t>
                      </a:r>
                    </a:p>
                  </a:txBody>
                  <a:tcPr marL="73152" marR="73152" marT="27432" marB="27432"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EAF1FB"/>
                          </a:solidFill>
                          <a:latin typeface="Calibri"/>
                        </a:rPr>
                        <a:t>Paid social</a:t>
                      </a:r>
                    </a:p>
                  </a:txBody>
                  <a:tcPr marL="73152" marR="73152" marT="27432" marB="27432"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>
                          <a:solidFill>
                            <a:srgbClr val="EAF1FB"/>
                          </a:solidFill>
                          <a:latin typeface="Calibri"/>
                        </a:rPr>
                        <a:t>1.7%</a:t>
                      </a:r>
                    </a:p>
                  </a:txBody>
                  <a:tcPr marL="73152" marR="73152" marT="27432" marB="27432"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>
                          <a:solidFill>
                            <a:srgbClr val="EAF1FB"/>
                          </a:solidFill>
                          <a:latin typeface="Calibri"/>
                        </a:rPr>
                        <a:t>$55.30</a:t>
                      </a:r>
                    </a:p>
                  </a:txBody>
                  <a:tcPr marL="73152" marR="73152" marT="27432" marB="27432">
                    <a:solidFill>
                      <a:srgbClr val="0F1C2E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0A3C0"/>
                </a:solidFill>
                <a:latin typeface="Calibri"/>
              </a:rPr>
              <a:t>Q4 Benchmarking Report  |  Crestline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644652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0A3C0"/>
                </a:solidFill>
                <a:latin typeface="Calibri"/>
              </a:rPr>
              <a:t>Andrea Kaminski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46304" cy="868680"/>
          </a:xfrm>
          <a:prstGeom prst="rect">
            <a:avLst/>
          </a:prstGeom>
          <a:solidFill>
            <a:srgbClr val="4F8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0A3C0"/>
                </a:solidFill>
                <a:latin typeface="Calibri"/>
              </a:rPr>
              <a:t>03 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749808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EAF1FB"/>
                </a:solidFill>
                <a:latin typeface="Calibri"/>
              </a:rPr>
              <a:t>Shift the mix, put display on a leash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611880" cy="2834640"/>
          </a:xfrm>
          <a:prstGeom prst="roundRect">
            <a:avLst>
              <a:gd name="adj" fmla="val 6000"/>
            </a:avLst>
          </a:prstGeom>
          <a:solidFill>
            <a:srgbClr val="1B2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3611880" cy="109728"/>
          </a:xfrm>
          <a:prstGeom prst="rect">
            <a:avLst/>
          </a:prstGeom>
          <a:solidFill>
            <a:srgbClr val="57B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EAF1FB"/>
                </a:solidFill>
                <a:latin typeface="Calibri"/>
              </a:rPr>
              <a:t>Scale email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32004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0A3C0"/>
                </a:solidFill>
                <a:latin typeface="Calibri"/>
              </a:rPr>
              <a:t>Account C returns leads at $19.90. Move incremental budget here first.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828800"/>
            <a:ext cx="3611880" cy="2834640"/>
          </a:xfrm>
          <a:prstGeom prst="roundRect">
            <a:avLst>
              <a:gd name="adj" fmla="val 6000"/>
            </a:avLst>
          </a:prstGeom>
          <a:solidFill>
            <a:srgbClr val="1B2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15968" y="1828800"/>
            <a:ext cx="3611880" cy="109728"/>
          </a:xfrm>
          <a:prstGeom prst="rect">
            <a:avLst/>
          </a:prstGeom>
          <a:solidFill>
            <a:srgbClr val="4F8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214884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EAF1FB"/>
                </a:solidFill>
                <a:latin typeface="Calibri"/>
              </a:rPr>
              <a:t>Hold search and social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697480"/>
            <a:ext cx="32004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0A3C0"/>
                </a:solidFill>
                <a:latin typeface="Calibri"/>
              </a:rPr>
              <a:t>Accounts A and D are steady. Protect the baseline, test creative.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1828800"/>
            <a:ext cx="3611880" cy="2834640"/>
          </a:xfrm>
          <a:prstGeom prst="roundRect">
            <a:avLst>
              <a:gd name="adj" fmla="val 6000"/>
            </a:avLst>
          </a:prstGeom>
          <a:solidFill>
            <a:srgbClr val="1B2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83296" y="1828800"/>
            <a:ext cx="3611880" cy="109728"/>
          </a:xfrm>
          <a:prstGeom prst="rect">
            <a:avLst/>
          </a:prstGeom>
          <a:solidFill>
            <a:srgbClr val="D9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1896" y="214884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EAF1FB"/>
                </a:solidFill>
                <a:latin typeface="Calibri"/>
              </a:rPr>
              <a:t>Trim display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6" y="2697480"/>
            <a:ext cx="32004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0A3C0"/>
                </a:solidFill>
                <a:latin typeface="Calibri"/>
              </a:rPr>
              <a:t>Account B at 0.8% and $72.40 gets a shorter leash and a 60 day review.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0A94F"/>
                </a:solidFill>
                <a:latin typeface="Calibri"/>
              </a:rPr>
              <a:t>Projected effect: blended cost per lead moves from $48.90 toward the low $40s within one quarter.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0A3C0"/>
                </a:solidFill>
                <a:latin typeface="Calibri"/>
              </a:rPr>
              <a:t>Q4 Benchmarking Report  |  Crestline Analytics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644652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0A3C0"/>
                </a:solidFill>
                <a:latin typeface="Calibri"/>
              </a:rPr>
              <a:t>Andrea Kaminski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46304" cy="868680"/>
          </a:xfrm>
          <a:prstGeom prst="rect">
            <a:avLst/>
          </a:prstGeom>
          <a:solidFill>
            <a:srgbClr val="4F8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0A3C0"/>
                </a:solidFill>
                <a:latin typeface="Calibri"/>
              </a:rPr>
              <a:t>04 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749808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EAF1FB"/>
                </a:solidFill>
                <a:latin typeface="Calibri"/>
              </a:rPr>
              <a:t>Where the 937 conversions came from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02920" y="1828800"/>
          <a:ext cx="548640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309360" y="182880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57B98A"/>
                </a:solidFill>
                <a:latin typeface="Calibri"/>
              </a:rPr>
              <a:t>Quarter totals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226771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AF1FB"/>
                </a:solidFill>
                <a:latin typeface="Calibri"/>
              </a:rPr>
              <a:t>Impressions delivered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226771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90A3C0"/>
                </a:solidFill>
                <a:latin typeface="Calibri"/>
              </a:rPr>
              <a:t>1.71M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2560320"/>
            <a:ext cx="5120640" cy="201168"/>
          </a:xfrm>
          <a:prstGeom prst="roundRect">
            <a:avLst>
              <a:gd name="adj" fmla="val 6000"/>
            </a:avLst>
          </a:prstGeom>
          <a:solidFill>
            <a:srgbClr val="1B2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55080" y="2560320"/>
            <a:ext cx="5120640" cy="201168"/>
          </a:xfrm>
          <a:prstGeom prst="roundRect">
            <a:avLst>
              <a:gd name="adj" fmla="val 6000"/>
            </a:avLst>
          </a:prstGeom>
          <a:solidFill>
            <a:srgbClr val="4F8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99923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AF1FB"/>
                </a:solidFill>
                <a:latin typeface="Calibri"/>
              </a:rPr>
              <a:t>Conversions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99923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90A3C0"/>
                </a:solidFill>
                <a:latin typeface="Calibri"/>
              </a:rPr>
              <a:t>937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3291840"/>
            <a:ext cx="5120640" cy="201168"/>
          </a:xfrm>
          <a:prstGeom prst="roundRect">
            <a:avLst>
              <a:gd name="adj" fmla="val 6000"/>
            </a:avLst>
          </a:prstGeom>
          <a:solidFill>
            <a:srgbClr val="1B2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3291840"/>
            <a:ext cx="3174796" cy="201168"/>
          </a:xfrm>
          <a:prstGeom prst="roundRect">
            <a:avLst>
              <a:gd name="adj" fmla="val 6000"/>
            </a:avLst>
          </a:prstGeom>
          <a:solidFill>
            <a:srgbClr val="57B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7307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AF1FB"/>
                </a:solidFill>
                <a:latin typeface="Calibri"/>
              </a:rPr>
              <a:t>Email share of leads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7307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90A3C0"/>
                </a:solidFill>
                <a:latin typeface="Calibri"/>
              </a:rPr>
              <a:t>24%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4023360"/>
            <a:ext cx="5120640" cy="201168"/>
          </a:xfrm>
          <a:prstGeom prst="roundRect">
            <a:avLst>
              <a:gd name="adj" fmla="val 6000"/>
            </a:avLst>
          </a:prstGeom>
          <a:solidFill>
            <a:srgbClr val="1B2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55080" y="4023360"/>
            <a:ext cx="1228953" cy="201168"/>
          </a:xfrm>
          <a:prstGeom prst="roundRect">
            <a:avLst>
              <a:gd name="adj" fmla="val 6000"/>
            </a:avLst>
          </a:prstGeom>
          <a:solidFill>
            <a:srgbClr val="9A7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446227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AF1FB"/>
                </a:solidFill>
                <a:latin typeface="Calibri"/>
              </a:rPr>
              <a:t>Cost per lead improvement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46227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90A3C0"/>
                </a:solidFill>
                <a:latin typeface="Calibri"/>
              </a:rPr>
              <a:t>4.1%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4754880"/>
            <a:ext cx="5120640" cy="201168"/>
          </a:xfrm>
          <a:prstGeom prst="roundRect">
            <a:avLst>
              <a:gd name="adj" fmla="val 6000"/>
            </a:avLst>
          </a:prstGeom>
          <a:solidFill>
            <a:srgbClr val="1B2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55080" y="4754880"/>
            <a:ext cx="2099462" cy="201168"/>
          </a:xfrm>
          <a:prstGeom prst="roundRect">
            <a:avLst>
              <a:gd name="adj" fmla="val 6000"/>
            </a:avLst>
          </a:prstGeom>
          <a:solidFill>
            <a:srgbClr val="E0A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0A3C0"/>
                </a:solidFill>
                <a:latin typeface="Calibri"/>
              </a:rPr>
              <a:t>Q4 Benchmarking Report  |  Crestline Analytics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644652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0A3C0"/>
                </a:solidFill>
                <a:latin typeface="Calibri"/>
              </a:rPr>
              <a:t>Andrea Kaminski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46304" cy="868680"/>
          </a:xfrm>
          <a:prstGeom prst="rect">
            <a:avLst/>
          </a:prstGeom>
          <a:solidFill>
            <a:srgbClr val="4F8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0A3C0"/>
                </a:solidFill>
                <a:latin typeface="Calibri"/>
              </a:rPr>
              <a:t>05 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749808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EAF1FB"/>
                </a:solidFill>
                <a:latin typeface="Calibri"/>
              </a:rPr>
              <a:t>From draft to client delivery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74519"/>
          <a:ext cx="11064238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44248"/>
                <a:gridCol w="2322124"/>
                <a:gridCol w="2322124"/>
                <a:gridCol w="1775742"/>
              </a:tblGrid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Milestone</a:t>
                      </a:r>
                    </a:p>
                  </a:txBody>
                  <a:tcPr marL="73152" marR="73152" marT="36576" marB="36576">
                    <a:solidFill>
                      <a:srgbClr val="4F8F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73152" marR="73152" marT="36576" marB="36576">
                    <a:solidFill>
                      <a:srgbClr val="4F8F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 marL="73152" marR="73152" marT="36576" marB="36576">
                    <a:solidFill>
                      <a:srgbClr val="4F8F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36576" marB="36576">
                    <a:solidFill>
                      <a:srgbClr val="4F8FE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EAF1FB"/>
                          </a:solidFill>
                          <a:latin typeface="Calibri"/>
                        </a:rPr>
                        <a:t>Draft dashboards and benchmarks</a:t>
                      </a:r>
                    </a:p>
                  </a:txBody>
                  <a:tcPr marL="73152" marR="73152" marT="27432" marB="27432">
                    <a:solidFill>
                      <a:srgbClr val="1B2C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EAF1FB"/>
                          </a:solidFill>
                          <a:latin typeface="Calibri"/>
                        </a:rPr>
                        <a:t>Andrea</a:t>
                      </a:r>
                    </a:p>
                  </a:txBody>
                  <a:tcPr marL="73152" marR="73152" marT="27432" marB="27432">
                    <a:solidFill>
                      <a:srgbClr val="1B2C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EAF1FB"/>
                          </a:solidFill>
                          <a:latin typeface="Calibri"/>
                        </a:rPr>
                        <a:t>October 2026</a:t>
                      </a:r>
                    </a:p>
                  </a:txBody>
                  <a:tcPr marL="73152" marR="73152" marT="27432" marB="27432">
                    <a:solidFill>
                      <a:srgbClr val="1B2C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EAF1FB"/>
                          </a:solidFill>
                          <a:latin typeface="Calibri"/>
                        </a:rPr>
                        <a:t>Complete</a:t>
                      </a:r>
                    </a:p>
                  </a:txBody>
                  <a:tcPr marL="73152" marR="73152" marT="27432" marB="27432">
                    <a:solidFill>
                      <a:srgbClr val="1B2C4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EAF1FB"/>
                          </a:solidFill>
                          <a:latin typeface="Calibri"/>
                        </a:rPr>
                        <a:t>Internal review with Tom Hadley</a:t>
                      </a:r>
                    </a:p>
                  </a:txBody>
                  <a:tcPr marL="73152" marR="73152" marT="27432" marB="27432"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EAF1FB"/>
                          </a:solidFill>
                          <a:latin typeface="Calibri"/>
                        </a:rPr>
                        <a:t>Andrea, Tom</a:t>
                      </a:r>
                    </a:p>
                  </a:txBody>
                  <a:tcPr marL="73152" marR="73152" marT="27432" marB="27432"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EAF1FB"/>
                          </a:solidFill>
                          <a:latin typeface="Calibri"/>
                        </a:rPr>
                        <a:t>November 10, 2026</a:t>
                      </a:r>
                    </a:p>
                  </a:txBody>
                  <a:tcPr marL="73152" marR="73152" marT="27432" marB="27432"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EAF1FB"/>
                          </a:solidFill>
                          <a:latin typeface="Calibri"/>
                        </a:rPr>
                        <a:t>Scheduled</a:t>
                      </a:r>
                    </a:p>
                  </a:txBody>
                  <a:tcPr marL="73152" marR="73152" marT="27432" marB="27432">
                    <a:solidFill>
                      <a:srgbClr val="0F1C2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EAF1FB"/>
                          </a:solidFill>
                          <a:latin typeface="Calibri"/>
                        </a:rPr>
                        <a:t>Client deck, one per account</a:t>
                      </a:r>
                    </a:p>
                  </a:txBody>
                  <a:tcPr marL="73152" marR="73152" marT="27432" marB="27432">
                    <a:solidFill>
                      <a:srgbClr val="1B2C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EAF1FB"/>
                          </a:solidFill>
                          <a:latin typeface="Calibri"/>
                        </a:rPr>
                        <a:t>Andrea, Marcus</a:t>
                      </a:r>
                    </a:p>
                  </a:txBody>
                  <a:tcPr marL="73152" marR="73152" marT="27432" marB="27432">
                    <a:solidFill>
                      <a:srgbClr val="1B2C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EAF1FB"/>
                          </a:solidFill>
                          <a:latin typeface="Calibri"/>
                        </a:rPr>
                        <a:t>November 17, 2026</a:t>
                      </a:r>
                    </a:p>
                  </a:txBody>
                  <a:tcPr marL="73152" marR="73152" marT="27432" marB="27432">
                    <a:solidFill>
                      <a:srgbClr val="1B2C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EAF1FB"/>
                          </a:solidFill>
                          <a:latin typeface="Calibri"/>
                        </a:rPr>
                        <a:t>In progress</a:t>
                      </a:r>
                    </a:p>
                  </a:txBody>
                  <a:tcPr marL="73152" marR="73152" marT="27432" marB="27432">
                    <a:solidFill>
                      <a:srgbClr val="1B2C4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EAF1FB"/>
                          </a:solidFill>
                          <a:latin typeface="Calibri"/>
                        </a:rPr>
                        <a:t>Client deliverable due</a:t>
                      </a:r>
                    </a:p>
                  </a:txBody>
                  <a:tcPr marL="73152" marR="73152" marT="27432" marB="27432"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EAF1FB"/>
                          </a:solidFill>
                          <a:latin typeface="Calibri"/>
                        </a:rPr>
                        <a:t>Team</a:t>
                      </a:r>
                    </a:p>
                  </a:txBody>
                  <a:tcPr marL="73152" marR="73152" marT="27432" marB="27432"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EAF1FB"/>
                          </a:solidFill>
                          <a:latin typeface="Calibri"/>
                        </a:rPr>
                        <a:t>November 20, 2026</a:t>
                      </a:r>
                    </a:p>
                  </a:txBody>
                  <a:tcPr marL="73152" marR="73152" marT="27432" marB="27432"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EAF1FB"/>
                          </a:solidFill>
                          <a:latin typeface="Calibri"/>
                        </a:rPr>
                        <a:t>Hard deadline</a:t>
                      </a:r>
                    </a:p>
                  </a:txBody>
                  <a:tcPr marL="73152" marR="73152" marT="27432" marB="27432">
                    <a:solidFill>
                      <a:srgbClr val="0F1C2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57B98A"/>
                </a:solidFill>
                <a:latin typeface="Calibri"/>
              </a:rPr>
              <a:t>Open item to raise at the November 10 review: analytics focused MBA sponsorship.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0A3C0"/>
                </a:solidFill>
                <a:latin typeface="Calibri"/>
              </a:rPr>
              <a:t>Q4 Benchmarking Report  |  Crestline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4652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0A3C0"/>
                </a:solidFill>
                <a:latin typeface="Calibri"/>
              </a:rPr>
              <a:t>Andrea Kaminski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