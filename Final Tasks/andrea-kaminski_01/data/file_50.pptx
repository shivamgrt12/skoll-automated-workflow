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5F9B78"/>
              </a:solidFill>
            </c:spPr>
          </c:dPt>
          <c:dPt>
            <c:idx val="1"/>
            <c:spPr>
              <a:solidFill>
                <a:srgbClr val="C8933A"/>
              </a:solidFill>
            </c:spPr>
          </c:dPt>
          <c:dPt>
            <c:idx val="2"/>
            <c:spPr>
              <a:solidFill>
                <a:srgbClr val="7A8FB0"/>
              </a:solidFill>
            </c:spPr>
          </c:dPt>
          <c:dPt>
            <c:idx val="3"/>
            <c:spPr>
              <a:solidFill>
                <a:srgbClr val="B06A4F"/>
              </a:solidFill>
            </c:spPr>
          </c:dPt>
          <c:dPt>
            <c:idx val="4"/>
            <c:spPr>
              <a:solidFill>
                <a:srgbClr val="B06A4F"/>
              </a:solidFill>
            </c:spPr>
          </c:dPt>
          <c:cat>
            <c:strRef>
              <c:f>Sheet1!$A$2:$A$6</c:f>
              <c:strCache>
                <c:ptCount val="5"/>
                <c:pt idx="0">
                  <c:v>Rent</c:v>
                </c:pt>
                <c:pt idx="1">
                  <c:v>Health ins</c:v>
                </c:pt>
                <c:pt idx="2">
                  <c:v>Car and gas</c:v>
                </c:pt>
                <c:pt idx="3">
                  <c:v>Food</c:v>
                </c:pt>
                <c:pt idx="4">
                  <c:v>Everything else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1285</c:v>
                </c:pt>
                <c:pt idx="1">
                  <c:v>360</c:v>
                </c:pt>
                <c:pt idx="2">
                  <c:v>420</c:v>
                </c:pt>
                <c:pt idx="3">
                  <c:v>420</c:v>
                </c:pt>
                <c:pt idx="4">
                  <c:v>506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>
              <a:solidFill>
                <a:srgbClr val="E9F1EA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solidFill>
              <a:srgbClr val="5F9B78"/>
            </a:solidFill>
          </c:spPr>
          <c:cat>
            <c:strRef>
              <c:f>Sheet1!$A$2:$A$6</c:f>
              <c:strCache>
                <c:ptCount val="5"/>
                <c:pt idx="0">
                  <c:v>Savings</c:v>
                </c:pt>
                <c:pt idx="1">
                  <c:v>401k</c:v>
                </c:pt>
                <c:pt idx="2">
                  <c:v>Car</c:v>
                </c:pt>
                <c:pt idx="3">
                  <c:v>Auto loan</c:v>
                </c:pt>
                <c:pt idx="4">
                  <c:v>Net worth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14500</c:v>
                </c:pt>
                <c:pt idx="1">
                  <c:v>28140</c:v>
                </c:pt>
                <c:pt idx="2">
                  <c:v>23000</c:v>
                </c:pt>
                <c:pt idx="3">
                  <c:v>-18400</c:v>
                </c:pt>
                <c:pt idx="4">
                  <c:v>47240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100" b="1">
                  <a:solidFill>
                    <a:srgbClr val="E9F1E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3AB9D"/>
            </a:solidFill>
          </a:ln>
        </c:spPr>
        <c:txPr>
          <a:bodyPr/>
          <a:lstStyle/>
          <a:p>
            <a:pPr>
              <a:defRPr sz="1100">
                <a:solidFill>
                  <a:srgbClr val="93AB9D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F9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822960" cy="822960"/>
          </a:xfrm>
          <a:prstGeom prst="roundRect">
            <a:avLst>
              <a:gd name="adj" fmla="val 6000"/>
            </a:avLst>
          </a:prstGeom>
          <a:solidFill>
            <a:srgbClr val="5F9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F9B78"/>
                </a:solidFill>
                <a:latin typeface="Calibri"/>
              </a:rPr>
              <a:t>POST DIVORCE FINANCIAL 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E9F1EA"/>
                </a:solidFill>
                <a:latin typeface="Calibri"/>
              </a:rPr>
              <a:t>One Household, One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091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93AB9D"/>
                </a:solidFill>
                <a:latin typeface="Calibri"/>
              </a:rPr>
              <a:t>Rebuilding the budget, the cushion, and net worth on a single set of rules that answer only to 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715000"/>
            <a:ext cx="4114800" cy="18288"/>
          </a:xfrm>
          <a:prstGeom prst="rect">
            <a:avLst/>
          </a:prstGeom>
          <a:solidFill>
            <a:srgbClr val="C89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3AB9D"/>
                </a:solidFill>
                <a:latin typeface="Calibri"/>
              </a:rPr>
              <a:t>Personal planning deck   |   Figures reconcile to the January 2026 statements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5F9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3AB9D"/>
                </a:solidFill>
                <a:latin typeface="Calibri"/>
              </a:rPr>
              <a:t>01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9F1EA"/>
                </a:solidFill>
                <a:latin typeface="Calibri"/>
              </a:rPr>
              <a:t>Starting over on my own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1F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50292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</a:pPr>
            <a:r>
              <a:rPr sz="1550">
                <a:solidFill>
                  <a:srgbClr val="E9F1EA"/>
                </a:solidFill>
                <a:latin typeface="Calibri"/>
              </a:rPr>
              <a:t>•  The divorce closed clean: no alimony, no shared debt, no shared property.</a:t>
            </a:r>
          </a:p>
          <a:p>
            <a:pPr>
              <a:spcAft>
                <a:spcPts val="1300"/>
              </a:spcAft>
            </a:pPr>
            <a:r>
              <a:rPr sz="1550">
                <a:solidFill>
                  <a:srgbClr val="E9F1EA"/>
                </a:solidFill>
                <a:latin typeface="Calibri"/>
              </a:rPr>
              <a:t>•  Savings and retirement stayed with me, but so did every fixed cost alone.</a:t>
            </a:r>
          </a:p>
          <a:p>
            <a:pPr>
              <a:spcAft>
                <a:spcPts val="1300"/>
              </a:spcAft>
            </a:pPr>
            <a:r>
              <a:rPr sz="1550">
                <a:solidFill>
                  <a:srgbClr val="E9F1EA"/>
                </a:solidFill>
                <a:latin typeface="Calibri"/>
              </a:rPr>
              <a:t>•  One income now covers rent, car, insurance, and the fund goal.</a:t>
            </a:r>
          </a:p>
          <a:p>
            <a:pPr>
              <a:spcAft>
                <a:spcPts val="1300"/>
              </a:spcAft>
            </a:pPr>
            <a:r>
              <a:rPr sz="1550">
                <a:solidFill>
                  <a:srgbClr val="E9F1EA"/>
                </a:solidFill>
                <a:latin typeface="Calibri"/>
              </a:rPr>
              <a:t>•  The cushion is thinner than I want if a single month goes sideways.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C89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57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3E7CF"/>
                </a:solidFill>
                <a:latin typeface="Calibri"/>
              </a:rPr>
              <a:t>The gap to close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1460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$5,500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3E7CF"/>
                </a:solidFill>
                <a:latin typeface="Calibri"/>
              </a:rPr>
              <a:t>Between the January balance of $14,500 and the $20,000 emergency fund target for December 31,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3AB9D"/>
                </a:solidFill>
                <a:latin typeface="Calibri"/>
              </a:rPr>
              <a:t>2026 Money Roadmap  |  Personal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3AB9D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5F9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3AB9D"/>
                </a:solidFill>
                <a:latin typeface="Calibri"/>
              </a:rPr>
              <a:t>02 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9F1EA"/>
                </a:solidFill>
                <a:latin typeface="Calibri"/>
              </a:rPr>
              <a:t>Where every dollar goes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783080"/>
          <a:ext cx="56692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933A"/>
                </a:solidFill>
                <a:latin typeface="Calibri"/>
              </a:rPr>
              <a:t>Monthly,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286000"/>
          <a:ext cx="52120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7852"/>
                <a:gridCol w="1824228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marL="73152" marR="73152" marT="36576" marB="36576">
                    <a:solidFill>
                      <a:srgbClr val="5F9B7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73152" marR="73152" marT="36576" marB="36576">
                    <a:solidFill>
                      <a:srgbClr val="5F9B7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9F1EA"/>
                          </a:solidFill>
                          <a:latin typeface="Calibri"/>
                        </a:rPr>
                        <a:t>Take home pay</a:t>
                      </a:r>
                    </a:p>
                  </a:txBody>
                  <a:tcPr marL="73152" marR="73152" marT="27432" marB="27432">
                    <a:solidFill>
                      <a:srgbClr val="1F2E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E9F1EA"/>
                          </a:solidFill>
                          <a:latin typeface="Calibri"/>
                        </a:rPr>
                        <a:t>$4,250</a:t>
                      </a:r>
                    </a:p>
                  </a:txBody>
                  <a:tcPr marL="73152" marR="73152" marT="27432" marB="27432">
                    <a:solidFill>
                      <a:srgbClr val="1F2E2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9F1EA"/>
                          </a:solidFill>
                          <a:latin typeface="Calibri"/>
                        </a:rPr>
                        <a:t>Total expenses</a:t>
                      </a:r>
                    </a:p>
                  </a:txBody>
                  <a:tcPr marL="73152" marR="73152" marT="27432" marB="27432"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E9F1EA"/>
                          </a:solidFill>
                          <a:latin typeface="Calibri"/>
                        </a:rPr>
                        <a:t>$2,991</a:t>
                      </a:r>
                    </a:p>
                  </a:txBody>
                  <a:tcPr marL="73152" marR="73152" marT="27432" marB="27432">
                    <a:solidFill>
                      <a:srgbClr val="14201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9F1EA"/>
                          </a:solidFill>
                          <a:latin typeface="Calibri"/>
                        </a:rPr>
                        <a:t>Surplus</a:t>
                      </a:r>
                    </a:p>
                  </a:txBody>
                  <a:tcPr marL="73152" marR="73152" marT="27432" marB="27432">
                    <a:solidFill>
                      <a:srgbClr val="1F2E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E9F1EA"/>
                          </a:solidFill>
                          <a:latin typeface="Calibri"/>
                        </a:rPr>
                        <a:t>$1,259</a:t>
                      </a:r>
                    </a:p>
                  </a:txBody>
                  <a:tcPr marL="73152" marR="73152" marT="27432" marB="27432">
                    <a:solidFill>
                      <a:srgbClr val="1F2E2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9F1EA"/>
                          </a:solidFill>
                          <a:latin typeface="Calibri"/>
                        </a:rPr>
                        <a:t>To emergency fund</a:t>
                      </a:r>
                    </a:p>
                  </a:txBody>
                  <a:tcPr marL="73152" marR="73152" marT="27432" marB="27432">
                    <a:solidFill>
                      <a:srgbClr val="1420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>
                          <a:solidFill>
                            <a:srgbClr val="E9F1EA"/>
                          </a:solidFill>
                          <a:latin typeface="Calibri"/>
                        </a:rPr>
                        <a:t>$786</a:t>
                      </a:r>
                    </a:p>
                  </a:txBody>
                  <a:tcPr marL="73152" marR="73152" marT="27432" marB="27432">
                    <a:solidFill>
                      <a:srgbClr val="14201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3AB9D"/>
                </a:solidFill>
                <a:latin typeface="Calibri"/>
              </a:rPr>
              <a:t>2026 Money Roadmap  |  Personal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3AB9D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5F9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3AB9D"/>
                </a:solidFill>
                <a:latin typeface="Calibri"/>
              </a:rPr>
              <a:t>03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9F1EA"/>
                </a:solidFill>
                <a:latin typeface="Calibri"/>
              </a:rPr>
              <a:t>$786 a month, automatic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F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F9B78"/>
                </a:solidFill>
                <a:latin typeface="Calibri"/>
              </a:rPr>
              <a:t>The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9F1EA"/>
                </a:solidFill>
                <a:latin typeface="Calibri"/>
              </a:rPr>
              <a:t>Transfer $786 to the Buckeye savings account on the first of each month, before anything discretionary moves. The surplus covers it with room to spare.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933A"/>
                </a:solidFill>
                <a:latin typeface="Calibri"/>
              </a:rPr>
              <a:t>Emergency fund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2219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9F1EA"/>
                </a:solidFill>
                <a:latin typeface="Calibri"/>
              </a:rPr>
              <a:t>Oct 2025  -&gt;  $12,400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114800"/>
            <a:ext cx="10881360" cy="201168"/>
          </a:xfrm>
          <a:prstGeom prst="roundRect">
            <a:avLst>
              <a:gd name="adj" fmla="val 6000"/>
            </a:avLst>
          </a:prstGeom>
          <a:solidFill>
            <a:srgbClr val="1F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4114800"/>
            <a:ext cx="6746443" cy="201168"/>
          </a:xfrm>
          <a:prstGeom prst="roundRect">
            <a:avLst>
              <a:gd name="adj" fmla="val 6000"/>
            </a:avLst>
          </a:prstGeom>
          <a:solidFill>
            <a:srgbClr val="8AA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46227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9F1EA"/>
                </a:solidFill>
                <a:latin typeface="Calibri"/>
              </a:rPr>
              <a:t>Jan 2026  -&gt;  $14,500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754880"/>
            <a:ext cx="10881360" cy="201168"/>
          </a:xfrm>
          <a:prstGeom prst="roundRect">
            <a:avLst>
              <a:gd name="adj" fmla="val 6000"/>
            </a:avLst>
          </a:prstGeom>
          <a:solidFill>
            <a:srgbClr val="1F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4754880"/>
            <a:ext cx="7888986" cy="201168"/>
          </a:xfrm>
          <a:prstGeom prst="roundRect">
            <a:avLst>
              <a:gd name="adj" fmla="val 6000"/>
            </a:avLst>
          </a:prstGeom>
          <a:solidFill>
            <a:srgbClr val="5F9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10235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9F1EA"/>
                </a:solidFill>
                <a:latin typeface="Calibri"/>
              </a:rPr>
              <a:t>Target Dec 2026  -&gt;  $20,000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02352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93AB9D"/>
                </a:solidFill>
                <a:latin typeface="Calibri"/>
              </a:rPr>
              <a:t>Goal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394960"/>
            <a:ext cx="10881360" cy="201168"/>
          </a:xfrm>
          <a:prstGeom prst="roundRect">
            <a:avLst>
              <a:gd name="adj" fmla="val 6000"/>
            </a:avLst>
          </a:prstGeom>
          <a:solidFill>
            <a:srgbClr val="1F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5394960"/>
            <a:ext cx="10881360" cy="201168"/>
          </a:xfrm>
          <a:prstGeom prst="roundRect">
            <a:avLst>
              <a:gd name="adj" fmla="val 6000"/>
            </a:avLst>
          </a:prstGeom>
          <a:solidFill>
            <a:srgbClr val="C89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3AB9D"/>
                </a:solidFill>
                <a:latin typeface="Calibri"/>
              </a:rPr>
              <a:t>2026 Money Roadmap  |  Personal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3AB9D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5F9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3AB9D"/>
                </a:solidFill>
                <a:latin typeface="Calibri"/>
              </a:rPr>
              <a:t>04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9F1EA"/>
                </a:solidFill>
                <a:latin typeface="Calibri"/>
              </a:rPr>
              <a:t>Net worth is climbing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28800"/>
          <a:ext cx="65836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06640" y="1828800"/>
            <a:ext cx="4206240" cy="3931920"/>
          </a:xfrm>
          <a:prstGeom prst="roundRect">
            <a:avLst>
              <a:gd name="adj" fmla="val 6000"/>
            </a:avLst>
          </a:prstGeom>
          <a:solidFill>
            <a:srgbClr val="1F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205740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933A"/>
                </a:solidFill>
                <a:latin typeface="Calibri"/>
              </a:rPr>
              <a:t>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6032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3AB9D"/>
                </a:solidFill>
                <a:latin typeface="Calibri"/>
              </a:rPr>
              <a:t>Liquid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5292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9F1EA"/>
                </a:solidFill>
                <a:latin typeface="Calibri"/>
              </a:rPr>
              <a:t>$14,500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33756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3AB9D"/>
                </a:solidFill>
                <a:latin typeface="Calibri"/>
              </a:rPr>
              <a:t>Retirement 401k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63016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9F1EA"/>
                </a:solidFill>
                <a:latin typeface="Calibri"/>
              </a:rPr>
              <a:t>$28,140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11480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3AB9D"/>
                </a:solidFill>
                <a:latin typeface="Calibri"/>
              </a:rPr>
              <a:t>Credit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40740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9F1EA"/>
                </a:solidFill>
                <a:latin typeface="Calibri"/>
              </a:rPr>
              <a:t>755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89204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3AB9D"/>
                </a:solidFill>
                <a:latin typeface="Calibri"/>
              </a:rPr>
              <a:t>Net worth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518464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9F1EA"/>
                </a:solidFill>
                <a:latin typeface="Calibri"/>
              </a:rPr>
              <a:t>$47,240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3AB9D"/>
                </a:solidFill>
                <a:latin typeface="Calibri"/>
              </a:rPr>
              <a:t>2026 Money Roadmap  |  Personal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3AB9D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46304" cy="868680"/>
          </a:xfrm>
          <a:prstGeom prst="rect">
            <a:avLst/>
          </a:prstGeom>
          <a:solidFill>
            <a:srgbClr val="5F9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3AB9D"/>
                </a:solidFill>
                <a:latin typeface="Calibri"/>
              </a:rPr>
              <a:t>05 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4980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9F1EA"/>
                </a:solidFill>
                <a:latin typeface="Calibri"/>
              </a:rPr>
              <a:t>The rest of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1F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28016" cy="1143000"/>
          </a:xfrm>
          <a:prstGeom prst="rect">
            <a:avLst/>
          </a:prstGeom>
          <a:solidFill>
            <a:srgbClr val="5F9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9F1EA"/>
                </a:solidFill>
                <a:latin typeface="Calibri"/>
              </a:rPr>
              <a:t>Bind renters insurance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3AB9D"/>
                </a:solidFill>
                <a:latin typeface="Calibri"/>
              </a:rPr>
              <a:t>Lemonade at $12 a month, $30,000 coverage. Pull the trigger this month.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1F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128016" cy="1143000"/>
          </a:xfrm>
          <a:prstGeom prst="rect">
            <a:avLst/>
          </a:prstGeom>
          <a:solidFill>
            <a:srgbClr val="C89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1927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9F1EA"/>
                </a:solidFill>
                <a:latin typeface="Calibri"/>
              </a:rPr>
              <a:t>Hold the fund 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7647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3AB9D"/>
                </a:solidFill>
                <a:latin typeface="Calibri"/>
              </a:rPr>
              <a:t>$786 a month, hit $20,000 by December 31, 2026.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11064240" cy="1143000"/>
          </a:xfrm>
          <a:prstGeom prst="roundRect">
            <a:avLst>
              <a:gd name="adj" fmla="val 6000"/>
            </a:avLst>
          </a:prstGeom>
          <a:solidFill>
            <a:srgbClr val="1F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480560"/>
            <a:ext cx="128016" cy="1143000"/>
          </a:xfrm>
          <a:prstGeom prst="rect">
            <a:avLst/>
          </a:prstGeom>
          <a:solidFill>
            <a:srgbClr val="7A8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4515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9F1EA"/>
                </a:solidFill>
                <a:latin typeface="Calibri"/>
              </a:rPr>
              <a:t>Research the 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0235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3AB9D"/>
                </a:solidFill>
                <a:latin typeface="Calibri"/>
              </a:rPr>
              <a:t>Keep comparing Columbus metro neighborhoods for a purchase in 18 to 24 months.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3AB9D"/>
                </a:solidFill>
                <a:latin typeface="Calibri"/>
              </a:rPr>
              <a:t>2026 Money Roadmap  |  Personal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6446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3AB9D"/>
                </a:solidFill>
                <a:latin typeface="Calibri"/>
              </a:rPr>
              <a:t>Andrea Kaminski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