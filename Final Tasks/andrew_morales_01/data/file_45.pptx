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</c:v>
                </c:pt>
              </c:strCache>
            </c:strRef>
          </c:tx>
          <c:dPt>
            <c:idx val="0"/>
            <c:spPr>
              <a:solidFill>
                <a:srgbClr val="1E5AA8"/>
              </a:solidFill>
            </c:spPr>
          </c:dPt>
          <c:dPt>
            <c:idx val="1"/>
            <c:spPr>
              <a:solidFill>
                <a:srgbClr val="4D8FD6"/>
              </a:solidFill>
            </c:spPr>
          </c:dPt>
          <c:dPt>
            <c:idx val="2"/>
            <c:spPr>
              <a:solidFill>
                <a:srgbClr val="13315C"/>
              </a:solidFill>
            </c:spPr>
          </c:dPt>
          <c:cat>
            <c:strRef>
              <c:f>Sheet1!$A$2:$A$4</c:f>
              <c:strCache>
                <c:ptCount val="3"/>
                <c:pt idx="0">
                  <c:v>Sessions</c:v>
                </c:pt>
                <c:pt idx="1">
                  <c:v>Publishing</c:v>
                </c:pt>
                <c:pt idx="2">
                  <c:v>Royalties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55000</c:v>
                </c:pt>
                <c:pt idx="1">
                  <c:v>24000</c:v>
                </c:pt>
                <c:pt idx="2">
                  <c:v>3500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1B27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D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Year in Review, Personal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CE8F5"/>
                </a:solidFill>
                <a:latin typeface="Calibri"/>
              </a:rPr>
              <a:t>Andrew Morales, prepared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D8FD6"/>
                </a:solidFill>
                <a:latin typeface="Calibri"/>
              </a:rPr>
              <a:t>Accounts held at Heartland Credit Union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3315C"/>
                </a:solidFill>
                <a:latin typeface="Calibri"/>
              </a:rPr>
              <a:t>The Headline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560320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Gross,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5AA8"/>
                </a:solidFill>
                <a:latin typeface="Calibri"/>
              </a:rPr>
              <a:t>$82,500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5544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554480"/>
            <a:ext cx="2560320" cy="164592"/>
          </a:xfrm>
          <a:prstGeom prst="rect">
            <a:avLst/>
          </a:prstGeom>
          <a:solidFill>
            <a:srgbClr val="4D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288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4D8FD6"/>
                </a:solidFill>
                <a:latin typeface="Calibri"/>
              </a:rPr>
              <a:t>$55,000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2560320" cy="164592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3315C"/>
                </a:solidFill>
                <a:latin typeface="Calibri"/>
              </a:rPr>
              <a:t>$24,000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39" y="155448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39" y="1554480"/>
            <a:ext cx="2560320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8288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Royalties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5AA8"/>
                </a:solidFill>
                <a:latin typeface="Calibri"/>
              </a:rPr>
              <a:t>$3,500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Income is decent but unpredictable. Three to five sessions a week at $250 to $400 each,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plus a $2,000 monthly publishing advance from Silverbell Music Group.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3315C"/>
                </a:solidFill>
                <a:latin typeface="Calibri"/>
              </a:rPr>
              <a:t>Where Income Comes From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182880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3315C"/>
                </a:solidFill>
                <a:latin typeface="Calibri"/>
              </a:rPr>
              <a:t>Sessions carry the year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Publishing adds a steady floor.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Royalties are small but growing.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3315C"/>
                </a:solidFill>
                <a:latin typeface="Calibri"/>
              </a:rPr>
              <a:t>Monthly Outflow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508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1331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$1,450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Groceries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Support to Mama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Rideshare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Therapy copay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Utilities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$120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Yoga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Phone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$65</a:t>
                      </a:r>
                    </a:p>
                  </a:txBody>
                  <a:tcPr>
                    <a:solidFill>
                      <a:srgbClr val="DCE8F5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675120" y="1463040"/>
            <a:ext cx="4572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69164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3315C"/>
                </a:solidFill>
                <a:latin typeface="Calibri"/>
              </a:rPr>
              <a:t>Reserves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Checking, $8,200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Savings, $4,500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D8FD6"/>
                </a:solidFill>
                <a:latin typeface="Calibri"/>
              </a:rPr>
              <a:t>No retirement account yet, a known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3315C"/>
                </a:solidFill>
                <a:latin typeface="Calibri"/>
              </a:rPr>
              <a:t>Stability and Stretch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" cy="11887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5AA8"/>
                </a:solidFill>
                <a:latin typeface="Calibri"/>
              </a:rPr>
              <a:t>Steady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Publishing advance and nightly discipline keep the floor in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80360"/>
            <a:ext cx="10698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880360"/>
            <a:ext cx="182880" cy="1188720"/>
          </a:xfrm>
          <a:prstGeom prst="rect">
            <a:avLst/>
          </a:prstGeom>
          <a:solidFill>
            <a:srgbClr val="4D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D8FD6"/>
                </a:solidFill>
                <a:latin typeface="Calibri"/>
              </a:rPr>
              <a:t>Stretch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The EP is self funded and the cushion is thin while it finishes.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698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82880" cy="118872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3315C"/>
                </a:solidFill>
                <a:latin typeface="Calibri"/>
              </a:rPr>
              <a:t>Next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Open a first retirement deposit once the EP is delivered.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Plan for the Year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DCE8F5"/>
                </a:solidFill>
                <a:latin typeface="Calibri"/>
              </a:rPr>
              <a:t>Hold the line on the EP budget, open a first retirement deposit, keep the cushion intact.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D8FD6"/>
                </a:solidFill>
                <a:latin typeface="Calibri"/>
              </a:rPr>
              <a:t>Andrew Morales, andrew.morales@Greenridertech.co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2026-02-10T00:00:00Z</dcterms:created>
  <dcterms:modified xsi:type="dcterms:W3CDTF">2026-02-10T00:00:00Z</dcterms:modified>
  <cp:category/>
</cp:coreProperties>
</file>