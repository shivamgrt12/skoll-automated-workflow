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s</c:v>
                </c:pt>
              </c:strCache>
            </c:strRef>
          </c:tx>
          <c:dPt>
            <c:idx val="0"/>
            <c:spPr>
              <a:solidFill>
                <a:srgbClr val="7A4A24"/>
              </a:solidFill>
              <a:ln w="15240">
                <a:solidFill>
                  <a:srgbClr val="FFFFFF"/>
                </a:solidFill>
              </a:ln>
            </c:spPr>
          </c:dPt>
          <c:dPt>
            <c:idx val="1"/>
            <c:spPr>
              <a:solidFill>
                <a:srgbClr val="B07A3C"/>
              </a:solidFill>
              <a:ln w="15240">
                <a:solidFill>
                  <a:srgbClr val="FFFFFF"/>
                </a:solidFill>
              </a:ln>
            </c:spPr>
          </c:dPt>
          <c:dPt>
            <c:idx val="2"/>
            <c:spPr>
              <a:solidFill>
                <a:srgbClr val="3D4A58"/>
              </a:solidFill>
              <a:ln w="15240">
                <a:solidFill>
                  <a:srgbClr val="FFFFFF"/>
                </a:solidFill>
              </a:ln>
            </c:spPr>
          </c:dPt>
          <c:dPt>
            <c:idx val="3"/>
            <c:spPr>
              <a:solidFill>
                <a:srgbClr val="5F6B52"/>
              </a:solidFill>
              <a:ln w="15240">
                <a:solidFill>
                  <a:srgbClr val="FFFFFF"/>
                </a:solidFill>
              </a:ln>
            </c:spPr>
          </c:dPt>
          <c:dPt>
            <c:idx val="4"/>
            <c:spPr>
              <a:solidFill>
                <a:srgbClr val="C8A24A"/>
              </a:solidFill>
              <a:ln w="15240">
                <a:solidFill>
                  <a:srgbClr val="FFFFFF"/>
                </a:solidFill>
              </a:ln>
            </c:spPr>
          </c:dPt>
          <c:cat>
            <c:strRef>
              <c:f>Sheet1!$A$2:$A$6</c:f>
              <c:strCache>
                <c:ptCount val="5"/>
                <c:pt idx="0">
                  <c:v>Census</c:v>
                </c:pt>
                <c:pt idx="1">
                  <c:v>Vital records</c:v>
                </c:pt>
                <c:pt idx="2">
                  <c:v>Newspaper</c:v>
                </c:pt>
                <c:pt idx="3">
                  <c:v>Church</c:v>
                </c:pt>
                <c:pt idx="4">
                  <c:v>Immigration</c:v>
                </c:pt>
              </c:strCache>
            </c:strRef>
          </c:cat>
          <c:val>
            <c:numRef>
              <c:f>Sheet1!$B$2:$B$6</c:f>
              <c:numCache>
                <c:formatCode>General</c:formatCode>
                <c:ptCount val="5"/>
                <c:pt idx="0">
                  <c:v>12</c:v>
                </c:pt>
                <c:pt idx="1">
                  <c:v>9</c:v>
                </c:pt>
                <c:pt idx="2">
                  <c:v>8</c:v>
                </c:pt>
                <c:pt idx="3">
                  <c:v>7</c:v>
                </c:pt>
                <c:pt idx="4">
                  <c:v>5</c:v>
                </c:pt>
              </c:numCache>
            </c:numRef>
          </c:val>
        </c:ser>
        <c:dLbls>
          <c:numFmt formatCode="0%" sourceLinked="0"/>
          <c:txPr>
            <a:bodyPr/>
            <a:lstStyle/>
            <a:p>
              <a:pPr>
                <a:defRPr sz="900" b="1">
                  <a:solidFill>
                    <a:srgbClr val="FFFFFF"/>
                  </a:solidFill>
                  <a:latin typeface="Calibri"/>
                </a:defRPr>
              </a:pPr>
            </a:p>
          </c:txPr>
          <c:showLegendKey val="0"/>
          <c:showVal val="0"/>
          <c:showCatName val="0"/>
          <c:showSerName val="0"/>
          <c:showPercent val="1"/>
          <c:showBubbleSize val="0"/>
          <c:showLeaderLines val="1"/>
        </c:dLbls>
      </c:pieChart>
    </c:plotArea>
    <c:legend>
      <c:legendPos/>
      <c:overlay val="0"/>
      <c:txPr>
        <a:bodyPr/>
        <a:lstStyle/>
        <a:p>
          <a:pPr>
            <a:defRPr sz="1000">
              <a:solidFill>
                <a:srgbClr val="2B2018"/>
              </a:solidFill>
              <a:latin typeface="Calibri"/>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7A4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7A4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10515600" cy="365760"/>
          </a:xfrm>
          <a:prstGeom prst="rect">
            <a:avLst/>
          </a:prstGeom>
          <a:noFill/>
        </p:spPr>
        <p:txBody>
          <a:bodyPr wrap="square" anchor="t" lIns="25400" rIns="25400" tIns="12700" bIns="12700">
            <a:spAutoFit/>
          </a:bodyPr>
          <a:lstStyle/>
          <a:p>
            <a:pPr algn="l"/>
            <a:r>
              <a:rPr sz="1300" b="1" i="0">
                <a:solidFill>
                  <a:srgbClr val="B07A3C"/>
                </a:solidFill>
                <a:latin typeface="Calibri"/>
              </a:rPr>
              <a:t>A PRIVATE FAMILY RESEARCH PROJECT</a:t>
            </a:r>
          </a:p>
        </p:txBody>
      </p:sp>
      <p:sp>
        <p:nvSpPr>
          <p:cNvPr id="6" name="TextBox 5"/>
          <p:cNvSpPr txBox="1"/>
          <p:nvPr/>
        </p:nvSpPr>
        <p:spPr>
          <a:xfrm>
            <a:off x="777240" y="2468880"/>
            <a:ext cx="10607040" cy="1371600"/>
          </a:xfrm>
          <a:prstGeom prst="rect">
            <a:avLst/>
          </a:prstGeom>
          <a:noFill/>
        </p:spPr>
        <p:txBody>
          <a:bodyPr wrap="square" anchor="t" lIns="25400" rIns="25400" tIns="12700" bIns="12700">
            <a:spAutoFit/>
          </a:bodyPr>
          <a:lstStyle/>
          <a:p>
            <a:pPr algn="l"/>
            <a:r>
              <a:rPr sz="5200" b="1" i="0">
                <a:solidFill>
                  <a:srgbClr val="2B2018"/>
                </a:solidFill>
                <a:latin typeface="Georgia"/>
              </a:rPr>
              <a:t>The Roberts Line</a:t>
            </a:r>
          </a:p>
        </p:txBody>
      </p:sp>
      <p:sp>
        <p:nvSpPr>
          <p:cNvPr id="7" name="TextBox 6"/>
          <p:cNvSpPr txBox="1"/>
          <p:nvPr/>
        </p:nvSpPr>
        <p:spPr>
          <a:xfrm>
            <a:off x="822960" y="3566160"/>
            <a:ext cx="10058400" cy="914400"/>
          </a:xfrm>
          <a:prstGeom prst="rect">
            <a:avLst/>
          </a:prstGeom>
          <a:noFill/>
        </p:spPr>
        <p:txBody>
          <a:bodyPr wrap="square" anchor="t" lIns="25400" rIns="25400" tIns="12700" bIns="12700">
            <a:spAutoFit/>
          </a:bodyPr>
          <a:lstStyle/>
          <a:p>
            <a:pPr algn="l"/>
            <a:r>
              <a:rPr sz="1600" b="0" i="1">
                <a:solidFill>
                  <a:srgbClr val="6B6357"/>
                </a:solidFill>
                <a:latin typeface="Georgia"/>
              </a:rPr>
              <a:t>Four generations, from a Welsh ironworker's crossing to a Naperville workbench. A review of what the records show, and what is still open.</a:t>
            </a:r>
          </a:p>
        </p:txBody>
      </p:sp>
      <p:sp>
        <p:nvSpPr>
          <p:cNvPr id="8" name="Rounded Rectangle 7"/>
          <p:cNvSpPr/>
          <p:nvPr/>
        </p:nvSpPr>
        <p:spPr>
          <a:xfrm>
            <a:off x="822960" y="5120640"/>
            <a:ext cx="5120640" cy="822960"/>
          </a:xfrm>
          <a:prstGeom prst="roundRect">
            <a:avLst>
              <a:gd name="adj" fmla="val 8000"/>
            </a:avLst>
          </a:prstGeom>
          <a:solidFill>
            <a:srgbClr val="FBF8F2"/>
          </a:solidFill>
          <a:ln w="12700">
            <a:solidFill>
              <a:srgbClr val="D9CF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5230368"/>
            <a:ext cx="4754880" cy="640080"/>
          </a:xfrm>
          <a:prstGeom prst="rect">
            <a:avLst/>
          </a:prstGeom>
          <a:noFill/>
        </p:spPr>
        <p:txBody>
          <a:bodyPr wrap="square" anchor="t" lIns="25400" rIns="25400" tIns="12700" bIns="12700">
            <a:spAutoFit/>
          </a:bodyPr>
          <a:lstStyle/>
          <a:p>
            <a:pPr algn="l"/>
            <a:r>
              <a:rPr sz="1300" b="0" i="0">
                <a:solidFill>
                  <a:srgbClr val="7A4A24"/>
                </a:solidFill>
                <a:latin typeface="Georgia"/>
              </a:rPr>
              <a:t>Kept by Andrew Roberts   |   Naperville, Illinois</a:t>
            </a:r>
          </a:p>
          <a:p>
            <a:pPr algn="l"/>
            <a:r>
              <a:rPr sz="1200" b="0" i="0">
                <a:solidFill>
                  <a:srgbClr val="6B6357"/>
                </a:solidFill>
                <a:latin typeface="Georgia"/>
              </a:rPr>
              <a:t>Opened October 2025   |   Reviewed February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777240" y="502920"/>
            <a:ext cx="10607040" cy="320040"/>
          </a:xfrm>
          <a:prstGeom prst="rect">
            <a:avLst/>
          </a:prstGeom>
          <a:noFill/>
        </p:spPr>
        <p:txBody>
          <a:bodyPr wrap="square" anchor="t" lIns="25400" rIns="25400" tIns="12700" bIns="12700">
            <a:spAutoFit/>
          </a:bodyPr>
          <a:lstStyle/>
          <a:p>
            <a:pPr algn="l"/>
            <a:r>
              <a:rPr sz="1200" b="1" i="0">
                <a:solidFill>
                  <a:srgbClr val="5F6B52"/>
                </a:solidFill>
                <a:latin typeface="Calibri"/>
              </a:rPr>
              <a:t>THE PROBLEM</a:t>
            </a:r>
          </a:p>
        </p:txBody>
      </p:sp>
      <p:sp>
        <p:nvSpPr>
          <p:cNvPr id="3" name="TextBox 2"/>
          <p:cNvSpPr txBox="1"/>
          <p:nvPr/>
        </p:nvSpPr>
        <p:spPr>
          <a:xfrm>
            <a:off x="758952" y="777240"/>
            <a:ext cx="10607040" cy="548640"/>
          </a:xfrm>
          <a:prstGeom prst="rect">
            <a:avLst/>
          </a:prstGeom>
          <a:noFill/>
        </p:spPr>
        <p:txBody>
          <a:bodyPr wrap="square" anchor="t" lIns="25400" rIns="25400" tIns="12700" bIns="12700">
            <a:spAutoFit/>
          </a:bodyPr>
          <a:lstStyle/>
          <a:p>
            <a:pPr algn="l"/>
            <a:r>
              <a:rPr sz="2700" b="1" i="0">
                <a:solidFill>
                  <a:srgbClr val="7A4A24"/>
                </a:solidFill>
                <a:latin typeface="Georgia"/>
              </a:rPr>
              <a:t>A family that never wrote itself down</a:t>
            </a:r>
          </a:p>
        </p:txBody>
      </p:sp>
      <p:sp>
        <p:nvSpPr>
          <p:cNvPr id="4" name="Rectangle 3"/>
          <p:cNvSpPr/>
          <p:nvPr/>
        </p:nvSpPr>
        <p:spPr>
          <a:xfrm>
            <a:off x="777240" y="1371600"/>
            <a:ext cx="1828800" cy="45720"/>
          </a:xfrm>
          <a:prstGeom prst="rect">
            <a:avLst/>
          </a:prstGeom>
          <a:solidFill>
            <a:srgbClr val="B0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828800"/>
            <a:ext cx="10515600" cy="1234440"/>
          </a:xfrm>
          <a:prstGeom prst="roundRect">
            <a:avLst>
              <a:gd name="adj" fmla="val 5000"/>
            </a:avLst>
          </a:prstGeom>
          <a:solidFill>
            <a:srgbClr val="FBF8F2"/>
          </a:solidFill>
          <a:ln w="12700">
            <a:solidFill>
              <a:srgbClr val="D9CF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828800"/>
            <a:ext cx="109728" cy="1234440"/>
          </a:xfrm>
          <a:prstGeom prst="rect">
            <a:avLst/>
          </a:prstGeom>
          <a:solidFill>
            <a:srgbClr val="B0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93392"/>
            <a:ext cx="10058400" cy="365760"/>
          </a:xfrm>
          <a:prstGeom prst="rect">
            <a:avLst/>
          </a:prstGeom>
          <a:noFill/>
        </p:spPr>
        <p:txBody>
          <a:bodyPr wrap="square" anchor="t" lIns="25400" rIns="25400" tIns="12700" bIns="12700">
            <a:spAutoFit/>
          </a:bodyPr>
          <a:lstStyle/>
          <a:p>
            <a:pPr algn="l"/>
            <a:r>
              <a:rPr sz="1600" b="1" i="0">
                <a:solidFill>
                  <a:srgbClr val="7A4A24"/>
                </a:solidFill>
                <a:latin typeface="Georgia"/>
              </a:rPr>
              <a:t>Three words on a census</a:t>
            </a:r>
          </a:p>
        </p:txBody>
      </p:sp>
      <p:sp>
        <p:nvSpPr>
          <p:cNvPr id="8" name="TextBox 7"/>
          <p:cNvSpPr txBox="1"/>
          <p:nvPr/>
        </p:nvSpPr>
        <p:spPr>
          <a:xfrm>
            <a:off x="1097280" y="2450592"/>
            <a:ext cx="9966960" cy="548640"/>
          </a:xfrm>
          <a:prstGeom prst="rect">
            <a:avLst/>
          </a:prstGeom>
          <a:noFill/>
        </p:spPr>
        <p:txBody>
          <a:bodyPr wrap="square" anchor="t" lIns="25400" rIns="25400" tIns="12700" bIns="12700">
            <a:spAutoFit/>
          </a:bodyPr>
          <a:lstStyle/>
          <a:p>
            <a:pPr algn="l"/>
            <a:r>
              <a:rPr sz="1300" b="0" i="0">
                <a:solidFill>
                  <a:srgbClr val="6B6357"/>
                </a:solidFill>
                <a:latin typeface="Georgia"/>
              </a:rPr>
              <a:t>My grandfather's whole trade reduced to molder, foundry. A life in three words.</a:t>
            </a:r>
          </a:p>
        </p:txBody>
      </p:sp>
      <p:sp>
        <p:nvSpPr>
          <p:cNvPr id="9" name="Rounded Rectangle 8"/>
          <p:cNvSpPr/>
          <p:nvPr/>
        </p:nvSpPr>
        <p:spPr>
          <a:xfrm>
            <a:off x="777240" y="3246120"/>
            <a:ext cx="10515600" cy="1234440"/>
          </a:xfrm>
          <a:prstGeom prst="roundRect">
            <a:avLst>
              <a:gd name="adj" fmla="val 5000"/>
            </a:avLst>
          </a:prstGeom>
          <a:solidFill>
            <a:srgbClr val="FBF8F2"/>
          </a:solidFill>
          <a:ln w="12700">
            <a:solidFill>
              <a:srgbClr val="D9CF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246120"/>
            <a:ext cx="109728" cy="1234440"/>
          </a:xfrm>
          <a:prstGeom prst="rect">
            <a:avLst/>
          </a:prstGeom>
          <a:solidFill>
            <a:srgbClr val="B0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410712"/>
            <a:ext cx="10058400" cy="365760"/>
          </a:xfrm>
          <a:prstGeom prst="rect">
            <a:avLst/>
          </a:prstGeom>
          <a:noFill/>
        </p:spPr>
        <p:txBody>
          <a:bodyPr wrap="square" anchor="t" lIns="25400" rIns="25400" tIns="12700" bIns="12700">
            <a:spAutoFit/>
          </a:bodyPr>
          <a:lstStyle/>
          <a:p>
            <a:pPr algn="l"/>
            <a:r>
              <a:rPr sz="1600" b="1" i="0">
                <a:solidFill>
                  <a:srgbClr val="7A4A24"/>
                </a:solidFill>
                <a:latin typeface="Georgia"/>
              </a:rPr>
              <a:t>The stories are secondhand</a:t>
            </a:r>
          </a:p>
        </p:txBody>
      </p:sp>
      <p:sp>
        <p:nvSpPr>
          <p:cNvPr id="12" name="TextBox 11"/>
          <p:cNvSpPr txBox="1"/>
          <p:nvPr/>
        </p:nvSpPr>
        <p:spPr>
          <a:xfrm>
            <a:off x="1097280" y="3867911"/>
            <a:ext cx="9966960" cy="548640"/>
          </a:xfrm>
          <a:prstGeom prst="rect">
            <a:avLst/>
          </a:prstGeom>
          <a:noFill/>
        </p:spPr>
        <p:txBody>
          <a:bodyPr wrap="square" anchor="t" lIns="25400" rIns="25400" tIns="12700" bIns="12700">
            <a:spAutoFit/>
          </a:bodyPr>
          <a:lstStyle/>
          <a:p>
            <a:pPr algn="l"/>
            <a:r>
              <a:rPr sz="1300" b="0" i="0">
                <a:solidFill>
                  <a:srgbClr val="6B6357"/>
                </a:solidFill>
                <a:latin typeface="Georgia"/>
              </a:rPr>
              <a:t>What I know of the Welsh crossing came from my father, who had it from his. Memory, not record.</a:t>
            </a:r>
          </a:p>
        </p:txBody>
      </p:sp>
      <p:sp>
        <p:nvSpPr>
          <p:cNvPr id="13" name="Rounded Rectangle 12"/>
          <p:cNvSpPr/>
          <p:nvPr/>
        </p:nvSpPr>
        <p:spPr>
          <a:xfrm>
            <a:off x="777240" y="4663440"/>
            <a:ext cx="10515600" cy="1234440"/>
          </a:xfrm>
          <a:prstGeom prst="roundRect">
            <a:avLst>
              <a:gd name="adj" fmla="val 5000"/>
            </a:avLst>
          </a:prstGeom>
          <a:solidFill>
            <a:srgbClr val="FBF8F2"/>
          </a:solidFill>
          <a:ln w="12700">
            <a:solidFill>
              <a:srgbClr val="D9CF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663440"/>
            <a:ext cx="109728" cy="1234440"/>
          </a:xfrm>
          <a:prstGeom prst="rect">
            <a:avLst/>
          </a:prstGeom>
          <a:solidFill>
            <a:srgbClr val="B0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828031"/>
            <a:ext cx="10058400" cy="365760"/>
          </a:xfrm>
          <a:prstGeom prst="rect">
            <a:avLst/>
          </a:prstGeom>
          <a:noFill/>
        </p:spPr>
        <p:txBody>
          <a:bodyPr wrap="square" anchor="t" lIns="25400" rIns="25400" tIns="12700" bIns="12700">
            <a:spAutoFit/>
          </a:bodyPr>
          <a:lstStyle/>
          <a:p>
            <a:pPr algn="l"/>
            <a:r>
              <a:rPr sz="1600" b="1" i="0">
                <a:solidFill>
                  <a:srgbClr val="7A4A24"/>
                </a:solidFill>
                <a:latin typeface="Georgia"/>
              </a:rPr>
              <a:t>Time is the enemy</a:t>
            </a:r>
          </a:p>
        </p:txBody>
      </p:sp>
      <p:sp>
        <p:nvSpPr>
          <p:cNvPr id="16" name="TextBox 15"/>
          <p:cNvSpPr txBox="1"/>
          <p:nvPr/>
        </p:nvSpPr>
        <p:spPr>
          <a:xfrm>
            <a:off x="1097280" y="5285231"/>
            <a:ext cx="9966960" cy="548640"/>
          </a:xfrm>
          <a:prstGeom prst="rect">
            <a:avLst/>
          </a:prstGeom>
          <a:noFill/>
        </p:spPr>
        <p:txBody>
          <a:bodyPr wrap="square" anchor="t" lIns="25400" rIns="25400" tIns="12700" bIns="12700">
            <a:spAutoFit/>
          </a:bodyPr>
          <a:lstStyle/>
          <a:p>
            <a:pPr algn="l"/>
            <a:r>
              <a:rPr sz="1300" b="0" i="0">
                <a:solidFill>
                  <a:srgbClr val="6B6357"/>
                </a:solidFill>
                <a:latin typeface="Georgia"/>
              </a:rPr>
              <a:t>Parish offices close, microfilm degrades, and the people who could confirm a name are gone.</a:t>
            </a:r>
          </a:p>
        </p:txBody>
      </p:sp>
      <p:sp>
        <p:nvSpPr>
          <p:cNvPr id="17" name="TextBox 16"/>
          <p:cNvSpPr txBox="1"/>
          <p:nvPr/>
        </p:nvSpPr>
        <p:spPr>
          <a:xfrm>
            <a:off x="548640" y="6419088"/>
            <a:ext cx="11064240" cy="320040"/>
          </a:xfrm>
          <a:prstGeom prst="rect">
            <a:avLst/>
          </a:prstGeom>
          <a:noFill/>
        </p:spPr>
        <p:txBody>
          <a:bodyPr wrap="square" anchor="t" lIns="25400" rIns="25400" tIns="12700" bIns="12700">
            <a:spAutoFit/>
          </a:bodyPr>
          <a:lstStyle/>
          <a:p>
            <a:pPr algn="l"/>
            <a:r>
              <a:rPr sz="850" b="0" i="1">
                <a:solidFill>
                  <a:srgbClr val="6B6357"/>
                </a:solidFill>
                <a:latin typeface="Georgia"/>
              </a:rPr>
              <a:t>The Roberts Line, genealogy project review   |   For the family only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777240" y="502920"/>
            <a:ext cx="10607040" cy="320040"/>
          </a:xfrm>
          <a:prstGeom prst="rect">
            <a:avLst/>
          </a:prstGeom>
          <a:noFill/>
        </p:spPr>
        <p:txBody>
          <a:bodyPr wrap="square" anchor="t" lIns="25400" rIns="25400" tIns="12700" bIns="12700">
            <a:spAutoFit/>
          </a:bodyPr>
          <a:lstStyle/>
          <a:p>
            <a:pPr algn="l"/>
            <a:r>
              <a:rPr sz="1200" b="1" i="0">
                <a:solidFill>
                  <a:srgbClr val="5F6B52"/>
                </a:solidFill>
                <a:latin typeface="Calibri"/>
              </a:rPr>
              <a:t>THE ANALYSIS</a:t>
            </a:r>
          </a:p>
        </p:txBody>
      </p:sp>
      <p:sp>
        <p:nvSpPr>
          <p:cNvPr id="3" name="TextBox 2"/>
          <p:cNvSpPr txBox="1"/>
          <p:nvPr/>
        </p:nvSpPr>
        <p:spPr>
          <a:xfrm>
            <a:off x="758952" y="777240"/>
            <a:ext cx="10607040" cy="548640"/>
          </a:xfrm>
          <a:prstGeom prst="rect">
            <a:avLst/>
          </a:prstGeom>
          <a:noFill/>
        </p:spPr>
        <p:txBody>
          <a:bodyPr wrap="square" anchor="t" lIns="25400" rIns="25400" tIns="12700" bIns="12700">
            <a:spAutoFit/>
          </a:bodyPr>
          <a:lstStyle/>
          <a:p>
            <a:pPr algn="l"/>
            <a:r>
              <a:rPr sz="2700" b="1" i="0">
                <a:solidFill>
                  <a:srgbClr val="7A4A24"/>
                </a:solidFill>
                <a:latin typeface="Georgia"/>
              </a:rPr>
              <a:t>What has been gathered</a:t>
            </a:r>
          </a:p>
        </p:txBody>
      </p:sp>
      <p:sp>
        <p:nvSpPr>
          <p:cNvPr id="4" name="Rectangle 3"/>
          <p:cNvSpPr/>
          <p:nvPr/>
        </p:nvSpPr>
        <p:spPr>
          <a:xfrm>
            <a:off x="777240" y="1371600"/>
            <a:ext cx="1828800" cy="45720"/>
          </a:xfrm>
          <a:prstGeom prst="rect">
            <a:avLst/>
          </a:prstGeom>
          <a:solidFill>
            <a:srgbClr val="B0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737360"/>
            <a:ext cx="5212080" cy="4297680"/>
          </a:xfrm>
          <a:prstGeom prst="roundRect">
            <a:avLst>
              <a:gd name="adj" fmla="val 4000"/>
            </a:avLst>
          </a:prstGeom>
          <a:solidFill>
            <a:srgbClr val="FBF8F2"/>
          </a:solidFill>
          <a:ln w="12700">
            <a:solidFill>
              <a:srgbClr val="D9CF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20240"/>
            <a:ext cx="4754880" cy="365760"/>
          </a:xfrm>
          <a:prstGeom prst="rect">
            <a:avLst/>
          </a:prstGeom>
          <a:noFill/>
        </p:spPr>
        <p:txBody>
          <a:bodyPr wrap="square" anchor="t" lIns="25400" rIns="25400" tIns="12700" bIns="12700">
            <a:spAutoFit/>
          </a:bodyPr>
          <a:lstStyle/>
          <a:p>
            <a:pPr algn="l"/>
            <a:r>
              <a:rPr sz="1400" b="1" i="0">
                <a:solidFill>
                  <a:srgbClr val="2B2018"/>
                </a:solidFill>
                <a:latin typeface="Georgia"/>
              </a:rPr>
              <a:t>41 records logged, by source type</a:t>
            </a:r>
          </a:p>
        </p:txBody>
      </p:sp>
      <p:graphicFrame>
        <p:nvGraphicFramePr>
          <p:cNvPr id="7" name="Chart 6"/>
          <p:cNvGraphicFramePr>
            <a:graphicFrameLocks noGrp="1"/>
          </p:cNvGraphicFramePr>
          <p:nvPr/>
        </p:nvGraphicFramePr>
        <p:xfrm>
          <a:off x="914400" y="2286000"/>
          <a:ext cx="4937760" cy="3566160"/>
        </p:xfrm>
        <a:graphic>
          <a:graphicData uri="http://schemas.openxmlformats.org/drawingml/2006/chart">
            <c:chart xmlns:c="http://schemas.openxmlformats.org/drawingml/2006/chart" r:id="rId2"/>
          </a:graphicData>
        </a:graphic>
      </p:graphicFrame>
      <p:sp>
        <p:nvSpPr>
          <p:cNvPr id="8" name="Rounded Rectangle 7"/>
          <p:cNvSpPr/>
          <p:nvPr/>
        </p:nvSpPr>
        <p:spPr>
          <a:xfrm>
            <a:off x="6263640" y="1737360"/>
            <a:ext cx="5074920" cy="4297680"/>
          </a:xfrm>
          <a:prstGeom prst="roundRect">
            <a:avLst>
              <a:gd name="adj" fmla="val 4000"/>
            </a:avLst>
          </a:prstGeom>
          <a:solidFill>
            <a:srgbClr val="FBF8F2"/>
          </a:solidFill>
          <a:ln w="12700">
            <a:solidFill>
              <a:srgbClr val="D9CF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965960"/>
            <a:ext cx="4572000" cy="365760"/>
          </a:xfrm>
          <a:prstGeom prst="rect">
            <a:avLst/>
          </a:prstGeom>
          <a:noFill/>
        </p:spPr>
        <p:txBody>
          <a:bodyPr wrap="square" anchor="t" lIns="25400" rIns="25400" tIns="12700" bIns="12700">
            <a:spAutoFit/>
          </a:bodyPr>
          <a:lstStyle/>
          <a:p>
            <a:pPr algn="l"/>
            <a:r>
              <a:rPr sz="1400" b="1" i="0">
                <a:solidFill>
                  <a:srgbClr val="2B2018"/>
                </a:solidFill>
                <a:latin typeface="Georgia"/>
              </a:rPr>
              <a:t>Confidence by branch</a:t>
            </a:r>
          </a:p>
        </p:txBody>
      </p:sp>
      <p:sp>
        <p:nvSpPr>
          <p:cNvPr id="10" name="TextBox 9"/>
          <p:cNvSpPr txBox="1"/>
          <p:nvPr/>
        </p:nvSpPr>
        <p:spPr>
          <a:xfrm>
            <a:off x="6537960" y="2569464"/>
            <a:ext cx="4480560" cy="274320"/>
          </a:xfrm>
          <a:prstGeom prst="rect">
            <a:avLst/>
          </a:prstGeom>
          <a:noFill/>
        </p:spPr>
        <p:txBody>
          <a:bodyPr wrap="square" anchor="t" lIns="25400" rIns="25400" tIns="12700" bIns="12700">
            <a:spAutoFit/>
          </a:bodyPr>
          <a:lstStyle/>
          <a:p>
            <a:pPr algn="l"/>
            <a:r>
              <a:rPr sz="1200" b="0" i="0">
                <a:solidFill>
                  <a:srgbClr val="6B6357"/>
                </a:solidFill>
                <a:latin typeface="Calibri"/>
              </a:rPr>
              <a:t>Roberts, paternal line</a:t>
            </a:r>
          </a:p>
        </p:txBody>
      </p:sp>
      <p:sp>
        <p:nvSpPr>
          <p:cNvPr id="11" name="TextBox 10"/>
          <p:cNvSpPr txBox="1"/>
          <p:nvPr/>
        </p:nvSpPr>
        <p:spPr>
          <a:xfrm>
            <a:off x="6537960" y="2569464"/>
            <a:ext cx="4480560" cy="274320"/>
          </a:xfrm>
          <a:prstGeom prst="rect">
            <a:avLst/>
          </a:prstGeom>
          <a:noFill/>
        </p:spPr>
        <p:txBody>
          <a:bodyPr wrap="square" anchor="t" lIns="25400" rIns="25400" tIns="12700" bIns="12700">
            <a:spAutoFit/>
          </a:bodyPr>
          <a:lstStyle/>
          <a:p>
            <a:pPr algn="r"/>
            <a:r>
              <a:rPr sz="1200" b="1" i="0">
                <a:solidFill>
                  <a:srgbClr val="2B2018"/>
                </a:solidFill>
                <a:latin typeface="Calibri"/>
              </a:rPr>
              <a:t>82%</a:t>
            </a:r>
          </a:p>
        </p:txBody>
      </p:sp>
      <p:sp>
        <p:nvSpPr>
          <p:cNvPr id="12" name="Rounded Rectangle 11"/>
          <p:cNvSpPr/>
          <p:nvPr/>
        </p:nvSpPr>
        <p:spPr>
          <a:xfrm>
            <a:off x="6537960" y="2880360"/>
            <a:ext cx="4480560" cy="256032"/>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37960" y="2880360"/>
            <a:ext cx="3674059" cy="256032"/>
          </a:xfrm>
          <a:prstGeom prst="roundRect">
            <a:avLst>
              <a:gd name="adj" fmla="val 50000"/>
            </a:avLst>
          </a:prstGeom>
          <a:solidFill>
            <a:srgbClr val="7A4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3410712"/>
            <a:ext cx="4480560" cy="274320"/>
          </a:xfrm>
          <a:prstGeom prst="rect">
            <a:avLst/>
          </a:prstGeom>
          <a:noFill/>
        </p:spPr>
        <p:txBody>
          <a:bodyPr wrap="square" anchor="t" lIns="25400" rIns="25400" tIns="12700" bIns="12700">
            <a:spAutoFit/>
          </a:bodyPr>
          <a:lstStyle/>
          <a:p>
            <a:pPr algn="l"/>
            <a:r>
              <a:rPr sz="1200" b="0" i="0">
                <a:solidFill>
                  <a:srgbClr val="6B6357"/>
                </a:solidFill>
                <a:latin typeface="Calibri"/>
              </a:rPr>
              <a:t>Doyle, grandmother's line</a:t>
            </a:r>
          </a:p>
        </p:txBody>
      </p:sp>
      <p:sp>
        <p:nvSpPr>
          <p:cNvPr id="15" name="TextBox 14"/>
          <p:cNvSpPr txBox="1"/>
          <p:nvPr/>
        </p:nvSpPr>
        <p:spPr>
          <a:xfrm>
            <a:off x="6537960" y="3410712"/>
            <a:ext cx="4480560" cy="274320"/>
          </a:xfrm>
          <a:prstGeom prst="rect">
            <a:avLst/>
          </a:prstGeom>
          <a:noFill/>
        </p:spPr>
        <p:txBody>
          <a:bodyPr wrap="square" anchor="t" lIns="25400" rIns="25400" tIns="12700" bIns="12700">
            <a:spAutoFit/>
          </a:bodyPr>
          <a:lstStyle/>
          <a:p>
            <a:pPr algn="r"/>
            <a:r>
              <a:rPr sz="1200" b="1" i="0">
                <a:solidFill>
                  <a:srgbClr val="2B2018"/>
                </a:solidFill>
                <a:latin typeface="Calibri"/>
              </a:rPr>
              <a:t>68%</a:t>
            </a:r>
          </a:p>
        </p:txBody>
      </p:sp>
      <p:sp>
        <p:nvSpPr>
          <p:cNvPr id="16" name="Rounded Rectangle 15"/>
          <p:cNvSpPr/>
          <p:nvPr/>
        </p:nvSpPr>
        <p:spPr>
          <a:xfrm>
            <a:off x="6537960" y="3721608"/>
            <a:ext cx="4480560" cy="256032"/>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37960" y="3721608"/>
            <a:ext cx="3046780" cy="256032"/>
          </a:xfrm>
          <a:prstGeom prst="roundRect">
            <a:avLst>
              <a:gd name="adj" fmla="val 50000"/>
            </a:avLst>
          </a:prstGeom>
          <a:solidFill>
            <a:srgbClr val="B0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4251960"/>
            <a:ext cx="4480560" cy="274320"/>
          </a:xfrm>
          <a:prstGeom prst="rect">
            <a:avLst/>
          </a:prstGeom>
          <a:noFill/>
        </p:spPr>
        <p:txBody>
          <a:bodyPr wrap="square" anchor="t" lIns="25400" rIns="25400" tIns="12700" bIns="12700">
            <a:spAutoFit/>
          </a:bodyPr>
          <a:lstStyle/>
          <a:p>
            <a:pPr algn="l"/>
            <a:r>
              <a:rPr sz="1200" b="0" i="0">
                <a:solidFill>
                  <a:srgbClr val="6B6357"/>
                </a:solidFill>
                <a:latin typeface="Calibri"/>
              </a:rPr>
              <a:t>Welsh origin, Merthyr Tydfil</a:t>
            </a:r>
          </a:p>
        </p:txBody>
      </p:sp>
      <p:sp>
        <p:nvSpPr>
          <p:cNvPr id="19" name="TextBox 18"/>
          <p:cNvSpPr txBox="1"/>
          <p:nvPr/>
        </p:nvSpPr>
        <p:spPr>
          <a:xfrm>
            <a:off x="6537960" y="4251960"/>
            <a:ext cx="4480560" cy="274320"/>
          </a:xfrm>
          <a:prstGeom prst="rect">
            <a:avLst/>
          </a:prstGeom>
          <a:noFill/>
        </p:spPr>
        <p:txBody>
          <a:bodyPr wrap="square" anchor="t" lIns="25400" rIns="25400" tIns="12700" bIns="12700">
            <a:spAutoFit/>
          </a:bodyPr>
          <a:lstStyle/>
          <a:p>
            <a:pPr algn="r"/>
            <a:r>
              <a:rPr sz="1200" b="1" i="0">
                <a:solidFill>
                  <a:srgbClr val="2B2018"/>
                </a:solidFill>
                <a:latin typeface="Calibri"/>
              </a:rPr>
              <a:t>40%</a:t>
            </a:r>
          </a:p>
        </p:txBody>
      </p:sp>
      <p:sp>
        <p:nvSpPr>
          <p:cNvPr id="20" name="Rounded Rectangle 19"/>
          <p:cNvSpPr/>
          <p:nvPr/>
        </p:nvSpPr>
        <p:spPr>
          <a:xfrm>
            <a:off x="6537960" y="4562856"/>
            <a:ext cx="4480560" cy="256032"/>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37960" y="4562856"/>
            <a:ext cx="1792224" cy="256032"/>
          </a:xfrm>
          <a:prstGeom prst="roundRect">
            <a:avLst>
              <a:gd name="adj" fmla="val 50000"/>
            </a:avLst>
          </a:prstGeom>
          <a:solidFill>
            <a:srgbClr val="5F6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5093208"/>
            <a:ext cx="4480560" cy="274320"/>
          </a:xfrm>
          <a:prstGeom prst="rect">
            <a:avLst/>
          </a:prstGeom>
          <a:noFill/>
        </p:spPr>
        <p:txBody>
          <a:bodyPr wrap="square" anchor="t" lIns="25400" rIns="25400" tIns="12700" bIns="12700">
            <a:spAutoFit/>
          </a:bodyPr>
          <a:lstStyle/>
          <a:p>
            <a:pPr algn="l"/>
            <a:r>
              <a:rPr sz="1200" b="0" i="0">
                <a:solidFill>
                  <a:srgbClr val="6B6357"/>
                </a:solidFill>
                <a:latin typeface="Calibri"/>
              </a:rPr>
              <a:t>Foster line, Carol's people</a:t>
            </a:r>
          </a:p>
        </p:txBody>
      </p:sp>
      <p:sp>
        <p:nvSpPr>
          <p:cNvPr id="23" name="TextBox 22"/>
          <p:cNvSpPr txBox="1"/>
          <p:nvPr/>
        </p:nvSpPr>
        <p:spPr>
          <a:xfrm>
            <a:off x="6537960" y="5093208"/>
            <a:ext cx="4480560" cy="274320"/>
          </a:xfrm>
          <a:prstGeom prst="rect">
            <a:avLst/>
          </a:prstGeom>
          <a:noFill/>
        </p:spPr>
        <p:txBody>
          <a:bodyPr wrap="square" anchor="t" lIns="25400" rIns="25400" tIns="12700" bIns="12700">
            <a:spAutoFit/>
          </a:bodyPr>
          <a:lstStyle/>
          <a:p>
            <a:pPr algn="r"/>
            <a:r>
              <a:rPr sz="1200" b="1" i="0">
                <a:solidFill>
                  <a:srgbClr val="2B2018"/>
                </a:solidFill>
                <a:latin typeface="Calibri"/>
              </a:rPr>
              <a:t>25%</a:t>
            </a:r>
          </a:p>
        </p:txBody>
      </p:sp>
      <p:sp>
        <p:nvSpPr>
          <p:cNvPr id="24" name="Rounded Rectangle 23"/>
          <p:cNvSpPr/>
          <p:nvPr/>
        </p:nvSpPr>
        <p:spPr>
          <a:xfrm>
            <a:off x="6537960" y="5404104"/>
            <a:ext cx="4480560" cy="256032"/>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37960" y="5404104"/>
            <a:ext cx="1120140" cy="256032"/>
          </a:xfrm>
          <a:prstGeom prst="roundRect">
            <a:avLst>
              <a:gd name="adj" fmla="val 50000"/>
            </a:avLst>
          </a:prstGeom>
          <a:solidFill>
            <a:srgbClr val="3D4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6419088"/>
            <a:ext cx="11064240" cy="320040"/>
          </a:xfrm>
          <a:prstGeom prst="rect">
            <a:avLst/>
          </a:prstGeom>
          <a:noFill/>
        </p:spPr>
        <p:txBody>
          <a:bodyPr wrap="square" anchor="t" lIns="25400" rIns="25400" tIns="12700" bIns="12700">
            <a:spAutoFit/>
          </a:bodyPr>
          <a:lstStyle/>
          <a:p>
            <a:pPr algn="l"/>
            <a:r>
              <a:rPr sz="850" b="0" i="1">
                <a:solidFill>
                  <a:srgbClr val="6B6357"/>
                </a:solidFill>
                <a:latin typeface="Georgia"/>
              </a:rPr>
              <a:t>Confidence weighted by how many independent sources agree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777240" y="502920"/>
            <a:ext cx="10607040" cy="320040"/>
          </a:xfrm>
          <a:prstGeom prst="rect">
            <a:avLst/>
          </a:prstGeom>
          <a:noFill/>
        </p:spPr>
        <p:txBody>
          <a:bodyPr wrap="square" anchor="t" lIns="25400" rIns="25400" tIns="12700" bIns="12700">
            <a:spAutoFit/>
          </a:bodyPr>
          <a:lstStyle/>
          <a:p>
            <a:pPr algn="l"/>
            <a:r>
              <a:rPr sz="1200" b="1" i="0">
                <a:solidFill>
                  <a:srgbClr val="5F6B52"/>
                </a:solidFill>
                <a:latin typeface="Calibri"/>
              </a:rPr>
              <a:t>THE METHOD</a:t>
            </a:r>
          </a:p>
        </p:txBody>
      </p:sp>
      <p:sp>
        <p:nvSpPr>
          <p:cNvPr id="3" name="TextBox 2"/>
          <p:cNvSpPr txBox="1"/>
          <p:nvPr/>
        </p:nvSpPr>
        <p:spPr>
          <a:xfrm>
            <a:off x="758952" y="777240"/>
            <a:ext cx="10607040" cy="548640"/>
          </a:xfrm>
          <a:prstGeom prst="rect">
            <a:avLst/>
          </a:prstGeom>
          <a:noFill/>
        </p:spPr>
        <p:txBody>
          <a:bodyPr wrap="square" anchor="t" lIns="25400" rIns="25400" tIns="12700" bIns="12700">
            <a:spAutoFit/>
          </a:bodyPr>
          <a:lstStyle/>
          <a:p>
            <a:pPr algn="l"/>
            <a:r>
              <a:rPr sz="2700" b="1" i="0">
                <a:solidFill>
                  <a:srgbClr val="7A4A24"/>
                </a:solidFill>
                <a:latin typeface="Georgia"/>
              </a:rPr>
              <a:t>One record at a time, held to a source</a:t>
            </a:r>
          </a:p>
        </p:txBody>
      </p:sp>
      <p:sp>
        <p:nvSpPr>
          <p:cNvPr id="4" name="Rectangle 3"/>
          <p:cNvSpPr/>
          <p:nvPr/>
        </p:nvSpPr>
        <p:spPr>
          <a:xfrm>
            <a:off x="777240" y="1371600"/>
            <a:ext cx="1828800" cy="45720"/>
          </a:xfrm>
          <a:prstGeom prst="rect">
            <a:avLst/>
          </a:prstGeom>
          <a:solidFill>
            <a:srgbClr val="B0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783080"/>
          <a:ext cx="7315200" cy="3749039"/>
        </p:xfrm>
        <a:graphic>
          <a:graphicData uri="http://schemas.openxmlformats.org/drawingml/2006/table">
            <a:tbl>
              <a:tblPr>
                <a:tableStyleId>{5C22544A-7EE6-4342-B048-85BDC9FD1C3A}</a:tableStyleId>
              </a:tblPr>
              <a:tblGrid>
                <a:gridCol w="2286000"/>
                <a:gridCol w="2468880"/>
                <a:gridCol w="1188720"/>
                <a:gridCol w="1371600"/>
              </a:tblGrid>
              <a:tr h="535577">
                <a:tc>
                  <a:txBody>
                    <a:bodyPr wrap="square"/>
                    <a:lstStyle/>
                    <a:p>
                      <a:pPr algn="l"/>
                      <a:r>
                        <a:rPr sz="1100" b="1">
                          <a:solidFill>
                            <a:srgbClr val="F4EFE6"/>
                          </a:solidFill>
                          <a:latin typeface="Georgia"/>
                        </a:rPr>
                        <a:t>Record</a:t>
                      </a:r>
                    </a:p>
                  </a:txBody>
                  <a:tcPr marL="73152" marR="54864" marT="27432" marB="27432" anchor="ctr">
                    <a:solidFill>
                      <a:srgbClr val="7A4A24"/>
                    </a:solidFill>
                  </a:tcPr>
                </a:tc>
                <a:tc>
                  <a:txBody>
                    <a:bodyPr wrap="square"/>
                    <a:lstStyle/>
                    <a:p>
                      <a:pPr algn="l"/>
                      <a:r>
                        <a:rPr sz="1100" b="1">
                          <a:solidFill>
                            <a:srgbClr val="F4EFE6"/>
                          </a:solidFill>
                          <a:latin typeface="Georgia"/>
                        </a:rPr>
                        <a:t>Person</a:t>
                      </a:r>
                    </a:p>
                  </a:txBody>
                  <a:tcPr marL="73152" marR="54864" marT="27432" marB="27432" anchor="ctr">
                    <a:solidFill>
                      <a:srgbClr val="7A4A24"/>
                    </a:solidFill>
                  </a:tcPr>
                </a:tc>
                <a:tc>
                  <a:txBody>
                    <a:bodyPr wrap="square"/>
                    <a:lstStyle/>
                    <a:p>
                      <a:pPr algn="l"/>
                      <a:r>
                        <a:rPr sz="1100" b="1">
                          <a:solidFill>
                            <a:srgbClr val="F4EFE6"/>
                          </a:solidFill>
                          <a:latin typeface="Georgia"/>
                        </a:rPr>
                        <a:t>Dated</a:t>
                      </a:r>
                    </a:p>
                  </a:txBody>
                  <a:tcPr marL="73152" marR="54864" marT="27432" marB="27432" anchor="ctr">
                    <a:solidFill>
                      <a:srgbClr val="7A4A24"/>
                    </a:solidFill>
                  </a:tcPr>
                </a:tc>
                <a:tc>
                  <a:txBody>
                    <a:bodyPr wrap="square"/>
                    <a:lstStyle/>
                    <a:p>
                      <a:pPr algn="l"/>
                      <a:r>
                        <a:rPr sz="1100" b="1">
                          <a:solidFill>
                            <a:srgbClr val="F4EFE6"/>
                          </a:solidFill>
                          <a:latin typeface="Georgia"/>
                        </a:rPr>
                        <a:t>Status</a:t>
                      </a:r>
                    </a:p>
                  </a:txBody>
                  <a:tcPr marL="73152" marR="54864" marT="27432" marB="27432" anchor="ctr">
                    <a:solidFill>
                      <a:srgbClr val="7A4A24"/>
                    </a:solidFill>
                  </a:tcPr>
                </a:tc>
              </a:tr>
              <a:tr h="535577">
                <a:tc>
                  <a:txBody>
                    <a:bodyPr wrap="square"/>
                    <a:lstStyle/>
                    <a:p>
                      <a:pPr algn="l"/>
                      <a:r>
                        <a:rPr sz="1100" b="0">
                          <a:solidFill>
                            <a:srgbClr val="2B2018"/>
                          </a:solidFill>
                          <a:latin typeface="Georgia"/>
                        </a:rPr>
                        <a:t>1940 federal census</a:t>
                      </a:r>
                    </a:p>
                  </a:txBody>
                  <a:tcPr marL="73152" marR="54864" marT="27432" marB="27432" anchor="ctr">
                    <a:solidFill>
                      <a:srgbClr val="FBF8F2"/>
                    </a:solidFill>
                  </a:tcPr>
                </a:tc>
                <a:tc>
                  <a:txBody>
                    <a:bodyPr wrap="square"/>
                    <a:lstStyle/>
                    <a:p>
                      <a:pPr algn="l"/>
                      <a:r>
                        <a:rPr sz="1100" b="0">
                          <a:solidFill>
                            <a:srgbClr val="2B2018"/>
                          </a:solidFill>
                          <a:latin typeface="Georgia"/>
                        </a:rPr>
                        <a:t>Walter Roberts</a:t>
                      </a:r>
                    </a:p>
                  </a:txBody>
                  <a:tcPr marL="73152" marR="54864" marT="27432" marB="27432" anchor="ctr">
                    <a:solidFill>
                      <a:srgbClr val="FBF8F2"/>
                    </a:solidFill>
                  </a:tcPr>
                </a:tc>
                <a:tc>
                  <a:txBody>
                    <a:bodyPr wrap="square"/>
                    <a:lstStyle/>
                    <a:p>
                      <a:pPr algn="l"/>
                      <a:r>
                        <a:rPr sz="1100" b="0">
                          <a:solidFill>
                            <a:srgbClr val="2B2018"/>
                          </a:solidFill>
                          <a:latin typeface="Georgia"/>
                        </a:rPr>
                        <a:t>Nov 1940</a:t>
                      </a:r>
                    </a:p>
                  </a:txBody>
                  <a:tcPr marL="73152" marR="54864" marT="27432" marB="27432" anchor="ctr">
                    <a:solidFill>
                      <a:srgbClr val="FBF8F2"/>
                    </a:solidFill>
                  </a:tcPr>
                </a:tc>
                <a:tc>
                  <a:txBody>
                    <a:bodyPr wrap="square"/>
                    <a:lstStyle/>
                    <a:p>
                      <a:pPr algn="l"/>
                      <a:r>
                        <a:rPr sz="1100" b="0">
                          <a:solidFill>
                            <a:srgbClr val="2B2018"/>
                          </a:solidFill>
                          <a:latin typeface="Georgia"/>
                        </a:rPr>
                        <a:t>Verified</a:t>
                      </a:r>
                    </a:p>
                  </a:txBody>
                  <a:tcPr marL="73152" marR="54864" marT="27432" marB="27432" anchor="ctr">
                    <a:solidFill>
                      <a:srgbClr val="FBF8F2"/>
                    </a:solidFill>
                  </a:tcPr>
                </a:tc>
              </a:tr>
              <a:tr h="535577">
                <a:tc>
                  <a:txBody>
                    <a:bodyPr wrap="square"/>
                    <a:lstStyle/>
                    <a:p>
                      <a:pPr algn="l"/>
                      <a:r>
                        <a:rPr sz="1100" b="0">
                          <a:solidFill>
                            <a:srgbClr val="2B2018"/>
                          </a:solidFill>
                          <a:latin typeface="Georgia"/>
                        </a:rPr>
                        <a:t>Marriage record</a:t>
                      </a:r>
                    </a:p>
                  </a:txBody>
                  <a:tcPr marL="73152" marR="54864" marT="27432" marB="27432" anchor="ctr">
                    <a:solidFill>
                      <a:srgbClr val="F1E9DA"/>
                    </a:solidFill>
                  </a:tcPr>
                </a:tc>
                <a:tc>
                  <a:txBody>
                    <a:bodyPr wrap="square"/>
                    <a:lstStyle/>
                    <a:p>
                      <a:pPr algn="l"/>
                      <a:r>
                        <a:rPr sz="1100" b="0">
                          <a:solidFill>
                            <a:srgbClr val="2B2018"/>
                          </a:solidFill>
                          <a:latin typeface="Georgia"/>
                        </a:rPr>
                        <a:t>Walter and Margaret Doyle</a:t>
                      </a:r>
                    </a:p>
                  </a:txBody>
                  <a:tcPr marL="73152" marR="54864" marT="27432" marB="27432" anchor="ctr">
                    <a:solidFill>
                      <a:srgbClr val="F1E9DA"/>
                    </a:solidFill>
                  </a:tcPr>
                </a:tc>
                <a:tc>
                  <a:txBody>
                    <a:bodyPr wrap="square"/>
                    <a:lstStyle/>
                    <a:p>
                      <a:pPr algn="l"/>
                      <a:r>
                        <a:rPr sz="1100" b="0">
                          <a:solidFill>
                            <a:srgbClr val="2B2018"/>
                          </a:solidFill>
                          <a:latin typeface="Georgia"/>
                        </a:rPr>
                        <a:t>Nov 1922</a:t>
                      </a:r>
                    </a:p>
                  </a:txBody>
                  <a:tcPr marL="73152" marR="54864" marT="27432" marB="27432" anchor="ctr">
                    <a:solidFill>
                      <a:srgbClr val="F1E9DA"/>
                    </a:solidFill>
                  </a:tcPr>
                </a:tc>
                <a:tc>
                  <a:txBody>
                    <a:bodyPr wrap="square"/>
                    <a:lstStyle/>
                    <a:p>
                      <a:pPr algn="l"/>
                      <a:r>
                        <a:rPr sz="1100" b="0">
                          <a:solidFill>
                            <a:srgbClr val="2B2018"/>
                          </a:solidFill>
                          <a:latin typeface="Georgia"/>
                        </a:rPr>
                        <a:t>Verified</a:t>
                      </a:r>
                    </a:p>
                  </a:txBody>
                  <a:tcPr marL="73152" marR="54864" marT="27432" marB="27432" anchor="ctr">
                    <a:solidFill>
                      <a:srgbClr val="F1E9DA"/>
                    </a:solidFill>
                  </a:tcPr>
                </a:tc>
              </a:tr>
              <a:tr h="535577">
                <a:tc>
                  <a:txBody>
                    <a:bodyPr wrap="square"/>
                    <a:lstStyle/>
                    <a:p>
                      <a:pPr algn="l"/>
                      <a:r>
                        <a:rPr sz="1100" b="0">
                          <a:solidFill>
                            <a:srgbClr val="2B2018"/>
                          </a:solidFill>
                          <a:latin typeface="Georgia"/>
                        </a:rPr>
                        <a:t>Baptismal register</a:t>
                      </a:r>
                    </a:p>
                  </a:txBody>
                  <a:tcPr marL="73152" marR="54864" marT="27432" marB="27432" anchor="ctr">
                    <a:solidFill>
                      <a:srgbClr val="FBF8F2"/>
                    </a:solidFill>
                  </a:tcPr>
                </a:tc>
                <a:tc>
                  <a:txBody>
                    <a:bodyPr wrap="square"/>
                    <a:lstStyle/>
                    <a:p>
                      <a:pPr algn="l"/>
                      <a:r>
                        <a:rPr sz="1100" b="0">
                          <a:solidFill>
                            <a:srgbClr val="2B2018"/>
                          </a:solidFill>
                          <a:latin typeface="Georgia"/>
                        </a:rPr>
                        <a:t>Raymond Roberts</a:t>
                      </a:r>
                    </a:p>
                  </a:txBody>
                  <a:tcPr marL="73152" marR="54864" marT="27432" marB="27432" anchor="ctr">
                    <a:solidFill>
                      <a:srgbClr val="FBF8F2"/>
                    </a:solidFill>
                  </a:tcPr>
                </a:tc>
                <a:tc>
                  <a:txBody>
                    <a:bodyPr wrap="square"/>
                    <a:lstStyle/>
                    <a:p>
                      <a:pPr algn="l"/>
                      <a:r>
                        <a:rPr sz="1100" b="0">
                          <a:solidFill>
                            <a:srgbClr val="2B2018"/>
                          </a:solidFill>
                          <a:latin typeface="Georgia"/>
                        </a:rPr>
                        <a:t>Feb 1925</a:t>
                      </a:r>
                    </a:p>
                  </a:txBody>
                  <a:tcPr marL="73152" marR="54864" marT="27432" marB="27432" anchor="ctr">
                    <a:solidFill>
                      <a:srgbClr val="FBF8F2"/>
                    </a:solidFill>
                  </a:tcPr>
                </a:tc>
                <a:tc>
                  <a:txBody>
                    <a:bodyPr wrap="square"/>
                    <a:lstStyle/>
                    <a:p>
                      <a:pPr algn="l"/>
                      <a:r>
                        <a:rPr sz="1100" b="0">
                          <a:solidFill>
                            <a:srgbClr val="2B2018"/>
                          </a:solidFill>
                          <a:latin typeface="Georgia"/>
                        </a:rPr>
                        <a:t>Verified</a:t>
                      </a:r>
                    </a:p>
                  </a:txBody>
                  <a:tcPr marL="73152" marR="54864" marT="27432" marB="27432" anchor="ctr">
                    <a:solidFill>
                      <a:srgbClr val="FBF8F2"/>
                    </a:solidFill>
                  </a:tcPr>
                </a:tc>
              </a:tr>
              <a:tr h="535577">
                <a:tc>
                  <a:txBody>
                    <a:bodyPr wrap="square"/>
                    <a:lstStyle/>
                    <a:p>
                      <a:pPr algn="l"/>
                      <a:r>
                        <a:rPr sz="1100" b="0">
                          <a:solidFill>
                            <a:srgbClr val="2B2018"/>
                          </a:solidFill>
                          <a:latin typeface="Georgia"/>
                        </a:rPr>
                        <a:t>Passenger manifest</a:t>
                      </a:r>
                    </a:p>
                  </a:txBody>
                  <a:tcPr marL="73152" marR="54864" marT="27432" marB="27432" anchor="ctr">
                    <a:solidFill>
                      <a:srgbClr val="F1E9DA"/>
                    </a:solidFill>
                  </a:tcPr>
                </a:tc>
                <a:tc>
                  <a:txBody>
                    <a:bodyPr wrap="square"/>
                    <a:lstStyle/>
                    <a:p>
                      <a:pPr algn="l"/>
                      <a:r>
                        <a:rPr sz="1100" b="0">
                          <a:solidFill>
                            <a:srgbClr val="2B2018"/>
                          </a:solidFill>
                          <a:latin typeface="Georgia"/>
                        </a:rPr>
                        <a:t>Thomas Roberts</a:t>
                      </a:r>
                    </a:p>
                  </a:txBody>
                  <a:tcPr marL="73152" marR="54864" marT="27432" marB="27432" anchor="ctr">
                    <a:solidFill>
                      <a:srgbClr val="F1E9DA"/>
                    </a:solidFill>
                  </a:tcPr>
                </a:tc>
                <a:tc>
                  <a:txBody>
                    <a:bodyPr wrap="square"/>
                    <a:lstStyle/>
                    <a:p>
                      <a:pPr algn="l"/>
                      <a:r>
                        <a:rPr sz="1100" b="0">
                          <a:solidFill>
                            <a:srgbClr val="2B2018"/>
                          </a:solidFill>
                          <a:latin typeface="Georgia"/>
                        </a:rPr>
                        <a:t>Nov 1891</a:t>
                      </a:r>
                    </a:p>
                  </a:txBody>
                  <a:tcPr marL="73152" marR="54864" marT="27432" marB="27432" anchor="ctr">
                    <a:solidFill>
                      <a:srgbClr val="F1E9DA"/>
                    </a:solidFill>
                  </a:tcPr>
                </a:tc>
                <a:tc>
                  <a:txBody>
                    <a:bodyPr wrap="square"/>
                    <a:lstStyle/>
                    <a:p>
                      <a:pPr algn="l"/>
                      <a:r>
                        <a:rPr sz="1100" b="0">
                          <a:solidFill>
                            <a:srgbClr val="2B2018"/>
                          </a:solidFill>
                          <a:latin typeface="Georgia"/>
                        </a:rPr>
                        <a:t>Probable</a:t>
                      </a:r>
                    </a:p>
                  </a:txBody>
                  <a:tcPr marL="73152" marR="54864" marT="27432" marB="27432" anchor="ctr">
                    <a:solidFill>
                      <a:srgbClr val="F1E9DA"/>
                    </a:solidFill>
                  </a:tcPr>
                </a:tc>
              </a:tr>
              <a:tr h="535577">
                <a:tc>
                  <a:txBody>
                    <a:bodyPr wrap="square"/>
                    <a:lstStyle/>
                    <a:p>
                      <a:pPr algn="l"/>
                      <a:r>
                        <a:rPr sz="1100" b="0">
                          <a:solidFill>
                            <a:srgbClr val="2B2018"/>
                          </a:solidFill>
                          <a:latin typeface="Georgia"/>
                        </a:rPr>
                        <a:t>Death certificate</a:t>
                      </a:r>
                    </a:p>
                  </a:txBody>
                  <a:tcPr marL="73152" marR="54864" marT="27432" marB="27432" anchor="ctr">
                    <a:solidFill>
                      <a:srgbClr val="FBF8F2"/>
                    </a:solidFill>
                  </a:tcPr>
                </a:tc>
                <a:tc>
                  <a:txBody>
                    <a:bodyPr wrap="square"/>
                    <a:lstStyle/>
                    <a:p>
                      <a:pPr algn="l"/>
                      <a:r>
                        <a:rPr sz="1100" b="0">
                          <a:solidFill>
                            <a:srgbClr val="2B2018"/>
                          </a:solidFill>
                          <a:latin typeface="Georgia"/>
                        </a:rPr>
                        <a:t>Thomas Roberts</a:t>
                      </a:r>
                    </a:p>
                  </a:txBody>
                  <a:tcPr marL="73152" marR="54864" marT="27432" marB="27432" anchor="ctr">
                    <a:solidFill>
                      <a:srgbClr val="FBF8F2"/>
                    </a:solidFill>
                  </a:tcPr>
                </a:tc>
                <a:tc>
                  <a:txBody>
                    <a:bodyPr wrap="square"/>
                    <a:lstStyle/>
                    <a:p>
                      <a:pPr algn="l"/>
                      <a:r>
                        <a:rPr sz="1100" b="0">
                          <a:solidFill>
                            <a:srgbClr val="2B2018"/>
                          </a:solidFill>
                          <a:latin typeface="Georgia"/>
                        </a:rPr>
                        <a:t>Dec 1936</a:t>
                      </a:r>
                    </a:p>
                  </a:txBody>
                  <a:tcPr marL="73152" marR="54864" marT="27432" marB="27432" anchor="ctr">
                    <a:solidFill>
                      <a:srgbClr val="FBF8F2"/>
                    </a:solidFill>
                  </a:tcPr>
                </a:tc>
                <a:tc>
                  <a:txBody>
                    <a:bodyPr wrap="square"/>
                    <a:lstStyle/>
                    <a:p>
                      <a:pPr algn="l"/>
                      <a:r>
                        <a:rPr sz="1100" b="0">
                          <a:solidFill>
                            <a:srgbClr val="2B2018"/>
                          </a:solidFill>
                          <a:latin typeface="Georgia"/>
                        </a:rPr>
                        <a:t>Verified</a:t>
                      </a:r>
                    </a:p>
                  </a:txBody>
                  <a:tcPr marL="73152" marR="54864" marT="27432" marB="27432" anchor="ctr">
                    <a:solidFill>
                      <a:srgbClr val="FBF8F2"/>
                    </a:solidFill>
                  </a:tcPr>
                </a:tc>
              </a:tr>
              <a:tr h="535577">
                <a:tc>
                  <a:txBody>
                    <a:bodyPr wrap="square"/>
                    <a:lstStyle/>
                    <a:p>
                      <a:pPr algn="l"/>
                      <a:r>
                        <a:rPr sz="1100" b="0">
                          <a:solidFill>
                            <a:srgbClr val="2B2018"/>
                          </a:solidFill>
                          <a:latin typeface="Georgia"/>
                        </a:rPr>
                        <a:t>Obituary clipping</a:t>
                      </a:r>
                    </a:p>
                  </a:txBody>
                  <a:tcPr marL="73152" marR="54864" marT="27432" marB="27432" anchor="ctr">
                    <a:solidFill>
                      <a:srgbClr val="F1E9DA"/>
                    </a:solidFill>
                  </a:tcPr>
                </a:tc>
                <a:tc>
                  <a:txBody>
                    <a:bodyPr wrap="square"/>
                    <a:lstStyle/>
                    <a:p>
                      <a:pPr algn="l"/>
                      <a:r>
                        <a:rPr sz="1100" b="0">
                          <a:solidFill>
                            <a:srgbClr val="2B2018"/>
                          </a:solidFill>
                          <a:latin typeface="Georgia"/>
                        </a:rPr>
                        <a:t>Raymond Roberts</a:t>
                      </a:r>
                    </a:p>
                  </a:txBody>
                  <a:tcPr marL="73152" marR="54864" marT="27432" marB="27432" anchor="ctr">
                    <a:solidFill>
                      <a:srgbClr val="F1E9DA"/>
                    </a:solidFill>
                  </a:tcPr>
                </a:tc>
                <a:tc>
                  <a:txBody>
                    <a:bodyPr wrap="square"/>
                    <a:lstStyle/>
                    <a:p>
                      <a:pPr algn="l"/>
                      <a:r>
                        <a:rPr sz="1100" b="0">
                          <a:solidFill>
                            <a:srgbClr val="2B2018"/>
                          </a:solidFill>
                          <a:latin typeface="Georgia"/>
                        </a:rPr>
                        <a:t>Nov 1998</a:t>
                      </a:r>
                    </a:p>
                  </a:txBody>
                  <a:tcPr marL="73152" marR="54864" marT="27432" marB="27432" anchor="ctr">
                    <a:solidFill>
                      <a:srgbClr val="F1E9DA"/>
                    </a:solidFill>
                  </a:tcPr>
                </a:tc>
                <a:tc>
                  <a:txBody>
                    <a:bodyPr wrap="square"/>
                    <a:lstStyle/>
                    <a:p>
                      <a:pPr algn="l"/>
                      <a:r>
                        <a:rPr sz="1100" b="0">
                          <a:solidFill>
                            <a:srgbClr val="2B2018"/>
                          </a:solidFill>
                          <a:latin typeface="Georgia"/>
                        </a:rPr>
                        <a:t>Verified</a:t>
                      </a:r>
                    </a:p>
                  </a:txBody>
                  <a:tcPr marL="73152" marR="54864" marT="27432" marB="27432" anchor="ctr">
                    <a:solidFill>
                      <a:srgbClr val="F1E9DA"/>
                    </a:solidFill>
                  </a:tcPr>
                </a:tc>
              </a:tr>
            </a:tbl>
          </a:graphicData>
        </a:graphic>
      </p:graphicFrame>
      <p:sp>
        <p:nvSpPr>
          <p:cNvPr id="6" name="Rounded Rectangle 5"/>
          <p:cNvSpPr/>
          <p:nvPr/>
        </p:nvSpPr>
        <p:spPr>
          <a:xfrm>
            <a:off x="8366760" y="1783080"/>
            <a:ext cx="2971800" cy="3749039"/>
          </a:xfrm>
          <a:prstGeom prst="roundRect">
            <a:avLst>
              <a:gd name="adj" fmla="val 5000"/>
            </a:avLst>
          </a:prstGeom>
          <a:solidFill>
            <a:srgbClr val="EFE6D6"/>
          </a:solidFill>
          <a:ln w="12700">
            <a:solidFill>
              <a:srgbClr val="D9CF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0" y="1965960"/>
            <a:ext cx="2606040" cy="365760"/>
          </a:xfrm>
          <a:prstGeom prst="rect">
            <a:avLst/>
          </a:prstGeom>
          <a:noFill/>
        </p:spPr>
        <p:txBody>
          <a:bodyPr wrap="square" anchor="t" lIns="25400" rIns="25400" tIns="12700" bIns="12700">
            <a:spAutoFit/>
          </a:bodyPr>
          <a:lstStyle/>
          <a:p>
            <a:pPr algn="l"/>
            <a:r>
              <a:rPr sz="1400" b="1" i="0">
                <a:solidFill>
                  <a:srgbClr val="7A4A24"/>
                </a:solidFill>
                <a:latin typeface="Georgia"/>
              </a:rPr>
              <a:t>The rule</a:t>
            </a:r>
          </a:p>
        </p:txBody>
      </p:sp>
      <p:sp>
        <p:nvSpPr>
          <p:cNvPr id="8" name="TextBox 7"/>
          <p:cNvSpPr txBox="1"/>
          <p:nvPr/>
        </p:nvSpPr>
        <p:spPr>
          <a:xfrm>
            <a:off x="8595360" y="2423160"/>
            <a:ext cx="2560320" cy="2926080"/>
          </a:xfrm>
          <a:prstGeom prst="rect">
            <a:avLst/>
          </a:prstGeom>
          <a:noFill/>
        </p:spPr>
        <p:txBody>
          <a:bodyPr wrap="square" anchor="t" lIns="25400" rIns="25400" tIns="12700" bIns="12700">
            <a:spAutoFit/>
          </a:bodyPr>
          <a:lstStyle/>
          <a:p>
            <a:pPr algn="l"/>
            <a:r>
              <a:rPr sz="1300" b="0" i="0">
                <a:solidFill>
                  <a:srgbClr val="6B6357"/>
                </a:solidFill>
                <a:latin typeface="Georgia"/>
              </a:rPr>
              <a:t>Nothing enters the tree as fact until a primary source holds it. Family stories are logged as leads, not truth. A name with one source stays probable until a second agrees.</a:t>
            </a:r>
          </a:p>
        </p:txBody>
      </p:sp>
      <p:sp>
        <p:nvSpPr>
          <p:cNvPr id="9" name="TextBox 8"/>
          <p:cNvSpPr txBox="1"/>
          <p:nvPr/>
        </p:nvSpPr>
        <p:spPr>
          <a:xfrm>
            <a:off x="548640" y="6419088"/>
            <a:ext cx="11064240" cy="320040"/>
          </a:xfrm>
          <a:prstGeom prst="rect">
            <a:avLst/>
          </a:prstGeom>
          <a:noFill/>
        </p:spPr>
        <p:txBody>
          <a:bodyPr wrap="square" anchor="t" lIns="25400" rIns="25400" tIns="12700" bIns="12700">
            <a:spAutoFit/>
          </a:bodyPr>
          <a:lstStyle/>
          <a:p>
            <a:pPr algn="l"/>
            <a:r>
              <a:rPr sz="850" b="0" i="1">
                <a:solidFill>
                  <a:srgbClr val="6B6357"/>
                </a:solidFill>
                <a:latin typeface="Georgia"/>
              </a:rPr>
              <a:t>Drawn from the research binder kept in the den study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777240" y="502920"/>
            <a:ext cx="10607040" cy="320040"/>
          </a:xfrm>
          <a:prstGeom prst="rect">
            <a:avLst/>
          </a:prstGeom>
          <a:noFill/>
        </p:spPr>
        <p:txBody>
          <a:bodyPr wrap="square" anchor="t" lIns="25400" rIns="25400" tIns="12700" bIns="12700">
            <a:spAutoFit/>
          </a:bodyPr>
          <a:lstStyle/>
          <a:p>
            <a:pPr algn="l"/>
            <a:r>
              <a:rPr sz="1200" b="1" i="0">
                <a:solidFill>
                  <a:srgbClr val="5F6B52"/>
                </a:solidFill>
                <a:latin typeface="Calibri"/>
              </a:rPr>
              <a:t>THE RESULTS</a:t>
            </a:r>
          </a:p>
        </p:txBody>
      </p:sp>
      <p:sp>
        <p:nvSpPr>
          <p:cNvPr id="3" name="TextBox 2"/>
          <p:cNvSpPr txBox="1"/>
          <p:nvPr/>
        </p:nvSpPr>
        <p:spPr>
          <a:xfrm>
            <a:off x="758952" y="777240"/>
            <a:ext cx="10607040" cy="548640"/>
          </a:xfrm>
          <a:prstGeom prst="rect">
            <a:avLst/>
          </a:prstGeom>
          <a:noFill/>
        </p:spPr>
        <p:txBody>
          <a:bodyPr wrap="square" anchor="t" lIns="25400" rIns="25400" tIns="12700" bIns="12700">
            <a:spAutoFit/>
          </a:bodyPr>
          <a:lstStyle/>
          <a:p>
            <a:pPr algn="l"/>
            <a:r>
              <a:rPr sz="2700" b="1" i="0">
                <a:solidFill>
                  <a:srgbClr val="7A4A24"/>
                </a:solidFill>
                <a:latin typeface="Georgia"/>
              </a:rPr>
              <a:t>Where the line stands</a:t>
            </a:r>
          </a:p>
        </p:txBody>
      </p:sp>
      <p:sp>
        <p:nvSpPr>
          <p:cNvPr id="4" name="Rectangle 3"/>
          <p:cNvSpPr/>
          <p:nvPr/>
        </p:nvSpPr>
        <p:spPr>
          <a:xfrm>
            <a:off x="777240" y="1371600"/>
            <a:ext cx="1828800" cy="45720"/>
          </a:xfrm>
          <a:prstGeom prst="rect">
            <a:avLst/>
          </a:prstGeom>
          <a:solidFill>
            <a:srgbClr val="B0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828800"/>
            <a:ext cx="2514600" cy="1554480"/>
          </a:xfrm>
          <a:prstGeom prst="roundRect">
            <a:avLst>
              <a:gd name="adj" fmla="val 8000"/>
            </a:avLst>
          </a:prstGeom>
          <a:solidFill>
            <a:srgbClr val="FBF8F2"/>
          </a:solidFill>
          <a:ln w="12700">
            <a:solidFill>
              <a:srgbClr val="D9CF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828800"/>
            <a:ext cx="2514600" cy="91440"/>
          </a:xfrm>
          <a:prstGeom prst="rect">
            <a:avLst/>
          </a:prstGeom>
          <a:solidFill>
            <a:srgbClr val="B0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2103120" cy="731520"/>
          </a:xfrm>
          <a:prstGeom prst="rect">
            <a:avLst/>
          </a:prstGeom>
          <a:noFill/>
        </p:spPr>
        <p:txBody>
          <a:bodyPr wrap="square" anchor="t" lIns="25400" rIns="25400" tIns="12700" bIns="12700">
            <a:spAutoFit/>
          </a:bodyPr>
          <a:lstStyle/>
          <a:p>
            <a:pPr algn="l"/>
            <a:r>
              <a:rPr sz="3400" b="1" i="0">
                <a:solidFill>
                  <a:srgbClr val="7A4A24"/>
                </a:solidFill>
                <a:latin typeface="Georgia"/>
              </a:rPr>
              <a:t>41</a:t>
            </a:r>
          </a:p>
        </p:txBody>
      </p:sp>
      <p:sp>
        <p:nvSpPr>
          <p:cNvPr id="8" name="TextBox 7"/>
          <p:cNvSpPr txBox="1"/>
          <p:nvPr/>
        </p:nvSpPr>
        <p:spPr>
          <a:xfrm>
            <a:off x="1005840" y="2880360"/>
            <a:ext cx="2103120" cy="365760"/>
          </a:xfrm>
          <a:prstGeom prst="rect">
            <a:avLst/>
          </a:prstGeom>
          <a:noFill/>
        </p:spPr>
        <p:txBody>
          <a:bodyPr wrap="square" anchor="t" lIns="25400" rIns="25400" tIns="12700" bIns="12700">
            <a:spAutoFit/>
          </a:bodyPr>
          <a:lstStyle/>
          <a:p>
            <a:pPr algn="l"/>
            <a:r>
              <a:rPr sz="1250" b="0" i="0">
                <a:solidFill>
                  <a:srgbClr val="6B6357"/>
                </a:solidFill>
                <a:latin typeface="Calibri"/>
              </a:rPr>
              <a:t>records logged</a:t>
            </a:r>
          </a:p>
        </p:txBody>
      </p:sp>
      <p:sp>
        <p:nvSpPr>
          <p:cNvPr id="9" name="Rounded Rectangle 8"/>
          <p:cNvSpPr/>
          <p:nvPr/>
        </p:nvSpPr>
        <p:spPr>
          <a:xfrm>
            <a:off x="3474720" y="1828800"/>
            <a:ext cx="2514600" cy="1554480"/>
          </a:xfrm>
          <a:prstGeom prst="roundRect">
            <a:avLst>
              <a:gd name="adj" fmla="val 8000"/>
            </a:avLst>
          </a:prstGeom>
          <a:solidFill>
            <a:srgbClr val="FBF8F2"/>
          </a:solidFill>
          <a:ln w="12700">
            <a:solidFill>
              <a:srgbClr val="D9CF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0" y="1828800"/>
            <a:ext cx="2514600" cy="91440"/>
          </a:xfrm>
          <a:prstGeom prst="rect">
            <a:avLst/>
          </a:prstGeom>
          <a:solidFill>
            <a:srgbClr val="B0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2011680"/>
            <a:ext cx="2103120" cy="731520"/>
          </a:xfrm>
          <a:prstGeom prst="rect">
            <a:avLst/>
          </a:prstGeom>
          <a:noFill/>
        </p:spPr>
        <p:txBody>
          <a:bodyPr wrap="square" anchor="t" lIns="25400" rIns="25400" tIns="12700" bIns="12700">
            <a:spAutoFit/>
          </a:bodyPr>
          <a:lstStyle/>
          <a:p>
            <a:pPr algn="l"/>
            <a:r>
              <a:rPr sz="3400" b="1" i="0">
                <a:solidFill>
                  <a:srgbClr val="7A4A24"/>
                </a:solidFill>
                <a:latin typeface="Georgia"/>
              </a:rPr>
              <a:t>4</a:t>
            </a:r>
          </a:p>
        </p:txBody>
      </p:sp>
      <p:sp>
        <p:nvSpPr>
          <p:cNvPr id="12" name="TextBox 11"/>
          <p:cNvSpPr txBox="1"/>
          <p:nvPr/>
        </p:nvSpPr>
        <p:spPr>
          <a:xfrm>
            <a:off x="3703320" y="2880360"/>
            <a:ext cx="2103120" cy="365760"/>
          </a:xfrm>
          <a:prstGeom prst="rect">
            <a:avLst/>
          </a:prstGeom>
          <a:noFill/>
        </p:spPr>
        <p:txBody>
          <a:bodyPr wrap="square" anchor="t" lIns="25400" rIns="25400" tIns="12700" bIns="12700">
            <a:spAutoFit/>
          </a:bodyPr>
          <a:lstStyle/>
          <a:p>
            <a:pPr algn="l"/>
            <a:r>
              <a:rPr sz="1250" b="0" i="0">
                <a:solidFill>
                  <a:srgbClr val="6B6357"/>
                </a:solidFill>
                <a:latin typeface="Calibri"/>
              </a:rPr>
              <a:t>generations traced</a:t>
            </a:r>
          </a:p>
        </p:txBody>
      </p:sp>
      <p:sp>
        <p:nvSpPr>
          <p:cNvPr id="13" name="Rounded Rectangle 12"/>
          <p:cNvSpPr/>
          <p:nvPr/>
        </p:nvSpPr>
        <p:spPr>
          <a:xfrm>
            <a:off x="6172200" y="1828800"/>
            <a:ext cx="2514600" cy="1554480"/>
          </a:xfrm>
          <a:prstGeom prst="roundRect">
            <a:avLst>
              <a:gd name="adj" fmla="val 8000"/>
            </a:avLst>
          </a:prstGeom>
          <a:solidFill>
            <a:srgbClr val="FBF8F2"/>
          </a:solidFill>
          <a:ln w="12700">
            <a:solidFill>
              <a:srgbClr val="D9CF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828800"/>
            <a:ext cx="2514600" cy="91440"/>
          </a:xfrm>
          <a:prstGeom prst="rect">
            <a:avLst/>
          </a:prstGeom>
          <a:solidFill>
            <a:srgbClr val="B0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011680"/>
            <a:ext cx="2103120" cy="731520"/>
          </a:xfrm>
          <a:prstGeom prst="rect">
            <a:avLst/>
          </a:prstGeom>
          <a:noFill/>
        </p:spPr>
        <p:txBody>
          <a:bodyPr wrap="square" anchor="t" lIns="25400" rIns="25400" tIns="12700" bIns="12700">
            <a:spAutoFit/>
          </a:bodyPr>
          <a:lstStyle/>
          <a:p>
            <a:pPr algn="l"/>
            <a:r>
              <a:rPr sz="3400" b="1" i="0">
                <a:solidFill>
                  <a:srgbClr val="7A4A24"/>
                </a:solidFill>
                <a:latin typeface="Georgia"/>
              </a:rPr>
              <a:t>1891</a:t>
            </a:r>
          </a:p>
        </p:txBody>
      </p:sp>
      <p:sp>
        <p:nvSpPr>
          <p:cNvPr id="16" name="TextBox 15"/>
          <p:cNvSpPr txBox="1"/>
          <p:nvPr/>
        </p:nvSpPr>
        <p:spPr>
          <a:xfrm>
            <a:off x="6400800" y="2880360"/>
            <a:ext cx="2103120" cy="365760"/>
          </a:xfrm>
          <a:prstGeom prst="rect">
            <a:avLst/>
          </a:prstGeom>
          <a:noFill/>
        </p:spPr>
        <p:txBody>
          <a:bodyPr wrap="square" anchor="t" lIns="25400" rIns="25400" tIns="12700" bIns="12700">
            <a:spAutoFit/>
          </a:bodyPr>
          <a:lstStyle/>
          <a:p>
            <a:pPr algn="l"/>
            <a:r>
              <a:rPr sz="1250" b="0" i="0">
                <a:solidFill>
                  <a:srgbClr val="6B6357"/>
                </a:solidFill>
                <a:latin typeface="Calibri"/>
              </a:rPr>
              <a:t>earliest crossing</a:t>
            </a:r>
          </a:p>
        </p:txBody>
      </p:sp>
      <p:sp>
        <p:nvSpPr>
          <p:cNvPr id="17" name="Rounded Rectangle 16"/>
          <p:cNvSpPr/>
          <p:nvPr/>
        </p:nvSpPr>
        <p:spPr>
          <a:xfrm>
            <a:off x="8869680" y="1828800"/>
            <a:ext cx="2514600" cy="1554480"/>
          </a:xfrm>
          <a:prstGeom prst="roundRect">
            <a:avLst>
              <a:gd name="adj" fmla="val 8000"/>
            </a:avLst>
          </a:prstGeom>
          <a:solidFill>
            <a:srgbClr val="FBF8F2"/>
          </a:solidFill>
          <a:ln w="12700">
            <a:solidFill>
              <a:srgbClr val="D9CF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69680" y="1828800"/>
            <a:ext cx="2514600" cy="91440"/>
          </a:xfrm>
          <a:prstGeom prst="rect">
            <a:avLst/>
          </a:prstGeom>
          <a:solidFill>
            <a:srgbClr val="B0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280" y="2011680"/>
            <a:ext cx="2103120" cy="731520"/>
          </a:xfrm>
          <a:prstGeom prst="rect">
            <a:avLst/>
          </a:prstGeom>
          <a:noFill/>
        </p:spPr>
        <p:txBody>
          <a:bodyPr wrap="square" anchor="t" lIns="25400" rIns="25400" tIns="12700" bIns="12700">
            <a:spAutoFit/>
          </a:bodyPr>
          <a:lstStyle/>
          <a:p>
            <a:pPr algn="l"/>
            <a:r>
              <a:rPr sz="3400" b="1" i="0">
                <a:solidFill>
                  <a:srgbClr val="7A4A24"/>
                </a:solidFill>
                <a:latin typeface="Georgia"/>
              </a:rPr>
              <a:t>28</a:t>
            </a:r>
          </a:p>
        </p:txBody>
      </p:sp>
      <p:sp>
        <p:nvSpPr>
          <p:cNvPr id="20" name="TextBox 19"/>
          <p:cNvSpPr txBox="1"/>
          <p:nvPr/>
        </p:nvSpPr>
        <p:spPr>
          <a:xfrm>
            <a:off x="9098280" y="2880360"/>
            <a:ext cx="2103120" cy="365760"/>
          </a:xfrm>
          <a:prstGeom prst="rect">
            <a:avLst/>
          </a:prstGeom>
          <a:noFill/>
        </p:spPr>
        <p:txBody>
          <a:bodyPr wrap="square" anchor="t" lIns="25400" rIns="25400" tIns="12700" bIns="12700">
            <a:spAutoFit/>
          </a:bodyPr>
          <a:lstStyle/>
          <a:p>
            <a:pPr algn="l"/>
            <a:r>
              <a:rPr sz="1250" b="0" i="0">
                <a:solidFill>
                  <a:srgbClr val="6B6357"/>
                </a:solidFill>
                <a:latin typeface="Calibri"/>
              </a:rPr>
              <a:t>verified sources</a:t>
            </a:r>
          </a:p>
        </p:txBody>
      </p:sp>
      <p:sp>
        <p:nvSpPr>
          <p:cNvPr id="21" name="Rounded Rectangle 20"/>
          <p:cNvSpPr/>
          <p:nvPr/>
        </p:nvSpPr>
        <p:spPr>
          <a:xfrm>
            <a:off x="777240" y="3703320"/>
            <a:ext cx="10561320" cy="2148840"/>
          </a:xfrm>
          <a:prstGeom prst="roundRect">
            <a:avLst>
              <a:gd name="adj" fmla="val 4000"/>
            </a:avLst>
          </a:prstGeom>
          <a:solidFill>
            <a:srgbClr val="FBF8F2"/>
          </a:solidFill>
          <a:ln w="12700">
            <a:solidFill>
              <a:srgbClr val="D9CF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886200"/>
            <a:ext cx="9966960" cy="365760"/>
          </a:xfrm>
          <a:prstGeom prst="rect">
            <a:avLst/>
          </a:prstGeom>
          <a:noFill/>
        </p:spPr>
        <p:txBody>
          <a:bodyPr wrap="square" anchor="t" lIns="25400" rIns="25400" tIns="12700" bIns="12700">
            <a:spAutoFit/>
          </a:bodyPr>
          <a:lstStyle/>
          <a:p>
            <a:pPr algn="l"/>
            <a:r>
              <a:rPr sz="1400" b="1" i="0">
                <a:solidFill>
                  <a:srgbClr val="2B2018"/>
                </a:solidFill>
                <a:latin typeface="Georgia"/>
              </a:rPr>
              <a:t>The confirmed line</a:t>
            </a:r>
          </a:p>
        </p:txBody>
      </p:sp>
      <p:sp>
        <p:nvSpPr>
          <p:cNvPr id="23" name="TextBox 22"/>
          <p:cNvSpPr txBox="1"/>
          <p:nvPr/>
        </p:nvSpPr>
        <p:spPr>
          <a:xfrm>
            <a:off x="1051560" y="4343400"/>
            <a:ext cx="10058400" cy="1280160"/>
          </a:xfrm>
          <a:prstGeom prst="rect">
            <a:avLst/>
          </a:prstGeom>
          <a:noFill/>
        </p:spPr>
        <p:txBody>
          <a:bodyPr wrap="square" anchor="t" lIns="25400" rIns="25400" tIns="12700" bIns="12700">
            <a:spAutoFit/>
          </a:bodyPr>
          <a:lstStyle/>
          <a:p>
            <a:pPr algn="l"/>
            <a:r>
              <a:rPr sz="1350" b="0" i="0">
                <a:solidFill>
                  <a:srgbClr val="6B6357"/>
                </a:solidFill>
                <a:latin typeface="Georgia"/>
              </a:rPr>
              <a:t>Thomas Roberts, an ironworker out of Merthyr Tydfil, Wales, is the probable immigrant ancestor, arriving in 1891. His son Walter (1898 to 1967) worked as an iron molder on Chicago's South Side, at 2236 South Sawyer Avenue. Walter's son Raymond (1925 to 1998), a machinist and Army veteran, was my father. The line runs iron, to iron, to the bench in my garage. It holds.</a:t>
            </a:r>
          </a:p>
        </p:txBody>
      </p:sp>
      <p:sp>
        <p:nvSpPr>
          <p:cNvPr id="24" name="TextBox 23"/>
          <p:cNvSpPr txBox="1"/>
          <p:nvPr/>
        </p:nvSpPr>
        <p:spPr>
          <a:xfrm>
            <a:off x="548640" y="6419088"/>
            <a:ext cx="11064240" cy="320040"/>
          </a:xfrm>
          <a:prstGeom prst="rect">
            <a:avLst/>
          </a:prstGeom>
          <a:noFill/>
        </p:spPr>
        <p:txBody>
          <a:bodyPr wrap="square" anchor="t" lIns="25400" rIns="25400" tIns="12700" bIns="12700">
            <a:spAutoFit/>
          </a:bodyPr>
          <a:lstStyle/>
          <a:p>
            <a:pPr algn="l"/>
            <a:r>
              <a:rPr sz="850" b="0" i="1">
                <a:solidFill>
                  <a:srgbClr val="6B6357"/>
                </a:solidFill>
                <a:latin typeface="Georgia"/>
              </a:rPr>
              <a:t>The Roberts Line   |   reviewed February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777240" y="502920"/>
            <a:ext cx="10607040" cy="320040"/>
          </a:xfrm>
          <a:prstGeom prst="rect">
            <a:avLst/>
          </a:prstGeom>
          <a:noFill/>
        </p:spPr>
        <p:txBody>
          <a:bodyPr wrap="square" anchor="t" lIns="25400" rIns="25400" tIns="12700" bIns="12700">
            <a:spAutoFit/>
          </a:bodyPr>
          <a:lstStyle/>
          <a:p>
            <a:pPr algn="l"/>
            <a:r>
              <a:rPr sz="1200" b="1" i="0">
                <a:solidFill>
                  <a:srgbClr val="5F6B52"/>
                </a:solidFill>
                <a:latin typeface="Calibri"/>
              </a:rPr>
              <a:t>NEXT STEPS</a:t>
            </a:r>
          </a:p>
        </p:txBody>
      </p:sp>
      <p:sp>
        <p:nvSpPr>
          <p:cNvPr id="3" name="TextBox 2"/>
          <p:cNvSpPr txBox="1"/>
          <p:nvPr/>
        </p:nvSpPr>
        <p:spPr>
          <a:xfrm>
            <a:off x="758952" y="777240"/>
            <a:ext cx="10607040" cy="548640"/>
          </a:xfrm>
          <a:prstGeom prst="rect">
            <a:avLst/>
          </a:prstGeom>
          <a:noFill/>
        </p:spPr>
        <p:txBody>
          <a:bodyPr wrap="square" anchor="t" lIns="25400" rIns="25400" tIns="12700" bIns="12700">
            <a:spAutoFit/>
          </a:bodyPr>
          <a:lstStyle/>
          <a:p>
            <a:pPr algn="l"/>
            <a:r>
              <a:rPr sz="2700" b="1" i="0">
                <a:solidFill>
                  <a:srgbClr val="7A4A24"/>
                </a:solidFill>
                <a:latin typeface="Georgia"/>
              </a:rPr>
              <a:t>The open questions</a:t>
            </a:r>
          </a:p>
        </p:txBody>
      </p:sp>
      <p:sp>
        <p:nvSpPr>
          <p:cNvPr id="4" name="Rectangle 3"/>
          <p:cNvSpPr/>
          <p:nvPr/>
        </p:nvSpPr>
        <p:spPr>
          <a:xfrm>
            <a:off x="777240" y="1371600"/>
            <a:ext cx="1828800" cy="45720"/>
          </a:xfrm>
          <a:prstGeom prst="rect">
            <a:avLst/>
          </a:prstGeom>
          <a:solidFill>
            <a:srgbClr val="B0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828800"/>
            <a:ext cx="5120640" cy="1737360"/>
          </a:xfrm>
          <a:prstGeom prst="roundRect">
            <a:avLst>
              <a:gd name="adj" fmla="val 5000"/>
            </a:avLst>
          </a:prstGeom>
          <a:solidFill>
            <a:srgbClr val="FBF8F2"/>
          </a:solidFill>
          <a:ln w="12700">
            <a:solidFill>
              <a:srgbClr val="D9CF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011680"/>
            <a:ext cx="822960" cy="548640"/>
          </a:xfrm>
          <a:prstGeom prst="rect">
            <a:avLst/>
          </a:prstGeom>
          <a:noFill/>
        </p:spPr>
        <p:txBody>
          <a:bodyPr wrap="square" anchor="t" lIns="25400" rIns="25400" tIns="12700" bIns="12700">
            <a:spAutoFit/>
          </a:bodyPr>
          <a:lstStyle/>
          <a:p>
            <a:pPr algn="l"/>
            <a:r>
              <a:rPr sz="2400" b="1" i="0">
                <a:solidFill>
                  <a:srgbClr val="B07A3C"/>
                </a:solidFill>
                <a:latin typeface="Georgia"/>
              </a:rPr>
              <a:t>1</a:t>
            </a:r>
          </a:p>
        </p:txBody>
      </p:sp>
      <p:sp>
        <p:nvSpPr>
          <p:cNvPr id="7" name="TextBox 6"/>
          <p:cNvSpPr txBox="1"/>
          <p:nvPr/>
        </p:nvSpPr>
        <p:spPr>
          <a:xfrm>
            <a:off x="1828800" y="2057400"/>
            <a:ext cx="3840480" cy="457200"/>
          </a:xfrm>
          <a:prstGeom prst="rect">
            <a:avLst/>
          </a:prstGeom>
          <a:noFill/>
        </p:spPr>
        <p:txBody>
          <a:bodyPr wrap="square" anchor="t" lIns="25400" rIns="25400" tIns="12700" bIns="12700">
            <a:spAutoFit/>
          </a:bodyPr>
          <a:lstStyle/>
          <a:p>
            <a:pPr algn="l"/>
            <a:r>
              <a:rPr sz="1500" b="1" i="0">
                <a:solidFill>
                  <a:srgbClr val="7A4A24"/>
                </a:solidFill>
                <a:latin typeface="Georgia"/>
              </a:rPr>
              <a:t>Corroborate Wales</a:t>
            </a:r>
          </a:p>
        </p:txBody>
      </p:sp>
      <p:sp>
        <p:nvSpPr>
          <p:cNvPr id="8" name="TextBox 7"/>
          <p:cNvSpPr txBox="1"/>
          <p:nvPr/>
        </p:nvSpPr>
        <p:spPr>
          <a:xfrm>
            <a:off x="1828800" y="2514600"/>
            <a:ext cx="3886200" cy="914400"/>
          </a:xfrm>
          <a:prstGeom prst="rect">
            <a:avLst/>
          </a:prstGeom>
          <a:noFill/>
        </p:spPr>
        <p:txBody>
          <a:bodyPr wrap="square" anchor="t" lIns="25400" rIns="25400" tIns="12700" bIns="12700">
            <a:spAutoFit/>
          </a:bodyPr>
          <a:lstStyle/>
          <a:p>
            <a:pPr algn="l"/>
            <a:r>
              <a:rPr sz="1250" b="0" i="0">
                <a:solidFill>
                  <a:srgbClr val="6B6357"/>
                </a:solidFill>
                <a:latin typeface="Georgia"/>
              </a:rPr>
              <a:t>Find a second source for the Merthyr Tydfil origin before accepting the 1891 manifest.</a:t>
            </a:r>
          </a:p>
        </p:txBody>
      </p:sp>
      <p:sp>
        <p:nvSpPr>
          <p:cNvPr id="9" name="Rounded Rectangle 8"/>
          <p:cNvSpPr/>
          <p:nvPr/>
        </p:nvSpPr>
        <p:spPr>
          <a:xfrm>
            <a:off x="6126479" y="1828800"/>
            <a:ext cx="5120640" cy="1737360"/>
          </a:xfrm>
          <a:prstGeom prst="roundRect">
            <a:avLst>
              <a:gd name="adj" fmla="val 5000"/>
            </a:avLst>
          </a:prstGeom>
          <a:solidFill>
            <a:srgbClr val="FBF8F2"/>
          </a:solidFill>
          <a:ln w="12700">
            <a:solidFill>
              <a:srgbClr val="D9CF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799" y="2011680"/>
            <a:ext cx="822960" cy="548640"/>
          </a:xfrm>
          <a:prstGeom prst="rect">
            <a:avLst/>
          </a:prstGeom>
          <a:noFill/>
        </p:spPr>
        <p:txBody>
          <a:bodyPr wrap="square" anchor="t" lIns="25400" rIns="25400" tIns="12700" bIns="12700">
            <a:spAutoFit/>
          </a:bodyPr>
          <a:lstStyle/>
          <a:p>
            <a:pPr algn="l"/>
            <a:r>
              <a:rPr sz="2400" b="1" i="0">
                <a:solidFill>
                  <a:srgbClr val="B07A3C"/>
                </a:solidFill>
                <a:latin typeface="Georgia"/>
              </a:rPr>
              <a:t>2</a:t>
            </a:r>
          </a:p>
        </p:txBody>
      </p:sp>
      <p:sp>
        <p:nvSpPr>
          <p:cNvPr id="11" name="TextBox 10"/>
          <p:cNvSpPr txBox="1"/>
          <p:nvPr/>
        </p:nvSpPr>
        <p:spPr>
          <a:xfrm>
            <a:off x="7178040" y="2057400"/>
            <a:ext cx="3840480" cy="457200"/>
          </a:xfrm>
          <a:prstGeom prst="rect">
            <a:avLst/>
          </a:prstGeom>
          <a:noFill/>
        </p:spPr>
        <p:txBody>
          <a:bodyPr wrap="square" anchor="t" lIns="25400" rIns="25400" tIns="12700" bIns="12700">
            <a:spAutoFit/>
          </a:bodyPr>
          <a:lstStyle/>
          <a:p>
            <a:pPr algn="l"/>
            <a:r>
              <a:rPr sz="1500" b="1" i="0">
                <a:solidFill>
                  <a:srgbClr val="7A4A24"/>
                </a:solidFill>
                <a:latin typeface="Georgia"/>
              </a:rPr>
              <a:t>The foundry ledgers</a:t>
            </a:r>
          </a:p>
        </p:txBody>
      </p:sp>
      <p:sp>
        <p:nvSpPr>
          <p:cNvPr id="12" name="TextBox 11"/>
          <p:cNvSpPr txBox="1"/>
          <p:nvPr/>
        </p:nvSpPr>
        <p:spPr>
          <a:xfrm>
            <a:off x="7178040" y="2514600"/>
            <a:ext cx="3886200" cy="914400"/>
          </a:xfrm>
          <a:prstGeom prst="rect">
            <a:avLst/>
          </a:prstGeom>
          <a:noFill/>
        </p:spPr>
        <p:txBody>
          <a:bodyPr wrap="square" anchor="t" lIns="25400" rIns="25400" tIns="12700" bIns="12700">
            <a:spAutoFit/>
          </a:bodyPr>
          <a:lstStyle/>
          <a:p>
            <a:pPr algn="l"/>
            <a:r>
              <a:rPr sz="1250" b="0" i="0">
                <a:solidFill>
                  <a:srgbClr val="6B6357"/>
                </a:solidFill>
                <a:latin typeface="Georgia"/>
              </a:rPr>
              <a:t>Await the reply from the South Side historic site on employment records for Walter.</a:t>
            </a:r>
          </a:p>
        </p:txBody>
      </p:sp>
      <p:sp>
        <p:nvSpPr>
          <p:cNvPr id="13" name="Rounded Rectangle 12"/>
          <p:cNvSpPr/>
          <p:nvPr/>
        </p:nvSpPr>
        <p:spPr>
          <a:xfrm>
            <a:off x="777240" y="3794760"/>
            <a:ext cx="5120640" cy="1737360"/>
          </a:xfrm>
          <a:prstGeom prst="roundRect">
            <a:avLst>
              <a:gd name="adj" fmla="val 5000"/>
            </a:avLst>
          </a:prstGeom>
          <a:solidFill>
            <a:srgbClr val="FBF8F2"/>
          </a:solidFill>
          <a:ln w="12700">
            <a:solidFill>
              <a:srgbClr val="D9CF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977640"/>
            <a:ext cx="822960" cy="548640"/>
          </a:xfrm>
          <a:prstGeom prst="rect">
            <a:avLst/>
          </a:prstGeom>
          <a:noFill/>
        </p:spPr>
        <p:txBody>
          <a:bodyPr wrap="square" anchor="t" lIns="25400" rIns="25400" tIns="12700" bIns="12700">
            <a:spAutoFit/>
          </a:bodyPr>
          <a:lstStyle/>
          <a:p>
            <a:pPr algn="l"/>
            <a:r>
              <a:rPr sz="2400" b="1" i="0">
                <a:solidFill>
                  <a:srgbClr val="B07A3C"/>
                </a:solidFill>
                <a:latin typeface="Georgia"/>
              </a:rPr>
              <a:t>3</a:t>
            </a:r>
          </a:p>
        </p:txBody>
      </p:sp>
      <p:sp>
        <p:nvSpPr>
          <p:cNvPr id="15" name="TextBox 14"/>
          <p:cNvSpPr txBox="1"/>
          <p:nvPr/>
        </p:nvSpPr>
        <p:spPr>
          <a:xfrm>
            <a:off x="1828800" y="4023360"/>
            <a:ext cx="3840480" cy="457200"/>
          </a:xfrm>
          <a:prstGeom prst="rect">
            <a:avLst/>
          </a:prstGeom>
          <a:noFill/>
        </p:spPr>
        <p:txBody>
          <a:bodyPr wrap="square" anchor="t" lIns="25400" rIns="25400" tIns="12700" bIns="12700">
            <a:spAutoFit/>
          </a:bodyPr>
          <a:lstStyle/>
          <a:p>
            <a:pPr algn="l"/>
            <a:r>
              <a:rPr sz="1500" b="1" i="0">
                <a:solidFill>
                  <a:srgbClr val="7A4A24"/>
                </a:solidFill>
                <a:latin typeface="Georgia"/>
              </a:rPr>
              <a:t>Begin the Foster line</a:t>
            </a:r>
          </a:p>
        </p:txBody>
      </p:sp>
      <p:sp>
        <p:nvSpPr>
          <p:cNvPr id="16" name="TextBox 15"/>
          <p:cNvSpPr txBox="1"/>
          <p:nvPr/>
        </p:nvSpPr>
        <p:spPr>
          <a:xfrm>
            <a:off x="1828800" y="4480560"/>
            <a:ext cx="3886200" cy="914400"/>
          </a:xfrm>
          <a:prstGeom prst="rect">
            <a:avLst/>
          </a:prstGeom>
          <a:noFill/>
        </p:spPr>
        <p:txBody>
          <a:bodyPr wrap="square" anchor="t" lIns="25400" rIns="25400" tIns="12700" bIns="12700">
            <a:spAutoFit/>
          </a:bodyPr>
          <a:lstStyle/>
          <a:p>
            <a:pPr algn="l"/>
            <a:r>
              <a:rPr sz="1250" b="0" i="0">
                <a:solidFill>
                  <a:srgbClr val="6B6357"/>
                </a:solidFill>
                <a:latin typeface="Georgia"/>
              </a:rPr>
              <a:t>Start Carol's people properly, working back from her parents in the same careful way.</a:t>
            </a:r>
          </a:p>
        </p:txBody>
      </p:sp>
      <p:sp>
        <p:nvSpPr>
          <p:cNvPr id="17" name="Rounded Rectangle 16"/>
          <p:cNvSpPr/>
          <p:nvPr/>
        </p:nvSpPr>
        <p:spPr>
          <a:xfrm>
            <a:off x="6126479" y="3794760"/>
            <a:ext cx="5120640" cy="1737360"/>
          </a:xfrm>
          <a:prstGeom prst="roundRect">
            <a:avLst>
              <a:gd name="adj" fmla="val 5000"/>
            </a:avLst>
          </a:prstGeom>
          <a:solidFill>
            <a:srgbClr val="FBF8F2"/>
          </a:solidFill>
          <a:ln w="12700">
            <a:solidFill>
              <a:srgbClr val="D9CF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799" y="3977640"/>
            <a:ext cx="822960" cy="548640"/>
          </a:xfrm>
          <a:prstGeom prst="rect">
            <a:avLst/>
          </a:prstGeom>
          <a:noFill/>
        </p:spPr>
        <p:txBody>
          <a:bodyPr wrap="square" anchor="t" lIns="25400" rIns="25400" tIns="12700" bIns="12700">
            <a:spAutoFit/>
          </a:bodyPr>
          <a:lstStyle/>
          <a:p>
            <a:pPr algn="l"/>
            <a:r>
              <a:rPr sz="2400" b="1" i="0">
                <a:solidFill>
                  <a:srgbClr val="B07A3C"/>
                </a:solidFill>
                <a:latin typeface="Georgia"/>
              </a:rPr>
              <a:t>4</a:t>
            </a:r>
          </a:p>
        </p:txBody>
      </p:sp>
      <p:sp>
        <p:nvSpPr>
          <p:cNvPr id="19" name="TextBox 18"/>
          <p:cNvSpPr txBox="1"/>
          <p:nvPr/>
        </p:nvSpPr>
        <p:spPr>
          <a:xfrm>
            <a:off x="7178040" y="4023360"/>
            <a:ext cx="3840480" cy="457200"/>
          </a:xfrm>
          <a:prstGeom prst="rect">
            <a:avLst/>
          </a:prstGeom>
          <a:noFill/>
        </p:spPr>
        <p:txBody>
          <a:bodyPr wrap="square" anchor="t" lIns="25400" rIns="25400" tIns="12700" bIns="12700">
            <a:spAutoFit/>
          </a:bodyPr>
          <a:lstStyle/>
          <a:p>
            <a:pPr algn="l"/>
            <a:r>
              <a:rPr sz="1500" b="1" i="0">
                <a:solidFill>
                  <a:srgbClr val="7A4A24"/>
                </a:solidFill>
                <a:latin typeface="Georgia"/>
              </a:rPr>
              <a:t>Write it up</a:t>
            </a:r>
          </a:p>
        </p:txBody>
      </p:sp>
      <p:sp>
        <p:nvSpPr>
          <p:cNvPr id="20" name="TextBox 19"/>
          <p:cNvSpPr txBox="1"/>
          <p:nvPr/>
        </p:nvSpPr>
        <p:spPr>
          <a:xfrm>
            <a:off x="7178040" y="4480560"/>
            <a:ext cx="3886200" cy="914400"/>
          </a:xfrm>
          <a:prstGeom prst="rect">
            <a:avLst/>
          </a:prstGeom>
          <a:noFill/>
        </p:spPr>
        <p:txBody>
          <a:bodyPr wrap="square" anchor="t" lIns="25400" rIns="25400" tIns="12700" bIns="12700">
            <a:spAutoFit/>
          </a:bodyPr>
          <a:lstStyle/>
          <a:p>
            <a:pPr algn="l"/>
            <a:r>
              <a:rPr sz="1250" b="0" i="0">
                <a:solidFill>
                  <a:srgbClr val="6B6357"/>
                </a:solidFill>
                <a:latin typeface="Georgia"/>
              </a:rPr>
              <a:t>Turn the verified line into a short bound account for Meg, Tom, and the grandchildren.</a:t>
            </a:r>
          </a:p>
        </p:txBody>
      </p:sp>
      <p:sp>
        <p:nvSpPr>
          <p:cNvPr id="21" name="TextBox 20"/>
          <p:cNvSpPr txBox="1"/>
          <p:nvPr/>
        </p:nvSpPr>
        <p:spPr>
          <a:xfrm>
            <a:off x="548640" y="6419088"/>
            <a:ext cx="11064240" cy="320040"/>
          </a:xfrm>
          <a:prstGeom prst="rect">
            <a:avLst/>
          </a:prstGeom>
          <a:noFill/>
        </p:spPr>
        <p:txBody>
          <a:bodyPr wrap="square" anchor="t" lIns="25400" rIns="25400" tIns="12700" bIns="12700">
            <a:spAutoFit/>
          </a:bodyPr>
          <a:lstStyle/>
          <a:p>
            <a:pPr algn="l"/>
            <a:r>
              <a:rPr sz="850" b="0" i="1">
                <a:solidFill>
                  <a:srgbClr val="6B6357"/>
                </a:solidFill>
                <a:latin typeface="Georgia"/>
              </a:rPr>
              <a:t>In no hurry, and happy to follow whatever process suits the archive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