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D99A2B"/>
              </a:solidFill>
              <a:ln w="1524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B5542F"/>
              </a:solidFill>
              <a:ln w="1524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4A8A86"/>
              </a:solidFill>
              <a:ln w="1524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7F95A3"/>
              </a:solidFill>
              <a:ln w="15240">
                <a:solidFill>
                  <a:srgbClr val="FFFFFF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Photographs</c:v>
                </c:pt>
                <c:pt idx="1">
                  <c:v>Ledgers and records</c:v>
                </c:pt>
                <c:pt idx="2">
                  <c:v>Correspondence</c:v>
                </c:pt>
                <c:pt idx="3">
                  <c:v>Maps and drawings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47</c:v>
                </c:pt>
                <c:pt idx="1">
                  <c:v>24</c:v>
                </c:pt>
                <c:pt idx="2">
                  <c:v>17</c:v>
                </c:pt>
                <c:pt idx="3">
                  <c:v>12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900" b="1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1000">
              <a:solidFill>
                <a:srgbClr val="E9E4D8"/>
              </a:solidFill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Visitors</c:v>
                </c:pt>
              </c:strCache>
            </c:strRef>
          </c:tx>
          <c:spPr>
            <a:solidFill>
              <a:srgbClr val="D99A2B"/>
            </a:solidFill>
          </c:spPr>
          <c:cat>
            <c:strRef>
              <c:f>Sheet1!$A$2:$A$6</c:f>
              <c:strCache>
                <c:ptCount val="5"/>
                <c:pt idx="0">
                  <c:v>Oct</c:v>
                </c:pt>
                <c:pt idx="1">
                  <c:v>Nov</c:v>
                </c:pt>
                <c:pt idx="2">
                  <c:v>Dec</c:v>
                </c:pt>
                <c:pt idx="3">
                  <c:v>Jan</c:v>
                </c:pt>
                <c:pt idx="4">
                  <c:v>Feb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540</c:v>
                </c:pt>
                <c:pt idx="1">
                  <c:v>410</c:v>
                </c:pt>
                <c:pt idx="2">
                  <c:v>300</c:v>
                </c:pt>
                <c:pt idx="3">
                  <c:v>260</c:v>
                </c:pt>
                <c:pt idx="4">
                  <c:v>320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BBBBB"/>
            </a:solidFill>
          </a:ln>
        </c:spPr>
        <c:txPr>
          <a:bodyPr/>
          <a:lstStyle/>
          <a:p>
            <a:pPr>
              <a:defRPr sz="1000">
                <a:solidFill>
                  <a:srgbClr val="E9E4D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DDDDD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solidFill>
              <a:srgbClr val="BBBBBB"/>
            </a:solidFill>
          </a:ln>
        </c:spPr>
        <c:txPr>
          <a:bodyPr/>
          <a:lstStyle/>
          <a:p>
            <a:pPr>
              <a:defRPr sz="1000">
                <a:solidFill>
                  <a:srgbClr val="E9E4D8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4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457200" y="-457200"/>
            <a:ext cx="457200" cy="7772400"/>
          </a:xfrm>
          <a:prstGeom prst="rect">
            <a:avLst/>
          </a:prstGeom>
          <a:solidFill>
            <a:srgbClr val="1B2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-457200"/>
            <a:ext cx="457200" cy="7772400"/>
          </a:xfrm>
          <a:prstGeom prst="rect">
            <a:avLst/>
          </a:prstGeom>
          <a:solidFill>
            <a:srgbClr val="212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63040" y="-457200"/>
            <a:ext cx="457200" cy="7772400"/>
          </a:xfrm>
          <a:prstGeom prst="rect">
            <a:avLst/>
          </a:prstGeom>
          <a:solidFill>
            <a:srgbClr val="1B2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23160" y="-457200"/>
            <a:ext cx="457200" cy="7772400"/>
          </a:xfrm>
          <a:prstGeom prst="rect">
            <a:avLst/>
          </a:prstGeom>
          <a:solidFill>
            <a:srgbClr val="212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83280" y="-457200"/>
            <a:ext cx="457200" cy="7772400"/>
          </a:xfrm>
          <a:prstGeom prst="rect">
            <a:avLst/>
          </a:prstGeom>
          <a:solidFill>
            <a:srgbClr val="1B2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-457200"/>
            <a:ext cx="457200" cy="7772400"/>
          </a:xfrm>
          <a:prstGeom prst="rect">
            <a:avLst/>
          </a:prstGeom>
          <a:solidFill>
            <a:srgbClr val="212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03520" y="-457200"/>
            <a:ext cx="457200" cy="7772400"/>
          </a:xfrm>
          <a:prstGeom prst="rect">
            <a:avLst/>
          </a:prstGeom>
          <a:solidFill>
            <a:srgbClr val="1B2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-457200"/>
            <a:ext cx="457200" cy="7772400"/>
          </a:xfrm>
          <a:prstGeom prst="rect">
            <a:avLst/>
          </a:prstGeom>
          <a:solidFill>
            <a:srgbClr val="212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23760" y="-457200"/>
            <a:ext cx="457200" cy="7772400"/>
          </a:xfrm>
          <a:prstGeom prst="rect">
            <a:avLst/>
          </a:prstGeom>
          <a:solidFill>
            <a:srgbClr val="1B2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83880" y="-457200"/>
            <a:ext cx="457200" cy="7772400"/>
          </a:xfrm>
          <a:prstGeom prst="rect">
            <a:avLst/>
          </a:prstGeom>
          <a:solidFill>
            <a:srgbClr val="212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0" y="-457200"/>
            <a:ext cx="457200" cy="7772400"/>
          </a:xfrm>
          <a:prstGeom prst="rect">
            <a:avLst/>
          </a:prstGeom>
          <a:solidFill>
            <a:srgbClr val="1B2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104120" y="-457200"/>
            <a:ext cx="457200" cy="7772400"/>
          </a:xfrm>
          <a:prstGeom prst="rect">
            <a:avLst/>
          </a:prstGeom>
          <a:solidFill>
            <a:srgbClr val="212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064240" y="-457200"/>
            <a:ext cx="457200" cy="7772400"/>
          </a:xfrm>
          <a:prstGeom prst="rect">
            <a:avLst/>
          </a:prstGeom>
          <a:solidFill>
            <a:srgbClr val="1B2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24360" y="-457200"/>
            <a:ext cx="457200" cy="7772400"/>
          </a:xfrm>
          <a:prstGeom prst="rect">
            <a:avLst/>
          </a:prstGeom>
          <a:solidFill>
            <a:srgbClr val="212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2011680"/>
            <a:ext cx="3108960" cy="457200"/>
          </a:xfrm>
          <a:prstGeom prst="rect">
            <a:avLst/>
          </a:prstGeom>
          <a:noFill/>
          <a:ln w="1524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2084831"/>
            <a:ext cx="29260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1" i="0">
                <a:solidFill>
                  <a:srgbClr val="D99A2B"/>
                </a:solidFill>
                <a:latin typeface="Arial"/>
              </a:rPr>
              <a:t>DUPAGE COUNTY HISTORICAL SOCIETY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697480"/>
            <a:ext cx="10607040" cy="1554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5400" b="1" i="0">
                <a:solidFill>
                  <a:srgbClr val="E9E4D8"/>
                </a:solidFill>
                <a:latin typeface="Arial"/>
              </a:rPr>
              <a:t>The Unmonumented</a:t>
            </a:r>
          </a:p>
          <a:p>
            <a:pPr algn="l"/>
            <a:r>
              <a:rPr sz="2200" b="0" i="1">
                <a:solidFill>
                  <a:srgbClr val="D99A2B"/>
                </a:solidFill>
                <a:latin typeface="Arial"/>
              </a:rPr>
              <a:t>The trades that built DuPage County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754880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 i="0">
                <a:solidFill>
                  <a:srgbClr val="9AA4A9"/>
                </a:solidFill>
                <a:latin typeface="Arial"/>
              </a:rPr>
              <a:t>An exhibit proposal, budget, and plan for the main gallery. Prepared for the events committee by the Thursday digitization crew.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7F95A3"/>
                </a:solidFill>
                <a:latin typeface="Arial"/>
              </a:rPr>
              <a:t>Naperville, Illinois   |   February 2026   |   Opening October 10,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4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28016" cy="566928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070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D99A2B"/>
                </a:solidFill>
                <a:latin typeface="Arial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070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700" b="1" i="0">
                <a:solidFill>
                  <a:srgbClr val="E9E4D8"/>
                </a:solidFill>
                <a:latin typeface="Arial"/>
              </a:rPr>
              <a:t>A working history with no monument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3429000" cy="3108960"/>
          </a:xfrm>
          <a:prstGeom prst="roundRect">
            <a:avLst>
              <a:gd name="adj" fmla="val 5000"/>
            </a:avLst>
          </a:prstGeom>
          <a:solidFill>
            <a:srgbClr val="232A30"/>
          </a:solidFill>
          <a:ln w="12700">
            <a:solidFill>
              <a:srgbClr val="333D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2286000"/>
            <a:ext cx="502920" cy="73152"/>
          </a:xfrm>
          <a:prstGeom prst="rect">
            <a:avLst/>
          </a:prstGeom>
          <a:solidFill>
            <a:srgbClr val="B5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514600"/>
            <a:ext cx="28346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 i="0">
                <a:solidFill>
                  <a:srgbClr val="E9E4D8"/>
                </a:solidFill>
                <a:latin typeface="Arial"/>
              </a:rPr>
              <a:t>Names on no statue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91840"/>
            <a:ext cx="2834640" cy="1554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9AA4A9"/>
                </a:solidFill>
                <a:latin typeface="Arial"/>
              </a:rPr>
              <a:t>The quarrymen, molders, and machine hands who built these towns are absent from the record that survives them.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920240"/>
            <a:ext cx="3429000" cy="3108960"/>
          </a:xfrm>
          <a:prstGeom prst="roundRect">
            <a:avLst>
              <a:gd name="adj" fmla="val 5000"/>
            </a:avLst>
          </a:prstGeom>
          <a:solidFill>
            <a:srgbClr val="232A30"/>
          </a:solidFill>
          <a:ln w="12700">
            <a:solidFill>
              <a:srgbClr val="333D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79" y="2286000"/>
            <a:ext cx="502920" cy="73152"/>
          </a:xfrm>
          <a:prstGeom prst="rect">
            <a:avLst/>
          </a:prstGeom>
          <a:solidFill>
            <a:srgbClr val="B5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2514600"/>
            <a:ext cx="28346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 i="0">
                <a:solidFill>
                  <a:srgbClr val="E9E4D8"/>
                </a:solidFill>
                <a:latin typeface="Arial"/>
              </a:rPr>
              <a:t>The witnesses are aging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3291840"/>
            <a:ext cx="2834640" cy="1554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9AA4A9"/>
                </a:solidFill>
                <a:latin typeface="Arial"/>
              </a:rPr>
              <a:t>Our oldest first hand voices are in their nineties. What they carry is not written down anywhere else.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920240"/>
            <a:ext cx="3429000" cy="3108960"/>
          </a:xfrm>
          <a:prstGeom prst="roundRect">
            <a:avLst>
              <a:gd name="adj" fmla="val 5000"/>
            </a:avLst>
          </a:prstGeom>
          <a:solidFill>
            <a:srgbClr val="232A30"/>
          </a:solidFill>
          <a:ln w="12700">
            <a:solidFill>
              <a:srgbClr val="333D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0" y="2286000"/>
            <a:ext cx="502920" cy="73152"/>
          </a:xfrm>
          <a:prstGeom prst="rect">
            <a:avLst/>
          </a:prstGeom>
          <a:solidFill>
            <a:srgbClr val="B5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514600"/>
            <a:ext cx="28346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 i="0">
                <a:solidFill>
                  <a:srgbClr val="E9E4D8"/>
                </a:solidFill>
                <a:latin typeface="Arial"/>
              </a:rPr>
              <a:t>Paper does not wait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291840"/>
            <a:ext cx="2834640" cy="1554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9AA4A9"/>
                </a:solidFill>
                <a:latin typeface="Arial"/>
              </a:rPr>
              <a:t>Photographs and pay ledgers held by member families are fading, and every year a box is lost to a basement.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394960"/>
            <a:ext cx="106070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 i="1">
                <a:solidFill>
                  <a:srgbClr val="D99A2B"/>
                </a:solidFill>
                <a:latin typeface="Arial"/>
              </a:rPr>
              <a:t>Without a deliberate effort now, the county's labor history passes out of living memory unrecorded.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850" b="0" i="1">
                <a:solidFill>
                  <a:srgbClr val="9AA4A9"/>
                </a:solidFill>
                <a:latin typeface="Arial"/>
              </a:rPr>
              <a:t>The Unmonumented, exhibit proposal   |   DuPage County Historical Society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4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28016" cy="566928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070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D99A2B"/>
                </a:solidFill>
                <a:latin typeface="Arial"/>
              </a:rPr>
              <a:t>THE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070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700" b="1" i="0">
                <a:solidFill>
                  <a:srgbClr val="E9E4D8"/>
                </a:solidFill>
                <a:latin typeface="Arial"/>
              </a:rPr>
              <a:t>What the collection holds today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37360"/>
            <a:ext cx="5212080" cy="4297680"/>
          </a:xfrm>
          <a:prstGeom prst="roundRect">
            <a:avLst>
              <a:gd name="adj" fmla="val 4000"/>
            </a:avLst>
          </a:prstGeom>
          <a:solidFill>
            <a:srgbClr val="232A30"/>
          </a:solidFill>
          <a:ln w="12700">
            <a:solidFill>
              <a:srgbClr val="333D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20240"/>
            <a:ext cx="47548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 i="0">
                <a:solidFill>
                  <a:srgbClr val="E9E4D8"/>
                </a:solidFill>
                <a:latin typeface="Arial"/>
              </a:rPr>
              <a:t>Digitized collection by item type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14400" y="2286000"/>
          <a:ext cx="493776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63640" y="1737360"/>
            <a:ext cx="5120640" cy="4297680"/>
          </a:xfrm>
          <a:prstGeom prst="roundRect">
            <a:avLst>
              <a:gd name="adj" fmla="val 4000"/>
            </a:avLst>
          </a:prstGeom>
          <a:solidFill>
            <a:srgbClr val="232A30"/>
          </a:solidFill>
          <a:ln w="12700">
            <a:solidFill>
              <a:srgbClr val="333D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965960"/>
            <a:ext cx="45720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 i="0">
                <a:solidFill>
                  <a:srgbClr val="E9E4D8"/>
                </a:solidFill>
                <a:latin typeface="Arial"/>
              </a:rPr>
              <a:t>Digitization progress by series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569464"/>
            <a:ext cx="4480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9AA4A9"/>
                </a:solidFill>
                <a:latin typeface="Arial"/>
              </a:rPr>
              <a:t>Photograph archive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569464"/>
            <a:ext cx="4480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00" b="1" i="0">
                <a:solidFill>
                  <a:srgbClr val="E9E4D8"/>
                </a:solidFill>
                <a:latin typeface="Arial"/>
              </a:rPr>
              <a:t>74%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880360"/>
            <a:ext cx="4480560" cy="256032"/>
          </a:xfrm>
          <a:prstGeom prst="roundRect">
            <a:avLst>
              <a:gd name="adj" fmla="val 50000"/>
            </a:avLst>
          </a:prstGeom>
          <a:solidFill>
            <a:srgbClr val="2C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37960" y="2880360"/>
            <a:ext cx="3315614" cy="256032"/>
          </a:xfrm>
          <a:prstGeom prst="roundRect">
            <a:avLst>
              <a:gd name="adj" fmla="val 50000"/>
            </a:avLst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3410712"/>
            <a:ext cx="4480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9AA4A9"/>
                </a:solidFill>
                <a:latin typeface="Arial"/>
              </a:rPr>
              <a:t>Hobson farm ledgers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410712"/>
            <a:ext cx="4480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00" b="1" i="0">
                <a:solidFill>
                  <a:srgbClr val="E9E4D8"/>
                </a:solidFill>
                <a:latin typeface="Arial"/>
              </a:rPr>
              <a:t>100%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3721608"/>
            <a:ext cx="4480560" cy="256032"/>
          </a:xfrm>
          <a:prstGeom prst="roundRect">
            <a:avLst>
              <a:gd name="adj" fmla="val 50000"/>
            </a:avLst>
          </a:prstGeom>
          <a:solidFill>
            <a:srgbClr val="2C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37960" y="3721608"/>
            <a:ext cx="4480560" cy="256032"/>
          </a:xfrm>
          <a:prstGeom prst="roundRect">
            <a:avLst>
              <a:gd name="adj" fmla="val 50000"/>
            </a:avLst>
          </a:prstGeom>
          <a:solidFill>
            <a:srgbClr val="4A8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4251960"/>
            <a:ext cx="4480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9AA4A9"/>
                </a:solidFill>
                <a:latin typeface="Arial"/>
              </a:rPr>
              <a:t>Pay and shop records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251960"/>
            <a:ext cx="4480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00" b="1" i="0">
                <a:solidFill>
                  <a:srgbClr val="E9E4D8"/>
                </a:solidFill>
                <a:latin typeface="Arial"/>
              </a:rPr>
              <a:t>48%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4562856"/>
            <a:ext cx="4480560" cy="256032"/>
          </a:xfrm>
          <a:prstGeom prst="roundRect">
            <a:avLst>
              <a:gd name="adj" fmla="val 50000"/>
            </a:avLst>
          </a:prstGeom>
          <a:solidFill>
            <a:srgbClr val="2C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37960" y="4562856"/>
            <a:ext cx="2150668" cy="256032"/>
          </a:xfrm>
          <a:prstGeom prst="roundRect">
            <a:avLst>
              <a:gd name="adj" fmla="val 50000"/>
            </a:avLst>
          </a:prstGeom>
          <a:solidFill>
            <a:srgbClr val="B5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5093208"/>
            <a:ext cx="4480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9AA4A9"/>
                </a:solidFill>
                <a:latin typeface="Arial"/>
              </a:rPr>
              <a:t>Maps and plats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5093208"/>
            <a:ext cx="4480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00" b="1" i="0">
                <a:solidFill>
                  <a:srgbClr val="E9E4D8"/>
                </a:solidFill>
                <a:latin typeface="Arial"/>
              </a:rPr>
              <a:t>31%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37960" y="5404104"/>
            <a:ext cx="4480560" cy="256032"/>
          </a:xfrm>
          <a:prstGeom prst="roundRect">
            <a:avLst>
              <a:gd name="adj" fmla="val 50000"/>
            </a:avLst>
          </a:prstGeom>
          <a:solidFill>
            <a:srgbClr val="2C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37960" y="5404104"/>
            <a:ext cx="1388973" cy="256032"/>
          </a:xfrm>
          <a:prstGeom prst="roundRect">
            <a:avLst>
              <a:gd name="adj" fmla="val 50000"/>
            </a:avLst>
          </a:prstGeom>
          <a:solidFill>
            <a:srgbClr val="7F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850" b="0" i="1">
                <a:solidFill>
                  <a:srgbClr val="9AA4A9"/>
                </a:solidFill>
                <a:latin typeface="Arial"/>
              </a:rPr>
              <a:t>4,180 items scanned across 18 Thursday sessions this winter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4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28016" cy="566928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070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D99A2B"/>
                </a:solidFill>
                <a:latin typeface="Arial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070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700" b="1" i="0">
                <a:solidFill>
                  <a:srgbClr val="E9E4D8"/>
                </a:solidFill>
                <a:latin typeface="Arial"/>
              </a:rPr>
              <a:t>A five section gallery, plus a listening station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828800"/>
          <a:ext cx="7406640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3017520"/>
                <a:gridCol w="237744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E2429"/>
                          </a:solidFill>
                          <a:latin typeface="Arial"/>
                        </a:rPr>
                        <a:t>Section</a:t>
                      </a:r>
                    </a:p>
                  </a:txBody>
                  <a:tcPr marL="73152" marR="54864" marT="27432" marB="27432" anchor="ctr">
                    <a:solidFill>
                      <a:srgbClr val="D99A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E2429"/>
                          </a:solidFill>
                          <a:latin typeface="Arial"/>
                        </a:rPr>
                        <a:t>Anchor object</a:t>
                      </a:r>
                    </a:p>
                  </a:txBody>
                  <a:tcPr marL="73152" marR="54864" marT="27432" marB="27432" anchor="ctr">
                    <a:solidFill>
                      <a:srgbClr val="D99A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E2429"/>
                          </a:solidFill>
                          <a:latin typeface="Arial"/>
                        </a:rPr>
                        <a:t>Draws from</a:t>
                      </a:r>
                    </a:p>
                  </a:txBody>
                  <a:tcPr marL="73152" marR="54864" marT="27432" marB="27432" anchor="ctr">
                    <a:solidFill>
                      <a:srgbClr val="D99A2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9E4D8"/>
                          </a:solidFill>
                          <a:latin typeface="Arial"/>
                        </a:rPr>
                        <a:t>The Quarry</a:t>
                      </a:r>
                    </a:p>
                  </a:txBody>
                  <a:tcPr marL="73152" marR="54864" marT="27432" marB="27432" anchor="ctr">
                    <a:solidFill>
                      <a:srgbClr val="232A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9E4D8"/>
                          </a:solidFill>
                          <a:latin typeface="Arial"/>
                        </a:rPr>
                        <a:t>Limestone tools and a wage book</a:t>
                      </a:r>
                    </a:p>
                  </a:txBody>
                  <a:tcPr marL="73152" marR="54864" marT="27432" marB="27432" anchor="ctr">
                    <a:solidFill>
                      <a:srgbClr val="232A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9E4D8"/>
                          </a:solidFill>
                          <a:latin typeface="Arial"/>
                        </a:rPr>
                        <a:t>Pay ledgers, member loans</a:t>
                      </a:r>
                    </a:p>
                  </a:txBody>
                  <a:tcPr marL="73152" marR="54864" marT="27432" marB="27432" anchor="ctr">
                    <a:solidFill>
                      <a:srgbClr val="232A3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9E4D8"/>
                          </a:solidFill>
                          <a:latin typeface="Arial"/>
                        </a:rPr>
                        <a:t>The Foundry</a:t>
                      </a:r>
                    </a:p>
                  </a:txBody>
                  <a:tcPr marL="73152" marR="54864" marT="27432" marB="27432" anchor="ctr">
                    <a:solidFill>
                      <a:srgbClr val="1C22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9E4D8"/>
                          </a:solidFill>
                          <a:latin typeface="Arial"/>
                        </a:rPr>
                        <a:t>Molder's flask and hand tools</a:t>
                      </a:r>
                    </a:p>
                  </a:txBody>
                  <a:tcPr marL="73152" marR="54864" marT="27432" marB="27432" anchor="ctr">
                    <a:solidFill>
                      <a:srgbClr val="1C22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9E4D8"/>
                          </a:solidFill>
                          <a:latin typeface="Arial"/>
                        </a:rPr>
                        <a:t>Census and shop records</a:t>
                      </a:r>
                    </a:p>
                  </a:txBody>
                  <a:tcPr marL="73152" marR="54864" marT="27432" marB="27432" anchor="ctr">
                    <a:solidFill>
                      <a:srgbClr val="1C222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9E4D8"/>
                          </a:solidFill>
                          <a:latin typeface="Arial"/>
                        </a:rPr>
                        <a:t>The Frame Line</a:t>
                      </a:r>
                    </a:p>
                  </a:txBody>
                  <a:tcPr marL="73152" marR="54864" marT="27432" marB="27432" anchor="ctr">
                    <a:solidFill>
                      <a:srgbClr val="232A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9E4D8"/>
                          </a:solidFill>
                          <a:latin typeface="Arial"/>
                        </a:rPr>
                        <a:t>Furniture factory bench</a:t>
                      </a:r>
                    </a:p>
                  </a:txBody>
                  <a:tcPr marL="73152" marR="54864" marT="27432" marB="27432" anchor="ctr">
                    <a:solidFill>
                      <a:srgbClr val="232A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9E4D8"/>
                          </a:solidFill>
                          <a:latin typeface="Arial"/>
                        </a:rPr>
                        <a:t>Voices project recording</a:t>
                      </a:r>
                    </a:p>
                  </a:txBody>
                  <a:tcPr marL="73152" marR="54864" marT="27432" marB="27432" anchor="ctr">
                    <a:solidFill>
                      <a:srgbClr val="232A3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9E4D8"/>
                          </a:solidFill>
                          <a:latin typeface="Arial"/>
                        </a:rPr>
                        <a:t>The Machine Shop</a:t>
                      </a:r>
                    </a:p>
                  </a:txBody>
                  <a:tcPr marL="73152" marR="54864" marT="27432" marB="27432" anchor="ctr">
                    <a:solidFill>
                      <a:srgbClr val="1C22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9E4D8"/>
                          </a:solidFill>
                          <a:latin typeface="Arial"/>
                        </a:rPr>
                        <a:t>Restored bench lathe</a:t>
                      </a:r>
                    </a:p>
                  </a:txBody>
                  <a:tcPr marL="73152" marR="54864" marT="27432" marB="27432" anchor="ctr">
                    <a:solidFill>
                      <a:srgbClr val="1C22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9E4D8"/>
                          </a:solidFill>
                          <a:latin typeface="Arial"/>
                        </a:rPr>
                        <a:t>Photograph archive</a:t>
                      </a:r>
                    </a:p>
                  </a:txBody>
                  <a:tcPr marL="73152" marR="54864" marT="27432" marB="27432" anchor="ctr">
                    <a:solidFill>
                      <a:srgbClr val="1C222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9E4D8"/>
                          </a:solidFill>
                          <a:latin typeface="Arial"/>
                        </a:rPr>
                        <a:t>Listening Station</a:t>
                      </a:r>
                    </a:p>
                  </a:txBody>
                  <a:tcPr marL="73152" marR="54864" marT="27432" marB="27432" anchor="ctr">
                    <a:solidFill>
                      <a:srgbClr val="232A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9E4D8"/>
                          </a:solidFill>
                          <a:latin typeface="Arial"/>
                        </a:rPr>
                        <a:t>52 minute oral history</a:t>
                      </a:r>
                    </a:p>
                  </a:txBody>
                  <a:tcPr marL="73152" marR="54864" marT="27432" marB="27432" anchor="ctr">
                    <a:solidFill>
                      <a:srgbClr val="232A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9E4D8"/>
                          </a:solidFill>
                          <a:latin typeface="Arial"/>
                        </a:rPr>
                        <a:t>New Voices recordings</a:t>
                      </a:r>
                    </a:p>
                  </a:txBody>
                  <a:tcPr marL="73152" marR="54864" marT="27432" marB="27432" anchor="ctr">
                    <a:solidFill>
                      <a:srgbClr val="232A30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412480" y="1828800"/>
            <a:ext cx="2926080" cy="3291840"/>
          </a:xfrm>
          <a:prstGeom prst="roundRect">
            <a:avLst>
              <a:gd name="adj" fmla="val 5000"/>
            </a:avLst>
          </a:prstGeom>
          <a:solidFill>
            <a:srgbClr val="232A30"/>
          </a:solidFill>
          <a:ln w="12700">
            <a:solidFill>
              <a:srgbClr val="333D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2011680"/>
            <a:ext cx="2560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D99A2B"/>
                </a:solidFill>
                <a:latin typeface="Arial"/>
              </a:rPr>
              <a:t>The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2468880"/>
            <a:ext cx="2514600" cy="2560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9AA4A9"/>
                </a:solidFill>
                <a:latin typeface="Arial"/>
              </a:rPr>
              <a:t>Let the objects and one clear voice carry the story. No wall of text. A visitor should hear the frame line before they read a word about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850" b="0" i="1">
                <a:solidFill>
                  <a:srgbClr val="9AA4A9"/>
                </a:solidFill>
                <a:latin typeface="Arial"/>
              </a:rPr>
              <a:t>Opening October 10, 2026, main gallery, with a members' reception that afternoon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4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28016" cy="566928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070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D99A2B"/>
                </a:solidFill>
                <a:latin typeface="Arial"/>
              </a:rPr>
              <a:t>THE PROJECTION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070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700" b="1" i="0">
                <a:solidFill>
                  <a:srgbClr val="E9E4D8"/>
                </a:solidFill>
                <a:latin typeface="Arial"/>
              </a:rPr>
              <a:t>What a focused exhibit can return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6492240" cy="4114800"/>
          </a:xfrm>
          <a:prstGeom prst="roundRect">
            <a:avLst>
              <a:gd name="adj" fmla="val 4000"/>
            </a:avLst>
          </a:prstGeom>
          <a:solidFill>
            <a:srgbClr val="232A30"/>
          </a:solidFill>
          <a:ln w="12700">
            <a:solidFill>
              <a:srgbClr val="333D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3852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 i="0">
                <a:solidFill>
                  <a:srgbClr val="E9E4D8"/>
                </a:solidFill>
                <a:latin typeface="Arial"/>
              </a:rPr>
              <a:t>Projected gallery visitors by month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14400" y="2286000"/>
          <a:ext cx="621792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543800" y="1783080"/>
            <a:ext cx="3840480" cy="1234440"/>
          </a:xfrm>
          <a:prstGeom prst="roundRect">
            <a:avLst>
              <a:gd name="adj" fmla="val 8000"/>
            </a:avLst>
          </a:prstGeom>
          <a:solidFill>
            <a:srgbClr val="232A30"/>
          </a:solidFill>
          <a:ln w="12700">
            <a:solidFill>
              <a:srgbClr val="333D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43800" y="1783080"/>
            <a:ext cx="91440" cy="1234440"/>
          </a:xfrm>
          <a:prstGeom prst="rect">
            <a:avLst/>
          </a:prstGeom>
          <a:solidFill>
            <a:srgbClr val="4A8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1929384"/>
            <a:ext cx="32918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800" b="1" i="0">
                <a:solidFill>
                  <a:srgbClr val="4A8A86"/>
                </a:solidFill>
                <a:latin typeface="Arial"/>
              </a:rPr>
              <a:t>4,180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606040"/>
            <a:ext cx="32918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9AA4A9"/>
                </a:solidFill>
                <a:latin typeface="Arial"/>
              </a:rPr>
              <a:t>items preserved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3154680"/>
            <a:ext cx="3840480" cy="1234440"/>
          </a:xfrm>
          <a:prstGeom prst="roundRect">
            <a:avLst>
              <a:gd name="adj" fmla="val 8000"/>
            </a:avLst>
          </a:prstGeom>
          <a:solidFill>
            <a:srgbClr val="232A30"/>
          </a:solidFill>
          <a:ln w="12700">
            <a:solidFill>
              <a:srgbClr val="333D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43800" y="3154680"/>
            <a:ext cx="91440" cy="1234440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3300984"/>
            <a:ext cx="32918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800" b="1" i="0">
                <a:solidFill>
                  <a:srgbClr val="D99A2B"/>
                </a:solidFill>
                <a:latin typeface="Arial"/>
              </a:rPr>
              <a:t>+120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977640"/>
            <a:ext cx="32918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9AA4A9"/>
                </a:solidFill>
                <a:latin typeface="Arial"/>
              </a:rPr>
              <a:t>projected new members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4526280"/>
            <a:ext cx="3840480" cy="1234440"/>
          </a:xfrm>
          <a:prstGeom prst="roundRect">
            <a:avLst>
              <a:gd name="adj" fmla="val 8000"/>
            </a:avLst>
          </a:prstGeom>
          <a:solidFill>
            <a:srgbClr val="232A30"/>
          </a:solidFill>
          <a:ln w="12700">
            <a:solidFill>
              <a:srgbClr val="333D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43800" y="4526280"/>
            <a:ext cx="91440" cy="1234440"/>
          </a:xfrm>
          <a:prstGeom prst="rect">
            <a:avLst/>
          </a:prstGeom>
          <a:solidFill>
            <a:srgbClr val="B5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4672584"/>
            <a:ext cx="32918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800" b="1" i="0">
                <a:solidFill>
                  <a:srgbClr val="B5542F"/>
                </a:solidFill>
                <a:latin typeface="Arial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349240"/>
            <a:ext cx="32918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9AA4A9"/>
                </a:solidFill>
                <a:latin typeface="Arial"/>
              </a:rPr>
              <a:t>member families lending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850" b="0" i="1">
                <a:solidFill>
                  <a:srgbClr val="9AA4A9"/>
                </a:solidFill>
                <a:latin typeface="Arial"/>
              </a:rPr>
              <a:t>Estimates based on prior exhibit attendance and the winter membership drive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4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28016" cy="566928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070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D99A2B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070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700" b="1" i="0">
                <a:solidFill>
                  <a:srgbClr val="E9E4D8"/>
                </a:solidFill>
                <a:latin typeface="Arial"/>
              </a:rPr>
              <a:t>From winter bench to opening night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011680"/>
            <a:ext cx="2606040" cy="2743200"/>
          </a:xfrm>
          <a:prstGeom prst="roundRect">
            <a:avLst>
              <a:gd name="adj" fmla="val 6000"/>
            </a:avLst>
          </a:prstGeom>
          <a:solidFill>
            <a:srgbClr val="232A30"/>
          </a:solidFill>
          <a:ln w="12700">
            <a:solidFill>
              <a:srgbClr val="333D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011680"/>
            <a:ext cx="2606040" cy="109728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600" b="1" i="0">
                <a:solidFill>
                  <a:srgbClr val="B5542F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889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 i="0">
                <a:solidFill>
                  <a:srgbClr val="D99A2B"/>
                </a:solidFill>
                <a:latin typeface="Arial"/>
              </a:rPr>
              <a:t>Winter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00400"/>
            <a:ext cx="224028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9AA4A9"/>
                </a:solidFill>
                <a:latin typeface="Arial"/>
              </a:rPr>
              <a:t>Finish scanning the photograph archive and the loaned pay ledgers.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38728" y="2011680"/>
            <a:ext cx="2606040" cy="2743200"/>
          </a:xfrm>
          <a:prstGeom prst="roundRect">
            <a:avLst>
              <a:gd name="adj" fmla="val 6000"/>
            </a:avLst>
          </a:prstGeom>
          <a:solidFill>
            <a:srgbClr val="232A30"/>
          </a:solidFill>
          <a:ln w="12700">
            <a:solidFill>
              <a:srgbClr val="333D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38728" y="2011680"/>
            <a:ext cx="2606040" cy="109728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67328" y="22860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600" b="1" i="0">
                <a:solidFill>
                  <a:srgbClr val="B5542F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7328" y="27889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 i="0">
                <a:solidFill>
                  <a:srgbClr val="D99A2B"/>
                </a:solidFill>
                <a:latin typeface="Arial"/>
              </a:rPr>
              <a:t>Spring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7328" y="3200400"/>
            <a:ext cx="224028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9AA4A9"/>
                </a:solidFill>
                <a:latin typeface="Arial"/>
              </a:rPr>
              <a:t>Curate objects, draft panel text, confirm every family loan in writing.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0216" y="2011680"/>
            <a:ext cx="2606040" cy="2743200"/>
          </a:xfrm>
          <a:prstGeom prst="roundRect">
            <a:avLst>
              <a:gd name="adj" fmla="val 6000"/>
            </a:avLst>
          </a:prstGeom>
          <a:solidFill>
            <a:srgbClr val="232A30"/>
          </a:solidFill>
          <a:ln w="12700">
            <a:solidFill>
              <a:srgbClr val="333D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216" y="2011680"/>
            <a:ext cx="2606040" cy="109728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22860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600" b="1" i="0">
                <a:solidFill>
                  <a:srgbClr val="B5542F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816" y="27889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 i="0">
                <a:solidFill>
                  <a:srgbClr val="D99A2B"/>
                </a:solidFill>
                <a:latin typeface="Arial"/>
              </a:rPr>
              <a:t>Fall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8816" y="3200400"/>
            <a:ext cx="224028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9AA4A9"/>
                </a:solidFill>
                <a:latin typeface="Arial"/>
              </a:rPr>
              <a:t>Build the listening station, mount panels, and light the gallery.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61704" y="2011680"/>
            <a:ext cx="2606040" cy="2743200"/>
          </a:xfrm>
          <a:prstGeom prst="roundRect">
            <a:avLst>
              <a:gd name="adj" fmla="val 6000"/>
            </a:avLst>
          </a:prstGeom>
          <a:solidFill>
            <a:srgbClr val="232A30"/>
          </a:solidFill>
          <a:ln w="12700">
            <a:solidFill>
              <a:srgbClr val="333D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61704" y="2011680"/>
            <a:ext cx="2606040" cy="109728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2860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600" b="1" i="0">
                <a:solidFill>
                  <a:srgbClr val="B5542F"/>
                </a:solidFill>
                <a:latin typeface="Arial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27889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 i="0">
                <a:solidFill>
                  <a:srgbClr val="D99A2B"/>
                </a:solidFill>
                <a:latin typeface="Arial"/>
              </a:rPr>
              <a:t>Oct 10,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200400"/>
            <a:ext cx="224028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9AA4A9"/>
                </a:solidFill>
                <a:latin typeface="Arial"/>
              </a:rPr>
              <a:t>Open, with a members' reception in the afternoon.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212080"/>
            <a:ext cx="1060704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 i="0">
                <a:solidFill>
                  <a:srgbClr val="E9E4D8"/>
                </a:solidFill>
                <a:latin typeface="Arial"/>
              </a:rPr>
              <a:t>The ask: committee approval to schedule the October slot, and a note in the winter newsletter inviting member families to lend objects and record a voice.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850" b="0" i="1">
                <a:solidFill>
                  <a:srgbClr val="9AA4A9"/>
                </a:solidFill>
                <a:latin typeface="Arial"/>
              </a:rPr>
              <a:t>Prepared by the Thursday digitization crew   |   Questions to the Society office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