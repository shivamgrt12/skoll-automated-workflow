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29404E"/>
              </a:solidFill>
              <a:ln w="1524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F7D8A"/>
              </a:solidFill>
              <a:ln w="1524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0603F"/>
              </a:solidFill>
              <a:ln w="1524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0A23E"/>
              </a:solidFill>
              <a:ln w="1524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9FB6BA"/>
              </a:solidFill>
              <a:ln w="1524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Housing and tax</c:v>
                </c:pt>
                <c:pt idx="1">
                  <c:v>Health and insurance</c:v>
                </c:pt>
                <c:pt idx="2">
                  <c:v>Food and dining</c:v>
                </c:pt>
                <c:pt idx="3">
                  <c:v>Auto and fuel</c:v>
                </c:pt>
                <c:pt idx="4">
                  <c:v>Everything else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620</c:v>
                </c:pt>
                <c:pt idx="1">
                  <c:v>620</c:v>
                </c:pt>
                <c:pt idx="2">
                  <c:v>660</c:v>
                </c:pt>
                <c:pt idx="3">
                  <c:v>185</c:v>
                </c:pt>
                <c:pt idx="4">
                  <c:v>617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 b="1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000">
              <a:solidFill>
                <a:srgbClr val="203038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Dollars</c:v>
                </c:pt>
              </c:strCache>
            </c:strRef>
          </c:tx>
          <c:spPr>
            <a:solidFill>
              <a:srgbClr val="2F7D8A"/>
            </a:solidFill>
          </c:spPr>
          <c:cat>
            <c:strRef>
              <c:f>Sheet1!$A$2:$A$4</c:f>
              <c:strCache>
                <c:ptCount val="3"/>
                <c:pt idx="0">
                  <c:v>Net income</c:v>
                </c:pt>
                <c:pt idx="1">
                  <c:v>Expenses</c:v>
                </c:pt>
                <c:pt idx="2">
                  <c:v>Surplus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4985</c:v>
                </c:pt>
                <c:pt idx="1">
                  <c:v>2702</c:v>
                </c:pt>
                <c:pt idx="2">
                  <c:v>2283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BBBBB"/>
            </a:solidFill>
          </a:ln>
        </c:spPr>
        <c:txPr>
          <a:bodyPr/>
          <a:lstStyle/>
          <a:p>
            <a:pPr>
              <a:defRPr sz="1000">
                <a:solidFill>
                  <a:srgbClr val="203038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DDDDD"/>
              </a:solidFill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>
            <a:solidFill>
              <a:srgbClr val="BBBBBB"/>
            </a:solidFill>
          </a:ln>
        </c:spPr>
        <c:txPr>
          <a:bodyPr/>
          <a:lstStyle/>
          <a:p>
            <a:pPr>
              <a:defRPr sz="1000">
                <a:solidFill>
                  <a:srgbClr val="203038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Balance</c:v>
                </c:pt>
              </c:strCache>
            </c:strRef>
          </c:tx>
          <c:spPr>
            <a:solidFill>
              <a:srgbClr val="29404E"/>
            </a:solidFill>
          </c:spPr>
          <c:cat>
            <c:strRef>
              <c:f>Sheet1!$A$2:$A$4</c:f>
              <c:strCache>
                <c:ptCount val="3"/>
                <c:pt idx="0">
                  <c:v>Rollover IRA</c:v>
                </c:pt>
                <c:pt idx="1">
                  <c:v>Investment acct</c:v>
                </c:pt>
                <c:pt idx="2">
                  <c:v>Bank savings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480000</c:v>
                </c:pt>
                <c:pt idx="1">
                  <c:v>250000</c:v>
                </c:pt>
                <c:pt idx="2">
                  <c:v>43000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BBBBB"/>
            </a:solidFill>
          </a:ln>
        </c:spPr>
        <c:txPr>
          <a:bodyPr/>
          <a:lstStyle/>
          <a:p>
            <a:pPr>
              <a:defRPr sz="1000">
                <a:solidFill>
                  <a:srgbClr val="203038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DDDDDD"/>
              </a:solidFill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>
            <a:solidFill>
              <a:srgbClr val="BBBBBB"/>
            </a:solidFill>
          </a:ln>
        </c:spPr>
        <c:txPr>
          <a:bodyPr/>
          <a:lstStyle/>
          <a:p>
            <a:pPr>
              <a:defRPr sz="1000">
                <a:solidFill>
                  <a:srgbClr val="203038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94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94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3291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D0A23E"/>
                </a:solidFill>
                <a:latin typeface="Calibri"/>
              </a:rPr>
              <a:t>ANNUAL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14600"/>
            <a:ext cx="356616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Household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Financial</a:t>
            </a:r>
          </a:p>
          <a:p>
            <a:pPr algn="l"/>
            <a:r>
              <a:rPr sz="3400" b="1" i="0">
                <a:solidFill>
                  <a:srgbClr val="2F7D8A"/>
                </a:solidFill>
                <a:latin typeface="Calibr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0"/>
            <a:ext cx="338328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 i="0">
                <a:solidFill>
                  <a:srgbClr val="CFE0E2"/>
                </a:solidFill>
                <a:latin typeface="Calibri"/>
              </a:rPr>
              <a:t>Roberts household</a:t>
            </a:r>
          </a:p>
          <a:p>
            <a:pPr algn="l"/>
            <a:r>
              <a:rPr sz="1300" b="0" i="0">
                <a:solidFill>
                  <a:srgbClr val="9FB6BA"/>
                </a:solidFill>
                <a:latin typeface="Calibri"/>
              </a:rPr>
              <a:t>1528 Heatherton Lane</a:t>
            </a:r>
          </a:p>
          <a:p>
            <a:pPr algn="l"/>
            <a:r>
              <a:rPr sz="1300" b="0" i="0">
                <a:solidFill>
                  <a:srgbClr val="9FB6BA"/>
                </a:solidFill>
                <a:latin typeface="Calibri"/>
              </a:rPr>
              <a:t>Naperville, Illinois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286000"/>
            <a:ext cx="69494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 i="0">
                <a:solidFill>
                  <a:srgbClr val="29404E"/>
                </a:solidFill>
                <a:latin typeface="Calibri"/>
              </a:rPr>
              <a:t>The monthly review, taken to the whole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566160"/>
            <a:ext cx="685800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 i="0">
                <a:solidFill>
                  <a:srgbClr val="5D7078"/>
                </a:solidFill>
                <a:latin typeface="Calibri"/>
              </a:rPr>
              <a:t>A plain look at income, spending, and what is left to pass on. Prepared the first of the month, as always, at the kitchen table with the coffee.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760720"/>
            <a:ext cx="6858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2F7D8A"/>
                </a:solidFill>
                <a:latin typeface="Calibri"/>
              </a:rPr>
              <a:t>Reviewed February 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F7D8A"/>
                </a:solidFill>
                <a:latin typeface="Calibri"/>
              </a:rPr>
              <a:t>THE 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777240"/>
            <a:ext cx="10607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 i="0">
                <a:solidFill>
                  <a:srgbClr val="29404E"/>
                </a:solidFill>
                <a:latin typeface="Calibri"/>
              </a:rPr>
              <a:t>Comfortable, with one real worry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2011680" cy="45720"/>
          </a:xfrm>
          <a:prstGeom prst="rect">
            <a:avLst/>
          </a:prstGeom>
          <a:solidFill>
            <a:srgbClr val="2F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114800"/>
          </a:xfrm>
          <a:prstGeom prst="roundRect">
            <a:avLst>
              <a:gd name="adj" fmla="val 4000"/>
            </a:avLst>
          </a:prstGeom>
          <a:solidFill>
            <a:srgbClr val="F5F8F9"/>
          </a:solidFill>
          <a:ln w="12700">
            <a:solidFill>
              <a:srgbClr val="DB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4663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29404E"/>
                </a:solidFill>
                <a:latin typeface="Calibri"/>
              </a:rPr>
              <a:t>What frames the 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5603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F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468880"/>
            <a:ext cx="44805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0" i="0">
                <a:solidFill>
                  <a:srgbClr val="203038"/>
                </a:solidFill>
                <a:latin typeface="Calibri"/>
              </a:rPr>
              <a:t>Fixed income, and it does not grow.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383279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F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291840"/>
            <a:ext cx="44805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0" i="0">
                <a:solidFill>
                  <a:srgbClr val="203038"/>
                </a:solidFill>
                <a:latin typeface="Calibri"/>
              </a:rPr>
              <a:t>A house that is more than one person needs.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20624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F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114800"/>
            <a:ext cx="44805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0" i="0">
                <a:solidFill>
                  <a:srgbClr val="203038"/>
                </a:solidFill>
                <a:latin typeface="Calibri"/>
              </a:rPr>
              <a:t>The wish to leave enough for two children and two grandchildren.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83080"/>
            <a:ext cx="5166360" cy="4114800"/>
          </a:xfrm>
          <a:prstGeom prst="roundRect">
            <a:avLst>
              <a:gd name="adj" fmla="val 4000"/>
            </a:avLst>
          </a:prstGeom>
          <a:solidFill>
            <a:srgbClr val="294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D0A23E"/>
                </a:solidFill>
                <a:latin typeface="Calibri"/>
              </a:rPr>
              <a:t>THE HEADLINE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80"/>
            <a:ext cx="461772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Every month ends in a surplus. The question is not whether the numbers work. They do. The question is what the surplus is for.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114800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9FB6BA"/>
                </a:solidFill>
                <a:latin typeface="Calibri"/>
              </a:rPr>
              <a:t>Monthly surplus after expenses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434840"/>
            <a:ext cx="45720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000" b="1" i="0">
                <a:solidFill>
                  <a:srgbClr val="2F7D8A"/>
                </a:solidFill>
                <a:latin typeface="Calibri"/>
              </a:rPr>
              <a:t>$2,283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50" b="0" i="1">
                <a:solidFill>
                  <a:srgbClr val="5D7078"/>
                </a:solidFill>
                <a:latin typeface="Calibri"/>
              </a:rPr>
              <a:t>Household financial review, 2026   |   private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F7D8A"/>
                </a:solidFill>
                <a:latin typeface="Calibri"/>
              </a:rPr>
              <a:t>THE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777240"/>
            <a:ext cx="10607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 i="0">
                <a:solidFill>
                  <a:srgbClr val="29404E"/>
                </a:solidFill>
                <a:latin typeface="Calibri"/>
              </a:rPr>
              <a:t>Where the money goes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2011680" cy="45720"/>
          </a:xfrm>
          <a:prstGeom prst="rect">
            <a:avLst/>
          </a:prstGeom>
          <a:solidFill>
            <a:srgbClr val="2F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5486400" cy="4297680"/>
          </a:xfrm>
          <a:prstGeom prst="roundRect">
            <a:avLst>
              <a:gd name="adj" fmla="val 3000"/>
            </a:avLst>
          </a:prstGeom>
          <a:solidFill>
            <a:srgbClr val="F5F8F9"/>
          </a:solidFill>
          <a:ln w="12700">
            <a:solidFill>
              <a:srgbClr val="DB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29404E"/>
                </a:solidFill>
                <a:latin typeface="Calibri"/>
              </a:rPr>
              <a:t>Monthly expenses, $2,702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2240280"/>
          <a:ext cx="521208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92240" y="1737360"/>
            <a:ext cx="4846320" cy="4297680"/>
          </a:xfrm>
          <a:prstGeom prst="roundRect">
            <a:avLst>
              <a:gd name="adj" fmla="val 3000"/>
            </a:avLst>
          </a:prstGeom>
          <a:solidFill>
            <a:srgbClr val="F5F8F9"/>
          </a:solidFill>
          <a:ln w="12700">
            <a:solidFill>
              <a:srgbClr val="DB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901952"/>
            <a:ext cx="4297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29404E"/>
                </a:solidFill>
                <a:latin typeface="Calibri"/>
              </a:rPr>
              <a:t>Monthly cash flow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0" y="2286000"/>
          <a:ext cx="457200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50" b="0" i="1">
                <a:solidFill>
                  <a:srgbClr val="5D7078"/>
                </a:solidFill>
                <a:latin typeface="Calibri"/>
              </a:rPr>
              <a:t>Gross income $5,650, net deposited $4,985 after withholding and Medicare Part 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F7D8A"/>
                </a:solidFill>
                <a:latin typeface="Calibri"/>
              </a:rPr>
              <a:t>THE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777240"/>
            <a:ext cx="10607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 i="0">
                <a:solidFill>
                  <a:srgbClr val="29404E"/>
                </a:solidFill>
                <a:latin typeface="Calibri"/>
              </a:rPr>
              <a:t>Putting the surplus to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2011680" cy="45720"/>
          </a:xfrm>
          <a:prstGeom prst="rect">
            <a:avLst/>
          </a:prstGeom>
          <a:solidFill>
            <a:srgbClr val="2F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577840" cy="4114800"/>
          </a:xfrm>
          <a:prstGeom prst="roundRect">
            <a:avLst>
              <a:gd name="adj" fmla="val 3000"/>
            </a:avLst>
          </a:prstGeom>
          <a:solidFill>
            <a:srgbClr val="F5F8F9"/>
          </a:solidFill>
          <a:ln w="12700">
            <a:solidFill>
              <a:srgbClr val="DB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3852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29404E"/>
                </a:solidFill>
                <a:latin typeface="Calibri"/>
              </a:rPr>
              <a:t>Net worth, by holding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2286000"/>
          <a:ext cx="539496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37960" y="1783080"/>
            <a:ext cx="4800600" cy="4114800"/>
          </a:xfrm>
          <a:prstGeom prst="roundRect">
            <a:avLst>
              <a:gd name="adj" fmla="val 3000"/>
            </a:avLst>
          </a:prstGeom>
          <a:solidFill>
            <a:srgbClr val="F5F8F9"/>
          </a:solidFill>
          <a:ln w="12700">
            <a:solidFill>
              <a:srgbClr val="DB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965960"/>
            <a:ext cx="4297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1" i="0">
                <a:solidFill>
                  <a:srgbClr val="29404E"/>
                </a:solidFill>
                <a:latin typeface="Calibri"/>
              </a:rPr>
              <a:t>Monthly allocation of the $2,283 surplus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478024"/>
            <a:ext cx="4160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5D7078"/>
                </a:solidFill>
                <a:latin typeface="Calibri"/>
              </a:rPr>
              <a:t>To bank savings, automatic   $1,500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478024"/>
            <a:ext cx="4160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00" b="1" i="0">
                <a:solidFill>
                  <a:srgbClr val="29404E"/>
                </a:solidFill>
                <a:latin typeface="Calibri"/>
              </a:rPr>
              <a:t>66%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2788920"/>
            <a:ext cx="4160520" cy="256032"/>
          </a:xfrm>
          <a:prstGeom prst="roundRect">
            <a:avLst>
              <a:gd name="adj" fmla="val 50000"/>
            </a:avLst>
          </a:prstGeom>
          <a:solidFill>
            <a:srgbClr val="E2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12280" y="2788920"/>
            <a:ext cx="2745943" cy="256032"/>
          </a:xfrm>
          <a:prstGeom prst="roundRect">
            <a:avLst>
              <a:gd name="adj" fmla="val 50000"/>
            </a:avLst>
          </a:prstGeom>
          <a:solidFill>
            <a:srgbClr val="2F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3392424"/>
            <a:ext cx="4160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5D7078"/>
                </a:solidFill>
                <a:latin typeface="Calibri"/>
              </a:rPr>
              <a:t>To the travel fund   $783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392424"/>
            <a:ext cx="4160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00" b="1" i="0">
                <a:solidFill>
                  <a:srgbClr val="29404E"/>
                </a:solidFill>
                <a:latin typeface="Calibri"/>
              </a:rPr>
              <a:t>34%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703320"/>
            <a:ext cx="4160520" cy="256032"/>
          </a:xfrm>
          <a:prstGeom prst="roundRect">
            <a:avLst>
              <a:gd name="adj" fmla="val 50000"/>
            </a:avLst>
          </a:prstGeom>
          <a:solidFill>
            <a:srgbClr val="E2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12280" y="3703320"/>
            <a:ext cx="1414576" cy="256032"/>
          </a:xfrm>
          <a:prstGeom prst="roundRect">
            <a:avLst>
              <a:gd name="adj" fmla="val 50000"/>
            </a:avLst>
          </a:prstGeom>
          <a:solidFill>
            <a:srgbClr val="D0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4663440"/>
            <a:ext cx="42062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5D7078"/>
                </a:solidFill>
                <a:latin typeface="Calibri"/>
              </a:rPr>
              <a:t>The travel fund stands at $4,696. Enough, by autumn 2027, for an unhurried week in Door County.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50" b="0" i="1">
                <a:solidFill>
                  <a:srgbClr val="5D7078"/>
                </a:solidFill>
                <a:latin typeface="Calibri"/>
              </a:rPr>
              <a:t>No debt. House paid off 2016, car owned outright, cards paid in full each month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F7D8A"/>
                </a:solidFill>
                <a:latin typeface="Calibri"/>
              </a:rPr>
              <a:t>THE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777240"/>
            <a:ext cx="10607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 i="0">
                <a:solidFill>
                  <a:srgbClr val="29404E"/>
                </a:solidFill>
                <a:latin typeface="Calibri"/>
              </a:rPr>
              <a:t>The year in four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2011680" cy="45720"/>
          </a:xfrm>
          <a:prstGeom prst="rect">
            <a:avLst/>
          </a:prstGeom>
          <a:solidFill>
            <a:srgbClr val="2F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2514600" cy="1737360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 w="12700">
            <a:solidFill>
              <a:srgbClr val="DB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2514600" cy="91440"/>
          </a:xfrm>
          <a:prstGeom prst="rect">
            <a:avLst/>
          </a:prstGeom>
          <a:solidFill>
            <a:srgbClr val="2F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057400"/>
            <a:ext cx="21945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600" b="1" i="0">
                <a:solidFill>
                  <a:srgbClr val="2F7D8A"/>
                </a:solidFill>
                <a:latin typeface="Calibri"/>
              </a:rPr>
              <a:t>$27,396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971800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5D7078"/>
                </a:solidFill>
                <a:latin typeface="Calibri"/>
              </a:rPr>
              <a:t>annual surplus, at this pace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28800"/>
            <a:ext cx="2514600" cy="1737360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 w="12700">
            <a:solidFill>
              <a:srgbClr val="DB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828800"/>
            <a:ext cx="2514600" cy="91440"/>
          </a:xfrm>
          <a:prstGeom prst="rect">
            <a:avLst/>
          </a:prstGeom>
          <a:solidFill>
            <a:srgbClr val="294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8" y="2057400"/>
            <a:ext cx="21945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600" b="1" i="0">
                <a:solidFill>
                  <a:srgbClr val="29404E"/>
                </a:solidFill>
                <a:latin typeface="Calibri"/>
              </a:rPr>
              <a:t>$773,000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2971800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5D7078"/>
                </a:solidFill>
                <a:latin typeface="Calibri"/>
              </a:rPr>
              <a:t>in savings and investments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28800"/>
            <a:ext cx="2514600" cy="1737360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 w="12700">
            <a:solidFill>
              <a:srgbClr val="DB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2514600" cy="91440"/>
          </a:xfrm>
          <a:prstGeom prst="rect">
            <a:avLst/>
          </a:prstGeom>
          <a:solidFill>
            <a:srgbClr val="C0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057400"/>
            <a:ext cx="21945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600" b="1" i="0">
                <a:solidFill>
                  <a:srgbClr val="C0603F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971800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5D7078"/>
                </a:solidFill>
                <a:latin typeface="Calibri"/>
              </a:rPr>
              <a:t>dollars of debt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828800"/>
            <a:ext cx="2514600" cy="1737360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 w="12700">
            <a:solidFill>
              <a:srgbClr val="DB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1828800"/>
            <a:ext cx="2514600" cy="91440"/>
          </a:xfrm>
          <a:prstGeom prst="rect">
            <a:avLst/>
          </a:prstGeom>
          <a:solidFill>
            <a:srgbClr val="D0A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2057400"/>
            <a:ext cx="21945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600" b="1" i="0">
                <a:solidFill>
                  <a:srgbClr val="D0A23E"/>
                </a:solidFill>
                <a:latin typeface="Calibri"/>
              </a:rPr>
              <a:t>~800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2971800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5D7078"/>
                </a:solidFill>
                <a:latin typeface="Calibri"/>
              </a:rPr>
              <a:t>credit score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77240" y="3840480"/>
          <a:ext cx="5760720" cy="1965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/>
                <a:gridCol w="1600200"/>
                <a:gridCol w="2011680"/>
              </a:tblGrid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Account</a:t>
                      </a:r>
                    </a:p>
                  </a:txBody>
                  <a:tcPr marL="73152" marR="54864" marT="27432" marB="27432" anchor="ctr">
                    <a:solidFill>
                      <a:srgbClr val="294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Balance</a:t>
                      </a:r>
                    </a:p>
                  </a:txBody>
                  <a:tcPr marL="73152" marR="54864" marT="27432" marB="27432" anchor="ctr">
                    <a:solidFill>
                      <a:srgbClr val="294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Passes to</a:t>
                      </a:r>
                    </a:p>
                  </a:txBody>
                  <a:tcPr marL="73152" marR="54864" marT="27432" marB="27432" anchor="ctr">
                    <a:solidFill>
                      <a:srgbClr val="29404E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03038"/>
                          </a:solidFill>
                          <a:latin typeface="Calibri"/>
                        </a:rPr>
                        <a:t>Rollover IRA</a:t>
                      </a:r>
                    </a:p>
                  </a:txBody>
                  <a:tcPr marL="73152" marR="54864" marT="27432" marB="27432" anchor="ctr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03038"/>
                          </a:solidFill>
                          <a:latin typeface="Calibri"/>
                        </a:rPr>
                        <a:t>$480,000</a:t>
                      </a:r>
                    </a:p>
                  </a:txBody>
                  <a:tcPr marL="73152" marR="54864" marT="27432" marB="27432" anchor="ctr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03038"/>
                          </a:solidFill>
                          <a:latin typeface="Calibri"/>
                        </a:rPr>
                        <a:t>Meg and Tom, equally</a:t>
                      </a:r>
                    </a:p>
                  </a:txBody>
                  <a:tcPr marL="73152" marR="54864" marT="27432" marB="27432" anchor="ctr">
                    <a:solidFill>
                      <a:srgbClr val="F5F8F9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03038"/>
                          </a:solidFill>
                          <a:latin typeface="Calibri"/>
                        </a:rPr>
                        <a:t>Investment account</a:t>
                      </a:r>
                    </a:p>
                  </a:txBody>
                  <a:tcPr marL="73152" marR="54864" marT="27432" marB="27432" anchor="ctr">
                    <a:solidFill>
                      <a:srgbClr val="ECF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03038"/>
                          </a:solidFill>
                          <a:latin typeface="Calibri"/>
                        </a:rPr>
                        <a:t>$250,000</a:t>
                      </a:r>
                    </a:p>
                  </a:txBody>
                  <a:tcPr marL="73152" marR="54864" marT="27432" marB="27432" anchor="ctr">
                    <a:solidFill>
                      <a:srgbClr val="ECF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03038"/>
                          </a:solidFill>
                          <a:latin typeface="Calibri"/>
                        </a:rPr>
                        <a:t>The living trust</a:t>
                      </a:r>
                    </a:p>
                  </a:txBody>
                  <a:tcPr marL="73152" marR="54864" marT="27432" marB="27432" anchor="ctr">
                    <a:solidFill>
                      <a:srgbClr val="ECF2F3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03038"/>
                          </a:solidFill>
                          <a:latin typeface="Calibri"/>
                        </a:rPr>
                        <a:t>Bank accounts, cash</a:t>
                      </a:r>
                    </a:p>
                  </a:txBody>
                  <a:tcPr marL="73152" marR="54864" marT="27432" marB="27432" anchor="ctr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03038"/>
                          </a:solidFill>
                          <a:latin typeface="Calibri"/>
                        </a:rPr>
                        <a:t>$43,000</a:t>
                      </a:r>
                    </a:p>
                  </a:txBody>
                  <a:tcPr marL="73152" marR="54864" marT="27432" marB="27432" anchor="ctr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03038"/>
                          </a:solidFill>
                          <a:latin typeface="Calibri"/>
                        </a:rPr>
                        <a:t>Payable on death</a:t>
                      </a:r>
                    </a:p>
                  </a:txBody>
                  <a:tcPr marL="73152" marR="54864" marT="27432" marB="27432" anchor="ctr">
                    <a:solidFill>
                      <a:srgbClr val="F5F8F9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03038"/>
                          </a:solidFill>
                          <a:latin typeface="Calibri"/>
                        </a:rPr>
                        <a:t>College funds, two</a:t>
                      </a:r>
                    </a:p>
                  </a:txBody>
                  <a:tcPr marL="73152" marR="54864" marT="27432" marB="27432" anchor="ctr">
                    <a:solidFill>
                      <a:srgbClr val="ECF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03038"/>
                          </a:solidFill>
                          <a:latin typeface="Calibri"/>
                        </a:rPr>
                        <a:t>$4,250</a:t>
                      </a:r>
                    </a:p>
                  </a:txBody>
                  <a:tcPr marL="73152" marR="54864" marT="27432" marB="27432" anchor="ctr">
                    <a:solidFill>
                      <a:srgbClr val="ECF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03038"/>
                          </a:solidFill>
                          <a:latin typeface="Calibri"/>
                        </a:rPr>
                        <a:t>Lily and Sam</a:t>
                      </a:r>
                    </a:p>
                  </a:txBody>
                  <a:tcPr marL="73152" marR="54864" marT="27432" marB="27432" anchor="ctr">
                    <a:solidFill>
                      <a:srgbClr val="ECF2F3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6720840" y="3840480"/>
            <a:ext cx="4617720" cy="1965960"/>
          </a:xfrm>
          <a:prstGeom prst="roundRect">
            <a:avLst>
              <a:gd name="adj" fmla="val 5000"/>
            </a:avLst>
          </a:prstGeom>
          <a:solidFill>
            <a:srgbClr val="F5F8F9"/>
          </a:solidFill>
          <a:ln w="12700">
            <a:solidFill>
              <a:srgbClr val="DB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4005072"/>
            <a:ext cx="4206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1" i="0">
                <a:solidFill>
                  <a:srgbClr val="29404E"/>
                </a:solidFill>
                <a:latin typeface="Calibri"/>
              </a:rPr>
              <a:t>The estate is in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407408"/>
            <a:ext cx="425196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03038"/>
                </a:solidFill>
                <a:latin typeface="Calibri"/>
              </a:rPr>
              <a:t>The living trust divides equally between Meg and Tom. The retirement and college accounts name their beneficiaries directly, and every account that should carry a payable on death designation now does.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50" b="0" i="1">
                <a:solidFill>
                  <a:srgbClr val="5D7078"/>
                </a:solidFill>
                <a:latin typeface="Calibri"/>
              </a:rPr>
              <a:t>Estate documents restated November 2025, reviewed with counsel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F7D8A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777240"/>
            <a:ext cx="10607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 i="0">
                <a:solidFill>
                  <a:srgbClr val="29404E"/>
                </a:solidFill>
                <a:latin typeface="Calibri"/>
              </a:rPr>
              <a:t>The short list for the year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2011680" cy="45720"/>
          </a:xfrm>
          <a:prstGeom prst="rect">
            <a:avLst/>
          </a:prstGeom>
          <a:solidFill>
            <a:srgbClr val="2F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120640" cy="1737360"/>
          </a:xfrm>
          <a:prstGeom prst="roundRect">
            <a:avLst>
              <a:gd name="adj" fmla="val 5000"/>
            </a:avLst>
          </a:prstGeom>
          <a:solidFill>
            <a:srgbClr val="F5F8F9"/>
          </a:solidFill>
          <a:ln w="12700">
            <a:solidFill>
              <a:srgbClr val="DB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9728" cy="1737360"/>
          </a:xfrm>
          <a:prstGeom prst="rect">
            <a:avLst/>
          </a:prstGeom>
          <a:solidFill>
            <a:srgbClr val="2F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29968"/>
            <a:ext cx="8229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 i="0">
                <a:solidFill>
                  <a:srgbClr val="2F7D8A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075688"/>
            <a:ext cx="3749039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29404E"/>
                </a:solidFill>
                <a:latin typeface="Calibri"/>
              </a:rPr>
              <a:t>Hold the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532888"/>
            <a:ext cx="37947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5D7078"/>
                </a:solidFill>
                <a:latin typeface="Calibri"/>
              </a:rPr>
              <a:t>Keep the automatic transfers running. Nothing here needs fixing.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1828800"/>
            <a:ext cx="5120640" cy="1737360"/>
          </a:xfrm>
          <a:prstGeom prst="roundRect">
            <a:avLst>
              <a:gd name="adj" fmla="val 5000"/>
            </a:avLst>
          </a:prstGeom>
          <a:solidFill>
            <a:srgbClr val="F5F8F9"/>
          </a:solidFill>
          <a:ln w="12700">
            <a:solidFill>
              <a:srgbClr val="DB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79" y="1828800"/>
            <a:ext cx="109728" cy="1737360"/>
          </a:xfrm>
          <a:prstGeom prst="rect">
            <a:avLst/>
          </a:prstGeom>
          <a:solidFill>
            <a:srgbClr val="2F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19" y="2029968"/>
            <a:ext cx="8229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 i="0">
                <a:solidFill>
                  <a:srgbClr val="2F7D8A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79" y="2075688"/>
            <a:ext cx="3749039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29404E"/>
                </a:solidFill>
                <a:latin typeface="Calibri"/>
              </a:rPr>
              <a:t>Fund the trip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79" y="2532888"/>
            <a:ext cx="37947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5D7078"/>
                </a:solidFill>
                <a:latin typeface="Calibri"/>
              </a:rPr>
              <a:t>Let the travel fund reach $6,500, then take Janet to Door County.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94760"/>
            <a:ext cx="5120640" cy="1737360"/>
          </a:xfrm>
          <a:prstGeom prst="roundRect">
            <a:avLst>
              <a:gd name="adj" fmla="val 5000"/>
            </a:avLst>
          </a:prstGeom>
          <a:solidFill>
            <a:srgbClr val="F5F8F9"/>
          </a:solidFill>
          <a:ln w="12700">
            <a:solidFill>
              <a:srgbClr val="DB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794760"/>
            <a:ext cx="109728" cy="1737360"/>
          </a:xfrm>
          <a:prstGeom prst="rect">
            <a:avLst/>
          </a:prstGeom>
          <a:solidFill>
            <a:srgbClr val="2F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995928"/>
            <a:ext cx="8229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 i="0">
                <a:solidFill>
                  <a:srgbClr val="2F7D8A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041648"/>
            <a:ext cx="3749039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29404E"/>
                </a:solidFill>
                <a:latin typeface="Calibri"/>
              </a:rPr>
              <a:t>Weigh the house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498848"/>
            <a:ext cx="37947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5D7078"/>
                </a:solidFill>
                <a:latin typeface="Calibri"/>
              </a:rPr>
              <a:t>Look honestly at downsizing, without letting the walls decide it for 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79" y="3794760"/>
            <a:ext cx="5120640" cy="1737360"/>
          </a:xfrm>
          <a:prstGeom prst="roundRect">
            <a:avLst>
              <a:gd name="adj" fmla="val 5000"/>
            </a:avLst>
          </a:prstGeom>
          <a:solidFill>
            <a:srgbClr val="F5F8F9"/>
          </a:solidFill>
          <a:ln w="12700">
            <a:solidFill>
              <a:srgbClr val="DB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79" y="3794760"/>
            <a:ext cx="109728" cy="1737360"/>
          </a:xfrm>
          <a:prstGeom prst="rect">
            <a:avLst/>
          </a:prstGeom>
          <a:solidFill>
            <a:srgbClr val="2F7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19" y="3995928"/>
            <a:ext cx="8229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 i="0">
                <a:solidFill>
                  <a:srgbClr val="2F7D8A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79" y="4041648"/>
            <a:ext cx="3749039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29404E"/>
                </a:solidFill>
                <a:latin typeface="Calibri"/>
              </a:rPr>
              <a:t>Estate review 2028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79" y="4498848"/>
            <a:ext cx="37947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5D7078"/>
                </a:solidFill>
                <a:latin typeface="Calibri"/>
              </a:rPr>
              <a:t>A routine review with counsel three years on, or sooner if things change.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50" b="0" i="1">
                <a:solidFill>
                  <a:srgbClr val="5D7078"/>
                </a:solidFill>
                <a:latin typeface="Calibri"/>
              </a:rPr>
              <a:t>Reviewed the first of each month   |   next full review, February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