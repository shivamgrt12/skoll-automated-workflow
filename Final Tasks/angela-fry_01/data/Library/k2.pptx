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Tracked scores, three cases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1</c:v>
                </c:pt>
              </c:strCache>
            </c:strRef>
          </c:tx>
          <c:spPr>
            <a:solidFill>
              <a:srgbClr val="2E8B9A"/>
            </a:solidFill>
          </c:spPr>
          <c:cat>
            <c:strRef>
              <c:f>Sheet1!$A$2:$A$5</c:f>
              <c:strCache>
                <c:ptCount val="4"/>
                <c:pt idx="0">
                  <c:v>Shoulder ER</c:v>
                </c:pt>
                <c:pt idx="1">
                  <c:v>Prone Y</c:v>
                </c:pt>
                <c:pt idx="2">
                  <c:v>Night pain</c:v>
                </c:pt>
                <c:pt idx="3">
                  <c:v>Function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70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6</c:v>
                </c:pt>
              </c:strCache>
            </c:strRef>
          </c:tx>
          <c:spPr>
            <a:solidFill>
              <a:srgbClr val="14323B"/>
            </a:solidFill>
          </c:spPr>
          <c:cat>
            <c:strRef>
              <c:f>Sheet1!$A$2:$A$5</c:f>
              <c:strCache>
                <c:ptCount val="4"/>
                <c:pt idx="0">
                  <c:v>Shoulder ER</c:v>
                </c:pt>
                <c:pt idx="1">
                  <c:v>Prone Y</c:v>
                </c:pt>
                <c:pt idx="2">
                  <c:v>Night pain</c:v>
                </c:pt>
                <c:pt idx="3">
                  <c:v>Function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75</c:v>
                </c:pt>
                <c:pt idx="2">
                  <c:v>25</c:v>
                </c:pt>
                <c:pt idx="3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0"/>
            <a:ext cx="12191695" cy="54864"/>
          </a:xfrm>
          <a:prstGeom prst="rect">
            <a:avLst/>
          </a:prstGeom>
          <a:solidFill>
            <a:srgbClr val="2E8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Subacromial Rehab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E8B9A"/>
                </a:solidFill>
                <a:latin typeface="Calibri"/>
              </a:rPr>
              <a:t>Clinic In-Service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CFE4E8"/>
                </a:solidFill>
                <a:latin typeface="Calibri"/>
              </a:rPr>
              <a:t>Sequoia Rehabilitation Partners, 2840 Freeport Blvd, Sacramento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CFE4E8"/>
                </a:solidFill>
                <a:latin typeface="Calibri"/>
              </a:rPr>
              <a:t>Presented by A. Fry, PT, DPT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CFE4E8"/>
                </a:solidFill>
                <a:latin typeface="Calibri"/>
              </a:rPr>
              <a:t>February 2026 case conference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333A"/>
                </a:solidFill>
                <a:latin typeface="Calibri"/>
              </a:rPr>
              <a:t>Frame subacromial pain as a loading problem, not a fragile joint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333A"/>
                </a:solidFill>
                <a:latin typeface="Calibri"/>
              </a:rPr>
              <a:t>Standardize a two phase progression across the team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333A"/>
                </a:solidFill>
                <a:latin typeface="Calibri"/>
              </a:rPr>
              <a:t>Agree on red flags and referral triggers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333A"/>
                </a:solidFill>
                <a:latin typeface="Calibri"/>
              </a:rPr>
              <a:t>Review three active cases and outcomes to date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Phase Progression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1005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4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>
                    <a:solidFill>
                      <a:srgbClr val="14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exercises</a:t>
                      </a:r>
                    </a:p>
                  </a:txBody>
                  <a:tcPr>
                    <a:solidFill>
                      <a:srgbClr val="14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1432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Calm and control</a:t>
                      </a:r>
                    </a:p>
                  </a:txBody>
                  <a:tcPr>
                    <a:solidFill>
                      <a:srgbClr val="D6E8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1 to 2</a:t>
                      </a:r>
                    </a:p>
                  </a:txBody>
                  <a:tcPr>
                    <a:solidFill>
                      <a:srgbClr val="D6E8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Scapular retraction, isometric ER</a:t>
                      </a:r>
                    </a:p>
                  </a:txBody>
                  <a:tcPr>
                    <a:solidFill>
                      <a:srgbClr val="D6E8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reduce night pain</a:t>
                      </a:r>
                    </a:p>
                  </a:txBody>
                  <a:tcPr>
                    <a:solidFill>
                      <a:srgbClr val="D6E8E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3 to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Banded ER, prone Y, sleeper stretch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restore load 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Return</a:t>
                      </a:r>
                    </a:p>
                  </a:txBody>
                  <a:tcPr>
                    <a:solidFill>
                      <a:srgbClr val="D6E8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7 plus</a:t>
                      </a:r>
                    </a:p>
                  </a:txBody>
                  <a:tcPr>
                    <a:solidFill>
                      <a:srgbClr val="D6E8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Overhead progression, carries</a:t>
                      </a:r>
                    </a:p>
                  </a:txBody>
                  <a:tcPr>
                    <a:solidFill>
                      <a:srgbClr val="D6E8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333A"/>
                          </a:solidFill>
                          <a:latin typeface="Calibri"/>
                        </a:rPr>
                        <a:t>full daily function</a:t>
                      </a:r>
                    </a:p>
                  </a:txBody>
                  <a:tcPr>
                    <a:solidFill>
                      <a:srgbClr val="D6E8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Caseload Outcomes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1737360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2333A"/>
                </a:solidFill>
                <a:latin typeface="Calibri"/>
              </a:rPr>
              <a:t>All three cases trending up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2333A"/>
                </a:solidFill>
                <a:latin typeface="Calibri"/>
              </a:rPr>
              <a:t>Night pain down across the board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2333A"/>
                </a:solidFill>
                <a:latin typeface="Calibri"/>
              </a:rPr>
              <a:t>External rotation endurance the slowest gain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2333A"/>
                </a:solidFill>
                <a:latin typeface="Calibri"/>
              </a:rPr>
              <a:t>De-identified, charts stay in clinic tooling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E8B9A"/>
                </a:solidFill>
                <a:latin typeface="Calibri"/>
              </a:rPr>
              <a:t>Red Flags and Referral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CFE4E8"/>
                </a:solidFill>
                <a:latin typeface="Calibri"/>
              </a:rPr>
              <a:t>Weakness rather than pain, consider cuff tear workup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CFE4E8"/>
                </a:solidFill>
                <a:latin typeface="Calibri"/>
              </a:rPr>
              <a:t>Night pain unchanged after three weeks of loading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CFE4E8"/>
                </a:solidFill>
                <a:latin typeface="Calibri"/>
              </a:rPr>
              <a:t>Trauma with loss of active elevation, image first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CFE4E8"/>
                </a:solidFill>
                <a:latin typeface="Calibri"/>
              </a:rPr>
              <a:t>Systemic signs, route to the medical lead same day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Questions and case notes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Subacromial Rehab In-Service</dc:title>
  <dc:subject/>
  <dc:creator>Angela Fry</dc:creator>
  <cp:keywords/>
  <dc:description>generated using python-pptx</dc:description>
  <cp:lastModifiedBy>Angela Fry</cp:lastModifiedBy>
  <cp:revision>1</cp:revision>
  <dcterms:created xsi:type="dcterms:W3CDTF">2026-02-18T10:00:00Z</dcterms:created>
  <dcterms:modified xsi:type="dcterms:W3CDTF">2026-02-18T10:00:00Z</dcterms:modified>
  <cp:category/>
</cp:coreProperties>
</file>