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Steps before first tutor match</c:v>
                </c:pt>
              </c:strCache>
            </c:strRef>
          </c:tx>
          <c:spPr>
            <a:solidFill>
              <a:srgbClr val="4A2F5D"/>
            </a:solidFill>
          </c:spPr>
          <c:cat>
            <c:strRef>
              <c:f>Sheet1!$A$2:$A$3</c:f>
              <c:strCache>
                <c:ptCount val="2"/>
                <c:pt idx="0">
                  <c:v>Current flow</c:v>
                </c:pt>
                <c:pt idx="1">
                  <c:v>Proposed flow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2000" b="1">
                  <a:solidFill>
                    <a:srgbClr val="2B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B29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4A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109728" cy="685800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9C7E4"/>
                </a:solidFill>
                <a:latin typeface="Trebuchet MS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Angela Brooks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FBEDA"/>
                </a:solidFill>
                <a:latin typeface="Trebuchet MS"/>
              </a:rPr>
              <a:t>UX and UI design, Seattle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FBEDA"/>
                </a:solidFill>
                <a:latin typeface="Trebuchet MS"/>
              </a:rPr>
              <a:t>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6949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2B2933"/>
                </a:solidFill>
                <a:latin typeface="Trebuchet MS"/>
              </a:rPr>
              <a:t>Onboarding</a:t>
            </a:r>
          </a:p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2F6F6A"/>
                </a:solidFill>
                <a:latin typeface="Trebuchet MS"/>
              </a:rPr>
              <a:t>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411480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77707C"/>
                </a:solidFill>
                <a:latin typeface="Trebuchet MS"/>
              </a:rPr>
              <a:t>Cutting first session drop off for new parent and tutor accounts on a tutoring co-op mobile app.</a:t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640080" cy="109728"/>
          </a:xfrm>
          <a:prstGeom prst="rect">
            <a:avLst/>
          </a:prstGeom>
          <a:solidFill>
            <a:srgbClr val="C96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B2933"/>
                </a:solidFill>
                <a:latin typeface="Trebuchet M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B2933"/>
                </a:solidFill>
                <a:latin typeface="Trebuchet MS"/>
              </a:rPr>
              <a:t>New parents and tutors were dropping out during the first session, before they ever reached the tutor match. The support inbox kept tagging the same confusion: account type, verification, and a long unmarked form.</a:t>
            </a:r>
          </a:p>
          <a:p>
            <a:pPr algn="l">
              <a:spcAft>
                <a:spcPts val="800"/>
              </a:spcAft>
            </a:pPr>
            <a:r>
              <a:rPr sz="800" b="0" i="0">
                <a:solidFill>
                  <a:srgbClr val="2B2933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77707C"/>
                </a:solidFill>
                <a:latin typeface="Trebuchet MS"/>
              </a:rPr>
              <a:t>The brief was simple to say and hard to do. Reduce first session drop off without losing the trust checks a tutoring service has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F6F6A"/>
                </a:solidFill>
                <a:latin typeface="Trebuchet MS"/>
              </a:rPr>
              <a:t>top support tag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B2933"/>
                </a:solidFill>
                <a:latin typeface="Trebuchet MS"/>
              </a:rPr>
              <a:t>account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93776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51206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F6F6A"/>
                </a:solidFill>
                <a:latin typeface="Trebuchet MS"/>
              </a:rPr>
              <a:t>top support tag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B2933"/>
                </a:solidFill>
                <a:latin typeface="Trebuchet MS"/>
              </a:rPr>
              <a:t>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93776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51206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F6F6A"/>
                </a:solidFill>
                <a:latin typeface="Trebuchet MS"/>
              </a:rPr>
              <a:t>top support tag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B2933"/>
                </a:solidFill>
                <a:latin typeface="Trebuchet MS"/>
              </a:rPr>
              <a:t>unmarked form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640080" cy="109728"/>
          </a:xfrm>
          <a:prstGeom prst="rect">
            <a:avLst/>
          </a:prstGeom>
          <a:solidFill>
            <a:srgbClr val="4A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B2933"/>
                </a:solidFill>
                <a:latin typeface="Trebuchet MS"/>
              </a:rPr>
              <a:t>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120640" cy="182880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6F6A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77707C"/>
                </a:solidFill>
                <a:latin typeface="Trebuchet MS"/>
              </a:rPr>
              <a:t>Read the support tags and the funnel drop off, mapped every current step.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182880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6F6A"/>
                </a:solidFill>
                <a:latin typeface="Trebuchet M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Wireflow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77707C"/>
                </a:solidFill>
                <a:latin typeface="Trebuchet MS"/>
              </a:rPr>
              <a:t>Cut the path to match first, verify later. Fewer choices up front.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5120640" cy="182880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976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6F6A"/>
                </a:solidFill>
                <a:latin typeface="Trebuchet M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4924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77707C"/>
                </a:solidFill>
                <a:latin typeface="Trebuchet MS"/>
              </a:rPr>
              <a:t>Light and dark, accessibility checked, real copy throughout.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114800"/>
            <a:ext cx="5120640" cy="182880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F6F6A"/>
                </a:solidFill>
                <a:latin typeface="Trebuchet M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34924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77707C"/>
                </a:solidFill>
                <a:latin typeface="Trebuchet MS"/>
              </a:rPr>
              <a:t>Redline specs and states, so the build matched the design.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640080" cy="109728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B2933"/>
                </a:solidFill>
                <a:latin typeface="Trebuchet MS"/>
              </a:rPr>
              <a:t>Fewer steps to the first tutor match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2024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778240" y="23774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651760"/>
            <a:ext cx="2286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6F6A"/>
                </a:solidFill>
                <a:latin typeface="Trebuchet MS"/>
              </a:rPr>
              <a:t>Target metric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B2933"/>
                </a:solidFill>
                <a:latin typeface="Trebuchet MS"/>
              </a:rPr>
              <a:t>First session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B2933"/>
                </a:solidFill>
                <a:latin typeface="Trebuchet MS"/>
              </a:rPr>
              <a:t>completion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B2933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77707C"/>
                </a:solidFill>
                <a:latin typeface="Trebuchet MS"/>
              </a:rPr>
              <a:t>Measured against the live funnel after launch.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640080" cy="109728"/>
          </a:xfrm>
          <a:prstGeom prst="rect">
            <a:avLst/>
          </a:prstGeom>
          <a:solidFill>
            <a:srgbClr val="4A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B2933"/>
                </a:solidFill>
                <a:latin typeface="Trebuchet MS"/>
              </a:rPr>
              <a:t>Scope and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2468880" cy="237744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468880" cy="128016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F6F6A"/>
                </a:solidFill>
                <a:latin typeface="Trebuchet MS"/>
              </a:rPr>
              <a:t>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1,100.00 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77707C"/>
                </a:solidFill>
                <a:latin typeface="Trebuchet MS"/>
              </a:rPr>
              <a:t>Flat, billed on delivery, net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103120"/>
            <a:ext cx="2468880" cy="237744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103120"/>
            <a:ext cx="2468880" cy="128016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4688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F6F6A"/>
                </a:solidFill>
                <a:latin typeface="Trebuchet MS"/>
              </a:rPr>
              <a:t>INVOICE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92608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INV-2026-005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8404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77707C"/>
                </a:solidFill>
                <a:latin typeface="Trebuchet MS"/>
              </a:rPr>
              <a:t>Routed for online payment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2468880" cy="237744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2468880" cy="128016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688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F6F6A"/>
                </a:solidFill>
                <a:latin typeface="Trebuchet MS"/>
              </a:rPr>
              <a:t>KICKOFF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October 6,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404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77707C"/>
                </a:solidFill>
                <a:latin typeface="Trebuchet MS"/>
              </a:rPr>
              <a:t>Scope signed at start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103120"/>
            <a:ext cx="2468880" cy="2377440"/>
          </a:xfrm>
          <a:prstGeom prst="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03120"/>
            <a:ext cx="2468880" cy="128016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4688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F6F6A"/>
                </a:solidFill>
                <a:latin typeface="Trebuchet MS"/>
              </a:rPr>
              <a:t>DUE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2608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2933"/>
                </a:solidFill>
                <a:latin typeface="Trebuchet MS"/>
              </a:rPr>
              <a:t>November 20,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8404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77707C"/>
                </a:solidFill>
                <a:latin typeface="Trebuchet MS"/>
              </a:rPr>
              <a:t>Final deliverable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77707C"/>
                </a:solidFill>
                <a:latin typeface="Trebuchet MS"/>
              </a:rPr>
              <a:t>Deliverables: discovery and audit, wireframes, a high fidelity prototype in light and dark, and a developer handoff.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Design that respects the trust a service has to keep.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31920"/>
            <a:ext cx="1828800" cy="9144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9C7E4"/>
                </a:solidFill>
                <a:latin typeface="Trebuchet MS"/>
              </a:rPr>
              <a:t>Angela Brooks   .   angelabrooks.design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Angela Brooks</dc:creator>
  <cp:keywords/>
  <dc:description/>
  <cp:lastModifiedBy>Angela Brooks</cp:lastModifiedBy>
  <cp:revision>1</cp:revision>
  <dcterms:created xsi:type="dcterms:W3CDTF">2026-10-25T15:00:00Z</dcterms:created>
  <dcterms:modified xsi:type="dcterms:W3CDTF">2026-10-25T15:00:00Z</dcterms:modified>
  <cp:category/>
</cp:coreProperties>
</file>