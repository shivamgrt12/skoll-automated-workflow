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1" r:id="rId12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7A3B1E"/>
            </a:solidFill>
          </c:spPr>
          <c:cat>
            <c:strRef>
              <c:f>Sheet1!$A$2:$A$3</c:f>
              <c:strCache>
                <c:ptCount val="2"/>
                <c:pt idx="0">
                  <c:v>2025 actual</c:v>
                </c:pt>
                <c:pt idx="1">
                  <c:v>2026 projected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98000</c:v>
                </c:pt>
                <c:pt idx="1">
                  <c:v>145000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Expenses</c:v>
                </c:pt>
              </c:strCache>
            </c:strRef>
          </c:tx>
          <c:spPr>
            <a:solidFill>
              <a:srgbClr val="CB994A"/>
            </a:solidFill>
          </c:spPr>
          <c:cat>
            <c:strRef>
              <c:f>Sheet1!$A$2:$A$3</c:f>
              <c:strCache>
                <c:ptCount val="2"/>
                <c:pt idx="0">
                  <c:v>2025 actual</c:v>
                </c:pt>
                <c:pt idx="1">
                  <c:v>2026 projected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118000</c:v>
                </c:pt>
                <c:pt idx="1">
                  <c:v>130000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281E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281E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33281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Fie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Field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Fie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Fie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Field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Fiel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Field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Field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Fie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Field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Fie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Field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Fiel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Field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Field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Fiel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Field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Field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Fiel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Field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Fie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Field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Field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Fiel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Field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Field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Field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Field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Fiel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Field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Field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Field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Field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Field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8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CB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1828800" cy="128016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914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7A3B1E"/>
                </a:solidFill>
                <a:latin typeface="Georgia"/>
              </a:rPr>
              <a:t>Bayshore Sustainable Aquaculture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33281E"/>
                </a:solidFill>
                <a:latin typeface="Georgia"/>
              </a:rPr>
              <a:t>Year Two Business Review and Path to Profitability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B6B3A"/>
                </a:solidFill>
                <a:latin typeface="Calibri"/>
              </a:rPr>
              <a:t>Prepared by Anthony Cross, Co-owner and Operations Manager  |  Clear Lake Shores, Texas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A8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CB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6E8"/>
                </a:solidFill>
                <a:latin typeface="Georgia"/>
              </a:rPr>
              <a:t>What This Review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281E"/>
                </a:solidFill>
                <a:latin typeface="Calibri"/>
              </a:rPr>
              <a:t>- Where year two landed against the plan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281E"/>
                </a:solidFill>
                <a:latin typeface="Calibri"/>
              </a:rPr>
              <a:t>- Production by species and harvest cycle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281E"/>
                </a:solidFill>
                <a:latin typeface="Calibri"/>
              </a:rPr>
              <a:t>- Revenue, expenses, and the road to profitability by the fourth quarter of 2026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281E"/>
                </a:solidFill>
                <a:latin typeface="Calibri"/>
              </a:rPr>
              <a:t>- Restaurant accounts and standing demand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281E"/>
                </a:solidFill>
                <a:latin typeface="Calibri"/>
              </a:rPr>
              <a:t>- Grant status and what remains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281E"/>
                </a:solidFill>
                <a:latin typeface="Calibri"/>
              </a:rPr>
              <a:t>- The decisions that need to be made before next cycle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A8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CB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6E8"/>
                </a:solidFill>
                <a:latin typeface="Georgia"/>
              </a:rPr>
              <a:t>Production by Cycle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7160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6E8"/>
                          </a:solidFill>
                          <a:latin typeface="Calibri"/>
                        </a:rPr>
                        <a:t>Cycle</a:t>
                      </a:r>
                    </a:p>
                  </a:txBody>
                  <a:tcPr>
                    <a:solidFill>
                      <a:srgbClr val="A85A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6E8"/>
                          </a:solidFill>
                          <a:latin typeface="Calibri"/>
                        </a:rPr>
                        <a:t>Window</a:t>
                      </a:r>
                    </a:p>
                  </a:txBody>
                  <a:tcPr>
                    <a:solidFill>
                      <a:srgbClr val="A85A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6E8"/>
                          </a:solidFill>
                          <a:latin typeface="Calibri"/>
                        </a:rPr>
                        <a:t>Shrimp lb</a:t>
                      </a:r>
                    </a:p>
                  </a:txBody>
                  <a:tcPr>
                    <a:solidFill>
                      <a:srgbClr val="A85A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6E8"/>
                          </a:solidFill>
                          <a:latin typeface="Calibri"/>
                        </a:rPr>
                        <a:t>Oysters</a:t>
                      </a:r>
                    </a:p>
                  </a:txBody>
                  <a:tcPr>
                    <a:solidFill>
                      <a:srgbClr val="A85A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6E8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A85A3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Calibri"/>
                        </a:rPr>
                        <a:t>Cycle 1</a:t>
                      </a:r>
                    </a:p>
                  </a:txBody>
                  <a:tcPr>
                    <a:solidFill>
                      <a:srgbClr val="ECDCC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Calibri"/>
                        </a:rPr>
                        <a:t>Jan to Feb 2026</a:t>
                      </a:r>
                    </a:p>
                  </a:txBody>
                  <a:tcPr>
                    <a:solidFill>
                      <a:srgbClr val="ECDCC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Calibri"/>
                        </a:rPr>
                        <a:t>2,050</a:t>
                      </a:r>
                    </a:p>
                  </a:txBody>
                  <a:tcPr>
                    <a:solidFill>
                      <a:srgbClr val="ECDCC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Calibri"/>
                        </a:rPr>
                        <a:t>12,500</a:t>
                      </a:r>
                    </a:p>
                  </a:txBody>
                  <a:tcPr>
                    <a:solidFill>
                      <a:srgbClr val="ECDCC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Calibri"/>
                        </a:rPr>
                        <a:t>16 to 20 head-on</a:t>
                      </a:r>
                    </a:p>
                  </a:txBody>
                  <a:tcPr>
                    <a:solidFill>
                      <a:srgbClr val="ECDCC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Calibri"/>
                        </a:rPr>
                        <a:t>Cycle 2</a:t>
                      </a:r>
                    </a:p>
                  </a:txBody>
                  <a:tcPr>
                    <a:solidFill>
                      <a:srgbClr val="F3EA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Calibri"/>
                        </a:rPr>
                        <a:t>Oct to Nov 2025</a:t>
                      </a:r>
                    </a:p>
                  </a:txBody>
                  <a:tcPr>
                    <a:solidFill>
                      <a:srgbClr val="F3EA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Calibri"/>
                        </a:rPr>
                        <a:t>1,980</a:t>
                      </a:r>
                    </a:p>
                  </a:txBody>
                  <a:tcPr>
                    <a:solidFill>
                      <a:srgbClr val="F3EA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Calibri"/>
                        </a:rPr>
                        <a:t>13,000</a:t>
                      </a:r>
                    </a:p>
                  </a:txBody>
                  <a:tcPr>
                    <a:solidFill>
                      <a:srgbClr val="F3EA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Calibri"/>
                        </a:rPr>
                        <a:t>strong grade</a:t>
                      </a:r>
                    </a:p>
                  </a:txBody>
                  <a:tcPr>
                    <a:solidFill>
                      <a:srgbClr val="F3EAD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Calibri"/>
                        </a:rPr>
                        <a:t>Cycle 3</a:t>
                      </a:r>
                    </a:p>
                  </a:txBody>
                  <a:tcPr>
                    <a:solidFill>
                      <a:srgbClr val="ECDCC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Calibri"/>
                        </a:rPr>
                        <a:t>2025 summer</a:t>
                      </a:r>
                    </a:p>
                  </a:txBody>
                  <a:tcPr>
                    <a:solidFill>
                      <a:srgbClr val="ECDCC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Calibri"/>
                        </a:rPr>
                        <a:t>2,010</a:t>
                      </a:r>
                    </a:p>
                  </a:txBody>
                  <a:tcPr>
                    <a:solidFill>
                      <a:srgbClr val="ECDCC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Calibri"/>
                        </a:rPr>
                        <a:t>12,000</a:t>
                      </a:r>
                    </a:p>
                  </a:txBody>
                  <a:tcPr>
                    <a:solidFill>
                      <a:srgbClr val="ECDCC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Calibri"/>
                        </a:rPr>
                        <a:t>steady</a:t>
                      </a:r>
                    </a:p>
                  </a:txBody>
                  <a:tcPr>
                    <a:solidFill>
                      <a:srgbClr val="ECDCC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Calibri"/>
                        </a:rPr>
                        <a:t>Cycle 4</a:t>
                      </a:r>
                    </a:p>
                  </a:txBody>
                  <a:tcPr>
                    <a:solidFill>
                      <a:srgbClr val="F3EA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Calibri"/>
                        </a:rPr>
                        <a:t>2025 fall</a:t>
                      </a:r>
                    </a:p>
                  </a:txBody>
                  <a:tcPr>
                    <a:solidFill>
                      <a:srgbClr val="F3EA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Calibri"/>
                        </a:rPr>
                        <a:t>1,960</a:t>
                      </a:r>
                    </a:p>
                  </a:txBody>
                  <a:tcPr>
                    <a:solidFill>
                      <a:srgbClr val="F3EA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Calibri"/>
                        </a:rPr>
                        <a:t>12,500</a:t>
                      </a:r>
                    </a:p>
                  </a:txBody>
                  <a:tcPr>
                    <a:solidFill>
                      <a:srgbClr val="F3EA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Calibri"/>
                        </a:rPr>
                        <a:t>good salinity</a:t>
                      </a:r>
                    </a:p>
                  </a:txBody>
                  <a:tcPr>
                    <a:solidFill>
                      <a:srgbClr val="F3EAD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937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6B6B3A"/>
                </a:solidFill>
                <a:latin typeface="Calibri"/>
              </a:rPr>
              <a:t>Target run rate is roughly 8,000 pounds of shrimp across four cycles and about 50,000 oysters per year. Year two held the run rate and improved grade quality.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A8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CB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6E8"/>
                </a:solidFill>
                <a:latin typeface="Georgia"/>
              </a:rPr>
              <a:t>Revenue and Expenses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1371600"/>
          <a:ext cx="65836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33281E"/>
                </a:solidFill>
                <a:latin typeface="Calibri"/>
              </a:rPr>
              <a:t>- Revenue projected at $145,000 for 2026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33281E"/>
                </a:solidFill>
                <a:latin typeface="Calibri"/>
              </a:rPr>
              <a:t>- Up from $98,000 in 2025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33281E"/>
                </a:solidFill>
                <a:latin typeface="Calibri"/>
              </a:rPr>
              <a:t>- Expenses near $130,000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33281E"/>
                </a:solidFill>
                <a:latin typeface="Calibri"/>
              </a:rPr>
              <a:t>- Gap narrows toward profitability in the fourth quarter of 2026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33281E"/>
                </a:solidFill>
                <a:latin typeface="Calibri"/>
              </a:rPr>
              <a:t>- Operating balance near $18,000, moves with harvest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A8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CB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6E8"/>
                </a:solidFill>
                <a:latin typeface="Georgia"/>
              </a:rPr>
              <a:t>Key Risks and Next Steps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7160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6E8"/>
                          </a:solidFill>
                          <a:latin typeface="Georgia"/>
                        </a:rPr>
                        <a:t>Risk</a:t>
                      </a:r>
                    </a:p>
                  </a:txBody>
                  <a:tcPr>
                    <a:solidFill>
                      <a:srgbClr val="A85A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6E8"/>
                          </a:solidFill>
                          <a:latin typeface="Georgia"/>
                        </a:rPr>
                        <a:t>Why it matters</a:t>
                      </a:r>
                    </a:p>
                  </a:txBody>
                  <a:tcPr>
                    <a:solidFill>
                      <a:srgbClr val="A85A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6E8"/>
                          </a:solidFill>
                          <a:latin typeface="Georgia"/>
                        </a:rPr>
                        <a:t>Next step</a:t>
                      </a:r>
                    </a:p>
                  </a:txBody>
                  <a:tcPr>
                    <a:solidFill>
                      <a:srgbClr val="A85A3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Georgia"/>
                        </a:rPr>
                        <a:t>Single account weight</a:t>
                      </a:r>
                    </a:p>
                  </a:txBody>
                  <a:tcPr>
                    <a:solidFill>
                      <a:srgbClr val="ECDCC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Georgia"/>
                        </a:rPr>
                        <a:t>The Boathouse is most of the oyster book</a:t>
                      </a:r>
                    </a:p>
                  </a:txBody>
                  <a:tcPr>
                    <a:solidFill>
                      <a:srgbClr val="ECDCC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Georgia"/>
                        </a:rPr>
                        <a:t>Grow the four smaller kitchens</a:t>
                      </a:r>
                    </a:p>
                  </a:txBody>
                  <a:tcPr>
                    <a:solidFill>
                      <a:srgbClr val="ECDCC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Georgia"/>
                        </a:rPr>
                        <a:t>Cash flow timing</a:t>
                      </a:r>
                    </a:p>
                  </a:txBody>
                  <a:tcPr>
                    <a:solidFill>
                      <a:srgbClr val="F3EA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Georgia"/>
                        </a:rPr>
                        <a:t>Harvest cycles bunch the income</a:t>
                      </a:r>
                    </a:p>
                  </a:txBody>
                  <a:tcPr>
                    <a:solidFill>
                      <a:srgbClr val="F3EA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Georgia"/>
                        </a:rPr>
                        <a:t>Hold operating balance near 18,000</a:t>
                      </a:r>
                    </a:p>
                  </a:txBody>
                  <a:tcPr>
                    <a:solidFill>
                      <a:srgbClr val="F3EAD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Georgia"/>
                        </a:rPr>
                        <a:t>Permit renewal</a:t>
                      </a:r>
                    </a:p>
                  </a:txBody>
                  <a:tcPr>
                    <a:solidFill>
                      <a:srgbClr val="ECDCC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Georgia"/>
                        </a:rPr>
                        <a:t>Lease expansion gates oyster growth</a:t>
                      </a:r>
                    </a:p>
                  </a:txBody>
                  <a:tcPr>
                    <a:solidFill>
                      <a:srgbClr val="ECDCC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Georgia"/>
                        </a:rPr>
                        <a:t>File with the state in the fourth quarter of 2026</a:t>
                      </a:r>
                    </a:p>
                  </a:txBody>
                  <a:tcPr>
                    <a:solidFill>
                      <a:srgbClr val="ECDCC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Georgia"/>
                        </a:rPr>
                        <a:t>Disease risk</a:t>
                      </a:r>
                    </a:p>
                  </a:txBody>
                  <a:tcPr>
                    <a:solidFill>
                      <a:srgbClr val="F3EA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Georgia"/>
                        </a:rPr>
                        <a:t>An outbreak can wipe a cycle</a:t>
                      </a:r>
                    </a:p>
                  </a:txBody>
                  <a:tcPr>
                    <a:solidFill>
                      <a:srgbClr val="F3EA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281E"/>
                          </a:solidFill>
                          <a:latin typeface="Georgia"/>
                        </a:rPr>
                        <a:t>Keep the biosecurity routine tight</a:t>
                      </a:r>
                    </a:p>
                  </a:txBody>
                  <a:tcPr>
                    <a:solidFill>
                      <a:srgbClr val="F3EAD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84632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6B6B3A"/>
                </a:solidFill>
                <a:latin typeface="Georgia"/>
              </a:rPr>
              <a:t>Year two is about widening the account book, holding cash through the harvest swings, and clearing the lease paperwork before the next cycle build.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91440"/>
          </a:xfrm>
          <a:prstGeom prst="rect">
            <a:avLst/>
          </a:prstGeom>
          <a:solidFill>
            <a:srgbClr val="CB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6E8"/>
                </a:solidFill>
                <a:latin typeface="Georgia"/>
              </a:rPr>
              <a:t>The biology sets the pace. The paperwork keeps the lights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3EADC"/>
                </a:solidFill>
                <a:latin typeface="Calibri"/>
              </a:rPr>
              <a:t>Next: confirm Cycle 1 grades with The Boathouse, file the lease expansion paperwork, hold the line on cash.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CB994A"/>
                </a:solidFill>
                <a:latin typeface="Calibri"/>
              </a:rPr>
              <a:t>Bayshore Sustainable Aquaculture, LLC  |  anthony.cross@Greenridertech.co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2026-02-10T09:12:00Z</dcterms:created>
  <dcterms:modified xsi:type="dcterms:W3CDTF">2026-02-10T09:12:00Z</dcterms:modified>
  <cp:category/>
</cp:coreProperties>
</file>