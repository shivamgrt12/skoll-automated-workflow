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1" r:id="rId12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The Boathouse</c:v>
                </c:pt>
                <c:pt idx="1">
                  <c:v>Bayou Reef</c:v>
                </c:pt>
                <c:pt idx="2">
                  <c:v>Pelican Station</c:v>
                </c:pt>
                <c:pt idx="3">
                  <c:v>Strand House</c:v>
                </c:pt>
                <c:pt idx="4">
                  <c:v>Clear Creek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7</c:v>
                </c:pt>
                <c:pt idx="2">
                  <c:v>5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>
                  <a:solidFill>
                    <a:srgbClr val="1A243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200">
          <a:solidFill>
            <a:srgbClr val="1A243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Oysters delivered</c:v>
                </c:pt>
              </c:strCache>
            </c:strRef>
          </c:tx>
          <c:spPr>
            <a:ln>
              <a:solidFill>
                <a:srgbClr val="1F5C8C"/>
              </a:solidFill>
            </a:ln>
          </c:spPr>
          <c:cat>
            <c:strRef>
              <c:f>Sheet1!$A$2:$A$6</c:f>
              <c:strCache>
                <c:ptCount val="5"/>
                <c:pt idx="0">
                  <c:v>Oct 2025</c:v>
                </c:pt>
                <c:pt idx="1">
                  <c:v>Nov 2025</c:v>
                </c:pt>
                <c:pt idx="2">
                  <c:v>Dec 2025</c:v>
                </c:pt>
                <c:pt idx="3">
                  <c:v>Jan 2026</c:v>
                </c:pt>
                <c:pt idx="4">
                  <c:v>Feb 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820</c:v>
                </c:pt>
                <c:pt idx="1">
                  <c:v>910</c:v>
                </c:pt>
                <c:pt idx="2">
                  <c:v>880</c:v>
                </c:pt>
                <c:pt idx="3">
                  <c:v>940</c:v>
                </c:pt>
                <c:pt idx="4">
                  <c:v>1010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Shrimp pounds</c:v>
                </c:pt>
              </c:strCache>
            </c:strRef>
          </c:tx>
          <c:spPr>
            <a:ln>
              <a:solidFill>
                <a:srgbClr val="3E8EC4"/>
              </a:solidFill>
            </a:ln>
          </c:spPr>
          <c:cat>
            <c:strRef>
              <c:f>Sheet1!$A$2:$A$6</c:f>
              <c:strCache>
                <c:ptCount val="5"/>
                <c:pt idx="0">
                  <c:v>Oct 2025</c:v>
                </c:pt>
                <c:pt idx="1">
                  <c:v>Nov 2025</c:v>
                </c:pt>
                <c:pt idx="2">
                  <c:v>Dec 2025</c:v>
                </c:pt>
                <c:pt idx="3">
                  <c:v>Jan 2026</c:v>
                </c:pt>
                <c:pt idx="4">
                  <c:v>Feb 2026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40</c:v>
                </c:pt>
                <c:pt idx="1">
                  <c:v>55</c:v>
                </c:pt>
                <c:pt idx="2">
                  <c:v>48</c:v>
                </c:pt>
                <c:pt idx="3">
                  <c:v>60</c:v>
                </c:pt>
                <c:pt idx="4">
                  <c:v>62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A243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A243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1A243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Fie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Fie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Field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Fie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Field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Fiel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Field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Field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Fiel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Field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Field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Fiel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Field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ie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Field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Fie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Field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Field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Fiel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Field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Field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Field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Field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Field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Field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Fiel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Field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12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51760"/>
            <a:ext cx="12191695" cy="109728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0080"/>
            <a:ext cx="274320" cy="274320"/>
          </a:xfrm>
          <a:prstGeom prst="rect">
            <a:avLst/>
          </a:prstGeom>
          <a:solidFill>
            <a:srgbClr val="1F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" y="640080"/>
            <a:ext cx="274320" cy="274320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640080"/>
            <a:ext cx="274320" cy="274320"/>
          </a:xfrm>
          <a:prstGeom prst="rect">
            <a:avLst/>
          </a:prstGeom>
          <a:solidFill>
            <a:srgbClr val="1F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4519" y="640080"/>
            <a:ext cx="274320" cy="274320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640080"/>
            <a:ext cx="274320" cy="274320"/>
          </a:xfrm>
          <a:prstGeom prst="rect">
            <a:avLst/>
          </a:prstGeom>
          <a:solidFill>
            <a:srgbClr val="1F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Restaurant Account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FE2F2"/>
                </a:solidFill>
                <a:latin typeface="Calibri"/>
              </a:rPr>
              <a:t>Standing accounts, share of harvest, and weekly cadence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22A47"/>
                </a:solidFill>
                <a:latin typeface="Calibri"/>
              </a:rPr>
              <a:t>Bayshore Sustainable Aquaculture  |  Operations and Sales  |  Anthony Cross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B7791"/>
                </a:solidFill>
                <a:latin typeface="Calibri"/>
              </a:rPr>
              <a:t>Galveston Bay region, Texas  |  Review window: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Accounts at a Glance</a:t>
            </a:r>
          </a:p>
        </p:txBody>
      </p:sp>
      <p:sp>
        <p:nvSpPr>
          <p:cNvPr id="6" name="Oval 5"/>
          <p:cNvSpPr/>
          <p:nvPr/>
        </p:nvSpPr>
        <p:spPr>
          <a:xfrm>
            <a:off x="11155680" y="292608"/>
            <a:ext cx="457200" cy="457200"/>
          </a:xfrm>
          <a:prstGeom prst="ellipse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10896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>
                    <a:solidFill>
                      <a:srgbClr val="1F5C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Contact</a:t>
                      </a:r>
                    </a:p>
                  </a:txBody>
                  <a:tcPr>
                    <a:solidFill>
                      <a:srgbClr val="1F5C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>
                    <a:solidFill>
                      <a:srgbClr val="1F5C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Oyster share</a:t>
                      </a:r>
                    </a:p>
                  </a:txBody>
                  <a:tcPr>
                    <a:solidFill>
                      <a:srgbClr val="1F5C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Cadence</a:t>
                      </a:r>
                    </a:p>
                  </a:txBody>
                  <a:tcPr>
                    <a:solidFill>
                      <a:srgbClr val="1F5C8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The Boathouse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Chef Marcus Rivera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Galveston Seawall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weekly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Bayou Reef Kitchen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Chef Lila Fontenot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Kemah Boardwalk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weekly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Pelican Station Oyster Bar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Curtis Vance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Dickinson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weekly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Strand House Raw 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Tomas Reyes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Galveston Strand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weekly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Clear Creek Fish Co.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Chef Annie Dao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League City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biweekly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B7791"/>
                </a:solidFill>
                <a:latin typeface="Calibri"/>
              </a:rPr>
              <a:t>The Boathouse anchors the book at four fifths of the oyster harvest. Four smaller accounts fill out weekly volume and spread the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Share of Oyster Harvest</a:t>
            </a:r>
          </a:p>
        </p:txBody>
      </p:sp>
      <p:sp>
        <p:nvSpPr>
          <p:cNvPr id="6" name="Oval 5"/>
          <p:cNvSpPr/>
          <p:nvPr/>
        </p:nvSpPr>
        <p:spPr>
          <a:xfrm>
            <a:off x="11155680" y="292608"/>
            <a:ext cx="457200" cy="457200"/>
          </a:xfrm>
          <a:prstGeom prst="ellipse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10896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371600"/>
          <a:ext cx="60350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4944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A2430"/>
                </a:solidFill>
                <a:latin typeface="Calibri"/>
              </a:rPr>
              <a:t>- Primary account drives menu planning each week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A2430"/>
                </a:solidFill>
                <a:latin typeface="Calibri"/>
              </a:rPr>
              <a:t>- Order confirmed Friday afternoon, delivered Saturday before ten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A2430"/>
                </a:solidFill>
                <a:latin typeface="Calibri"/>
              </a:rPr>
              <a:t>- Smaller accounts take select and standard grades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A2430"/>
                </a:solidFill>
                <a:latin typeface="Calibri"/>
              </a:rPr>
              <a:t>- Goal: grow the four smaller accounts to lower single-account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Weekly Volume Trend</a:t>
            </a:r>
          </a:p>
        </p:txBody>
      </p:sp>
      <p:sp>
        <p:nvSpPr>
          <p:cNvPr id="6" name="Oval 5"/>
          <p:cNvSpPr/>
          <p:nvPr/>
        </p:nvSpPr>
        <p:spPr>
          <a:xfrm>
            <a:off x="11155680" y="292608"/>
            <a:ext cx="457200" cy="457200"/>
          </a:xfrm>
          <a:prstGeom prst="ellipse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10896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371600"/>
          <a:ext cx="108813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Hold the primary account. Grow the four behind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CFE2F2"/>
                </a:solidFill>
                <a:latin typeface="Calibri"/>
              </a:rPr>
              <a:t>Confirm counts Friday, load to match, deliver Saturday before ten. The order moves with the weekend menu.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E8EC4"/>
                </a:solidFill>
                <a:latin typeface="Calibri"/>
              </a:rPr>
              <a:t>Bayshore Sustainable Aquaculture  |  anthony.cross@Greenridertech.co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Account Onboarding Timeline</a:t>
            </a:r>
          </a:p>
        </p:txBody>
      </p:sp>
      <p:sp>
        <p:nvSpPr>
          <p:cNvPr id="6" name="Oval 5"/>
          <p:cNvSpPr/>
          <p:nvPr/>
        </p:nvSpPr>
        <p:spPr>
          <a:xfrm>
            <a:off x="11155680" y="292608"/>
            <a:ext cx="457200" cy="457200"/>
          </a:xfrm>
          <a:prstGeom prst="ellipse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10896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1F5C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Window</a:t>
                      </a:r>
                    </a:p>
                  </a:txBody>
                  <a:tcPr>
                    <a:solidFill>
                      <a:srgbClr val="1F5C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1F5C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F5C8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Tasting and grade match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Week 1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Anthony Cross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Trial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Week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Jake Dawson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Standing order set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Week 3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Anthony Cross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>
                    <a:solidFill>
                      <a:srgbClr val="DDE9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Weekly cadence 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Week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Anthony and chef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430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B7791"/>
                </a:solidFill>
                <a:latin typeface="Calibri"/>
              </a:rPr>
              <a:t>Each new kitchen moves from a tasting to a locked weekly cadence over about a month. The goal this year is to bring two more accounts to the standing-order stage.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2026-02-10T09:00:00Z</dcterms:created>
  <dcterms:modified xsi:type="dcterms:W3CDTF">2026-02-10T09:00:00Z</dcterms:modified>
  <cp:category/>
</cp:coreProperties>
</file>