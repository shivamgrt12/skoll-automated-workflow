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Dawn temp C</c:v>
                </c:pt>
              </c:strCache>
            </c:strRef>
          </c:tx>
          <c:spPr>
            <a:ln>
              <a:solidFill>
                <a:srgbClr val="36C9C9"/>
              </a:solidFill>
            </a:ln>
          </c:spPr>
          <c:cat>
            <c:strRef>
              <c:f>Sheet1!$A$2:$A$6</c:f>
              <c:strCache>
                <c:ptCount val="5"/>
                <c:pt idx="0">
                  <c:v>Jan 1</c:v>
                </c:pt>
                <c:pt idx="1">
                  <c:v>Jan 8</c:v>
                </c:pt>
                <c:pt idx="2">
                  <c:v>Jan 15</c:v>
                </c:pt>
                <c:pt idx="3">
                  <c:v>Jan 22</c:v>
                </c:pt>
                <c:pt idx="4">
                  <c:v>Jan 29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28.6</c:v>
                </c:pt>
                <c:pt idx="1">
                  <c:v>29.4</c:v>
                </c:pt>
                <c:pt idx="2">
                  <c:v>29.0</c:v>
                </c:pt>
                <c:pt idx="3">
                  <c:v>28.9</c:v>
                </c:pt>
                <c:pt idx="4">
                  <c:v>29.2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Afternoon temp C</c:v>
                </c:pt>
              </c:strCache>
            </c:strRef>
          </c:tx>
          <c:spPr>
            <a:ln>
              <a:solidFill>
                <a:srgbClr val="E7A63C"/>
              </a:solidFill>
            </a:ln>
          </c:spPr>
          <c:cat>
            <c:strRef>
              <c:f>Sheet1!$A$2:$A$6</c:f>
              <c:strCache>
                <c:ptCount val="5"/>
                <c:pt idx="0">
                  <c:v>Jan 1</c:v>
                </c:pt>
                <c:pt idx="1">
                  <c:v>Jan 8</c:v>
                </c:pt>
                <c:pt idx="2">
                  <c:v>Jan 15</c:v>
                </c:pt>
                <c:pt idx="3">
                  <c:v>Jan 22</c:v>
                </c:pt>
                <c:pt idx="4">
                  <c:v>Jan 29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29.7</c:v>
                </c:pt>
                <c:pt idx="1">
                  <c:v>30.1</c:v>
                </c:pt>
                <c:pt idx="2">
                  <c:v>30.0</c:v>
                </c:pt>
                <c:pt idx="3">
                  <c:v>29.8</c:v>
                </c:pt>
                <c:pt idx="4">
                  <c:v>30.2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8ECF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8ECF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8ECF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Ammonia TAN mg/L</c:v>
                </c:pt>
              </c:strCache>
            </c:strRef>
          </c:tx>
          <c:spPr>
            <a:ln>
              <a:solidFill>
                <a:srgbClr val="36C9C9"/>
              </a:solidFill>
            </a:ln>
          </c:spPr>
          <c:cat>
            <c:strRef>
              <c:f>Sheet1!$A$2:$A$6</c:f>
              <c:strCache>
                <c:ptCount val="5"/>
                <c:pt idx="0">
                  <c:v>Jan 1</c:v>
                </c:pt>
                <c:pt idx="1">
                  <c:v>Jan 8</c:v>
                </c:pt>
                <c:pt idx="2">
                  <c:v>Jan 15</c:v>
                </c:pt>
                <c:pt idx="3">
                  <c:v>Jan 22</c:v>
                </c:pt>
                <c:pt idx="4">
                  <c:v>Jan 29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0.23</c:v>
                </c:pt>
                <c:pt idx="2">
                  <c:v>0.27</c:v>
                </c:pt>
                <c:pt idx="3">
                  <c:v>0.22</c:v>
                </c:pt>
                <c:pt idx="4">
                  <c:v>0.26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Nitrite NO2 mg/L</c:v>
                </c:pt>
              </c:strCache>
            </c:strRef>
          </c:tx>
          <c:spPr>
            <a:ln>
              <a:solidFill>
                <a:srgbClr val="E7A63C"/>
              </a:solidFill>
            </a:ln>
          </c:spPr>
          <c:cat>
            <c:strRef>
              <c:f>Sheet1!$A$2:$A$6</c:f>
              <c:strCache>
                <c:ptCount val="5"/>
                <c:pt idx="0">
                  <c:v>Jan 1</c:v>
                </c:pt>
                <c:pt idx="1">
                  <c:v>Jan 8</c:v>
                </c:pt>
                <c:pt idx="2">
                  <c:v>Jan 15</c:v>
                </c:pt>
                <c:pt idx="3">
                  <c:v>Jan 22</c:v>
                </c:pt>
                <c:pt idx="4">
                  <c:v>Jan 29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0.41</c:v>
                </c:pt>
                <c:pt idx="1">
                  <c:v>0.24</c:v>
                </c:pt>
                <c:pt idx="2">
                  <c:v>0.49</c:v>
                </c:pt>
                <c:pt idx="3">
                  <c:v>0.37</c:v>
                </c:pt>
                <c:pt idx="4">
                  <c:v>0.22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8ECF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8ECF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8ECF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3840480" cy="91440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E8ECF0"/>
                </a:solidFill>
                <a:latin typeface="Calibri"/>
              </a:rPr>
              <a:t>Water Quality and Biosecurity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36C9C9"/>
                </a:solidFill>
                <a:latin typeface="Calibri"/>
              </a:rPr>
              <a:t>Recirculating system operating standards and daily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AA4AE"/>
                </a:solidFill>
                <a:latin typeface="Calibri"/>
              </a:rPr>
              <a:t>Bayshore Sustainable Aquaculture  |  Grow-out Hall A  |  Anthony Cross and Jake Dawson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E8ECF0"/>
                </a:solidFill>
                <a:latin typeface="Calibri"/>
              </a:rPr>
              <a:t>Daily Control Targets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1212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36C9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1212"/>
                          </a:solidFill>
                          <a:latin typeface="Calibri"/>
                        </a:rPr>
                        <a:t>Target band</a:t>
                      </a:r>
                    </a:p>
                  </a:txBody>
                  <a:tcPr>
                    <a:solidFill>
                      <a:srgbClr val="36C9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1212"/>
                          </a:solidFill>
                          <a:latin typeface="Calibri"/>
                        </a:rPr>
                        <a:t>Action point</a:t>
                      </a:r>
                    </a:p>
                  </a:txBody>
                  <a:tcPr>
                    <a:solidFill>
                      <a:srgbClr val="36C9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61212"/>
                          </a:solidFill>
                          <a:latin typeface="Calibri"/>
                        </a:rPr>
                        <a:t>Read at</a:t>
                      </a:r>
                    </a:p>
                  </a:txBody>
                  <a:tcPr>
                    <a:solidFill>
                      <a:srgbClr val="36C9C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Temperature C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28 to 30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above 31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05:00 and 14:00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Dissolved oxygen mg/L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6.0 to 7.5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below 5.0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05:00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pH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7.6 to 8.2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below 7.4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05:00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Salinity ppt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17 to 21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outside band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05:00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Ammonia TAN mg/L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under 0.4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above 0.5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05:00</a:t>
                      </a:r>
                    </a:p>
                  </a:txBody>
                  <a:tcPr>
                    <a:solidFill>
                      <a:srgbClr val="242A32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Nitrite NO2 mg/L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under 0.5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above 0.6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CF0"/>
                          </a:solidFill>
                          <a:latin typeface="Calibri"/>
                        </a:rPr>
                        <a:t>05:00</a:t>
                      </a:r>
                    </a:p>
                  </a:txBody>
                  <a:tcPr>
                    <a:solidFill>
                      <a:srgbClr val="1C20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9AA4AE"/>
                </a:solidFill>
                <a:latin typeface="Calibri"/>
              </a:rPr>
              <a:t>Readings logged at five each morning with the multiparameter meter. Action points trigger a same-day check, not a wait-and-see.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E8ECF0"/>
                </a:solidFill>
                <a:latin typeface="Calibri"/>
              </a:rPr>
              <a:t>January 2026 Temperature Trend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Dawn to afternoon swing held near one degree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No action points hit in the month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Band stayed inside 28 to 30 at dawn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Stable water means steady molt and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E8ECF0"/>
                </a:solidFill>
                <a:latin typeface="Calibri"/>
              </a:rPr>
              <a:t>Biosecurity Routine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94960" cy="64008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" cy="640080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36C9C9"/>
                </a:solidFill>
                <a:latin typeface="Calibri"/>
              </a:rPr>
              <a:t>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Foot bath at the door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Tray check and feed response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Mortality count and removal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Meter round at five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64008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109728" cy="640080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36C9C9"/>
                </a:solidFill>
                <a:latin typeface="Calibri"/>
              </a:rPr>
              <a:t>Every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Filter and biofilter check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Salinity and alkalinity dose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Net and tool disinfection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8ECF0"/>
                </a:solidFill>
                <a:latin typeface="Calibri"/>
              </a:rPr>
              <a:t>- Backup pump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E8ECF0"/>
                </a:solidFill>
                <a:latin typeface="Calibri"/>
              </a:rPr>
              <a:t>Clean water is the whole job. Everything else follows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36C9C9"/>
                </a:solidFill>
                <a:latin typeface="Calibri"/>
              </a:rPr>
              <a:t>Disease consult on call with Dr. Sarah Hutchins at the Lonestar Foundation extension for any outbreak.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AA4AE"/>
                </a:solidFill>
                <a:latin typeface="Calibri"/>
              </a:rPr>
              <a:t>Bayshore Sustainable Aquaculture  |  anthony.cross@Greenridertech.co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8BD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E8ECF0"/>
                </a:solidFill>
                <a:latin typeface="Calibri"/>
              </a:rPr>
              <a:t>Ammonia and Nitrite Watch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Ammonia held under the 0.4 action point all month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Nitrite stayed under 0.5 with one near touch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Biofilter carrying the load as planned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0"/>
                </a:solidFill>
                <a:latin typeface="Calibri"/>
              </a:rPr>
              <a:t>- Water changes timed to the dawn 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