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9E5B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projected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61000</c:v>
                </c:pt>
                <c:pt idx="1">
                  <c:v>98000</c:v>
                </c:pt>
                <c:pt idx="2">
                  <c:v>145000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>
                  <a:solidFill>
                    <a:srgbClr val="0C4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8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8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82A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2E9E5B"/>
            </a:solidFill>
          </c:spPr>
          <c:cat>
            <c:strRef>
              <c:f>Sheet1!$A$2:$A$6</c:f>
              <c:strCache>
                <c:ptCount val="5"/>
                <c:pt idx="0">
                  <c:v>Nursery upgrade</c:v>
                </c:pt>
                <c:pt idx="1">
                  <c:v>Biofilter media</c:v>
                </c:pt>
                <c:pt idx="2">
                  <c:v>Oyster rack build</c:v>
                </c:pt>
                <c:pt idx="3">
                  <c:v>Lease filing</c:v>
                </c:pt>
                <c:pt idx="4">
                  <c:v>Energy and feed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14200</c:v>
                </c:pt>
                <c:pt idx="1">
                  <c:v>8600</c:v>
                </c:pt>
                <c:pt idx="2">
                  <c:v>9400</c:v>
                </c:pt>
                <c:pt idx="3">
                  <c:v>5300</c:v>
                </c:pt>
                <c:pt idx="4">
                  <c:v>9000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>
                  <a:solidFill>
                    <a:srgbClr val="0C4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8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8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82A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2194560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C4A44"/>
                </a:solidFill>
                <a:latin typeface="Calibri"/>
              </a:rPr>
              <a:t>Small Business Innovation Grant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 i="0">
                <a:solidFill>
                  <a:srgbClr val="127A6E"/>
                </a:solidFill>
                <a:latin typeface="Calibri"/>
              </a:rPr>
              <a:t>Year Two Progress Report to the Lonestar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82A26"/>
                </a:solidFill>
                <a:latin typeface="Calibri"/>
              </a:rPr>
              <a:t>Bayshore Sustainable Aquaculture, LLC  |  Anthony Cross and Derek Patterson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9AD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Grant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606040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91056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Awarded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C4A44"/>
                </a:solidFill>
                <a:latin typeface="Calibri"/>
              </a:rPr>
              <a:t>$75,000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82A26"/>
                </a:solidFill>
                <a:latin typeface="Calibri"/>
              </a:rPr>
              <a:t>over two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06040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91056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Disbursed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C4A44"/>
                </a:solidFill>
                <a:latin typeface="Calibri"/>
              </a:rPr>
              <a:t>$37,500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82A26"/>
                </a:solidFill>
                <a:latin typeface="Calibri"/>
              </a:rPr>
              <a:t>year one and to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91056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Remaining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860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C4A44"/>
                </a:solidFill>
                <a:latin typeface="Calibri"/>
              </a:rPr>
              <a:t>$37,500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82A26"/>
                </a:solidFill>
                <a:latin typeface="Calibri"/>
              </a:rPr>
              <a:t>year two, quarterly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55448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554480"/>
            <a:ext cx="2606040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591056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Match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2860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C4A44"/>
                </a:solidFill>
                <a:latin typeface="Calibri"/>
              </a:rPr>
              <a:t>$98,000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82A26"/>
                </a:solidFill>
                <a:latin typeface="Calibri"/>
              </a:rPr>
              <a:t>restaurant sales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A26"/>
                </a:solidFill>
                <a:latin typeface="Calibri"/>
              </a:rPr>
              <a:t>- Funds drawn quarterly against milestones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A26"/>
                </a:solidFill>
                <a:latin typeface="Calibri"/>
              </a:rPr>
              <a:t>- Spent on feed, energy, biofilter media, and oyster rack hardware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A26"/>
                </a:solidFill>
                <a:latin typeface="Calibri"/>
              </a:rPr>
              <a:t>- Year two milestone is the lease expansion paperwork with the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9AD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Milestones and Spend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Nursery upgrade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$14,200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Biofilter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$8,600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Oyster rack build out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Oct to Dec 2026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$9,400</a:t>
                      </a:r>
                    </a:p>
                  </a:txBody>
                  <a:tcPr>
                    <a:solidFill>
                      <a:srgbClr val="DDF0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Lease expansion 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Nov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2A26"/>
                          </a:solidFill>
                          <a:latin typeface="Calibri"/>
                        </a:rPr>
                        <a:t>$5,300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127A6E"/>
                </a:solidFill>
                <a:latin typeface="Calibri"/>
              </a:rPr>
              <a:t>Year two spend stays inside the quarterly schedule. The remaining draws line up with the rack build out and the state filing in the fourth quarter of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9AD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Revenue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Revenue up from $61,000 to a projected $145,000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Grant support shrinks as sales climb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Path to profitability targeted for the fourth quarter of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9AD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grant got us standing. Sales keep us on our feet.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9F7F1"/>
                </a:solidFill>
                <a:latin typeface="Calibri"/>
              </a:rPr>
              <a:t>Year two milestones on track. Final draws scheduled against the rack build out and the lease filing.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D15B"/>
                </a:solidFill>
                <a:latin typeface="Calibri"/>
              </a:rPr>
              <a:t>Bayshore Sustainable Aquaculture  |  anthony.cross@Greenridertech.co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9AD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Grant Spend by Category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8288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Largest draw went to the nursery upgrade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Rack build out and lease filing run through the fourth quarter of 2026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A26"/>
                </a:solidFill>
                <a:latin typeface="Calibri"/>
              </a:rPr>
              <a:t>- Spend tracks the quarterly milestone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