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C2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109728"/>
          </a:xfrm>
          <a:prstGeom prst="rect">
            <a:avLst/>
          </a:prstGeom>
          <a:solidFill>
            <a:srgbClr val="2A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2A1622"/>
                </a:solidFill>
                <a:latin typeface="Cambria"/>
              </a:rPr>
              <a:t>Community Storytelling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2062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3A2C33"/>
                </a:solidFill>
                <a:latin typeface="Candara"/>
              </a:rPr>
              <a:t>in commercial radio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2120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D3BD1"/>
                </a:solidFill>
                <a:latin typeface="Candara"/>
              </a:rPr>
              <a:t>Radio Industry Conference  |  Cape Town  |  13 to 15 February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00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ndara"/>
              </a:rPr>
              <a:t>CONFERENCE PANEL  |  CAPE TOWN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EE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8A7A82"/>
                </a:solidFill>
                <a:latin typeface="Candara"/>
              </a:rPr>
              <a:t>Community Storytelling in Commercial Radio  |  Asha Gallegos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73952"/>
            <a:ext cx="1508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8A7A82"/>
                </a:solidFill>
                <a:latin typeface="Candara"/>
              </a:rPr>
              <a:t>01 / 06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2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2415F"/>
                </a:solidFill>
                <a:latin typeface="Candara"/>
              </a:rPr>
              <a:t>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6868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A1622"/>
                </a:solidFill>
                <a:latin typeface="Cambria"/>
              </a:rPr>
              <a:t>Who gets to be heard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2194560" cy="54864"/>
          </a:xfrm>
          <a:prstGeom prst="rect">
            <a:avLst/>
          </a:prstGeom>
          <a:solidFill>
            <a:srgbClr val="C2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C2415F"/>
                </a:solidFill>
                <a:latin typeface="Candara"/>
              </a:rPr>
              <a:t>•  </a:t>
            </a:r>
            <a:r>
              <a:rPr sz="1600" b="1">
                <a:solidFill>
                  <a:srgbClr val="3A2C33"/>
                </a:solidFill>
                <a:latin typeface="Candara"/>
              </a:rPr>
              <a:t>Commercial radio rewards the familiar voice and the safe guest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8A7A82"/>
                </a:solidFill>
                <a:latin typeface="Candara"/>
              </a:rPr>
              <a:t>     Yet the most engaged segments are ordinary people with real stories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C2415F"/>
                </a:solidFill>
                <a:latin typeface="Candara"/>
              </a:rPr>
              <a:t>•  </a:t>
            </a:r>
            <a:r>
              <a:rPr sz="1600" b="1">
                <a:solidFill>
                  <a:srgbClr val="3A2C33"/>
                </a:solidFill>
                <a:latin typeface="Candara"/>
              </a:rPr>
              <a:t>A weekly feature can hold space for those voices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8A7A82"/>
                </a:solidFill>
                <a:latin typeface="Candara"/>
              </a:rPr>
              <a:t>     If the sourcing and the ethics are taken seriously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C2415F"/>
                </a:solidFill>
                <a:latin typeface="Candara"/>
              </a:rPr>
              <a:t>•  </a:t>
            </a:r>
            <a:r>
              <a:rPr sz="1600" b="1">
                <a:solidFill>
                  <a:srgbClr val="3A2C33"/>
                </a:solidFill>
                <a:latin typeface="Candara"/>
              </a:rPr>
              <a:t>This talk is about how that is actually done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8A7A82"/>
                </a:solidFill>
                <a:latin typeface="Candara"/>
              </a:rPr>
              <a:t>     Drawn from three seasons of a community feature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EE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8A7A82"/>
                </a:solidFill>
                <a:latin typeface="Candara"/>
              </a:rPr>
              <a:t>Community Storytelling in Commercial Radio  |  Asha Gallegos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73952"/>
            <a:ext cx="1508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8A7A82"/>
                </a:solidFill>
                <a:latin typeface="Candara"/>
              </a:rPr>
              <a:t>02 / 06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2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2415F"/>
                </a:solidFill>
                <a:latin typeface="Candara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6868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A1622"/>
                </a:solidFill>
                <a:latin typeface="Cambria"/>
              </a:rPr>
              <a:t>How we source stories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2194560" cy="54864"/>
          </a:xfrm>
          <a:prstGeom prst="rect">
            <a:avLst/>
          </a:prstGeom>
          <a:solidFill>
            <a:srgbClr val="C2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C2415F"/>
                </a:solidFill>
                <a:latin typeface="Candara"/>
              </a:rPr>
              <a:t>•  </a:t>
            </a:r>
            <a:r>
              <a:rPr sz="1600" b="1">
                <a:solidFill>
                  <a:srgbClr val="3A2C33"/>
                </a:solidFill>
                <a:latin typeface="Candara"/>
              </a:rPr>
              <a:t>Listener nominations through an open submission form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8A7A82"/>
                </a:solidFill>
                <a:latin typeface="Candara"/>
              </a:rPr>
              <a:t>     The audience surfaces stories no producer would find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C2415F"/>
                </a:solidFill>
                <a:latin typeface="Candara"/>
              </a:rPr>
              <a:t>•  </a:t>
            </a:r>
            <a:r>
              <a:rPr sz="1600" b="1">
                <a:solidFill>
                  <a:srgbClr val="3A2C33"/>
                </a:solidFill>
                <a:latin typeface="Candara"/>
              </a:rPr>
              <a:t>A pre-interview two days before recording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8A7A82"/>
                </a:solidFill>
                <a:latin typeface="Candara"/>
              </a:rPr>
              <a:t>     Trust first, questions second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C2415F"/>
                </a:solidFill>
                <a:latin typeface="Candara"/>
              </a:rPr>
              <a:t>•  </a:t>
            </a:r>
            <a:r>
              <a:rPr sz="1600" b="1">
                <a:solidFill>
                  <a:srgbClr val="3A2C33"/>
                </a:solidFill>
                <a:latin typeface="Candara"/>
              </a:rPr>
              <a:t>Sourcing partners in community organisations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8A7A82"/>
                </a:solidFill>
                <a:latin typeface="Candara"/>
              </a:rPr>
              <a:t>     Real relationships, not one-off extraction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EE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8A7A82"/>
                </a:solidFill>
                <a:latin typeface="Candara"/>
              </a:rPr>
              <a:t>Community Storytelling in Commercial Radio  |  Asha Gallegos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73952"/>
            <a:ext cx="1508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8A7A82"/>
                </a:solidFill>
                <a:latin typeface="Candara"/>
              </a:rPr>
              <a:t>03 / 06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2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2415F"/>
                </a:solidFill>
                <a:latin typeface="Candara"/>
              </a:rPr>
              <a:t>ETHICS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6868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A1622"/>
                </a:solidFill>
                <a:latin typeface="Cambria"/>
              </a:rPr>
              <a:t>The cost of the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2194560" cy="54864"/>
          </a:xfrm>
          <a:prstGeom prst="rect">
            <a:avLst/>
          </a:prstGeom>
          <a:solidFill>
            <a:srgbClr val="C2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C2415F"/>
                </a:solidFill>
                <a:latin typeface="Candara"/>
              </a:rPr>
              <a:t>•  </a:t>
            </a:r>
            <a:r>
              <a:rPr sz="1600" b="1">
                <a:solidFill>
                  <a:srgbClr val="3A2C33"/>
                </a:solidFill>
                <a:latin typeface="Candara"/>
              </a:rPr>
              <a:t>An ordinary guest carries more risk than a public figure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8A7A82"/>
                </a:solidFill>
                <a:latin typeface="Candara"/>
              </a:rPr>
              <a:t>     Their words travel further than they expect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C2415F"/>
                </a:solidFill>
                <a:latin typeface="Candara"/>
              </a:rPr>
              <a:t>•  </a:t>
            </a:r>
            <a:r>
              <a:rPr sz="1600" b="1">
                <a:solidFill>
                  <a:srgbClr val="3A2C33"/>
                </a:solidFill>
                <a:latin typeface="Candara"/>
              </a:rPr>
              <a:t>Consent is taken in writing before recording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8A7A82"/>
                </a:solidFill>
                <a:latin typeface="Candara"/>
              </a:rPr>
              <a:t>     And the guest hears how their story will be framed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C2415F"/>
                </a:solidFill>
                <a:latin typeface="Candara"/>
              </a:rPr>
              <a:t>•  </a:t>
            </a:r>
            <a:r>
              <a:rPr sz="1600" b="1">
                <a:solidFill>
                  <a:srgbClr val="3A2C33"/>
                </a:solidFill>
                <a:latin typeface="Candara"/>
              </a:rPr>
              <a:t>Avoid the cliche that flattens a community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8A7A82"/>
                </a:solidFill>
                <a:latin typeface="Candara"/>
              </a:rPr>
              <a:t>     Specific beats representative every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EE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8A7A82"/>
                </a:solidFill>
                <a:latin typeface="Candara"/>
              </a:rPr>
              <a:t>Community Storytelling in Commercial Radio  |  Asha Gallegos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73952"/>
            <a:ext cx="1508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8A7A82"/>
                </a:solidFill>
                <a:latin typeface="Candara"/>
              </a:rPr>
              <a:t>04 / 06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2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2415F"/>
                </a:solidFill>
                <a:latin typeface="Candara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6868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A1622"/>
                </a:solidFill>
                <a:latin typeface="Cambria"/>
              </a:rPr>
              <a:t>What the data says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2194560" cy="54864"/>
          </a:xfrm>
          <a:prstGeom prst="rect">
            <a:avLst/>
          </a:prstGeom>
          <a:solidFill>
            <a:srgbClr val="C2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4763192"/>
            <a:ext cx="1458468" cy="997527"/>
          </a:xfrm>
          <a:prstGeom prst="rect">
            <a:avLst/>
          </a:prstGeom>
          <a:solidFill>
            <a:srgbClr val="C2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351712"/>
            <a:ext cx="2386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A1622"/>
                </a:solidFill>
                <a:latin typeface="Cambria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25191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A2C33"/>
                </a:solidFill>
                <a:latin typeface="Candara"/>
              </a:rPr>
              <a:t>Avg call-ins</a:t>
            </a:r>
          </a:p>
          <a:p>
            <a:pPr algn="l"/>
            <a:r>
              <a:rPr sz="900" b="0">
                <a:solidFill>
                  <a:srgbClr val="8A7A82"/>
                </a:solidFill>
                <a:latin typeface="Candara"/>
              </a:rPr>
              <a:t>per episode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3017520"/>
            <a:ext cx="1458468" cy="2743200"/>
          </a:xfrm>
          <a:prstGeom prst="rect">
            <a:avLst/>
          </a:prstGeom>
          <a:solidFill>
            <a:srgbClr val="C2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2606039"/>
            <a:ext cx="2386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A1622"/>
                </a:solidFill>
                <a:latin typeface="Cambria"/>
              </a:rPr>
              <a:t>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5806440"/>
            <a:ext cx="25191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A2C33"/>
                </a:solidFill>
                <a:latin typeface="Candara"/>
              </a:rPr>
              <a:t>Peak messages</a:t>
            </a:r>
          </a:p>
          <a:p>
            <a:pPr algn="l"/>
            <a:r>
              <a:rPr sz="900" b="0">
                <a:solidFill>
                  <a:srgbClr val="8A7A82"/>
                </a:solidFill>
                <a:latin typeface="Candara"/>
              </a:rPr>
              <a:t>single episode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59" y="5636029"/>
            <a:ext cx="1458468" cy="124690"/>
          </a:xfrm>
          <a:prstGeom prst="rect">
            <a:avLst/>
          </a:prstGeom>
          <a:solidFill>
            <a:srgbClr val="C2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5224549"/>
            <a:ext cx="2386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A1622"/>
                </a:solidFill>
                <a:latin typeface="Cambria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5806440"/>
            <a:ext cx="25191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A2C33"/>
                </a:solidFill>
                <a:latin typeface="Candara"/>
              </a:rPr>
              <a:t>Avg rating</a:t>
            </a:r>
          </a:p>
          <a:p>
            <a:pPr algn="l"/>
            <a:r>
              <a:rPr sz="900" b="0">
                <a:solidFill>
                  <a:srgbClr val="8A7A82"/>
                </a:solidFill>
                <a:latin typeface="Candara"/>
              </a:rPr>
              <a:t>out of 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32519" y="5667201"/>
            <a:ext cx="1458468" cy="93518"/>
          </a:xfrm>
          <a:prstGeom prst="rect">
            <a:avLst/>
          </a:prstGeom>
          <a:solidFill>
            <a:srgbClr val="C2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5255721"/>
            <a:ext cx="2386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A1622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5806440"/>
            <a:ext cx="25191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A2C33"/>
                </a:solidFill>
                <a:latin typeface="Candara"/>
              </a:rPr>
              <a:t>Seasons run</a:t>
            </a:r>
          </a:p>
          <a:p>
            <a:pPr algn="l"/>
            <a:r>
              <a:rPr sz="900" b="0">
                <a:solidFill>
                  <a:srgbClr val="8A7A82"/>
                </a:solidFill>
                <a:latin typeface="Candara"/>
              </a:rPr>
              <a:t>and counting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EE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8229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8A7A82"/>
                </a:solidFill>
                <a:latin typeface="Candara"/>
              </a:rPr>
              <a:t>Community Storytelling in Commercial Radio  |  Asha Gallegos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80015" y="6473952"/>
            <a:ext cx="1508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8A7A82"/>
                </a:solidFill>
                <a:latin typeface="Candara"/>
              </a:rPr>
              <a:t>05 / 06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2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2415F"/>
                </a:solidFill>
                <a:latin typeface="Candara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6868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A1622"/>
                </a:solidFill>
                <a:latin typeface="Cambria"/>
              </a:rPr>
              <a:t>What to carry home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2194560" cy="54864"/>
          </a:xfrm>
          <a:prstGeom prst="rect">
            <a:avLst/>
          </a:prstGeom>
          <a:solidFill>
            <a:srgbClr val="C2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C2415F"/>
                </a:solidFill>
                <a:latin typeface="Candara"/>
              </a:rPr>
              <a:t>•  </a:t>
            </a:r>
            <a:r>
              <a:rPr sz="1600" b="1">
                <a:solidFill>
                  <a:srgbClr val="3A2C33"/>
                </a:solidFill>
                <a:latin typeface="Candara"/>
              </a:rPr>
              <a:t>Let the audience help you find the story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8A7A82"/>
                </a:solidFill>
                <a:latin typeface="Candara"/>
              </a:rPr>
              <a:t>     The form is the newsroom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C2415F"/>
                </a:solidFill>
                <a:latin typeface="Candara"/>
              </a:rPr>
              <a:t>•  </a:t>
            </a:r>
            <a:r>
              <a:rPr sz="1600" b="1">
                <a:solidFill>
                  <a:srgbClr val="3A2C33"/>
                </a:solidFill>
                <a:latin typeface="Candara"/>
              </a:rPr>
              <a:t>Slow down the interview to speed up the trust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8A7A82"/>
                </a:solidFill>
                <a:latin typeface="Candara"/>
              </a:rPr>
              <a:t>     Listening is the technique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C2415F"/>
                </a:solidFill>
                <a:latin typeface="Candara"/>
              </a:rPr>
              <a:t>•  </a:t>
            </a:r>
            <a:r>
              <a:rPr sz="1600" b="1">
                <a:solidFill>
                  <a:srgbClr val="3A2C33"/>
                </a:solidFill>
                <a:latin typeface="Candara"/>
              </a:rPr>
              <a:t>Treat an ordinary voice with extraordinary care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8A7A82"/>
                </a:solidFill>
                <a:latin typeface="Candara"/>
              </a:rPr>
              <a:t>     That is the whole job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EE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8A7A82"/>
                </a:solidFill>
                <a:latin typeface="Candara"/>
              </a:rPr>
              <a:t>Community Storytelling in Commercial Radio  |  Asha Gallegos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73952"/>
            <a:ext cx="1508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8A7A82"/>
                </a:solidFill>
                <a:latin typeface="Candara"/>
              </a:rPr>
              <a:t>06 / 06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