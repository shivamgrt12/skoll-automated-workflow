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109728"/>
          </a:xfrm>
          <a:prstGeom prst="rect">
            <a:avLst/>
          </a:prstGeom>
          <a:solidFill>
            <a:srgbClr val="EA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EAFBF7"/>
                </a:solidFill>
                <a:latin typeface="Trebuchet MS"/>
              </a:rPr>
              <a:t>Voices of the 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2062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CFE9E4"/>
                </a:solidFill>
                <a:latin typeface="Corbel"/>
              </a:rPr>
              <a:t>Season three in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2120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6C453"/>
                </a:solidFill>
                <a:latin typeface="Corbel"/>
              </a:rPr>
              <a:t>The Asha Show  |  Rhythm FM 94.7  |  January to February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00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6201D"/>
                </a:solidFill>
                <a:latin typeface="Corbel"/>
              </a:rPr>
              <a:t>SEASON 3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A1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229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84A9A3"/>
                </a:solidFill>
                <a:latin typeface="Corbel"/>
              </a:rPr>
              <a:t>Voices of the City  |  The Asha Show  |  Rhythm FM 94.7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73952"/>
            <a:ext cx="1508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84A9A3"/>
                </a:solidFill>
                <a:latin typeface="Corbel"/>
              </a:rPr>
              <a:t>01 / 06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Corbel"/>
              </a:rPr>
              <a:t>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6868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EAFBF7"/>
                </a:solidFill>
                <a:latin typeface="Trebuchet MS"/>
              </a:rPr>
              <a:t>A strong season of stories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2194560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5710843"/>
            <a:ext cx="1458468" cy="49876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299363"/>
            <a:ext cx="2386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AFBF7"/>
                </a:solidFill>
                <a:latin typeface="Trebuchet M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806440"/>
            <a:ext cx="25191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FE9E4"/>
                </a:solidFill>
                <a:latin typeface="Corbel"/>
              </a:rPr>
              <a:t>Episodes aired</a:t>
            </a:r>
          </a:p>
          <a:p>
            <a:pPr algn="l"/>
            <a:r>
              <a:rPr sz="900" b="0">
                <a:solidFill>
                  <a:srgbClr val="84A9A3"/>
                </a:solidFill>
                <a:latin typeface="Corbel"/>
              </a:rPr>
              <a:t>Tuesdays 07:15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4148050"/>
            <a:ext cx="1458468" cy="1612669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3736570"/>
            <a:ext cx="2386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AFBF7"/>
                </a:solidFill>
                <a:latin typeface="Trebuchet MS"/>
              </a:rPr>
              <a:t>194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5806440"/>
            <a:ext cx="25191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FE9E4"/>
                </a:solidFill>
                <a:latin typeface="Corbel"/>
              </a:rPr>
              <a:t>Total call-ins</a:t>
            </a:r>
          </a:p>
          <a:p>
            <a:pPr algn="l"/>
            <a:r>
              <a:rPr sz="900" b="0">
                <a:solidFill>
                  <a:srgbClr val="84A9A3"/>
                </a:solidFill>
                <a:latin typeface="Corbel"/>
              </a:rPr>
              <a:t>avg 32 per show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59" y="3017520"/>
            <a:ext cx="1458468" cy="27432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2606039"/>
            <a:ext cx="2386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AFBF7"/>
                </a:solidFill>
                <a:latin typeface="Trebuchet MS"/>
              </a:rPr>
              <a:t>330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5806440"/>
            <a:ext cx="25191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FE9E4"/>
                </a:solidFill>
                <a:latin typeface="Corbel"/>
              </a:rPr>
              <a:t>Listener messages</a:t>
            </a:r>
          </a:p>
          <a:p>
            <a:pPr algn="l"/>
            <a:r>
              <a:rPr sz="900" b="0">
                <a:solidFill>
                  <a:srgbClr val="84A9A3"/>
                </a:solidFill>
                <a:latin typeface="Corbel"/>
              </a:rPr>
              <a:t>across the season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32519" y="5727469"/>
            <a:ext cx="1458468" cy="3325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5315989"/>
            <a:ext cx="2386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AFBF7"/>
                </a:solidFill>
                <a:latin typeface="Trebuchet M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5806440"/>
            <a:ext cx="25191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FE9E4"/>
                </a:solidFill>
                <a:latin typeface="Corbel"/>
              </a:rPr>
              <a:t>Avg rating</a:t>
            </a:r>
          </a:p>
          <a:p>
            <a:pPr algn="l"/>
            <a:r>
              <a:rPr sz="900" b="0">
                <a:solidFill>
                  <a:srgbClr val="84A9A3"/>
                </a:solidFill>
                <a:latin typeface="Corbel"/>
              </a:rPr>
              <a:t>host score out of 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A1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8229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84A9A3"/>
                </a:solidFill>
                <a:latin typeface="Corbel"/>
              </a:rPr>
              <a:t>Voices of the City  |  The Asha Show  |  Rhythm FM 94.7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80015" y="6473952"/>
            <a:ext cx="1508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84A9A3"/>
                </a:solidFill>
                <a:latin typeface="Corbel"/>
              </a:rPr>
              <a:t>02 / 06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Corbel"/>
              </a:rPr>
              <a:t>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6868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EAFBF7"/>
                </a:solidFill>
                <a:latin typeface="Trebuchet MS"/>
              </a:rPr>
              <a:t>The stories that landed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2194560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2DD4BF"/>
                </a:solidFill>
                <a:latin typeface="Corbel"/>
              </a:rPr>
              <a:t>•  </a:t>
            </a:r>
            <a:r>
              <a:rPr sz="1600" b="1">
                <a:solidFill>
                  <a:srgbClr val="CFE9E4"/>
                </a:solidFill>
                <a:latin typeface="Corbel"/>
              </a:rPr>
              <a:t>A township coding school founded at nineteen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84A9A3"/>
                </a:solidFill>
                <a:latin typeface="Corbel"/>
              </a:rPr>
              <a:t>     The most engaged episode of the season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DD4BF"/>
                </a:solidFill>
                <a:latin typeface="Corbel"/>
              </a:rPr>
              <a:t>•  </a:t>
            </a:r>
            <a:r>
              <a:rPr sz="1600" b="1">
                <a:solidFill>
                  <a:srgbClr val="CFE9E4"/>
                </a:solidFill>
                <a:latin typeface="Corbel"/>
              </a:rPr>
              <a:t>Three generations of nurses in one family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84A9A3"/>
                </a:solidFill>
                <a:latin typeface="Corbel"/>
              </a:rPr>
              <a:t>     Strong community response and call-ins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DD4BF"/>
                </a:solidFill>
                <a:latin typeface="Corbel"/>
              </a:rPr>
              <a:t>•  </a:t>
            </a:r>
            <a:r>
              <a:rPr sz="1600" b="1">
                <a:solidFill>
                  <a:srgbClr val="CFE9E4"/>
                </a:solidFill>
                <a:latin typeface="Corbel"/>
              </a:rPr>
              <a:t>A school library rebuilt from donations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84A9A3"/>
                </a:solidFill>
                <a:latin typeface="Corbel"/>
              </a:rPr>
              <a:t>     Picked up by local press the same week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DD4BF"/>
                </a:solidFill>
                <a:latin typeface="Corbel"/>
              </a:rPr>
              <a:t>•  </a:t>
            </a:r>
            <a:r>
              <a:rPr sz="1600" b="1">
                <a:solidFill>
                  <a:srgbClr val="CFE9E4"/>
                </a:solidFill>
                <a:latin typeface="Corbel"/>
              </a:rPr>
              <a:t>A blind runner training for a marathon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84A9A3"/>
                </a:solidFill>
                <a:latin typeface="Corbel"/>
              </a:rPr>
              <a:t>     Opened the season with real momentum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A1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84A9A3"/>
                </a:solidFill>
                <a:latin typeface="Corbel"/>
              </a:rPr>
              <a:t>Voices of the City  |  The Asha Show  |  Rhythm FM 94.7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473952"/>
            <a:ext cx="1508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84A9A3"/>
                </a:solidFill>
                <a:latin typeface="Corbel"/>
              </a:rPr>
              <a:t>03 / 06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Corbel"/>
              </a:rPr>
              <a:t>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6868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EAFBF7"/>
                </a:solidFill>
                <a:latin typeface="Trebuchet MS"/>
              </a:rPr>
              <a:t>Call-ins by episode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2194560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4068107"/>
            <a:ext cx="972312" cy="169261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656627"/>
            <a:ext cx="15910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AFBF7"/>
                </a:solidFill>
                <a:latin typeface="Trebuchet MS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806440"/>
            <a:ext cx="167944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FE9E4"/>
                </a:solidFill>
                <a:latin typeface="Corbel"/>
              </a:rPr>
              <a:t>E1</a:t>
            </a:r>
          </a:p>
          <a:p>
            <a:pPr algn="l"/>
            <a:r>
              <a:rPr sz="900" b="0">
                <a:solidFill>
                  <a:srgbClr val="84A9A3"/>
                </a:solidFill>
                <a:latin typeface="Corbel"/>
              </a:rPr>
              <a:t>Jan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2545080" y="4243205"/>
            <a:ext cx="972312" cy="151751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53640" y="3831725"/>
            <a:ext cx="15910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AFBF7"/>
                </a:solidFill>
                <a:latin typeface="Trebuchet MS"/>
              </a:rPr>
              <a:t>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53640" y="5806440"/>
            <a:ext cx="167944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FE9E4"/>
                </a:solidFill>
                <a:latin typeface="Corbel"/>
              </a:rPr>
              <a:t>E2</a:t>
            </a:r>
          </a:p>
          <a:p>
            <a:pPr algn="l"/>
            <a:r>
              <a:rPr sz="900" b="0">
                <a:solidFill>
                  <a:srgbClr val="84A9A3"/>
                </a:solidFill>
                <a:latin typeface="Corbel"/>
              </a:rPr>
              <a:t>Jan 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2920" y="3834643"/>
            <a:ext cx="972312" cy="1926076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21480" y="3423163"/>
            <a:ext cx="15910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AFBF7"/>
                </a:solidFill>
                <a:latin typeface="Trebuchet MS"/>
              </a:rPr>
              <a:t>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1480" y="5806440"/>
            <a:ext cx="167944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FE9E4"/>
                </a:solidFill>
                <a:latin typeface="Corbel"/>
              </a:rPr>
              <a:t>E3</a:t>
            </a:r>
          </a:p>
          <a:p>
            <a:pPr algn="l"/>
            <a:r>
              <a:rPr sz="900" b="0">
                <a:solidFill>
                  <a:srgbClr val="84A9A3"/>
                </a:solidFill>
                <a:latin typeface="Corbel"/>
              </a:rPr>
              <a:t>Feb 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59" y="3951375"/>
            <a:ext cx="972312" cy="180934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3539895"/>
            <a:ext cx="15910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AFBF7"/>
                </a:solidFill>
                <a:latin typeface="Trebuchet MS"/>
              </a:rPr>
              <a:t>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5806440"/>
            <a:ext cx="167944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FE9E4"/>
                </a:solidFill>
                <a:latin typeface="Corbel"/>
              </a:rPr>
              <a:t>E4</a:t>
            </a:r>
          </a:p>
          <a:p>
            <a:pPr algn="l"/>
            <a:r>
              <a:rPr sz="900" b="0">
                <a:solidFill>
                  <a:srgbClr val="84A9A3"/>
                </a:solidFill>
                <a:latin typeface="Corbel"/>
              </a:rPr>
              <a:t>Feb 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48600" y="3017520"/>
            <a:ext cx="972312" cy="27432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57160" y="2606039"/>
            <a:ext cx="15910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AFBF7"/>
                </a:solidFill>
                <a:latin typeface="Trebuchet MS"/>
              </a:rPr>
              <a:t>47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57160" y="5806440"/>
            <a:ext cx="167944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FE9E4"/>
                </a:solidFill>
                <a:latin typeface="Corbel"/>
              </a:rPr>
              <a:t>E5</a:t>
            </a:r>
          </a:p>
          <a:p>
            <a:pPr algn="l"/>
            <a:r>
              <a:rPr sz="900" b="0">
                <a:solidFill>
                  <a:srgbClr val="84A9A3"/>
                </a:solidFill>
                <a:latin typeface="Corbel"/>
              </a:rPr>
              <a:t>Feb 17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16440" y="4126473"/>
            <a:ext cx="972312" cy="1634246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25000" y="3714993"/>
            <a:ext cx="15910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AFBF7"/>
                </a:solidFill>
                <a:latin typeface="Trebuchet MS"/>
              </a:rPr>
              <a:t>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5000" y="5806440"/>
            <a:ext cx="167944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FE9E4"/>
                </a:solidFill>
                <a:latin typeface="Corbel"/>
              </a:rPr>
              <a:t>E6</a:t>
            </a:r>
          </a:p>
          <a:p>
            <a:pPr algn="l"/>
            <a:r>
              <a:rPr sz="900" b="0">
                <a:solidFill>
                  <a:srgbClr val="84A9A3"/>
                </a:solidFill>
                <a:latin typeface="Corbel"/>
              </a:rPr>
              <a:t>Feb 24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A1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8229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84A9A3"/>
                </a:solidFill>
                <a:latin typeface="Corbel"/>
              </a:rPr>
              <a:t>Voices of the City  |  The Asha Show  |  Rhythm FM 94.7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80015" y="6473952"/>
            <a:ext cx="1508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84A9A3"/>
                </a:solidFill>
                <a:latin typeface="Corbel"/>
              </a:rPr>
              <a:t>04 / 06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Corbel"/>
              </a:rPr>
              <a:t>LESSONS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6868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EAFBF7"/>
                </a:solidFill>
                <a:latin typeface="Trebuchet MS"/>
              </a:rPr>
              <a:t>What worked and what to change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2194560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2DD4BF"/>
                </a:solidFill>
                <a:latin typeface="Corbel"/>
              </a:rPr>
              <a:t>•  </a:t>
            </a:r>
            <a:r>
              <a:rPr sz="1600" b="1">
                <a:solidFill>
                  <a:srgbClr val="CFE9E4"/>
                </a:solidFill>
                <a:latin typeface="Corbel"/>
              </a:rPr>
              <a:t>Stories sourced from listener nominations outperformed others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84A9A3"/>
                </a:solidFill>
                <a:latin typeface="Corbel"/>
              </a:rPr>
              <a:t>     Keep widening the nomination form reach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DD4BF"/>
                </a:solidFill>
                <a:latin typeface="Corbel"/>
              </a:rPr>
              <a:t>•  </a:t>
            </a:r>
            <a:r>
              <a:rPr sz="1600" b="1">
                <a:solidFill>
                  <a:srgbClr val="CFE9E4"/>
                </a:solidFill>
                <a:latin typeface="Corbel"/>
              </a:rPr>
              <a:t>Pre-interviews two days out kept guests relaxed on air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84A9A3"/>
                </a:solidFill>
                <a:latin typeface="Corbel"/>
              </a:rPr>
              <a:t>     Protect that window in the prep schedule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DD4BF"/>
                </a:solidFill>
                <a:latin typeface="Corbel"/>
              </a:rPr>
              <a:t>•  </a:t>
            </a:r>
            <a:r>
              <a:rPr sz="1600" b="1">
                <a:solidFill>
                  <a:srgbClr val="CFE9E4"/>
                </a:solidFill>
                <a:latin typeface="Corbel"/>
              </a:rPr>
              <a:t>Edited segments ran long on two episodes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84A9A3"/>
                </a:solidFill>
                <a:latin typeface="Corbel"/>
              </a:rPr>
              <a:t>     Hold the cut to seven or eight minutes on air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A1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84A9A3"/>
                </a:solidFill>
                <a:latin typeface="Corbel"/>
              </a:rPr>
              <a:t>Voices of the City  |  The Asha Show  |  Rhythm FM 94.7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473952"/>
            <a:ext cx="1508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84A9A3"/>
                </a:solidFill>
                <a:latin typeface="Corbel"/>
              </a:rPr>
              <a:t>05 / 06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Corbel"/>
              </a:rPr>
              <a:t>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6868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EAFBF7"/>
                </a:solidFill>
                <a:latin typeface="Trebuchet MS"/>
              </a:rPr>
              <a:t>Where season four goes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2194560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2DD4BF"/>
                </a:solidFill>
                <a:latin typeface="Corbel"/>
              </a:rPr>
              <a:t>•  </a:t>
            </a:r>
            <a:r>
              <a:rPr sz="1600" b="1">
                <a:solidFill>
                  <a:srgbClr val="CFE9E4"/>
                </a:solidFill>
                <a:latin typeface="Corbel"/>
              </a:rPr>
              <a:t>A finale recording with a community elder from Alexandra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84A9A3"/>
                </a:solidFill>
                <a:latin typeface="Corbel"/>
              </a:rPr>
              <a:t>     Planned for 27 October 2026 to close the run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DD4BF"/>
                </a:solidFill>
                <a:latin typeface="Corbel"/>
              </a:rPr>
              <a:t>•  </a:t>
            </a:r>
            <a:r>
              <a:rPr sz="1600" b="1">
                <a:solidFill>
                  <a:srgbClr val="CFE9E4"/>
                </a:solidFill>
                <a:latin typeface="Corbel"/>
              </a:rPr>
              <a:t>More stories from outside the central neighbourhoods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84A9A3"/>
                </a:solidFill>
                <a:latin typeface="Corbel"/>
              </a:rPr>
              <a:t>     Reach further into the wider city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DD4BF"/>
                </a:solidFill>
                <a:latin typeface="Corbel"/>
              </a:rPr>
              <a:t>•  </a:t>
            </a:r>
            <a:r>
              <a:rPr sz="1600" b="1">
                <a:solidFill>
                  <a:srgbClr val="CFE9E4"/>
                </a:solidFill>
                <a:latin typeface="Corbel"/>
              </a:rPr>
              <a:t>A light merchandise pilot routed to featured organisations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84A9A3"/>
                </a:solidFill>
                <a:latin typeface="Corbel"/>
              </a:rPr>
              <a:t>     Proceeds returned to the communities profiled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A1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84A9A3"/>
                </a:solidFill>
                <a:latin typeface="Corbel"/>
              </a:rPr>
              <a:t>Voices of the City  |  The Asha Show  |  Rhythm FM 94.7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473952"/>
            <a:ext cx="1508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84A9A3"/>
                </a:solidFill>
                <a:latin typeface="Corbel"/>
              </a:rPr>
              <a:t>06 / 06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