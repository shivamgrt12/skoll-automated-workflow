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openxmlformats.org/presentationml/2010/main/ext" val="0"/>
    </p:ext>
    <p:ext uri="{D31A062A-798A-4329-ABDD-BBA856620510}">
      <p14:defaultImageDpi xmlns:p14="http://schemas.openxmlformats.org/presentationml/2010/main/ext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openxmlformats.org/presentationml/2010/main/ext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openxmlformats.org/presentationml/2010/main/ext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openxmlformats.org/presentationml/2010/main/ext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openxmlformats.org/presentationml/2010/main/ext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region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region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region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region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region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openxmlformats.org/presentationml/2010/main/ext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region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region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region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openxmlformats.org/presentationml/2010/main/ext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region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region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region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openxmlformats.org/presentationml/2010/main/ext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openxmlformats.org/presentationml/2010/main/ext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regio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openxmlformats.org/presentationml/2010/main/ext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openxmlformats.org/presentationml/2010/main/ext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openxmlformats.org/presentationml/2010/main/ext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region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openxmlformats.org/presentationml/2010/main/ext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Verdana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Verdana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Verdana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Verdana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Verdana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Verdana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Verdana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Verdana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Verdana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097280"/>
            <a:ext cx="4572000" cy="4572000"/>
          </a:xfrm>
          <a:prstGeom prst="ellipse">
            <a:avLst/>
          </a:prstGeom>
          <a:solidFill>
            <a:srgbClr val="EE9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4206240"/>
            <a:ext cx="3108960" cy="3108960"/>
          </a:xfrm>
          <a:prstGeom prst="ellipse">
            <a:avLst/>
          </a:prstGeom>
          <a:solidFill>
            <a:srgbClr val="98C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EE9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1554480" cy="109728"/>
          </a:xfrm>
          <a:prstGeom prst="rect">
            <a:avLst/>
          </a:prstGeom>
          <a:solidFill>
            <a:srgbClr val="EE9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7315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E9B5B"/>
                </a:solidFill>
                <a:latin typeface="Verdana"/>
              </a:rPr>
              <a:t>MODERNISM WEEK, FEBRUARY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8412480" cy="1554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FFFFFF"/>
                </a:solidFill>
                <a:latin typeface="Verdana"/>
              </a:rPr>
              <a:t>Desert Modernism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86200"/>
            <a:ext cx="758952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DCE4ED"/>
                </a:solidFill>
                <a:latin typeface="Verdana"/>
              </a:rPr>
              <a:t>A 90-minute walking tour through a 1957 neighborhood, read as a set of answers to the desert.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53328"/>
            <a:ext cx="100584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6EC"/>
                </a:solidFill>
                <a:latin typeface="Verdana"/>
              </a:rPr>
              <a:t>Bell Modern  .  North Palm Canyon Drive, Palm Springs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preset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E9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11795760" cy="64008"/>
          </a:xfrm>
          <a:prstGeom prst="rect">
            <a:avLst/>
          </a:prstGeom>
          <a:solidFill>
            <a:srgbClr val="EE9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384048"/>
            <a:ext cx="658368" cy="658368"/>
          </a:xfrm>
          <a:prstGeom prst="ellipse">
            <a:avLst/>
          </a:prstGeom>
          <a:solidFill>
            <a:srgbClr val="EE9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3D5A80"/>
                </a:solidFill>
                <a:latin typeface="Verdan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65760"/>
            <a:ext cx="1024128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Verdana"/>
              </a:rPr>
              <a:t>Three Problems the Desert Sets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108813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929384"/>
            <a:ext cx="118872" cy="576072"/>
          </a:xfrm>
          <a:prstGeom prst="rect">
            <a:avLst/>
          </a:prstGeom>
          <a:solidFill>
            <a:srgbClr val="EE9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892808"/>
            <a:ext cx="1042416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44E"/>
                </a:solidFill>
                <a:latin typeface="Verdana"/>
              </a:rPr>
              <a:t>Sun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5606E"/>
                </a:solidFill>
                <a:latin typeface="Verdana"/>
              </a:rPr>
              <a:t>Relentless light and heat that the houses learn to filter and shade.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852928"/>
            <a:ext cx="108813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999232"/>
            <a:ext cx="118872" cy="576072"/>
          </a:xfrm>
          <a:prstGeom prst="rect">
            <a:avLst/>
          </a:prstGeom>
          <a:solidFill>
            <a:srgbClr val="EE9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962656"/>
            <a:ext cx="1042416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44E"/>
                </a:solidFill>
                <a:latin typeface="Verdana"/>
              </a:rPr>
              <a:t>Rain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5606E"/>
                </a:solidFill>
                <a:latin typeface="Verdana"/>
              </a:rPr>
              <a:t>Rare but sudden, which is why the roofs slope the way they 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922776"/>
            <a:ext cx="108813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069080"/>
            <a:ext cx="118872" cy="576072"/>
          </a:xfrm>
          <a:prstGeom prst="rect">
            <a:avLst/>
          </a:prstGeom>
          <a:solidFill>
            <a:srgbClr val="EE9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4032504"/>
            <a:ext cx="1042416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44E"/>
                </a:solidFill>
                <a:latin typeface="Verdana"/>
              </a:rPr>
              <a:t>Mountains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5606E"/>
                </a:solidFill>
                <a:latin typeface="Verdana"/>
              </a:rPr>
              <a:t>A horizon the glass is designed to frame rather than fight.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19088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606E"/>
                </a:solidFill>
                <a:latin typeface="Verdana"/>
              </a:rPr>
              <a:t>Every move on these houses answers one of the three.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preset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98C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11795760" cy="64008"/>
          </a:xfrm>
          <a:prstGeom prst="rect">
            <a:avLst/>
          </a:prstGeom>
          <a:solidFill>
            <a:srgbClr val="98C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384048"/>
            <a:ext cx="658368" cy="658368"/>
          </a:xfrm>
          <a:prstGeom prst="ellipse">
            <a:avLst/>
          </a:prstGeom>
          <a:solidFill>
            <a:srgbClr val="98C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3D5A80"/>
                </a:solidFill>
                <a:latin typeface="Verdan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65760"/>
            <a:ext cx="1024128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Verdana"/>
              </a:rPr>
              <a:t>Six Stops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929384"/>
            <a:ext cx="118872" cy="1005840"/>
          </a:xfrm>
          <a:prstGeom prst="rect">
            <a:avLst/>
          </a:prstGeom>
          <a:solidFill>
            <a:srgbClr val="98C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892808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44E"/>
                </a:solidFill>
                <a:latin typeface="Verdana"/>
              </a:rPr>
              <a:t>Butterfly roof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5606E"/>
                </a:solidFill>
                <a:latin typeface="Verdana"/>
              </a:rPr>
              <a:t>A 1957 tract house whose V-roof lifts the light and sheds the rain.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783080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1929384"/>
            <a:ext cx="118872" cy="1005840"/>
          </a:xfrm>
          <a:prstGeom prst="rect">
            <a:avLst/>
          </a:prstGeom>
          <a:solidFill>
            <a:srgbClr val="98C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9128" y="1892808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44E"/>
                </a:solidFill>
                <a:latin typeface="Verdana"/>
              </a:rPr>
              <a:t>Post and beam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5606E"/>
                </a:solidFill>
                <a:latin typeface="Verdana"/>
              </a:rPr>
              <a:t>Steel and glass walls that dissolve the line between inside and out.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82696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429000"/>
            <a:ext cx="118872" cy="1005840"/>
          </a:xfrm>
          <a:prstGeom prst="rect">
            <a:avLst/>
          </a:prstGeom>
          <a:solidFill>
            <a:srgbClr val="98C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392424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44E"/>
                </a:solidFill>
                <a:latin typeface="Verdana"/>
              </a:rPr>
              <a:t>Breeze-block screen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5606E"/>
                </a:solidFill>
                <a:latin typeface="Verdana"/>
              </a:rPr>
              <a:t>A masonry veil that shades a wall while it still breathes.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3282696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3429000"/>
            <a:ext cx="118872" cy="1005840"/>
          </a:xfrm>
          <a:prstGeom prst="rect">
            <a:avLst/>
          </a:prstGeom>
          <a:solidFill>
            <a:srgbClr val="98C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39128" y="3392424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44E"/>
                </a:solidFill>
                <a:latin typeface="Verdana"/>
              </a:rPr>
              <a:t>Kidney pool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5606E"/>
                </a:solidFill>
                <a:latin typeface="Verdana"/>
              </a:rPr>
              <a:t>An original curved pool, the social center of the desert yard.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782312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928616"/>
            <a:ext cx="118872" cy="1005840"/>
          </a:xfrm>
          <a:prstGeom prst="rect">
            <a:avLst/>
          </a:prstGeom>
          <a:solidFill>
            <a:srgbClr val="98C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4892040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44E"/>
                </a:solidFill>
                <a:latin typeface="Verdana"/>
              </a:rPr>
              <a:t>Clerestory pavilion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5606E"/>
                </a:solidFill>
                <a:latin typeface="Verdana"/>
              </a:rPr>
              <a:t>High ribbon windows over terrazzo that wash the room in light.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4782312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46520" y="4928616"/>
            <a:ext cx="118872" cy="1005840"/>
          </a:xfrm>
          <a:prstGeom prst="rect">
            <a:avLst/>
          </a:prstGeom>
          <a:solidFill>
            <a:srgbClr val="98C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39128" y="4892040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44E"/>
                </a:solidFill>
                <a:latin typeface="Verdana"/>
              </a:rPr>
              <a:t>Desert garden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5606E"/>
                </a:solidFill>
                <a:latin typeface="Verdana"/>
              </a:rPr>
              <a:t>Agave and native palms that trade turf for the climate it is in.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419088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606E"/>
                </a:solidFill>
                <a:latin typeface="Verdana"/>
              </a:rPr>
              <a:t>About ninety minutes, six houses, one neighborhood.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preset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E9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11795760" cy="64008"/>
          </a:xfrm>
          <a:prstGeom prst="rect">
            <a:avLst/>
          </a:prstGeom>
          <a:solidFill>
            <a:srgbClr val="EE9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384048"/>
            <a:ext cx="658368" cy="658368"/>
          </a:xfrm>
          <a:prstGeom prst="ellipse">
            <a:avLst/>
          </a:prstGeom>
          <a:solidFill>
            <a:srgbClr val="EE9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3D5A80"/>
                </a:solidFill>
                <a:latin typeface="Verdana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65760"/>
            <a:ext cx="1024128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Verdana"/>
              </a:rPr>
              <a:t>Reading a Butterfly Roof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929384"/>
            <a:ext cx="118872" cy="1005840"/>
          </a:xfrm>
          <a:prstGeom prst="rect">
            <a:avLst/>
          </a:prstGeom>
          <a:solidFill>
            <a:srgbClr val="EE9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892808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44E"/>
                </a:solidFill>
                <a:latin typeface="Verdana"/>
              </a:rPr>
              <a:t>The V holds the light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5606E"/>
                </a:solidFill>
                <a:latin typeface="Verdana"/>
              </a:rPr>
              <a:t>Two slopes meeting low draw a clerestory band into the house.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783080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1929384"/>
            <a:ext cx="118872" cy="1005840"/>
          </a:xfrm>
          <a:prstGeom prst="rect">
            <a:avLst/>
          </a:prstGeom>
          <a:solidFill>
            <a:srgbClr val="EE9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9128" y="1892808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44E"/>
                </a:solidFill>
                <a:latin typeface="Verdana"/>
              </a:rPr>
              <a:t>Shade where it counts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5606E"/>
                </a:solidFill>
                <a:latin typeface="Verdana"/>
              </a:rPr>
              <a:t>Deep eaves keep the summer sun off the glass at midday.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82696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429000"/>
            <a:ext cx="118872" cy="1005840"/>
          </a:xfrm>
          <a:prstGeom prst="rect">
            <a:avLst/>
          </a:prstGeom>
          <a:solidFill>
            <a:srgbClr val="EE9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392424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44E"/>
                </a:solidFill>
                <a:latin typeface="Verdana"/>
              </a:rPr>
              <a:t>Water has a plan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5606E"/>
                </a:solidFill>
                <a:latin typeface="Verdana"/>
              </a:rPr>
              <a:t>The valley channels the rare rain to a single controlled point.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3282696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3429000"/>
            <a:ext cx="118872" cy="1005840"/>
          </a:xfrm>
          <a:prstGeom prst="rect">
            <a:avLst/>
          </a:prstGeom>
          <a:solidFill>
            <a:srgbClr val="EE9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39128" y="3392424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44E"/>
                </a:solidFill>
                <a:latin typeface="Verdana"/>
              </a:rPr>
              <a:t>Structure as the look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5606E"/>
                </a:solidFill>
                <a:latin typeface="Verdana"/>
              </a:rPr>
              <a:t>Nothing applied. The engineering is the architecture.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19088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606E"/>
                </a:solidFill>
                <a:latin typeface="Verdana"/>
              </a:rPr>
              <a:t>The most photographed roofline in the desert, explained.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preset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98C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11795760" cy="64008"/>
          </a:xfrm>
          <a:prstGeom prst="rect">
            <a:avLst/>
          </a:prstGeom>
          <a:solidFill>
            <a:srgbClr val="98C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384048"/>
            <a:ext cx="658368" cy="658368"/>
          </a:xfrm>
          <a:prstGeom prst="ellipse">
            <a:avLst/>
          </a:prstGeom>
          <a:solidFill>
            <a:srgbClr val="98C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3D5A80"/>
                </a:solidFill>
                <a:latin typeface="Verdana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65760"/>
            <a:ext cx="1024128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Verdana"/>
              </a:rPr>
              <a:t>From Architecture to Furniture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929384"/>
            <a:ext cx="118872" cy="1005840"/>
          </a:xfrm>
          <a:prstGeom prst="rect">
            <a:avLst/>
          </a:prstGeom>
          <a:solidFill>
            <a:srgbClr val="98C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892808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44E"/>
                </a:solidFill>
                <a:latin typeface="Verdana"/>
              </a:rPr>
              <a:t>The house sets the stage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5606E"/>
                </a:solidFill>
                <a:latin typeface="Verdana"/>
              </a:rPr>
              <a:t>Open plans and glass walls ask for low, sculptural seating.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783080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1929384"/>
            <a:ext cx="118872" cy="1005840"/>
          </a:xfrm>
          <a:prstGeom prst="rect">
            <a:avLst/>
          </a:prstGeom>
          <a:solidFill>
            <a:srgbClr val="98C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9128" y="1892808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44E"/>
                </a:solidFill>
                <a:latin typeface="Verdana"/>
              </a:rPr>
              <a:t>Material echoes material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5606E"/>
                </a:solidFill>
                <a:latin typeface="Verdana"/>
              </a:rPr>
              <a:t>Warm walnut and teak against cool terrazzo and steel.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82696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429000"/>
            <a:ext cx="118872" cy="1005840"/>
          </a:xfrm>
          <a:prstGeom prst="rect">
            <a:avLst/>
          </a:prstGeom>
          <a:solidFill>
            <a:srgbClr val="98C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392424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44E"/>
                </a:solidFill>
                <a:latin typeface="Verdana"/>
              </a:rPr>
              <a:t>Provenance belongs here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5606E"/>
                </a:solidFill>
                <a:latin typeface="Verdana"/>
              </a:rPr>
              <a:t>Documented pieces returned to the houses they were made for.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3282696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3429000"/>
            <a:ext cx="118872" cy="1005840"/>
          </a:xfrm>
          <a:prstGeom prst="rect">
            <a:avLst/>
          </a:prstGeom>
          <a:solidFill>
            <a:srgbClr val="98C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39128" y="3392424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44E"/>
                </a:solidFill>
                <a:latin typeface="Verdana"/>
              </a:rPr>
              <a:t>See it on the floor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5606E"/>
                </a:solidFill>
                <a:latin typeface="Verdana"/>
              </a:rPr>
              <a:t>The walking tour ends a short drive from the showroom.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19088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606E"/>
                </a:solidFill>
                <a:latin typeface="Verdana"/>
              </a:rPr>
              <a:t>The tour and the showroom tell one continuous story.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preset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E9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11795760" cy="64008"/>
          </a:xfrm>
          <a:prstGeom prst="rect">
            <a:avLst/>
          </a:prstGeom>
          <a:solidFill>
            <a:srgbClr val="EE9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384048"/>
            <a:ext cx="658368" cy="658368"/>
          </a:xfrm>
          <a:prstGeom prst="ellipse">
            <a:avLst/>
          </a:prstGeom>
          <a:solidFill>
            <a:srgbClr val="EE9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3D5A80"/>
                </a:solidFill>
                <a:latin typeface="Verdana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65760"/>
            <a:ext cx="1024128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Verdana"/>
              </a:rPr>
              <a:t>Join a Tour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929384"/>
            <a:ext cx="118872" cy="1005840"/>
          </a:xfrm>
          <a:prstGeom prst="rect">
            <a:avLst/>
          </a:prstGeom>
          <a:solidFill>
            <a:srgbClr val="EE9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892808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44E"/>
                </a:solidFill>
                <a:latin typeface="Verdana"/>
              </a:rPr>
              <a:t>Two tours each February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5606E"/>
                </a:solidFill>
                <a:latin typeface="Verdana"/>
              </a:rPr>
              <a:t>Led as a certified Modernism Week volunteer guide.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783080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1929384"/>
            <a:ext cx="118872" cy="1005840"/>
          </a:xfrm>
          <a:prstGeom prst="rect">
            <a:avLst/>
          </a:prstGeom>
          <a:solidFill>
            <a:srgbClr val="EE9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9128" y="1892808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44E"/>
                </a:solidFill>
                <a:latin typeface="Verdana"/>
              </a:rPr>
              <a:t>Meet on North Palm Canyon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5606E"/>
                </a:solidFill>
                <a:latin typeface="Verdana"/>
              </a:rPr>
              <a:t>Near the showroom, an early start before the heat builds.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82696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429000"/>
            <a:ext cx="118872" cy="1005840"/>
          </a:xfrm>
          <a:prstGeom prst="rect">
            <a:avLst/>
          </a:prstGeom>
          <a:solidFill>
            <a:srgbClr val="EE9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392424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44E"/>
                </a:solidFill>
                <a:latin typeface="Verdana"/>
              </a:rPr>
              <a:t>Water provided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5606E"/>
                </a:solidFill>
                <a:latin typeface="Verdana"/>
              </a:rPr>
              <a:t>Stops three and five, with shade where the route allows.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3282696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A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3429000"/>
            <a:ext cx="118872" cy="1005840"/>
          </a:xfrm>
          <a:prstGeom prst="rect">
            <a:avLst/>
          </a:prstGeom>
          <a:solidFill>
            <a:srgbClr val="EE9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39128" y="3392424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44E"/>
                </a:solidFill>
                <a:latin typeface="Verdana"/>
              </a:rPr>
              <a:t>Photos from the sidewalk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5606E"/>
                </a:solidFill>
                <a:latin typeface="Verdana"/>
              </a:rPr>
              <a:t>These are private homes. We look, we do not enter.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19088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606E"/>
                </a:solidFill>
                <a:latin typeface="Verdana"/>
              </a:rPr>
              <a:t>Bell Modern  .  ashley.bell@Greenridertech.co  .  760 555 0131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preset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Verdan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Verdana"/>
        <a:font script="Hebr" typeface="Verdana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Yi Baiti Text"/>
        <a:font script="Tibt" typeface="Himalaya Text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Uighur Text"/>
        <a:font script="Geor" typeface="Sylfaen"/>
      </a:majorFont>
      <a:minorFont>
        <a:latin typeface="Verdan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Verdana"/>
        <a:font script="Hebr" typeface="Verdan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Yi Baiti Text"/>
        <a:font script="Tibt" typeface="Himalaya Text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Uighur Text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Slides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Ashley Bell</dc:creator>
  <cp:keywords/>
  <dc:description/>
  <cp:lastModifiedBy>Ashley Bell</cp:lastModifiedBy>
  <cp:revision>2</cp:revision>
  <dcterms:created xsi:type="dcterms:W3CDTF">2027-01-15T09:00:00Z</dcterms:created>
  <dcterms:modified xsi:type="dcterms:W3CDTF">2027-01-15T09:00:00Z</dcterms:modified>
  <cp:category/>
</cp:coreProperties>
</file>