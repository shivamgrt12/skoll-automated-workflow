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openxmlformats.org/presentationml/2010/main/ext" val="0"/>
    </p:ext>
    <p:ext uri="{D31A062A-798A-4329-ABDD-BBA856620510}">
      <p14:defaultImageDpi xmlns:p14="http://schemas.openxmlformats.org/presentationml/2010/main/ext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openxmlformats.org/presentationml/2010/main/ext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Verdana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Verdana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Verdana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Verdana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Verdana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Verdana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Verdana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Verdana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Verdana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097280"/>
            <a:ext cx="4572000" cy="45720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4206240"/>
            <a:ext cx="3108960" cy="3108960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1554480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7315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A9D8F"/>
                </a:solidFill>
                <a:latin typeface="Verdana"/>
              </a:rPr>
              <a:t>ACCENT PIECES,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8412480" cy="1554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FFFFFF"/>
                </a:solidFill>
                <a:latin typeface="Verdana"/>
              </a:rPr>
              <a:t>The Long 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758952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D7E3E1"/>
                </a:solidFill>
                <a:latin typeface="Verdana"/>
              </a:rPr>
              <a:t>Bringing 124 accent pieces under 2,500 dollars to a channel the showroom floor was never built to hold.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53328"/>
            <a:ext cx="100584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7F4"/>
                </a:solidFill>
                <a:latin typeface="Verdana"/>
              </a:rPr>
              <a:t>Bell Modern  .  North Palm Canyon Drive, Palm Springs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preset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1795760" cy="6400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384048"/>
            <a:ext cx="658368" cy="65836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64653"/>
                </a:solidFill>
                <a:latin typeface="Verdan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65760"/>
            <a:ext cx="102412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Verdana"/>
              </a:rPr>
              <a:t>The Opportunity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29384"/>
            <a:ext cx="118872" cy="1005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23B"/>
                </a:solidFill>
                <a:latin typeface="Verdana"/>
              </a:rPr>
              <a:t>124 catalogued items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1635F"/>
                </a:solidFill>
                <a:latin typeface="Verdana"/>
              </a:rPr>
              <a:t>Lamps, clocks, barware, textiles, and small objects ready to publish.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929384"/>
            <a:ext cx="118872" cy="1005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23B"/>
                </a:solidFill>
                <a:latin typeface="Verdana"/>
              </a:rPr>
              <a:t>Twelve categories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1635F"/>
                </a:solidFill>
                <a:latin typeface="Verdana"/>
              </a:rPr>
              <a:t>Enough breadth to read as a curated collection, not a clearance bin.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429000"/>
            <a:ext cx="118872" cy="1005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23B"/>
                </a:solidFill>
                <a:latin typeface="Verdana"/>
              </a:rPr>
              <a:t>Under 2,500 dollars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1635F"/>
                </a:solidFill>
                <a:latin typeface="Verdana"/>
              </a:rPr>
              <a:t>The price band the showroom and the marketplace leave on the 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3429000"/>
            <a:ext cx="118872" cy="1005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23B"/>
                </a:solidFill>
                <a:latin typeface="Verdana"/>
              </a:rPr>
              <a:t>A new audience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1635F"/>
                </a:solidFill>
                <a:latin typeface="Verdana"/>
              </a:rPr>
              <a:t>Younger buyers who start with an accent piece and grow into the floor.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1908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1635F"/>
                </a:solidFill>
                <a:latin typeface="Verdana"/>
              </a:rPr>
              <a:t>Volume below the marquee tier, without cheapening the floor.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preset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1795760" cy="64008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384048"/>
            <a:ext cx="658368" cy="658368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64653"/>
                </a:solidFill>
                <a:latin typeface="Verdan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65760"/>
            <a:ext cx="102412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Verdana"/>
              </a:rPr>
              <a:t>The Budget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29384"/>
            <a:ext cx="118872" cy="100584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23B"/>
                </a:solidFill>
                <a:latin typeface="Verdana"/>
              </a:rPr>
              <a:t>Photography  3,200 dollars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1635F"/>
                </a:solidFill>
                <a:latin typeface="Verdana"/>
              </a:rPr>
              <a:t>Studio sessions to shoot all 124 items to a consistent standard.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929384"/>
            <a:ext cx="118872" cy="100584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23B"/>
                </a:solidFill>
                <a:latin typeface="Verdana"/>
              </a:rPr>
              <a:t>Site and theme  1,800 dollars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1635F"/>
                </a:solidFill>
                <a:latin typeface="Verdana"/>
              </a:rPr>
              <a:t>A clean storefront build that matches the showroom register.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429000"/>
            <a:ext cx="118872" cy="100584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23B"/>
                </a:solidFill>
                <a:latin typeface="Verdana"/>
              </a:rPr>
              <a:t>Copywriting  900 dollars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1635F"/>
                </a:solidFill>
                <a:latin typeface="Verdana"/>
              </a:rPr>
              <a:t>Provenance-aware descriptions for every category.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3429000"/>
            <a:ext cx="118872" cy="100584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23B"/>
                </a:solidFill>
                <a:latin typeface="Verdana"/>
              </a:rPr>
              <a:t>Launch marketing  1,500 dollars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1635F"/>
                </a:solidFill>
                <a:latin typeface="Verdana"/>
              </a:rPr>
              <a:t>Newsletter and social to the collector list at open.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782312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928616"/>
            <a:ext cx="118872" cy="100584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4892040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23B"/>
                </a:solidFill>
                <a:latin typeface="Verdana"/>
              </a:rPr>
              <a:t>Apps and integrations  400 dollars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1635F"/>
                </a:solidFill>
                <a:latin typeface="Verdana"/>
              </a:rPr>
              <a:t>Search, analytics, and shipping rate tools.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4782312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4928616"/>
            <a:ext cx="118872" cy="100584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39128" y="4892040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23B"/>
                </a:solidFill>
                <a:latin typeface="Verdana"/>
              </a:rPr>
              <a:t>Contingency  200 dollars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1635F"/>
                </a:solidFill>
                <a:latin typeface="Verdana"/>
              </a:rPr>
              <a:t>Held back against surprises. Total budget 8,000 dollars.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1908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1635F"/>
                </a:solidFill>
                <a:latin typeface="Verdana"/>
              </a:rPr>
              <a:t>Six lines, funded from reserve, summing to 8,000 dollars.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preset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1795760" cy="6400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384048"/>
            <a:ext cx="658368" cy="65836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64653"/>
                </a:solidFill>
                <a:latin typeface="Verdan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65760"/>
            <a:ext cx="102412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Verdana"/>
              </a:rPr>
              <a:t>The Timeline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29384"/>
            <a:ext cx="118872" cy="1005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23B"/>
                </a:solidFill>
                <a:latin typeface="Verdana"/>
              </a:rPr>
              <a:t>Catalog photography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1635F"/>
                </a:solidFill>
                <a:latin typeface="Verdana"/>
              </a:rPr>
              <a:t>Winter shooting wraps the remaining items by early 2027.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929384"/>
            <a:ext cx="118872" cy="1005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23B"/>
                </a:solidFill>
                <a:latin typeface="Verdana"/>
              </a:rPr>
              <a:t>Build the storefront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1635F"/>
                </a:solidFill>
                <a:latin typeface="Verdana"/>
              </a:rPr>
              <a:t>Theme and catalog assembled through the fall and winter.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429000"/>
            <a:ext cx="118872" cy="1005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23B"/>
                </a:solidFill>
                <a:latin typeface="Verdana"/>
              </a:rPr>
              <a:t>Catalog complete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1635F"/>
                </a:solidFill>
                <a:latin typeface="Verdana"/>
              </a:rPr>
              <a:t>All 124 items drafted and reviewed before open.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3429000"/>
            <a:ext cx="118872" cy="1005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23B"/>
                </a:solidFill>
                <a:latin typeface="Verdana"/>
              </a:rPr>
              <a:t>Soft launch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1635F"/>
                </a:solidFill>
                <a:latin typeface="Verdana"/>
              </a:rPr>
              <a:t>A quiet open to the email list in late August 2027.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782312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928616"/>
            <a:ext cx="118872" cy="1005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4892040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23B"/>
                </a:solidFill>
                <a:latin typeface="Verdana"/>
              </a:rPr>
              <a:t>Public launch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1635F"/>
                </a:solidFill>
                <a:latin typeface="Verdana"/>
              </a:rPr>
              <a:t>The shop opens to everyone on September 1, 2027.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4782312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4928616"/>
            <a:ext cx="118872" cy="1005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39128" y="4892040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23B"/>
                </a:solidFill>
                <a:latin typeface="Verdana"/>
              </a:rPr>
              <a:t>First review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1635F"/>
                </a:solidFill>
                <a:latin typeface="Verdana"/>
              </a:rPr>
              <a:t>Results read at the December quarterly with the accountant.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1908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1635F"/>
                </a:solidFill>
                <a:latin typeface="Verdana"/>
              </a:rPr>
              <a:t>A staged path to a September 1, 2027 public launch.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preset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1795760" cy="64008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384048"/>
            <a:ext cx="658368" cy="658368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64653"/>
                </a:solidFill>
                <a:latin typeface="Verdana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65760"/>
            <a:ext cx="102412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Verdana"/>
              </a:rPr>
              <a:t>First 90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29384"/>
            <a:ext cx="118872" cy="100584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23B"/>
                </a:solidFill>
                <a:latin typeface="Verdana"/>
              </a:rPr>
              <a:t>60 to 90 units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1635F"/>
                </a:solidFill>
                <a:latin typeface="Verdana"/>
              </a:rPr>
              <a:t>The unit target for the opening quarter of the shop.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929384"/>
            <a:ext cx="118872" cy="100584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23B"/>
                </a:solidFill>
                <a:latin typeface="Verdana"/>
              </a:rPr>
              <a:t>220 to 300 dollars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1635F"/>
                </a:solidFill>
                <a:latin typeface="Verdana"/>
              </a:rPr>
              <a:t>The average order value the catalog is priced to earn.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429000"/>
            <a:ext cx="118872" cy="100584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23B"/>
                </a:solidFill>
                <a:latin typeface="Verdana"/>
              </a:rPr>
              <a:t>40 new names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1635F"/>
                </a:solidFill>
                <a:latin typeface="Verdana"/>
              </a:rPr>
              <a:t>New collectors captured for the newsletter list.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3429000"/>
            <a:ext cx="118872" cy="100584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23B"/>
                </a:solidFill>
                <a:latin typeface="Verdana"/>
              </a:rPr>
              <a:t>20 aged pieces cleared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1635F"/>
                </a:solidFill>
                <a:latin typeface="Verdana"/>
              </a:rPr>
              <a:t>Slow accent stock finally turned into floor space.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1908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1635F"/>
                </a:solidFill>
                <a:latin typeface="Verdana"/>
              </a:rPr>
              <a:t>Clear, measurable goals for the opening quarter.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preset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1795760" cy="6400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384048"/>
            <a:ext cx="658368" cy="658368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6583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64653"/>
                </a:solidFill>
                <a:latin typeface="Verdana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65760"/>
            <a:ext cx="102412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Verdana"/>
              </a:rPr>
              <a:t>What Success Looks Like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29384"/>
            <a:ext cx="118872" cy="1005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23B"/>
                </a:solidFill>
                <a:latin typeface="Verdana"/>
              </a:rPr>
              <a:t>Incremental revenue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1635F"/>
                </a:solidFill>
                <a:latin typeface="Verdana"/>
              </a:rPr>
              <a:t>A second channel that adds sales without pulling from the showroom.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783080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929384"/>
            <a:ext cx="118872" cy="1005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8" y="1892808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23B"/>
                </a:solidFill>
                <a:latin typeface="Verdana"/>
              </a:rPr>
              <a:t>Protected positioning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1635F"/>
                </a:solidFill>
                <a:latin typeface="Verdana"/>
              </a:rPr>
              <a:t>The marquee floor stays premium while the shop takes volume.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429000"/>
            <a:ext cx="118872" cy="1005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23B"/>
                </a:solidFill>
                <a:latin typeface="Verdana"/>
              </a:rPr>
              <a:t>A cleaner storeroom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1635F"/>
                </a:solidFill>
                <a:latin typeface="Verdana"/>
              </a:rPr>
              <a:t>Accent overflow converted into working capital.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282696"/>
            <a:ext cx="5532120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3429000"/>
            <a:ext cx="118872" cy="1005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3392424"/>
            <a:ext cx="507492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0323B"/>
                </a:solidFill>
                <a:latin typeface="Verdana"/>
              </a:rPr>
              <a:t>A repeatable engine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1635F"/>
                </a:solidFill>
                <a:latin typeface="Verdana"/>
              </a:rPr>
              <a:t>A catalog and a cadence that can grow each season.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1908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1635F"/>
                </a:solidFill>
                <a:latin typeface="Verdana"/>
              </a:rPr>
              <a:t>Growth that respects twenty years of careful positioning.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presetID="10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Yi Baiti Text"/>
        <a:font script="Tibt" typeface="Himalaya Text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Uighur Text"/>
        <a:font script="Geor" typeface="Sylfaen"/>
      </a:majorFont>
      <a:min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Yi Baiti Text"/>
        <a:font script="Tibt" typeface="Himalaya Text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Uighur Text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Slides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Ashley Bell</dc:creator>
  <cp:keywords/>
  <dc:description/>
  <cp:lastModifiedBy>Ashley Bell</cp:lastModifiedBy>
  <cp:revision>2</cp:revision>
  <dcterms:created xsi:type="dcterms:W3CDTF">2027-01-15T09:00:00Z</dcterms:created>
  <dcterms:modified xsi:type="dcterms:W3CDTF">2027-01-15T09:00:00Z</dcterms:modified>
  <cp:category/>
</cp:coreProperties>
</file>