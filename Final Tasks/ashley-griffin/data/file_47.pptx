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 (lb)</c:v>
                </c:pt>
              </c:strCache>
            </c:strRef>
          </c:tx>
          <c:dPt>
            <c:idx val="0"/>
            <c:spPr>
              <a:solidFill>
                <a:srgbClr val="6FCF86"/>
              </a:solidFill>
            </c:spPr>
          </c:dPt>
          <c:dPt>
            <c:idx val="1"/>
            <c:spPr>
              <a:solidFill>
                <a:srgbClr val="6FCF86"/>
              </a:solidFill>
            </c:spPr>
          </c:dPt>
          <c:dPt>
            <c:idx val="2"/>
            <c:spPr>
              <a:solidFill>
                <a:srgbClr val="56B6C9"/>
              </a:solidFill>
            </c:spPr>
          </c:dPt>
          <c:dPt>
            <c:idx val="3"/>
            <c:spPr>
              <a:solidFill>
                <a:srgbClr val="6FCF86"/>
              </a:solidFill>
            </c:spPr>
          </c:dPt>
          <c:dPt>
            <c:idx val="4"/>
            <c:spPr>
              <a:solidFill>
                <a:srgbClr val="56B6C9"/>
              </a:solidFill>
            </c:spPr>
          </c:dPt>
          <c:dPt>
            <c:idx val="5"/>
            <c:spPr>
              <a:solidFill>
                <a:srgbClr val="6FCF86"/>
              </a:solidFill>
            </c:spPr>
          </c:dPt>
          <c:dPt>
            <c:idx val="6"/>
            <c:spPr>
              <a:solidFill>
                <a:srgbClr val="56B6C9"/>
              </a:solidFill>
            </c:spPr>
          </c:dPt>
          <c:dPt>
            <c:idx val="7"/>
            <c:spPr>
              <a:solidFill>
                <a:srgbClr val="6FCF86"/>
              </a:solidFill>
            </c:spPr>
          </c:dPt>
          <c:cat>
            <c:strRef>
              <c:f>Sheet1!$A$2:$A$9</c:f>
              <c:strCache>
                <c:ptCount val="8"/>
                <c:pt idx="0">
                  <c:v>10/11 a</c:v>
                </c:pt>
                <c:pt idx="1">
                  <c:v>10/11 b</c:v>
                </c:pt>
                <c:pt idx="2">
                  <c:v>10/25</c:v>
                </c:pt>
                <c:pt idx="3">
                  <c:v>11/01</c:v>
                </c:pt>
                <c:pt idx="4">
                  <c:v>11/15</c:v>
                </c:pt>
                <c:pt idx="5">
                  <c:v>12/13</c:v>
                </c:pt>
                <c:pt idx="6">
                  <c:v>01/24</c:v>
                </c:pt>
                <c:pt idx="7">
                  <c:v>02/14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1.8</c:v>
                </c:pt>
                <c:pt idx="1">
                  <c:v>2.9</c:v>
                </c:pt>
                <c:pt idx="2">
                  <c:v>0.7</c:v>
                </c:pt>
                <c:pt idx="3">
                  <c:v>1.1</c:v>
                </c:pt>
                <c:pt idx="4">
                  <c:v>1.2</c:v>
                </c:pt>
                <c:pt idx="5">
                  <c:v>2.2</c:v>
                </c:pt>
                <c:pt idx="6">
                  <c:v>0.6</c:v>
                </c:pt>
                <c:pt idx="7">
                  <c:v>2.5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EAF6F0"/>
                  </a:solidFill>
                  <a:latin typeface="Trebuchet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AF6F0"/>
            </a:solidFill>
          </a:ln>
        </c:spPr>
        <c:txPr>
          <a:bodyPr/>
          <a:lstStyle/>
          <a:p>
            <a:pPr>
              <a:defRPr sz="1000">
                <a:solidFill>
                  <a:srgbClr val="EAF6F0"/>
                </a:solidFill>
                <a:latin typeface="Trebuchet M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EAF6F0"/>
            </a:solidFill>
          </a:ln>
        </c:spPr>
        <c:txPr>
          <a:bodyPr/>
          <a:lstStyle/>
          <a:p>
            <a:pPr>
              <a:defRPr sz="1000">
                <a:solidFill>
                  <a:srgbClr val="EAF6F0"/>
                </a:solidFill>
                <a:latin typeface="Trebuchet M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4920"/>
            <a:ext cx="12191695" cy="109728"/>
          </a:xfrm>
          <a:prstGeom prst="rect">
            <a:avLst/>
          </a:prstGeom>
          <a:solidFill>
            <a:srgbClr val="6FC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5400" b="1">
                <a:solidFill>
                  <a:srgbClr val="EAF6F0"/>
                </a:solidFill>
                <a:latin typeface="Trebuchet MS"/>
              </a:rPr>
              <a:t>Parker Canyon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600" b="0">
                <a:solidFill>
                  <a:srgbClr val="6FCF86"/>
                </a:solidFill>
                <a:latin typeface="Trebuchet MS"/>
              </a:rPr>
              <a:t>Fishing season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0">
                <a:solidFill>
                  <a:srgbClr val="9FCABF"/>
                </a:solidFill>
                <a:latin typeface="Trebuchet MS"/>
              </a:rPr>
              <a:t>October 2025 to February 2026   with 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F9E93"/>
                </a:solidFill>
                <a:latin typeface="Trebuchet MS"/>
              </a:rPr>
              <a:t>Parker Canyon Lake, Coronado National Forest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914400"/>
          </a:xfrm>
          <a:prstGeom prst="rect">
            <a:avLst/>
          </a:prstGeom>
          <a:solidFill>
            <a:srgbClr val="6FC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>
                <a:solidFill>
                  <a:srgbClr val="EAF6F0"/>
                </a:solidFill>
                <a:latin typeface="Trebuchet MS"/>
              </a:rPr>
              <a:t>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14600" cy="1737360"/>
          </a:xfrm>
          <a:prstGeom prst="roundRect">
            <a:avLst/>
          </a:prstGeom>
          <a:solidFill>
            <a:srgbClr val="17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993392"/>
            <a:ext cx="2331720" cy="955547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000" b="1">
                <a:solidFill>
                  <a:srgbClr val="E9C25A"/>
                </a:solidFill>
                <a:latin typeface="Trebuchet M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871215"/>
            <a:ext cx="2331720" cy="59070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>
                <a:solidFill>
                  <a:srgbClr val="9FCABF"/>
                </a:solidFill>
                <a:latin typeface="Trebuchet MS"/>
              </a:rPr>
              <a:t>Trips logged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14600" cy="1737360"/>
          </a:xfrm>
          <a:prstGeom prst="roundRect">
            <a:avLst/>
          </a:prstGeom>
          <a:solidFill>
            <a:srgbClr val="17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993392"/>
            <a:ext cx="2331720" cy="955547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000" b="1">
                <a:solidFill>
                  <a:srgbClr val="E9C25A"/>
                </a:solidFill>
                <a:latin typeface="Trebuchet MS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871215"/>
            <a:ext cx="2331720" cy="59070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>
                <a:solidFill>
                  <a:srgbClr val="9FCABF"/>
                </a:solidFill>
                <a:latin typeface="Trebuchet MS"/>
              </a:rPr>
              <a:t>Fish landed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514600" cy="1737360"/>
          </a:xfrm>
          <a:prstGeom prst="roundRect">
            <a:avLst/>
          </a:prstGeom>
          <a:solidFill>
            <a:srgbClr val="17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993392"/>
            <a:ext cx="2331720" cy="955547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000" b="1">
                <a:solidFill>
                  <a:srgbClr val="E9C25A"/>
                </a:solidFill>
                <a:latin typeface="Trebuchet MS"/>
              </a:rPr>
              <a:t>17.0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871215"/>
            <a:ext cx="2331720" cy="59070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>
                <a:solidFill>
                  <a:srgbClr val="9FCABF"/>
                </a:solidFill>
                <a:latin typeface="Trebuchet MS"/>
              </a:rPr>
              <a:t>Best largemouth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39" y="1828800"/>
            <a:ext cx="2514600" cy="1737360"/>
          </a:xfrm>
          <a:prstGeom prst="roundRect">
            <a:avLst/>
          </a:prstGeom>
          <a:solidFill>
            <a:srgbClr val="17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79" y="1993392"/>
            <a:ext cx="2331720" cy="955547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000" b="1">
                <a:solidFill>
                  <a:srgbClr val="E9C25A"/>
                </a:solidFill>
                <a:latin typeface="Trebuchet M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79" y="2871215"/>
            <a:ext cx="2331720" cy="59070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>
                <a:solidFill>
                  <a:srgbClr val="9FCABF"/>
                </a:solidFill>
                <a:latin typeface="Trebuchet MS"/>
              </a:rPr>
              <a:t>Released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9FCABF"/>
                </a:solidFill>
                <a:latin typeface="Trebuchet MS"/>
              </a:rPr>
              <a:t>Slow start in October until the wind died, then it picked up. The 17 incher off a green pumpkin senko was the fish of the season.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F9E93"/>
                </a:solidFill>
                <a:latin typeface="Trebuchet MS"/>
              </a:rPr>
              <a:t>Trout kept for the grill, bass released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914400"/>
          </a:xfrm>
          <a:prstGeom prst="rect">
            <a:avLst/>
          </a:prstGeom>
          <a:solidFill>
            <a:srgbClr val="6FC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>
                <a:solidFill>
                  <a:srgbClr val="EAF6F0"/>
                </a:solidFill>
                <a:latin typeface="Trebuchet MS"/>
              </a:rPr>
              <a:t>Catch weight by trip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645920"/>
          <a:ext cx="106984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F9E93"/>
                </a:solidFill>
                <a:latin typeface="Trebuchet MS"/>
              </a:rPr>
              <a:t>Bass in green, trout in blue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914400"/>
          </a:xfrm>
          <a:prstGeom prst="rect">
            <a:avLst/>
          </a:prstGeom>
          <a:solidFill>
            <a:srgbClr val="6FC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>
                <a:solidFill>
                  <a:srgbClr val="EAF6F0"/>
                </a:solidFill>
                <a:latin typeface="Trebuchet MS"/>
              </a:rPr>
              <a:t>What worked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822960"/>
          </a:xfrm>
          <a:prstGeom prst="roundRect">
            <a:avLst/>
          </a:prstGeom>
          <a:solidFill>
            <a:srgbClr val="17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47088"/>
            <a:ext cx="50292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E9C25A"/>
                </a:solidFill>
                <a:latin typeface="Trebuchet MS"/>
              </a:rPr>
              <a:t>Green pumpkin senko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847088"/>
            <a:ext cx="5120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EAF6F0"/>
                </a:solidFill>
                <a:latin typeface="Trebuchet MS"/>
              </a:rPr>
              <a:t>3 fish, the better bass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698480" cy="822960"/>
          </a:xfrm>
          <a:prstGeom prst="roundRect">
            <a:avLst/>
          </a:prstGeom>
          <a:solidFill>
            <a:srgbClr val="17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07208"/>
            <a:ext cx="50292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E9C25A"/>
                </a:solidFill>
                <a:latin typeface="Trebuchet MS"/>
              </a:rPr>
              <a:t>PowerBait orange and rainbow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807208"/>
            <a:ext cx="5120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EAF6F0"/>
                </a:solidFill>
                <a:latin typeface="Trebuchet MS"/>
              </a:rPr>
              <a:t>2 stocked trout by the dam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0698480" cy="822960"/>
          </a:xfrm>
          <a:prstGeom prst="roundRect">
            <a:avLst/>
          </a:prstGeom>
          <a:solidFill>
            <a:srgbClr val="17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67328"/>
            <a:ext cx="50292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E9C25A"/>
                </a:solidFill>
                <a:latin typeface="Trebuchet MS"/>
              </a:rPr>
              <a:t>Spinner 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767328"/>
            <a:ext cx="5120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EAF6F0"/>
                </a:solidFill>
                <a:latin typeface="Trebuchet MS"/>
              </a:rPr>
              <a:t>1 solo trout, cold morning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10698480" cy="822960"/>
          </a:xfrm>
          <a:prstGeom prst="roundRect">
            <a:avLst/>
          </a:prstGeom>
          <a:solidFill>
            <a:srgbClr val="17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27448"/>
            <a:ext cx="50292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E9C25A"/>
                </a:solidFill>
                <a:latin typeface="Trebuchet MS"/>
              </a:rPr>
              <a:t>Jig and crankbait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727448"/>
            <a:ext cx="5120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EAF6F0"/>
                </a:solidFill>
                <a:latin typeface="Trebuchet MS"/>
              </a:rPr>
              <a:t>1 each, slow water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F9E93"/>
                </a:solidFill>
                <a:latin typeface="Trebuchet MS"/>
              </a:rPr>
              <a:t>Trout limit four a day, bass on statewide rules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51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400" b="1">
                <a:solidFill>
                  <a:srgbClr val="EAF6F0"/>
                </a:solidFill>
                <a:latin typeface="Trebuchet MS"/>
              </a:rPr>
              <a:t>Next trip: October with 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0">
                <a:solidFill>
                  <a:srgbClr val="9FCABF"/>
                </a:solidFill>
                <a:latin typeface="Trebuchet MS"/>
              </a:rPr>
              <a:t>Leave Sierra Vista 4:45, on the water by 6, off before the wind. More sitting than fishing, and that is the 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6F9E93"/>
                </a:solidFill>
                <a:latin typeface="Trebuchet MS"/>
              </a:rPr>
              <a:t>License F1-2210447, valid through January 3, 2027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2026-02-16T10:00:00Z</dcterms:created>
  <dcterms:modified xsi:type="dcterms:W3CDTF">2026-02-16T10:00:00Z</dcterms:modified>
  <cp:category/>
</cp:coreProperties>
</file>