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OT hours</c:v>
                </c:pt>
              </c:strCache>
            </c:strRef>
          </c:tx>
          <c:dPt>
            <c:idx val="0"/>
            <c:spPr>
              <a:solidFill>
                <a:srgbClr val="E8902A"/>
              </a:solidFill>
            </c:spPr>
          </c:dPt>
          <c:dPt>
            <c:idx val="1"/>
            <c:spPr>
              <a:solidFill>
                <a:srgbClr val="E8902A"/>
              </a:solidFill>
            </c:spPr>
          </c:dPt>
          <c:dPt>
            <c:idx val="2"/>
            <c:spPr>
              <a:solidFill>
                <a:srgbClr val="E8902A"/>
              </a:solidFill>
            </c:spPr>
          </c:dPt>
          <c:dPt>
            <c:idx val="3"/>
            <c:spPr>
              <a:solidFill>
                <a:srgbClr val="E8902A"/>
              </a:solidFill>
            </c:spPr>
          </c:dPt>
          <c:dPt>
            <c:idx val="4"/>
            <c:spPr>
              <a:solidFill>
                <a:srgbClr val="E8902A"/>
              </a:solidFill>
            </c:spPr>
          </c:dPt>
          <c:dPt>
            <c:idx val="5"/>
            <c:spPr>
              <a:solidFill>
                <a:srgbClr val="E8902A"/>
              </a:solidFill>
            </c:spPr>
          </c:dPt>
          <c:dPt>
            <c:idx val="6"/>
            <c:spPr>
              <a:solidFill>
                <a:srgbClr val="E8902A"/>
              </a:solidFill>
            </c:spPr>
          </c:dPt>
          <c:dPt>
            <c:idx val="7"/>
            <c:spPr>
              <a:solidFill>
                <a:srgbClr val="E8902A"/>
              </a:solidFill>
            </c:spPr>
          </c:dPt>
          <c:cat>
            <c:strRef>
              <c:f>Sheet1!$A$2:$A$9</c:f>
              <c:strCache>
                <c:ptCount val="8"/>
                <c:pt idx="0">
                  <c:v>5/9</c:v>
                </c:pt>
                <c:pt idx="1">
                  <c:v>5/23</c:v>
                </c:pt>
                <c:pt idx="2">
                  <c:v>6/6</c:v>
                </c:pt>
                <c:pt idx="3">
                  <c:v>6/20</c:v>
                </c:pt>
                <c:pt idx="4">
                  <c:v>7/11</c:v>
                </c:pt>
                <c:pt idx="5">
                  <c:v>7/25</c:v>
                </c:pt>
                <c:pt idx="6">
                  <c:v>8/8</c:v>
                </c:pt>
                <c:pt idx="7">
                  <c:v>8/22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</c:v>
                </c:pt>
                <c:pt idx="1">
                  <c:v>6</c:v>
                </c:pt>
                <c:pt idx="2">
                  <c:v>5</c:v>
                </c:pt>
                <c:pt idx="3">
                  <c:v>8</c:v>
                </c:pt>
                <c:pt idx="4">
                  <c:v>7</c:v>
                </c:pt>
                <c:pt idx="5">
                  <c:v>5</c:v>
                </c:pt>
                <c:pt idx="6">
                  <c:v>6</c:v>
                </c:pt>
                <c:pt idx="7">
                  <c:v>9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E8EEF6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8EEF6"/>
            </a:solidFill>
          </a:ln>
        </c:spPr>
        <c:txPr>
          <a:bodyPr/>
          <a:lstStyle/>
          <a:p>
            <a:pPr>
              <a:defRPr sz="1000">
                <a:solidFill>
                  <a:srgbClr val="E8EEF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E8EEF6"/>
            </a:solidFill>
          </a:ln>
        </c:spPr>
        <c:txPr>
          <a:bodyPr/>
          <a:lstStyle/>
          <a:p>
            <a:pPr>
              <a:defRPr sz="1000">
                <a:solidFill>
                  <a:srgbClr val="E8EEF6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dPt>
            <c:idx val="0"/>
            <c:spPr>
              <a:solidFill>
                <a:srgbClr val="E8902A"/>
              </a:solidFill>
            </c:spPr>
          </c:dPt>
          <c:dPt>
            <c:idx val="1"/>
            <c:spPr>
              <a:solidFill>
                <a:srgbClr val="4A90D9"/>
              </a:solidFill>
            </c:spPr>
          </c:dPt>
          <c:dPt>
            <c:idx val="2"/>
            <c:spPr>
              <a:solidFill>
                <a:srgbClr val="56B877"/>
              </a:solidFill>
            </c:spPr>
          </c:dPt>
          <c:dPt>
            <c:idx val="3"/>
            <c:spPr>
              <a:solidFill>
                <a:srgbClr val="D96A5A"/>
              </a:solidFill>
            </c:spPr>
          </c:dPt>
          <c:cat>
            <c:strRef>
              <c:f>Sheet1!$A$2:$A$5</c:f>
              <c:strCache>
                <c:ptCount val="4"/>
                <c:pt idx="0">
                  <c:v>Electrical</c:v>
                </c:pt>
                <c:pt idx="1">
                  <c:v>Airflow and coil</c:v>
                </c:pt>
                <c:pt idx="2">
                  <c:v>Refrigerant</c:v>
                </c:pt>
                <c:pt idx="3">
                  <c:v>Mechanical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>
              <a:solidFill>
                <a:srgbClr val="E8EEF6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89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600" b="1">
                <a:solidFill>
                  <a:srgbClr val="E8EEF6"/>
                </a:solidFill>
                <a:latin typeface="Calibri"/>
              </a:rPr>
              <a:t>Service Year in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058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000" b="0">
                <a:solidFill>
                  <a:srgbClr val="E8902A"/>
                </a:solidFill>
                <a:latin typeface="Calibri"/>
              </a:rPr>
              <a:t>Summit Peak Heating and Cooling   Senior Service Technician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93A3B8"/>
                </a:solidFill>
                <a:latin typeface="Calibri"/>
              </a:rPr>
              <a:t>Ashley Griffin   Sierra Vista and Cochise County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3A3B8"/>
                </a:solidFill>
                <a:latin typeface="Calibri"/>
              </a:rPr>
              <a:t>EPA 608 Universal certified, twenty years in the trade</a:t>
            </a:r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4572000" cy="685800"/>
          </a:xfrm>
          <a:prstGeom prst="roundRect">
            <a:avLst/>
          </a:prstGeom>
          <a:solidFill>
            <a:srgbClr val="25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E8EEF6"/>
                </a:solidFill>
                <a:latin typeface="Calibri"/>
              </a:rPr>
              <a:t>The year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514600" cy="1828800"/>
          </a:xfrm>
          <a:prstGeom prst="roundRect">
            <a:avLst/>
          </a:prstGeom>
          <a:solidFill>
            <a:srgbClr val="25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514600" cy="109728"/>
          </a:xfrm>
          <a:prstGeom prst="rect">
            <a:avLst/>
          </a:prstGeom>
          <a:solidFill>
            <a:srgbClr val="E89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194560"/>
            <a:ext cx="233172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3200" b="1">
                <a:solidFill>
                  <a:srgbClr val="E8902A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3017520"/>
            <a:ext cx="23317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93A3B8"/>
                </a:solidFill>
                <a:latin typeface="Calibri"/>
              </a:rPr>
              <a:t>Work orders this week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514600" cy="1828800"/>
          </a:xfrm>
          <a:prstGeom prst="roundRect">
            <a:avLst/>
          </a:prstGeom>
          <a:solidFill>
            <a:srgbClr val="25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828800"/>
            <a:ext cx="2514600" cy="1097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194560"/>
            <a:ext cx="233172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3200" b="1">
                <a:solidFill>
                  <a:srgbClr val="4A90D9"/>
                </a:solidFill>
                <a:latin typeface="Calibri"/>
              </a:rPr>
              <a:t>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017520"/>
            <a:ext cx="23317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93A3B8"/>
                </a:solidFill>
                <a:latin typeface="Calibri"/>
              </a:rPr>
              <a:t>Season OT hours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2514600" cy="1828800"/>
          </a:xfrm>
          <a:prstGeom prst="roundRect">
            <a:avLst/>
          </a:prstGeom>
          <a:solidFill>
            <a:srgbClr val="25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2514600" cy="109728"/>
          </a:xfrm>
          <a:prstGeom prst="rect">
            <a:avLst/>
          </a:prstGeom>
          <a:solidFill>
            <a:srgbClr val="56B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194560"/>
            <a:ext cx="233172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3200" b="1">
                <a:solidFill>
                  <a:srgbClr val="56B877"/>
                </a:solidFill>
                <a:latin typeface="Calibri"/>
              </a:rPr>
              <a:t>$1,875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017520"/>
            <a:ext cx="23317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93A3B8"/>
                </a:solidFill>
                <a:latin typeface="Calibri"/>
              </a:rPr>
              <a:t>Peak OT pay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39" y="1828800"/>
            <a:ext cx="2514600" cy="1828800"/>
          </a:xfrm>
          <a:prstGeom prst="roundRect">
            <a:avLst/>
          </a:prstGeom>
          <a:solidFill>
            <a:srgbClr val="25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06839" y="1828800"/>
            <a:ext cx="2514600" cy="109728"/>
          </a:xfrm>
          <a:prstGeom prst="rect">
            <a:avLst/>
          </a:prstGeom>
          <a:solidFill>
            <a:srgbClr val="D96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79" y="2194560"/>
            <a:ext cx="233172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3200" b="1">
                <a:solidFill>
                  <a:srgbClr val="D96A5A"/>
                </a:solidFill>
                <a:latin typeface="Calibr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79" y="3017520"/>
            <a:ext cx="23317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93A3B8"/>
                </a:solidFill>
                <a:latin typeface="Calibri"/>
              </a:rPr>
              <a:t>Callbacks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148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0">
                <a:solidFill>
                  <a:srgbClr val="93A3B8"/>
                </a:solidFill>
                <a:latin typeface="Calibri"/>
              </a:rPr>
              <a:t>Peak runs May through September. The overtime goes straight to Chloe's summer weeks. No callbacks on the harder diagnostics Dina routes up.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3A3B8"/>
                </a:solidFill>
                <a:latin typeface="Calibri"/>
              </a:rPr>
              <a:t>Residential and light commercial across the service area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E8EEF6"/>
                </a:solidFill>
                <a:latin typeface="Calibri"/>
              </a:rPr>
              <a:t>Overtime by week, peak season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554480"/>
          <a:ext cx="106984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3A3B8"/>
                </a:solidFill>
                <a:latin typeface="Calibri"/>
              </a:rPr>
              <a:t>115 degrees on the 8/22 emergency, brutal but it paid</a:t>
            </a:r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E8EEF6"/>
                </a:solidFill>
                <a:latin typeface="Calibri"/>
              </a:rPr>
              <a:t>What broke this week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554480"/>
          <a:ext cx="68580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863840" y="1828800"/>
            <a:ext cx="4023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E8902A"/>
                </a:solidFill>
                <a:latin typeface="Calibri"/>
              </a:rPr>
              <a:t>Electrical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2212848"/>
            <a:ext cx="40233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93A3B8"/>
                </a:solidFill>
                <a:latin typeface="Calibri"/>
              </a:rPr>
              <a:t>Capacitors, contactors, transformers, igniters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2788920"/>
            <a:ext cx="4023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E8902A"/>
                </a:solidFill>
                <a:latin typeface="Calibri"/>
              </a:rPr>
              <a:t>Refrigerant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3172968"/>
            <a:ext cx="40233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93A3B8"/>
                </a:solidFill>
                <a:latin typeface="Calibri"/>
              </a:rPr>
              <a:t>Low charge, schrader leaks,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3749039"/>
            <a:ext cx="4023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E8902A"/>
                </a:solidFill>
                <a:latin typeface="Calibri"/>
              </a:rPr>
              <a:t>Airflow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133087"/>
            <a:ext cx="40233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93A3B8"/>
                </a:solidFill>
                <a:latin typeface="Calibri"/>
              </a:rPr>
              <a:t>Clogged coils, stuck zone dampers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709160"/>
            <a:ext cx="4023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E8902A"/>
                </a:solidFill>
                <a:latin typeface="Calibri"/>
              </a:rPr>
              <a:t>Mechanical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5093208"/>
            <a:ext cx="40233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93A3B8"/>
                </a:solidFill>
                <a:latin typeface="Calibri"/>
              </a:rPr>
              <a:t>Blower bearings, seized compressor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3A3B8"/>
                </a:solidFill>
                <a:latin typeface="Calibri"/>
              </a:rPr>
              <a:t>Estimate out on the Pruitt compressor, awaiting approval</a:t>
            </a: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89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3400" b="1">
                <a:solidFill>
                  <a:srgbClr val="E8EEF6"/>
                </a:solidFill>
                <a:latin typeface="Calibri"/>
              </a:rPr>
              <a:t>Steady, reliable, no callbacks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600" b="0">
                <a:solidFill>
                  <a:srgbClr val="93A3B8"/>
                </a:solidFill>
                <a:latin typeface="Calibri"/>
              </a:rPr>
              <a:t>The work speaks. Get the parts, get to it, move to the next call.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3A3B8"/>
                </a:solidFill>
                <a:latin typeface="Calibri"/>
              </a:rPr>
              <a:t>Summit Peak Heating and Cooling, Sierra Vista AZ</a:t>
            </a:r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2026-01-20T10:00:00Z</dcterms:created>
  <dcterms:modified xsi:type="dcterms:W3CDTF">2026-01-20T10:00:00Z</dcterms:modified>
  <cp:category/>
</cp:coreProperties>
</file>