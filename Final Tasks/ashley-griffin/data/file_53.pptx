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Cost (USD)</c:v>
                </c:pt>
              </c:strCache>
            </c:strRef>
          </c:tx>
          <c:dPt>
            <c:idx val="0"/>
            <c:spPr>
              <a:solidFill>
                <a:srgbClr val="D9544A"/>
              </a:solidFill>
            </c:spPr>
          </c:dPt>
          <c:dPt>
            <c:idx val="1"/>
            <c:spPr>
              <a:solidFill>
                <a:srgbClr val="E0A52E"/>
              </a:solidFill>
            </c:spPr>
          </c:dPt>
          <c:dPt>
            <c:idx val="2"/>
            <c:spPr>
              <a:solidFill>
                <a:srgbClr val="D9544A"/>
              </a:solidFill>
            </c:spPr>
          </c:dPt>
          <c:dPt>
            <c:idx val="3"/>
            <c:spPr>
              <a:solidFill>
                <a:srgbClr val="D9544A"/>
              </a:solidFill>
            </c:spPr>
          </c:dPt>
          <c:dPt>
            <c:idx val="4"/>
            <c:spPr>
              <a:solidFill>
                <a:srgbClr val="B6C0CC"/>
              </a:solidFill>
            </c:spPr>
          </c:dPt>
          <c:dPt>
            <c:idx val="5"/>
            <c:spPr>
              <a:solidFill>
                <a:srgbClr val="D9544A"/>
              </a:solidFill>
            </c:spPr>
          </c:dPt>
          <c:cat>
            <c:strRef>
              <c:f>Sheet1!$A$2:$A$7</c:f>
              <c:strCache>
                <c:ptCount val="6"/>
                <c:pt idx="0">
                  <c:v>Mar</c:v>
                </c:pt>
                <c:pt idx="1">
                  <c:v>May</c:v>
                </c:pt>
                <c:pt idx="2">
                  <c:v>Jun</c:v>
                </c:pt>
                <c:pt idx="3">
                  <c:v>Oct</c:v>
                </c:pt>
                <c:pt idx="4">
                  <c:v>Nov</c:v>
                </c:pt>
                <c:pt idx="5">
                  <c:v>Jan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48.2</c:v>
                </c:pt>
                <c:pt idx="1">
                  <c:v>64.99</c:v>
                </c:pt>
                <c:pt idx="2">
                  <c:v>47.85</c:v>
                </c:pt>
                <c:pt idx="3">
                  <c:v>49.1</c:v>
                </c:pt>
                <c:pt idx="4">
                  <c:v>18.99</c:v>
                </c:pt>
                <c:pt idx="5">
                  <c:v>49.1</c:v>
                </c:pt>
              </c:numCache>
            </c:numRef>
          </c:val>
        </c:ser>
        <c:dLbls>
          <c:txPr>
            <a:bodyPr/>
            <a:lstStyle/>
            <a:p>
              <a:pPr>
                <a:defRPr sz="1000">
                  <a:solidFill>
                    <a:srgbClr val="EEF2F6"/>
                  </a:solidFill>
                  <a:latin typeface="Verdana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EEF2F6"/>
            </a:solidFill>
          </a:ln>
        </c:spPr>
        <c:txPr>
          <a:bodyPr/>
          <a:lstStyle/>
          <a:p>
            <a:pPr>
              <a:defRPr sz="1000">
                <a:solidFill>
                  <a:srgbClr val="EEF2F6"/>
                </a:solidFill>
                <a:latin typeface="Verdana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TickMark val="out"/>
        <c:minorTickMark val="none"/>
        <c:tickLblPos val="nextTo"/>
        <c:spPr>
          <a:ln>
            <a:solidFill>
              <a:srgbClr val="EEF2F6"/>
            </a:solidFill>
          </a:ln>
        </c:spPr>
        <c:txPr>
          <a:bodyPr/>
          <a:lstStyle/>
          <a:p>
            <a:pPr>
              <a:defRPr sz="1000">
                <a:solidFill>
                  <a:srgbClr val="EEF2F6"/>
                </a:solidFill>
                <a:latin typeface="Verdana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MPG</c:v>
                </c:pt>
              </c:strCache>
            </c:strRef>
          </c:tx>
          <c:dPt>
            <c:idx val="0"/>
            <c:spPr>
              <a:solidFill>
                <a:srgbClr val="E0A52E"/>
              </a:solidFill>
            </c:spPr>
          </c:dPt>
          <c:dPt>
            <c:idx val="1"/>
            <c:spPr>
              <a:solidFill>
                <a:srgbClr val="E0A52E"/>
              </a:solidFill>
            </c:spPr>
          </c:dPt>
          <c:dPt>
            <c:idx val="2"/>
            <c:spPr>
              <a:solidFill>
                <a:srgbClr val="E0A52E"/>
              </a:solidFill>
            </c:spPr>
          </c:dPt>
          <c:dPt>
            <c:idx val="3"/>
            <c:spPr>
              <a:solidFill>
                <a:srgbClr val="E0A52E"/>
              </a:solidFill>
            </c:spPr>
          </c:dPt>
          <c:dPt>
            <c:idx val="4"/>
            <c:spPr>
              <a:solidFill>
                <a:srgbClr val="E0A52E"/>
              </a:solidFill>
            </c:spPr>
          </c:dPt>
          <c:dPt>
            <c:idx val="5"/>
            <c:spPr>
              <a:solidFill>
                <a:srgbClr val="E0A52E"/>
              </a:solidFill>
            </c:spPr>
          </c:dPt>
          <c:cat>
            <c:strRef>
              <c:f>Sheet1!$A$2:$A$7</c:f>
              <c:strCache>
                <c:ptCount val="6"/>
                <c:pt idx="0">
                  <c:v>1/4</c:v>
                </c:pt>
                <c:pt idx="1">
                  <c:v>1/11</c:v>
                </c:pt>
                <c:pt idx="2">
                  <c:v>1/19</c:v>
                </c:pt>
                <c:pt idx="3">
                  <c:v>1/27</c:v>
                </c:pt>
                <c:pt idx="4">
                  <c:v>2/5</c:v>
                </c:pt>
                <c:pt idx="5">
                  <c:v>2/14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21.1</c:v>
                </c:pt>
                <c:pt idx="1">
                  <c:v>21.1</c:v>
                </c:pt>
                <c:pt idx="2">
                  <c:v>21.0</c:v>
                </c:pt>
                <c:pt idx="3">
                  <c:v>21.2</c:v>
                </c:pt>
                <c:pt idx="4">
                  <c:v>20.9</c:v>
                </c:pt>
                <c:pt idx="5">
                  <c:v>21.0</c:v>
                </c:pt>
              </c:numCache>
            </c:numRef>
          </c:val>
        </c:ser>
        <c:dLbls>
          <c:txPr>
            <a:bodyPr/>
            <a:lstStyle/>
            <a:p>
              <a:pPr>
                <a:defRPr sz="1000">
                  <a:solidFill>
                    <a:srgbClr val="EEF2F6"/>
                  </a:solidFill>
                  <a:latin typeface="Verdana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EEF2F6"/>
            </a:solidFill>
          </a:ln>
        </c:spPr>
        <c:txPr>
          <a:bodyPr/>
          <a:lstStyle/>
          <a:p>
            <a:pPr>
              <a:defRPr sz="1000">
                <a:solidFill>
                  <a:srgbClr val="EEF2F6"/>
                </a:solidFill>
                <a:latin typeface="Verdana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TickMark val="out"/>
        <c:minorTickMark val="none"/>
        <c:tickLblPos val="nextTo"/>
        <c:spPr>
          <a:ln>
            <a:solidFill>
              <a:srgbClr val="EEF2F6"/>
            </a:solidFill>
          </a:ln>
        </c:spPr>
        <c:txPr>
          <a:bodyPr/>
          <a:lstStyle/>
          <a:p>
            <a:pPr>
              <a:defRPr sz="1000">
                <a:solidFill>
                  <a:srgbClr val="EEF2F6"/>
                </a:solidFill>
                <a:latin typeface="Verdana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7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737360"/>
            <a:ext cx="12191695" cy="2377440"/>
          </a:xfrm>
          <a:prstGeom prst="rect">
            <a:avLst/>
          </a:prstGeom>
          <a:solidFill>
            <a:srgbClr val="2024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737360"/>
            <a:ext cx="12191695" cy="91440"/>
          </a:xfrm>
          <a:prstGeom prst="rect">
            <a:avLst/>
          </a:prstGeom>
          <a:solidFill>
            <a:srgbClr val="D954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114800"/>
            <a:ext cx="12191695" cy="91440"/>
          </a:xfrm>
          <a:prstGeom prst="rect">
            <a:avLst/>
          </a:prstGeom>
          <a:solidFill>
            <a:srgbClr val="D954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103120"/>
            <a:ext cx="10332720" cy="10972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/>
            <a:r>
              <a:rPr sz="5000" b="1">
                <a:solidFill>
                  <a:srgbClr val="EEF2F6"/>
                </a:solidFill>
                <a:latin typeface="Verdana"/>
              </a:rPr>
              <a:t>2021 Tacoma SR5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291840"/>
            <a:ext cx="10332720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/>
            <a:r>
              <a:rPr sz="1800" b="0">
                <a:solidFill>
                  <a:srgbClr val="B6C0CC"/>
                </a:solidFill>
                <a:latin typeface="Verdana"/>
              </a:rPr>
              <a:t>Ownership review   charcoal gray   plate AZ CFT-4471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1106424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8A93A0"/>
                </a:solidFill>
                <a:latin typeface="Verdana"/>
              </a:rPr>
              <a:t>Kept by Ashley Griffin, financed through Desert Financial CU</a:t>
            </a:r>
          </a:p>
        </p:txBody>
      </p:sp>
    </p:spTree>
  </p:cSld>
  <p:clrMapOvr>
    <a:masterClrMapping/>
  </p:clrMapOvr>
  <p:transition spd="med">
    <p:wip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7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058400" cy="8229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2800" b="1">
                <a:solidFill>
                  <a:srgbClr val="EEF2F6"/>
                </a:solidFill>
                <a:latin typeface="Verdana"/>
              </a:rPr>
              <a:t>Where it stands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737360"/>
            <a:ext cx="2514600" cy="1737360"/>
          </a:xfrm>
          <a:prstGeom prst="roundRect">
            <a:avLst/>
          </a:prstGeom>
          <a:solidFill>
            <a:srgbClr val="2024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19" y="1965960"/>
            <a:ext cx="2331720" cy="8229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2400" b="1">
                <a:solidFill>
                  <a:srgbClr val="D9544A"/>
                </a:solidFill>
                <a:latin typeface="Verdana"/>
              </a:rPr>
              <a:t>61,400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19" y="2834640"/>
            <a:ext cx="233172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/>
            <a:r>
              <a:rPr sz="1200" b="0">
                <a:solidFill>
                  <a:srgbClr val="8A93A0"/>
                </a:solidFill>
                <a:latin typeface="Verdana"/>
              </a:rPr>
              <a:t>Odometer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29000" y="1737360"/>
            <a:ext cx="2514600" cy="1737360"/>
          </a:xfrm>
          <a:prstGeom prst="roundRect">
            <a:avLst/>
          </a:prstGeom>
          <a:solidFill>
            <a:srgbClr val="2024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520440" y="1965960"/>
            <a:ext cx="2331720" cy="8229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2400" b="1">
                <a:solidFill>
                  <a:srgbClr val="E0A52E"/>
                </a:solidFill>
                <a:latin typeface="Verdana"/>
              </a:rPr>
              <a:t>21.1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20440" y="2834640"/>
            <a:ext cx="233172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/>
            <a:r>
              <a:rPr sz="1200" b="0">
                <a:solidFill>
                  <a:srgbClr val="8A93A0"/>
                </a:solidFill>
                <a:latin typeface="Verdana"/>
              </a:rPr>
              <a:t>Avg MPG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37360"/>
            <a:ext cx="2514600" cy="1737360"/>
          </a:xfrm>
          <a:prstGeom prst="roundRect">
            <a:avLst/>
          </a:prstGeom>
          <a:solidFill>
            <a:srgbClr val="2024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9359" y="1965960"/>
            <a:ext cx="2331720" cy="8229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2400" b="1">
                <a:solidFill>
                  <a:srgbClr val="B6C0CC"/>
                </a:solidFill>
                <a:latin typeface="Verdana"/>
              </a:rPr>
              <a:t>$11,731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59" y="2834640"/>
            <a:ext cx="233172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/>
            <a:r>
              <a:rPr sz="1200" b="0">
                <a:solidFill>
                  <a:srgbClr val="8A93A0"/>
                </a:solidFill>
                <a:latin typeface="Verdana"/>
              </a:rPr>
              <a:t>Loan balance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006839" y="1737360"/>
            <a:ext cx="2514600" cy="1737360"/>
          </a:xfrm>
          <a:prstGeom prst="roundRect">
            <a:avLst/>
          </a:prstGeom>
          <a:solidFill>
            <a:srgbClr val="2024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098279" y="1965960"/>
            <a:ext cx="2331720" cy="8229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2400" b="1">
                <a:solidFill>
                  <a:srgbClr val="EEF2F6"/>
                </a:solidFill>
                <a:latin typeface="Verdana"/>
              </a:rPr>
              <a:t>Feb 2029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98279" y="2834640"/>
            <a:ext cx="233172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/>
            <a:r>
              <a:rPr sz="1200" b="0">
                <a:solidFill>
                  <a:srgbClr val="8A93A0"/>
                </a:solidFill>
                <a:latin typeface="Verdana"/>
              </a:rPr>
              <a:t>Payoff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3840480"/>
            <a:ext cx="1005840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600" b="1">
                <a:solidFill>
                  <a:srgbClr val="B6C0CC"/>
                </a:solidFill>
                <a:latin typeface="Verdana"/>
              </a:rPr>
              <a:t>Loan paid down: $14,669 of $26,400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89120"/>
            <a:ext cx="10881360" cy="548640"/>
          </a:xfrm>
          <a:prstGeom prst="roundRect">
            <a:avLst/>
          </a:prstGeom>
          <a:solidFill>
            <a:srgbClr val="2024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40080" y="4389120"/>
            <a:ext cx="6050036" cy="548640"/>
          </a:xfrm>
          <a:prstGeom prst="roundRect">
            <a:avLst/>
          </a:prstGeom>
          <a:solidFill>
            <a:srgbClr val="D954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4434840"/>
            <a:ext cx="5486400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300" b="1">
                <a:solidFill>
                  <a:srgbClr val="EEF2F6"/>
                </a:solidFill>
                <a:latin typeface="Verdana"/>
              </a:rPr>
              <a:t>56 percent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446520"/>
            <a:ext cx="1106424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8A93A0"/>
                </a:solidFill>
                <a:latin typeface="Verdana"/>
              </a:rPr>
              <a:t>5.49 percent APR, about 36 payments left, no prepay penalty</a:t>
            </a:r>
          </a:p>
        </p:txBody>
      </p:sp>
    </p:spTree>
  </p:cSld>
  <p:clrMapOvr>
    <a:masterClrMapping/>
  </p:clrMapOvr>
  <p:transition spd="med">
    <p:wip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7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058400" cy="8229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2800" b="1">
                <a:solidFill>
                  <a:srgbClr val="EEF2F6"/>
                </a:solidFill>
                <a:latin typeface="Verdana"/>
              </a:rPr>
              <a:t>Maintenance spend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731520" y="1554480"/>
          <a:ext cx="10698480" cy="4389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48640" y="6446520"/>
            <a:ext cx="1106424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8A93A0"/>
                </a:solidFill>
                <a:latin typeface="Verdana"/>
              </a:rPr>
              <a:t>Done in the driveway, parts from O'Reilly and AutoZone</a:t>
            </a:r>
          </a:p>
        </p:txBody>
      </p:sp>
    </p:spTree>
  </p:cSld>
  <p:clrMapOvr>
    <a:masterClrMapping/>
  </p:clrMapOvr>
  <p:transition spd="med">
    <p:wip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7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058400" cy="8229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2800" b="1">
                <a:solidFill>
                  <a:srgbClr val="EEF2F6"/>
                </a:solidFill>
                <a:latin typeface="Verdana"/>
              </a:rPr>
              <a:t>Fuel economy holding steady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731520" y="1554480"/>
          <a:ext cx="10698480" cy="4389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48640" y="6446520"/>
            <a:ext cx="1106424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8A93A0"/>
                </a:solidFill>
                <a:latin typeface="Verdana"/>
              </a:rPr>
              <a:t>Around 21 with the Tucson runs mixed in</a:t>
            </a:r>
          </a:p>
        </p:txBody>
      </p:sp>
    </p:spTree>
  </p:cSld>
  <p:clrMapOvr>
    <a:masterClrMapping/>
  </p:clrMapOvr>
  <p:transition spd="med">
    <p:wip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0242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200400"/>
            <a:ext cx="12191695" cy="91440"/>
          </a:xfrm>
          <a:prstGeom prst="rect">
            <a:avLst/>
          </a:prstGeom>
          <a:solidFill>
            <a:srgbClr val="D954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377440"/>
            <a:ext cx="10332720" cy="9144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/>
            <a:r>
              <a:rPr sz="3000" b="1">
                <a:solidFill>
                  <a:srgbClr val="EEF2F6"/>
                </a:solidFill>
                <a:latin typeface="Verdana"/>
              </a:rPr>
              <a:t>Next: oil at 65,000, watch the battery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474720"/>
            <a:ext cx="10332720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/>
            <a:r>
              <a:rPr sz="1500" b="0">
                <a:solidFill>
                  <a:srgbClr val="B6C0CC"/>
                </a:solidFill>
                <a:latin typeface="Verdana"/>
              </a:rPr>
              <a:t>Battery tested at 78 percent. Roughly six weeks to the next oil change at current driving.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1106424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8A93A0"/>
                </a:solidFill>
                <a:latin typeface="Verdana"/>
              </a:rPr>
              <a:t>718 Yucca Drive, Sierra Vista AZ 85635</a:t>
            </a:r>
          </a:p>
        </p:txBody>
      </p:sp>
    </p:spTree>
  </p:cSld>
  <p:clrMapOvr>
    <a:masterClrMapping/>
  </p:clrMapOvr>
  <p:transition spd="med">
    <p:wip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/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cp:lastModifiedBy/>
  <cp:revision>1</cp:revision>
  <dcterms:created xsi:type="dcterms:W3CDTF">2026-02-15T10:00:00Z</dcterms:created>
  <dcterms:modified xsi:type="dcterms:W3CDTF">2026-02-15T10:00:00Z</dcterms:modified>
  <cp:category/>
</cp:coreProperties>
</file>