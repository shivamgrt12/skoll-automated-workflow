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612648" cy="164592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5296" y="4315968"/>
            <a:ext cx="612648" cy="164592"/>
          </a:xfrm>
          <a:prstGeom prst="rect">
            <a:avLst/>
          </a:prstGeom>
          <a:solidFill>
            <a:srgbClr val="5A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50592" y="4315968"/>
            <a:ext cx="612648" cy="164592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75888" y="4315968"/>
            <a:ext cx="612648" cy="164592"/>
          </a:xfrm>
          <a:prstGeom prst="rect">
            <a:avLst/>
          </a:prstGeom>
          <a:solidFill>
            <a:srgbClr val="5A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1184" y="4315968"/>
            <a:ext cx="612648" cy="164592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4315968"/>
            <a:ext cx="612648" cy="164592"/>
          </a:xfrm>
          <a:prstGeom prst="rect">
            <a:avLst/>
          </a:prstGeom>
          <a:solidFill>
            <a:srgbClr val="5A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51776" y="4315968"/>
            <a:ext cx="612648" cy="164592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7072" y="4315968"/>
            <a:ext cx="612648" cy="164592"/>
          </a:xfrm>
          <a:prstGeom prst="rect">
            <a:avLst/>
          </a:prstGeom>
          <a:solidFill>
            <a:srgbClr val="5A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02368" y="4315968"/>
            <a:ext cx="612648" cy="164592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27664" y="4315968"/>
            <a:ext cx="612648" cy="164592"/>
          </a:xfrm>
          <a:prstGeom prst="rect">
            <a:avLst/>
          </a:prstGeom>
          <a:solidFill>
            <a:srgbClr val="5A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7F1E6"/>
                </a:solidFill>
                <a:latin typeface="Georgia"/>
              </a:rPr>
              <a:t>The End Grain Cutting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0175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A6612B"/>
                </a:solidFill>
                <a:latin typeface="Georgia"/>
              </a:rPr>
              <a:t>A walkthrough from the garage 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9B79E"/>
                </a:solidFill>
                <a:latin typeface="Georgia"/>
              </a:rPr>
              <a:t>Brandon Kelly  |  Walnut and maple, a batch of three for Christmas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7F1E6"/>
                </a:solidFill>
                <a:latin typeface="Georgia"/>
              </a:rPr>
              <a:t>Stock and Cut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606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A6612B"/>
                </a:solidFill>
                <a:latin typeface="Georgia"/>
              </a:rPr>
              <a:t>15 x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6148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C241C"/>
                </a:solidFill>
                <a:latin typeface="Georgia"/>
              </a:rPr>
              <a:t>Finished inches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737360"/>
            <a:ext cx="2606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01952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5A4231"/>
                </a:solidFill>
                <a:latin typeface="Georgia"/>
              </a:rPr>
              <a:t>1 1/2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76148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C241C"/>
                </a:solidFill>
                <a:latin typeface="Georgia"/>
              </a:rPr>
              <a:t>Inches thick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2606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901952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A6612B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61488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C241C"/>
                </a:solidFill>
                <a:latin typeface="Georgia"/>
              </a:rPr>
              <a:t>Boards this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3736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901952"/>
            <a:ext cx="2697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5A4231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76148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C241C"/>
                </a:solidFill>
                <a:latin typeface="Georgia"/>
              </a:rPr>
              <a:t>Glue ups per 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solidFill>
            <a:srgbClr val="5A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1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7F1E6"/>
                </a:solidFill>
                <a:latin typeface="Georgia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822191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7F1E6"/>
                </a:solidFill>
                <a:latin typeface="Georgia"/>
              </a:rPr>
              <a:t>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822191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7F1E6"/>
                </a:solidFill>
                <a:latin typeface="Georgia"/>
              </a:rPr>
              <a:t>Quantity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39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9767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C241C"/>
                </a:solidFill>
                <a:latin typeface="Georgia"/>
              </a:rPr>
              <a:t>Maple strips, first glue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315967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7A6B58"/>
                </a:solidFill>
                <a:latin typeface="Georgia"/>
              </a:rPr>
              <a:t>1 1/2 by 1 3/4 by 16 inches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4315967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6612B"/>
                </a:solidFill>
                <a:latin typeface="Georgia"/>
              </a:rPr>
              <a:t>9 per 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59"/>
            <a:ext cx="11064240" cy="502920"/>
          </a:xfrm>
          <a:prstGeom prst="rect">
            <a:avLst/>
          </a:prstGeom>
          <a:solidFill>
            <a:srgbClr val="E5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0059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C241C"/>
                </a:solidFill>
                <a:latin typeface="Georgia"/>
              </a:rPr>
              <a:t>Walnut strips, first glue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818887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7A6B58"/>
                </a:solidFill>
                <a:latin typeface="Georgia"/>
              </a:rPr>
              <a:t>1 1/2 by 1 3/4 by 16 inches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818887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6612B"/>
                </a:solidFill>
                <a:latin typeface="Georgia"/>
              </a:rPr>
              <a:t>9 per 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12079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0351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C241C"/>
                </a:solidFill>
                <a:latin typeface="Georgia"/>
              </a:rPr>
              <a:t>Cross cut pieces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321807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7A6B58"/>
                </a:solidFill>
                <a:latin typeface="Georgia"/>
              </a:rPr>
              <a:t>1 1/2 wide off the flattened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5321807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6612B"/>
                </a:solidFill>
                <a:latin typeface="Georgia"/>
              </a:rPr>
              <a:t>as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14999"/>
            <a:ext cx="11064240" cy="502920"/>
          </a:xfrm>
          <a:prstGeom prst="rect">
            <a:avLst/>
          </a:prstGeom>
          <a:solidFill>
            <a:srgbClr val="E5D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80643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C241C"/>
                </a:solidFill>
                <a:latin typeface="Georgia"/>
              </a:rPr>
              <a:t>Cork feet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824727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7A6B58"/>
                </a:solidFill>
                <a:latin typeface="Georgia"/>
              </a:rPr>
              <a:t>3/4 inch round, bottom corners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824727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6612B"/>
                </a:solidFill>
                <a:latin typeface="Georgia"/>
              </a:rPr>
              <a:t>12 per board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7F1E6"/>
                </a:solidFill>
                <a:latin typeface="Georgia"/>
              </a:rPr>
              <a:t>The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73152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6612B"/>
                </a:solidFill>
                <a:latin typeface="Georgia"/>
              </a:rPr>
              <a:t>Mill flat and square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7568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D8C9B4"/>
                </a:solidFill>
                <a:latin typeface="Georgia"/>
              </a:rPr>
              <a:t>All stock milled, then left a day in the shop to settle before glue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24328"/>
            <a:ext cx="548640" cy="54864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2432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6612B"/>
                </a:solidFill>
                <a:latin typeface="Georgia"/>
              </a:rPr>
              <a:t>First glue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0837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D8C9B4"/>
                </a:solidFill>
                <a:latin typeface="Georgia"/>
              </a:rPr>
              <a:t>Alternate maple and walnut into a panel. Clamp even, no starved joints.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57016"/>
            <a:ext cx="548640" cy="54864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48456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5701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6612B"/>
                </a:solidFill>
                <a:latin typeface="Georgia"/>
              </a:rPr>
              <a:t>Cross cut the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4106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D8C9B4"/>
                </a:solidFill>
                <a:latin typeface="Georgia"/>
              </a:rPr>
              <a:t>Flatten, then cross cut into strips one and one half inches wide.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9704"/>
            <a:ext cx="548640" cy="54864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81144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8970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6612B"/>
                </a:solidFill>
                <a:latin typeface="Georgia"/>
              </a:rPr>
              <a:t>Flip and glue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7375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D8C9B4"/>
                </a:solidFill>
                <a:latin typeface="Georgia"/>
              </a:rPr>
              <a:t>Flip every other strip to make the checker. Clamp flat to stop the cup.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22392"/>
            <a:ext cx="548640" cy="54864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1383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2239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6612B"/>
                </a:solidFill>
                <a:latin typeface="Georgia"/>
              </a:rPr>
              <a:t>Sand and 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064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D8C9B4"/>
                </a:solidFill>
                <a:latin typeface="Georgia"/>
              </a:rPr>
              <a:t>Flatten, sand to 220, round over every edge so nothing bites the hand.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7F1E6"/>
                </a:solidFill>
                <a:latin typeface="Georgia"/>
              </a:rPr>
              <a:t>The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>Food safe mineral oil first, flooded on and left to drink overnight, wiped back in the morning.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>Then a coat of my own beeswax and oil paste, the same blend I sell at the market. Worked in warm, buffed by hand until it sheds water.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>Cork feet on the bottom so it does not slide on the counter and does not sit in its own water.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2C241C"/>
                </a:solidFill>
                <a:latin typeface="Georgia"/>
              </a:rPr>
              <a:t>A board that splits is a board that was rushed. Do not rush the finish.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737360"/>
            <a:ext cx="4297680" cy="3840480"/>
          </a:xfrm>
          <a:prstGeom prst="rect">
            <a:avLst/>
          </a:prstGeom>
          <a:solidFill>
            <a:srgbClr val="3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0116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6612B"/>
                </a:solidFill>
                <a:latin typeface="Georgia"/>
              </a:rPr>
              <a:t>Finish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743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7F1E6"/>
                </a:solidFill>
                <a:latin typeface="Georgia"/>
              </a:rPr>
              <a:t>Coat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03580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B79E"/>
                </a:solidFill>
                <a:latin typeface="Georgia"/>
              </a:rPr>
              <a:t>Mineral oil, overnight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4290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7F1E6"/>
                </a:solidFill>
                <a:latin typeface="Georgia"/>
              </a:rPr>
              <a:t>Coat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72160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B79E"/>
                </a:solidFill>
                <a:latin typeface="Georgia"/>
              </a:rPr>
              <a:t>Beeswax and oil paste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1148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7F1E6"/>
                </a:solidFill>
                <a:latin typeface="Georgia"/>
              </a:rPr>
              <a:t>Coat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40740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B79E"/>
                </a:solidFill>
                <a:latin typeface="Georgia"/>
              </a:rPr>
              <a:t>Second wax, buffed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8006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7F1E6"/>
                </a:solidFill>
                <a:latin typeface="Georgia"/>
              </a:rPr>
              <a:t>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09320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B79E"/>
                </a:solidFill>
                <a:latin typeface="Georgia"/>
              </a:rPr>
              <a:t>Two days before it ships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371600"/>
            <a:ext cx="3931920" cy="91440"/>
          </a:xfrm>
          <a:prstGeom prst="rect">
            <a:avLst/>
          </a:prstGeom>
          <a:solidFill>
            <a:srgbClr val="A66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7F1E6"/>
                </a:solidFill>
                <a:latin typeface="Georgia"/>
              </a:rPr>
              <a:t>The Batch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i="0">
                <a:solidFill>
                  <a:srgbClr val="E3D6C2"/>
                </a:solidFill>
                <a:latin typeface="Georgia"/>
              </a:rPr>
              <a:t>Three boards milled and glued across two weekends in October so the glue and the finish have their time. One for each of the kids and one held back as a gift. The shop smells of walnut and beeswax and that is the whole point of doing it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A6612B"/>
                </a:solidFill>
                <a:latin typeface="Georgia"/>
              </a:rPr>
              <a:t>Measure twice. Glue once. Let it cure.</a:t>
            </a:r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