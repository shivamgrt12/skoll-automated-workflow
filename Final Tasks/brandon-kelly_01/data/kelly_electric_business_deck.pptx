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2A33"/>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F2A3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1828800"/>
            <a:ext cx="2194560" cy="109728"/>
          </a:xfrm>
          <a:prstGeom prst="rect">
            <a:avLst/>
          </a:prstGeom>
          <a:solidFill>
            <a:srgbClr val="1C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194560"/>
            <a:ext cx="10515600" cy="1371600"/>
          </a:xfrm>
          <a:prstGeom prst="rect">
            <a:avLst/>
          </a:prstGeom>
          <a:noFill/>
        </p:spPr>
        <p:txBody>
          <a:bodyPr wrap="square" anchor="t">
            <a:spAutoFit/>
          </a:bodyPr>
          <a:lstStyle/>
          <a:p>
            <a:pPr algn="l"/>
            <a:r>
              <a:rPr sz="5000" b="1" i="0">
                <a:solidFill>
                  <a:srgbClr val="FFFFFF"/>
                </a:solidFill>
                <a:latin typeface="Arial"/>
              </a:rPr>
              <a:t>Kelly Electric LLC</a:t>
            </a:r>
          </a:p>
        </p:txBody>
      </p:sp>
      <p:sp>
        <p:nvSpPr>
          <p:cNvPr id="5" name="TextBox 4"/>
          <p:cNvSpPr txBox="1"/>
          <p:nvPr/>
        </p:nvSpPr>
        <p:spPr>
          <a:xfrm>
            <a:off x="841248" y="3383280"/>
            <a:ext cx="10515600" cy="640080"/>
          </a:xfrm>
          <a:prstGeom prst="rect">
            <a:avLst/>
          </a:prstGeom>
          <a:noFill/>
        </p:spPr>
        <p:txBody>
          <a:bodyPr wrap="square" anchor="t">
            <a:spAutoFit/>
          </a:bodyPr>
          <a:lstStyle/>
          <a:p>
            <a:pPr algn="l"/>
            <a:r>
              <a:rPr sz="2200" b="0" i="0">
                <a:solidFill>
                  <a:srgbClr val="F2A30F"/>
                </a:solidFill>
                <a:latin typeface="Arial"/>
              </a:rPr>
              <a:t>Residential and Small Commercial Electrical Services</a:t>
            </a:r>
          </a:p>
        </p:txBody>
      </p:sp>
      <p:sp>
        <p:nvSpPr>
          <p:cNvPr id="6" name="TextBox 5"/>
          <p:cNvSpPr txBox="1"/>
          <p:nvPr/>
        </p:nvSpPr>
        <p:spPr>
          <a:xfrm>
            <a:off x="841248" y="5669280"/>
            <a:ext cx="10515600" cy="822960"/>
          </a:xfrm>
          <a:prstGeom prst="rect">
            <a:avLst/>
          </a:prstGeom>
          <a:noFill/>
        </p:spPr>
        <p:txBody>
          <a:bodyPr wrap="square" anchor="t">
            <a:spAutoFit/>
          </a:bodyPr>
          <a:lstStyle/>
          <a:p>
            <a:pPr algn="l"/>
            <a:r>
              <a:rPr sz="1300" b="0" i="0">
                <a:solidFill>
                  <a:srgbClr val="AEC4D0"/>
                </a:solidFill>
                <a:latin typeface="Arial"/>
              </a:rPr>
              <a:t>Licensed Pennsylvania Master Electrician  |  License ME-118455</a:t>
            </a:r>
          </a:p>
          <a:p>
            <a:pPr algn="l"/>
            <a:r>
              <a:rPr sz="1300" b="0" i="0">
                <a:solidFill>
                  <a:srgbClr val="AEC4D0"/>
                </a:solidFill>
                <a:latin typeface="Arial"/>
              </a:rPr>
              <a:t>417 Brookmead Street, Philadelphia, PA 19111  |  (215) 555-0288</a:t>
            </a:r>
          </a:p>
        </p:txBody>
      </p:sp>
    </p:spTree>
  </p:cSld>
  <p:clrMapOvr>
    <a:masterClrMapping/>
  </p:clrMapOvr>
  <p:transition xmlns:p14="http://schemas.microsoft.com/office/powerpoint/2010/main" spd="med" p14:dur="500">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191695" cy="1143000"/>
          </a:xfrm>
          <a:prstGeom prst="rect">
            <a:avLst/>
          </a:prstGeom>
          <a:solidFill>
            <a:srgbClr val="1E2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73152"/>
          </a:xfrm>
          <a:prstGeom prst="rect">
            <a:avLst/>
          </a:prstGeom>
          <a:solidFill>
            <a:srgbClr val="F2A3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92608"/>
            <a:ext cx="10058400" cy="640080"/>
          </a:xfrm>
          <a:prstGeom prst="rect">
            <a:avLst/>
          </a:prstGeom>
          <a:noFill/>
        </p:spPr>
        <p:txBody>
          <a:bodyPr wrap="square" anchor="t">
            <a:spAutoFit/>
          </a:bodyPr>
          <a:lstStyle/>
          <a:p>
            <a:pPr algn="l"/>
            <a:r>
              <a:rPr sz="3000" b="1" i="0">
                <a:solidFill>
                  <a:srgbClr val="FFFFFF"/>
                </a:solidFill>
                <a:latin typeface="Arial"/>
              </a:rPr>
              <a:t>Two Hands, Twenty Five Years</a:t>
            </a:r>
          </a:p>
        </p:txBody>
      </p:sp>
      <p:sp>
        <p:nvSpPr>
          <p:cNvPr id="5" name="Rectangle 4"/>
          <p:cNvSpPr/>
          <p:nvPr/>
        </p:nvSpPr>
        <p:spPr>
          <a:xfrm>
            <a:off x="548640" y="1691640"/>
            <a:ext cx="2606040" cy="15544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56232"/>
            <a:ext cx="2606040" cy="868680"/>
          </a:xfrm>
          <a:prstGeom prst="rect">
            <a:avLst/>
          </a:prstGeom>
          <a:noFill/>
        </p:spPr>
        <p:txBody>
          <a:bodyPr wrap="square" anchor="ctr">
            <a:spAutoFit/>
          </a:bodyPr>
          <a:lstStyle/>
          <a:p>
            <a:pPr algn="ctr"/>
            <a:r>
              <a:rPr sz="4000" b="1" i="0">
                <a:solidFill>
                  <a:srgbClr val="1C6FB0"/>
                </a:solidFill>
                <a:latin typeface="Arial"/>
              </a:rPr>
              <a:t>20+</a:t>
            </a:r>
          </a:p>
        </p:txBody>
      </p:sp>
      <p:sp>
        <p:nvSpPr>
          <p:cNvPr id="7" name="TextBox 6"/>
          <p:cNvSpPr txBox="1"/>
          <p:nvPr/>
        </p:nvSpPr>
        <p:spPr>
          <a:xfrm>
            <a:off x="548640" y="2715768"/>
            <a:ext cx="2606040" cy="457200"/>
          </a:xfrm>
          <a:prstGeom prst="rect">
            <a:avLst/>
          </a:prstGeom>
          <a:noFill/>
        </p:spPr>
        <p:txBody>
          <a:bodyPr wrap="square" anchor="ctr">
            <a:spAutoFit/>
          </a:bodyPr>
          <a:lstStyle/>
          <a:p>
            <a:pPr algn="ctr"/>
            <a:r>
              <a:rPr sz="1300" b="0" i="0">
                <a:solidFill>
                  <a:srgbClr val="22303A"/>
                </a:solidFill>
                <a:latin typeface="Arial"/>
              </a:rPr>
              <a:t>Years licensed</a:t>
            </a:r>
          </a:p>
        </p:txBody>
      </p:sp>
      <p:sp>
        <p:nvSpPr>
          <p:cNvPr id="8" name="Rectangle 7"/>
          <p:cNvSpPr/>
          <p:nvPr/>
        </p:nvSpPr>
        <p:spPr>
          <a:xfrm>
            <a:off x="3337560" y="1691640"/>
            <a:ext cx="2606040" cy="15544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337560" y="1856232"/>
            <a:ext cx="2606040" cy="868680"/>
          </a:xfrm>
          <a:prstGeom prst="rect">
            <a:avLst/>
          </a:prstGeom>
          <a:noFill/>
        </p:spPr>
        <p:txBody>
          <a:bodyPr wrap="square" anchor="ctr">
            <a:spAutoFit/>
          </a:bodyPr>
          <a:lstStyle/>
          <a:p>
            <a:pPr algn="ctr"/>
            <a:r>
              <a:rPr sz="4000" b="1" i="0">
                <a:solidFill>
                  <a:srgbClr val="F2A30F"/>
                </a:solidFill>
                <a:latin typeface="Arial"/>
              </a:rPr>
              <a:t>200A</a:t>
            </a:r>
          </a:p>
        </p:txBody>
      </p:sp>
      <p:sp>
        <p:nvSpPr>
          <p:cNvPr id="10" name="TextBox 9"/>
          <p:cNvSpPr txBox="1"/>
          <p:nvPr/>
        </p:nvSpPr>
        <p:spPr>
          <a:xfrm>
            <a:off x="3337560" y="2715768"/>
            <a:ext cx="2606040" cy="457200"/>
          </a:xfrm>
          <a:prstGeom prst="rect">
            <a:avLst/>
          </a:prstGeom>
          <a:noFill/>
        </p:spPr>
        <p:txBody>
          <a:bodyPr wrap="square" anchor="ctr">
            <a:spAutoFit/>
          </a:bodyPr>
          <a:lstStyle/>
          <a:p>
            <a:pPr algn="ctr"/>
            <a:r>
              <a:rPr sz="1300" b="0" i="0">
                <a:solidFill>
                  <a:srgbClr val="22303A"/>
                </a:solidFill>
                <a:latin typeface="Arial"/>
              </a:rPr>
              <a:t>Service upgrades, code current</a:t>
            </a:r>
          </a:p>
        </p:txBody>
      </p:sp>
      <p:sp>
        <p:nvSpPr>
          <p:cNvPr id="11" name="Rectangle 10"/>
          <p:cNvSpPr/>
          <p:nvPr/>
        </p:nvSpPr>
        <p:spPr>
          <a:xfrm>
            <a:off x="6126480" y="1691640"/>
            <a:ext cx="2606040" cy="15544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26480" y="1856232"/>
            <a:ext cx="2606040" cy="868680"/>
          </a:xfrm>
          <a:prstGeom prst="rect">
            <a:avLst/>
          </a:prstGeom>
          <a:noFill/>
        </p:spPr>
        <p:txBody>
          <a:bodyPr wrap="square" anchor="ctr">
            <a:spAutoFit/>
          </a:bodyPr>
          <a:lstStyle/>
          <a:p>
            <a:pPr algn="ctr"/>
            <a:r>
              <a:rPr sz="4000" b="1" i="0">
                <a:solidFill>
                  <a:srgbClr val="1C6FB0"/>
                </a:solidFill>
                <a:latin typeface="Arial"/>
              </a:rPr>
              <a:t>3 to 4</a:t>
            </a:r>
          </a:p>
        </p:txBody>
      </p:sp>
      <p:sp>
        <p:nvSpPr>
          <p:cNvPr id="13" name="TextBox 12"/>
          <p:cNvSpPr txBox="1"/>
          <p:nvPr/>
        </p:nvSpPr>
        <p:spPr>
          <a:xfrm>
            <a:off x="6126480" y="2715768"/>
            <a:ext cx="2606040" cy="457200"/>
          </a:xfrm>
          <a:prstGeom prst="rect">
            <a:avLst/>
          </a:prstGeom>
          <a:noFill/>
        </p:spPr>
        <p:txBody>
          <a:bodyPr wrap="square" anchor="ctr">
            <a:spAutoFit/>
          </a:bodyPr>
          <a:lstStyle/>
          <a:p>
            <a:pPr algn="ctr"/>
            <a:r>
              <a:rPr sz="1300" b="0" i="0">
                <a:solidFill>
                  <a:srgbClr val="22303A"/>
                </a:solidFill>
                <a:latin typeface="Arial"/>
              </a:rPr>
              <a:t>Active jobs at a time</a:t>
            </a:r>
          </a:p>
        </p:txBody>
      </p:sp>
      <p:sp>
        <p:nvSpPr>
          <p:cNvPr id="14" name="Rectangle 13"/>
          <p:cNvSpPr/>
          <p:nvPr/>
        </p:nvSpPr>
        <p:spPr>
          <a:xfrm>
            <a:off x="8915400" y="1691640"/>
            <a:ext cx="2697480" cy="15544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15400" y="1856232"/>
            <a:ext cx="2697480" cy="868680"/>
          </a:xfrm>
          <a:prstGeom prst="rect">
            <a:avLst/>
          </a:prstGeom>
          <a:noFill/>
        </p:spPr>
        <p:txBody>
          <a:bodyPr wrap="square" anchor="ctr">
            <a:spAutoFit/>
          </a:bodyPr>
          <a:lstStyle/>
          <a:p>
            <a:pPr algn="ctr"/>
            <a:r>
              <a:rPr sz="4000" b="1" i="0">
                <a:solidFill>
                  <a:srgbClr val="F2A30F"/>
                </a:solidFill>
                <a:latin typeface="Arial"/>
              </a:rPr>
              <a:t>$95</a:t>
            </a:r>
          </a:p>
        </p:txBody>
      </p:sp>
      <p:sp>
        <p:nvSpPr>
          <p:cNvPr id="16" name="TextBox 15"/>
          <p:cNvSpPr txBox="1"/>
          <p:nvPr/>
        </p:nvSpPr>
        <p:spPr>
          <a:xfrm>
            <a:off x="8915400" y="2715768"/>
            <a:ext cx="2697480" cy="457200"/>
          </a:xfrm>
          <a:prstGeom prst="rect">
            <a:avLst/>
          </a:prstGeom>
          <a:noFill/>
        </p:spPr>
        <p:txBody>
          <a:bodyPr wrap="square" anchor="ctr">
            <a:spAutoFit/>
          </a:bodyPr>
          <a:lstStyle/>
          <a:p>
            <a:pPr algn="ctr"/>
            <a:r>
              <a:rPr sz="1300" b="0" i="0">
                <a:solidFill>
                  <a:srgbClr val="22303A"/>
                </a:solidFill>
                <a:latin typeface="Arial"/>
              </a:rPr>
              <a:t>Per hour, standard labor</a:t>
            </a:r>
          </a:p>
        </p:txBody>
      </p:sp>
      <p:sp>
        <p:nvSpPr>
          <p:cNvPr id="17" name="TextBox 16"/>
          <p:cNvSpPr txBox="1"/>
          <p:nvPr/>
        </p:nvSpPr>
        <p:spPr>
          <a:xfrm>
            <a:off x="548640" y="3749039"/>
            <a:ext cx="10972800" cy="2194560"/>
          </a:xfrm>
          <a:prstGeom prst="rect">
            <a:avLst/>
          </a:prstGeom>
          <a:noFill/>
        </p:spPr>
        <p:txBody>
          <a:bodyPr wrap="square" anchor="t">
            <a:spAutoFit/>
          </a:bodyPr>
          <a:lstStyle/>
          <a:p>
            <a:pPr algn="l">
              <a:lnSpc>
                <a:spcPct val="130000"/>
              </a:lnSpc>
            </a:pPr>
            <a:r>
              <a:rPr sz="1700" b="0" i="0">
                <a:solidFill>
                  <a:srgbClr val="22303A"/>
                </a:solidFill>
                <a:latin typeface="Arial"/>
              </a:rPr>
              <a:t>Kelly Electric is a one tradesman shop with apprentice help on the larger jobs. The work is residential and small commercial across Philadelphia and the suburbs of Bucks, Montgomery, and Delaware counties. Panel upgrades and whole house rewires of older homes are the bread of it. Fully licensed and insured, general liability and workers compensation in force. Permits pulled, inspections passed, the panel labeled before the cover goes back on.</a:t>
            </a:r>
          </a:p>
        </p:txBody>
      </p:sp>
    </p:spTree>
  </p:cSld>
  <p:clrMapOvr>
    <a:masterClrMapping/>
  </p:clrMapOvr>
  <p:transition xmlns:p14="http://schemas.microsoft.com/office/powerpoint/2010/main" spd="med" p14:dur="500">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191695" cy="1143000"/>
          </a:xfrm>
          <a:prstGeom prst="rect">
            <a:avLst/>
          </a:prstGeom>
          <a:solidFill>
            <a:srgbClr val="1C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058400" cy="640080"/>
          </a:xfrm>
          <a:prstGeom prst="rect">
            <a:avLst/>
          </a:prstGeom>
          <a:noFill/>
        </p:spPr>
        <p:txBody>
          <a:bodyPr wrap="square" anchor="t">
            <a:spAutoFit/>
          </a:bodyPr>
          <a:lstStyle/>
          <a:p>
            <a:pPr algn="l"/>
            <a:r>
              <a:rPr sz="3000" b="1" i="0">
                <a:solidFill>
                  <a:srgbClr val="FFFFFF"/>
                </a:solidFill>
                <a:latin typeface="Arial"/>
              </a:rPr>
              <a:t>What I Do</a:t>
            </a:r>
          </a:p>
        </p:txBody>
      </p:sp>
      <p:sp>
        <p:nvSpPr>
          <p:cNvPr id="4" name="Rectangle 3"/>
          <p:cNvSpPr/>
          <p:nvPr/>
        </p:nvSpPr>
        <p:spPr>
          <a:xfrm>
            <a:off x="548640" y="1600200"/>
            <a:ext cx="3611880" cy="21488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600200"/>
            <a:ext cx="3611880" cy="128016"/>
          </a:xfrm>
          <a:prstGeom prst="rect">
            <a:avLst/>
          </a:prstGeom>
          <a:solidFill>
            <a:srgbClr val="F2A3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920240"/>
            <a:ext cx="3154680" cy="548640"/>
          </a:xfrm>
          <a:prstGeom prst="rect">
            <a:avLst/>
          </a:prstGeom>
          <a:noFill/>
        </p:spPr>
        <p:txBody>
          <a:bodyPr wrap="square" anchor="t">
            <a:spAutoFit/>
          </a:bodyPr>
          <a:lstStyle/>
          <a:p>
            <a:pPr algn="l"/>
            <a:r>
              <a:rPr sz="1800" b="1" i="0">
                <a:solidFill>
                  <a:srgbClr val="1C6FB0"/>
                </a:solidFill>
                <a:latin typeface="Arial"/>
              </a:rPr>
              <a:t>Panel upgrades</a:t>
            </a:r>
          </a:p>
        </p:txBody>
      </p:sp>
      <p:sp>
        <p:nvSpPr>
          <p:cNvPr id="7" name="TextBox 6"/>
          <p:cNvSpPr txBox="1"/>
          <p:nvPr/>
        </p:nvSpPr>
        <p:spPr>
          <a:xfrm>
            <a:off x="777240" y="2514600"/>
            <a:ext cx="3154680" cy="1097280"/>
          </a:xfrm>
          <a:prstGeom prst="rect">
            <a:avLst/>
          </a:prstGeom>
          <a:noFill/>
        </p:spPr>
        <p:txBody>
          <a:bodyPr wrap="square" anchor="t">
            <a:spAutoFit/>
          </a:bodyPr>
          <a:lstStyle/>
          <a:p>
            <a:pPr algn="l">
              <a:lnSpc>
                <a:spcPct val="115000"/>
              </a:lnSpc>
            </a:pPr>
            <a:r>
              <a:rPr sz="1300" b="0" i="0">
                <a:solidFill>
                  <a:srgbClr val="22303A"/>
                </a:solidFill>
                <a:latin typeface="Arial"/>
              </a:rPr>
              <a:t>Fuse boxes out, 200 amp service in, bonded and labeled to current code.</a:t>
            </a:r>
          </a:p>
        </p:txBody>
      </p:sp>
      <p:sp>
        <p:nvSpPr>
          <p:cNvPr id="8" name="Rectangle 7"/>
          <p:cNvSpPr/>
          <p:nvPr/>
        </p:nvSpPr>
        <p:spPr>
          <a:xfrm>
            <a:off x="4270248" y="1600200"/>
            <a:ext cx="3611880" cy="21488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270248" y="1600200"/>
            <a:ext cx="3611880" cy="128016"/>
          </a:xfrm>
          <a:prstGeom prst="rect">
            <a:avLst/>
          </a:prstGeom>
          <a:solidFill>
            <a:srgbClr val="F2A3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98848" y="1920240"/>
            <a:ext cx="3154680" cy="548640"/>
          </a:xfrm>
          <a:prstGeom prst="rect">
            <a:avLst/>
          </a:prstGeom>
          <a:noFill/>
        </p:spPr>
        <p:txBody>
          <a:bodyPr wrap="square" anchor="t">
            <a:spAutoFit/>
          </a:bodyPr>
          <a:lstStyle/>
          <a:p>
            <a:pPr algn="l"/>
            <a:r>
              <a:rPr sz="1800" b="1" i="0">
                <a:solidFill>
                  <a:srgbClr val="1C6FB0"/>
                </a:solidFill>
                <a:latin typeface="Arial"/>
              </a:rPr>
              <a:t>Whole house rewire</a:t>
            </a:r>
          </a:p>
        </p:txBody>
      </p:sp>
      <p:sp>
        <p:nvSpPr>
          <p:cNvPr id="11" name="TextBox 10"/>
          <p:cNvSpPr txBox="1"/>
          <p:nvPr/>
        </p:nvSpPr>
        <p:spPr>
          <a:xfrm>
            <a:off x="4498848" y="2514600"/>
            <a:ext cx="3154680" cy="1097280"/>
          </a:xfrm>
          <a:prstGeom prst="rect">
            <a:avLst/>
          </a:prstGeom>
          <a:noFill/>
        </p:spPr>
        <p:txBody>
          <a:bodyPr wrap="square" anchor="t">
            <a:spAutoFit/>
          </a:bodyPr>
          <a:lstStyle/>
          <a:p>
            <a:pPr algn="l">
              <a:lnSpc>
                <a:spcPct val="115000"/>
              </a:lnSpc>
            </a:pPr>
            <a:r>
              <a:rPr sz="1300" b="0" i="0">
                <a:solidFill>
                  <a:srgbClr val="22303A"/>
                </a:solidFill>
                <a:latin typeface="Arial"/>
              </a:rPr>
              <a:t>Older Philadelphia homes brought up to a safe modern standard, room by room.</a:t>
            </a:r>
          </a:p>
        </p:txBody>
      </p:sp>
      <p:sp>
        <p:nvSpPr>
          <p:cNvPr id="12" name="Rectangle 11"/>
          <p:cNvSpPr/>
          <p:nvPr/>
        </p:nvSpPr>
        <p:spPr>
          <a:xfrm>
            <a:off x="7991856" y="1600200"/>
            <a:ext cx="3611880" cy="21488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991856" y="1600200"/>
            <a:ext cx="3611880" cy="128016"/>
          </a:xfrm>
          <a:prstGeom prst="rect">
            <a:avLst/>
          </a:prstGeom>
          <a:solidFill>
            <a:srgbClr val="F2A3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0456" y="1920240"/>
            <a:ext cx="3154680" cy="548640"/>
          </a:xfrm>
          <a:prstGeom prst="rect">
            <a:avLst/>
          </a:prstGeom>
          <a:noFill/>
        </p:spPr>
        <p:txBody>
          <a:bodyPr wrap="square" anchor="t">
            <a:spAutoFit/>
          </a:bodyPr>
          <a:lstStyle/>
          <a:p>
            <a:pPr algn="l"/>
            <a:r>
              <a:rPr sz="1800" b="1" i="0">
                <a:solidFill>
                  <a:srgbClr val="1C6FB0"/>
                </a:solidFill>
                <a:latin typeface="Arial"/>
              </a:rPr>
              <a:t>EV charger installs</a:t>
            </a:r>
          </a:p>
        </p:txBody>
      </p:sp>
      <p:sp>
        <p:nvSpPr>
          <p:cNvPr id="15" name="TextBox 14"/>
          <p:cNvSpPr txBox="1"/>
          <p:nvPr/>
        </p:nvSpPr>
        <p:spPr>
          <a:xfrm>
            <a:off x="8220456" y="2514600"/>
            <a:ext cx="3154680" cy="1097280"/>
          </a:xfrm>
          <a:prstGeom prst="rect">
            <a:avLst/>
          </a:prstGeom>
          <a:noFill/>
        </p:spPr>
        <p:txBody>
          <a:bodyPr wrap="square" anchor="t">
            <a:spAutoFit/>
          </a:bodyPr>
          <a:lstStyle/>
          <a:p>
            <a:pPr algn="l">
              <a:lnSpc>
                <a:spcPct val="115000"/>
              </a:lnSpc>
            </a:pPr>
            <a:r>
              <a:rPr sz="1300" b="0" i="0">
                <a:solidFill>
                  <a:srgbClr val="22303A"/>
                </a:solidFill>
                <a:latin typeface="Arial"/>
              </a:rPr>
              <a:t>Dedicated 240 volt circuits, sized right, weatherproof and inspected.</a:t>
            </a:r>
          </a:p>
        </p:txBody>
      </p:sp>
      <p:sp>
        <p:nvSpPr>
          <p:cNvPr id="16" name="Rectangle 15"/>
          <p:cNvSpPr/>
          <p:nvPr/>
        </p:nvSpPr>
        <p:spPr>
          <a:xfrm>
            <a:off x="548640" y="3931920"/>
            <a:ext cx="3611880" cy="21488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931920"/>
            <a:ext cx="3611880" cy="128016"/>
          </a:xfrm>
          <a:prstGeom prst="rect">
            <a:avLst/>
          </a:prstGeom>
          <a:solidFill>
            <a:srgbClr val="F2A3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4251960"/>
            <a:ext cx="3154680" cy="548640"/>
          </a:xfrm>
          <a:prstGeom prst="rect">
            <a:avLst/>
          </a:prstGeom>
          <a:noFill/>
        </p:spPr>
        <p:txBody>
          <a:bodyPr wrap="square" anchor="t">
            <a:spAutoFit/>
          </a:bodyPr>
          <a:lstStyle/>
          <a:p>
            <a:pPr algn="l"/>
            <a:r>
              <a:rPr sz="1800" b="1" i="0">
                <a:solidFill>
                  <a:srgbClr val="1C6FB0"/>
                </a:solidFill>
                <a:latin typeface="Arial"/>
              </a:rPr>
              <a:t>Circuits and devices</a:t>
            </a:r>
          </a:p>
        </p:txBody>
      </p:sp>
      <p:sp>
        <p:nvSpPr>
          <p:cNvPr id="19" name="TextBox 18"/>
          <p:cNvSpPr txBox="1"/>
          <p:nvPr/>
        </p:nvSpPr>
        <p:spPr>
          <a:xfrm>
            <a:off x="777240" y="4846320"/>
            <a:ext cx="3154680" cy="1097280"/>
          </a:xfrm>
          <a:prstGeom prst="rect">
            <a:avLst/>
          </a:prstGeom>
          <a:noFill/>
        </p:spPr>
        <p:txBody>
          <a:bodyPr wrap="square" anchor="t">
            <a:spAutoFit/>
          </a:bodyPr>
          <a:lstStyle/>
          <a:p>
            <a:pPr algn="l">
              <a:lnSpc>
                <a:spcPct val="115000"/>
              </a:lnSpc>
            </a:pPr>
            <a:r>
              <a:rPr sz="1300" b="0" i="0">
                <a:solidFill>
                  <a:srgbClr val="22303A"/>
                </a:solidFill>
                <a:latin typeface="Arial"/>
              </a:rPr>
              <a:t>GFCI protection, smoke detectors, kitchen and laundry circuits, lighting.</a:t>
            </a:r>
          </a:p>
        </p:txBody>
      </p:sp>
      <p:sp>
        <p:nvSpPr>
          <p:cNvPr id="20" name="Rectangle 19"/>
          <p:cNvSpPr/>
          <p:nvPr/>
        </p:nvSpPr>
        <p:spPr>
          <a:xfrm>
            <a:off x="4270248" y="3931920"/>
            <a:ext cx="3611880" cy="21488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270248" y="3931920"/>
            <a:ext cx="3611880" cy="128016"/>
          </a:xfrm>
          <a:prstGeom prst="rect">
            <a:avLst/>
          </a:prstGeom>
          <a:solidFill>
            <a:srgbClr val="F2A3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98848" y="4251960"/>
            <a:ext cx="3154680" cy="548640"/>
          </a:xfrm>
          <a:prstGeom prst="rect">
            <a:avLst/>
          </a:prstGeom>
          <a:noFill/>
        </p:spPr>
        <p:txBody>
          <a:bodyPr wrap="square" anchor="t">
            <a:spAutoFit/>
          </a:bodyPr>
          <a:lstStyle/>
          <a:p>
            <a:pPr algn="l"/>
            <a:r>
              <a:rPr sz="1800" b="1" i="0">
                <a:solidFill>
                  <a:srgbClr val="1C6FB0"/>
                </a:solidFill>
                <a:latin typeface="Arial"/>
              </a:rPr>
              <a:t>Small commercial</a:t>
            </a:r>
          </a:p>
        </p:txBody>
      </p:sp>
      <p:sp>
        <p:nvSpPr>
          <p:cNvPr id="23" name="TextBox 22"/>
          <p:cNvSpPr txBox="1"/>
          <p:nvPr/>
        </p:nvSpPr>
        <p:spPr>
          <a:xfrm>
            <a:off x="4498848" y="4846320"/>
            <a:ext cx="3154680" cy="1097280"/>
          </a:xfrm>
          <a:prstGeom prst="rect">
            <a:avLst/>
          </a:prstGeom>
          <a:noFill/>
        </p:spPr>
        <p:txBody>
          <a:bodyPr wrap="square" anchor="t">
            <a:spAutoFit/>
          </a:bodyPr>
          <a:lstStyle/>
          <a:p>
            <a:pPr algn="l">
              <a:lnSpc>
                <a:spcPct val="115000"/>
              </a:lnSpc>
            </a:pPr>
            <a:r>
              <a:rPr sz="1300" b="0" i="0">
                <a:solidFill>
                  <a:srgbClr val="22303A"/>
                </a:solidFill>
                <a:latin typeface="Arial"/>
              </a:rPr>
              <a:t>Tenant fit outs, sub panels, and service calls for local businesses.</a:t>
            </a:r>
          </a:p>
        </p:txBody>
      </p:sp>
      <p:sp>
        <p:nvSpPr>
          <p:cNvPr id="24" name="Rectangle 23"/>
          <p:cNvSpPr/>
          <p:nvPr/>
        </p:nvSpPr>
        <p:spPr>
          <a:xfrm>
            <a:off x="7991856" y="3931920"/>
            <a:ext cx="3611880" cy="21488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991856" y="3931920"/>
            <a:ext cx="3611880" cy="128016"/>
          </a:xfrm>
          <a:prstGeom prst="rect">
            <a:avLst/>
          </a:prstGeom>
          <a:solidFill>
            <a:srgbClr val="F2A3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0456" y="4251960"/>
            <a:ext cx="3154680" cy="548640"/>
          </a:xfrm>
          <a:prstGeom prst="rect">
            <a:avLst/>
          </a:prstGeom>
          <a:noFill/>
        </p:spPr>
        <p:txBody>
          <a:bodyPr wrap="square" anchor="t">
            <a:spAutoFit/>
          </a:bodyPr>
          <a:lstStyle/>
          <a:p>
            <a:pPr algn="l"/>
            <a:r>
              <a:rPr sz="1800" b="1" i="0">
                <a:solidFill>
                  <a:srgbClr val="1C6FB0"/>
                </a:solidFill>
                <a:latin typeface="Arial"/>
              </a:rPr>
              <a:t>Service and safety</a:t>
            </a:r>
          </a:p>
        </p:txBody>
      </p:sp>
      <p:sp>
        <p:nvSpPr>
          <p:cNvPr id="27" name="TextBox 26"/>
          <p:cNvSpPr txBox="1"/>
          <p:nvPr/>
        </p:nvSpPr>
        <p:spPr>
          <a:xfrm>
            <a:off x="8220456" y="4846320"/>
            <a:ext cx="3154680" cy="1097280"/>
          </a:xfrm>
          <a:prstGeom prst="rect">
            <a:avLst/>
          </a:prstGeom>
          <a:noFill/>
        </p:spPr>
        <p:txBody>
          <a:bodyPr wrap="square" anchor="t">
            <a:spAutoFit/>
          </a:bodyPr>
          <a:lstStyle/>
          <a:p>
            <a:pPr algn="l">
              <a:lnSpc>
                <a:spcPct val="115000"/>
              </a:lnSpc>
            </a:pPr>
            <a:r>
              <a:rPr sz="1300" b="0" i="0">
                <a:solidFill>
                  <a:srgbClr val="22303A"/>
                </a:solidFill>
                <a:latin typeface="Arial"/>
              </a:rPr>
              <a:t>Troubleshooting, code corrections, and the quiet fixes before they become fires.</a:t>
            </a:r>
          </a:p>
        </p:txBody>
      </p:sp>
    </p:spTree>
  </p:cSld>
  <p:clrMapOvr>
    <a:masterClrMapping/>
  </p:clrMapOvr>
  <p:transition xmlns:p14="http://schemas.microsoft.com/office/powerpoint/2010/main" spd="med" p14:dur="500">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E2A33"/>
        </a:solidFill>
        <a:effectLst/>
      </p:bgPr>
    </p:bg>
    <p:spTree>
      <p:nvGrpSpPr>
        <p:cNvPr id="1" name=""/>
        <p:cNvGrpSpPr/>
        <p:nvPr/>
      </p:nvGrpSpPr>
      <p:grpSpPr/>
      <p:sp>
        <p:nvSpPr>
          <p:cNvPr id="2" name="TextBox 1"/>
          <p:cNvSpPr txBox="1"/>
          <p:nvPr/>
        </p:nvSpPr>
        <p:spPr>
          <a:xfrm>
            <a:off x="548640" y="411480"/>
            <a:ext cx="10058400" cy="731520"/>
          </a:xfrm>
          <a:prstGeom prst="rect">
            <a:avLst/>
          </a:prstGeom>
          <a:noFill/>
        </p:spPr>
        <p:txBody>
          <a:bodyPr wrap="square" anchor="t">
            <a:spAutoFit/>
          </a:bodyPr>
          <a:lstStyle/>
          <a:p>
            <a:pPr algn="l"/>
            <a:r>
              <a:rPr sz="3200" b="1" i="0">
                <a:solidFill>
                  <a:srgbClr val="FFFFFF"/>
                </a:solidFill>
                <a:latin typeface="Arial"/>
              </a:rPr>
              <a:t>How the Work Goes</a:t>
            </a:r>
          </a:p>
        </p:txBody>
      </p:sp>
      <p:sp>
        <p:nvSpPr>
          <p:cNvPr id="3" name="Rectangle 2"/>
          <p:cNvSpPr/>
          <p:nvPr/>
        </p:nvSpPr>
        <p:spPr>
          <a:xfrm>
            <a:off x="548640" y="1234440"/>
            <a:ext cx="2194560" cy="73152"/>
          </a:xfrm>
          <a:prstGeom prst="rect">
            <a:avLst/>
          </a:prstGeom>
          <a:solidFill>
            <a:srgbClr val="F2A3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00200"/>
            <a:ext cx="1005840" cy="731520"/>
          </a:xfrm>
          <a:prstGeom prst="rect">
            <a:avLst/>
          </a:prstGeom>
          <a:noFill/>
        </p:spPr>
        <p:txBody>
          <a:bodyPr wrap="square" anchor="t">
            <a:spAutoFit/>
          </a:bodyPr>
          <a:lstStyle/>
          <a:p>
            <a:pPr algn="l"/>
            <a:r>
              <a:rPr sz="3000" b="1" i="0">
                <a:solidFill>
                  <a:srgbClr val="F2A30F"/>
                </a:solidFill>
                <a:latin typeface="Arial"/>
              </a:rPr>
              <a:t>01</a:t>
            </a:r>
          </a:p>
        </p:txBody>
      </p:sp>
      <p:sp>
        <p:nvSpPr>
          <p:cNvPr id="5" name="TextBox 4"/>
          <p:cNvSpPr txBox="1"/>
          <p:nvPr/>
        </p:nvSpPr>
        <p:spPr>
          <a:xfrm>
            <a:off x="1737360" y="1673352"/>
            <a:ext cx="9875520" cy="411480"/>
          </a:xfrm>
          <a:prstGeom prst="rect">
            <a:avLst/>
          </a:prstGeom>
          <a:noFill/>
        </p:spPr>
        <p:txBody>
          <a:bodyPr wrap="square" anchor="t">
            <a:spAutoFit/>
          </a:bodyPr>
          <a:lstStyle/>
          <a:p>
            <a:pPr algn="l"/>
            <a:r>
              <a:rPr sz="1800" b="1" i="0">
                <a:solidFill>
                  <a:srgbClr val="FFFFFF"/>
                </a:solidFill>
                <a:latin typeface="Arial"/>
              </a:rPr>
              <a:t>Walk the job</a:t>
            </a:r>
          </a:p>
        </p:txBody>
      </p:sp>
      <p:sp>
        <p:nvSpPr>
          <p:cNvPr id="6" name="TextBox 5"/>
          <p:cNvSpPr txBox="1"/>
          <p:nvPr/>
        </p:nvSpPr>
        <p:spPr>
          <a:xfrm>
            <a:off x="1737360" y="2057400"/>
            <a:ext cx="9875520" cy="457200"/>
          </a:xfrm>
          <a:prstGeom prst="rect">
            <a:avLst/>
          </a:prstGeom>
          <a:noFill/>
        </p:spPr>
        <p:txBody>
          <a:bodyPr wrap="square" anchor="t">
            <a:spAutoFit/>
          </a:bodyPr>
          <a:lstStyle/>
          <a:p>
            <a:pPr algn="l"/>
            <a:r>
              <a:rPr sz="1350" b="0" i="0">
                <a:solidFill>
                  <a:srgbClr val="AEC4D0"/>
                </a:solidFill>
                <a:latin typeface="Arial"/>
              </a:rPr>
              <a:t>Look behind the wall where I can, measure the load, give a straight number.</a:t>
            </a:r>
          </a:p>
        </p:txBody>
      </p:sp>
      <p:sp>
        <p:nvSpPr>
          <p:cNvPr id="7" name="TextBox 6"/>
          <p:cNvSpPr txBox="1"/>
          <p:nvPr/>
        </p:nvSpPr>
        <p:spPr>
          <a:xfrm>
            <a:off x="548640" y="2532888"/>
            <a:ext cx="1005840" cy="731520"/>
          </a:xfrm>
          <a:prstGeom prst="rect">
            <a:avLst/>
          </a:prstGeom>
          <a:noFill/>
        </p:spPr>
        <p:txBody>
          <a:bodyPr wrap="square" anchor="t">
            <a:spAutoFit/>
          </a:bodyPr>
          <a:lstStyle/>
          <a:p>
            <a:pPr algn="l"/>
            <a:r>
              <a:rPr sz="3000" b="1" i="0">
                <a:solidFill>
                  <a:srgbClr val="F2A30F"/>
                </a:solidFill>
                <a:latin typeface="Arial"/>
              </a:rPr>
              <a:t>02</a:t>
            </a:r>
          </a:p>
        </p:txBody>
      </p:sp>
      <p:sp>
        <p:nvSpPr>
          <p:cNvPr id="8" name="TextBox 7"/>
          <p:cNvSpPr txBox="1"/>
          <p:nvPr/>
        </p:nvSpPr>
        <p:spPr>
          <a:xfrm>
            <a:off x="1737360" y="2606040"/>
            <a:ext cx="9875520" cy="411480"/>
          </a:xfrm>
          <a:prstGeom prst="rect">
            <a:avLst/>
          </a:prstGeom>
          <a:noFill/>
        </p:spPr>
        <p:txBody>
          <a:bodyPr wrap="square" anchor="t">
            <a:spAutoFit/>
          </a:bodyPr>
          <a:lstStyle/>
          <a:p>
            <a:pPr algn="l"/>
            <a:r>
              <a:rPr sz="1800" b="1" i="0">
                <a:solidFill>
                  <a:srgbClr val="FFFFFF"/>
                </a:solidFill>
                <a:latin typeface="Arial"/>
              </a:rPr>
              <a:t>Quote and schedule</a:t>
            </a:r>
          </a:p>
        </p:txBody>
      </p:sp>
      <p:sp>
        <p:nvSpPr>
          <p:cNvPr id="9" name="TextBox 8"/>
          <p:cNvSpPr txBox="1"/>
          <p:nvPr/>
        </p:nvSpPr>
        <p:spPr>
          <a:xfrm>
            <a:off x="1737360" y="2990088"/>
            <a:ext cx="9875520" cy="457200"/>
          </a:xfrm>
          <a:prstGeom prst="rect">
            <a:avLst/>
          </a:prstGeom>
          <a:noFill/>
        </p:spPr>
        <p:txBody>
          <a:bodyPr wrap="square" anchor="t">
            <a:spAutoFit/>
          </a:bodyPr>
          <a:lstStyle/>
          <a:p>
            <a:pPr algn="l"/>
            <a:r>
              <a:rPr sz="1350" b="0" i="0">
                <a:solidFill>
                  <a:srgbClr val="AEC4D0"/>
                </a:solidFill>
                <a:latin typeface="Arial"/>
              </a:rPr>
              <a:t>Itemized or flat rate, booked four to six weeks out, no deposit to hold a date.</a:t>
            </a:r>
          </a:p>
        </p:txBody>
      </p:sp>
      <p:sp>
        <p:nvSpPr>
          <p:cNvPr id="10" name="TextBox 9"/>
          <p:cNvSpPr txBox="1"/>
          <p:nvPr/>
        </p:nvSpPr>
        <p:spPr>
          <a:xfrm>
            <a:off x="548640" y="3465576"/>
            <a:ext cx="1005840" cy="731520"/>
          </a:xfrm>
          <a:prstGeom prst="rect">
            <a:avLst/>
          </a:prstGeom>
          <a:noFill/>
        </p:spPr>
        <p:txBody>
          <a:bodyPr wrap="square" anchor="t">
            <a:spAutoFit/>
          </a:bodyPr>
          <a:lstStyle/>
          <a:p>
            <a:pPr algn="l"/>
            <a:r>
              <a:rPr sz="3000" b="1" i="0">
                <a:solidFill>
                  <a:srgbClr val="F2A30F"/>
                </a:solidFill>
                <a:latin typeface="Arial"/>
              </a:rPr>
              <a:t>03</a:t>
            </a:r>
          </a:p>
        </p:txBody>
      </p:sp>
      <p:sp>
        <p:nvSpPr>
          <p:cNvPr id="11" name="TextBox 10"/>
          <p:cNvSpPr txBox="1"/>
          <p:nvPr/>
        </p:nvSpPr>
        <p:spPr>
          <a:xfrm>
            <a:off x="1737360" y="3538728"/>
            <a:ext cx="9875520" cy="411480"/>
          </a:xfrm>
          <a:prstGeom prst="rect">
            <a:avLst/>
          </a:prstGeom>
          <a:noFill/>
        </p:spPr>
        <p:txBody>
          <a:bodyPr wrap="square" anchor="t">
            <a:spAutoFit/>
          </a:bodyPr>
          <a:lstStyle/>
          <a:p>
            <a:pPr algn="l"/>
            <a:r>
              <a:rPr sz="1800" b="1" i="0">
                <a:solidFill>
                  <a:srgbClr val="FFFFFF"/>
                </a:solidFill>
                <a:latin typeface="Arial"/>
              </a:rPr>
              <a:t>Pull the permit</a:t>
            </a:r>
          </a:p>
        </p:txBody>
      </p:sp>
      <p:sp>
        <p:nvSpPr>
          <p:cNvPr id="12" name="TextBox 11"/>
          <p:cNvSpPr txBox="1"/>
          <p:nvPr/>
        </p:nvSpPr>
        <p:spPr>
          <a:xfrm>
            <a:off x="1737360" y="3922776"/>
            <a:ext cx="9875520" cy="457200"/>
          </a:xfrm>
          <a:prstGeom prst="rect">
            <a:avLst/>
          </a:prstGeom>
          <a:noFill/>
        </p:spPr>
        <p:txBody>
          <a:bodyPr wrap="square" anchor="t">
            <a:spAutoFit/>
          </a:bodyPr>
          <a:lstStyle/>
          <a:p>
            <a:pPr algn="l"/>
            <a:r>
              <a:rPr sz="1350" b="0" i="0">
                <a:solidFill>
                  <a:srgbClr val="AEC4D0"/>
                </a:solidFill>
                <a:latin typeface="Arial"/>
              </a:rPr>
              <a:t>Every job by the book. The permit and the inspection protect the homeowner.</a:t>
            </a:r>
          </a:p>
        </p:txBody>
      </p:sp>
      <p:sp>
        <p:nvSpPr>
          <p:cNvPr id="13" name="TextBox 12"/>
          <p:cNvSpPr txBox="1"/>
          <p:nvPr/>
        </p:nvSpPr>
        <p:spPr>
          <a:xfrm>
            <a:off x="548640" y="4398264"/>
            <a:ext cx="1005840" cy="731520"/>
          </a:xfrm>
          <a:prstGeom prst="rect">
            <a:avLst/>
          </a:prstGeom>
          <a:noFill/>
        </p:spPr>
        <p:txBody>
          <a:bodyPr wrap="square" anchor="t">
            <a:spAutoFit/>
          </a:bodyPr>
          <a:lstStyle/>
          <a:p>
            <a:pPr algn="l"/>
            <a:r>
              <a:rPr sz="3000" b="1" i="0">
                <a:solidFill>
                  <a:srgbClr val="F2A30F"/>
                </a:solidFill>
                <a:latin typeface="Arial"/>
              </a:rPr>
              <a:t>04</a:t>
            </a:r>
          </a:p>
        </p:txBody>
      </p:sp>
      <p:sp>
        <p:nvSpPr>
          <p:cNvPr id="14" name="TextBox 13"/>
          <p:cNvSpPr txBox="1"/>
          <p:nvPr/>
        </p:nvSpPr>
        <p:spPr>
          <a:xfrm>
            <a:off x="1737360" y="4471416"/>
            <a:ext cx="9875520" cy="411480"/>
          </a:xfrm>
          <a:prstGeom prst="rect">
            <a:avLst/>
          </a:prstGeom>
          <a:noFill/>
        </p:spPr>
        <p:txBody>
          <a:bodyPr wrap="square" anchor="t">
            <a:spAutoFit/>
          </a:bodyPr>
          <a:lstStyle/>
          <a:p>
            <a:pPr algn="l"/>
            <a:r>
              <a:rPr sz="1800" b="1" i="0">
                <a:solidFill>
                  <a:srgbClr val="FFFFFF"/>
                </a:solidFill>
                <a:latin typeface="Arial"/>
              </a:rPr>
              <a:t>Do it clean</a:t>
            </a:r>
          </a:p>
        </p:txBody>
      </p:sp>
      <p:sp>
        <p:nvSpPr>
          <p:cNvPr id="15" name="TextBox 14"/>
          <p:cNvSpPr txBox="1"/>
          <p:nvPr/>
        </p:nvSpPr>
        <p:spPr>
          <a:xfrm>
            <a:off x="1737360" y="4855464"/>
            <a:ext cx="9875520" cy="457200"/>
          </a:xfrm>
          <a:prstGeom prst="rect">
            <a:avLst/>
          </a:prstGeom>
          <a:noFill/>
        </p:spPr>
        <p:txBody>
          <a:bodyPr wrap="square" anchor="t">
            <a:spAutoFit/>
          </a:bodyPr>
          <a:lstStyle/>
          <a:p>
            <a:pPr algn="l"/>
            <a:r>
              <a:rPr sz="1350" b="0" i="0">
                <a:solidFill>
                  <a:srgbClr val="AEC4D0"/>
                </a:solidFill>
                <a:latin typeface="Arial"/>
              </a:rPr>
              <a:t>Neat runs, labeled panel, the site swept. Work like the next electrician is watching.</a:t>
            </a:r>
          </a:p>
        </p:txBody>
      </p:sp>
      <p:sp>
        <p:nvSpPr>
          <p:cNvPr id="16" name="TextBox 15"/>
          <p:cNvSpPr txBox="1"/>
          <p:nvPr/>
        </p:nvSpPr>
        <p:spPr>
          <a:xfrm>
            <a:off x="548640" y="5330952"/>
            <a:ext cx="1005840" cy="731520"/>
          </a:xfrm>
          <a:prstGeom prst="rect">
            <a:avLst/>
          </a:prstGeom>
          <a:noFill/>
        </p:spPr>
        <p:txBody>
          <a:bodyPr wrap="square" anchor="t">
            <a:spAutoFit/>
          </a:bodyPr>
          <a:lstStyle/>
          <a:p>
            <a:pPr algn="l"/>
            <a:r>
              <a:rPr sz="3000" b="1" i="0">
                <a:solidFill>
                  <a:srgbClr val="F2A30F"/>
                </a:solidFill>
                <a:latin typeface="Arial"/>
              </a:rPr>
              <a:t>05</a:t>
            </a:r>
          </a:p>
        </p:txBody>
      </p:sp>
      <p:sp>
        <p:nvSpPr>
          <p:cNvPr id="17" name="TextBox 16"/>
          <p:cNvSpPr txBox="1"/>
          <p:nvPr/>
        </p:nvSpPr>
        <p:spPr>
          <a:xfrm>
            <a:off x="1737360" y="5404104"/>
            <a:ext cx="9875520" cy="411480"/>
          </a:xfrm>
          <a:prstGeom prst="rect">
            <a:avLst/>
          </a:prstGeom>
          <a:noFill/>
        </p:spPr>
        <p:txBody>
          <a:bodyPr wrap="square" anchor="t">
            <a:spAutoFit/>
          </a:bodyPr>
          <a:lstStyle/>
          <a:p>
            <a:pPr algn="l"/>
            <a:r>
              <a:rPr sz="1800" b="1" i="0">
                <a:solidFill>
                  <a:srgbClr val="FFFFFF"/>
                </a:solidFill>
                <a:latin typeface="Arial"/>
              </a:rPr>
              <a:t>Pass and close</a:t>
            </a:r>
          </a:p>
        </p:txBody>
      </p:sp>
      <p:sp>
        <p:nvSpPr>
          <p:cNvPr id="18" name="TextBox 17"/>
          <p:cNvSpPr txBox="1"/>
          <p:nvPr/>
        </p:nvSpPr>
        <p:spPr>
          <a:xfrm>
            <a:off x="1737360" y="5788152"/>
            <a:ext cx="9875520" cy="457200"/>
          </a:xfrm>
          <a:prstGeom prst="rect">
            <a:avLst/>
          </a:prstGeom>
          <a:noFill/>
        </p:spPr>
        <p:txBody>
          <a:bodyPr wrap="square" anchor="t">
            <a:spAutoFit/>
          </a:bodyPr>
          <a:lstStyle/>
          <a:p>
            <a:pPr algn="l"/>
            <a:r>
              <a:rPr sz="1350" b="0" i="0">
                <a:solidFill>
                  <a:srgbClr val="AEC4D0"/>
                </a:solidFill>
                <a:latin typeface="Arial"/>
              </a:rPr>
              <a:t>Final inspection, walk the homeowner through it, invoice on completion.</a:t>
            </a:r>
          </a:p>
        </p:txBody>
      </p:sp>
    </p:spTree>
  </p:cSld>
  <p:clrMapOvr>
    <a:masterClrMapping/>
  </p:clrMapOvr>
  <p:transition xmlns:p14="http://schemas.microsoft.com/office/powerpoint/2010/main" spd="med" p14:dur="500">
    <p:fade/>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191695" cy="1143000"/>
          </a:xfrm>
          <a:prstGeom prst="rect">
            <a:avLst/>
          </a:prstGeom>
          <a:solidFill>
            <a:srgbClr val="1E2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73152"/>
          </a:xfrm>
          <a:prstGeom prst="rect">
            <a:avLst/>
          </a:prstGeom>
          <a:solidFill>
            <a:srgbClr val="F2A3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92608"/>
            <a:ext cx="10058400" cy="640080"/>
          </a:xfrm>
          <a:prstGeom prst="rect">
            <a:avLst/>
          </a:prstGeom>
          <a:noFill/>
        </p:spPr>
        <p:txBody>
          <a:bodyPr wrap="square" anchor="t">
            <a:spAutoFit/>
          </a:bodyPr>
          <a:lstStyle/>
          <a:p>
            <a:pPr algn="l"/>
            <a:r>
              <a:rPr sz="3000" b="1" i="0">
                <a:solidFill>
                  <a:srgbClr val="FFFFFF"/>
                </a:solidFill>
                <a:latin typeface="Arial"/>
              </a:rPr>
              <a:t>Recent Work</a:t>
            </a:r>
          </a:p>
        </p:txBody>
      </p:sp>
      <p:sp>
        <p:nvSpPr>
          <p:cNvPr id="5" name="Rectangle 4"/>
          <p:cNvSpPr/>
          <p:nvPr/>
        </p:nvSpPr>
        <p:spPr>
          <a:xfrm>
            <a:off x="548640" y="1737360"/>
            <a:ext cx="11064240" cy="502920"/>
          </a:xfrm>
          <a:prstGeom prst="rect">
            <a:avLst/>
          </a:prstGeom>
          <a:solidFill>
            <a:srgbClr val="1C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828800"/>
            <a:ext cx="5120640" cy="365760"/>
          </a:xfrm>
          <a:prstGeom prst="rect">
            <a:avLst/>
          </a:prstGeom>
          <a:noFill/>
        </p:spPr>
        <p:txBody>
          <a:bodyPr wrap="square" anchor="t">
            <a:spAutoFit/>
          </a:bodyPr>
          <a:lstStyle/>
          <a:p>
            <a:pPr algn="l"/>
            <a:r>
              <a:rPr sz="1300" b="1" i="0">
                <a:solidFill>
                  <a:srgbClr val="FFFFFF"/>
                </a:solidFill>
                <a:latin typeface="Arial"/>
              </a:rPr>
              <a:t>Project</a:t>
            </a:r>
          </a:p>
        </p:txBody>
      </p:sp>
      <p:sp>
        <p:nvSpPr>
          <p:cNvPr id="7" name="TextBox 6"/>
          <p:cNvSpPr txBox="1"/>
          <p:nvPr/>
        </p:nvSpPr>
        <p:spPr>
          <a:xfrm>
            <a:off x="5852160" y="1828800"/>
            <a:ext cx="3291840" cy="365760"/>
          </a:xfrm>
          <a:prstGeom prst="rect">
            <a:avLst/>
          </a:prstGeom>
          <a:noFill/>
        </p:spPr>
        <p:txBody>
          <a:bodyPr wrap="square" anchor="t">
            <a:spAutoFit/>
          </a:bodyPr>
          <a:lstStyle/>
          <a:p>
            <a:pPr algn="l"/>
            <a:r>
              <a:rPr sz="1300" b="1" i="0">
                <a:solidFill>
                  <a:srgbClr val="FFFFFF"/>
                </a:solidFill>
                <a:latin typeface="Arial"/>
              </a:rPr>
              <a:t>Scope</a:t>
            </a:r>
          </a:p>
        </p:txBody>
      </p:sp>
      <p:sp>
        <p:nvSpPr>
          <p:cNvPr id="8" name="TextBox 7"/>
          <p:cNvSpPr txBox="1"/>
          <p:nvPr/>
        </p:nvSpPr>
        <p:spPr>
          <a:xfrm>
            <a:off x="9235440" y="1828800"/>
            <a:ext cx="1280160" cy="365760"/>
          </a:xfrm>
          <a:prstGeom prst="rect">
            <a:avLst/>
          </a:prstGeom>
          <a:noFill/>
        </p:spPr>
        <p:txBody>
          <a:bodyPr wrap="square" anchor="t">
            <a:spAutoFit/>
          </a:bodyPr>
          <a:lstStyle/>
          <a:p>
            <a:pPr algn="l"/>
            <a:r>
              <a:rPr sz="1300" b="1" i="0">
                <a:solidFill>
                  <a:srgbClr val="FFFFFF"/>
                </a:solidFill>
                <a:latin typeface="Arial"/>
              </a:rPr>
              <a:t>Value</a:t>
            </a:r>
          </a:p>
        </p:txBody>
      </p:sp>
      <p:sp>
        <p:nvSpPr>
          <p:cNvPr id="9" name="TextBox 8"/>
          <p:cNvSpPr txBox="1"/>
          <p:nvPr/>
        </p:nvSpPr>
        <p:spPr>
          <a:xfrm>
            <a:off x="10515600" y="1828800"/>
            <a:ext cx="1005840" cy="365760"/>
          </a:xfrm>
          <a:prstGeom prst="rect">
            <a:avLst/>
          </a:prstGeom>
          <a:noFill/>
        </p:spPr>
        <p:txBody>
          <a:bodyPr wrap="square" anchor="t">
            <a:spAutoFit/>
          </a:bodyPr>
          <a:lstStyle/>
          <a:p>
            <a:pPr algn="l"/>
            <a:r>
              <a:rPr sz="1300" b="1" i="0">
                <a:solidFill>
                  <a:srgbClr val="FFFFFF"/>
                </a:solidFill>
                <a:latin typeface="Arial"/>
              </a:rPr>
              <a:t>Status</a:t>
            </a:r>
          </a:p>
        </p:txBody>
      </p:sp>
      <p:sp>
        <p:nvSpPr>
          <p:cNvPr id="10" name="Rectangle 9"/>
          <p:cNvSpPr/>
          <p:nvPr/>
        </p:nvSpPr>
        <p:spPr>
          <a:xfrm>
            <a:off x="548640" y="2240280"/>
            <a:ext cx="11064240" cy="8229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404872"/>
            <a:ext cx="5029200" cy="548640"/>
          </a:xfrm>
          <a:prstGeom prst="rect">
            <a:avLst/>
          </a:prstGeom>
          <a:noFill/>
        </p:spPr>
        <p:txBody>
          <a:bodyPr wrap="square" anchor="t">
            <a:spAutoFit/>
          </a:bodyPr>
          <a:lstStyle/>
          <a:p>
            <a:pPr algn="l"/>
            <a:r>
              <a:rPr sz="1400" b="1" i="0">
                <a:solidFill>
                  <a:srgbClr val="22303A"/>
                </a:solidFill>
                <a:latin typeface="Arial"/>
              </a:rPr>
              <a:t>Hartwell residence, Doylestown</a:t>
            </a:r>
          </a:p>
        </p:txBody>
      </p:sp>
      <p:sp>
        <p:nvSpPr>
          <p:cNvPr id="12" name="TextBox 11"/>
          <p:cNvSpPr txBox="1"/>
          <p:nvPr/>
        </p:nvSpPr>
        <p:spPr>
          <a:xfrm>
            <a:off x="5852160" y="2423160"/>
            <a:ext cx="3200400" cy="548640"/>
          </a:xfrm>
          <a:prstGeom prst="rect">
            <a:avLst/>
          </a:prstGeom>
          <a:noFill/>
        </p:spPr>
        <p:txBody>
          <a:bodyPr wrap="square" anchor="t">
            <a:spAutoFit/>
          </a:bodyPr>
          <a:lstStyle/>
          <a:p>
            <a:pPr algn="l"/>
            <a:r>
              <a:rPr sz="1200" b="0" i="0">
                <a:solidFill>
                  <a:srgbClr val="56707E"/>
                </a:solidFill>
                <a:latin typeface="Arial"/>
              </a:rPr>
              <a:t>200 amp service panel upgrade and circuit transfer</a:t>
            </a:r>
          </a:p>
        </p:txBody>
      </p:sp>
      <p:sp>
        <p:nvSpPr>
          <p:cNvPr id="13" name="TextBox 12"/>
          <p:cNvSpPr txBox="1"/>
          <p:nvPr/>
        </p:nvSpPr>
        <p:spPr>
          <a:xfrm>
            <a:off x="9235440" y="2468880"/>
            <a:ext cx="1280160" cy="365760"/>
          </a:xfrm>
          <a:prstGeom prst="rect">
            <a:avLst/>
          </a:prstGeom>
          <a:noFill/>
        </p:spPr>
        <p:txBody>
          <a:bodyPr wrap="square" anchor="t">
            <a:spAutoFit/>
          </a:bodyPr>
          <a:lstStyle/>
          <a:p>
            <a:pPr algn="l"/>
            <a:r>
              <a:rPr sz="1300" b="1" i="0">
                <a:solidFill>
                  <a:srgbClr val="1C6FB0"/>
                </a:solidFill>
                <a:latin typeface="Arial"/>
              </a:rPr>
              <a:t>$2,460</a:t>
            </a:r>
          </a:p>
        </p:txBody>
      </p:sp>
      <p:sp>
        <p:nvSpPr>
          <p:cNvPr id="14" name="TextBox 13"/>
          <p:cNvSpPr txBox="1"/>
          <p:nvPr/>
        </p:nvSpPr>
        <p:spPr>
          <a:xfrm>
            <a:off x="10515600" y="2468880"/>
            <a:ext cx="1005840" cy="365760"/>
          </a:xfrm>
          <a:prstGeom prst="rect">
            <a:avLst/>
          </a:prstGeom>
          <a:noFill/>
        </p:spPr>
        <p:txBody>
          <a:bodyPr wrap="square" anchor="t">
            <a:spAutoFit/>
          </a:bodyPr>
          <a:lstStyle/>
          <a:p>
            <a:pPr algn="l"/>
            <a:r>
              <a:rPr sz="1200" b="1" i="0">
                <a:solidFill>
                  <a:srgbClr val="F2A30F"/>
                </a:solidFill>
                <a:latin typeface="Arial"/>
              </a:rPr>
              <a:t>Passed</a:t>
            </a:r>
          </a:p>
        </p:txBody>
      </p:sp>
      <p:sp>
        <p:nvSpPr>
          <p:cNvPr id="15" name="Rectangle 14"/>
          <p:cNvSpPr/>
          <p:nvPr/>
        </p:nvSpPr>
        <p:spPr>
          <a:xfrm>
            <a:off x="548640" y="3081528"/>
            <a:ext cx="11064240" cy="822960"/>
          </a:xfrm>
          <a:prstGeom prst="rect">
            <a:avLst/>
          </a:prstGeom>
          <a:solidFill>
            <a:srgbClr val="E9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246120"/>
            <a:ext cx="5029200" cy="548640"/>
          </a:xfrm>
          <a:prstGeom prst="rect">
            <a:avLst/>
          </a:prstGeom>
          <a:noFill/>
        </p:spPr>
        <p:txBody>
          <a:bodyPr wrap="square" anchor="t">
            <a:spAutoFit/>
          </a:bodyPr>
          <a:lstStyle/>
          <a:p>
            <a:pPr algn="l"/>
            <a:r>
              <a:rPr sz="1400" b="1" i="0">
                <a:solidFill>
                  <a:srgbClr val="22303A"/>
                </a:solidFill>
                <a:latin typeface="Arial"/>
              </a:rPr>
              <a:t>Whitmore residence, Lansdale</a:t>
            </a:r>
          </a:p>
        </p:txBody>
      </p:sp>
      <p:sp>
        <p:nvSpPr>
          <p:cNvPr id="17" name="TextBox 16"/>
          <p:cNvSpPr txBox="1"/>
          <p:nvPr/>
        </p:nvSpPr>
        <p:spPr>
          <a:xfrm>
            <a:off x="5852160" y="3264408"/>
            <a:ext cx="3200400" cy="548640"/>
          </a:xfrm>
          <a:prstGeom prst="rect">
            <a:avLst/>
          </a:prstGeom>
          <a:noFill/>
        </p:spPr>
        <p:txBody>
          <a:bodyPr wrap="square" anchor="t">
            <a:spAutoFit/>
          </a:bodyPr>
          <a:lstStyle/>
          <a:p>
            <a:pPr algn="l"/>
            <a:r>
              <a:rPr sz="1200" b="0" i="0">
                <a:solidFill>
                  <a:srgbClr val="56707E"/>
                </a:solidFill>
                <a:latin typeface="Arial"/>
              </a:rPr>
              <a:t>Whole house rewire, phased over three stages</a:t>
            </a:r>
          </a:p>
        </p:txBody>
      </p:sp>
      <p:sp>
        <p:nvSpPr>
          <p:cNvPr id="18" name="TextBox 17"/>
          <p:cNvSpPr txBox="1"/>
          <p:nvPr/>
        </p:nvSpPr>
        <p:spPr>
          <a:xfrm>
            <a:off x="9235440" y="3310128"/>
            <a:ext cx="1280160" cy="365760"/>
          </a:xfrm>
          <a:prstGeom prst="rect">
            <a:avLst/>
          </a:prstGeom>
          <a:noFill/>
        </p:spPr>
        <p:txBody>
          <a:bodyPr wrap="square" anchor="t">
            <a:spAutoFit/>
          </a:bodyPr>
          <a:lstStyle/>
          <a:p>
            <a:pPr algn="l"/>
            <a:r>
              <a:rPr sz="1300" b="1" i="0">
                <a:solidFill>
                  <a:srgbClr val="1C6FB0"/>
                </a:solidFill>
                <a:latin typeface="Arial"/>
              </a:rPr>
              <a:t>Flat rate</a:t>
            </a:r>
          </a:p>
        </p:txBody>
      </p:sp>
      <p:sp>
        <p:nvSpPr>
          <p:cNvPr id="19" name="TextBox 18"/>
          <p:cNvSpPr txBox="1"/>
          <p:nvPr/>
        </p:nvSpPr>
        <p:spPr>
          <a:xfrm>
            <a:off x="10515600" y="3310128"/>
            <a:ext cx="1005840" cy="365760"/>
          </a:xfrm>
          <a:prstGeom prst="rect">
            <a:avLst/>
          </a:prstGeom>
          <a:noFill/>
        </p:spPr>
        <p:txBody>
          <a:bodyPr wrap="square" anchor="t">
            <a:spAutoFit/>
          </a:bodyPr>
          <a:lstStyle/>
          <a:p>
            <a:pPr algn="l"/>
            <a:r>
              <a:rPr sz="1200" b="1" i="0">
                <a:solidFill>
                  <a:srgbClr val="F2A30F"/>
                </a:solidFill>
                <a:latin typeface="Arial"/>
              </a:rPr>
              <a:t>Phase 1 passed</a:t>
            </a:r>
          </a:p>
        </p:txBody>
      </p:sp>
      <p:sp>
        <p:nvSpPr>
          <p:cNvPr id="20" name="Rectangle 19"/>
          <p:cNvSpPr/>
          <p:nvPr/>
        </p:nvSpPr>
        <p:spPr>
          <a:xfrm>
            <a:off x="548640" y="3922776"/>
            <a:ext cx="11064240" cy="8229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4087368"/>
            <a:ext cx="5029200" cy="548640"/>
          </a:xfrm>
          <a:prstGeom prst="rect">
            <a:avLst/>
          </a:prstGeom>
          <a:noFill/>
        </p:spPr>
        <p:txBody>
          <a:bodyPr wrap="square" anchor="t">
            <a:spAutoFit/>
          </a:bodyPr>
          <a:lstStyle/>
          <a:p>
            <a:pPr algn="l"/>
            <a:r>
              <a:rPr sz="1400" b="1" i="0">
                <a:solidFill>
                  <a:srgbClr val="22303A"/>
                </a:solidFill>
                <a:latin typeface="Arial"/>
              </a:rPr>
              <a:t>Delgado residence, Ardmore</a:t>
            </a:r>
          </a:p>
        </p:txBody>
      </p:sp>
      <p:sp>
        <p:nvSpPr>
          <p:cNvPr id="22" name="TextBox 21"/>
          <p:cNvSpPr txBox="1"/>
          <p:nvPr/>
        </p:nvSpPr>
        <p:spPr>
          <a:xfrm>
            <a:off x="5852160" y="4105656"/>
            <a:ext cx="3200400" cy="548640"/>
          </a:xfrm>
          <a:prstGeom prst="rect">
            <a:avLst/>
          </a:prstGeom>
          <a:noFill/>
        </p:spPr>
        <p:txBody>
          <a:bodyPr wrap="square" anchor="t">
            <a:spAutoFit/>
          </a:bodyPr>
          <a:lstStyle/>
          <a:p>
            <a:pPr algn="l"/>
            <a:r>
              <a:rPr sz="1200" b="0" i="0">
                <a:solidFill>
                  <a:srgbClr val="56707E"/>
                </a:solidFill>
                <a:latin typeface="Arial"/>
              </a:rPr>
              <a:t>Dedicated 50 amp EV charger circuit</a:t>
            </a:r>
          </a:p>
        </p:txBody>
      </p:sp>
      <p:sp>
        <p:nvSpPr>
          <p:cNvPr id="23" name="TextBox 22"/>
          <p:cNvSpPr txBox="1"/>
          <p:nvPr/>
        </p:nvSpPr>
        <p:spPr>
          <a:xfrm>
            <a:off x="9235440" y="4151376"/>
            <a:ext cx="1280160" cy="365760"/>
          </a:xfrm>
          <a:prstGeom prst="rect">
            <a:avLst/>
          </a:prstGeom>
          <a:noFill/>
        </p:spPr>
        <p:txBody>
          <a:bodyPr wrap="square" anchor="t">
            <a:spAutoFit/>
          </a:bodyPr>
          <a:lstStyle/>
          <a:p>
            <a:pPr algn="l"/>
            <a:r>
              <a:rPr sz="1300" b="1" i="0">
                <a:solidFill>
                  <a:srgbClr val="1C6FB0"/>
                </a:solidFill>
                <a:latin typeface="Arial"/>
              </a:rPr>
              <a:t>$1,840</a:t>
            </a:r>
          </a:p>
        </p:txBody>
      </p:sp>
      <p:sp>
        <p:nvSpPr>
          <p:cNvPr id="24" name="TextBox 23"/>
          <p:cNvSpPr txBox="1"/>
          <p:nvPr/>
        </p:nvSpPr>
        <p:spPr>
          <a:xfrm>
            <a:off x="10515600" y="4151376"/>
            <a:ext cx="1005840" cy="365760"/>
          </a:xfrm>
          <a:prstGeom prst="rect">
            <a:avLst/>
          </a:prstGeom>
          <a:noFill/>
        </p:spPr>
        <p:txBody>
          <a:bodyPr wrap="square" anchor="t">
            <a:spAutoFit/>
          </a:bodyPr>
          <a:lstStyle/>
          <a:p>
            <a:pPr algn="l"/>
            <a:r>
              <a:rPr sz="1200" b="1" i="0">
                <a:solidFill>
                  <a:srgbClr val="F2A30F"/>
                </a:solidFill>
                <a:latin typeface="Arial"/>
              </a:rPr>
              <a:t>Scheduled</a:t>
            </a:r>
          </a:p>
        </p:txBody>
      </p:sp>
      <p:sp>
        <p:nvSpPr>
          <p:cNvPr id="25" name="Rectangle 24"/>
          <p:cNvSpPr/>
          <p:nvPr/>
        </p:nvSpPr>
        <p:spPr>
          <a:xfrm>
            <a:off x="548640" y="4764024"/>
            <a:ext cx="11064240" cy="822960"/>
          </a:xfrm>
          <a:prstGeom prst="rect">
            <a:avLst/>
          </a:prstGeom>
          <a:solidFill>
            <a:srgbClr val="E9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928616"/>
            <a:ext cx="5029200" cy="548640"/>
          </a:xfrm>
          <a:prstGeom prst="rect">
            <a:avLst/>
          </a:prstGeom>
          <a:noFill/>
        </p:spPr>
        <p:txBody>
          <a:bodyPr wrap="square" anchor="t">
            <a:spAutoFit/>
          </a:bodyPr>
          <a:lstStyle/>
          <a:p>
            <a:pPr algn="l"/>
            <a:r>
              <a:rPr sz="1400" b="1" i="0">
                <a:solidFill>
                  <a:srgbClr val="22303A"/>
                </a:solidFill>
                <a:latin typeface="Arial"/>
              </a:rPr>
              <a:t>Okafor residence, Media</a:t>
            </a:r>
          </a:p>
        </p:txBody>
      </p:sp>
      <p:sp>
        <p:nvSpPr>
          <p:cNvPr id="27" name="TextBox 26"/>
          <p:cNvSpPr txBox="1"/>
          <p:nvPr/>
        </p:nvSpPr>
        <p:spPr>
          <a:xfrm>
            <a:off x="5852160" y="4946904"/>
            <a:ext cx="3200400" cy="548640"/>
          </a:xfrm>
          <a:prstGeom prst="rect">
            <a:avLst/>
          </a:prstGeom>
          <a:noFill/>
        </p:spPr>
        <p:txBody>
          <a:bodyPr wrap="square" anchor="t">
            <a:spAutoFit/>
          </a:bodyPr>
          <a:lstStyle/>
          <a:p>
            <a:pPr algn="l"/>
            <a:r>
              <a:rPr sz="1200" b="0" i="0">
                <a:solidFill>
                  <a:srgbClr val="56707E"/>
                </a:solidFill>
                <a:latin typeface="Arial"/>
              </a:rPr>
              <a:t>GFCI protection and smoke detectors</a:t>
            </a:r>
          </a:p>
        </p:txBody>
      </p:sp>
      <p:sp>
        <p:nvSpPr>
          <p:cNvPr id="28" name="TextBox 27"/>
          <p:cNvSpPr txBox="1"/>
          <p:nvPr/>
        </p:nvSpPr>
        <p:spPr>
          <a:xfrm>
            <a:off x="9235440" y="4992624"/>
            <a:ext cx="1280160" cy="365760"/>
          </a:xfrm>
          <a:prstGeom prst="rect">
            <a:avLst/>
          </a:prstGeom>
          <a:noFill/>
        </p:spPr>
        <p:txBody>
          <a:bodyPr wrap="square" anchor="t">
            <a:spAutoFit/>
          </a:bodyPr>
          <a:lstStyle/>
          <a:p>
            <a:pPr algn="l"/>
            <a:r>
              <a:rPr sz="1300" b="1" i="0">
                <a:solidFill>
                  <a:srgbClr val="1C6FB0"/>
                </a:solidFill>
                <a:latin typeface="Arial"/>
              </a:rPr>
              <a:t>$310</a:t>
            </a:r>
          </a:p>
        </p:txBody>
      </p:sp>
      <p:sp>
        <p:nvSpPr>
          <p:cNvPr id="29" name="TextBox 28"/>
          <p:cNvSpPr txBox="1"/>
          <p:nvPr/>
        </p:nvSpPr>
        <p:spPr>
          <a:xfrm>
            <a:off x="10515600" y="4992624"/>
            <a:ext cx="1005840" cy="365760"/>
          </a:xfrm>
          <a:prstGeom prst="rect">
            <a:avLst/>
          </a:prstGeom>
          <a:noFill/>
        </p:spPr>
        <p:txBody>
          <a:bodyPr wrap="square" anchor="t">
            <a:spAutoFit/>
          </a:bodyPr>
          <a:lstStyle/>
          <a:p>
            <a:pPr algn="l"/>
            <a:r>
              <a:rPr sz="1200" b="1" i="0">
                <a:solidFill>
                  <a:srgbClr val="2E7D32"/>
                </a:solidFill>
                <a:latin typeface="Arial"/>
              </a:rPr>
              <a:t>Complete</a:t>
            </a:r>
          </a:p>
        </p:txBody>
      </p:sp>
    </p:spTree>
  </p:cSld>
  <p:clrMapOvr>
    <a:masterClrMapping/>
  </p:clrMapOvr>
  <p:transition xmlns:p14="http://schemas.microsoft.com/office/powerpoint/2010/main" spd="med" p14:dur="500">
    <p:fade/>
  </p:transition>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E2A33"/>
        </a:solidFill>
        <a:effectLst/>
      </p:bgPr>
    </p:bg>
    <p:spTree>
      <p:nvGrpSpPr>
        <p:cNvPr id="1" name=""/>
        <p:cNvGrpSpPr/>
        <p:nvPr/>
      </p:nvGrpSpPr>
      <p:grpSpPr/>
      <p:sp>
        <p:nvSpPr>
          <p:cNvPr id="2" name="Rectangle 1"/>
          <p:cNvSpPr/>
          <p:nvPr/>
        </p:nvSpPr>
        <p:spPr>
          <a:xfrm>
            <a:off x="3931920" y="1280160"/>
            <a:ext cx="4297680" cy="109728"/>
          </a:xfrm>
          <a:prstGeom prst="rect">
            <a:avLst/>
          </a:prstGeom>
          <a:solidFill>
            <a:srgbClr val="F2A3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0"/>
            <a:ext cx="11064240" cy="822960"/>
          </a:xfrm>
          <a:prstGeom prst="rect">
            <a:avLst/>
          </a:prstGeom>
          <a:noFill/>
        </p:spPr>
        <p:txBody>
          <a:bodyPr wrap="square" anchor="t">
            <a:spAutoFit/>
          </a:bodyPr>
          <a:lstStyle/>
          <a:p>
            <a:pPr algn="ctr"/>
            <a:r>
              <a:rPr sz="4000" b="1" i="0">
                <a:solidFill>
                  <a:srgbClr val="FFFFFF"/>
                </a:solidFill>
                <a:latin typeface="Arial"/>
              </a:rPr>
              <a:t>Kelly Electric LLC</a:t>
            </a:r>
          </a:p>
        </p:txBody>
      </p:sp>
      <p:sp>
        <p:nvSpPr>
          <p:cNvPr id="4" name="TextBox 3"/>
          <p:cNvSpPr txBox="1"/>
          <p:nvPr/>
        </p:nvSpPr>
        <p:spPr>
          <a:xfrm>
            <a:off x="548640" y="2926080"/>
            <a:ext cx="11064240" cy="2011680"/>
          </a:xfrm>
          <a:prstGeom prst="rect">
            <a:avLst/>
          </a:prstGeom>
          <a:noFill/>
        </p:spPr>
        <p:txBody>
          <a:bodyPr wrap="square" anchor="t">
            <a:spAutoFit/>
          </a:bodyPr>
          <a:lstStyle/>
          <a:p>
            <a:pPr algn="ctr">
              <a:lnSpc>
                <a:spcPct val="140000"/>
              </a:lnSpc>
            </a:pPr>
            <a:r>
              <a:rPr sz="1800" b="0" i="0">
                <a:solidFill>
                  <a:srgbClr val="AEC4D0"/>
                </a:solidFill>
                <a:latin typeface="Arial"/>
              </a:rPr>
              <a:t>417 Brookmead Street, Philadelphia, PA 19111</a:t>
            </a:r>
          </a:p>
          <a:p>
            <a:pPr algn="ctr">
              <a:lnSpc>
                <a:spcPct val="140000"/>
              </a:lnSpc>
            </a:pPr>
            <a:r>
              <a:rPr sz="1800" b="0" i="0">
                <a:solidFill>
                  <a:srgbClr val="AEC4D0"/>
                </a:solidFill>
                <a:latin typeface="Arial"/>
              </a:rPr>
              <a:t>(215) 555-0288</a:t>
            </a:r>
          </a:p>
          <a:p>
            <a:pPr algn="ctr">
              <a:lnSpc>
                <a:spcPct val="140000"/>
              </a:lnSpc>
            </a:pPr>
            <a:r>
              <a:rPr sz="1800" b="0" i="0">
                <a:solidFill>
                  <a:srgbClr val="AEC4D0"/>
                </a:solidFill>
                <a:latin typeface="Arial"/>
              </a:rPr>
              <a:t>brandon.kelly@greenridertech.co</a:t>
            </a:r>
          </a:p>
          <a:p>
            <a:pPr algn="ctr">
              <a:lnSpc>
                <a:spcPct val="140000"/>
              </a:lnSpc>
            </a:pPr>
            <a:r>
              <a:rPr sz="1800" b="0" i="0">
                <a:solidFill>
                  <a:srgbClr val="AEC4D0"/>
                </a:solidFill>
                <a:latin typeface="Arial"/>
              </a:rPr>
              <a:t>License ME-118455  |  EIN 87-3041926</a:t>
            </a:r>
          </a:p>
          <a:p>
            <a:pPr algn="ctr">
              <a:lnSpc>
                <a:spcPct val="140000"/>
              </a:lnSpc>
            </a:pPr>
            <a:r>
              <a:rPr sz="1800" b="0" i="0">
                <a:solidFill>
                  <a:srgbClr val="AEC4D0"/>
                </a:solidFill>
                <a:latin typeface="Arial"/>
              </a:rPr>
              <a:t>Licensed and insured  |  Free estimates</a:t>
            </a:r>
          </a:p>
        </p:txBody>
      </p:sp>
    </p:spTree>
  </p:cSld>
  <p:clrMapOvr>
    <a:masterClrMapping/>
  </p:clrMapOvr>
  <p:transition xmlns:p14="http://schemas.microsoft.com/office/powerpoint/2010/main" spd="med" p14:dur="50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