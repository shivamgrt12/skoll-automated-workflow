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7A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5080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2331"/>
                </a:solidFill>
                <a:latin typeface="Georgia"/>
              </a:rPr>
              <a:t>PHARMACOLOGY II  |  MIDTERM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7A2331"/>
                </a:solidFill>
                <a:latin typeface="Georgia"/>
              </a:rPr>
              <a:t>Pharmacology II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2E2A28"/>
                </a:solidFill>
                <a:latin typeface="Georgia"/>
              </a:rPr>
              <a:t>Midterm Study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3E8D7"/>
                </a:solidFill>
                <a:latin typeface="Calibri"/>
              </a:rPr>
              <a:t>Cardiovascular drugs, anticoagulants, diuretics, and diabetic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3CCA8"/>
                </a:solidFill>
                <a:latin typeface="Calibri"/>
              </a:rPr>
              <a:t>NURS 415  |  Exam: November 17, 2026, 2:00 PM  |  Brandon Wright</a:t>
            </a:r>
          </a:p>
        </p:txBody>
      </p:sp>
    </p:spTree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1201400" cy="914400"/>
          </a:xfrm>
          <a:prstGeom prst="roundRect">
            <a:avLst/>
          </a:prstGeom>
          <a:solidFill>
            <a:srgbClr val="7A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Georgia"/>
              </a:rPr>
              <a:t>ACE Inhibitors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9D4B4"/>
                </a:solidFill>
                <a:latin typeface="Calibri"/>
              </a:rPr>
              <a:t>The prils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2331"/>
                </a:solidFill>
                <a:latin typeface="Georgia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6858000" cy="4023360"/>
          </a:xfrm>
          <a:prstGeom prst="roundRect">
            <a:avLst/>
          </a:prstGeom>
          <a:solidFill>
            <a:srgbClr val="F1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6858000" cy="4445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A2331"/>
                </a:solidFill>
                <a:latin typeface="Georgia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11680"/>
            <a:ext cx="64922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Examples: lisinopril, enalapril, ramipril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Action: block conversion of angiotensin I to II, lower blood pressure and afterload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Watch for: dry cough, hyperkalemia, first-dose hypotension, angioedema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Teaching: rise slowly, report swelling of lips or tongue, avoid salt substitutes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54480"/>
            <a:ext cx="4069080" cy="1828800"/>
          </a:xfrm>
          <a:prstGeom prst="roundRect">
            <a:avLst/>
          </a:prstGeom>
          <a:solidFill>
            <a:srgbClr val="F1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554480"/>
            <a:ext cx="4069080" cy="4445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673352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A2331"/>
                </a:solidFill>
                <a:latin typeface="Georgia"/>
              </a:rPr>
              <a:t>Memory 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011680"/>
            <a:ext cx="3703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41F1D"/>
                </a:solidFill>
                <a:latin typeface="Calibri"/>
              </a:rPr>
              <a:t>Prils make you cough. The dry cough is the classic test answer.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1201400" cy="914400"/>
          </a:xfrm>
          <a:prstGeom prst="roundRect">
            <a:avLst/>
          </a:prstGeom>
          <a:solidFill>
            <a:srgbClr val="7A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Georgia"/>
              </a:rPr>
              <a:t>Beta 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9D4B4"/>
                </a:solidFill>
                <a:latin typeface="Calibri"/>
              </a:rPr>
              <a:t>The olols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2331"/>
                </a:solidFill>
                <a:latin typeface="Georgia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6858000" cy="3383280"/>
          </a:xfrm>
          <a:prstGeom prst="roundRect">
            <a:avLst/>
          </a:prstGeom>
          <a:solidFill>
            <a:srgbClr val="F1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6858000" cy="4445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A2331"/>
                </a:solidFill>
                <a:latin typeface="Georgia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11680"/>
            <a:ext cx="64922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Examples: metoprolol, carvedilol, atenolol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Action: block beta receptors, slow heart rate, reduce workload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Watch for: bradycardia, masked hypoglycemia, do not stop abruptly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54480"/>
            <a:ext cx="4069080" cy="2011680"/>
          </a:xfrm>
          <a:prstGeom prst="roundRect">
            <a:avLst/>
          </a:prstGeom>
          <a:solidFill>
            <a:srgbClr val="F1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554480"/>
            <a:ext cx="4069080" cy="4445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673352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A2331"/>
                </a:solidFill>
                <a:latin typeface="Georgia"/>
              </a:rPr>
              <a:t>Memory 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011680"/>
            <a:ext cx="3703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41F1D"/>
                </a:solidFill>
                <a:latin typeface="Calibri"/>
              </a:rPr>
              <a:t>Hold the dose if heart rate is under 60. Check the apical pulse first.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1201400" cy="914400"/>
          </a:xfrm>
          <a:prstGeom prst="roundRect">
            <a:avLst/>
          </a:prstGeom>
          <a:solidFill>
            <a:srgbClr val="7A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Georgia"/>
              </a:rPr>
              <a:t>Diuretics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9D4B4"/>
                </a:solidFill>
                <a:latin typeface="Calibri"/>
              </a:rPr>
              <a:t>Class, example, electrolyte, teaching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2331"/>
                </a:solidFill>
                <a:latin typeface="Georgia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20140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8880"/>
                <a:gridCol w="2743200"/>
                <a:gridCol w="256032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91440" marR="73152" marT="27432" marB="27432" anchor="ctr">
                    <a:solidFill>
                      <a:srgbClr val="7A233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1440" marR="73152" marT="27432" marB="27432" anchor="ctr">
                    <a:solidFill>
                      <a:srgbClr val="7A233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Key electrolyte</a:t>
                      </a:r>
                    </a:p>
                  </a:txBody>
                  <a:tcPr marL="91440" marR="73152" marT="27432" marB="27432" anchor="ctr">
                    <a:solidFill>
                      <a:srgbClr val="7A233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Teaching</a:t>
                      </a:r>
                    </a:p>
                  </a:txBody>
                  <a:tcPr marL="91440" marR="73152" marT="27432" marB="27432" anchor="ctr">
                    <a:solidFill>
                      <a:srgbClr val="7A233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Loop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furosemide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Loses potassium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Daytime dosing, monitor potassium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Thiazide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hydrochlorothiazide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Loses potassium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Sun sensitivity, monitor glucose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Potassium-sparing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spironolactone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Keeps potassium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Watch for hyperkalemia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297680"/>
            <a:ext cx="6400800" cy="1188720"/>
          </a:xfrm>
          <a:prstGeom prst="roundRect">
            <a:avLst/>
          </a:prstGeom>
          <a:solidFill>
            <a:srgbClr val="F1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297680"/>
            <a:ext cx="6400800" cy="4445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416552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A2331"/>
                </a:solidFill>
                <a:latin typeface="Georgia"/>
              </a:rPr>
              <a:t>Memory 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754880"/>
            <a:ext cx="6035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41F1D"/>
                </a:solidFill>
                <a:latin typeface="Calibri"/>
              </a:rPr>
              <a:t>Loops Lose potassium, Spironolactone Spares it.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1201400" cy="914400"/>
          </a:xfrm>
          <a:prstGeom prst="roundRect">
            <a:avLst/>
          </a:prstGeom>
          <a:solidFill>
            <a:srgbClr val="7A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Georgia"/>
              </a:rPr>
              <a:t>Anticoagulants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9D4B4"/>
                </a:solidFill>
                <a:latin typeface="Calibri"/>
              </a:rPr>
              <a:t>Heparin and warfarin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2331"/>
                </a:solidFill>
                <a:latin typeface="Georgia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6858000" cy="3383280"/>
          </a:xfrm>
          <a:prstGeom prst="roundRect">
            <a:avLst/>
          </a:prstGeom>
          <a:solidFill>
            <a:srgbClr val="F1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6858000" cy="4445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A2331"/>
                </a:solidFill>
                <a:latin typeface="Georgia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11680"/>
            <a:ext cx="64922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Heparin: monitor aPTT, antidote is protamine sulfate, given IV or subcutaneous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Warfarin: monitor INR (target 2 to 3), antidote is vitamin K, many food interactions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241F1D"/>
                </a:solidFill>
                <a:latin typeface="Calibri"/>
              </a:rPr>
              <a:t>•  Teaching: consistent vitamin K intake on warfarin, watch for bleeding, soft toothbrush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54480"/>
            <a:ext cx="4069080" cy="2011680"/>
          </a:xfrm>
          <a:prstGeom prst="roundRect">
            <a:avLst/>
          </a:prstGeom>
          <a:solidFill>
            <a:srgbClr val="F1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554480"/>
            <a:ext cx="4069080" cy="4445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673352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A2331"/>
                </a:solidFill>
                <a:latin typeface="Georgia"/>
              </a:rPr>
              <a:t>Memory 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011680"/>
            <a:ext cx="3703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41F1D"/>
                </a:solidFill>
                <a:latin typeface="Calibri"/>
              </a:rPr>
              <a:t>PT goes with warfarin, PTT goes with heparin. Both pairs start with the same letters.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1201400" cy="914400"/>
          </a:xfrm>
          <a:prstGeom prst="roundRect">
            <a:avLst/>
          </a:prstGeom>
          <a:solidFill>
            <a:srgbClr val="7A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Georgia"/>
              </a:rPr>
              <a:t>Insulin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9D4B4"/>
                </a:solidFill>
                <a:latin typeface="Calibri"/>
              </a:rPr>
              <a:t>Onset and peak by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2331"/>
                </a:solidFill>
                <a:latin typeface="Georgia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2014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/>
                <a:gridCol w="3108960"/>
                <a:gridCol w="2743200"/>
                <a:gridCol w="2971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73152" marT="27432" marB="27432" anchor="ctr">
                    <a:solidFill>
                      <a:srgbClr val="7A233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1440" marR="73152" marT="27432" marB="27432" anchor="ctr">
                    <a:solidFill>
                      <a:srgbClr val="7A233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Onset</a:t>
                      </a:r>
                    </a:p>
                  </a:txBody>
                  <a:tcPr marL="91440" marR="73152" marT="27432" marB="27432" anchor="ctr">
                    <a:solidFill>
                      <a:srgbClr val="7A233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Peak</a:t>
                      </a:r>
                    </a:p>
                  </a:txBody>
                  <a:tcPr marL="91440" marR="73152" marT="27432" marB="27432" anchor="ctr">
                    <a:solidFill>
                      <a:srgbClr val="7A233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Rapid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lispro, aspart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15 minutes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1 hour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Short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30 minutes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2 to 3 hours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NPH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2 hours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6 to 8 hours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glargine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1 to 2 hours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1F1D"/>
                          </a:solidFill>
                          <a:latin typeface="Calibri"/>
                        </a:rPr>
                        <a:t>No true peak</a:t>
                      </a:r>
                    </a:p>
                  </a:txBody>
                  <a:tcPr marL="91440" marR="73152" marT="27432" marB="27432" anchor="ctr">
                    <a:solidFill>
                      <a:srgbClr val="F1E6D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663440"/>
            <a:ext cx="11201400" cy="1005840"/>
          </a:xfrm>
          <a:prstGeom prst="roundRect">
            <a:avLst/>
          </a:prstGeom>
          <a:solidFill>
            <a:srgbClr val="F1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663440"/>
            <a:ext cx="11201400" cy="4445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78231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A2331"/>
                </a:solidFill>
                <a:latin typeface="Georgia"/>
              </a:rPr>
              <a:t>Memory 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120640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41F1D"/>
                </a:solidFill>
                <a:latin typeface="Calibri"/>
              </a:rPr>
              <a:t>Only regular insulin goes IV. Glargine is never mixed. Drawing up two insulins: clear before cloudy, regular before NPH.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2026-11-10T09:00:00Z</dcterms:created>
  <dcterms:modified xsi:type="dcterms:W3CDTF">2026-11-10T09:00:00Z</dcterms:modified>
  <cp:category/>
</cp:coreProperties>
</file>