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40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FC6C0"/>
                </a:solidFill>
                <a:latin typeface="Trebuchet MS"/>
              </a:rPr>
              <a:t>PATHOPHYSIOLOGY II  |  MODULE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Trebuchet MS"/>
              </a:rPr>
              <a:t>Heart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429000"/>
            <a:ext cx="2194560" cy="6350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FE3E0"/>
                </a:solidFill>
                <a:latin typeface="Calibri"/>
              </a:rPr>
              <a:t>Exam review notes, compiled before the December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035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FB6B0"/>
                </a:solidFill>
                <a:latin typeface="Calibri"/>
              </a:rPr>
              <a:t>NURS 418  |  Instructor: Dr. R. Halvorsen  |  Brandon Wright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780215" cy="1097280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4C4C"/>
                </a:solidFill>
                <a:latin typeface="Trebuchet MS"/>
              </a:rPr>
              <a:t>Defining Heart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7132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A42"/>
                </a:solidFill>
                <a:latin typeface="Calibri"/>
              </a:rPr>
              <a:t>The starting definitions to lock in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1828800" cy="3810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3A42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6675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Inability of the heart to pump blood at a rate that meets metabolic demand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Classified as left-sided, right-sided, systolic, or diastolic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Ejection fraction separates HFrEF (40 percent or less) from HFpEF (50 percent or more)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3931920" cy="2194560"/>
          </a:xfrm>
          <a:prstGeom prst="round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57150" cy="219456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4592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674A"/>
                </a:solidFill>
                <a:latin typeface="Trebuchet MS"/>
              </a:rPr>
              <a:t>Bench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38528"/>
            <a:ext cx="3611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2426"/>
                </a:solidFill>
                <a:latin typeface="Calibri"/>
              </a:rPr>
              <a:t>EF is the number Professor Chen asks for first. Below 40 is reduced. Memorize the cutoffs cold before the December final.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780215" cy="1097280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4C4C"/>
                </a:solidFill>
                <a:latin typeface="Trebuchet MS"/>
              </a:rPr>
              <a:t>Left-Sided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7132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A42"/>
                </a:solidFill>
                <a:latin typeface="Calibri"/>
              </a:rPr>
              <a:t>Lungs are wet, so the signs are respiratory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1828800" cy="3810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3A42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6675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Blood backs up into the pulmonary circulation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Hallmark signs: dyspnea, orthopnea, crackles, pink frothy sputum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Leads to right-sided failure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3931920" cy="1828800"/>
          </a:xfrm>
          <a:prstGeom prst="round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57150" cy="182880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4592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674A"/>
                </a:solidFill>
                <a:latin typeface="Trebuchet MS"/>
              </a:rP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38528"/>
            <a:ext cx="3611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2426"/>
                </a:solidFill>
                <a:latin typeface="Calibri"/>
              </a:rPr>
              <a:t>Left equals Lungs. That one stuck. Respiratory signs point left.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780215" cy="1097280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4C4C"/>
                </a:solidFill>
                <a:latin typeface="Trebuchet MS"/>
              </a:rPr>
              <a:t>Right-Sided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7132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A42"/>
                </a:solidFill>
                <a:latin typeface="Calibri"/>
              </a:rPr>
              <a:t>Backup into the rest of the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1828800" cy="3810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3A42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6675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Blood backs up into the systemic circulation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Hallmark signs: jugular venous distension, peripheral edema, hepatomegaly, ascites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Most common cause is left-sided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3931920" cy="2011680"/>
          </a:xfrm>
          <a:prstGeom prst="round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57150" cy="201168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4592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674A"/>
                </a:solidFill>
                <a:latin typeface="Trebuchet MS"/>
              </a:rP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38528"/>
            <a:ext cx="3611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2426"/>
                </a:solidFill>
                <a:latin typeface="Calibri"/>
              </a:rPr>
              <a:t>Right equals Rest of the body. JVD and pitting edema are the giveaways on assessment.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780215" cy="1097280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4C4C"/>
                </a:solidFill>
                <a:latin typeface="Trebuchet MS"/>
              </a:rPr>
              <a:t>Compensatory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7132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A42"/>
                </a:solidFill>
                <a:latin typeface="Calibri"/>
              </a:rPr>
              <a:t>Why compensation becomes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1828800" cy="3810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3A42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6675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Sympathetic activation raises heart rate and contractility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RAAS activation causes sodium and water retention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B2426"/>
                </a:solidFill>
                <a:latin typeface="Calibri"/>
              </a:rPr>
              <a:t>•  Ventricular remodeling and hypertrophy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3931920" cy="2377440"/>
          </a:xfrm>
          <a:prstGeom prst="round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57150" cy="237744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4592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674A"/>
                </a:solidFill>
                <a:latin typeface="Trebuchet MS"/>
              </a:rPr>
              <a:t>Tie to Pharm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38528"/>
            <a:ext cx="36118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2426"/>
                </a:solidFill>
                <a:latin typeface="Calibri"/>
              </a:rPr>
              <a:t>Compensation becomes the problem. RAAS is why we give ACE inhibitors and diuretics. Pair this with the Pharm II diuretic and ACE inhibitor content.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780215" cy="1097280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4C4C"/>
                </a:solidFill>
                <a:latin typeface="Trebuchet MS"/>
              </a:rPr>
              <a:t>Exam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7132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A42"/>
                </a:solidFill>
                <a:latin typeface="Calibri"/>
              </a:rPr>
              <a:t>Comprehensive final, fall 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1828800" cy="3810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3A42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554480"/>
          <a:ext cx="713232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1760"/>
                <a:gridCol w="4480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73152" marT="27432" marB="27432" anchor="ctr">
                    <a:solidFill>
                      <a:srgbClr val="0F4C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91440" marR="73152" marT="27432" marB="27432" anchor="ctr">
                    <a:solidFill>
                      <a:srgbClr val="0F4C4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26"/>
                          </a:solidFill>
                          <a:latin typeface="Calibri"/>
                        </a:rPr>
                        <a:t>Comprehensive final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26"/>
                          </a:solidFill>
                          <a:latin typeface="Calibri"/>
                        </a:rPr>
                        <a:t>December 18, 2:00 PM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26"/>
                          </a:solidFill>
                          <a:latin typeface="Calibri"/>
                        </a:rPr>
                        <a:t>Paired module</a:t>
                      </a:r>
                    </a:p>
                  </a:txBody>
                  <a:tcPr marL="91440" marR="73152" marT="27432" marB="27432" anchor="ctr">
                    <a:solidFill>
                      <a:srgbClr val="E6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26"/>
                          </a:solidFill>
                          <a:latin typeface="Calibri"/>
                        </a:rPr>
                        <a:t>Pharm II: diuretics and ACE inhibitors</a:t>
                      </a:r>
                    </a:p>
                  </a:txBody>
                  <a:tcPr marL="91440" marR="73152" marT="27432" marB="27432" anchor="ctr">
                    <a:solidFill>
                      <a:srgbClr val="E6F1E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26"/>
                          </a:solidFill>
                          <a:latin typeface="Calibri"/>
                        </a:rPr>
                        <a:t>First question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26"/>
                          </a:solidFill>
                          <a:latin typeface="Calibri"/>
                        </a:rPr>
                        <a:t>Ejection fraction and the HFrEF vs HFpEF cutoff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26"/>
                          </a:solidFill>
                          <a:latin typeface="Calibri"/>
                        </a:rPr>
                        <a:t>Assessment focus</a:t>
                      </a:r>
                    </a:p>
                  </a:txBody>
                  <a:tcPr marL="91440" marR="73152" marT="27432" marB="27432" anchor="ctr">
                    <a:solidFill>
                      <a:srgbClr val="E6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26"/>
                          </a:solidFill>
                          <a:latin typeface="Calibri"/>
                        </a:rPr>
                        <a:t>Match left vs right signs to the failing side</a:t>
                      </a:r>
                    </a:p>
                  </a:txBody>
                  <a:tcPr marL="91440" marR="73152" marT="27432" marB="27432" anchor="ctr">
                    <a:solidFill>
                      <a:srgbClr val="E6F1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38160" y="1554480"/>
            <a:ext cx="3474720" cy="2194560"/>
          </a:xfrm>
          <a:prstGeom prst="round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554480"/>
            <a:ext cx="57150" cy="2194560"/>
          </a:xfrm>
          <a:prstGeom prst="rect">
            <a:avLst/>
          </a:prstGeom>
          <a:solidFill>
            <a:srgbClr val="E2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674A"/>
                </a:solidFill>
                <a:latin typeface="Trebuchet MS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38528"/>
            <a:ext cx="3154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2426"/>
                </a:solidFill>
                <a:latin typeface="Calibri"/>
              </a:rPr>
              <a:t>Two passes before the eighteenth. Flashcards first, then teach it back to Hannah over coffee.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2026-11-20T09:00:00Z</dcterms:created>
  <dcterms:modified xsi:type="dcterms:W3CDTF">2026-11-20T09:00:00Z</dcterms:modified>
  <cp:category/>
</cp:coreProperties>
</file>