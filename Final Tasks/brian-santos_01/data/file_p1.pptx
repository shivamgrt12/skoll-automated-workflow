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prena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0"/>
            <a:ext cx="37764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21040" y="0"/>
            <a:ext cx="109728" cy="685800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371600"/>
            <a:ext cx="7040880" cy="73152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Evidence-Based Midwifery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EE3ED"/>
                </a:solidFill>
              </a:rPr>
              <a:t>Trends in Intrapartum Care and Postpartum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749039"/>
            <a:ext cx="45720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017"/>
                </a:solidFill>
              </a:rPr>
              <a:t>Brian E. Santos, CNM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EE3ED"/>
                </a:solidFill>
              </a:rPr>
              <a:t>Willow Creek Midwifery  |  Asheville, 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ACNM Continuing Education  |  3.0 CEU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December 2026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10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11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8" presetID="1" presetClass="entr" presetSubtype="0" fill="hold" grpId="2" nodeType="clickEffect">
                      <p:stCondLst>
                        <p:cond delay="60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12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presetID="1" presetClass="entr" presetSubtype="0" fill="hold" grpId="3" nodeType="clickEffect">
                      <p:stCondLst>
                        <p:cond delay="9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3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6" presetID="1" presetClass="entr" presetSubtype="0" fill="hold" grpId="4" nodeType="clickEffect">
                      <p:stCondLst>
                        <p:cond delay="1200"/>
                      </p:stCondLst>
                      <p:childTnLst>
                        <p:set>
                          <p:cBhvr>
                            <p:cTn id="27" dur="1" fill="hold"/>
                            <p:tgtEl>
                              <p:spTgt spid="14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3ED"/>
                </a:solidFill>
              </a:rPr>
              <a:t>After completing this module, participants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1457432" cy="658368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 Identify current evidence on active management of the third stage of labor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33472"/>
            <a:ext cx="11457432" cy="658368"/>
          </a:xfrm>
          <a:prstGeom prst="rect">
            <a:avLst/>
          </a:prstGeom>
          <a:solidFill>
            <a:srgbClr val="1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79191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 Describe risk stratification approaches for postpartum hemorrhage prevention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38144"/>
            <a:ext cx="11457432" cy="658368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83863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 Compare pharmacological agents used in PPH prophylaxis and treatment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42816"/>
            <a:ext cx="11457432" cy="658368"/>
          </a:xfrm>
          <a:prstGeom prst="rect">
            <a:avLst/>
          </a:prstGeom>
          <a:solidFill>
            <a:srgbClr val="1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28853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  Apply shared decision-making frameworks to labor support interventions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47488"/>
            <a:ext cx="11457432" cy="658368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9320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  Evaluate documentation requirements for quality improvement reporting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10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11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8" presetID="1" presetClass="entr" presetSubtype="0" fill="hold" grpId="2" nodeType="clickEffect">
                      <p:stCondLst>
                        <p:cond delay="60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12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presetID="1" presetClass="entr" presetSubtype="0" fill="hold" grpId="3" nodeType="clickEffect">
                      <p:stCondLst>
                        <p:cond delay="9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3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6" presetID="1" presetClass="entr" presetSubtype="0" fill="hold" grpId="4" nodeType="clickEffect">
                      <p:stCondLst>
                        <p:cond delay="1200"/>
                      </p:stCondLst>
                      <p:childTnLst>
                        <p:set>
                          <p:cBhvr>
                            <p:cTn id="27" dur="1" fill="hold"/>
                            <p:tgtEl>
                              <p:spTgt spid="14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Postpartum Hemorrhage: Scope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4864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PPH defined as cumulative blood loss &gt;= 1,000 mL or hemodynamic instability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39112"/>
            <a:ext cx="54864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93391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Accounts for ~27% of maternal deaths globally (WHO, 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35224"/>
            <a:ext cx="54864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U.S. severe maternal morbidity from hemorrhage up 27% since 2008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831335"/>
            <a:ext cx="54864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85615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Uterine atony responsible for 70-80% of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727448"/>
            <a:ext cx="54864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681728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ACNM recommends universal AMTSL for all births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09728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143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Severe PPH Rates per 1,000 Births by Setting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17025"/>
            <a:ext cx="628650" cy="2909454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015857"/>
            <a:ext cx="62865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6153912"/>
            <a:ext cx="7200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Hospital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554480"/>
            <a:ext cx="628650" cy="457200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353312"/>
            <a:ext cx="62865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6153912"/>
            <a:ext cx="7200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Freestanding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256116"/>
            <a:ext cx="628650" cy="1870363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54948"/>
            <a:ext cx="62865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6153912"/>
            <a:ext cx="7200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Birth Ctr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2385752"/>
            <a:ext cx="628650" cy="3740727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184584"/>
            <a:ext cx="62865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6153912"/>
            <a:ext cx="7200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Academic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98480" y="3840480"/>
            <a:ext cx="628650" cy="228600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3639312"/>
            <a:ext cx="62865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59" y="6153912"/>
            <a:ext cx="7200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Integrated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25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26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8" presetID="1" presetClass="entr" presetSubtype="0" fill="hold" grpId="2" nodeType="clickEffect">
                      <p:stCondLst>
                        <p:cond delay="60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27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presetID="1" presetClass="entr" presetSubtype="0" fill="hold" grpId="3" nodeType="clickEffect">
                      <p:stCondLst>
                        <p:cond delay="9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28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6" presetID="1" presetClass="entr" presetSubtype="0" fill="hold" grpId="4" nodeType="clickEffect">
                      <p:stCondLst>
                        <p:cond delay="1200"/>
                      </p:stCondLst>
                      <p:childTnLst>
                        <p:set>
                          <p:cBhvr>
                            <p:cTn id="27" dur="1" fill="hold"/>
                            <p:tgtEl>
                              <p:spTgt spid="29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presetID="1" presetClass="entr" presetSubtype="0" fill="hold" grpId="5" nodeType="clickEffect">
                      <p:stCondLst>
                        <p:cond delay="150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30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Active Management of the Third Stage of Labor (AMTSL)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6E"/>
                </a:solidFill>
              </a:rPr>
              <a:t>Core components and evidence quality (ACNM Clinical Bulletin No. 13)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08760"/>
          <a:ext cx="116403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Evidence Level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Uterotonic administration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Within 1 min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Level I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Oxytocin 10 IU IM/IV; carbetocin where available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Delayed cord clamping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30-60 sec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Level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WHO 2023: benefits outweigh risks, all term/preterm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Controlled cord traction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After contraction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Level II-2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Optional if uterotonic given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Uterine massage (postpartum)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After placenta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Level II-3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Reserve for atony; not routine with uterotonic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Fundal pressure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During placenta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Level III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Avoid without patient consent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Skin-to-skin + breastfeeding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Immediately after birth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Level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Supports endogenous oxytocin; promotes bonding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4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5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Pharmacological Agents: First and Second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69280" cy="237744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Oxytocin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10-40 IU/500mL NS IV
10 IU IM; Onset 1-2 min 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69164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EE3ED"/>
                </a:solidFill>
              </a:rPr>
              <a:t>First-line. Short half-life 3-17 min. Side effects: hypotension, water retention.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669280" cy="2377440"/>
          </a:xfrm>
          <a:prstGeom prst="rect">
            <a:avLst/>
          </a:prstGeom>
          <a:solidFill>
            <a:srgbClr val="5A4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5669280" cy="457200"/>
          </a:xfrm>
          <a:prstGeom prst="rect">
            <a:avLst/>
          </a:prstGeom>
          <a:solidFill>
            <a:srgbClr val="A07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Carboprost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0.25 mg IM q15min
Max 8 doses; Onset 3-5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69164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EE3ED"/>
                </a:solidFill>
              </a:rPr>
              <a:t>Contraindicated in asthma. GI side effects common. Very effective for atony.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5669280" cy="237744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669280" cy="45720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Misoprostol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600-1,000 mcg sublingual
or rectal; Onset 3-5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343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EE3ED"/>
                </a:solidFill>
              </a:rPr>
              <a:t>WHO-approved for resource-limited settings. Heat-stable storage.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840480"/>
            <a:ext cx="5669280" cy="2377440"/>
          </a:xfrm>
          <a:prstGeom prst="rect">
            <a:avLst/>
          </a:prstGeom>
          <a:solidFill>
            <a:srgbClr val="5A4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840480"/>
            <a:ext cx="5669280" cy="457200"/>
          </a:xfrm>
          <a:prstGeom prst="rect">
            <a:avLst/>
          </a:prstGeom>
          <a:solidFill>
            <a:srgbClr val="A07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86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Tranexamic Acid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 g IV over 10 min
Repeat at 30 min if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43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EE3ED"/>
                </a:solidFill>
              </a:rPr>
              <a:t>WOMAN trial: reduces death from bleeding if given within 3 hrs of birth.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12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13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8" presetID="1" presetClass="entr" presetSubtype="0" fill="hold" grpId="2" nodeType="clickEffect">
                      <p:stCondLst>
                        <p:cond delay="60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14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presetID="1" presetClass="entr" presetSubtype="0" fill="hold" grpId="3" nodeType="clickEffect">
                      <p:stCondLst>
                        <p:cond delay="9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5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6" presetID="1" presetClass="entr" presetSubtype="0" fill="hold" grpId="4" nodeType="clickEffect">
                      <p:stCondLst>
                        <p:cond delay="1200"/>
                      </p:stCondLst>
                      <p:childTnLst>
                        <p:set>
                          <p:cBhvr>
                            <p:cTn id="27" dur="1" fill="hold"/>
                            <p:tgtEl>
                              <p:spTgt spid="16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presetID="1" presetClass="entr" presetSubtype="0" fill="hold" grpId="5" nodeType="clickEffect">
                      <p:stCondLst>
                        <p:cond delay="150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17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presetID="1" presetClass="entr" presetSubtype="0" fill="hold" grpId="6" nodeType="clickEffect">
                      <p:stCondLst>
                        <p:cond delay="18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8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8" presetID="1" presetClass="entr" presetSubtype="0" fill="hold" grpId="7" nodeType="clickEffect">
                      <p:stCondLst>
                        <p:cond delay="2100"/>
                      </p:stCondLst>
                      <p:childTnLst>
                        <p:set>
                          <p:cBhvr>
                            <p:cTn id="39" dur="1" fill="hold"/>
                            <p:tgtEl>
                              <p:spTgt spid="19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2" presetID="1" presetClass="entr" presetSubtype="0" fill="hold" grpId="8" nodeType="clickEffect">
                      <p:stCondLst>
                        <p:cond delay="2400"/>
                      </p:stCondLst>
                      <p:childTnLst>
                        <p:set>
                          <p:cBhvr>
                            <p:cTn id="43" dur="1" fill="hold"/>
                            <p:tgtEl>
                              <p:spTgt spid="20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6" presetID="1" presetClass="entr" presetSubtype="0" fill="hold" grpId="9" nodeType="clickEffect">
                      <p:stCondLst>
                        <p:cond delay="2700"/>
                      </p:stCondLst>
                      <p:childTnLst>
                        <p:set>
                          <p:cBhvr>
                            <p:cTn id="47" dur="1" fill="hold"/>
                            <p:tgtEl>
                              <p:spTgt spid="21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presetID="1" presetClass="entr" presetSubtype="0" fill="hold" grpId="10" nodeType="clickEffect">
                      <p:stCondLst>
                        <p:cond delay="3000"/>
                      </p:stCondLst>
                      <p:childTnLst>
                        <p:set>
                          <p:cBhvr>
                            <p:cTn id="51" dur="1" fill="hold"/>
                            <p:tgtEl>
                              <p:spTgt spid="22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4" presetID="1" presetClass="entr" presetSubtype="0" fill="hold" grpId="11" nodeType="clickEffect">
                      <p:stCondLst>
                        <p:cond delay="3300"/>
                      </p:stCondLst>
                      <p:childTnLst>
                        <p:set>
                          <p:cBhvr>
                            <p:cTn id="55" dur="1" fill="hold"/>
                            <p:tgtEl>
                              <p:spTgt spid="23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Antepartum Risk Stratification for PPH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6E"/>
                </a:solidFill>
              </a:rPr>
              <a:t>ACOG/AWHONN Maternal Safety Bundle Framework (2020)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6403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303520"/>
                <a:gridCol w="4690872"/>
              </a:tblGrid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Risk Level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Clinical Criteria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Recommended Action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276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No prior uterine surgery, single fetus, no bleeding disorder, &lt;4 prior births</a:t>
                      </a:r>
                    </a:p>
                  </a:txBody>
                  <a:tcPr>
                    <a:solidFill>
                      <a:srgbClr val="276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Standard AMTSL. IV access. T&amp;S not required.</a:t>
                      </a:r>
                    </a:p>
                  </a:txBody>
                  <a:tcPr>
                    <a:solidFill>
                      <a:srgbClr val="276C2A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B77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Prior cesarean, multiple gestation, &gt;4 births, large fibroids, or history of PPH</a:t>
                      </a:r>
                    </a:p>
                  </a:txBody>
                  <a:tcPr>
                    <a:solidFill>
                      <a:srgbClr val="B77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Large-bore IV. T&amp;S. Document consent for additional intervention.</a:t>
                      </a:r>
                    </a:p>
                  </a:txBody>
                  <a:tcPr>
                    <a:solidFill>
                      <a:srgbClr val="B77A0A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A0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Placenta previa/accreta, Hgb &lt;8, active bleeding, coagulopathy, 2+ medium factors</a:t>
                      </a:r>
                    </a:p>
                  </a:txBody>
                  <a:tcPr>
                    <a:solidFill>
                      <a:srgbClr val="A0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Blood bank on alert. 2 large-bore IVs. Anesthesia consult. MFM involvement.</a:t>
                      </a:r>
                    </a:p>
                  </a:txBody>
                  <a:tcPr>
                    <a:solidFill>
                      <a:srgbClr val="A023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4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5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Willow Creek Midwifery: 2025 Outcome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669280" cy="539496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Evidence-Based Practice Adherence (% of births)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44824"/>
            <a:ext cx="662940" cy="4473095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43656"/>
            <a:ext cx="6629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45352"/>
            <a:ext cx="7543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AMTSL
Comply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1554480"/>
            <a:ext cx="662940" cy="466344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7904" y="1353312"/>
            <a:ext cx="6629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6245352"/>
            <a:ext cx="7543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DCC
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8608" y="1982755"/>
            <a:ext cx="662940" cy="4235164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1781587"/>
            <a:ext cx="6629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6245352"/>
            <a:ext cx="7543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1:1 Labor
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9311" y="1649652"/>
            <a:ext cx="662940" cy="4568267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1" y="1448484"/>
            <a:ext cx="6629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6245352"/>
            <a:ext cx="7543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Skin-to-
Skin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0016" y="1887582"/>
            <a:ext cx="662940" cy="4330337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1686414"/>
            <a:ext cx="6629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</a:rPr>
              <a:t>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6245352"/>
            <a:ext cx="7543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BF
Initiation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5669280" cy="114300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3258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385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EE3ED"/>
                </a:solidFill>
              </a:rPr>
              <a:t>Total births attended, 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560320"/>
            <a:ext cx="5669280" cy="114300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79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10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EE3ED"/>
                </a:solidFill>
              </a:rPr>
              <a:t>PPH rate (national avg 3.1%)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931920"/>
            <a:ext cx="5669280" cy="114300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0690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6817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EE3ED"/>
                </a:solidFill>
              </a:rPr>
              <a:t>Maternal mortalities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303520"/>
            <a:ext cx="5669280" cy="114300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4406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60533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EE3ED"/>
                </a:solidFill>
              </a:rPr>
              <a:t>Client satisfaction avg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27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28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8" presetID="1" presetClass="entr" presetSubtype="0" fill="hold" grpId="2" nodeType="clickEffect">
                      <p:stCondLst>
                        <p:cond delay="60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29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presetID="1" presetClass="entr" presetSubtype="0" fill="hold" grpId="3" nodeType="clickEffect">
                      <p:stCondLst>
                        <p:cond delay="9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30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6" presetID="1" presetClass="entr" presetSubtype="0" fill="hold" grpId="4" nodeType="clickEffect">
                      <p:stCondLst>
                        <p:cond delay="1200"/>
                      </p:stCondLst>
                      <p:childTnLst>
                        <p:set>
                          <p:cBhvr>
                            <p:cTn id="27" dur="1" fill="hold"/>
                            <p:tgtEl>
                              <p:spTgt spid="31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presetID="1" presetClass="entr" presetSubtype="0" fill="hold" grpId="5" nodeType="clickEffect">
                      <p:stCondLst>
                        <p:cond delay="150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32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sd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0"/>
            <a:ext cx="35478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31352" y="0"/>
            <a:ext cx="109728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Shared Decision-Making in Labor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2286000"/>
          </a:xfrm>
          <a:prstGeom prst="rect">
            <a:avLst/>
          </a:prstGeom>
          <a:solidFill>
            <a:srgbClr val="2E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INFORM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49039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Present evidence clearly. Distinguish Level I vs III recommendations. Use plain language.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3749039" cy="2286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ELICIT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749039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3852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Ask what matters most: mobility, interventions, birth companionship, feeding intentions.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3749039" cy="2286000"/>
          </a:xfrm>
          <a:prstGeom prst="rect">
            <a:avLst/>
          </a:prstGeom>
          <a:solidFill>
            <a:srgbClr val="2C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4047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3749039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9884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Document shared decisions in birth plan. Revisit if clinical circumstances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749039"/>
            <a:ext cx="3749039" cy="2286000"/>
          </a:xfrm>
          <a:prstGeom prst="rect">
            <a:avLst/>
          </a:prstGeom>
          <a:solidFill>
            <a:srgbClr val="7B4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7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389120"/>
            <a:ext cx="3749039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49884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Remain present. Support chosen plan. Recognize when deviation becomes medically necessary.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14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15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8" presetID="1" presetClass="entr" presetSubtype="0" fill="hold" grpId="2" nodeType="clickEffect">
                      <p:stCondLst>
                        <p:cond delay="60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16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presetID="1" presetClass="entr" presetSubtype="0" fill="hold" grpId="3" nodeType="clickEffect">
                      <p:stCondLst>
                        <p:cond delay="9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7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6" presetID="1" presetClass="entr" presetSubtype="0" fill="hold" grpId="4" nodeType="clickEffect">
                      <p:stCondLst>
                        <p:cond delay="1200"/>
                      </p:stCondLst>
                      <p:childTnLst>
                        <p:set>
                          <p:cBhvr>
                            <p:cTn id="27" dur="1" fill="hold"/>
                            <p:tgtEl>
                              <p:spTgt spid="18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presetID="1" presetClass="entr" presetSubtype="0" fill="hold" grpId="5" nodeType="clickEffect">
                      <p:stCondLst>
                        <p:cond delay="150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19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presetID="1" presetClass="entr" presetSubtype="0" fill="hold" grpId="6" nodeType="clickEffect">
                      <p:stCondLst>
                        <p:cond delay="18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20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8" presetID="1" presetClass="entr" presetSubtype="0" fill="hold" grpId="7" nodeType="clickEffect">
                      <p:stCondLst>
                        <p:cond delay="2100"/>
                      </p:stCondLst>
                      <p:childTnLst>
                        <p:set>
                          <p:cBhvr>
                            <p:cTn id="39" dur="1" fill="hold"/>
                            <p:tgtEl>
                              <p:spTgt spid="21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Documentation Standards for Quality Reporting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40312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Documentation Element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Required Timing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QI Metric</a:t>
                      </a:r>
                    </a:p>
                  </a:txBody>
                  <a:tcPr>
                    <a:solidFill>
                      <a:srgbClr val="1A5C6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Antepartum risk assessment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At intake and 36 weeks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Risk stratification compliance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Informed consent – AMTSL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Before/during labor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Shared decision-making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Time of birth and placenta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Immediately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Third stage duration (target &lt;=30 min)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Uterotonic agent/dose/route/time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At 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AMTSL adherence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Estimated blood loss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Immediately postpartum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Quantitative EBL compliance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Fundal tone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Every 15 min x 2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Atony detection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C3E50"/>
                          </a:solidFill>
                        </a:rPr>
                        <a:t>Skin-to-skin initiation time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Within 5 min of birth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3E50"/>
                          </a:solidFill>
                        </a:rPr>
                        <a:t>Immediate SSC rate</a:t>
                      </a:r>
                    </a:p>
                  </a:txBody>
                  <a:tcPr>
                    <a:solidFill>
                      <a:srgbClr val="BEE3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3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4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389120"/>
            <a:ext cx="3017520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005840"/>
            <a:ext cx="7616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C6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88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AMTSL with routine oxytocin is supported by Level I evidence and should be offered to all birthing patients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C6E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Risk stratification begins at first prenatal visit and must be updated throughout labor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C6E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34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Tranexamic acid is most effective when given within 3 hours of hemorrhage onset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C6E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57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Shared decision-making documentation protects the patient and the provider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C6E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Quantitative EBL is standard of care – visual estimation underestimates by up to 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References: ACNM Clinical Bulletins 2022-2024  |  WOMAN Trial, Lancet 2017  |  WHO 2023  |  ACOG PB #183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indefinite"/>
                </p:stCondLst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17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4" presetID="1" presetClass="entr" presetSubtype="0" fill="hold" grpId="1" nodeType="clickEffect">
                      <p:stCondLst>
                        <p:cond delay="300"/>
                      </p:stCondLst>
                      <p:childTnLst>
                        <p:set>
                          <p:cBhvr>
                            <p:cTn id="15" dur="1" fill="hold"/>
                            <p:tgtEl>
                              <p:spTgt spid="18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8" presetID="1" presetClass="entr" presetSubtype="0" fill="hold" grpId="2" nodeType="clickEffect">
                      <p:stCondLst>
                        <p:cond delay="60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19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presetID="1" presetClass="entr" presetSubtype="0" fill="hold" grpId="3" nodeType="clickEffect">
                      <p:stCondLst>
                        <p:cond delay="9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20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6" presetID="1" presetClass="entr" presetSubtype="0" fill="hold" grpId="4" nodeType="clickEffect">
                      <p:stCondLst>
                        <p:cond delay="1200"/>
                      </p:stCondLst>
                      <p:childTnLst>
                        <p:set>
                          <p:cBhvr>
                            <p:cTn id="27" dur="1" fill="hold"/>
                            <p:tgtEl>
                              <p:spTgt spid="21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presetID="1" presetClass="entr" presetSubtype="0" fill="hold" grpId="5" nodeType="clickEffect">
                      <p:stCondLst>
                        <p:cond delay="150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22">
                                <p:txEl>
                                  <p:pRn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