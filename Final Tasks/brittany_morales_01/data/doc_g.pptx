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Median Price ($)</c:v>
                </c:pt>
              </c:strCache>
            </c:strRef>
          </c:tx>
          <c:spPr>
            <a:solidFill>
              <a:srgbClr val="1A2E4A"/>
            </a:solidFill>
          </c:spPr>
          <c:cat>
            <c:strRef>
              <c:f>Sheet1!$A$2:$A$7</c:f>
              <c:strCache>
                <c:ptCount val="6"/>
                <c:pt idx="0">
                  <c:v>Hyde Park</c:v>
                </c:pt>
                <c:pt idx="1">
                  <c:v>South Tampa</c:v>
                </c:pt>
                <c:pt idx="2">
                  <c:v>Westchase</c:v>
                </c:pt>
                <c:pt idx="3">
                  <c:v>Carrollwood</c:v>
                </c:pt>
                <c:pt idx="4">
                  <c:v>Seminole Hts</c:v>
                </c:pt>
                <c:pt idx="5">
                  <c:v>Channelside</c:v>
                </c:pt>
              </c:strCache>
            </c:strRef>
          </c:cat>
          <c:val>
            <c:numRef>
              <c:f>Sheet1!$B$2:$B$7</c:f>
              <c:numCache>
                <c:formatCode>General</c:formatCode>
                <c:ptCount val="6"/>
                <c:pt idx="0">
                  <c:v>712000</c:v>
                </c:pt>
                <c:pt idx="1">
                  <c:v>565000</c:v>
                </c:pt>
                <c:pt idx="2">
                  <c:v>548000</c:v>
                </c:pt>
                <c:pt idx="3">
                  <c:v>438000</c:v>
                </c:pt>
                <c:pt idx="4">
                  <c:v>392000</c:v>
                </c:pt>
                <c:pt idx="5">
                  <c:v>298000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Sale Price ($)</c:v>
                </c:pt>
              </c:strCache>
            </c:strRef>
          </c:tx>
          <c:spPr>
            <a:solidFill>
              <a:srgbClr val="C9A84C"/>
            </a:solidFill>
          </c:spPr>
          <c:cat>
            <c:strRef>
              <c:f>Sheet1!$A$2:$A$5</c:f>
              <c:strCache>
                <c:ptCount val="4"/>
                <c:pt idx="0">
                  <c:v>Jan 22
Hollis</c:v>
                </c:pt>
                <c:pt idx="1">
                  <c:v>Feb 9
Boyd</c:v>
                </c:pt>
                <c:pt idx="2">
                  <c:v>Feb 26
Sutton</c:v>
                </c:pt>
                <c:pt idx="3">
                  <c:v>Feb 28
Patel</c:v>
                </c:pt>
              </c:strCache>
            </c:strRef>
          </c:cat>
          <c:val>
            <c:numRef>
              <c:f>Sheet1!$B$2:$B$5</c:f>
              <c:numCache>
                <c:formatCode>General</c:formatCode>
                <c:ptCount val="4"/>
                <c:pt idx="0">
                  <c:v>452000</c:v>
                </c:pt>
                <c:pt idx="1">
                  <c:v>318500</c:v>
                </c:pt>
                <c:pt idx="2">
                  <c:v>535000</c:v>
                </c:pt>
                <c:pt idx="3">
                  <c:v>529000</c:v>
                </c:pt>
              </c:numCache>
            </c:numRef>
          </c:val>
        </c:ser>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15img.jpg"/>
          <p:cNvPicPr>
            <a:picLocks noChangeAspect="1"/>
          </p:cNvPicPr>
          <p:nvPr/>
        </p:nvPicPr>
        <p:blipFill>
          <a:blip r:embed="rId2"/>
          <a:stretch>
            <a:fillRect/>
          </a:stretch>
        </p:blipFill>
        <p:spPr>
          <a:xfrm>
            <a:off x="5760720" y="0"/>
            <a:ext cx="6428232" cy="6858000"/>
          </a:xfrm>
          <a:prstGeom prst="rect">
            <a:avLst/>
          </a:prstGeom>
        </p:spPr>
      </p:pic>
      <p:sp>
        <p:nvSpPr>
          <p:cNvPr id="4" name="Rectangle 3"/>
          <p:cNvSpPr/>
          <p:nvPr/>
        </p:nvSpPr>
        <p:spPr>
          <a:xfrm>
            <a:off x="0" y="0"/>
            <a:ext cx="274320" cy="685800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5120640" cy="457200"/>
          </a:xfrm>
          <a:prstGeom prst="rect">
            <a:avLst/>
          </a:prstGeom>
          <a:noFill/>
        </p:spPr>
        <p:txBody>
          <a:bodyPr wrap="square">
            <a:spAutoFit/>
          </a:bodyPr>
          <a:lstStyle/>
          <a:p>
            <a:pPr algn="l"/>
            <a:r>
              <a:rPr sz="1100" b="0" i="0">
                <a:solidFill>
                  <a:srgbClr val="C9A84C"/>
                </a:solidFill>
              </a:rPr>
              <a:t>TAMPA BAY REAL ESTATE</a:t>
            </a:r>
          </a:p>
        </p:txBody>
      </p:sp>
      <p:sp>
        <p:nvSpPr>
          <p:cNvPr id="6" name="TextBox 5"/>
          <p:cNvSpPr txBox="1"/>
          <p:nvPr/>
        </p:nvSpPr>
        <p:spPr>
          <a:xfrm>
            <a:off x="548640" y="1828800"/>
            <a:ext cx="5120640" cy="1463040"/>
          </a:xfrm>
          <a:prstGeom prst="rect">
            <a:avLst/>
          </a:prstGeom>
          <a:noFill/>
        </p:spPr>
        <p:txBody>
          <a:bodyPr wrap="square">
            <a:spAutoFit/>
          </a:bodyPr>
          <a:lstStyle/>
          <a:p>
            <a:pPr algn="l"/>
            <a:r>
              <a:rPr sz="4600" b="1" i="0">
                <a:solidFill>
                  <a:srgbClr val="FFFFFF"/>
                </a:solidFill>
              </a:rPr>
              <a:t>Q4 2026
Market Update</a:t>
            </a:r>
          </a:p>
        </p:txBody>
      </p:sp>
      <p:sp>
        <p:nvSpPr>
          <p:cNvPr id="7" name="TextBox 6"/>
          <p:cNvSpPr txBox="1"/>
          <p:nvPr/>
        </p:nvSpPr>
        <p:spPr>
          <a:xfrm>
            <a:off x="548640" y="3474720"/>
            <a:ext cx="5120640" cy="640080"/>
          </a:xfrm>
          <a:prstGeom prst="rect">
            <a:avLst/>
          </a:prstGeom>
          <a:noFill/>
        </p:spPr>
        <p:txBody>
          <a:bodyPr wrap="square">
            <a:spAutoFit/>
          </a:bodyPr>
          <a:lstStyle/>
          <a:p>
            <a:pPr algn="l"/>
            <a:r>
              <a:rPr sz="1300" b="0" i="0">
                <a:solidFill>
                  <a:srgbClr val="AABBCC"/>
                </a:solidFill>
              </a:rPr>
              <a:t>Brittany Morales | SunCoast Realty Group
October 2026</a:t>
            </a:r>
          </a:p>
        </p:txBody>
      </p:sp>
      <p:sp>
        <p:nvSpPr>
          <p:cNvPr id="8" name="Rectangle 7"/>
          <p:cNvSpPr/>
          <p:nvPr/>
        </p:nvSpPr>
        <p:spPr>
          <a:xfrm>
            <a:off x="548640" y="3383280"/>
            <a:ext cx="4846320" cy="36576"/>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6"/>
                                  </p:tgtEl>
                                  <p:attrNameLst>
                                    <p:attrName>style.visibility</p:attrName>
                                  </p:attrNameLst>
                                </p:cBhvr>
                                <p:to>
                                  <p:strVal val="visible"/>
                                </p:to>
                              </p:set>
                              <p:animEffect transition="in" filter="fade">
                                <p:cBhvr>
                                  <p:cTn id="6" dur="400" fill="hold"/>
                                  <p:tgtEl>
                                    <p:spTgt spid="6"/>
                                  </p:tgtEl>
                                </p:cBhvr>
                              </p:animEffect>
                            </p:childTnLst>
                          </p:cTn>
                        </p:par>
                        <p:par>
                          <p:cTn id="7" presetID="10" presetClass="entr" presetSubtype="0" fill="hold" grpId="0" nodeType="withEffect">
                            <p:stCondLst>
                              <p:cond delay="200"/>
                            </p:stCondLst>
                            <p:childTnLst>
                              <p:set>
                                <p:cBhvr>
                                  <p:cTn id="8" dur="1" fill="hold"/>
                                  <p:tgtEl>
                                    <p:spTgt spid="5"/>
                                  </p:tgtEl>
                                  <p:attrNameLst>
                                    <p:attrName>style.visibility</p:attrName>
                                  </p:attrNameLst>
                                </p:cBhvr>
                                <p:to>
                                  <p:strVal val="visible"/>
                                </p:to>
                              </p:set>
                              <p:animEffect transition="in" filter="fade">
                                <p:cBhvr>
                                  <p:cTn id="9" dur="400" fill="hold"/>
                                  <p:tgtEl>
                                    <p:spTgt spid="5"/>
                                  </p:tgtEl>
                                </p:cBhvr>
                              </p:animEffect>
                            </p:childTnLst>
                          </p:cTn>
                        </p:par>
                        <p:par>
                          <p:cTn id="10" presetID="10" presetClass="entr" presetSubtype="0" fill="hold" grpId="0" nodeType="withEffect">
                            <p:stCondLst>
                              <p:cond delay="400"/>
                            </p:stCondLst>
                            <p:childTnLst>
                              <p:set>
                                <p:cBhvr>
                                  <p:cTn id="11" dur="1" fill="hold"/>
                                  <p:tgtEl>
                                    <p:spTgt spid="7"/>
                                  </p:tgtEl>
                                  <p:attrNameLst>
                                    <p:attrName>style.visibility</p:attrName>
                                  </p:attrNameLst>
                                </p:cBhvr>
                                <p:to>
                                  <p:strVal val="visible"/>
                                </p:to>
                              </p:set>
                              <p:animEffect transition="in" filter="fade">
                                <p:cBhvr>
                                  <p:cTn id="12" dur="400" fill="hold"/>
                                  <p:tgtEl>
                                    <p:spTgt spid="7"/>
                                  </p:tgtEl>
                                </p:cBhvr>
                              </p:animEffect>
                            </p:childTnLst>
                          </p:cTn>
                        </p:par>
                      </p:childTnLst>
                    </p:cTn>
                  </p:par>
                </p:childTnLst>
              </p:cTn>
              <p:prevCondLst>
                <p:cond evt="onPrevClick" delay="0">
                  <p:tn/>
                </p:cond>
              </p:prevCondLst>
              <p:nextCondLst>
                <p:cond evt="onNextClick" delay="0">
                  <p:tn/>
                </p:cond>
              </p:nextCondLst>
            </p:seq>
          </p:childTnLst>
        </p:cTn>
      </p:par>
    </p:tnLst>
    <p:bldLst>
      <p:bldSp spid="6" grpId="0"/>
      <p:bldSp spid="5" grpId="0"/>
      <p:bldSp spid="7" grpId="0"/>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234440"/>
            <a:ext cx="112471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0058400" cy="731520"/>
          </a:xfrm>
          <a:prstGeom prst="rect">
            <a:avLst/>
          </a:prstGeom>
          <a:noFill/>
        </p:spPr>
        <p:txBody>
          <a:bodyPr wrap="square">
            <a:spAutoFit/>
          </a:bodyPr>
          <a:lstStyle/>
          <a:p>
            <a:pPr algn="l"/>
            <a:r>
              <a:rPr sz="3200" b="1" i="0">
                <a:solidFill>
                  <a:srgbClr val="FFFFFF"/>
                </a:solidFill>
              </a:rPr>
              <a:t>Market at a Glance</a:t>
            </a:r>
          </a:p>
        </p:txBody>
      </p:sp>
      <p:sp>
        <p:nvSpPr>
          <p:cNvPr id="5" name="TextBox 4"/>
          <p:cNvSpPr txBox="1"/>
          <p:nvPr/>
        </p:nvSpPr>
        <p:spPr>
          <a:xfrm>
            <a:off x="457200" y="868680"/>
            <a:ext cx="10058400" cy="365760"/>
          </a:xfrm>
          <a:prstGeom prst="rect">
            <a:avLst/>
          </a:prstGeom>
          <a:noFill/>
        </p:spPr>
        <p:txBody>
          <a:bodyPr wrap="square">
            <a:spAutoFit/>
          </a:bodyPr>
          <a:lstStyle/>
          <a:p>
            <a:pPr algn="l"/>
            <a:r>
              <a:rPr sz="1300" b="0" i="0">
                <a:solidFill>
                  <a:srgbClr val="C9A84C"/>
                </a:solidFill>
              </a:rPr>
              <a:t>Tampa Bay Residential | October 2026</a:t>
            </a:r>
          </a:p>
        </p:txBody>
      </p:sp>
      <p:sp>
        <p:nvSpPr>
          <p:cNvPr id="6" name="Rectangle 5"/>
          <p:cNvSpPr/>
          <p:nvPr/>
        </p:nvSpPr>
        <p:spPr>
          <a:xfrm>
            <a:off x="457200" y="1645920"/>
            <a:ext cx="2651760" cy="1920240"/>
          </a:xfrm>
          <a:prstGeom prst="rect">
            <a:avLst/>
          </a:prstGeom>
          <a:solidFill>
            <a:srgbClr val="243A5A"/>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C9A84C"/>
                </a:solidFill>
              </a:rPr>
              <a:t>$1.83M</a:t>
            </a:r>
          </a:p>
          <a:p>
            <a:pPr algn="ctr">
              <a:spcBef>
                <a:spcPts val="400"/>
              </a:spcBef>
            </a:pPr>
            <a:r>
              <a:rPr sz="1100" b="1">
                <a:solidFill>
                  <a:srgbClr val="FFFFFF"/>
                </a:solidFill>
              </a:rPr>
              <a:t>YTD Closed Volume</a:t>
            </a:r>
          </a:p>
          <a:p>
            <a:pPr algn="ctr">
              <a:spcBef>
                <a:spcPts val="200"/>
              </a:spcBef>
            </a:pPr>
            <a:r>
              <a:rPr sz="900" b="0">
                <a:solidFill>
                  <a:srgbClr val="AABBCC"/>
                </a:solidFill>
              </a:rPr>
              <a:t>4 transactions closed</a:t>
            </a:r>
          </a:p>
        </p:txBody>
      </p:sp>
      <p:sp>
        <p:nvSpPr>
          <p:cNvPr id="7" name="Rectangle 6"/>
          <p:cNvSpPr/>
          <p:nvPr/>
        </p:nvSpPr>
        <p:spPr>
          <a:xfrm>
            <a:off x="3383280" y="1645920"/>
            <a:ext cx="2651760" cy="1920240"/>
          </a:xfrm>
          <a:prstGeom prst="rect">
            <a:avLst/>
          </a:prstGeom>
          <a:solidFill>
            <a:srgbClr val="243A5A"/>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C9A84C"/>
                </a:solidFill>
              </a:rPr>
              <a:t>$1.20M</a:t>
            </a:r>
          </a:p>
          <a:p>
            <a:pPr algn="ctr">
              <a:spcBef>
                <a:spcPts val="400"/>
              </a:spcBef>
            </a:pPr>
            <a:r>
              <a:rPr sz="1100" b="1">
                <a:solidFill>
                  <a:srgbClr val="FFFFFF"/>
                </a:solidFill>
              </a:rPr>
              <a:t>Active Pipeline</a:t>
            </a:r>
          </a:p>
          <a:p>
            <a:pPr algn="ctr">
              <a:spcBef>
                <a:spcPts val="200"/>
              </a:spcBef>
            </a:pPr>
            <a:r>
              <a:rPr sz="900" b="0">
                <a:solidFill>
                  <a:srgbClr val="AABBCC"/>
                </a:solidFill>
              </a:rPr>
              <a:t>3 listings + 3 buyer clients</a:t>
            </a:r>
          </a:p>
        </p:txBody>
      </p:sp>
      <p:sp>
        <p:nvSpPr>
          <p:cNvPr id="8" name="Rectangle 7"/>
          <p:cNvSpPr/>
          <p:nvPr/>
        </p:nvSpPr>
        <p:spPr>
          <a:xfrm>
            <a:off x="6309360" y="1645920"/>
            <a:ext cx="2651760" cy="1920240"/>
          </a:xfrm>
          <a:prstGeom prst="rect">
            <a:avLst/>
          </a:prstGeom>
          <a:solidFill>
            <a:srgbClr val="243A5A"/>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C9A84C"/>
                </a:solidFill>
              </a:rPr>
              <a:t>+4.1%</a:t>
            </a:r>
          </a:p>
          <a:p>
            <a:pPr algn="ctr">
              <a:spcBef>
                <a:spcPts val="400"/>
              </a:spcBef>
            </a:pPr>
            <a:r>
              <a:rPr sz="1100" b="1">
                <a:solidFill>
                  <a:srgbClr val="FFFFFF"/>
                </a:solidFill>
              </a:rPr>
              <a:t>South Tampa YoY</a:t>
            </a:r>
          </a:p>
          <a:p>
            <a:pPr algn="ctr">
              <a:spcBef>
                <a:spcPts val="200"/>
              </a:spcBef>
            </a:pPr>
            <a:r>
              <a:rPr sz="900" b="0">
                <a:solidFill>
                  <a:srgbClr val="AABBCC"/>
                </a:solidFill>
              </a:rPr>
              <a:t>Median price growth</a:t>
            </a:r>
          </a:p>
        </p:txBody>
      </p:sp>
      <p:sp>
        <p:nvSpPr>
          <p:cNvPr id="9" name="Rectangle 8"/>
          <p:cNvSpPr/>
          <p:nvPr/>
        </p:nvSpPr>
        <p:spPr>
          <a:xfrm>
            <a:off x="9235440" y="1645920"/>
            <a:ext cx="2651760" cy="1920240"/>
          </a:xfrm>
          <a:prstGeom prst="rect">
            <a:avLst/>
          </a:prstGeom>
          <a:solidFill>
            <a:srgbClr val="243A5A"/>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400" b="1">
                <a:solidFill>
                  <a:srgbClr val="C9A84C"/>
                </a:solidFill>
              </a:rPr>
              <a:t>22 days</a:t>
            </a:r>
          </a:p>
          <a:p>
            <a:pPr algn="ctr">
              <a:spcBef>
                <a:spcPts val="400"/>
              </a:spcBef>
            </a:pPr>
            <a:r>
              <a:rPr sz="1100" b="1">
                <a:solidFill>
                  <a:srgbClr val="FFFFFF"/>
                </a:solidFill>
              </a:rPr>
              <a:t>Westchase Avg DOM</a:t>
            </a:r>
          </a:p>
          <a:p>
            <a:pPr algn="ctr">
              <a:spcBef>
                <a:spcPts val="200"/>
              </a:spcBef>
            </a:pPr>
            <a:r>
              <a:rPr sz="900" b="0">
                <a:solidFill>
                  <a:srgbClr val="AABBCC"/>
                </a:solidFill>
              </a:rPr>
              <a:t>Fastest market in portfolio</a:t>
            </a:r>
          </a:p>
        </p:txBody>
      </p:sp>
      <p:sp>
        <p:nvSpPr>
          <p:cNvPr id="10" name="TextBox 9"/>
          <p:cNvSpPr txBox="1"/>
          <p:nvPr/>
        </p:nvSpPr>
        <p:spPr>
          <a:xfrm>
            <a:off x="457200" y="3840480"/>
            <a:ext cx="11247120" cy="1005840"/>
          </a:xfrm>
          <a:prstGeom prst="rect">
            <a:avLst/>
          </a:prstGeom>
          <a:noFill/>
        </p:spPr>
        <p:txBody>
          <a:bodyPr wrap="square">
            <a:spAutoFit/>
          </a:bodyPr>
          <a:lstStyle/>
          <a:p>
            <a:pPr algn="l"/>
            <a:r>
              <a:rPr sz="1200" b="0" i="0">
                <a:solidFill>
                  <a:srgbClr val="CCD5DD"/>
                </a:solidFill>
              </a:rPr>
              <a:t>South Tampa and Westchase continue to outperform heading into Q4. Channelside offer expected to close October 18. Westchase open house October 17 generated five qualified leads with the Nguyen family showing strong interest.</a:t>
            </a:r>
          </a:p>
        </p:txBody>
      </p:sp>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6"/>
                                  </p:tgtEl>
                                  <p:attrNameLst>
                                    <p:attrName>style.visibility</p:attrName>
                                  </p:attrNameLst>
                                </p:cBhvr>
                                <p:to>
                                  <p:strVal val="visible"/>
                                </p:to>
                              </p:set>
                              <p:animEffect transition="in" filter="fade">
                                <p:cBhvr>
                                  <p:cTn id="6" dur="400" fill="hold"/>
                                  <p:tgtEl>
                                    <p:spTgt spid="6"/>
                                  </p:tgtEl>
                                </p:cBhvr>
                              </p:animEffect>
                            </p:childTnLst>
                          </p:cTn>
                        </p:par>
                        <p:par>
                          <p:cTn id="7" presetID="10" presetClass="entr" presetSubtype="0" fill="hold" grpId="0" nodeType="withEffect">
                            <p:stCondLst>
                              <p:cond delay="150"/>
                            </p:stCondLst>
                            <p:childTnLst>
                              <p:set>
                                <p:cBhvr>
                                  <p:cTn id="8" dur="1" fill="hold"/>
                                  <p:tgtEl>
                                    <p:spTgt spid="7"/>
                                  </p:tgtEl>
                                  <p:attrNameLst>
                                    <p:attrName>style.visibility</p:attrName>
                                  </p:attrNameLst>
                                </p:cBhvr>
                                <p:to>
                                  <p:strVal val="visible"/>
                                </p:to>
                              </p:set>
                              <p:animEffect transition="in" filter="fade">
                                <p:cBhvr>
                                  <p:cTn id="9" dur="400" fill="hold"/>
                                  <p:tgtEl>
                                    <p:spTgt spid="7"/>
                                  </p:tgtEl>
                                </p:cBhvr>
                              </p:animEffect>
                            </p:childTnLst>
                          </p:cTn>
                        </p:par>
                        <p:par>
                          <p:cTn id="10" presetID="10" presetClass="entr" presetSubtype="0" fill="hold" grpId="0" nodeType="withEffect">
                            <p:stCondLst>
                              <p:cond delay="300"/>
                            </p:stCondLst>
                            <p:childTnLst>
                              <p:set>
                                <p:cBhvr>
                                  <p:cTn id="11" dur="1" fill="hold"/>
                                  <p:tgtEl>
                                    <p:spTgt spid="8"/>
                                  </p:tgtEl>
                                  <p:attrNameLst>
                                    <p:attrName>style.visibility</p:attrName>
                                  </p:attrNameLst>
                                </p:cBhvr>
                                <p:to>
                                  <p:strVal val="visible"/>
                                </p:to>
                              </p:set>
                              <p:animEffect transition="in" filter="fade">
                                <p:cBhvr>
                                  <p:cTn id="12" dur="400" fill="hold"/>
                                  <p:tgtEl>
                                    <p:spTgt spid="8"/>
                                  </p:tgtEl>
                                </p:cBhvr>
                              </p:animEffect>
                            </p:childTnLst>
                          </p:cTn>
                        </p:par>
                        <p:par>
                          <p:cTn id="13" presetID="10" presetClass="entr" presetSubtype="0" fill="hold" grpId="0" nodeType="withEffect">
                            <p:stCondLst>
                              <p:cond delay="450"/>
                            </p:stCondLst>
                            <p:childTnLst>
                              <p:set>
                                <p:cBhvr>
                                  <p:cTn id="14" dur="1" fill="hold"/>
                                  <p:tgtEl>
                                    <p:spTgt spid="9"/>
                                  </p:tgtEl>
                                  <p:attrNameLst>
                                    <p:attrName>style.visibility</p:attrName>
                                  </p:attrNameLst>
                                </p:cBhvr>
                                <p:to>
                                  <p:strVal val="visible"/>
                                </p:to>
                              </p:set>
                              <p:animEffect transition="in" filter="fade">
                                <p:cBhvr>
                                  <p:cTn id="15" dur="400" fill="hold"/>
                                  <p:tgtEl>
                                    <p:spTgt spid="9"/>
                                  </p:tgtEl>
                                </p:cBhvr>
                              </p:animEffect>
                            </p:childTnLst>
                          </p:cTn>
                        </p:par>
                        <p:par>
                          <p:cTn id="16" presetID="10" presetClass="entr" presetSubtype="0" fill="hold" grpId="0" nodeType="withEffect">
                            <p:stCondLst>
                              <p:cond delay="0"/>
                            </p:stCondLst>
                            <p:childTnLst>
                              <p:set>
                                <p:cBhvr>
                                  <p:cTn id="17" dur="1" fill="hold"/>
                                  <p:tgtEl>
                                    <p:spTgt spid="4"/>
                                  </p:tgtEl>
                                  <p:attrNameLst>
                                    <p:attrName>style.visibility</p:attrName>
                                  </p:attrNameLst>
                                </p:cBhvr>
                                <p:to>
                                  <p:strVal val="visible"/>
                                </p:to>
                              </p:set>
                              <p:animEffect transition="in" filter="fade">
                                <p:cBhvr>
                                  <p:cTn id="18" dur="400" fill="hold"/>
                                  <p:tgtEl>
                                    <p:spTgt spid="4"/>
                                  </p:tgtEl>
                                </p:cBhvr>
                              </p:animEffect>
                            </p:childTnLst>
                          </p:cTn>
                        </p:par>
                        <p:par>
                          <p:cTn id="19" presetID="10" presetClass="entr" presetSubtype="0" fill="hold" grpId="0" nodeType="withEffect">
                            <p:stCondLst>
                              <p:cond delay="700"/>
                            </p:stCondLst>
                            <p:childTnLst>
                              <p:set>
                                <p:cBhvr>
                                  <p:cTn id="20" dur="1" fill="hold"/>
                                  <p:tgtEl>
                                    <p:spTgt spid="10"/>
                                  </p:tgtEl>
                                  <p:attrNameLst>
                                    <p:attrName>style.visibility</p:attrName>
                                  </p:attrNameLst>
                                </p:cBhvr>
                                <p:to>
                                  <p:strVal val="visible"/>
                                </p:to>
                              </p:set>
                              <p:animEffect transition="in" filter="fade">
                                <p:cBhvr>
                                  <p:cTn id="21" dur="400" fill="hold"/>
                                  <p:tgtEl>
                                    <p:spTgt spid="10"/>
                                  </p:tgtEl>
                                </p:cBhvr>
                              </p:animEffect>
                            </p:childTnLst>
                          </p:cTn>
                        </p:par>
                      </p:childTnLst>
                    </p:cTn>
                  </p:par>
                </p:childTnLst>
              </p:cTn>
              <p:prevCondLst>
                <p:cond evt="onPrevClick" delay="0">
                  <p:tn/>
                </p:cond>
              </p:prevCondLst>
              <p:nextCondLst>
                <p:cond evt="onNextClick" delay="0">
                  <p:tn/>
                </p:cond>
              </p:nextCondLst>
            </p:seq>
          </p:childTnLst>
        </p:cTn>
      </p:par>
    </p:tnLst>
    <p:bldLst>
      <p:bldSp spid="6" grpId="0"/>
      <p:bldSp spid="7" grpId="0"/>
      <p:bldSp spid="8" grpId="0"/>
      <p:bldSp spid="9" grpId="0"/>
      <p:bldSp spid="4" grpId="0"/>
      <p:bldSp spid="10" grpId="0"/>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234440"/>
            <a:ext cx="11247120" cy="457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731520"/>
          </a:xfrm>
          <a:prstGeom prst="rect">
            <a:avLst/>
          </a:prstGeom>
          <a:noFill/>
        </p:spPr>
        <p:txBody>
          <a:bodyPr wrap="square">
            <a:spAutoFit/>
          </a:bodyPr>
          <a:lstStyle/>
          <a:p>
            <a:pPr algn="l"/>
            <a:r>
              <a:rPr sz="3200" b="1" i="0">
                <a:solidFill>
                  <a:srgbClr val="1A2E4A"/>
                </a:solidFill>
              </a:rPr>
              <a:t>Neighborhood Breakdown</a:t>
            </a:r>
          </a:p>
        </p:txBody>
      </p:sp>
      <p:sp>
        <p:nvSpPr>
          <p:cNvPr id="5" name="TextBox 4"/>
          <p:cNvSpPr txBox="1"/>
          <p:nvPr/>
        </p:nvSpPr>
        <p:spPr>
          <a:xfrm>
            <a:off x="457200" y="868680"/>
            <a:ext cx="11247120" cy="320040"/>
          </a:xfrm>
          <a:prstGeom prst="rect">
            <a:avLst/>
          </a:prstGeom>
          <a:noFill/>
        </p:spPr>
        <p:txBody>
          <a:bodyPr wrap="square">
            <a:spAutoFit/>
          </a:bodyPr>
          <a:lstStyle/>
          <a:p>
            <a:pPr algn="l"/>
            <a:r>
              <a:rPr sz="1200" b="0" i="0">
                <a:solidFill>
                  <a:srgbClr val="4A4A4A"/>
                </a:solidFill>
              </a:rPr>
              <a:t>Comparative market metrics | Tampa Bay | October 2026</a:t>
            </a:r>
          </a:p>
        </p:txBody>
      </p:sp>
      <p:graphicFrame>
        <p:nvGraphicFramePr>
          <p:cNvPr id="6" name="Table 5"/>
          <p:cNvGraphicFramePr>
            <a:graphicFrameLocks noGrp="1"/>
          </p:cNvGraphicFramePr>
          <p:nvPr/>
        </p:nvGraphicFramePr>
        <p:xfrm>
          <a:off x="457200" y="1508760"/>
          <a:ext cx="11247120" cy="4206240"/>
        </p:xfrm>
        <a:graphic>
          <a:graphicData uri="http://schemas.openxmlformats.org/drawingml/2006/table">
            <a:tbl>
              <a:tblPr firstRow="1" bandRow="1">
                <a:tableStyleId>{5C22544A-7EE6-4342-B048-85BDC9FD1C3A}</a:tableStyleId>
              </a:tblPr>
              <a:tblGrid>
                <a:gridCol w="2103120"/>
                <a:gridCol w="1828800"/>
                <a:gridCol w="1920240"/>
                <a:gridCol w="1828800"/>
                <a:gridCol w="1645920"/>
                <a:gridCol w="1920240"/>
              </a:tblGrid>
              <a:tr h="600891">
                <a:tc>
                  <a:txBody>
                    <a:bodyPr/>
                    <a:lstStyle/>
                    <a:p>
                      <a:pPr algn="ctr"/>
                      <a:r>
                        <a:rPr sz="1100" b="1">
                          <a:solidFill>
                            <a:srgbClr val="FFFFFF"/>
                          </a:solidFill>
                        </a:rPr>
                        <a:t>Neighborhood</a:t>
                      </a:r>
                    </a:p>
                  </a:txBody>
                  <a:tcPr>
                    <a:solidFill>
                      <a:srgbClr val="1A2E4A"/>
                    </a:solidFill>
                  </a:tcPr>
                </a:tc>
                <a:tc>
                  <a:txBody>
                    <a:bodyPr/>
                    <a:lstStyle/>
                    <a:p>
                      <a:pPr algn="ctr"/>
                      <a:r>
                        <a:rPr sz="1100" b="1">
                          <a:solidFill>
                            <a:srgbClr val="FFFFFF"/>
                          </a:solidFill>
                        </a:rPr>
                        <a:t>Median Price</a:t>
                      </a:r>
                    </a:p>
                  </a:txBody>
                  <a:tcPr>
                    <a:solidFill>
                      <a:srgbClr val="1A2E4A"/>
                    </a:solidFill>
                  </a:tcPr>
                </a:tc>
                <a:tc>
                  <a:txBody>
                    <a:bodyPr/>
                    <a:lstStyle/>
                    <a:p>
                      <a:pPr algn="ctr"/>
                      <a:r>
                        <a:rPr sz="1100" b="1">
                          <a:solidFill>
                            <a:srgbClr val="FFFFFF"/>
                          </a:solidFill>
                        </a:rPr>
                        <a:t>Avg DOM</a:t>
                      </a:r>
                    </a:p>
                  </a:txBody>
                  <a:tcPr>
                    <a:solidFill>
                      <a:srgbClr val="1A2E4A"/>
                    </a:solidFill>
                  </a:tcPr>
                </a:tc>
                <a:tc>
                  <a:txBody>
                    <a:bodyPr/>
                    <a:lstStyle/>
                    <a:p>
                      <a:pPr algn="ctr"/>
                      <a:r>
                        <a:rPr sz="1100" b="1">
                          <a:solidFill>
                            <a:srgbClr val="FFFFFF"/>
                          </a:solidFill>
                        </a:rPr>
                        <a:t>Price/SqFt</a:t>
                      </a:r>
                    </a:p>
                  </a:txBody>
                  <a:tcPr>
                    <a:solidFill>
                      <a:srgbClr val="1A2E4A"/>
                    </a:solidFill>
                  </a:tcPr>
                </a:tc>
                <a:tc>
                  <a:txBody>
                    <a:bodyPr/>
                    <a:lstStyle/>
                    <a:p>
                      <a:pPr algn="ctr"/>
                      <a:r>
                        <a:rPr sz="1100" b="1">
                          <a:solidFill>
                            <a:srgbClr val="FFFFFF"/>
                          </a:solidFill>
                        </a:rPr>
                        <a:t>Active</a:t>
                      </a:r>
                    </a:p>
                  </a:txBody>
                  <a:tcPr>
                    <a:solidFill>
                      <a:srgbClr val="1A2E4A"/>
                    </a:solidFill>
                  </a:tcPr>
                </a:tc>
                <a:tc>
                  <a:txBody>
                    <a:bodyPr/>
                    <a:lstStyle/>
                    <a:p>
                      <a:pPr algn="ctr"/>
                      <a:r>
                        <a:rPr sz="1100" b="1">
                          <a:solidFill>
                            <a:srgbClr val="FFFFFF"/>
                          </a:solidFill>
                        </a:rPr>
                        <a:t>YoY</a:t>
                      </a:r>
                    </a:p>
                  </a:txBody>
                  <a:tcPr>
                    <a:solidFill>
                      <a:srgbClr val="1A2E4A"/>
                    </a:solidFill>
                  </a:tcPr>
                </a:tc>
              </a:tr>
              <a:tr h="600891">
                <a:tc>
                  <a:txBody>
                    <a:bodyPr/>
                    <a:lstStyle/>
                    <a:p>
                      <a:pPr algn="l"/>
                      <a:r>
                        <a:rPr sz="1100" b="1">
                          <a:solidFill>
                            <a:srgbClr val="1A2E4A"/>
                          </a:solidFill>
                        </a:rPr>
                        <a:t>Hyde Park</a:t>
                      </a:r>
                    </a:p>
                  </a:txBody>
                  <a:tcPr>
                    <a:solidFill>
                      <a:srgbClr val="FFFFFF"/>
                    </a:solidFill>
                  </a:tcPr>
                </a:tc>
                <a:tc>
                  <a:txBody>
                    <a:bodyPr/>
                    <a:lstStyle/>
                    <a:p>
                      <a:pPr algn="ctr"/>
                      <a:r>
                        <a:rPr sz="1100" b="0">
                          <a:solidFill>
                            <a:srgbClr val="4A4A4A"/>
                          </a:solidFill>
                        </a:rPr>
                        <a:t>$712,000</a:t>
                      </a:r>
                    </a:p>
                  </a:txBody>
                  <a:tcPr>
                    <a:solidFill>
                      <a:srgbClr val="FFFFFF"/>
                    </a:solidFill>
                  </a:tcPr>
                </a:tc>
                <a:tc>
                  <a:txBody>
                    <a:bodyPr/>
                    <a:lstStyle/>
                    <a:p>
                      <a:pPr algn="ctr"/>
                      <a:r>
                        <a:rPr sz="1100" b="0">
                          <a:solidFill>
                            <a:srgbClr val="4A4A4A"/>
                          </a:solidFill>
                        </a:rPr>
                        <a:t>26 days</a:t>
                      </a:r>
                    </a:p>
                  </a:txBody>
                  <a:tcPr>
                    <a:solidFill>
                      <a:srgbClr val="FFFFFF"/>
                    </a:solidFill>
                  </a:tcPr>
                </a:tc>
                <a:tc>
                  <a:txBody>
                    <a:bodyPr/>
                    <a:lstStyle/>
                    <a:p>
                      <a:pPr algn="ctr"/>
                      <a:r>
                        <a:rPr sz="1100" b="0">
                          <a:solidFill>
                            <a:srgbClr val="4A4A4A"/>
                          </a:solidFill>
                        </a:rPr>
                        <a:t>$358</a:t>
                      </a:r>
                    </a:p>
                  </a:txBody>
                  <a:tcPr>
                    <a:solidFill>
                      <a:srgbClr val="FFFFFF"/>
                    </a:solidFill>
                  </a:tcPr>
                </a:tc>
                <a:tc>
                  <a:txBody>
                    <a:bodyPr/>
                    <a:lstStyle/>
                    <a:p>
                      <a:pPr algn="ctr"/>
                      <a:r>
                        <a:rPr sz="1100" b="0">
                          <a:solidFill>
                            <a:srgbClr val="4A4A4A"/>
                          </a:solidFill>
                        </a:rPr>
                        <a:t>39</a:t>
                      </a:r>
                    </a:p>
                  </a:txBody>
                  <a:tcPr>
                    <a:solidFill>
                      <a:srgbClr val="FFFFFF"/>
                    </a:solidFill>
                  </a:tcPr>
                </a:tc>
                <a:tc>
                  <a:txBody>
                    <a:bodyPr/>
                    <a:lstStyle/>
                    <a:p>
                      <a:pPr algn="ctr"/>
                      <a:r>
                        <a:rPr sz="1100" b="0">
                          <a:solidFill>
                            <a:srgbClr val="2D8A4E"/>
                          </a:solidFill>
                        </a:rPr>
                        <a:t>+4.7%</a:t>
                      </a:r>
                    </a:p>
                  </a:txBody>
                  <a:tcPr>
                    <a:solidFill>
                      <a:srgbClr val="FFFFFF"/>
                    </a:solidFill>
                  </a:tcPr>
                </a:tc>
              </a:tr>
              <a:tr h="600891">
                <a:tc>
                  <a:txBody>
                    <a:bodyPr/>
                    <a:lstStyle/>
                    <a:p>
                      <a:pPr algn="l"/>
                      <a:r>
                        <a:rPr sz="1100" b="1">
                          <a:solidFill>
                            <a:srgbClr val="1A2E4A"/>
                          </a:solidFill>
                        </a:rPr>
                        <a:t>South Tampa</a:t>
                      </a:r>
                    </a:p>
                  </a:txBody>
                  <a:tcPr>
                    <a:solidFill>
                      <a:srgbClr val="F0EEE8"/>
                    </a:solidFill>
                  </a:tcPr>
                </a:tc>
                <a:tc>
                  <a:txBody>
                    <a:bodyPr/>
                    <a:lstStyle/>
                    <a:p>
                      <a:pPr algn="ctr"/>
                      <a:r>
                        <a:rPr sz="1100" b="0">
                          <a:solidFill>
                            <a:srgbClr val="4A4A4A"/>
                          </a:solidFill>
                        </a:rPr>
                        <a:t>$565,000</a:t>
                      </a:r>
                    </a:p>
                  </a:txBody>
                  <a:tcPr>
                    <a:solidFill>
                      <a:srgbClr val="F0EEE8"/>
                    </a:solidFill>
                  </a:tcPr>
                </a:tc>
                <a:tc>
                  <a:txBody>
                    <a:bodyPr/>
                    <a:lstStyle/>
                    <a:p>
                      <a:pPr algn="ctr"/>
                      <a:r>
                        <a:rPr sz="1100" b="0">
                          <a:solidFill>
                            <a:srgbClr val="4A4A4A"/>
                          </a:solidFill>
                        </a:rPr>
                        <a:t>28 days</a:t>
                      </a:r>
                    </a:p>
                  </a:txBody>
                  <a:tcPr>
                    <a:solidFill>
                      <a:srgbClr val="F0EEE8"/>
                    </a:solidFill>
                  </a:tcPr>
                </a:tc>
                <a:tc>
                  <a:txBody>
                    <a:bodyPr/>
                    <a:lstStyle/>
                    <a:p>
                      <a:pPr algn="ctr"/>
                      <a:r>
                        <a:rPr sz="1100" b="0">
                          <a:solidFill>
                            <a:srgbClr val="4A4A4A"/>
                          </a:solidFill>
                        </a:rPr>
                        <a:t>$312</a:t>
                      </a:r>
                    </a:p>
                  </a:txBody>
                  <a:tcPr>
                    <a:solidFill>
                      <a:srgbClr val="F0EEE8"/>
                    </a:solidFill>
                  </a:tcPr>
                </a:tc>
                <a:tc>
                  <a:txBody>
                    <a:bodyPr/>
                    <a:lstStyle/>
                    <a:p>
                      <a:pPr algn="ctr"/>
                      <a:r>
                        <a:rPr sz="1100" b="0">
                          <a:solidFill>
                            <a:srgbClr val="4A4A4A"/>
                          </a:solidFill>
                        </a:rPr>
                        <a:t>142</a:t>
                      </a:r>
                    </a:p>
                  </a:txBody>
                  <a:tcPr>
                    <a:solidFill>
                      <a:srgbClr val="F0EEE8"/>
                    </a:solidFill>
                  </a:tcPr>
                </a:tc>
                <a:tc>
                  <a:txBody>
                    <a:bodyPr/>
                    <a:lstStyle/>
                    <a:p>
                      <a:pPr algn="ctr"/>
                      <a:r>
                        <a:rPr sz="1100" b="0">
                          <a:solidFill>
                            <a:srgbClr val="2D8A4E"/>
                          </a:solidFill>
                        </a:rPr>
                        <a:t>+4.1%</a:t>
                      </a:r>
                    </a:p>
                  </a:txBody>
                  <a:tcPr>
                    <a:solidFill>
                      <a:srgbClr val="F0EEE8"/>
                    </a:solidFill>
                  </a:tcPr>
                </a:tc>
              </a:tr>
              <a:tr h="600891">
                <a:tc>
                  <a:txBody>
                    <a:bodyPr/>
                    <a:lstStyle/>
                    <a:p>
                      <a:pPr algn="l"/>
                      <a:r>
                        <a:rPr sz="1100" b="1">
                          <a:solidFill>
                            <a:srgbClr val="1A2E4A"/>
                          </a:solidFill>
                        </a:rPr>
                        <a:t>Westchase</a:t>
                      </a:r>
                    </a:p>
                  </a:txBody>
                  <a:tcPr>
                    <a:solidFill>
                      <a:srgbClr val="FFFFFF"/>
                    </a:solidFill>
                  </a:tcPr>
                </a:tc>
                <a:tc>
                  <a:txBody>
                    <a:bodyPr/>
                    <a:lstStyle/>
                    <a:p>
                      <a:pPr algn="ctr"/>
                      <a:r>
                        <a:rPr sz="1100" b="0">
                          <a:solidFill>
                            <a:srgbClr val="4A4A4A"/>
                          </a:solidFill>
                        </a:rPr>
                        <a:t>$548,000</a:t>
                      </a:r>
                    </a:p>
                  </a:txBody>
                  <a:tcPr>
                    <a:solidFill>
                      <a:srgbClr val="FFFFFF"/>
                    </a:solidFill>
                  </a:tcPr>
                </a:tc>
                <a:tc>
                  <a:txBody>
                    <a:bodyPr/>
                    <a:lstStyle/>
                    <a:p>
                      <a:pPr algn="ctr"/>
                      <a:r>
                        <a:rPr sz="1100" b="0">
                          <a:solidFill>
                            <a:srgbClr val="4A4A4A"/>
                          </a:solidFill>
                        </a:rPr>
                        <a:t>22 days</a:t>
                      </a:r>
                    </a:p>
                  </a:txBody>
                  <a:tcPr>
                    <a:solidFill>
                      <a:srgbClr val="FFFFFF"/>
                    </a:solidFill>
                  </a:tcPr>
                </a:tc>
                <a:tc>
                  <a:txBody>
                    <a:bodyPr/>
                    <a:lstStyle/>
                    <a:p>
                      <a:pPr algn="ctr"/>
                      <a:r>
                        <a:rPr sz="1100" b="0">
                          <a:solidFill>
                            <a:srgbClr val="4A4A4A"/>
                          </a:solidFill>
                        </a:rPr>
                        <a:t>$241</a:t>
                      </a:r>
                    </a:p>
                  </a:txBody>
                  <a:tcPr>
                    <a:solidFill>
                      <a:srgbClr val="FFFFFF"/>
                    </a:solidFill>
                  </a:tcPr>
                </a:tc>
                <a:tc>
                  <a:txBody>
                    <a:bodyPr/>
                    <a:lstStyle/>
                    <a:p>
                      <a:pPr algn="ctr"/>
                      <a:r>
                        <a:rPr sz="1100" b="0">
                          <a:solidFill>
                            <a:srgbClr val="4A4A4A"/>
                          </a:solidFill>
                        </a:rPr>
                        <a:t>48</a:t>
                      </a:r>
                    </a:p>
                  </a:txBody>
                  <a:tcPr>
                    <a:solidFill>
                      <a:srgbClr val="FFFFFF"/>
                    </a:solidFill>
                  </a:tcPr>
                </a:tc>
                <a:tc>
                  <a:txBody>
                    <a:bodyPr/>
                    <a:lstStyle/>
                    <a:p>
                      <a:pPr algn="ctr"/>
                      <a:r>
                        <a:rPr sz="1100" b="0">
                          <a:solidFill>
                            <a:srgbClr val="2D8A4E"/>
                          </a:solidFill>
                        </a:rPr>
                        <a:t>+5.0%</a:t>
                      </a:r>
                    </a:p>
                  </a:txBody>
                  <a:tcPr>
                    <a:solidFill>
                      <a:srgbClr val="FFFFFF"/>
                    </a:solidFill>
                  </a:tcPr>
                </a:tc>
              </a:tr>
              <a:tr h="600891">
                <a:tc>
                  <a:txBody>
                    <a:bodyPr/>
                    <a:lstStyle/>
                    <a:p>
                      <a:pPr algn="l"/>
                      <a:r>
                        <a:rPr sz="1100" b="1">
                          <a:solidFill>
                            <a:srgbClr val="1A2E4A"/>
                          </a:solidFill>
                        </a:rPr>
                        <a:t>Carrollwood</a:t>
                      </a:r>
                    </a:p>
                  </a:txBody>
                  <a:tcPr>
                    <a:solidFill>
                      <a:srgbClr val="F0EEE8"/>
                    </a:solidFill>
                  </a:tcPr>
                </a:tc>
                <a:tc>
                  <a:txBody>
                    <a:bodyPr/>
                    <a:lstStyle/>
                    <a:p>
                      <a:pPr algn="ctr"/>
                      <a:r>
                        <a:rPr sz="1100" b="0">
                          <a:solidFill>
                            <a:srgbClr val="4A4A4A"/>
                          </a:solidFill>
                        </a:rPr>
                        <a:t>$438,000</a:t>
                      </a:r>
                    </a:p>
                  </a:txBody>
                  <a:tcPr>
                    <a:solidFill>
                      <a:srgbClr val="F0EEE8"/>
                    </a:solidFill>
                  </a:tcPr>
                </a:tc>
                <a:tc>
                  <a:txBody>
                    <a:bodyPr/>
                    <a:lstStyle/>
                    <a:p>
                      <a:pPr algn="ctr"/>
                      <a:r>
                        <a:rPr sz="1100" b="0">
                          <a:solidFill>
                            <a:srgbClr val="4A4A4A"/>
                          </a:solidFill>
                        </a:rPr>
                        <a:t>30 days</a:t>
                      </a:r>
                    </a:p>
                  </a:txBody>
                  <a:tcPr>
                    <a:solidFill>
                      <a:srgbClr val="F0EEE8"/>
                    </a:solidFill>
                  </a:tcPr>
                </a:tc>
                <a:tc>
                  <a:txBody>
                    <a:bodyPr/>
                    <a:lstStyle/>
                    <a:p>
                      <a:pPr algn="ctr"/>
                      <a:r>
                        <a:rPr sz="1100" b="0">
                          <a:solidFill>
                            <a:srgbClr val="4A4A4A"/>
                          </a:solidFill>
                        </a:rPr>
                        <a:t>$219</a:t>
                      </a:r>
                    </a:p>
                  </a:txBody>
                  <a:tcPr>
                    <a:solidFill>
                      <a:srgbClr val="F0EEE8"/>
                    </a:solidFill>
                  </a:tcPr>
                </a:tc>
                <a:tc>
                  <a:txBody>
                    <a:bodyPr/>
                    <a:lstStyle/>
                    <a:p>
                      <a:pPr algn="ctr"/>
                      <a:r>
                        <a:rPr sz="1100" b="0">
                          <a:solidFill>
                            <a:srgbClr val="4A4A4A"/>
                          </a:solidFill>
                        </a:rPr>
                        <a:t>57</a:t>
                      </a:r>
                    </a:p>
                  </a:txBody>
                  <a:tcPr>
                    <a:solidFill>
                      <a:srgbClr val="F0EEE8"/>
                    </a:solidFill>
                  </a:tcPr>
                </a:tc>
                <a:tc>
                  <a:txBody>
                    <a:bodyPr/>
                    <a:lstStyle/>
                    <a:p>
                      <a:pPr algn="ctr"/>
                      <a:r>
                        <a:rPr sz="1100" b="0">
                          <a:solidFill>
                            <a:srgbClr val="2D8A4E"/>
                          </a:solidFill>
                        </a:rPr>
                        <a:t>+2.6%</a:t>
                      </a:r>
                    </a:p>
                  </a:txBody>
                  <a:tcPr>
                    <a:solidFill>
                      <a:srgbClr val="F0EEE8"/>
                    </a:solidFill>
                  </a:tcPr>
                </a:tc>
              </a:tr>
              <a:tr h="600891">
                <a:tc>
                  <a:txBody>
                    <a:bodyPr/>
                    <a:lstStyle/>
                    <a:p>
                      <a:pPr algn="l"/>
                      <a:r>
                        <a:rPr sz="1100" b="1">
                          <a:solidFill>
                            <a:srgbClr val="1A2E4A"/>
                          </a:solidFill>
                        </a:rPr>
                        <a:t>Seminole Heights</a:t>
                      </a:r>
                    </a:p>
                  </a:txBody>
                  <a:tcPr>
                    <a:solidFill>
                      <a:srgbClr val="FFFFFF"/>
                    </a:solidFill>
                  </a:tcPr>
                </a:tc>
                <a:tc>
                  <a:txBody>
                    <a:bodyPr/>
                    <a:lstStyle/>
                    <a:p>
                      <a:pPr algn="ctr"/>
                      <a:r>
                        <a:rPr sz="1100" b="0">
                          <a:solidFill>
                            <a:srgbClr val="4A4A4A"/>
                          </a:solidFill>
                        </a:rPr>
                        <a:t>$392,000</a:t>
                      </a:r>
                    </a:p>
                  </a:txBody>
                  <a:tcPr>
                    <a:solidFill>
                      <a:srgbClr val="FFFFFF"/>
                    </a:solidFill>
                  </a:tcPr>
                </a:tc>
                <a:tc>
                  <a:txBody>
                    <a:bodyPr/>
                    <a:lstStyle/>
                    <a:p>
                      <a:pPr algn="ctr"/>
                      <a:r>
                        <a:rPr sz="1100" b="0">
                          <a:solidFill>
                            <a:srgbClr val="4A4A4A"/>
                          </a:solidFill>
                        </a:rPr>
                        <a:t>34 days</a:t>
                      </a:r>
                    </a:p>
                  </a:txBody>
                  <a:tcPr>
                    <a:solidFill>
                      <a:srgbClr val="FFFFFF"/>
                    </a:solidFill>
                  </a:tcPr>
                </a:tc>
                <a:tc>
                  <a:txBody>
                    <a:bodyPr/>
                    <a:lstStyle/>
                    <a:p>
                      <a:pPr algn="ctr"/>
                      <a:r>
                        <a:rPr sz="1100" b="0">
                          <a:solidFill>
                            <a:srgbClr val="4A4A4A"/>
                          </a:solidFill>
                        </a:rPr>
                        <a:t>$268</a:t>
                      </a:r>
                    </a:p>
                  </a:txBody>
                  <a:tcPr>
                    <a:solidFill>
                      <a:srgbClr val="FFFFFF"/>
                    </a:solidFill>
                  </a:tcPr>
                </a:tc>
                <a:tc>
                  <a:txBody>
                    <a:bodyPr/>
                    <a:lstStyle/>
                    <a:p>
                      <a:pPr algn="ctr"/>
                      <a:r>
                        <a:rPr sz="1100" b="0">
                          <a:solidFill>
                            <a:srgbClr val="4A4A4A"/>
                          </a:solidFill>
                        </a:rPr>
                        <a:t>61</a:t>
                      </a:r>
                    </a:p>
                  </a:txBody>
                  <a:tcPr>
                    <a:solidFill>
                      <a:srgbClr val="FFFFFF"/>
                    </a:solidFill>
                  </a:tcPr>
                </a:tc>
                <a:tc>
                  <a:txBody>
                    <a:bodyPr/>
                    <a:lstStyle/>
                    <a:p>
                      <a:pPr algn="ctr"/>
                      <a:r>
                        <a:rPr sz="1100" b="0">
                          <a:solidFill>
                            <a:srgbClr val="2D8A4E"/>
                          </a:solidFill>
                        </a:rPr>
                        <a:t>+3.2%</a:t>
                      </a:r>
                    </a:p>
                  </a:txBody>
                  <a:tcPr>
                    <a:solidFill>
                      <a:srgbClr val="FFFFFF"/>
                    </a:solidFill>
                  </a:tcPr>
                </a:tc>
              </a:tr>
              <a:tr h="600894">
                <a:tc>
                  <a:txBody>
                    <a:bodyPr/>
                    <a:lstStyle/>
                    <a:p>
                      <a:pPr algn="l"/>
                      <a:r>
                        <a:rPr sz="1100" b="1">
                          <a:solidFill>
                            <a:srgbClr val="1A2E4A"/>
                          </a:solidFill>
                        </a:rPr>
                        <a:t>Channelside</a:t>
                      </a:r>
                    </a:p>
                  </a:txBody>
                  <a:tcPr>
                    <a:solidFill>
                      <a:srgbClr val="F0EEE8"/>
                    </a:solidFill>
                  </a:tcPr>
                </a:tc>
                <a:tc>
                  <a:txBody>
                    <a:bodyPr/>
                    <a:lstStyle/>
                    <a:p>
                      <a:pPr algn="ctr"/>
                      <a:r>
                        <a:rPr sz="1100" b="0">
                          <a:solidFill>
                            <a:srgbClr val="4A4A4A"/>
                          </a:solidFill>
                        </a:rPr>
                        <a:t>$298,000</a:t>
                      </a:r>
                    </a:p>
                  </a:txBody>
                  <a:tcPr>
                    <a:solidFill>
                      <a:srgbClr val="F0EEE8"/>
                    </a:solidFill>
                  </a:tcPr>
                </a:tc>
                <a:tc>
                  <a:txBody>
                    <a:bodyPr/>
                    <a:lstStyle/>
                    <a:p>
                      <a:pPr algn="ctr"/>
                      <a:r>
                        <a:rPr sz="1100" b="0">
                          <a:solidFill>
                            <a:srgbClr val="4A4A4A"/>
                          </a:solidFill>
                        </a:rPr>
                        <a:t>41 days</a:t>
                      </a:r>
                    </a:p>
                  </a:txBody>
                  <a:tcPr>
                    <a:solidFill>
                      <a:srgbClr val="F0EEE8"/>
                    </a:solidFill>
                  </a:tcPr>
                </a:tc>
                <a:tc>
                  <a:txBody>
                    <a:bodyPr/>
                    <a:lstStyle/>
                    <a:p>
                      <a:pPr algn="ctr"/>
                      <a:r>
                        <a:rPr sz="1100" b="0">
                          <a:solidFill>
                            <a:srgbClr val="4A4A4A"/>
                          </a:solidFill>
                        </a:rPr>
                        <a:t>$252</a:t>
                      </a:r>
                    </a:p>
                  </a:txBody>
                  <a:tcPr>
                    <a:solidFill>
                      <a:srgbClr val="F0EEE8"/>
                    </a:solidFill>
                  </a:tcPr>
                </a:tc>
                <a:tc>
                  <a:txBody>
                    <a:bodyPr/>
                    <a:lstStyle/>
                    <a:p>
                      <a:pPr algn="ctr"/>
                      <a:r>
                        <a:rPr sz="1100" b="0">
                          <a:solidFill>
                            <a:srgbClr val="4A4A4A"/>
                          </a:solidFill>
                        </a:rPr>
                        <a:t>73</a:t>
                      </a:r>
                    </a:p>
                  </a:txBody>
                  <a:tcPr>
                    <a:solidFill>
                      <a:srgbClr val="F0EEE8"/>
                    </a:solidFill>
                  </a:tcPr>
                </a:tc>
                <a:tc>
                  <a:txBody>
                    <a:bodyPr/>
                    <a:lstStyle/>
                    <a:p>
                      <a:pPr algn="ctr"/>
                      <a:r>
                        <a:rPr sz="1100" b="0">
                          <a:solidFill>
                            <a:srgbClr val="2D8A4E"/>
                          </a:solidFill>
                        </a:rPr>
                        <a:t>+1.8%</a:t>
                      </a:r>
                    </a:p>
                  </a:txBody>
                  <a:tcPr>
                    <a:solidFill>
                      <a:srgbClr val="F0EEE8"/>
                    </a:solidFill>
                  </a:tcPr>
                </a:tc>
              </a:tr>
            </a:tbl>
          </a:graphicData>
        </a:graphic>
      </p:graphicFrame>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4"/>
                                  </p:tgtEl>
                                  <p:attrNameLst>
                                    <p:attrName>style.visibility</p:attrName>
                                  </p:attrNameLst>
                                </p:cBhvr>
                                <p:to>
                                  <p:strVal val="visible"/>
                                </p:to>
                              </p:set>
                              <p:animEffect transition="in" filter="fade">
                                <p:cBhvr>
                                  <p:cTn id="6" dur="400" fill="hold"/>
                                  <p:tgtEl>
                                    <p:spTgt spid="4"/>
                                  </p:tgtEl>
                                </p:cBhvr>
                              </p:animEffect>
                            </p:childTnLst>
                          </p:cTn>
                        </p:par>
                        <p:par>
                          <p:cTn id="7" presetID="10" presetClass="entr" presetSubtype="0" fill="hold" grpId="0" nodeType="withEffect">
                            <p:stCondLst>
                              <p:cond delay="200"/>
                            </p:stCondLst>
                            <p:childTnLst>
                              <p:set>
                                <p:cBhvr>
                                  <p:cTn id="8" dur="1" fill="hold"/>
                                  <p:tgtEl>
                                    <p:spTgt spid="6"/>
                                  </p:tgtEl>
                                  <p:attrNameLst>
                                    <p:attrName>style.visibility</p:attrName>
                                  </p:attrNameLst>
                                </p:cBhvr>
                                <p:to>
                                  <p:strVal val="visible"/>
                                </p:to>
                              </p:set>
                              <p:animEffect transition="in" filter="fade">
                                <p:cBhvr>
                                  <p:cTn id="9" dur="400" fill="hold"/>
                                  <p:tgtEl>
                                    <p:spTgt spid="6"/>
                                  </p:tgtEl>
                                </p:cBhvr>
                              </p:animEffect>
                            </p:childTnLst>
                          </p:cTn>
                        </p:par>
                      </p:childTnLst>
                    </p:cTn>
                  </p:par>
                </p:childTnLst>
              </p:cTn>
              <p:prevCondLst>
                <p:cond evt="onPrevClick" delay="0">
                  <p:tn/>
                </p:cond>
              </p:prevCondLst>
              <p:nextCondLst>
                <p:cond evt="onNextClick" delay="0">
                  <p:tn/>
                </p:cond>
              </p:nextCondLst>
            </p:seq>
          </p:childTnLst>
        </p:cTn>
      </p:par>
    </p:tnLst>
    <p:bldLst>
      <p:bldSp spid="4" grpId="0"/>
      <p:bldSp spid="6" grpId="0"/>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188720"/>
            <a:ext cx="112471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731520"/>
          </a:xfrm>
          <a:prstGeom prst="rect">
            <a:avLst/>
          </a:prstGeom>
          <a:noFill/>
        </p:spPr>
        <p:txBody>
          <a:bodyPr wrap="square">
            <a:spAutoFit/>
          </a:bodyPr>
          <a:lstStyle/>
          <a:p>
            <a:pPr algn="l"/>
            <a:r>
              <a:rPr sz="3000" b="1" i="0">
                <a:solidFill>
                  <a:srgbClr val="1A2E4A"/>
                </a:solidFill>
              </a:rPr>
              <a:t>Median Sale Price by Neighborhood</a:t>
            </a:r>
          </a:p>
        </p:txBody>
      </p:sp>
      <p:sp>
        <p:nvSpPr>
          <p:cNvPr id="5" name="TextBox 4"/>
          <p:cNvSpPr txBox="1"/>
          <p:nvPr/>
        </p:nvSpPr>
        <p:spPr>
          <a:xfrm>
            <a:off x="457200" y="822960"/>
            <a:ext cx="11247120" cy="320040"/>
          </a:xfrm>
          <a:prstGeom prst="rect">
            <a:avLst/>
          </a:prstGeom>
          <a:noFill/>
        </p:spPr>
        <p:txBody>
          <a:bodyPr wrap="square">
            <a:spAutoFit/>
          </a:bodyPr>
          <a:lstStyle/>
          <a:p>
            <a:pPr algn="l"/>
            <a:r>
              <a:rPr sz="1200" b="0" i="0">
                <a:solidFill>
                  <a:srgbClr val="4A4A4A"/>
                </a:solidFill>
              </a:rPr>
              <a:t>October 2026 | Source: Brittany Morales market research</a:t>
            </a:r>
          </a:p>
        </p:txBody>
      </p:sp>
      <p:graphicFrame>
        <p:nvGraphicFramePr>
          <p:cNvPr id="6" name="Chart 5"/>
          <p:cNvGraphicFramePr>
            <a:graphicFrameLocks noGrp="1"/>
          </p:cNvGraphicFramePr>
          <p:nvPr/>
        </p:nvGraphicFramePr>
        <p:xfrm>
          <a:off x="457200" y="1371600"/>
          <a:ext cx="11247120" cy="5120640"/>
        </p:xfrm>
        <a:graphic>
          <a:graphicData uri="http://schemas.openxmlformats.org/drawingml/2006/chart">
            <c:chart xmlns:c="http://schemas.openxmlformats.org/drawingml/2006/chart" r:id="rId2"/>
          </a:graphicData>
        </a:graphic>
      </p:graphicFrame>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4"/>
                                  </p:tgtEl>
                                  <p:attrNameLst>
                                    <p:attrName>style.visibility</p:attrName>
                                  </p:attrNameLst>
                                </p:cBhvr>
                                <p:to>
                                  <p:strVal val="visible"/>
                                </p:to>
                              </p:set>
                              <p:animEffect transition="in" filter="fade">
                                <p:cBhvr>
                                  <p:cTn id="6" dur="400" fill="hold"/>
                                  <p:tgtEl>
                                    <p:spTgt spid="4"/>
                                  </p:tgtEl>
                                </p:cBhvr>
                              </p:animEffect>
                            </p:childTnLst>
                          </p:cTn>
                        </p:par>
                        <p:par>
                          <p:cTn id="7" presetID="10" presetClass="entr" presetSubtype="0" fill="hold" grpId="0" nodeType="withEffect">
                            <p:stCondLst>
                              <p:cond delay="200"/>
                            </p:stCondLst>
                            <p:childTnLst>
                              <p:set>
                                <p:cBhvr>
                                  <p:cTn id="8" dur="1" fill="hold"/>
                                  <p:tgtEl>
                                    <p:spTgt spid="6"/>
                                  </p:tgtEl>
                                  <p:attrNameLst>
                                    <p:attrName>style.visibility</p:attrName>
                                  </p:attrNameLst>
                                </p:cBhvr>
                                <p:to>
                                  <p:strVal val="visible"/>
                                </p:to>
                              </p:set>
                              <p:animEffect transition="in" filter="fade">
                                <p:cBhvr>
                                  <p:cTn id="9" dur="400" fill="hold"/>
                                  <p:tgtEl>
                                    <p:spTgt spid="6"/>
                                  </p:tgtEl>
                                </p:cBhvr>
                              </p:animEffect>
                            </p:childTnLst>
                          </p:cTn>
                        </p:par>
                      </p:childTnLst>
                    </p:cTn>
                  </p:par>
                </p:childTnLst>
              </p:cTn>
              <p:prevCondLst>
                <p:cond evt="onPrevClick" delay="0">
                  <p:tn/>
                </p:cond>
              </p:prevCondLst>
              <p:nextCondLst>
                <p:cond evt="onNextClick" delay="0">
                  <p:tn/>
                </p:cond>
              </p:nextCondLst>
            </p:seq>
          </p:childTnLst>
        </p:cTn>
      </p:par>
    </p:tnLst>
    <p:bldLst>
      <p:bldSp spid="4" grpId="0"/>
      <p:bldSp spid="6" grpId="0"/>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234440"/>
            <a:ext cx="841248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731520"/>
          </a:xfrm>
          <a:prstGeom prst="rect">
            <a:avLst/>
          </a:prstGeom>
          <a:noFill/>
        </p:spPr>
        <p:txBody>
          <a:bodyPr wrap="square">
            <a:spAutoFit/>
          </a:bodyPr>
          <a:lstStyle/>
          <a:p>
            <a:pPr algn="l"/>
            <a:r>
              <a:rPr sz="3200" b="1" i="0">
                <a:solidFill>
                  <a:srgbClr val="FFFFFF"/>
                </a:solidFill>
              </a:rPr>
              <a:t>Active Listings</a:t>
            </a:r>
          </a:p>
        </p:txBody>
      </p:sp>
      <p:sp>
        <p:nvSpPr>
          <p:cNvPr id="5" name="TextBox 4"/>
          <p:cNvSpPr txBox="1"/>
          <p:nvPr/>
        </p:nvSpPr>
        <p:spPr>
          <a:xfrm>
            <a:off x="457200" y="868680"/>
            <a:ext cx="8229600" cy="320040"/>
          </a:xfrm>
          <a:prstGeom prst="rect">
            <a:avLst/>
          </a:prstGeom>
          <a:noFill/>
        </p:spPr>
        <p:txBody>
          <a:bodyPr wrap="square">
            <a:spAutoFit/>
          </a:bodyPr>
          <a:lstStyle/>
          <a:p>
            <a:pPr algn="l"/>
            <a:r>
              <a:rPr sz="1200" b="0" i="0">
                <a:solidFill>
                  <a:srgbClr val="C9A84C"/>
                </a:solidFill>
              </a:rPr>
              <a:t>Three properties under Brittany Morales, SunCoast Realty Group</a:t>
            </a:r>
          </a:p>
        </p:txBody>
      </p:sp>
      <p:pic>
        <p:nvPicPr>
          <p:cNvPr id="6" name="Picture 5" descr="13img.jpg"/>
          <p:cNvPicPr>
            <a:picLocks noChangeAspect="1"/>
          </p:cNvPicPr>
          <p:nvPr/>
        </p:nvPicPr>
        <p:blipFill>
          <a:blip r:embed="rId2"/>
          <a:stretch>
            <a:fillRect/>
          </a:stretch>
        </p:blipFill>
        <p:spPr>
          <a:xfrm>
            <a:off x="9144000" y="1371600"/>
            <a:ext cx="2834640" cy="2103120"/>
          </a:xfrm>
          <a:prstGeom prst="rect">
            <a:avLst/>
          </a:prstGeom>
        </p:spPr>
      </p:pic>
      <p:sp>
        <p:nvSpPr>
          <p:cNvPr id="7" name="Rectangle 6"/>
          <p:cNvSpPr/>
          <p:nvPr/>
        </p:nvSpPr>
        <p:spPr>
          <a:xfrm>
            <a:off x="457200" y="1554480"/>
            <a:ext cx="8412480" cy="1508760"/>
          </a:xfrm>
          <a:prstGeom prst="rect">
            <a:avLst/>
          </a:prstGeom>
          <a:solidFill>
            <a:srgbClr val="243A5A"/>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300" b="1">
                <a:solidFill>
                  <a:srgbClr val="FFFFFF"/>
                </a:solidFill>
              </a:rPr>
              <a:t>12508 Westchester Estates Dr  |  Westchase</a:t>
            </a:r>
          </a:p>
          <a:p>
            <a:pPr algn="l">
              <a:spcBef>
                <a:spcPts val="0"/>
              </a:spcBef>
            </a:pPr>
            <a:r>
              <a:rPr sz="1100" b="0">
                <a:solidFill>
                  <a:srgbClr val="C9A84C"/>
                </a:solidFill>
              </a:rPr>
              <a:t>$525,000  |  4/3 - 2,760 sqft  |  Active - 9 DOM</a:t>
            </a:r>
          </a:p>
          <a:p>
            <a:pPr algn="l">
              <a:spcBef>
                <a:spcPts val="0"/>
              </a:spcBef>
            </a:pPr>
            <a:r>
              <a:rPr sz="1000" b="0">
                <a:solidFill>
                  <a:srgbClr val="AABBCC"/>
                </a:solidFill>
              </a:rPr>
              <a:t>Open house Oct 17. Pre-listing inspection clean. Nguyens interested at asking.</a:t>
            </a:r>
          </a:p>
        </p:txBody>
      </p:sp>
      <p:sp>
        <p:nvSpPr>
          <p:cNvPr id="8" name="Rectangle 7"/>
          <p:cNvSpPr/>
          <p:nvPr/>
        </p:nvSpPr>
        <p:spPr>
          <a:xfrm>
            <a:off x="457200" y="3246120"/>
            <a:ext cx="8412480" cy="1508760"/>
          </a:xfrm>
          <a:prstGeom prst="rect">
            <a:avLst/>
          </a:prstGeom>
          <a:solidFill>
            <a:srgbClr val="243A5A"/>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300" b="1">
                <a:solidFill>
                  <a:srgbClr val="FFFFFF"/>
                </a:solidFill>
              </a:rPr>
              <a:t>1014 E Frierson Ave  |  Seminole Heights</a:t>
            </a:r>
          </a:p>
          <a:p>
            <a:pPr algn="l">
              <a:spcBef>
                <a:spcPts val="0"/>
              </a:spcBef>
            </a:pPr>
            <a:r>
              <a:rPr sz="1100" b="0">
                <a:solidFill>
                  <a:srgbClr val="C9A84C"/>
                </a:solidFill>
              </a:rPr>
              <a:t>$389,000  |  3/2 - 1,540 sqft  |  Active - 272 DOM</a:t>
            </a:r>
          </a:p>
          <a:p>
            <a:pPr algn="l">
              <a:spcBef>
                <a:spcPts val="0"/>
              </a:spcBef>
            </a:pPr>
            <a:r>
              <a:rPr sz="1000" b="0">
                <a:solidFill>
                  <a:srgbClr val="AABBCC"/>
                </a:solidFill>
              </a:rPr>
              <a:t>Price reduction review pending. Petersons at $350K. Gap needs bridging.</a:t>
            </a:r>
          </a:p>
        </p:txBody>
      </p:sp>
      <p:sp>
        <p:nvSpPr>
          <p:cNvPr id="9" name="Rectangle 8"/>
          <p:cNvSpPr/>
          <p:nvPr/>
        </p:nvSpPr>
        <p:spPr>
          <a:xfrm>
            <a:off x="457200" y="4937760"/>
            <a:ext cx="8412480" cy="1508760"/>
          </a:xfrm>
          <a:prstGeom prst="rect">
            <a:avLst/>
          </a:prstGeom>
          <a:solidFill>
            <a:srgbClr val="243A5A"/>
          </a:solidFill>
          <a:ln w="9525">
            <a:solidFill>
              <a:srgbClr val="C9A84C"/>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l"/>
            <a:r>
              <a:rPr sz="1300" b="1">
                <a:solidFill>
                  <a:srgbClr val="FFFFFF"/>
                </a:solidFill>
              </a:rPr>
              <a:t>1120 E Kennedy Blvd #814  |  Channelside</a:t>
            </a:r>
          </a:p>
          <a:p>
            <a:pPr algn="l">
              <a:spcBef>
                <a:spcPts val="0"/>
              </a:spcBef>
            </a:pPr>
            <a:r>
              <a:rPr sz="1100" b="0">
                <a:solidFill>
                  <a:srgbClr val="C9A84C"/>
                </a:solidFill>
              </a:rPr>
              <a:t>$285,000  |  2/2 - 1,180 sqft  |  Offer Pending</a:t>
            </a:r>
          </a:p>
          <a:p>
            <a:pPr algn="l">
              <a:spcBef>
                <a:spcPts val="0"/>
              </a:spcBef>
            </a:pPr>
            <a:r>
              <a:rPr sz="1000" b="0">
                <a:solidFill>
                  <a:srgbClr val="AABBCC"/>
                </a:solidFill>
              </a:rPr>
              <a:t>CMA supports $285K. Offer under review. Estimated close October 18.</a:t>
            </a:r>
          </a:p>
        </p:txBody>
      </p:sp>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4"/>
                                  </p:tgtEl>
                                  <p:attrNameLst>
                                    <p:attrName>style.visibility</p:attrName>
                                  </p:attrNameLst>
                                </p:cBhvr>
                                <p:to>
                                  <p:strVal val="visible"/>
                                </p:to>
                              </p:set>
                              <p:animEffect transition="in" filter="fade">
                                <p:cBhvr>
                                  <p:cTn id="6" dur="400" fill="hold"/>
                                  <p:tgtEl>
                                    <p:spTgt spid="4"/>
                                  </p:tgtEl>
                                </p:cBhvr>
                              </p:animEffect>
                            </p:childTnLst>
                          </p:cTn>
                        </p:par>
                        <p:par>
                          <p:cTn id="7" presetID="10" presetClass="entr" presetSubtype="0" fill="hold" grpId="0" nodeType="withEffect">
                            <p:stCondLst>
                              <p:cond delay="0"/>
                            </p:stCondLst>
                            <p:childTnLst>
                              <p:set>
                                <p:cBhvr>
                                  <p:cTn id="8" dur="1" fill="hold"/>
                                  <p:tgtEl>
                                    <p:spTgt spid="7"/>
                                  </p:tgtEl>
                                  <p:attrNameLst>
                                    <p:attrName>style.visibility</p:attrName>
                                  </p:attrNameLst>
                                </p:cBhvr>
                                <p:to>
                                  <p:strVal val="visible"/>
                                </p:to>
                              </p:set>
                              <p:animEffect transition="in" filter="fade">
                                <p:cBhvr>
                                  <p:cTn id="9" dur="400" fill="hold"/>
                                  <p:tgtEl>
                                    <p:spTgt spid="7"/>
                                  </p:tgtEl>
                                </p:cBhvr>
                              </p:animEffect>
                            </p:childTnLst>
                          </p:cTn>
                        </p:par>
                        <p:par>
                          <p:cTn id="10" presetID="10" presetClass="entr" presetSubtype="0" fill="hold" grpId="0" nodeType="withEffect">
                            <p:stCondLst>
                              <p:cond delay="200"/>
                            </p:stCondLst>
                            <p:childTnLst>
                              <p:set>
                                <p:cBhvr>
                                  <p:cTn id="11" dur="1" fill="hold"/>
                                  <p:tgtEl>
                                    <p:spTgt spid="8"/>
                                  </p:tgtEl>
                                  <p:attrNameLst>
                                    <p:attrName>style.visibility</p:attrName>
                                  </p:attrNameLst>
                                </p:cBhvr>
                                <p:to>
                                  <p:strVal val="visible"/>
                                </p:to>
                              </p:set>
                              <p:animEffect transition="in" filter="fade">
                                <p:cBhvr>
                                  <p:cTn id="12" dur="400" fill="hold"/>
                                  <p:tgtEl>
                                    <p:spTgt spid="8"/>
                                  </p:tgtEl>
                                </p:cBhvr>
                              </p:animEffect>
                            </p:childTnLst>
                          </p:cTn>
                        </p:par>
                        <p:par>
                          <p:cTn id="13" presetID="10" presetClass="entr" presetSubtype="0" fill="hold" grpId="0" nodeType="withEffect">
                            <p:stCondLst>
                              <p:cond delay="400"/>
                            </p:stCondLst>
                            <p:childTnLst>
                              <p:set>
                                <p:cBhvr>
                                  <p:cTn id="14" dur="1" fill="hold"/>
                                  <p:tgtEl>
                                    <p:spTgt spid="9"/>
                                  </p:tgtEl>
                                  <p:attrNameLst>
                                    <p:attrName>style.visibility</p:attrName>
                                  </p:attrNameLst>
                                </p:cBhvr>
                                <p:to>
                                  <p:strVal val="visible"/>
                                </p:to>
                              </p:set>
                              <p:animEffect transition="in" filter="fade">
                                <p:cBhvr>
                                  <p:cTn id="15" dur="400" fill="hold"/>
                                  <p:tgtEl>
                                    <p:spTgt spid="9"/>
                                  </p:tgtEl>
                                </p:cBhvr>
                              </p:animEffect>
                            </p:childTnLst>
                          </p:cTn>
                        </p:par>
                      </p:childTnLst>
                    </p:cTn>
                  </p:par>
                </p:childTnLst>
              </p:cTn>
              <p:prevCondLst>
                <p:cond evt="onPrevClick" delay="0">
                  <p:tn/>
                </p:cond>
              </p:prevCondLst>
              <p:nextCondLst>
                <p:cond evt="onNextClick" delay="0">
                  <p:tn/>
                </p:cond>
              </p:nextCondLst>
            </p:seq>
          </p:childTnLst>
        </p:cTn>
      </p:par>
    </p:tnLst>
    <p:bldLst>
      <p:bldSp spid="4" grpId="0"/>
      <p:bldSp spid="7" grpId="0"/>
      <p:bldSp spid="8" grpId="0"/>
      <p:bldSp spid="9" grpId="0"/>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2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188720"/>
            <a:ext cx="8321040" cy="4572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8229600" cy="731520"/>
          </a:xfrm>
          <a:prstGeom prst="rect">
            <a:avLst/>
          </a:prstGeom>
          <a:noFill/>
        </p:spPr>
        <p:txBody>
          <a:bodyPr wrap="square">
            <a:spAutoFit/>
          </a:bodyPr>
          <a:lstStyle/>
          <a:p>
            <a:pPr algn="l"/>
            <a:r>
              <a:rPr sz="3200" b="1" i="0">
                <a:solidFill>
                  <a:srgbClr val="1A2E4A"/>
                </a:solidFill>
              </a:rPr>
              <a:t>Active Buyer Pipeline</a:t>
            </a:r>
          </a:p>
        </p:txBody>
      </p:sp>
      <p:pic>
        <p:nvPicPr>
          <p:cNvPr id="5" name="Picture 4" descr="10img.jpg"/>
          <p:cNvPicPr>
            <a:picLocks noChangeAspect="1"/>
          </p:cNvPicPr>
          <p:nvPr/>
        </p:nvPicPr>
        <p:blipFill>
          <a:blip r:embed="rId2"/>
          <a:stretch>
            <a:fillRect/>
          </a:stretch>
        </p:blipFill>
        <p:spPr>
          <a:xfrm>
            <a:off x="8961120" y="1371600"/>
            <a:ext cx="2834640" cy="5029200"/>
          </a:xfrm>
          <a:prstGeom prst="rect">
            <a:avLst/>
          </a:prstGeom>
        </p:spPr>
      </p:pic>
      <p:sp>
        <p:nvSpPr>
          <p:cNvPr id="6" name="Rectangle 5"/>
          <p:cNvSpPr/>
          <p:nvPr/>
        </p:nvSpPr>
        <p:spPr>
          <a:xfrm>
            <a:off x="457200" y="1371600"/>
            <a:ext cx="8321040" cy="1508760"/>
          </a:xfrm>
          <a:prstGeom prst="rect">
            <a:avLst/>
          </a:prstGeom>
          <a:solidFill>
            <a:srgbClr val="FFFFFF"/>
          </a:solidFill>
          <a:ln w="9525">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256032" tIns="91440"/>
          <a:lstStyle/>
          <a:p>
            <a:pPr algn="l"/>
            <a:r>
              <a:rPr sz="1200" b="1">
                <a:solidFill>
                  <a:srgbClr val="1A2E4A"/>
                </a:solidFill>
              </a:rPr>
              <a:t>Petersons  |  Budget: $350,000  |  Pre-approved</a:t>
            </a:r>
          </a:p>
          <a:p>
            <a:pPr algn="l">
              <a:spcBef>
                <a:spcPts val="0"/>
              </a:spcBef>
            </a:pPr>
            <a:r>
              <a:rPr sz="1000" b="0">
                <a:solidFill>
                  <a:srgbClr val="4A4A4A"/>
                </a:solidFill>
              </a:rPr>
              <a:t>Areas: South Tampa, Seminole Heights  |  Needs: 3BR min</a:t>
            </a:r>
          </a:p>
          <a:p>
            <a:pPr algn="l">
              <a:spcBef>
                <a:spcPts val="300"/>
              </a:spcBef>
            </a:pPr>
            <a:r>
              <a:rPr sz="1000" b="0">
                <a:solidFill>
                  <a:srgbClr val="2D6A4F"/>
                </a:solidFill>
              </a:rPr>
              <a:t>Next: First-time buyers. Showed Frierson Oct 12. Pull comps, schedule call.</a:t>
            </a:r>
          </a:p>
        </p:txBody>
      </p:sp>
      <p:sp>
        <p:nvSpPr>
          <p:cNvPr id="7" name="Rectangle 6"/>
          <p:cNvSpPr/>
          <p:nvPr/>
        </p:nvSpPr>
        <p:spPr>
          <a:xfrm>
            <a:off x="457200" y="1371600"/>
            <a:ext cx="137160" cy="15087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3108960"/>
            <a:ext cx="8321040" cy="1508760"/>
          </a:xfrm>
          <a:prstGeom prst="rect">
            <a:avLst/>
          </a:prstGeom>
          <a:solidFill>
            <a:srgbClr val="FFFFFF"/>
          </a:solidFill>
          <a:ln w="9525">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256032" tIns="91440"/>
          <a:lstStyle/>
          <a:p>
            <a:pPr algn="l"/>
            <a:r>
              <a:rPr sz="1200" b="1">
                <a:solidFill>
                  <a:srgbClr val="1A2E4A"/>
                </a:solidFill>
              </a:rPr>
              <a:t>Nguyens  |  Budget: $500,000  |  Pre-approved</a:t>
            </a:r>
          </a:p>
          <a:p>
            <a:pPr algn="l">
              <a:spcBef>
                <a:spcPts val="0"/>
              </a:spcBef>
            </a:pPr>
            <a:r>
              <a:rPr sz="1000" b="0">
                <a:solidFill>
                  <a:srgbClr val="4A4A4A"/>
                </a:solidFill>
              </a:rPr>
              <a:t>Areas: Westchase, Carrollwood  |  Needs: 4BR, top school zone</a:t>
            </a:r>
          </a:p>
          <a:p>
            <a:pPr algn="l">
              <a:spcBef>
                <a:spcPts val="300"/>
              </a:spcBef>
            </a:pPr>
            <a:r>
              <a:rPr sz="1000" b="0">
                <a:solidFill>
                  <a:srgbClr val="2D6A4F"/>
                </a:solidFill>
              </a:rPr>
              <a:t>Next: Attended Westchase open house Oct 17. Loved it. Discuss offer strategy Monday.</a:t>
            </a:r>
          </a:p>
        </p:txBody>
      </p:sp>
      <p:sp>
        <p:nvSpPr>
          <p:cNvPr id="9" name="Rectangle 8"/>
          <p:cNvSpPr/>
          <p:nvPr/>
        </p:nvSpPr>
        <p:spPr>
          <a:xfrm>
            <a:off x="457200" y="3108960"/>
            <a:ext cx="137160" cy="15087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4846320"/>
            <a:ext cx="8321040" cy="1508760"/>
          </a:xfrm>
          <a:prstGeom prst="rect">
            <a:avLst/>
          </a:prstGeom>
          <a:solidFill>
            <a:srgbClr val="FFFFFF"/>
          </a:solidFill>
          <a:ln w="9525">
            <a:solidFill>
              <a:srgbClr val="1A2E4A"/>
            </a:solidFill>
          </a:ln>
        </p:spPr>
        <p:style>
          <a:lnRef idx="1">
            <a:schemeClr val="accent1"/>
          </a:lnRef>
          <a:fillRef idx="3">
            <a:schemeClr val="accent1"/>
          </a:fillRef>
          <a:effectRef idx="2">
            <a:schemeClr val="accent1"/>
          </a:effectRef>
          <a:fontRef idx="minor">
            <a:schemeClr val="lt1"/>
          </a:fontRef>
        </p:style>
        <p:txBody>
          <a:bodyPr rtlCol="0" anchor="ctr" wrap="square" lIns="256032" tIns="91440"/>
          <a:lstStyle/>
          <a:p>
            <a:pPr algn="l"/>
            <a:r>
              <a:rPr sz="1200" b="1">
                <a:solidFill>
                  <a:srgbClr val="1A2E4A"/>
                </a:solidFill>
              </a:rPr>
              <a:t>Dr. Ramirez  |  Budget: $450,000  |  Pre-approved</a:t>
            </a:r>
          </a:p>
          <a:p>
            <a:pPr algn="l">
              <a:spcBef>
                <a:spcPts val="0"/>
              </a:spcBef>
            </a:pPr>
            <a:r>
              <a:rPr sz="1000" b="0">
                <a:solidFill>
                  <a:srgbClr val="4A4A4A"/>
                </a:solidFill>
              </a:rPr>
              <a:t>Areas: Channelside, Bayshore  |  Needs: Waterfront required</a:t>
            </a:r>
          </a:p>
          <a:p>
            <a:pPr algn="l">
              <a:spcBef>
                <a:spcPts val="300"/>
              </a:spcBef>
            </a:pPr>
            <a:r>
              <a:rPr sz="1000" b="0">
                <a:solidFill>
                  <a:srgbClr val="2D6A4F"/>
                </a:solidFill>
              </a:rPr>
              <a:t>Next: Relocating from Miami. Toured Channelside #814. Compare waterfront options.</a:t>
            </a:r>
          </a:p>
        </p:txBody>
      </p:sp>
      <p:sp>
        <p:nvSpPr>
          <p:cNvPr id="11" name="Rectangle 10"/>
          <p:cNvSpPr/>
          <p:nvPr/>
        </p:nvSpPr>
        <p:spPr>
          <a:xfrm>
            <a:off x="457200" y="4846320"/>
            <a:ext cx="137160" cy="150876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4"/>
                                  </p:tgtEl>
                                  <p:attrNameLst>
                                    <p:attrName>style.visibility</p:attrName>
                                  </p:attrNameLst>
                                </p:cBhvr>
                                <p:to>
                                  <p:strVal val="visible"/>
                                </p:to>
                              </p:set>
                              <p:animEffect transition="in" filter="fade">
                                <p:cBhvr>
                                  <p:cTn id="6" dur="400" fill="hold"/>
                                  <p:tgtEl>
                                    <p:spTgt spid="4"/>
                                  </p:tgtEl>
                                </p:cBhvr>
                              </p:animEffect>
                            </p:childTnLst>
                          </p:cTn>
                        </p:par>
                        <p:par>
                          <p:cTn id="7" presetID="10" presetClass="entr" presetSubtype="0" fill="hold" grpId="0" nodeType="withEffect">
                            <p:stCondLst>
                              <p:cond delay="0"/>
                            </p:stCondLst>
                            <p:childTnLst>
                              <p:set>
                                <p:cBhvr>
                                  <p:cTn id="8" dur="1" fill="hold"/>
                                  <p:tgtEl>
                                    <p:spTgt spid="6"/>
                                  </p:tgtEl>
                                  <p:attrNameLst>
                                    <p:attrName>style.visibility</p:attrName>
                                  </p:attrNameLst>
                                </p:cBhvr>
                                <p:to>
                                  <p:strVal val="visible"/>
                                </p:to>
                              </p:set>
                              <p:animEffect transition="in" filter="fade">
                                <p:cBhvr>
                                  <p:cTn id="9" dur="400" fill="hold"/>
                                  <p:tgtEl>
                                    <p:spTgt spid="6"/>
                                  </p:tgtEl>
                                </p:cBhvr>
                              </p:animEffect>
                            </p:childTnLst>
                          </p:cTn>
                        </p:par>
                        <p:par>
                          <p:cTn id="10" presetID="10" presetClass="entr" presetSubtype="0" fill="hold" grpId="0" nodeType="withEffect">
                            <p:stCondLst>
                              <p:cond delay="200"/>
                            </p:stCondLst>
                            <p:childTnLst>
                              <p:set>
                                <p:cBhvr>
                                  <p:cTn id="11" dur="1" fill="hold"/>
                                  <p:tgtEl>
                                    <p:spTgt spid="8"/>
                                  </p:tgtEl>
                                  <p:attrNameLst>
                                    <p:attrName>style.visibility</p:attrName>
                                  </p:attrNameLst>
                                </p:cBhvr>
                                <p:to>
                                  <p:strVal val="visible"/>
                                </p:to>
                              </p:set>
                              <p:animEffect transition="in" filter="fade">
                                <p:cBhvr>
                                  <p:cTn id="12" dur="400" fill="hold"/>
                                  <p:tgtEl>
                                    <p:spTgt spid="8"/>
                                  </p:tgtEl>
                                </p:cBhvr>
                              </p:animEffect>
                            </p:childTnLst>
                          </p:cTn>
                        </p:par>
                        <p:par>
                          <p:cTn id="13" presetID="10" presetClass="entr" presetSubtype="0" fill="hold" grpId="0" nodeType="withEffect">
                            <p:stCondLst>
                              <p:cond delay="400"/>
                            </p:stCondLst>
                            <p:childTnLst>
                              <p:set>
                                <p:cBhvr>
                                  <p:cTn id="14" dur="1" fill="hold"/>
                                  <p:tgtEl>
                                    <p:spTgt spid="10"/>
                                  </p:tgtEl>
                                  <p:attrNameLst>
                                    <p:attrName>style.visibility</p:attrName>
                                  </p:attrNameLst>
                                </p:cBhvr>
                                <p:to>
                                  <p:strVal val="visible"/>
                                </p:to>
                              </p:set>
                              <p:animEffect transition="in" filter="fade">
                                <p:cBhvr>
                                  <p:cTn id="15" dur="400" fill="hold"/>
                                  <p:tgtEl>
                                    <p:spTgt spid="10"/>
                                  </p:tgtEl>
                                </p:cBhvr>
                              </p:animEffect>
                            </p:childTnLst>
                          </p:cTn>
                        </p:par>
                      </p:childTnLst>
                    </p:cTn>
                  </p:par>
                </p:childTnLst>
              </p:cTn>
              <p:prevCondLst>
                <p:cond evt="onPrevClick" delay="0">
                  <p:tn/>
                </p:cond>
              </p:prevCondLst>
              <p:nextCondLst>
                <p:cond evt="onNextClick" delay="0">
                  <p:tn/>
                </p:cond>
              </p:nextCondLst>
            </p:seq>
          </p:childTnLst>
        </p:cTn>
      </p:par>
    </p:tnLst>
    <p:bldLst>
      <p:bldSp spid="4" grpId="0"/>
      <p:bldSp spid="6" grpId="0"/>
      <p:bldSp spid="8" grpId="0"/>
      <p:bldSp spid="10" grpId="0"/>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1188720"/>
            <a:ext cx="11247120" cy="45720"/>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731520"/>
          </a:xfrm>
          <a:prstGeom prst="rect">
            <a:avLst/>
          </a:prstGeom>
          <a:noFill/>
        </p:spPr>
        <p:txBody>
          <a:bodyPr wrap="square">
            <a:spAutoFit/>
          </a:bodyPr>
          <a:lstStyle/>
          <a:p>
            <a:pPr algn="l"/>
            <a:r>
              <a:rPr sz="3200" b="1" i="0">
                <a:solidFill>
                  <a:srgbClr val="1A2E4A"/>
                </a:solidFill>
              </a:rPr>
              <a:t>Year-to-Date Performance</a:t>
            </a:r>
          </a:p>
        </p:txBody>
      </p:sp>
      <p:graphicFrame>
        <p:nvGraphicFramePr>
          <p:cNvPr id="5" name="Chart 4"/>
          <p:cNvGraphicFramePr>
            <a:graphicFrameLocks noGrp="1"/>
          </p:cNvGraphicFramePr>
          <p:nvPr/>
        </p:nvGraphicFramePr>
        <p:xfrm>
          <a:off x="457200" y="1371600"/>
          <a:ext cx="6858000" cy="5120640"/>
        </p:xfrm>
        <a:graphic>
          <a:graphicData uri="http://schemas.openxmlformats.org/drawingml/2006/chart">
            <c:chart xmlns:c="http://schemas.openxmlformats.org/drawingml/2006/chart" r:id="rId2"/>
          </a:graphicData>
        </a:graphic>
      </p:graphicFrame>
      <p:sp>
        <p:nvSpPr>
          <p:cNvPr id="6" name="Rectangle 5"/>
          <p:cNvSpPr/>
          <p:nvPr/>
        </p:nvSpPr>
        <p:spPr>
          <a:xfrm>
            <a:off x="7589520" y="1371600"/>
            <a:ext cx="4114800" cy="5120640"/>
          </a:xfrm>
          <a:prstGeom prst="rect">
            <a:avLst/>
          </a:prstGeom>
          <a:solidFill>
            <a:srgbClr val="F2F0EB"/>
          </a:solidFill>
          <a:ln w="6350">
            <a:solidFill>
              <a:srgbClr val="D0C8BB"/>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l"/>
            <a:r>
              <a:rPr sz="1600" b="1">
                <a:solidFill>
                  <a:srgbClr val="1A2E4A"/>
                </a:solidFill>
              </a:rPr>
              <a:t>YTD Summary</a:t>
            </a:r>
          </a:p>
          <a:p>
            <a:pPr algn="l">
              <a:spcBef>
                <a:spcPts val="300"/>
              </a:spcBef>
            </a:pPr>
            <a:r>
              <a:rPr sz="1100" b="0">
                <a:solidFill>
                  <a:srgbClr val="4A4A4A"/>
                </a:solidFill>
              </a:rPr>
              <a:t>Closed Volume:  $1,834,500</a:t>
            </a:r>
          </a:p>
          <a:p>
            <a:pPr algn="l">
              <a:spcBef>
                <a:spcPts val="300"/>
              </a:spcBef>
            </a:pPr>
            <a:r>
              <a:rPr sz="1100" b="0">
                <a:solidFill>
                  <a:srgbClr val="4A4A4A"/>
                </a:solidFill>
              </a:rPr>
              <a:t>Transactions:  4 closings</a:t>
            </a:r>
          </a:p>
          <a:p>
            <a:pPr algn="l">
              <a:spcBef>
                <a:spcPts val="300"/>
              </a:spcBef>
            </a:pPr>
            <a:r>
              <a:rPr sz="1100" b="0">
                <a:solidFill>
                  <a:srgbClr val="4A4A4A"/>
                </a:solidFill>
              </a:rPr>
              <a:t>Net Commission:  $36,690</a:t>
            </a:r>
          </a:p>
          <a:p>
            <a:pPr algn="l">
              <a:spcBef>
                <a:spcPts val="300"/>
              </a:spcBef>
            </a:pPr>
            <a:r>
              <a:rPr sz="1100" b="0">
                <a:solidFill>
                  <a:srgbClr val="4A4A4A"/>
                </a:solidFill>
              </a:rPr>
              <a:t> :  </a:t>
            </a:r>
          </a:p>
          <a:p>
            <a:pPr algn="l">
              <a:spcBef>
                <a:spcPts val="300"/>
              </a:spcBef>
            </a:pPr>
            <a:r>
              <a:rPr sz="1100" b="1">
                <a:solidFill>
                  <a:srgbClr val="1A2E4A"/>
                </a:solidFill>
              </a:rPr>
              <a:t>Annual Goal:  $5,000,000</a:t>
            </a:r>
          </a:p>
          <a:p>
            <a:pPr algn="l">
              <a:spcBef>
                <a:spcPts val="300"/>
              </a:spcBef>
            </a:pPr>
            <a:r>
              <a:rPr sz="1100" b="0">
                <a:solidFill>
                  <a:srgbClr val="C05040"/>
                </a:solidFill>
              </a:rPr>
              <a:t>Volume Gap:  $3,165,500</a:t>
            </a:r>
          </a:p>
          <a:p>
            <a:pPr algn="l">
              <a:spcBef>
                <a:spcPts val="300"/>
              </a:spcBef>
            </a:pPr>
            <a:r>
              <a:rPr sz="1100" b="0">
                <a:solidFill>
                  <a:srgbClr val="4A4A4A"/>
                </a:solidFill>
              </a:rPr>
              <a:t> :  </a:t>
            </a:r>
          </a:p>
          <a:p>
            <a:pPr algn="l">
              <a:spcBef>
                <a:spcPts val="300"/>
              </a:spcBef>
            </a:pPr>
            <a:r>
              <a:rPr sz="1100" b="0">
                <a:solidFill>
                  <a:srgbClr val="4A4A4A"/>
                </a:solidFill>
              </a:rPr>
              <a:t>2024 Personal Best:  $4.2M</a:t>
            </a:r>
          </a:p>
          <a:p>
            <a:pPr algn="l">
              <a:spcBef>
                <a:spcPts val="300"/>
              </a:spcBef>
            </a:pPr>
            <a:r>
              <a:rPr sz="1100" b="0">
                <a:solidFill>
                  <a:srgbClr val="2D8A4E"/>
                </a:solidFill>
              </a:rPr>
              <a:t>Q4 Outlook:  Strong pipeline</a:t>
            </a:r>
          </a:p>
        </p:txBody>
      </p:sp>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4"/>
                                  </p:tgtEl>
                                  <p:attrNameLst>
                                    <p:attrName>style.visibility</p:attrName>
                                  </p:attrNameLst>
                                </p:cBhvr>
                                <p:to>
                                  <p:strVal val="visible"/>
                                </p:to>
                              </p:set>
                              <p:animEffect transition="in" filter="fade">
                                <p:cBhvr>
                                  <p:cTn id="6" dur="400" fill="hold"/>
                                  <p:tgtEl>
                                    <p:spTgt spid="4"/>
                                  </p:tgtEl>
                                </p:cBhvr>
                              </p:animEffect>
                            </p:childTnLst>
                          </p:cTn>
                        </p:par>
                        <p:par>
                          <p:cTn id="7" presetID="10" presetClass="entr" presetSubtype="0" fill="hold" grpId="0" nodeType="withEffect">
                            <p:stCondLst>
                              <p:cond delay="200"/>
                            </p:stCondLst>
                            <p:childTnLst>
                              <p:set>
                                <p:cBhvr>
                                  <p:cTn id="8" dur="1" fill="hold"/>
                                  <p:tgtEl>
                                    <p:spTgt spid="5"/>
                                  </p:tgtEl>
                                  <p:attrNameLst>
                                    <p:attrName>style.visibility</p:attrName>
                                  </p:attrNameLst>
                                </p:cBhvr>
                                <p:to>
                                  <p:strVal val="visible"/>
                                </p:to>
                              </p:set>
                              <p:animEffect transition="in" filter="fade">
                                <p:cBhvr>
                                  <p:cTn id="9" dur="400" fill="hold"/>
                                  <p:tgtEl>
                                    <p:spTgt spid="5"/>
                                  </p:tgtEl>
                                </p:cBhvr>
                              </p:animEffect>
                            </p:childTnLst>
                          </p:cTn>
                        </p:par>
                        <p:par>
                          <p:cTn id="10" presetID="10" presetClass="entr" presetSubtype="0" fill="hold" grpId="0" nodeType="withEffect">
                            <p:stCondLst>
                              <p:cond delay="400"/>
                            </p:stCondLst>
                            <p:childTnLst>
                              <p:set>
                                <p:cBhvr>
                                  <p:cTn id="11" dur="1" fill="hold"/>
                                  <p:tgtEl>
                                    <p:spTgt spid="6"/>
                                  </p:tgtEl>
                                  <p:attrNameLst>
                                    <p:attrName>style.visibility</p:attrName>
                                  </p:attrNameLst>
                                </p:cBhvr>
                                <p:to>
                                  <p:strVal val="visible"/>
                                </p:to>
                              </p:set>
                              <p:animEffect transition="in" filter="fade">
                                <p:cBhvr>
                                  <p:cTn id="12" dur="400" fill="hold"/>
                                  <p:tgtEl>
                                    <p:spTgt spid="6"/>
                                  </p:tgtEl>
                                </p:cBhvr>
                              </p:animEffect>
                            </p:childTnLst>
                          </p:cTn>
                        </p:par>
                      </p:childTnLst>
                    </p:cTn>
                  </p:par>
                </p:childTnLst>
              </p:cTn>
              <p:prevCondLst>
                <p:cond evt="onPrevClick" delay="0">
                  <p:tn/>
                </p:cond>
              </p:prevCondLst>
              <p:nextCondLst>
                <p:cond evt="onNextClick" delay="0">
                  <p:tn/>
                </p:cond>
              </p:nextCondLst>
            </p:seq>
          </p:childTnLst>
        </p:cTn>
      </p:par>
    </p:tnLst>
    <p:bldLst>
      <p:bldSp spid="4" grpId="0"/>
      <p:bldSp spid="5" grpId="0"/>
      <p:bldSp spid="6" grpId="0"/>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347472"/>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02920"/>
            <a:ext cx="10332720" cy="914400"/>
          </a:xfrm>
          <a:prstGeom prst="rect">
            <a:avLst/>
          </a:prstGeom>
          <a:noFill/>
        </p:spPr>
        <p:txBody>
          <a:bodyPr wrap="square">
            <a:spAutoFit/>
          </a:bodyPr>
          <a:lstStyle/>
          <a:p>
            <a:pPr algn="ctr"/>
            <a:r>
              <a:rPr sz="3800" b="1" i="0">
                <a:solidFill>
                  <a:srgbClr val="FFFFFF"/>
                </a:solidFill>
              </a:rPr>
              <a:t>Q4 Focus and Priorities</a:t>
            </a:r>
          </a:p>
        </p:txBody>
      </p:sp>
      <p:pic>
        <p:nvPicPr>
          <p:cNvPr id="5" name="Picture 4" descr="11img.jpg"/>
          <p:cNvPicPr>
            <a:picLocks noChangeAspect="1"/>
          </p:cNvPicPr>
          <p:nvPr/>
        </p:nvPicPr>
        <p:blipFill>
          <a:blip r:embed="rId2"/>
          <a:stretch>
            <a:fillRect/>
          </a:stretch>
        </p:blipFill>
        <p:spPr>
          <a:xfrm>
            <a:off x="9235440" y="3840480"/>
            <a:ext cx="2560320" cy="2560320"/>
          </a:xfrm>
          <a:prstGeom prst="rect">
            <a:avLst/>
          </a:prstGeom>
        </p:spPr>
      </p:pic>
      <p:sp>
        <p:nvSpPr>
          <p:cNvPr id="6" name="Rectangle 5"/>
          <p:cNvSpPr/>
          <p:nvPr/>
        </p:nvSpPr>
        <p:spPr>
          <a:xfrm>
            <a:off x="640080" y="1600200"/>
            <a:ext cx="384048"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A2E4A"/>
                </a:solidFill>
              </a:rPr>
              <a:t>1</a:t>
            </a:r>
          </a:p>
        </p:txBody>
      </p:sp>
      <p:sp>
        <p:nvSpPr>
          <p:cNvPr id="7" name="TextBox 6"/>
          <p:cNvSpPr txBox="1"/>
          <p:nvPr/>
        </p:nvSpPr>
        <p:spPr>
          <a:xfrm>
            <a:off x="1170432" y="1636776"/>
            <a:ext cx="7863840" cy="384048"/>
          </a:xfrm>
          <a:prstGeom prst="rect">
            <a:avLst/>
          </a:prstGeom>
          <a:noFill/>
        </p:spPr>
        <p:txBody>
          <a:bodyPr wrap="square">
            <a:spAutoFit/>
          </a:bodyPr>
          <a:lstStyle/>
          <a:p>
            <a:pPr algn="l"/>
            <a:r>
              <a:rPr sz="1200" b="1" i="0">
                <a:solidFill>
                  <a:srgbClr val="FFFFFF"/>
                </a:solidFill>
              </a:rPr>
              <a:t>Close Channelside #814 by Oct 18</a:t>
            </a:r>
          </a:p>
        </p:txBody>
      </p:sp>
      <p:sp>
        <p:nvSpPr>
          <p:cNvPr id="8" name="TextBox 7"/>
          <p:cNvSpPr txBox="1"/>
          <p:nvPr/>
        </p:nvSpPr>
        <p:spPr>
          <a:xfrm>
            <a:off x="1170432" y="2039112"/>
            <a:ext cx="7863840" cy="384048"/>
          </a:xfrm>
          <a:prstGeom prst="rect">
            <a:avLst/>
          </a:prstGeom>
          <a:noFill/>
        </p:spPr>
        <p:txBody>
          <a:bodyPr wrap="square">
            <a:spAutoFit/>
          </a:bodyPr>
          <a:lstStyle/>
          <a:p>
            <a:pPr algn="l"/>
            <a:r>
              <a:rPr sz="1000" b="0" i="0">
                <a:solidFill>
                  <a:srgbClr val="AABBCC"/>
                </a:solidFill>
              </a:rPr>
              <a:t>Offer pending. Coordinate with title. Confirm seller availability.</a:t>
            </a:r>
          </a:p>
        </p:txBody>
      </p:sp>
      <p:sp>
        <p:nvSpPr>
          <p:cNvPr id="9" name="Rectangle 8"/>
          <p:cNvSpPr/>
          <p:nvPr/>
        </p:nvSpPr>
        <p:spPr>
          <a:xfrm>
            <a:off x="640080" y="2514600"/>
            <a:ext cx="384048"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A2E4A"/>
                </a:solidFill>
              </a:rPr>
              <a:t>2</a:t>
            </a:r>
          </a:p>
        </p:txBody>
      </p:sp>
      <p:sp>
        <p:nvSpPr>
          <p:cNvPr id="10" name="TextBox 9"/>
          <p:cNvSpPr txBox="1"/>
          <p:nvPr/>
        </p:nvSpPr>
        <p:spPr>
          <a:xfrm>
            <a:off x="1170432" y="2551176"/>
            <a:ext cx="7863840" cy="384048"/>
          </a:xfrm>
          <a:prstGeom prst="rect">
            <a:avLst/>
          </a:prstGeom>
          <a:noFill/>
        </p:spPr>
        <p:txBody>
          <a:bodyPr wrap="square">
            <a:spAutoFit/>
          </a:bodyPr>
          <a:lstStyle/>
          <a:p>
            <a:pPr algn="l"/>
            <a:r>
              <a:rPr sz="1200" b="1" i="0">
                <a:solidFill>
                  <a:srgbClr val="FFFFFF"/>
                </a:solidFill>
              </a:rPr>
              <a:t>Convert Nguyen interest to offer</a:t>
            </a:r>
          </a:p>
        </p:txBody>
      </p:sp>
      <p:sp>
        <p:nvSpPr>
          <p:cNvPr id="11" name="TextBox 10"/>
          <p:cNvSpPr txBox="1"/>
          <p:nvPr/>
        </p:nvSpPr>
        <p:spPr>
          <a:xfrm>
            <a:off x="1170432" y="2953512"/>
            <a:ext cx="7863840" cy="384048"/>
          </a:xfrm>
          <a:prstGeom prst="rect">
            <a:avLst/>
          </a:prstGeom>
          <a:noFill/>
        </p:spPr>
        <p:txBody>
          <a:bodyPr wrap="square">
            <a:spAutoFit/>
          </a:bodyPr>
          <a:lstStyle/>
          <a:p>
            <a:pPr algn="l"/>
            <a:r>
              <a:rPr sz="1000" b="0" i="0">
                <a:solidFill>
                  <a:srgbClr val="AABBCC"/>
                </a:solidFill>
              </a:rPr>
              <a:t>Follow up Monday Oct 20. Discuss Westchase offer strategy.</a:t>
            </a:r>
          </a:p>
        </p:txBody>
      </p:sp>
      <p:sp>
        <p:nvSpPr>
          <p:cNvPr id="12" name="Rectangle 11"/>
          <p:cNvSpPr/>
          <p:nvPr/>
        </p:nvSpPr>
        <p:spPr>
          <a:xfrm>
            <a:off x="640080" y="3429000"/>
            <a:ext cx="384048"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A2E4A"/>
                </a:solidFill>
              </a:rPr>
              <a:t>3</a:t>
            </a:r>
          </a:p>
        </p:txBody>
      </p:sp>
      <p:sp>
        <p:nvSpPr>
          <p:cNvPr id="13" name="TextBox 12"/>
          <p:cNvSpPr txBox="1"/>
          <p:nvPr/>
        </p:nvSpPr>
        <p:spPr>
          <a:xfrm>
            <a:off x="1170432" y="3465576"/>
            <a:ext cx="7863840" cy="384048"/>
          </a:xfrm>
          <a:prstGeom prst="rect">
            <a:avLst/>
          </a:prstGeom>
          <a:noFill/>
        </p:spPr>
        <p:txBody>
          <a:bodyPr wrap="square">
            <a:spAutoFit/>
          </a:bodyPr>
          <a:lstStyle/>
          <a:p>
            <a:pPr algn="l"/>
            <a:r>
              <a:rPr sz="1200" b="1" i="0">
                <a:solidFill>
                  <a:srgbClr val="FFFFFF"/>
                </a:solidFill>
              </a:rPr>
              <a:t>Price review on Seminole Heights</a:t>
            </a:r>
          </a:p>
        </p:txBody>
      </p:sp>
      <p:sp>
        <p:nvSpPr>
          <p:cNvPr id="14" name="TextBox 13"/>
          <p:cNvSpPr txBox="1"/>
          <p:nvPr/>
        </p:nvSpPr>
        <p:spPr>
          <a:xfrm>
            <a:off x="1170432" y="3867912"/>
            <a:ext cx="7863840" cy="384048"/>
          </a:xfrm>
          <a:prstGeom prst="rect">
            <a:avLst/>
          </a:prstGeom>
          <a:noFill/>
        </p:spPr>
        <p:txBody>
          <a:bodyPr wrap="square">
            <a:spAutoFit/>
          </a:bodyPr>
          <a:lstStyle/>
          <a:p>
            <a:pPr algn="l"/>
            <a:r>
              <a:rPr sz="1000" b="0" i="0">
                <a:solidFill>
                  <a:srgbClr val="AABBCC"/>
                </a:solidFill>
              </a:rPr>
              <a:t>272 DOM. Meet sellers to discuss reduction toward $375K.</a:t>
            </a:r>
          </a:p>
        </p:txBody>
      </p:sp>
      <p:sp>
        <p:nvSpPr>
          <p:cNvPr id="15" name="Rectangle 14"/>
          <p:cNvSpPr/>
          <p:nvPr/>
        </p:nvSpPr>
        <p:spPr>
          <a:xfrm>
            <a:off x="640080" y="4343400"/>
            <a:ext cx="384048"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A2E4A"/>
                </a:solidFill>
              </a:rPr>
              <a:t>4</a:t>
            </a:r>
          </a:p>
        </p:txBody>
      </p:sp>
      <p:sp>
        <p:nvSpPr>
          <p:cNvPr id="16" name="TextBox 15"/>
          <p:cNvSpPr txBox="1"/>
          <p:nvPr/>
        </p:nvSpPr>
        <p:spPr>
          <a:xfrm>
            <a:off x="1170432" y="4379976"/>
            <a:ext cx="7863840" cy="384048"/>
          </a:xfrm>
          <a:prstGeom prst="rect">
            <a:avLst/>
          </a:prstGeom>
          <a:noFill/>
        </p:spPr>
        <p:txBody>
          <a:bodyPr wrap="square">
            <a:spAutoFit/>
          </a:bodyPr>
          <a:lstStyle/>
          <a:p>
            <a:pPr algn="l"/>
            <a:r>
              <a:rPr sz="1200" b="1" i="0">
                <a:solidFill>
                  <a:srgbClr val="FFFFFF"/>
                </a:solidFill>
              </a:rPr>
              <a:t>Hit $3.5M volume by November 30</a:t>
            </a:r>
          </a:p>
        </p:txBody>
      </p:sp>
      <p:sp>
        <p:nvSpPr>
          <p:cNvPr id="17" name="TextBox 16"/>
          <p:cNvSpPr txBox="1"/>
          <p:nvPr/>
        </p:nvSpPr>
        <p:spPr>
          <a:xfrm>
            <a:off x="1170432" y="4782312"/>
            <a:ext cx="7863840" cy="384048"/>
          </a:xfrm>
          <a:prstGeom prst="rect">
            <a:avLst/>
          </a:prstGeom>
          <a:noFill/>
        </p:spPr>
        <p:txBody>
          <a:bodyPr wrap="square">
            <a:spAutoFit/>
          </a:bodyPr>
          <a:lstStyle/>
          <a:p>
            <a:pPr algn="l"/>
            <a:r>
              <a:rPr sz="1000" b="0" i="0">
                <a:solidFill>
                  <a:srgbClr val="AABBCC"/>
                </a:solidFill>
              </a:rPr>
              <a:t>Close Westchase and one buyer deal to stay on pace.</a:t>
            </a:r>
          </a:p>
        </p:txBody>
      </p:sp>
      <p:sp>
        <p:nvSpPr>
          <p:cNvPr id="18" name="Rectangle 17"/>
          <p:cNvSpPr/>
          <p:nvPr/>
        </p:nvSpPr>
        <p:spPr>
          <a:xfrm>
            <a:off x="640080" y="5257800"/>
            <a:ext cx="384048" cy="475488"/>
          </a:xfrm>
          <a:prstGeom prst="rect">
            <a:avLst/>
          </a:prstGeom>
          <a:solidFill>
            <a:srgbClr val="C9A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A2E4A"/>
                </a:solidFill>
              </a:rPr>
              <a:t>5</a:t>
            </a:r>
          </a:p>
        </p:txBody>
      </p:sp>
      <p:sp>
        <p:nvSpPr>
          <p:cNvPr id="19" name="TextBox 18"/>
          <p:cNvSpPr txBox="1"/>
          <p:nvPr/>
        </p:nvSpPr>
        <p:spPr>
          <a:xfrm>
            <a:off x="1170432" y="5294376"/>
            <a:ext cx="7863840" cy="384048"/>
          </a:xfrm>
          <a:prstGeom prst="rect">
            <a:avLst/>
          </a:prstGeom>
          <a:noFill/>
        </p:spPr>
        <p:txBody>
          <a:bodyPr wrap="square">
            <a:spAutoFit/>
          </a:bodyPr>
          <a:lstStyle/>
          <a:p>
            <a:pPr algn="l"/>
            <a:r>
              <a:rPr sz="1200" b="1" i="0">
                <a:solidFill>
                  <a:srgbClr val="FFFFFF"/>
                </a:solidFill>
              </a:rPr>
              <a:t>Instagram: 7,500 followers by Dec 1</a:t>
            </a:r>
          </a:p>
        </p:txBody>
      </p:sp>
      <p:sp>
        <p:nvSpPr>
          <p:cNvPr id="20" name="TextBox 19"/>
          <p:cNvSpPr txBox="1"/>
          <p:nvPr/>
        </p:nvSpPr>
        <p:spPr>
          <a:xfrm>
            <a:off x="1170432" y="5696712"/>
            <a:ext cx="7863840" cy="384048"/>
          </a:xfrm>
          <a:prstGeom prst="rect">
            <a:avLst/>
          </a:prstGeom>
          <a:noFill/>
        </p:spPr>
        <p:txBody>
          <a:bodyPr wrap="square">
            <a:spAutoFit/>
          </a:bodyPr>
          <a:lstStyle/>
          <a:p>
            <a:pPr algn="l"/>
            <a:r>
              <a:rPr sz="1000" b="0" i="0">
                <a:solidFill>
                  <a:srgbClr val="AABBCC"/>
                </a:solidFill>
              </a:rPr>
              <a:t>Post daily stories. Reel from open house. Hire social manager.</a:t>
            </a:r>
          </a:p>
        </p:txBody>
      </p:sp>
      <p:sp>
        <p:nvSpPr>
          <p:cNvPr id="21" name="TextBox 20"/>
          <p:cNvSpPr txBox="1"/>
          <p:nvPr/>
        </p:nvSpPr>
        <p:spPr>
          <a:xfrm>
            <a:off x="457200" y="6446520"/>
            <a:ext cx="11247120" cy="320040"/>
          </a:xfrm>
          <a:prstGeom prst="rect">
            <a:avLst/>
          </a:prstGeom>
          <a:noFill/>
        </p:spPr>
        <p:txBody>
          <a:bodyPr wrap="square">
            <a:spAutoFit/>
          </a:bodyPr>
          <a:lstStyle/>
          <a:p>
            <a:pPr algn="ctr"/>
            <a:r>
              <a:rPr sz="900" b="0" i="0">
                <a:solidFill>
                  <a:srgbClr val="668099"/>
                </a:solidFill>
              </a:rPr>
              <a:t>Brittany Morales | SunCoast Realty Group | (813) 555-0119 | brittany.morales@Greenridertech.co</a:t>
            </a:r>
          </a:p>
        </p:txBody>
      </p:sp>
    </p:spTree>
  </p:cSld>
  <p:clrMapOvr>
    <a:masterClrMapping/>
  </p:clrMapOvr>
  <p:transition dur="400">
    <p:fade/>
  </p:transition>
  <p:timing>
    <p:tnLst>
      <p:par>
        <p:cTn id="1" dur="indefinite" restart="whenNotActive" nodeType="tmRoot">
          <p:childTnLst>
            <p:seq concurrent="1" nextAc="seek">
              <p:cTn id="2" dur="indefinite" nodeType="mainSeq">
                <p:childTnLst>
                  <p:par>
                    <p:cTn id="3" fill="hold">
                      <p:stCondLst>
                        <p:cond evt="onBegin" delay="indefinite"/>
                      </p:stCondLst>
                      <p:childTnLst>
                        <p:par>
                          <p:cTn id="4" presetID="10" presetClass="entr" presetSubtype="0" fill="hold" grpId="0" nodeType="clickEffect">
                            <p:stCondLst>
                              <p:cond delay="0"/>
                            </p:stCondLst>
                            <p:childTnLst>
                              <p:set>
                                <p:cBhvr>
                                  <p:cTn id="5" dur="1" fill="hold"/>
                                  <p:tgtEl>
                                    <p:spTgt spid="4"/>
                                  </p:tgtEl>
                                  <p:attrNameLst>
                                    <p:attrName>style.visibility</p:attrName>
                                  </p:attrNameLst>
                                </p:cBhvr>
                                <p:to>
                                  <p:strVal val="visible"/>
                                </p:to>
                              </p:set>
                              <p:animEffect transition="in" filter="fade">
                                <p:cBhvr>
                                  <p:cTn id="6" dur="400" fill="hold"/>
                                  <p:tgtEl>
                                    <p:spTgt spid="4"/>
                                  </p:tgtEl>
                                </p:cBhvr>
                              </p:animEffect>
                            </p:childTnLst>
                          </p:cTn>
                        </p:par>
                        <p:par>
                          <p:cTn id="7" presetID="10" presetClass="entr" presetSubtype="0" fill="hold" grpId="0" nodeType="withEffect">
                            <p:stCondLst>
                              <p:cond delay="0"/>
                            </p:stCondLst>
                            <p:childTnLst>
                              <p:set>
                                <p:cBhvr>
                                  <p:cTn id="8" dur="1" fill="hold"/>
                                  <p:tgtEl>
                                    <p:spTgt spid="7"/>
                                  </p:tgtEl>
                                  <p:attrNameLst>
                                    <p:attrName>style.visibility</p:attrName>
                                  </p:attrNameLst>
                                </p:cBhvr>
                                <p:to>
                                  <p:strVal val="visible"/>
                                </p:to>
                              </p:set>
                              <p:animEffect transition="in" filter="fade">
                                <p:cBhvr>
                                  <p:cTn id="9" dur="400" fill="hold"/>
                                  <p:tgtEl>
                                    <p:spTgt spid="7"/>
                                  </p:tgtEl>
                                </p:cBhvr>
                              </p:animEffect>
                            </p:childTnLst>
                          </p:cTn>
                        </p:par>
                        <p:par>
                          <p:cTn id="10" presetID="10" presetClass="entr" presetSubtype="0" fill="hold" grpId="0" nodeType="withEffect">
                            <p:stCondLst>
                              <p:cond delay="80"/>
                            </p:stCondLst>
                            <p:childTnLst>
                              <p:set>
                                <p:cBhvr>
                                  <p:cTn id="11" dur="1" fill="hold"/>
                                  <p:tgtEl>
                                    <p:spTgt spid="8"/>
                                  </p:tgtEl>
                                  <p:attrNameLst>
                                    <p:attrName>style.visibility</p:attrName>
                                  </p:attrNameLst>
                                </p:cBhvr>
                                <p:to>
                                  <p:strVal val="visible"/>
                                </p:to>
                              </p:set>
                              <p:animEffect transition="in" filter="fade">
                                <p:cBhvr>
                                  <p:cTn id="12" dur="400" fill="hold"/>
                                  <p:tgtEl>
                                    <p:spTgt spid="8"/>
                                  </p:tgtEl>
                                </p:cBhvr>
                              </p:animEffect>
                            </p:childTnLst>
                          </p:cTn>
                        </p:par>
                        <p:par>
                          <p:cTn id="13" presetID="10" presetClass="entr" presetSubtype="0" fill="hold" grpId="0" nodeType="withEffect">
                            <p:stCondLst>
                              <p:cond delay="130"/>
                            </p:stCondLst>
                            <p:childTnLst>
                              <p:set>
                                <p:cBhvr>
                                  <p:cTn id="14" dur="1" fill="hold"/>
                                  <p:tgtEl>
                                    <p:spTgt spid="10"/>
                                  </p:tgtEl>
                                  <p:attrNameLst>
                                    <p:attrName>style.visibility</p:attrName>
                                  </p:attrNameLst>
                                </p:cBhvr>
                                <p:to>
                                  <p:strVal val="visible"/>
                                </p:to>
                              </p:set>
                              <p:animEffect transition="in" filter="fade">
                                <p:cBhvr>
                                  <p:cTn id="15" dur="400" fill="hold"/>
                                  <p:tgtEl>
                                    <p:spTgt spid="10"/>
                                  </p:tgtEl>
                                </p:cBhvr>
                              </p:animEffect>
                            </p:childTnLst>
                          </p:cTn>
                        </p:par>
                        <p:par>
                          <p:cTn id="16" presetID="10" presetClass="entr" presetSubtype="0" fill="hold" grpId="0" nodeType="withEffect">
                            <p:stCondLst>
                              <p:cond delay="210"/>
                            </p:stCondLst>
                            <p:childTnLst>
                              <p:set>
                                <p:cBhvr>
                                  <p:cTn id="17" dur="1" fill="hold"/>
                                  <p:tgtEl>
                                    <p:spTgt spid="11"/>
                                  </p:tgtEl>
                                  <p:attrNameLst>
                                    <p:attrName>style.visibility</p:attrName>
                                  </p:attrNameLst>
                                </p:cBhvr>
                                <p:to>
                                  <p:strVal val="visible"/>
                                </p:to>
                              </p:set>
                              <p:animEffect transition="in" filter="fade">
                                <p:cBhvr>
                                  <p:cTn id="18" dur="400" fill="hold"/>
                                  <p:tgtEl>
                                    <p:spTgt spid="11"/>
                                  </p:tgtEl>
                                </p:cBhvr>
                              </p:animEffect>
                            </p:childTnLst>
                          </p:cTn>
                        </p:par>
                        <p:par>
                          <p:cTn id="19" presetID="10" presetClass="entr" presetSubtype="0" fill="hold" grpId="0" nodeType="withEffect">
                            <p:stCondLst>
                              <p:cond delay="260"/>
                            </p:stCondLst>
                            <p:childTnLst>
                              <p:set>
                                <p:cBhvr>
                                  <p:cTn id="20" dur="1" fill="hold"/>
                                  <p:tgtEl>
                                    <p:spTgt spid="13"/>
                                  </p:tgtEl>
                                  <p:attrNameLst>
                                    <p:attrName>style.visibility</p:attrName>
                                  </p:attrNameLst>
                                </p:cBhvr>
                                <p:to>
                                  <p:strVal val="visible"/>
                                </p:to>
                              </p:set>
                              <p:animEffect transition="in" filter="fade">
                                <p:cBhvr>
                                  <p:cTn id="21" dur="400" fill="hold"/>
                                  <p:tgtEl>
                                    <p:spTgt spid="13"/>
                                  </p:tgtEl>
                                </p:cBhvr>
                              </p:animEffect>
                            </p:childTnLst>
                          </p:cTn>
                        </p:par>
                        <p:par>
                          <p:cTn id="22" presetID="10" presetClass="entr" presetSubtype="0" fill="hold" grpId="0" nodeType="withEffect">
                            <p:stCondLst>
                              <p:cond delay="340"/>
                            </p:stCondLst>
                            <p:childTnLst>
                              <p:set>
                                <p:cBhvr>
                                  <p:cTn id="23" dur="1" fill="hold"/>
                                  <p:tgtEl>
                                    <p:spTgt spid="14"/>
                                  </p:tgtEl>
                                  <p:attrNameLst>
                                    <p:attrName>style.visibility</p:attrName>
                                  </p:attrNameLst>
                                </p:cBhvr>
                                <p:to>
                                  <p:strVal val="visible"/>
                                </p:to>
                              </p:set>
                              <p:animEffect transition="in" filter="fade">
                                <p:cBhvr>
                                  <p:cTn id="24" dur="400" fill="hold"/>
                                  <p:tgtEl>
                                    <p:spTgt spid="14"/>
                                  </p:tgtEl>
                                </p:cBhvr>
                              </p:animEffect>
                            </p:childTnLst>
                          </p:cTn>
                        </p:par>
                        <p:par>
                          <p:cTn id="25" presetID="10" presetClass="entr" presetSubtype="0" fill="hold" grpId="0" nodeType="withEffect">
                            <p:stCondLst>
                              <p:cond delay="390"/>
                            </p:stCondLst>
                            <p:childTnLst>
                              <p:set>
                                <p:cBhvr>
                                  <p:cTn id="26" dur="1" fill="hold"/>
                                  <p:tgtEl>
                                    <p:spTgt spid="16"/>
                                  </p:tgtEl>
                                  <p:attrNameLst>
                                    <p:attrName>style.visibility</p:attrName>
                                  </p:attrNameLst>
                                </p:cBhvr>
                                <p:to>
                                  <p:strVal val="visible"/>
                                </p:to>
                              </p:set>
                              <p:animEffect transition="in" filter="fade">
                                <p:cBhvr>
                                  <p:cTn id="27" dur="400" fill="hold"/>
                                  <p:tgtEl>
                                    <p:spTgt spid="16"/>
                                  </p:tgtEl>
                                </p:cBhvr>
                              </p:animEffect>
                            </p:childTnLst>
                          </p:cTn>
                        </p:par>
                        <p:par>
                          <p:cTn id="28" presetID="10" presetClass="entr" presetSubtype="0" fill="hold" grpId="0" nodeType="withEffect">
                            <p:stCondLst>
                              <p:cond delay="470"/>
                            </p:stCondLst>
                            <p:childTnLst>
                              <p:set>
                                <p:cBhvr>
                                  <p:cTn id="29" dur="1" fill="hold"/>
                                  <p:tgtEl>
                                    <p:spTgt spid="17"/>
                                  </p:tgtEl>
                                  <p:attrNameLst>
                                    <p:attrName>style.visibility</p:attrName>
                                  </p:attrNameLst>
                                </p:cBhvr>
                                <p:to>
                                  <p:strVal val="visible"/>
                                </p:to>
                              </p:set>
                              <p:animEffect transition="in" filter="fade">
                                <p:cBhvr>
                                  <p:cTn id="30" dur="400" fill="hold"/>
                                  <p:tgtEl>
                                    <p:spTgt spid="17"/>
                                  </p:tgtEl>
                                </p:cBhvr>
                              </p:animEffect>
                            </p:childTnLst>
                          </p:cTn>
                        </p:par>
                        <p:par>
                          <p:cTn id="31" presetID="10" presetClass="entr" presetSubtype="0" fill="hold" grpId="0" nodeType="withEffect">
                            <p:stCondLst>
                              <p:cond delay="520"/>
                            </p:stCondLst>
                            <p:childTnLst>
                              <p:set>
                                <p:cBhvr>
                                  <p:cTn id="32" dur="1" fill="hold"/>
                                  <p:tgtEl>
                                    <p:spTgt spid="19"/>
                                  </p:tgtEl>
                                  <p:attrNameLst>
                                    <p:attrName>style.visibility</p:attrName>
                                  </p:attrNameLst>
                                </p:cBhvr>
                                <p:to>
                                  <p:strVal val="visible"/>
                                </p:to>
                              </p:set>
                              <p:animEffect transition="in" filter="fade">
                                <p:cBhvr>
                                  <p:cTn id="33" dur="400" fill="hold"/>
                                  <p:tgtEl>
                                    <p:spTgt spid="19"/>
                                  </p:tgtEl>
                                </p:cBhvr>
                              </p:animEffect>
                            </p:childTnLst>
                          </p:cTn>
                        </p:par>
                        <p:par>
                          <p:cTn id="34" presetID="10" presetClass="entr" presetSubtype="0" fill="hold" grpId="0" nodeType="withEffect">
                            <p:stCondLst>
                              <p:cond delay="600"/>
                            </p:stCondLst>
                            <p:childTnLst>
                              <p:set>
                                <p:cBhvr>
                                  <p:cTn id="35" dur="1" fill="hold"/>
                                  <p:tgtEl>
                                    <p:spTgt spid="20"/>
                                  </p:tgtEl>
                                  <p:attrNameLst>
                                    <p:attrName>style.visibility</p:attrName>
                                  </p:attrNameLst>
                                </p:cBhvr>
                                <p:to>
                                  <p:strVal val="visible"/>
                                </p:to>
                              </p:set>
                              <p:animEffect transition="in" filter="fade">
                                <p:cBhvr>
                                  <p:cTn id="36" dur="400" fill="hold"/>
                                  <p:tgtEl>
                                    <p:spTgt spid="20"/>
                                  </p:tgtEl>
                                </p:cBhvr>
                              </p:animEffect>
                            </p:childTnLst>
                          </p:cTn>
                        </p:par>
                      </p:childTnLst>
                    </p:cTn>
                  </p:par>
                </p:childTnLst>
              </p:cTn>
              <p:prevCondLst>
                <p:cond evt="onPrevClick" delay="0">
                  <p:tn/>
                </p:cond>
              </p:prevCondLst>
              <p:nextCondLst>
                <p:cond evt="onNextClick" delay="0">
                  <p:tn/>
                </p:cond>
              </p:nextCondLst>
            </p:seq>
          </p:childTnLst>
        </p:cTn>
      </p:par>
    </p:tnLst>
    <p:bldLst>
      <p:bldSp spid="4" grpId="0"/>
      <p:bldSp spid="7" grpId="0"/>
      <p:bldSp spid="8" grpId="0"/>
      <p:bldSp spid="10" grpId="0"/>
      <p:bldSp spid="11" grpId="0"/>
      <p:bldSp spid="13" grpId="0"/>
      <p:bldSp spid="14" grpId="0"/>
      <p:bldSp spid="16" grpId="0"/>
      <p:bldSp spid="17" grpId="0"/>
      <p:bldSp spid="19" grpId="0"/>
      <p:bldSp spid="2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