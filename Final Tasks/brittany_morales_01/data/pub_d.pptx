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 Price ($)</c:v>
                </c:pt>
              </c:strCache>
            </c:strRef>
          </c:tx>
          <c:spPr>
            <a:solidFill>
              <a:srgbClr val="C17955"/>
            </a:solidFill>
          </c:spPr>
          <c:cat>
            <c:strRef>
              <c:f>Sheet1!$A$2:$A$5</c:f>
              <c:strCache>
                <c:ptCount val="4"/>
                <c:pt idx="0">
                  <c:v>Comp 1
$522K</c:v>
                </c:pt>
                <c:pt idx="1">
                  <c:v>Comp 2
$518K</c:v>
                </c:pt>
                <c:pt idx="2">
                  <c:v>Comp 3
$531K</c:v>
                </c:pt>
                <c:pt idx="3">
                  <c:v>Subject
$525K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522000</c:v>
                </c:pt>
                <c:pt idx="1">
                  <c:v>518000</c:v>
                </c:pt>
                <c:pt idx="2">
                  <c:v>531000</c:v>
                </c:pt>
                <c:pt idx="3">
                  <c:v>525000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3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0"/>
            <a:ext cx="77541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832" y="0"/>
            <a:ext cx="64008" cy="6858000"/>
          </a:xfrm>
          <a:prstGeom prst="rect">
            <a:avLst/>
          </a:prstGeom>
          <a:solidFill>
            <a:srgbClr val="7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EE5"/>
                </a:solidFill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Brittany Morales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EE5"/>
                </a:solidFill>
              </a:rPr>
              <a:t>SunCoast Realty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38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EEE5"/>
                </a:solidFill>
              </a:rPr>
              <a:t>License SL3294187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50592"/>
            <a:ext cx="3566160" cy="36576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5786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EEE5"/>
                </a:solidFill>
              </a:rPr>
              <a:t>OFFERED 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260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$525,000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7763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DFD0"/>
                </a:solidFill>
              </a:rPr>
              <a:t>12508 Westchester Estates 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4622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C72"/>
                </a:solidFill>
              </a:rPr>
              <a:t>Tampa, FL 33626  |  Westchase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194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DFD0"/>
                </a:solidFill>
              </a:rPr>
              <a:t>4 BR  |  3 BA  |  2,760 SqFt
Screened Pool  |  3-Car Garage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12" grpId="0"/>
      <p:bldSp spid="7" grpId="0"/>
      <p:bldSp spid="13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Property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17955"/>
                </a:solidFill>
              </a:rPr>
              <a:t>12508 Westchester Estates Dr, Tampa FL 33626</a:t>
            </a:r>
          </a:p>
        </p:txBody>
      </p:sp>
      <p:pic>
        <p:nvPicPr>
          <p:cNvPr id="6" name="Picture 5" descr="14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347472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14630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56032"/>
          <a:lstStyle/>
          <a:p>
            <a:pPr algn="l"/>
            <a:r>
              <a:rPr sz="1300" b="1">
                <a:solidFill>
                  <a:srgbClr val="2C2416"/>
                </a:solidFill>
              </a:rPr>
              <a:t>Kitchen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Quartz counters, oversized island, walk-in pantry. Opens to family room via sliding doors.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840480" cy="164592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630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56032"/>
          <a:lstStyle/>
          <a:p>
            <a:pPr algn="l"/>
            <a:r>
              <a:rPr sz="1300" b="1">
                <a:solidFill>
                  <a:srgbClr val="2C2416"/>
                </a:solidFill>
              </a:rPr>
              <a:t>Living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Soaring ceilings, wide-plank floors, oversized windows. Natural light throughout.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840480" cy="164592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56032"/>
          <a:lstStyle/>
          <a:p>
            <a:pPr algn="l"/>
            <a:r>
              <a:rPr sz="1300" b="1">
                <a:solidFill>
                  <a:srgbClr val="2C2416"/>
                </a:solidFill>
              </a:rPr>
              <a:t>Primary Suite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Spa bath with soaking tub, glass shower, dual vanities. Private wing.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3840480" cy="164592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9718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56032"/>
          <a:lstStyle/>
          <a:p>
            <a:pPr algn="l"/>
            <a:r>
              <a:rPr sz="1300" b="1">
                <a:solidFill>
                  <a:srgbClr val="2C2416"/>
                </a:solidFill>
              </a:rPr>
              <a:t>Outdoor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Screened pool and paver lanai. Fenced yard. Pool opens to family room.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971800"/>
            <a:ext cx="3840480" cy="164592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48056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56032"/>
          <a:lstStyle/>
          <a:p>
            <a:pPr algn="l"/>
            <a:r>
              <a:rPr sz="1300" b="1">
                <a:solidFill>
                  <a:srgbClr val="2C2416"/>
                </a:solidFill>
              </a:rPr>
              <a:t>School Zone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Zoned for top-rated Westchase schools. Veterans Expressway access nearby.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3840480" cy="164592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448056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56032"/>
          <a:lstStyle/>
          <a:p>
            <a:pPr algn="l"/>
            <a:r>
              <a:rPr sz="1300" b="1">
                <a:solidFill>
                  <a:srgbClr val="2C2416"/>
                </a:solidFill>
              </a:rPr>
              <a:t>Garage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Three-car tandem garage. Space for staging supplies, sports gear, storage.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480560"/>
            <a:ext cx="3840480" cy="164592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4" grpId="0"/>
      <p:bldSp spid="7" grpId="0"/>
      <p:bldSp spid="9" grpId="0"/>
      <p:bldSp spid="11" grpId="0"/>
      <p:bldSp spid="13" grpId="0"/>
      <p:bldSp spid="15" grpId="0"/>
      <p:bldSp spid="17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2416"/>
                </a:solidFill>
              </a:rPr>
              <a:t>Pricing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Comparable sales analysis | Recommended list price: $525,000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3A2E1E"/>
          </a:solidFill>
          <a:ln w="9525">
            <a:solidFill>
              <a:srgbClr val="C17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l"/>
            <a:r>
              <a:rPr sz="1400" b="1">
                <a:solidFill>
                  <a:srgbClr val="C17955"/>
                </a:solidFill>
              </a:rPr>
              <a:t>Pricing Rationale</a:t>
            </a:r>
          </a:p>
          <a:p>
            <a:pPr algn="l">
              <a:spcBef>
                <a:spcPts val="0"/>
              </a:spcBef>
            </a:pPr>
            <a:r>
              <a:rPr sz="400" b="0"/>
              <a:t>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DCCBB"/>
                </a:solidFill>
              </a:rPr>
              <a:t>Comparable sales range $518K to $531K for 4BR/3BA Westchase homes sold within 60 days.</a:t>
            </a:r>
          </a:p>
          <a:p>
            <a:pPr algn="l">
              <a:spcBef>
                <a:spcPts val="0"/>
              </a:spcBef>
            </a:pPr>
            <a:r>
              <a:rPr sz="300" b="0"/>
              <a:t>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DCCBB"/>
                </a:solidFill>
              </a:rPr>
              <a:t>At $525,000 the subject is priced at the market midpoint with room for negotiation while limiting days on market.</a:t>
            </a:r>
          </a:p>
          <a:p>
            <a:pPr algn="l">
              <a:spcBef>
                <a:spcPts val="0"/>
              </a:spcBef>
            </a:pPr>
            <a:r>
              <a:rPr sz="300" b="0"/>
              <a:t>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DCCBB"/>
                </a:solidFill>
              </a:rPr>
              <a:t>Pre-listing inspection confirms sale-ready condition. Pool, school zone, and 3-car garage justify top-of-range pricing.</a:t>
            </a:r>
          </a:p>
          <a:p>
            <a:pPr algn="l">
              <a:spcBef>
                <a:spcPts val="0"/>
              </a:spcBef>
            </a:pPr>
            <a:r>
              <a:rPr sz="300" b="0"/>
              <a:t>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8C72"/>
                </a:solidFill>
              </a:rPr>
              <a:t>Commission: 5% total (2.5% listing side).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4" grpId="0"/>
      <p:bldSp spid="6" grpId="0"/>
      <p:bldSp spid="7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Marketing and Exposure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17955"/>
                </a:solidFill>
              </a:rPr>
              <a:t>Photography | MLS | Social | Print | Digital | Open 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Professional Photography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Gabriela Santos, $250, 24-hour turnaround. Twilight set for premium appeal. Drone exterior.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64592" cy="118872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6304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MLS Listing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Full Stellar MLS entry within 24 hours of photography. Maximum field completion for search visibility.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164592" cy="1188720"/>
          </a:xfrm>
          <a:prstGeom prst="rect">
            <a:avLst/>
          </a:prstGeom>
          <a:solidFill>
            <a:srgbClr val="7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Social Media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Instagram Reel of staging reveal. Open house countdown. TikTok neighborhood guide. 4,500+ followers.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64592" cy="118872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78892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Open House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October 17, 2:00 to 4:00 PM. Co-hosted by Diana Cruz. Cafecito and pastelitos served.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788920"/>
            <a:ext cx="164592" cy="1188720"/>
          </a:xfrm>
          <a:prstGeom prst="rect">
            <a:avLst/>
          </a:prstGeom>
          <a:solidFill>
            <a:srgbClr val="7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Email Blast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Mailchimp newsletter to 1,840 past clients and sphere. Just-listed announcement with photos.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164592" cy="118872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1148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Agent Network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Distributed to SunCoast network. Co-listing alert to Diana Cruz for referral leads.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114800"/>
            <a:ext cx="164592" cy="1188720"/>
          </a:xfrm>
          <a:prstGeom prst="rect">
            <a:avLst/>
          </a:prstGeom>
          <a:solidFill>
            <a:srgbClr val="7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440679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Print Flyer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Just-listed flyer for neighborhood drop and open house sign-in 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40679"/>
            <a:ext cx="164592" cy="118872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5440679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/>
          <a:lstStyle/>
          <a:p>
            <a:pPr algn="l"/>
            <a:r>
              <a:rPr sz="1100" b="1">
                <a:solidFill>
                  <a:srgbClr val="2C2416"/>
                </a:solidFill>
              </a:rPr>
              <a:t>Online Syndication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4A4A4A"/>
                </a:solidFill>
              </a:rPr>
              <a:t>Listing syndicates to Zillow, Realtor.com, and Homes.com through MLS.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440679"/>
            <a:ext cx="164592" cy="1188720"/>
          </a:xfrm>
          <a:prstGeom prst="rect">
            <a:avLst/>
          </a:prstGeom>
          <a:solidFill>
            <a:srgbClr val="7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16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2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4" grpId="0"/>
      <p:bldSp spid="6" grpId="0"/>
      <p:bldSp spid="8" grpId="0"/>
      <p:bldSp spid="10" grpId="0"/>
      <p:bldSp spid="12" grpId="0"/>
      <p:bldSp spid="14" grpId="0"/>
      <p:bldSp spid="16" grpId="0"/>
      <p:bldSp spid="18" grpId="0"/>
      <p:bldSp spid="20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3566160"/>
            <a:ext cx="4809744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572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EEE5"/>
                </a:solidFill>
              </a:rPr>
              <a:t>YOUR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Brittany
Morales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EE5"/>
                </a:solidFill>
              </a:rPr>
              <a:t>SunCoast Realty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214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EEE5"/>
                </a:solidFill>
              </a:rPr>
              <a:t>License SL3294187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4688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(813) 555-0119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163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EEE5"/>
                </a:solidFill>
              </a:rPr>
              <a:t>brittany.morales@Greenridertech.co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48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416"/>
                </a:solidFill>
              </a:rPr>
              <a:t>Why Choose Brittany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1682495"/>
            <a:ext cx="164592" cy="164592"/>
          </a:xfrm>
          <a:prstGeom prst="ellipse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5544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416"/>
                </a:solidFill>
              </a:rPr>
              <a:t>14 Years in Tampa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920240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Licensed 2012. Fourteen years of market fluency across South Tampa, Westchase, Seminole Heights, Channelside, and Hyde Park.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0" y="2670048"/>
            <a:ext cx="164592" cy="164592"/>
          </a:xfrm>
          <a:prstGeom prst="ellipse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5420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416"/>
                </a:solidFill>
              </a:rPr>
              <a:t>Self-Staged Listings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907792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Every listing staged personally with Carlos Menendez. $1,200 to $2,500 budget. Faster closings, stronger offers.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164592" cy="164592"/>
          </a:xfrm>
          <a:prstGeom prst="ellipse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352958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416"/>
                </a:solidFill>
              </a:rPr>
              <a:t>Professional Photography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895344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Gabriela Santos shoots every listing within 24 hours. Twilight photography for premium properties.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4645152"/>
            <a:ext cx="164592" cy="164592"/>
          </a:xfrm>
          <a:prstGeom prst="ellipse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451713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416"/>
                </a:solidFill>
              </a:rPr>
              <a:t>Proven Social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882896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4,500 Instagram followers. Daily listing stories. TikTok neighborhood guides. Your listing reaches buyers where they search.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5632704"/>
            <a:ext cx="164592" cy="164592"/>
          </a:xfrm>
          <a:prstGeom prst="ellipse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550468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416"/>
                </a:solidFill>
              </a:rPr>
              <a:t>YTD Track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5870448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$1.83M closed in 2026 across 4 transactions. Personal best $4.2M in 2024. Full-time, high-volume agent.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7" grpId="0"/>
      <p:bldSp spid="12" grpId="0"/>
      <p:bldSp spid="14" grpId="0"/>
      <p:bldSp spid="17" grpId="0"/>
      <p:bldSp spid="20" grpId="0"/>
      <p:bldSp spid="23" grpId="0"/>
      <p:bldSp spid="2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2416"/>
                </a:solidFill>
              </a:rPr>
              <a:t>Open House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Saturday, October 17, 2026  |  2:00 to 4:00 PM  |  12508 Westchester Estates Dr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50292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C179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C179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C179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1:00 PM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Open blinds, lamps on, pool screen open, thermostat 72. Sign-in tablet and flyers on island.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1:30 PM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Diana Cruz arrives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Co-hosts first hour. Covers guest flow while Brittany works kitchen and living areas.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1:55 PM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Refreshments set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Cuban cafecito station, pastelitos, bottled water. Fresh orchids kitchen and primary bath.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2:00 PM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Doors open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Greet every guest at door. Lead with kitchen island and pool lanai. Flyers available.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3:00 PM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Mid-house check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Text update on attendance. Flag hot leads for immediate HubSpot entry.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4:00 PM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Close and debrief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Collect sign-in tablet. Text all signed-in leads within 2 hours using Twilio template.</a:t>
                      </a:r>
                    </a:p>
                  </a:txBody>
                  <a:tcPr>
                    <a:solidFill>
                      <a:srgbClr val="2C24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7955"/>
                          </a:solidFill>
                        </a:rPr>
                        <a:t>4:30 PM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Lead review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DCCBB"/>
                          </a:solidFill>
                        </a:rPr>
                        <a:t>Prioritize Marcus Webb, Priya Anand, Dana Pruitt. Nguyens top priority if attended.</a:t>
                      </a:r>
                    </a:p>
                  </a:txBody>
                  <a:tcPr>
                    <a:solidFill>
                      <a:srgbClr val="3A2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4" grpId="0"/>
      <p:bldSp spid="6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Financial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17955"/>
                </a:solidFill>
              </a:rPr>
              <a:t>Seller net estimate at $525,000 | 5% total commission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1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List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2763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C2416"/>
                </a:solidFill>
              </a:rPr>
              <a:t>$525,000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21991"/>
            <a:ext cx="11247120" cy="621792"/>
          </a:xfrm>
          <a:prstGeom prst="rect">
            <a:avLst/>
          </a:prstGeom>
          <a:solidFill>
            <a:srgbClr val="FAF7F2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40863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Expected Sale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40863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C2416"/>
                </a:solidFill>
              </a:rPr>
              <a:t>$510,000 - $525,000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Total Commission (5%)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5409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C2416"/>
                </a:solidFill>
              </a:rPr>
              <a:t>$25,500 - $26,250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48456"/>
            <a:ext cx="11247120" cy="621792"/>
          </a:xfrm>
          <a:prstGeom prst="rect">
            <a:avLst/>
          </a:prstGeom>
          <a:solidFill>
            <a:srgbClr val="FAF7F2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6732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Listing Side (2.5%)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6732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C2416"/>
                </a:solidFill>
              </a:rPr>
              <a:t>$12,750 - $13,125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61688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Buyer Agent Side (2.5%)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8055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C2416"/>
                </a:solidFill>
              </a:rPr>
              <a:t>$12,750 - $13,125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11247120" cy="621792"/>
          </a:xfrm>
          <a:prstGeom prst="rect">
            <a:avLst/>
          </a:prstGeom>
          <a:solidFill>
            <a:srgbClr val="FAF7F2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937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416"/>
                </a:solidFill>
              </a:rPr>
              <a:t>Estimated Title/Closing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937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C2416"/>
                </a:solidFill>
              </a:rPr>
              <a:t>$3,000 - $4,500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88152"/>
            <a:ext cx="11247120" cy="621792"/>
          </a:xfrm>
          <a:prstGeom prst="rect">
            <a:avLst/>
          </a:prstGeom>
          <a:solidFill>
            <a:srgbClr val="E8DFD0"/>
          </a:solidFill>
          <a:ln w="6350">
            <a:solidFill>
              <a:srgbClr val="D0C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0702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416"/>
                </a:solidFill>
              </a:rPr>
              <a:t>Estimated Seller 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9070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17955"/>
                </a:solidFill>
              </a:rPr>
              <a:t>$481,000 - $507,000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16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2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4" grpId="0"/>
      <p:bldSp spid="8" grpId="0"/>
      <p:bldSp spid="11" grpId="0"/>
      <p:bldSp spid="14" grpId="0"/>
      <p:bldSp spid="17" grpId="0"/>
      <p:bldSp spid="20" grpId="0"/>
      <p:bldSp spid="23" grpId="0"/>
      <p:bldSp spid="26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C1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Ready to list?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BBAA"/>
                </a:solidFill>
              </a:rPr>
              <a:t>Let's talk through the timeline and get your home on the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(813) 555-0119
brittany.morales@Greenridertech.co
@brittany.morales.homes  |  SunCoast Realty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377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Brittany
Morales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2461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EEE5"/>
                </a:solidFill>
              </a:rPr>
              <a:t>SunCoast Realty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611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EE5"/>
                </a:solidFill>
              </a:rPr>
              <a:t>South Tampa | Est. 2012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Sp spid="4" grpId="0"/>
      <p:bldSp spid="5" grpId="0"/>
      <p:bldSp spid="6" grpId="0"/>
      <p:bldS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