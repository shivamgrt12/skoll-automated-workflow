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 per month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3B82F6"/>
              </a:solidFill>
            </c:spPr>
          </c:dPt>
          <c:dPt>
            <c:idx val="2"/>
            <c:spPr>
              <a:solidFill>
                <a:srgbClr val="60A5FA"/>
              </a:solidFill>
            </c:spPr>
          </c:dPt>
          <c:dPt>
            <c:idx val="3"/>
            <c:spPr>
              <a:solidFill>
                <a:srgbClr val="0EA5A4"/>
              </a:solidFill>
            </c:spPr>
          </c:dPt>
          <c:dPt>
            <c:idx val="4"/>
            <c:spPr>
              <a:solidFill>
                <a:srgbClr val="14B8A6"/>
              </a:solidFill>
            </c:spPr>
          </c:dPt>
          <c:dPt>
            <c:idx val="5"/>
            <c:spPr>
              <a:solidFill>
                <a:srgbClr val="5EEAD4"/>
              </a:solidFill>
            </c:spPr>
          </c:dPt>
          <c:dPt>
            <c:idx val="6"/>
            <c:spPr>
              <a:solidFill>
                <a:srgbClr val="94A3B8"/>
              </a:solidFill>
            </c:spPr>
          </c:dPt>
          <c:cat>
            <c:strRef>
              <c:f>Sheet1!$A$2:$A$8</c:f>
              <c:strCache>
                <c:ptCount val="7"/>
                <c:pt idx="0">
                  <c:v>Composer</c:v>
                </c:pt>
                <c:pt idx="1">
                  <c:v>Software</c:v>
                </c:pt>
                <c:pt idx="2">
                  <c:v>Hardware</c:v>
                </c:pt>
                <c:pt idx="3">
                  <c:v>Marketing</c:v>
                </c:pt>
                <c:pt idx="4">
                  <c:v>Analytics</c:v>
                </c:pt>
                <c:pt idx="5">
                  <c:v>Festival</c:v>
                </c:pt>
                <c:pt idx="6">
                  <c:v>Contingency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1000</c:v>
                </c:pt>
                <c:pt idx="1">
                  <c:v>350</c:v>
                </c:pt>
                <c:pt idx="2">
                  <c:v>250</c:v>
                </c:pt>
                <c:pt idx="3">
                  <c:v>500</c:v>
                </c:pt>
                <c:pt idx="4">
                  <c:v>200</c:v>
                </c:pt>
                <c:pt idx="5">
                  <c:v>300</c:v>
                </c:pt>
                <c:pt idx="6">
                  <c:v>200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dPt>
            <c:idx val="0"/>
            <c:spPr>
              <a:solidFill>
                <a:srgbClr val="2563EB"/>
              </a:solidFill>
            </c:spPr>
          </c:dPt>
          <c:dPt>
            <c:idx val="1"/>
            <c:spPr>
              <a:solidFill>
                <a:srgbClr val="0EA5A4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EF4444"/>
              </a:solidFill>
            </c:spPr>
          </c:dPt>
          <c:dPt>
            <c:idx val="4"/>
            <c:spPr>
              <a:solidFill>
                <a:srgbClr val="8B5CF6"/>
              </a:solidFill>
            </c:spPr>
          </c:dPt>
          <c:dPt>
            <c:idx val="5"/>
            <c:spPr>
              <a:solidFill>
                <a:srgbClr val="06B6D4"/>
              </a:solidFill>
            </c:spPr>
          </c:dPt>
          <c:dPt>
            <c:idx val="6"/>
            <c:spPr>
              <a:solidFill>
                <a:srgbClr val="EC4899"/>
              </a:solidFill>
            </c:spPr>
          </c:dPt>
          <c:dPt>
            <c:idx val="7"/>
            <c:spPr>
              <a:solidFill>
                <a:srgbClr val="22C55E"/>
              </a:solidFill>
            </c:spPr>
          </c:dPt>
          <c:dPt>
            <c:idx val="8"/>
            <c:spPr>
              <a:solidFill>
                <a:srgbClr val="94A3B8"/>
              </a:solidFill>
            </c:spPr>
          </c:dPt>
          <c:cat>
            <c:strRef>
              <c:f>Sheet1!$A$2:$A$10</c:f>
              <c:strCache>
                <c:ptCount val="9"/>
                <c:pt idx="0">
                  <c:v>Rent</c:v>
                </c:pt>
                <c:pt idx="1">
                  <c:v>Health insurance</c:v>
                </c:pt>
                <c:pt idx="2">
                  <c:v>Groceries</c:v>
                </c:pt>
                <c:pt idx="3">
                  <c:v>Dining</c:v>
                </c:pt>
                <c:pt idx="4">
                  <c:v>Utilities</c:v>
                </c:pt>
                <c:pt idx="5">
                  <c:v>Phone</c:v>
                </c:pt>
                <c:pt idx="6">
                  <c:v>Subscriptions</c:v>
                </c:pt>
                <c:pt idx="7">
                  <c:v>Transport</c:v>
                </c:pt>
                <c:pt idx="8">
                  <c:v>Misc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1050</c:v>
                </c:pt>
                <c:pt idx="1">
                  <c:v>320</c:v>
                </c:pt>
                <c:pt idx="2">
                  <c:v>380</c:v>
                </c:pt>
                <c:pt idx="3">
                  <c:v>180</c:v>
                </c:pt>
                <c:pt idx="4">
                  <c:v>130</c:v>
                </c:pt>
                <c:pt idx="5">
                  <c:v>55</c:v>
                </c:pt>
                <c:pt idx="6">
                  <c:v>60</c:v>
                </c:pt>
                <c:pt idx="7">
                  <c:v>80</c:v>
                </c:pt>
                <c:pt idx="8">
                  <c:v>90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0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Commissions, USD</c:v>
                </c:pt>
              </c:strCache>
            </c:strRef>
          </c:tx>
          <c:spPr>
            <a:solidFill>
              <a:srgbClr val="0EA5A4"/>
            </a:solidFill>
            <a:ln>
              <a:solidFill>
                <a:srgbClr val="0EA5A4"/>
              </a:solidFill>
            </a:ln>
          </c:spPr>
          <c:cat>
            <c:strRef>
              <c:f>Sheet1!$A$2:$A$6</c:f>
              <c:strCache>
                <c:ptCount val="5"/>
                <c:pt idx="0">
                  <c:v>Oct 2025</c:v>
                </c:pt>
                <c:pt idx="1">
                  <c:v>Nov 2025</c:v>
                </c:pt>
                <c:pt idx="2">
                  <c:v>Dec 2025</c:v>
                </c:pt>
                <c:pt idx="3">
                  <c:v>Jan 2026</c:v>
                </c:pt>
                <c:pt idx="4">
                  <c:v>Feb 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</c:v>
                </c:pt>
                <c:pt idx="1">
                  <c:v>950</c:v>
                </c:pt>
                <c:pt idx="2">
                  <c:v>1450</c:v>
                </c:pt>
                <c:pt idx="3">
                  <c:v>1800</c:v>
                </c:pt>
                <c:pt idx="4">
                  <c:v>700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Cash, USD</c:v>
                </c:pt>
              </c:strCache>
            </c:strRef>
          </c:tx>
          <c:spPr>
            <a:solidFill>
              <a:srgbClr val="EF4444"/>
            </a:solidFill>
            <a:ln>
              <a:solidFill>
                <a:srgbClr val="EF4444"/>
              </a:solidFill>
            </a:ln>
          </c:spPr>
          <c:cat>
            <c:strRef>
              <c:f>Sheet1!$A$2:$A$10</c:f>
              <c:strCache>
                <c:ptCount val="9"/>
                <c:pt idx="0">
                  <c:v>Now</c:v>
                </c:pt>
                <c:pt idx="1">
                  <c:v>+1</c:v>
                </c:pt>
                <c:pt idx="2">
                  <c:v>+2</c:v>
                </c:pt>
                <c:pt idx="3">
                  <c:v>+3</c:v>
                </c:pt>
                <c:pt idx="4">
                  <c:v>+4</c:v>
                </c:pt>
                <c:pt idx="5">
                  <c:v>+5</c:v>
                </c:pt>
                <c:pt idx="6">
                  <c:v>+6</c:v>
                </c:pt>
                <c:pt idx="7">
                  <c:v>+7</c:v>
                </c:pt>
                <c:pt idx="8">
                  <c:v>+8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22400</c:v>
                </c:pt>
                <c:pt idx="1">
                  <c:v>19600</c:v>
                </c:pt>
                <c:pt idx="2">
                  <c:v>16800</c:v>
                </c:pt>
                <c:pt idx="3">
                  <c:v>14000</c:v>
                </c:pt>
                <c:pt idx="4">
                  <c:v>11200</c:v>
                </c:pt>
                <c:pt idx="5">
                  <c:v>8400</c:v>
                </c:pt>
                <c:pt idx="6">
                  <c:v>5600</c:v>
                </c:pt>
                <c:pt idx="7">
                  <c:v>2800</c:v>
                </c:pt>
                <c:pt idx="8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1F2937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0EA5A4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05840"/>
            <a:ext cx="4023360" cy="2682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89520" y="1005840"/>
            <a:ext cx="402336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6400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Calibri"/>
              </a:rPr>
              <a:t>Moonstone Games</a:t>
            </a:r>
          </a:p>
          <a:p>
            <a:pPr algn="l"/>
            <a:r>
              <a:rPr sz="5200" b="1" i="0">
                <a:solidFill>
                  <a:srgbClr val="1F2937"/>
                </a:solidFill>
                <a:latin typeface="Calibri"/>
              </a:rPr>
              <a:t>Studio Review</a:t>
            </a:r>
          </a:p>
          <a:p>
            <a:pPr algn="l">
              <a:spcBef>
                <a:spcPts val="1000"/>
              </a:spcBef>
            </a:pPr>
            <a:r>
              <a:rPr sz="1800" b="0" i="0">
                <a:solidFill>
                  <a:srgbClr val="6B7280"/>
                </a:solidFill>
                <a:latin typeface="Calibri"/>
              </a:rPr>
              <a:t>Burn rate, runway, and the path to Early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Prepared by Carlos Foster   |   as of 21 February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2606040" cy="164592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260604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$45,000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6B7280"/>
                </a:solidFill>
                <a:latin typeface="Calibri"/>
              </a:rPr>
              <a:t>invested to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606040" cy="164592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645920"/>
            <a:ext cx="2606040" cy="128016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96596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$2,800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6B7280"/>
                </a:solidFill>
                <a:latin typeface="Calibri"/>
              </a:rPr>
              <a:t>monthly burn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2606040" cy="164592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45920"/>
            <a:ext cx="2606040" cy="1280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8 months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6B7280"/>
                </a:solidFill>
                <a:latin typeface="Calibri"/>
              </a:rPr>
              <a:t>runway remaining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645920"/>
            <a:ext cx="2606040" cy="1645920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52560" y="1645920"/>
            <a:ext cx="260604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96596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1,200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6B7280"/>
                </a:solidFill>
                <a:latin typeface="Calibri"/>
              </a:rPr>
              <a:t>demo wishlists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EA5A4"/>
                </a:solidFill>
                <a:latin typeface="Calibri"/>
              </a:rPr>
              <a:t>Cash position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The studio has roughly $22,400 in working cash against a steady $2,800 monthly burn, leaving about eight months before revenue or a deal is needed. Carlos draws nothing from the studio and covers personal costs from freelance income.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Monthly burn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28800"/>
          <a:ext cx="10607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EA5A4"/>
                </a:solidFill>
                <a:latin typeface="Calibri"/>
              </a:rPr>
              <a:t>Total monthly burn: $2,800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Personal monthly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737360"/>
          <a:ext cx="58521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237744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EA5A4"/>
                </a:solidFill>
                <a:latin typeface="Calibri"/>
              </a:rPr>
              <a:t>Income vs outgoings</a:t>
            </a:r>
          </a:p>
          <a:p>
            <a:pPr algn="l">
              <a:spcBef>
                <a:spcPts val="800"/>
              </a:spcBef>
            </a:pPr>
            <a:r>
              <a:rPr sz="1500" b="0" i="0">
                <a:solidFill>
                  <a:srgbClr val="1F2937"/>
                </a:solidFill>
                <a:latin typeface="Calibri"/>
              </a:rPr>
              <a:t>Freelance pixel art brings in about $2,200 a month against $2,345 in personal costs, a small monthly gap of $145 that draws gently on savings.</a:t>
            </a:r>
          </a:p>
          <a:p>
            <a:pPr algn="l">
              <a:spcBef>
                <a:spcPts val="1000"/>
              </a:spcBef>
            </a:pPr>
            <a:r>
              <a:rPr sz="1500" b="0" i="0">
                <a:solidFill>
                  <a:srgbClr val="6B7280"/>
                </a:solidFill>
                <a:latin typeface="Calibri"/>
              </a:rPr>
              <a:t>Emergency fund holds steady at $12,040 earning 4.0% APY.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Freelance income, recent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28800"/>
          <a:ext cx="106070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Runway projection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"/>
              </a:rPr>
              <a:t>Working cash at $2,800 monthly burn, no new revenue assumed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920240"/>
          <a:ext cx="106070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Festival and submission spend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82296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37360"/>
          <a:ext cx="1060704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1828800"/>
                <a:gridCol w="2468880"/>
                <a:gridCol w="24688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Festival</a:t>
                      </a:r>
                    </a:p>
                  </a:txBody>
                  <a:tcPr marL="73152" marR="73152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Fee</a:t>
                      </a:r>
                    </a:p>
                  </a:txBody>
                  <a:tcPr marL="73152" marR="73152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Submitted</a:t>
                      </a:r>
                    </a:p>
                  </a:txBody>
                  <a:tcPr marL="73152" marR="73152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F293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Indie Horizons Expo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$95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1 Dec 2025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Cascade Play Festival</a:t>
                      </a:r>
                    </a:p>
                  </a:txBody>
                  <a:tcPr marL="73152" marR="73152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$75</a:t>
                      </a:r>
                    </a:p>
                  </a:txBody>
                  <a:tcPr marL="73152" marR="73152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20 Nov 2025</a:t>
                      </a:r>
                    </a:p>
                  </a:txBody>
                  <a:tcPr marL="73152" marR="73152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73152" marR="73152" marT="27432" marB="27432" anchor="ctr">
                    <a:solidFill>
                      <a:srgbClr val="EE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Northwest Game Showcase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$60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15 Jan 2026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pending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Driftwood Indie Awards</a:t>
                      </a:r>
                    </a:p>
                  </a:txBody>
                  <a:tcPr marL="73152" marR="73152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$40</a:t>
                      </a:r>
                    </a:p>
                  </a:txBody>
                  <a:tcPr marL="73152" marR="73152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5 Feb 2026</a:t>
                      </a:r>
                    </a:p>
                  </a:txBody>
                  <a:tcPr marL="73152" marR="73152" marT="27432" marB="27432"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03030"/>
                          </a:solidFill>
                          <a:latin typeface="Calibri"/>
                        </a:rPr>
                        <a:t>submitted</a:t>
                      </a:r>
                    </a:p>
                  </a:txBody>
                  <a:tcPr marL="73152" marR="73152" marT="27432" marB="27432" anchor="ctr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7548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Calibri"/>
              </a:rPr>
              <a:t>A $300 monthly reserve covers booth fees and travel. The larger PAX booth at $3,000 stays parked until a deal or a strong launch funds it.</a:t>
            </a:r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F2937"/>
              </a:gs>
              <a:gs pos="100000">
                <a:srgbClr val="111827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Decisions this quarter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822960" cy="73152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128016" cy="9601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5EEAD4"/>
                </a:solidFill>
                <a:latin typeface="Calibri"/>
              </a:rPr>
              <a:t>Target November 2026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Lock Early Access for November and build the store page in October.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80360"/>
            <a:ext cx="10515600" cy="96012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880360"/>
            <a:ext cx="128016" cy="9601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7180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5EEAD4"/>
                </a:solidFill>
                <a:latin typeface="Calibri"/>
              </a:rPr>
              <a:t>Hold publisher talks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Keep the conversation warm but send no build without sign 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77639"/>
            <a:ext cx="10515600" cy="96012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977639"/>
            <a:ext cx="128016" cy="9601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069079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5EEAD4"/>
                </a:solidFill>
                <a:latin typeface="Calibri"/>
              </a:rPr>
              <a:t>Protect the runway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Defer the large booth, keep burn at $2,800, revisit at launch.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10515600" cy="960120"/>
          </a:xfrm>
          <a:prstGeom prst="roundRect">
            <a:avLst/>
          </a:prstGeom>
          <a:solidFill>
            <a:srgbClr val="273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074920"/>
            <a:ext cx="128016" cy="96012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166359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5EEAD4"/>
                </a:solidFill>
                <a:latin typeface="Calibri"/>
              </a:rPr>
              <a:t>Consider the LLC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BD5E1"/>
                </a:solidFill>
                <a:latin typeface="Calibri"/>
              </a:rPr>
              <a:t>Form the Washington studio entity before any deal closes.</a:t>
            </a:r>
          </a:p>
        </p:txBody>
      </p:sp>
    </p:spTree>
  </p:cSld>
  <p:clrMapOvr>
    <a:masterClrMapping/>
  </p:clrMapOvr>
  <p:transition spd="med">
    <p:cover dir="d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Cash position and runway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9E4DD"/>
                </a:solidFill>
                <a:latin typeface="Calibri"/>
              </a:rPr>
              <a:t>As of 21 February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F5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Working cash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$22,400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Monthly burn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$2,800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Runway (cash / burn)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8.0 months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Invested to 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$45,000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Emergency fund (personal)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$12,040 @ 4.0% APY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52160" y="146304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32A"/>
                </a:solidFill>
                <a:latin typeface="Calibri"/>
              </a:rPr>
              <a:t>•  Runway is derived, not a headline: 22,400 / 2,800 = 8.0 months.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32A"/>
                </a:solidFill>
                <a:latin typeface="Calibri"/>
              </a:rPr>
              <a:t>•  Carlos draws nothing from the studio; personal costs run on freelance income.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32A"/>
                </a:solidFill>
                <a:latin typeface="Calibri"/>
              </a:rPr>
              <a:t>•  No borrowing against the studio. The refit-style spend does not apply here.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32A"/>
                </a:solidFill>
                <a:latin typeface="Calibri"/>
              </a:rPr>
              <a:t>•  PAX booth at $3,000 stays parked until a deal or a strong launch funds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Monthly burn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9E4DD"/>
                </a:solidFill>
                <a:latin typeface="Calibri"/>
              </a:rPr>
              <a:t>Total $2,800 per month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6858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06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Monthly USD</a:t>
                      </a:r>
                    </a:p>
                  </a:txBody>
                  <a:tcPr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 of burn</a:t>
                      </a:r>
                    </a:p>
                  </a:txBody>
                  <a:tcPr>
                    <a:solidFill>
                      <a:srgbClr val="2F5233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Composer contract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$1,000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35.7%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Software licenses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$350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Hardware amortized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$250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$500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17.9%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Analytics hosting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7.1%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Festival reserve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$300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10.7%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Contingency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$200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7.1%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$2,800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F5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three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9E4DD"/>
                </a:solidFill>
                <a:latin typeface="Calibri"/>
              </a:rPr>
              <a:t>Weighed at the interest stage, no terms yet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Runway effect</a:t>
                      </a:r>
                    </a:p>
                  </a:txBody>
                  <a:tcPr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F52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Ember Gate deal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advance extends, terms open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share negotiated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non-binding EOI, Feb 9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Pixel North deal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advance extends, terms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share negotiated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wants to see EA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Self-publish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booth + marketing shorten it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full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32A"/>
                          </a:solidFill>
                        </a:defRPr>
                      </a:pPr>
                      <a:r>
                        <a:t>Tyler's preference</a:t>
                      </a:r>
                    </a:p>
                  </a:txBody>
                  <a:tcPr>
                    <a:solidFill>
                      <a:srgbClr val="EEF3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805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32A"/>
                </a:solidFill>
                <a:latin typeface="Calibri"/>
              </a:rPr>
              <a:t>•  No written deal terms from either publisher, so deal economics are modeled as scenarios and held open.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32A"/>
                </a:solidFill>
                <a:latin typeface="Calibri"/>
              </a:rPr>
              <a:t>•  Decision deferred until the numbers are trued up. First contact stays with Carlos.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Moonstone Games Studio Review</dc:title>
  <dc:creator>Carlos Foster</dc:creator>
  <cp:lastModifiedBy>Carlos Foster</cp:lastModifiedBy>
  <cp:revision>1</cp:revision>
  <dcterms:created xsi:type="dcterms:W3CDTF">2026-02-21T18:00:00Z</dcterms:created>
  <dcterms:modified xsi:type="dcterms:W3CDTF">2026-02-21T18:00:00Z</dcterms:modified>
</cp:coreProperties>
</file>