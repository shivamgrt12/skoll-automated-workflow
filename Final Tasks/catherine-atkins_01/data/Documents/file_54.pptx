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Cases</c:v>
                </c:pt>
              </c:strCache>
            </c:strRef>
          </c:tx>
          <c:dPt>
            <c:idx val="0"/>
            <c:spPr>
              <a:solidFill>
                <a:srgbClr val="7C2233"/>
              </a:solidFill>
            </c:spPr>
          </c:dPt>
          <c:dPt>
            <c:idx val="1"/>
            <c:spPr>
              <a:solidFill>
                <a:srgbClr val="C8A24A"/>
              </a:solidFill>
            </c:spPr>
          </c:dPt>
          <c:dPt>
            <c:idx val="2"/>
            <c:spPr>
              <a:solidFill>
                <a:srgbClr val="5FA777"/>
              </a:solidFill>
            </c:spPr>
          </c:dPt>
          <c:dPt>
            <c:idx val="3"/>
            <c:spPr>
              <a:solidFill>
                <a:srgbClr val="5A78B0"/>
              </a:solidFill>
            </c:spPr>
          </c:dPt>
          <c:cat>
            <c:strRef>
              <c:f>Sheet1!$A$2:$A$5</c:f>
              <c:strCache>
                <c:ptCount val="4"/>
                <c:pt idx="0">
                  <c:v>Barolo</c:v>
                </c:pt>
                <c:pt idx="1">
                  <c:v>Barbaresco</c:v>
                </c:pt>
                <c:pt idx="2">
                  <c:v>Langhe Nebbiolo</c:v>
                </c:pt>
                <c:pt idx="3">
                  <c:v>Barbera d'Alba</c:v>
                </c:pt>
              </c:strCache>
            </c:strRef>
          </c:cat>
          <c:val>
            <c:numRef>
              <c:f>Sheet1!$B$2:$B$5</c:f>
              <c:numCache>
                <c:formatCode>General</c:formatCode>
                <c:ptCount val="4"/>
                <c:pt idx="0">
                  <c:v>300</c:v>
                </c:pt>
                <c:pt idx="1">
                  <c:v>180</c:v>
                </c:pt>
                <c:pt idx="2">
                  <c:v>240</c:v>
                </c:pt>
                <c:pt idx="3">
                  <c:v>200</c:v>
                </c:pt>
              </c:numCache>
            </c:numRef>
          </c:val>
        </c:ser>
        <c:dLbls>
          <c:txPr>
            <a:bodyPr/>
            <a:lstStyle/>
            <a:p>
              <a:pPr>
                <a:defRPr sz="1000">
                  <a:solidFill>
                    <a:srgbClr val="EFE7D8"/>
                  </a:solidFill>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EFE7D8"/>
            </a:solidFill>
          </a:ln>
        </c:spPr>
        <c:txPr>
          <a:bodyPr/>
          <a:lstStyle/>
          <a:p>
            <a:pPr>
              <a:defRPr sz="1000">
                <a:solidFill>
                  <a:srgbClr val="EFE7D8"/>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EFE7D8"/>
            </a:solidFill>
          </a:ln>
        </c:spPr>
        <c:txPr>
          <a:bodyPr/>
          <a:lstStyle/>
          <a:p>
            <a:pPr>
              <a:defRPr sz="1000">
                <a:solidFill>
                  <a:srgbClr val="EFE7D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USD</c:v>
                </c:pt>
              </c:strCache>
            </c:strRef>
          </c:tx>
          <c:dPt>
            <c:idx val="0"/>
            <c:spPr>
              <a:solidFill>
                <a:srgbClr val="5A78B0"/>
              </a:solidFill>
            </c:spPr>
          </c:dPt>
          <c:dPt>
            <c:idx val="1"/>
            <c:spPr>
              <a:solidFill>
                <a:srgbClr val="5FA777"/>
              </a:solidFill>
            </c:spPr>
          </c:dPt>
          <c:dPt>
            <c:idx val="2"/>
            <c:spPr>
              <a:solidFill>
                <a:srgbClr val="C8A24A"/>
              </a:solidFill>
            </c:spPr>
          </c:dPt>
          <c:dPt>
            <c:idx val="3"/>
            <c:spPr>
              <a:solidFill>
                <a:srgbClr val="7C2233"/>
              </a:solidFill>
            </c:spPr>
          </c:dPt>
          <c:cat>
            <c:strRef>
              <c:f>Sheet1!$A$2:$A$5</c:f>
              <c:strCache>
                <c:ptCount val="4"/>
                <c:pt idx="0">
                  <c:v>Veritas Logistics</c:v>
                </c:pt>
                <c:pt idx="1">
                  <c:v>Atlantic Cold Chain</c:v>
                </c:pt>
                <c:pt idx="2">
                  <c:v>Domaine Transport</c:v>
                </c:pt>
                <c:pt idx="3">
                  <c:v>Mediterranean Reefer</c:v>
                </c:pt>
              </c:strCache>
            </c:strRef>
          </c:cat>
          <c:val>
            <c:numRef>
              <c:f>Sheet1!$B$2:$B$5</c:f>
              <c:numCache>
                <c:formatCode>General</c:formatCode>
                <c:ptCount val="4"/>
                <c:pt idx="0">
                  <c:v>3980</c:v>
                </c:pt>
                <c:pt idx="1">
                  <c:v>4620</c:v>
                </c:pt>
                <c:pt idx="2">
                  <c:v>4850</c:v>
                </c:pt>
                <c:pt idx="3">
                  <c:v>5120</c:v>
                </c:pt>
              </c:numCache>
            </c:numRef>
          </c:val>
        </c:ser>
        <c:dLbls>
          <c:txPr>
            <a:bodyPr/>
            <a:lstStyle/>
            <a:p>
              <a:pPr>
                <a:defRPr sz="1000">
                  <a:solidFill>
                    <a:srgbClr val="EFE7D8"/>
                  </a:solidFill>
                </a:defRPr>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spPr>
          <a:ln>
            <a:solidFill>
              <a:srgbClr val="EFE7D8"/>
            </a:solidFill>
          </a:ln>
        </c:spPr>
        <c:txPr>
          <a:bodyPr/>
          <a:lstStyle/>
          <a:p>
            <a:pPr>
              <a:defRPr sz="1000">
                <a:solidFill>
                  <a:srgbClr val="EFE7D8"/>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EFE7D8"/>
            </a:solidFill>
          </a:ln>
        </c:spPr>
        <c:txPr>
          <a:bodyPr/>
          <a:lstStyle/>
          <a:p>
            <a:pPr>
              <a:defRPr sz="1000">
                <a:solidFill>
                  <a:srgbClr val="EFE7D8"/>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 USD millions</c:v>
                </c:pt>
              </c:strCache>
            </c:strRef>
          </c:tx>
          <c:spPr>
            <a:ln w="31750">
              <a:solidFill>
                <a:srgbClr val="C8A24A"/>
              </a:solidFill>
            </a:ln>
          </c:spPr>
          <c:cat>
            <c:strRef>
              <c:f>Sheet1!$A$2:$A$6</c:f>
              <c:strCache>
                <c:ptCount val="5"/>
                <c:pt idx="0">
                  <c:v>2023</c:v>
                </c:pt>
                <c:pt idx="1">
                  <c:v>2024</c:v>
                </c:pt>
                <c:pt idx="2">
                  <c:v>2025</c:v>
                </c:pt>
                <c:pt idx="3">
                  <c:v>2026</c:v>
                </c:pt>
                <c:pt idx="4">
                  <c:v>2027</c:v>
                </c:pt>
              </c:strCache>
            </c:strRef>
          </c:cat>
          <c:val>
            <c:numRef>
              <c:f>Sheet1!$B$2:$B$6</c:f>
              <c:numCache>
                <c:formatCode>General</c:formatCode>
                <c:ptCount val="5"/>
                <c:pt idx="0">
                  <c:v>3.0</c:v>
                </c:pt>
                <c:pt idx="1">
                  <c:v>3.4</c:v>
                </c:pt>
                <c:pt idx="2">
                  <c:v>3.8</c:v>
                </c:pt>
                <c:pt idx="3">
                  <c:v>4.2</c:v>
                </c:pt>
                <c:pt idx="4">
                  <c:v>4.7</c:v>
                </c:pt>
              </c:numCache>
            </c:numRef>
          </c:val>
          <c:smooth val="0"/>
        </c:ser>
        <c:dLbls>
          <c:txPr>
            <a:bodyPr/>
            <a:lstStyle/>
            <a:p>
              <a:pPr>
                <a:defRPr sz="1000">
                  <a:solidFill>
                    <a:srgbClr val="EFE7D8"/>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EFE7D8"/>
            </a:solidFill>
          </a:ln>
        </c:spPr>
        <c:txPr>
          <a:bodyPr/>
          <a:lstStyle/>
          <a:p>
            <a:pPr>
              <a:defRPr sz="1000">
                <a:solidFill>
                  <a:srgbClr val="EFE7D8"/>
                </a:solidFill>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EFE7D8"/>
            </a:solidFill>
          </a:ln>
        </c:spPr>
        <c:txPr>
          <a:bodyPr/>
          <a:lstStyle/>
          <a:p>
            <a:pPr>
              <a:defRPr sz="1000">
                <a:solidFill>
                  <a:srgbClr val="EFE7D8"/>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pic>
        <p:nvPicPr>
          <p:cNvPr id="2" name="Picture 1" descr="vineyard.jpg"/>
          <p:cNvPicPr>
            <a:picLocks noChangeAspect="1"/>
          </p:cNvPicPr>
          <p:nvPr/>
        </p:nvPicPr>
        <p:blipFill>
          <a:blip r:embed="rId2"/>
          <a:srcRect l="21863" r="21863"/>
          <a:stretch>
            <a:fillRect/>
          </a:stretch>
        </p:blipFill>
        <p:spPr>
          <a:xfrm>
            <a:off x="6400800" y="0"/>
            <a:ext cx="5790895" cy="6858000"/>
          </a:xfrm>
          <a:prstGeom prst="rect">
            <a:avLst/>
          </a:prstGeom>
        </p:spPr>
      </p:pic>
      <p:sp>
        <p:nvSpPr>
          <p:cNvPr id="3" name="Rectangle 2"/>
          <p:cNvSpPr/>
          <p:nvPr/>
        </p:nvSpPr>
        <p:spPr>
          <a:xfrm>
            <a:off x="0" y="0"/>
            <a:ext cx="6583680" cy="6858000"/>
          </a:xfrm>
          <a:prstGeom prst="rect">
            <a:avLst/>
          </a:prstGeom>
          <a:solidFill>
            <a:srgbClr val="1B13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286000"/>
            <a:ext cx="822960" cy="109728"/>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60320"/>
            <a:ext cx="5669280" cy="1828800"/>
          </a:xfrm>
          <a:prstGeom prst="rect">
            <a:avLst/>
          </a:prstGeom>
          <a:noFill/>
        </p:spPr>
        <p:txBody>
          <a:bodyPr wrap="square" anchor="t">
            <a:spAutoFit/>
          </a:bodyPr>
          <a:lstStyle/>
          <a:p>
            <a:pPr algn="l"/>
            <a:r>
              <a:rPr sz="4400" b="1">
                <a:solidFill>
                  <a:srgbClr val="EFE7D8"/>
                </a:solidFill>
                <a:latin typeface="Georgia"/>
              </a:rPr>
              <a:t>Italian Expansion</a:t>
            </a:r>
          </a:p>
          <a:p>
            <a:pPr algn="l"/>
            <a:r>
              <a:rPr sz="4400" b="1">
                <a:solidFill>
                  <a:srgbClr val="EFE7D8"/>
                </a:solidFill>
                <a:latin typeface="Georgia"/>
              </a:rPr>
              <a:t>Program</a:t>
            </a:r>
          </a:p>
        </p:txBody>
      </p:sp>
      <p:sp>
        <p:nvSpPr>
          <p:cNvPr id="6" name="TextBox 5"/>
          <p:cNvSpPr txBox="1"/>
          <p:nvPr/>
        </p:nvSpPr>
        <p:spPr>
          <a:xfrm>
            <a:off x="822960" y="4297680"/>
            <a:ext cx="5486400" cy="548640"/>
          </a:xfrm>
          <a:prstGeom prst="rect">
            <a:avLst/>
          </a:prstGeom>
          <a:noFill/>
        </p:spPr>
        <p:txBody>
          <a:bodyPr wrap="square" anchor="t">
            <a:spAutoFit/>
          </a:bodyPr>
          <a:lstStyle/>
          <a:p>
            <a:pPr algn="l"/>
            <a:r>
              <a:rPr sz="1800" b="0">
                <a:solidFill>
                  <a:srgbClr val="C8A24A"/>
                </a:solidFill>
                <a:latin typeface="Georgia"/>
              </a:rPr>
              <a:t>Piedmont and Tuscany Sourcing Initiative</a:t>
            </a:r>
          </a:p>
        </p:txBody>
      </p:sp>
      <p:sp>
        <p:nvSpPr>
          <p:cNvPr id="7" name="TextBox 6"/>
          <p:cNvSpPr txBox="1"/>
          <p:nvPr/>
        </p:nvSpPr>
        <p:spPr>
          <a:xfrm>
            <a:off x="822960" y="5029200"/>
            <a:ext cx="5486400" cy="457200"/>
          </a:xfrm>
          <a:prstGeom prst="rect">
            <a:avLst/>
          </a:prstGeom>
          <a:noFill/>
        </p:spPr>
        <p:txBody>
          <a:bodyPr wrap="square" anchor="t">
            <a:spAutoFit/>
          </a:bodyPr>
          <a:lstStyle/>
          <a:p>
            <a:pPr algn="l"/>
            <a:r>
              <a:rPr sz="1300" b="0">
                <a:solidFill>
                  <a:srgbClr val="B9A9C4"/>
                </a:solidFill>
                <a:latin typeface="Calibri"/>
              </a:rPr>
              <a:t>Atkins and Associates Fine Wines   |   February 2026</a:t>
            </a:r>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548640"/>
            <a:ext cx="10058400" cy="731520"/>
          </a:xfrm>
          <a:prstGeom prst="rect">
            <a:avLst/>
          </a:prstGeom>
          <a:noFill/>
        </p:spPr>
        <p:txBody>
          <a:bodyPr wrap="square" anchor="t">
            <a:spAutoFit/>
          </a:bodyPr>
          <a:lstStyle/>
          <a:p>
            <a:pPr algn="l"/>
            <a:r>
              <a:rPr sz="3000" b="1">
                <a:solidFill>
                  <a:srgbClr val="C8A24A"/>
                </a:solidFill>
                <a:latin typeface="Georgia"/>
              </a:rPr>
              <a:t>The Opportunity</a:t>
            </a:r>
          </a:p>
        </p:txBody>
      </p:sp>
      <p:sp>
        <p:nvSpPr>
          <p:cNvPr id="3" name="Rectangle 2"/>
          <p:cNvSpPr/>
          <p:nvPr/>
        </p:nvSpPr>
        <p:spPr>
          <a:xfrm>
            <a:off x="777240" y="1371600"/>
            <a:ext cx="2377440" cy="73152"/>
          </a:xfrm>
          <a:prstGeom prst="rect">
            <a:avLst/>
          </a:prstGeom>
          <a:solidFill>
            <a:srgbClr val="7C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10424160" cy="1371600"/>
          </a:xfrm>
          <a:prstGeom prst="rect">
            <a:avLst/>
          </a:prstGeom>
          <a:noFill/>
        </p:spPr>
        <p:txBody>
          <a:bodyPr wrap="square" anchor="t">
            <a:spAutoFit/>
          </a:bodyPr>
          <a:lstStyle/>
          <a:p>
            <a:pPr algn="l">
              <a:lnSpc>
                <a:spcPct val="115000"/>
              </a:lnSpc>
            </a:pPr>
            <a:r>
              <a:rPr sz="1600" b="0">
                <a:solidFill>
                  <a:srgbClr val="EFE7D8"/>
                </a:solidFill>
                <a:latin typeface="Calibri"/>
              </a:rPr>
              <a:t>Fifteen years of West Coast distribution earned the relationships that make a direct import program credible. The next chapter is traditional Nebbiolo and Sangiovese, sourced at the estate, priced FOB Genoa, and carried under the same temperature controlled line that protects every case in the book.</a:t>
            </a:r>
          </a:p>
        </p:txBody>
      </p:sp>
      <p:sp>
        <p:nvSpPr>
          <p:cNvPr id="5" name="Rectangle 4"/>
          <p:cNvSpPr/>
          <p:nvPr/>
        </p:nvSpPr>
        <p:spPr>
          <a:xfrm>
            <a:off x="777240" y="3383280"/>
            <a:ext cx="2468880" cy="155448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493008"/>
            <a:ext cx="2468880" cy="640080"/>
          </a:xfrm>
          <a:prstGeom prst="rect">
            <a:avLst/>
          </a:prstGeom>
          <a:noFill/>
        </p:spPr>
        <p:txBody>
          <a:bodyPr wrap="square" anchor="t">
            <a:spAutoFit/>
          </a:bodyPr>
          <a:lstStyle/>
          <a:p>
            <a:pPr algn="ctr"/>
            <a:r>
              <a:rPr sz="3000" b="1">
                <a:solidFill>
                  <a:srgbClr val="C8A24A"/>
                </a:solidFill>
                <a:latin typeface="Calibri"/>
              </a:rPr>
              <a:t>5</a:t>
            </a:r>
          </a:p>
        </p:txBody>
      </p:sp>
      <p:sp>
        <p:nvSpPr>
          <p:cNvPr id="7" name="TextBox 6"/>
          <p:cNvSpPr txBox="1"/>
          <p:nvPr/>
        </p:nvSpPr>
        <p:spPr>
          <a:xfrm>
            <a:off x="777240" y="4434840"/>
            <a:ext cx="2468880" cy="457200"/>
          </a:xfrm>
          <a:prstGeom prst="rect">
            <a:avLst/>
          </a:prstGeom>
          <a:noFill/>
        </p:spPr>
        <p:txBody>
          <a:bodyPr wrap="square" anchor="t">
            <a:spAutoFit/>
          </a:bodyPr>
          <a:lstStyle/>
          <a:p>
            <a:pPr algn="ctr"/>
            <a:r>
              <a:rPr sz="1100" b="0">
                <a:solidFill>
                  <a:srgbClr val="B9A9C4"/>
                </a:solidFill>
                <a:latin typeface="Calibri"/>
              </a:rPr>
              <a:t>Target producers</a:t>
            </a:r>
          </a:p>
        </p:txBody>
      </p:sp>
      <p:sp>
        <p:nvSpPr>
          <p:cNvPr id="8" name="Rectangle 7"/>
          <p:cNvSpPr/>
          <p:nvPr/>
        </p:nvSpPr>
        <p:spPr>
          <a:xfrm>
            <a:off x="3520440" y="3383280"/>
            <a:ext cx="2468880" cy="155448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3493008"/>
            <a:ext cx="2468880" cy="640080"/>
          </a:xfrm>
          <a:prstGeom prst="rect">
            <a:avLst/>
          </a:prstGeom>
          <a:noFill/>
        </p:spPr>
        <p:txBody>
          <a:bodyPr wrap="square" anchor="t">
            <a:spAutoFit/>
          </a:bodyPr>
          <a:lstStyle/>
          <a:p>
            <a:pPr algn="ctr"/>
            <a:r>
              <a:rPr sz="3000" b="1">
                <a:solidFill>
                  <a:srgbClr val="C8A24A"/>
                </a:solidFill>
                <a:latin typeface="Calibri"/>
              </a:rPr>
              <a:t>4</a:t>
            </a:r>
          </a:p>
        </p:txBody>
      </p:sp>
      <p:sp>
        <p:nvSpPr>
          <p:cNvPr id="10" name="TextBox 9"/>
          <p:cNvSpPr txBox="1"/>
          <p:nvPr/>
        </p:nvSpPr>
        <p:spPr>
          <a:xfrm>
            <a:off x="3520440" y="4434840"/>
            <a:ext cx="2468880" cy="457200"/>
          </a:xfrm>
          <a:prstGeom prst="rect">
            <a:avLst/>
          </a:prstGeom>
          <a:noFill/>
        </p:spPr>
        <p:txBody>
          <a:bodyPr wrap="square" anchor="t">
            <a:spAutoFit/>
          </a:bodyPr>
          <a:lstStyle/>
          <a:p>
            <a:pPr algn="ctr"/>
            <a:r>
              <a:rPr sz="1100" b="0">
                <a:solidFill>
                  <a:srgbClr val="B9A9C4"/>
                </a:solidFill>
                <a:latin typeface="Calibri"/>
              </a:rPr>
              <a:t>Appellations</a:t>
            </a:r>
          </a:p>
        </p:txBody>
      </p:sp>
      <p:sp>
        <p:nvSpPr>
          <p:cNvPr id="11" name="Rectangle 10"/>
          <p:cNvSpPr/>
          <p:nvPr/>
        </p:nvSpPr>
        <p:spPr>
          <a:xfrm>
            <a:off x="6263640" y="3383280"/>
            <a:ext cx="2468880" cy="155448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3493008"/>
            <a:ext cx="2468880" cy="640080"/>
          </a:xfrm>
          <a:prstGeom prst="rect">
            <a:avLst/>
          </a:prstGeom>
          <a:noFill/>
        </p:spPr>
        <p:txBody>
          <a:bodyPr wrap="square" anchor="t">
            <a:spAutoFit/>
          </a:bodyPr>
          <a:lstStyle/>
          <a:p>
            <a:pPr algn="ctr"/>
            <a:r>
              <a:rPr sz="3000" b="1">
                <a:solidFill>
                  <a:srgbClr val="C8A24A"/>
                </a:solidFill>
                <a:latin typeface="Calibri"/>
              </a:rPr>
              <a:t>920</a:t>
            </a:r>
          </a:p>
        </p:txBody>
      </p:sp>
      <p:sp>
        <p:nvSpPr>
          <p:cNvPr id="13" name="TextBox 12"/>
          <p:cNvSpPr txBox="1"/>
          <p:nvPr/>
        </p:nvSpPr>
        <p:spPr>
          <a:xfrm>
            <a:off x="6263640" y="4434840"/>
            <a:ext cx="2468880" cy="457200"/>
          </a:xfrm>
          <a:prstGeom prst="rect">
            <a:avLst/>
          </a:prstGeom>
          <a:noFill/>
        </p:spPr>
        <p:txBody>
          <a:bodyPr wrap="square" anchor="t">
            <a:spAutoFit/>
          </a:bodyPr>
          <a:lstStyle/>
          <a:p>
            <a:pPr algn="ctr"/>
            <a:r>
              <a:rPr sz="1100" b="0">
                <a:solidFill>
                  <a:srgbClr val="B9A9C4"/>
                </a:solidFill>
                <a:latin typeface="Calibri"/>
              </a:rPr>
              <a:t>Cases, year one</a:t>
            </a:r>
          </a:p>
        </p:txBody>
      </p:sp>
      <p:sp>
        <p:nvSpPr>
          <p:cNvPr id="14" name="Rectangle 13"/>
          <p:cNvSpPr/>
          <p:nvPr/>
        </p:nvSpPr>
        <p:spPr>
          <a:xfrm>
            <a:off x="9006840" y="3383280"/>
            <a:ext cx="2468880" cy="155448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06840" y="3493008"/>
            <a:ext cx="2468880" cy="640080"/>
          </a:xfrm>
          <a:prstGeom prst="rect">
            <a:avLst/>
          </a:prstGeom>
          <a:noFill/>
        </p:spPr>
        <p:txBody>
          <a:bodyPr wrap="square" anchor="t">
            <a:spAutoFit/>
          </a:bodyPr>
          <a:lstStyle/>
          <a:p>
            <a:pPr algn="ctr"/>
            <a:r>
              <a:rPr sz="3000" b="1">
                <a:solidFill>
                  <a:srgbClr val="C8A24A"/>
                </a:solidFill>
                <a:latin typeface="Calibri"/>
              </a:rPr>
              <a:t>28 day</a:t>
            </a:r>
          </a:p>
        </p:txBody>
      </p:sp>
      <p:sp>
        <p:nvSpPr>
          <p:cNvPr id="16" name="TextBox 15"/>
          <p:cNvSpPr txBox="1"/>
          <p:nvPr/>
        </p:nvSpPr>
        <p:spPr>
          <a:xfrm>
            <a:off x="9006840" y="4434840"/>
            <a:ext cx="2468880" cy="457200"/>
          </a:xfrm>
          <a:prstGeom prst="rect">
            <a:avLst/>
          </a:prstGeom>
          <a:noFill/>
        </p:spPr>
        <p:txBody>
          <a:bodyPr wrap="square" anchor="t">
            <a:spAutoFit/>
          </a:bodyPr>
          <a:lstStyle/>
          <a:p>
            <a:pPr algn="ctr"/>
            <a:r>
              <a:rPr sz="1100" b="0">
                <a:solidFill>
                  <a:srgbClr val="B9A9C4"/>
                </a:solidFill>
                <a:latin typeface="Calibri"/>
              </a:rPr>
              <a:t>Cold chain transit</a:t>
            </a:r>
          </a:p>
        </p:txBody>
      </p:sp>
      <p:sp>
        <p:nvSpPr>
          <p:cNvPr id="17" name="TextBox 16"/>
          <p:cNvSpPr txBox="1"/>
          <p:nvPr/>
        </p:nvSpPr>
        <p:spPr>
          <a:xfrm>
            <a:off x="777240" y="5303520"/>
            <a:ext cx="10424160" cy="731520"/>
          </a:xfrm>
          <a:prstGeom prst="rect">
            <a:avLst/>
          </a:prstGeom>
          <a:noFill/>
        </p:spPr>
        <p:txBody>
          <a:bodyPr wrap="square" anchor="t">
            <a:spAutoFit/>
          </a:bodyPr>
          <a:lstStyle/>
          <a:p>
            <a:pPr algn="l"/>
            <a:r>
              <a:rPr sz="1300" b="0">
                <a:solidFill>
                  <a:srgbClr val="B9A9C4"/>
                </a:solidFill>
                <a:latin typeface="Calibri"/>
              </a:rPr>
              <a:t>Lead candidate Tenuta Marchetti, through Sofia Marchetti, with introductions to three further estates. Draft agreement pending review by attorney Richard Stein.</a:t>
            </a:r>
          </a:p>
        </p:txBody>
      </p:sp>
    </p:spTree>
  </p:cSld>
  <p:transition spd="med">
    <p:push dir="l"/>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500"/>
                                        <p:tgtEl>
                                          <p:spTgt spid="7"/>
                                        </p:tgtEl>
                                      </p:cBhvr>
                                    </p:animEffect>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fade">
                                      <p:cBhvr>
                                        <p:cTn id="64" dur="500"/>
                                        <p:tgtEl>
                                          <p:spTgt spid="9"/>
                                        </p:tgtEl>
                                      </p:cBhvr>
                                    </p:animEffect>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500"/>
                                        <p:tgtEl>
                                          <p:spTgt spid="10"/>
                                        </p:tgtEl>
                                      </p:cBhvr>
                                    </p:animEffect>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fade">
                                      <p:cBhvr>
                                        <p:cTn id="84" dur="500"/>
                                        <p:tgtEl>
                                          <p:spTgt spid="12"/>
                                        </p:tgtEl>
                                      </p:cBhvr>
                                    </p:animEffect>
                                  </p:childTnLst>
                                </p:cTn>
                              </p:par>
                            </p:childTnLst>
                          </p:cTn>
                        </p:par>
                      </p:childTnLst>
                    </p:cTn>
                  </p:par>
                  <p:par>
                    <p:cTn id="90" fill="hold">
                      <p:stCondLst>
                        <p:cond delay="0"/>
                      </p:stCondLst>
                      <p:childTnLst>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fade">
                                      <p:cBhvr>
                                        <p:cTn id="94" dur="500"/>
                                        <p:tgtEl>
                                          <p:spTgt spid="13"/>
                                        </p:tgtEl>
                                      </p:cBhvr>
                                    </p:animEffect>
                                  </p:childTnLst>
                                </p:cTn>
                              </p:par>
                            </p:childTnLst>
                          </p:cTn>
                        </p:par>
                      </p:childTnLst>
                    </p:cTn>
                  </p:par>
                  <p:par>
                    <p:cTn id="100" fill="hold">
                      <p:stCondLst>
                        <p:cond delay="0"/>
                      </p:stCondLst>
                      <p:childTnLst>
                        <p:par>
                          <p:cTn id="101" fill="hold">
                            <p:stCondLst>
                              <p:cond delay="0"/>
                            </p:stCondLst>
                            <p:childTnLst>
                              <p:par>
                                <p:cTn id="102" presetID="10" presetClass="entr" presetSubtype="0" fill="hold" grpId="0" nodeType="after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500"/>
                                        <p:tgtEl>
                                          <p:spTgt spid="15"/>
                                        </p:tgtEl>
                                      </p:cBhvr>
                                    </p:animEffect>
                                  </p:childTnLst>
                                </p:cTn>
                              </p:par>
                            </p:childTnLst>
                          </p:cTn>
                        </p:par>
                      </p:childTnLst>
                    </p:cTn>
                  </p:par>
                  <p:par>
                    <p:cTn id="110" fill="hold">
                      <p:stCondLst>
                        <p:cond delay="0"/>
                      </p:stCondLst>
                      <p:childTnLst>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16"/>
                                        </p:tgtEl>
                                        <p:attrNameLst>
                                          <p:attrName>style.visibility</p:attrName>
                                        </p:attrNameLst>
                                      </p:cBhvr>
                                      <p:to>
                                        <p:strVal val="visible"/>
                                      </p:to>
                                    </p:set>
                                    <p:animEffect transition="in" filter="fade">
                                      <p:cBhvr>
                                        <p:cTn id="114" dur="500"/>
                                        <p:tgtEl>
                                          <p:spTgt spid="16"/>
                                        </p:tgtEl>
                                      </p:cBhvr>
                                    </p:animEffect>
                                  </p:childTnLst>
                                </p:cTn>
                              </p:par>
                            </p:childTnLst>
                          </p:cTn>
                        </p:par>
                      </p:childTnLst>
                    </p:cTn>
                  </p:par>
                  <p:par>
                    <p:cTn id="120" fill="hold">
                      <p:stCondLst>
                        <p:cond delay="0"/>
                      </p:stCondLst>
                      <p:childTnLst>
                        <p:par>
                          <p:cTn id="121" fill="hold">
                            <p:stCondLst>
                              <p:cond delay="0"/>
                            </p:stCondLst>
                            <p:childTnLst>
                              <p:par>
                                <p:cTn id="122" presetID="10" presetClass="entr" presetSubtype="0" fill="hold" grpId="0" nodeType="afterEffect">
                                  <p:stCondLst>
                                    <p:cond delay="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C8A24A"/>
                </a:solidFill>
                <a:latin typeface="Georgia"/>
              </a:rPr>
              <a:t>Producer Shortlist</a:t>
            </a:r>
          </a:p>
        </p:txBody>
      </p:sp>
      <p:graphicFrame>
        <p:nvGraphicFramePr>
          <p:cNvPr id="3" name="Table 2"/>
          <p:cNvGraphicFramePr>
            <a:graphicFrameLocks noGrp="1"/>
          </p:cNvGraphicFramePr>
          <p:nvPr/>
        </p:nvGraphicFramePr>
        <p:xfrm>
          <a:off x="777240" y="1463040"/>
          <a:ext cx="10607040" cy="4206240"/>
        </p:xfrm>
        <a:graphic>
          <a:graphicData uri="http://schemas.openxmlformats.org/drawingml/2006/table">
            <a:tbl>
              <a:tblPr>
                <a:tableStyleId>{5C22544A-7EE6-4342-B048-85BDC9FD1C3A}</a:tableStyleId>
              </a:tblPr>
              <a:tblGrid>
                <a:gridCol w="2377440"/>
                <a:gridCol w="2377440"/>
                <a:gridCol w="2926080"/>
                <a:gridCol w="2926080"/>
              </a:tblGrid>
              <a:tr h="600891">
                <a:tc>
                  <a:txBody>
                    <a:bodyPr wrap="square"/>
                    <a:lstStyle/>
                    <a:p>
                      <a:pPr algn="l"/>
                      <a:r>
                        <a:rPr sz="1300" b="1">
                          <a:solidFill>
                            <a:srgbClr val="FFFFFF"/>
                          </a:solidFill>
                          <a:latin typeface="Calibri"/>
                        </a:rPr>
                        <a:t>Estate</a:t>
                      </a:r>
                    </a:p>
                  </a:txBody>
                  <a:tcPr marL="73152" marR="73152" marT="27432" marB="27432" anchor="ctr">
                    <a:solidFill>
                      <a:srgbClr val="7C2233"/>
                    </a:solidFill>
                  </a:tcPr>
                </a:tc>
                <a:tc>
                  <a:txBody>
                    <a:bodyPr wrap="square"/>
                    <a:lstStyle/>
                    <a:p>
                      <a:pPr algn="ctr"/>
                      <a:r>
                        <a:rPr sz="1300" b="1">
                          <a:solidFill>
                            <a:srgbClr val="FFFFFF"/>
                          </a:solidFill>
                          <a:latin typeface="Calibri"/>
                        </a:rPr>
                        <a:t>Commune</a:t>
                      </a:r>
                    </a:p>
                  </a:txBody>
                  <a:tcPr marL="73152" marR="73152" marT="27432" marB="27432" anchor="ctr">
                    <a:solidFill>
                      <a:srgbClr val="7C2233"/>
                    </a:solidFill>
                  </a:tcPr>
                </a:tc>
                <a:tc>
                  <a:txBody>
                    <a:bodyPr wrap="square"/>
                    <a:lstStyle/>
                    <a:p>
                      <a:pPr algn="ctr"/>
                      <a:r>
                        <a:rPr sz="1300" b="1">
                          <a:solidFill>
                            <a:srgbClr val="FFFFFF"/>
                          </a:solidFill>
                          <a:latin typeface="Calibri"/>
                        </a:rPr>
                        <a:t>Style</a:t>
                      </a:r>
                    </a:p>
                  </a:txBody>
                  <a:tcPr marL="73152" marR="73152" marT="27432" marB="27432" anchor="ctr">
                    <a:solidFill>
                      <a:srgbClr val="7C2233"/>
                    </a:solidFill>
                  </a:tcPr>
                </a:tc>
                <a:tc>
                  <a:txBody>
                    <a:bodyPr wrap="square"/>
                    <a:lstStyle/>
                    <a:p>
                      <a:pPr algn="ctr"/>
                      <a:r>
                        <a:rPr sz="1300" b="1">
                          <a:solidFill>
                            <a:srgbClr val="FFFFFF"/>
                          </a:solidFill>
                          <a:latin typeface="Calibri"/>
                        </a:rPr>
                        <a:t>Role</a:t>
                      </a:r>
                    </a:p>
                  </a:txBody>
                  <a:tcPr marL="73152" marR="73152" marT="27432" marB="27432" anchor="ctr">
                    <a:solidFill>
                      <a:srgbClr val="7C2233"/>
                    </a:solidFill>
                  </a:tcPr>
                </a:tc>
              </a:tr>
              <a:tr h="600891">
                <a:tc>
                  <a:txBody>
                    <a:bodyPr wrap="square"/>
                    <a:lstStyle/>
                    <a:p>
                      <a:pPr algn="l"/>
                      <a:r>
                        <a:rPr sz="1300" b="0">
                          <a:solidFill>
                            <a:srgbClr val="EFE7D8"/>
                          </a:solidFill>
                          <a:latin typeface="Calibri"/>
                        </a:rPr>
                        <a:t>Tenuta Marchetti</a:t>
                      </a:r>
                    </a:p>
                  </a:txBody>
                  <a:tcPr marL="73152" marR="73152" marT="27432" marB="27432" anchor="ctr">
                    <a:solidFill>
                      <a:srgbClr val="271A2E"/>
                    </a:solidFill>
                  </a:tcPr>
                </a:tc>
                <a:tc>
                  <a:txBody>
                    <a:bodyPr wrap="square"/>
                    <a:lstStyle/>
                    <a:p>
                      <a:pPr algn="ctr"/>
                      <a:r>
                        <a:rPr sz="1300" b="0">
                          <a:solidFill>
                            <a:srgbClr val="EFE7D8"/>
                          </a:solidFill>
                          <a:latin typeface="Calibri"/>
                        </a:rPr>
                        <a:t>Barolo</a:t>
                      </a:r>
                    </a:p>
                  </a:txBody>
                  <a:tcPr marL="73152" marR="73152" marT="27432" marB="27432" anchor="ctr">
                    <a:solidFill>
                      <a:srgbClr val="271A2E"/>
                    </a:solidFill>
                  </a:tcPr>
                </a:tc>
                <a:tc>
                  <a:txBody>
                    <a:bodyPr wrap="square"/>
                    <a:lstStyle/>
                    <a:p>
                      <a:pPr algn="ctr"/>
                      <a:r>
                        <a:rPr sz="1300" b="0">
                          <a:solidFill>
                            <a:srgbClr val="EFE7D8"/>
                          </a:solidFill>
                          <a:latin typeface="Calibri"/>
                        </a:rPr>
                        <a:t>Traditional Nebbiolo</a:t>
                      </a:r>
                    </a:p>
                  </a:txBody>
                  <a:tcPr marL="73152" marR="73152" marT="27432" marB="27432" anchor="ctr">
                    <a:solidFill>
                      <a:srgbClr val="271A2E"/>
                    </a:solidFill>
                  </a:tcPr>
                </a:tc>
                <a:tc>
                  <a:txBody>
                    <a:bodyPr wrap="square"/>
                    <a:lstStyle/>
                    <a:p>
                      <a:pPr algn="ctr"/>
                      <a:r>
                        <a:rPr sz="1300" b="0">
                          <a:solidFill>
                            <a:srgbClr val="EFE7D8"/>
                          </a:solidFill>
                          <a:latin typeface="Calibri"/>
                        </a:rPr>
                        <a:t>Lead, in legal review</a:t>
                      </a:r>
                    </a:p>
                  </a:txBody>
                  <a:tcPr marL="73152" marR="73152" marT="27432" marB="27432" anchor="ctr">
                    <a:solidFill>
                      <a:srgbClr val="271A2E"/>
                    </a:solidFill>
                  </a:tcPr>
                </a:tc>
              </a:tr>
              <a:tr h="600891">
                <a:tc>
                  <a:txBody>
                    <a:bodyPr wrap="square"/>
                    <a:lstStyle/>
                    <a:p>
                      <a:pPr algn="l"/>
                      <a:r>
                        <a:rPr sz="1300" b="0">
                          <a:solidFill>
                            <a:srgbClr val="EFE7D8"/>
                          </a:solidFill>
                          <a:latin typeface="Calibri"/>
                        </a:rPr>
                        <a:t>Cascina Valle</a:t>
                      </a:r>
                    </a:p>
                  </a:txBody>
                  <a:tcPr marL="73152" marR="73152" marT="27432" marB="27432" anchor="ctr">
                    <a:solidFill>
                      <a:srgbClr val="32213A"/>
                    </a:solidFill>
                  </a:tcPr>
                </a:tc>
                <a:tc>
                  <a:txBody>
                    <a:bodyPr wrap="square"/>
                    <a:lstStyle/>
                    <a:p>
                      <a:pPr algn="ctr"/>
                      <a:r>
                        <a:rPr sz="1300" b="0">
                          <a:solidFill>
                            <a:srgbClr val="EFE7D8"/>
                          </a:solidFill>
                          <a:latin typeface="Calibri"/>
                        </a:rPr>
                        <a:t>La Morra</a:t>
                      </a:r>
                    </a:p>
                  </a:txBody>
                  <a:tcPr marL="73152" marR="73152" marT="27432" marB="27432" anchor="ctr">
                    <a:solidFill>
                      <a:srgbClr val="32213A"/>
                    </a:solidFill>
                  </a:tcPr>
                </a:tc>
                <a:tc>
                  <a:txBody>
                    <a:bodyPr wrap="square"/>
                    <a:lstStyle/>
                    <a:p>
                      <a:pPr algn="ctr"/>
                      <a:r>
                        <a:rPr sz="1300" b="0">
                          <a:solidFill>
                            <a:srgbClr val="EFE7D8"/>
                          </a:solidFill>
                          <a:latin typeface="Calibri"/>
                        </a:rPr>
                        <a:t>Polished, fruit forward</a:t>
                      </a:r>
                    </a:p>
                  </a:txBody>
                  <a:tcPr marL="73152" marR="73152" marT="27432" marB="27432" anchor="ctr">
                    <a:solidFill>
                      <a:srgbClr val="32213A"/>
                    </a:solidFill>
                  </a:tcPr>
                </a:tc>
                <a:tc>
                  <a:txBody>
                    <a:bodyPr wrap="square"/>
                    <a:lstStyle/>
                    <a:p>
                      <a:pPr algn="ctr"/>
                      <a:r>
                        <a:rPr sz="1300" b="0">
                          <a:solidFill>
                            <a:srgbClr val="EFE7D8"/>
                          </a:solidFill>
                          <a:latin typeface="Calibri"/>
                        </a:rPr>
                        <a:t>By the glass, Bottega</a:t>
                      </a:r>
                    </a:p>
                  </a:txBody>
                  <a:tcPr marL="73152" marR="73152" marT="27432" marB="27432" anchor="ctr">
                    <a:solidFill>
                      <a:srgbClr val="32213A"/>
                    </a:solidFill>
                  </a:tcPr>
                </a:tc>
              </a:tr>
              <a:tr h="600891">
                <a:tc>
                  <a:txBody>
                    <a:bodyPr wrap="square"/>
                    <a:lstStyle/>
                    <a:p>
                      <a:pPr algn="l"/>
                      <a:r>
                        <a:rPr sz="1300" b="0">
                          <a:solidFill>
                            <a:srgbClr val="EFE7D8"/>
                          </a:solidFill>
                          <a:latin typeface="Calibri"/>
                        </a:rPr>
                        <a:t>Poderi Serralunga</a:t>
                      </a:r>
                    </a:p>
                  </a:txBody>
                  <a:tcPr marL="73152" marR="73152" marT="27432" marB="27432" anchor="ctr">
                    <a:solidFill>
                      <a:srgbClr val="271A2E"/>
                    </a:solidFill>
                  </a:tcPr>
                </a:tc>
                <a:tc>
                  <a:txBody>
                    <a:bodyPr wrap="square"/>
                    <a:lstStyle/>
                    <a:p>
                      <a:pPr algn="ctr"/>
                      <a:r>
                        <a:rPr sz="1300" b="0">
                          <a:solidFill>
                            <a:srgbClr val="EFE7D8"/>
                          </a:solidFill>
                          <a:latin typeface="Calibri"/>
                        </a:rPr>
                        <a:t>Serralunga d'Alba</a:t>
                      </a:r>
                    </a:p>
                  </a:txBody>
                  <a:tcPr marL="73152" marR="73152" marT="27432" marB="27432" anchor="ctr">
                    <a:solidFill>
                      <a:srgbClr val="271A2E"/>
                    </a:solidFill>
                  </a:tcPr>
                </a:tc>
                <a:tc>
                  <a:txBody>
                    <a:bodyPr wrap="square"/>
                    <a:lstStyle/>
                    <a:p>
                      <a:pPr algn="ctr"/>
                      <a:r>
                        <a:rPr sz="1300" b="0">
                          <a:solidFill>
                            <a:srgbClr val="EFE7D8"/>
                          </a:solidFill>
                          <a:latin typeface="Calibri"/>
                        </a:rPr>
                        <a:t>Structured, age worthy</a:t>
                      </a:r>
                    </a:p>
                  </a:txBody>
                  <a:tcPr marL="73152" marR="73152" marT="27432" marB="27432" anchor="ctr">
                    <a:solidFill>
                      <a:srgbClr val="271A2E"/>
                    </a:solidFill>
                  </a:tcPr>
                </a:tc>
                <a:tc>
                  <a:txBody>
                    <a:bodyPr wrap="square"/>
                    <a:lstStyle/>
                    <a:p>
                      <a:pPr algn="ctr"/>
                      <a:r>
                        <a:rPr sz="1300" b="0">
                          <a:solidFill>
                            <a:srgbClr val="EFE7D8"/>
                          </a:solidFill>
                          <a:latin typeface="Calibri"/>
                        </a:rPr>
                        <a:t>Reserve, Le Jardin Dore</a:t>
                      </a:r>
                    </a:p>
                  </a:txBody>
                  <a:tcPr marL="73152" marR="73152" marT="27432" marB="27432" anchor="ctr">
                    <a:solidFill>
                      <a:srgbClr val="271A2E"/>
                    </a:solidFill>
                  </a:tcPr>
                </a:tc>
              </a:tr>
              <a:tr h="600891">
                <a:tc>
                  <a:txBody>
                    <a:bodyPr wrap="square"/>
                    <a:lstStyle/>
                    <a:p>
                      <a:pPr algn="l"/>
                      <a:r>
                        <a:rPr sz="1300" b="0">
                          <a:solidFill>
                            <a:srgbClr val="EFE7D8"/>
                          </a:solidFill>
                          <a:latin typeface="Calibri"/>
                        </a:rPr>
                        <a:t>Tenuta Boscareto</a:t>
                      </a:r>
                    </a:p>
                  </a:txBody>
                  <a:tcPr marL="73152" marR="73152" marT="27432" marB="27432" anchor="ctr">
                    <a:solidFill>
                      <a:srgbClr val="32213A"/>
                    </a:solidFill>
                  </a:tcPr>
                </a:tc>
                <a:tc>
                  <a:txBody>
                    <a:bodyPr wrap="square"/>
                    <a:lstStyle/>
                    <a:p>
                      <a:pPr algn="ctr"/>
                      <a:r>
                        <a:rPr sz="1300" b="0">
                          <a:solidFill>
                            <a:srgbClr val="EFE7D8"/>
                          </a:solidFill>
                          <a:latin typeface="Calibri"/>
                        </a:rPr>
                        <a:t>Castiglione Falletto</a:t>
                      </a:r>
                    </a:p>
                  </a:txBody>
                  <a:tcPr marL="73152" marR="73152" marT="27432" marB="27432" anchor="ctr">
                    <a:solidFill>
                      <a:srgbClr val="32213A"/>
                    </a:solidFill>
                  </a:tcPr>
                </a:tc>
                <a:tc>
                  <a:txBody>
                    <a:bodyPr wrap="square"/>
                    <a:lstStyle/>
                    <a:p>
                      <a:pPr algn="ctr"/>
                      <a:r>
                        <a:rPr sz="1300" b="0">
                          <a:solidFill>
                            <a:srgbClr val="EFE7D8"/>
                          </a:solidFill>
                          <a:latin typeface="Calibri"/>
                        </a:rPr>
                        <a:t>Elegant, balanced</a:t>
                      </a:r>
                    </a:p>
                  </a:txBody>
                  <a:tcPr marL="73152" marR="73152" marT="27432" marB="27432" anchor="ctr">
                    <a:solidFill>
                      <a:srgbClr val="32213A"/>
                    </a:solidFill>
                  </a:tcPr>
                </a:tc>
                <a:tc>
                  <a:txBody>
                    <a:bodyPr wrap="square"/>
                    <a:lstStyle/>
                    <a:p>
                      <a:pPr algn="ctr"/>
                      <a:r>
                        <a:rPr sz="1300" b="0">
                          <a:solidFill>
                            <a:srgbClr val="EFE7D8"/>
                          </a:solidFill>
                          <a:latin typeface="Calibri"/>
                        </a:rPr>
                        <a:t>Small allocation</a:t>
                      </a:r>
                    </a:p>
                  </a:txBody>
                  <a:tcPr marL="73152" marR="73152" marT="27432" marB="27432" anchor="ctr">
                    <a:solidFill>
                      <a:srgbClr val="32213A"/>
                    </a:solidFill>
                  </a:tcPr>
                </a:tc>
              </a:tr>
              <a:tr h="600891">
                <a:tc>
                  <a:txBody>
                    <a:bodyPr wrap="square"/>
                    <a:lstStyle/>
                    <a:p>
                      <a:pPr algn="l"/>
                      <a:r>
                        <a:rPr sz="1300" b="0">
                          <a:solidFill>
                            <a:srgbClr val="EFE7D8"/>
                          </a:solidFill>
                          <a:latin typeface="Calibri"/>
                        </a:rPr>
                        <a:t>Vigna Antica</a:t>
                      </a:r>
                    </a:p>
                  </a:txBody>
                  <a:tcPr marL="73152" marR="73152" marT="27432" marB="27432" anchor="ctr">
                    <a:solidFill>
                      <a:srgbClr val="271A2E"/>
                    </a:solidFill>
                  </a:tcPr>
                </a:tc>
                <a:tc>
                  <a:txBody>
                    <a:bodyPr wrap="square"/>
                    <a:lstStyle/>
                    <a:p>
                      <a:pPr algn="ctr"/>
                      <a:r>
                        <a:rPr sz="1300" b="0">
                          <a:solidFill>
                            <a:srgbClr val="EFE7D8"/>
                          </a:solidFill>
                          <a:latin typeface="Calibri"/>
                        </a:rPr>
                        <a:t>Monforte d'Alba</a:t>
                      </a:r>
                    </a:p>
                  </a:txBody>
                  <a:tcPr marL="73152" marR="73152" marT="27432" marB="27432" anchor="ctr">
                    <a:solidFill>
                      <a:srgbClr val="271A2E"/>
                    </a:solidFill>
                  </a:tcPr>
                </a:tc>
                <a:tc>
                  <a:txBody>
                    <a:bodyPr wrap="square"/>
                    <a:lstStyle/>
                    <a:p>
                      <a:pPr algn="ctr"/>
                      <a:r>
                        <a:rPr sz="1300" b="0">
                          <a:solidFill>
                            <a:srgbClr val="EFE7D8"/>
                          </a:solidFill>
                          <a:latin typeface="Calibri"/>
                        </a:rPr>
                        <a:t>Bold, traditional</a:t>
                      </a:r>
                    </a:p>
                  </a:txBody>
                  <a:tcPr marL="73152" marR="73152" marT="27432" marB="27432" anchor="ctr">
                    <a:solidFill>
                      <a:srgbClr val="271A2E"/>
                    </a:solidFill>
                  </a:tcPr>
                </a:tc>
                <a:tc>
                  <a:txBody>
                    <a:bodyPr wrap="square"/>
                    <a:lstStyle/>
                    <a:p>
                      <a:pPr algn="ctr"/>
                      <a:r>
                        <a:rPr sz="1300" b="0">
                          <a:solidFill>
                            <a:srgbClr val="EFE7D8"/>
                          </a:solidFill>
                          <a:latin typeface="Calibri"/>
                        </a:rPr>
                        <a:t>Exclusivity to clarify</a:t>
                      </a:r>
                    </a:p>
                  </a:txBody>
                  <a:tcPr marL="73152" marR="73152" marT="27432" marB="27432" anchor="ctr">
                    <a:solidFill>
                      <a:srgbClr val="271A2E"/>
                    </a:solidFill>
                  </a:tcPr>
                </a:tc>
              </a:tr>
              <a:tr h="600894">
                <a:tc>
                  <a:txBody>
                    <a:bodyPr wrap="square"/>
                    <a:lstStyle/>
                    <a:p>
                      <a:pPr algn="l"/>
                      <a:r>
                        <a:rPr sz="1300" b="0">
                          <a:solidFill>
                            <a:srgbClr val="EFE7D8"/>
                          </a:solidFill>
                          <a:latin typeface="Calibri"/>
                        </a:rPr>
                        <a:t>Cantina Rivalta</a:t>
                      </a:r>
                    </a:p>
                  </a:txBody>
                  <a:tcPr marL="73152" marR="73152" marT="27432" marB="27432" anchor="ctr">
                    <a:solidFill>
                      <a:srgbClr val="32213A"/>
                    </a:solidFill>
                  </a:tcPr>
                </a:tc>
                <a:tc>
                  <a:txBody>
                    <a:bodyPr wrap="square"/>
                    <a:lstStyle/>
                    <a:p>
                      <a:pPr algn="ctr"/>
                      <a:r>
                        <a:rPr sz="1300" b="0">
                          <a:solidFill>
                            <a:srgbClr val="EFE7D8"/>
                          </a:solidFill>
                          <a:latin typeface="Calibri"/>
                        </a:rPr>
                        <a:t>Barolo village</a:t>
                      </a:r>
                    </a:p>
                  </a:txBody>
                  <a:tcPr marL="73152" marR="73152" marT="27432" marB="27432" anchor="ctr">
                    <a:solidFill>
                      <a:srgbClr val="32213A"/>
                    </a:solidFill>
                  </a:tcPr>
                </a:tc>
                <a:tc>
                  <a:txBody>
                    <a:bodyPr wrap="square"/>
                    <a:lstStyle/>
                    <a:p>
                      <a:pPr algn="ctr"/>
                      <a:r>
                        <a:rPr sz="1300" b="0">
                          <a:solidFill>
                            <a:srgbClr val="EFE7D8"/>
                          </a:solidFill>
                          <a:latin typeface="Calibri"/>
                        </a:rPr>
                        <a:t>Modern cellar</a:t>
                      </a:r>
                    </a:p>
                  </a:txBody>
                  <a:tcPr marL="73152" marR="73152" marT="27432" marB="27432" anchor="ctr">
                    <a:solidFill>
                      <a:srgbClr val="32213A"/>
                    </a:solidFill>
                  </a:tcPr>
                </a:tc>
                <a:tc>
                  <a:txBody>
                    <a:bodyPr wrap="square"/>
                    <a:lstStyle/>
                    <a:p>
                      <a:pPr algn="ctr"/>
                      <a:r>
                        <a:rPr sz="1300" b="0">
                          <a:solidFill>
                            <a:srgbClr val="EFE7D8"/>
                          </a:solidFill>
                          <a:latin typeface="Calibri"/>
                        </a:rPr>
                        <a:t>Second wave option</a:t>
                      </a:r>
                    </a:p>
                  </a:txBody>
                  <a:tcPr marL="73152" marR="73152" marT="27432" marB="27432" anchor="ctr">
                    <a:solidFill>
                      <a:srgbClr val="32213A"/>
                    </a:solidFill>
                  </a:tcPr>
                </a:tc>
              </a:tr>
            </a:tbl>
          </a:graphicData>
        </a:graphic>
      </p:graphicFrame>
    </p:spTree>
  </p:cSld>
  <p:transition spd="med">
    <p:cover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3000" b="1">
                <a:solidFill>
                  <a:srgbClr val="C8A24A"/>
                </a:solidFill>
                <a:latin typeface="Georgia"/>
              </a:rPr>
              <a:t>Proposed Allocation, Year One</a:t>
            </a:r>
          </a:p>
        </p:txBody>
      </p:sp>
      <p:graphicFrame>
        <p:nvGraphicFramePr>
          <p:cNvPr id="3" name="Chart 2"/>
          <p:cNvGraphicFramePr>
            <a:graphicFrameLocks noGrp="1"/>
          </p:cNvGraphicFramePr>
          <p:nvPr/>
        </p:nvGraphicFramePr>
        <p:xfrm>
          <a:off x="822960" y="1554480"/>
          <a:ext cx="6949440" cy="4754880"/>
        </p:xfrm>
        <a:graphic>
          <a:graphicData uri="http://schemas.openxmlformats.org/drawingml/2006/chart">
            <c:chart xmlns:c="http://schemas.openxmlformats.org/drawingml/2006/chart" r:id="rId2"/>
          </a:graphicData>
        </a:graphic>
      </p:graphicFrame>
      <p:sp>
        <p:nvSpPr>
          <p:cNvPr id="4" name="Rectangle 3"/>
          <p:cNvSpPr/>
          <p:nvPr/>
        </p:nvSpPr>
        <p:spPr>
          <a:xfrm>
            <a:off x="8229600" y="1737360"/>
            <a:ext cx="3291840" cy="429768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58200" y="1920240"/>
            <a:ext cx="2926080" cy="548640"/>
          </a:xfrm>
          <a:prstGeom prst="rect">
            <a:avLst/>
          </a:prstGeom>
          <a:noFill/>
        </p:spPr>
        <p:txBody>
          <a:bodyPr wrap="square" anchor="t">
            <a:spAutoFit/>
          </a:bodyPr>
          <a:lstStyle/>
          <a:p>
            <a:pPr algn="l"/>
            <a:r>
              <a:rPr sz="1300" b="1">
                <a:solidFill>
                  <a:srgbClr val="C8A24A"/>
                </a:solidFill>
                <a:latin typeface="Calibri"/>
              </a:rPr>
              <a:t>FOB pricing, EUR per case</a:t>
            </a:r>
          </a:p>
        </p:txBody>
      </p:sp>
      <p:sp>
        <p:nvSpPr>
          <p:cNvPr id="6" name="TextBox 5"/>
          <p:cNvSpPr txBox="1"/>
          <p:nvPr/>
        </p:nvSpPr>
        <p:spPr>
          <a:xfrm>
            <a:off x="8458200" y="2560320"/>
            <a:ext cx="2926080" cy="3291840"/>
          </a:xfrm>
          <a:prstGeom prst="rect">
            <a:avLst/>
          </a:prstGeom>
          <a:noFill/>
        </p:spPr>
        <p:txBody>
          <a:bodyPr wrap="square">
            <a:spAutoFit/>
          </a:bodyPr>
          <a:lstStyle/>
          <a:p>
            <a:pPr>
              <a:spcAft>
                <a:spcPts val="800"/>
              </a:spcAft>
            </a:pPr>
            <a:r>
              <a:rPr sz="1300" b="0">
                <a:solidFill>
                  <a:srgbClr val="EFE7D8"/>
                </a:solidFill>
                <a:latin typeface="Calibri"/>
              </a:rPr>
              <a:t>Barolo DOCG, 420</a:t>
            </a:r>
          </a:p>
          <a:p>
            <a:pPr>
              <a:spcAft>
                <a:spcPts val="800"/>
              </a:spcAft>
            </a:pPr>
            <a:r>
              <a:rPr sz="1300" b="0">
                <a:solidFill>
                  <a:srgbClr val="EFE7D8"/>
                </a:solidFill>
                <a:latin typeface="Calibri"/>
              </a:rPr>
              <a:t>Barbaresco DOCG, 390</a:t>
            </a:r>
          </a:p>
          <a:p>
            <a:pPr>
              <a:spcAft>
                <a:spcPts val="800"/>
              </a:spcAft>
            </a:pPr>
            <a:r>
              <a:rPr sz="1300" b="0">
                <a:solidFill>
                  <a:srgbClr val="EFE7D8"/>
                </a:solidFill>
                <a:latin typeface="Calibri"/>
              </a:rPr>
              <a:t>Langhe Nebbiolo, 168</a:t>
            </a:r>
          </a:p>
          <a:p>
            <a:pPr>
              <a:spcAft>
                <a:spcPts val="800"/>
              </a:spcAft>
            </a:pPr>
            <a:r>
              <a:rPr sz="1300" b="0">
                <a:solidFill>
                  <a:srgbClr val="EFE7D8"/>
                </a:solidFill>
                <a:latin typeface="Calibri"/>
              </a:rPr>
              <a:t>Barbera d'Alba, 132</a:t>
            </a:r>
          </a:p>
          <a:p>
            <a:pPr>
              <a:spcAft>
                <a:spcPts val="800"/>
              </a:spcAft>
            </a:pPr>
            <a:r>
              <a:rPr sz="1300" b="0">
                <a:solidFill>
                  <a:srgbClr val="EFE7D8"/>
                </a:solidFill>
                <a:latin typeface="Calibri"/>
              </a:rPr>
              <a:t/>
            </a:r>
          </a:p>
          <a:p>
            <a:pPr>
              <a:spcAft>
                <a:spcPts val="800"/>
              </a:spcAft>
            </a:pPr>
            <a:r>
              <a:rPr sz="1300" b="0">
                <a:solidFill>
                  <a:srgbClr val="EFE7D8"/>
                </a:solidFill>
                <a:latin typeface="Calibri"/>
              </a:rPr>
              <a:t>Quoted FOB Port of Genoa</a:t>
            </a:r>
          </a:p>
          <a:p>
            <a:pPr>
              <a:spcAft>
                <a:spcPts val="800"/>
              </a:spcAft>
            </a:pPr>
            <a:r>
              <a:rPr sz="1300" b="0">
                <a:solidFill>
                  <a:srgbClr val="EFE7D8"/>
                </a:solidFill>
                <a:latin typeface="Calibri"/>
              </a:rPr>
              <a:t>Onward carriage to Oakland</a:t>
            </a:r>
          </a:p>
        </p:txBody>
      </p:sp>
    </p:spTree>
  </p:cSld>
  <p:transition spd="med">
    <p:wipe dir="d"/>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457200"/>
            <a:ext cx="10515600" cy="731520"/>
          </a:xfrm>
          <a:prstGeom prst="rect">
            <a:avLst/>
          </a:prstGeom>
          <a:noFill/>
        </p:spPr>
        <p:txBody>
          <a:bodyPr wrap="square" anchor="t">
            <a:spAutoFit/>
          </a:bodyPr>
          <a:lstStyle/>
          <a:p>
            <a:pPr algn="l"/>
            <a:r>
              <a:rPr sz="2800" b="1">
                <a:solidFill>
                  <a:srgbClr val="C8A24A"/>
                </a:solidFill>
                <a:latin typeface="Georgia"/>
              </a:rPr>
              <a:t>Cold Chain Carriage, Cost per Container</a:t>
            </a:r>
          </a:p>
        </p:txBody>
      </p:sp>
      <p:graphicFrame>
        <p:nvGraphicFramePr>
          <p:cNvPr id="3" name="Chart 2"/>
          <p:cNvGraphicFramePr>
            <a:graphicFrameLocks noGrp="1"/>
          </p:cNvGraphicFramePr>
          <p:nvPr/>
        </p:nvGraphicFramePr>
        <p:xfrm>
          <a:off x="822960" y="1554480"/>
          <a:ext cx="6949440" cy="4572000"/>
        </p:xfrm>
        <a:graphic>
          <a:graphicData uri="http://schemas.openxmlformats.org/drawingml/2006/chart">
            <c:chart xmlns:c="http://schemas.openxmlformats.org/drawingml/2006/chart" r:id="rId2"/>
          </a:graphicData>
        </a:graphic>
      </p:graphicFrame>
      <p:sp>
        <p:nvSpPr>
          <p:cNvPr id="4" name="Rectangle 3"/>
          <p:cNvSpPr/>
          <p:nvPr/>
        </p:nvSpPr>
        <p:spPr>
          <a:xfrm>
            <a:off x="8229600" y="1737360"/>
            <a:ext cx="3291840" cy="4023360"/>
          </a:xfrm>
          <a:prstGeom prst="rect">
            <a:avLst/>
          </a:prstGeom>
          <a:solidFill>
            <a:srgbClr val="27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58200" y="1920240"/>
            <a:ext cx="2926080" cy="548640"/>
          </a:xfrm>
          <a:prstGeom prst="rect">
            <a:avLst/>
          </a:prstGeom>
          <a:noFill/>
        </p:spPr>
        <p:txBody>
          <a:bodyPr wrap="square" anchor="t">
            <a:spAutoFit/>
          </a:bodyPr>
          <a:lstStyle/>
          <a:p>
            <a:pPr algn="l"/>
            <a:r>
              <a:rPr sz="1400" b="1">
                <a:solidFill>
                  <a:srgbClr val="C8A24A"/>
                </a:solidFill>
                <a:latin typeface="Calibri"/>
              </a:rPr>
              <a:t>Recommendation</a:t>
            </a:r>
          </a:p>
        </p:txBody>
      </p:sp>
      <p:sp>
        <p:nvSpPr>
          <p:cNvPr id="6" name="TextBox 5"/>
          <p:cNvSpPr txBox="1"/>
          <p:nvPr/>
        </p:nvSpPr>
        <p:spPr>
          <a:xfrm>
            <a:off x="8458200" y="2560320"/>
            <a:ext cx="2926080" cy="3017520"/>
          </a:xfrm>
          <a:prstGeom prst="rect">
            <a:avLst/>
          </a:prstGeom>
          <a:noFill/>
        </p:spPr>
        <p:txBody>
          <a:bodyPr wrap="square" anchor="t">
            <a:spAutoFit/>
          </a:bodyPr>
          <a:lstStyle/>
          <a:p>
            <a:pPr algn="l">
              <a:lnSpc>
                <a:spcPct val="110000"/>
              </a:lnSpc>
            </a:pPr>
            <a:r>
              <a:rPr sz="1300" b="0">
                <a:solidFill>
                  <a:srgbClr val="EFE7D8"/>
                </a:solidFill>
                <a:latin typeface="Calibri"/>
              </a:rPr>
              <a:t>Stay with the current exclusive line for continuity, capacity, and a fixed rate. Continuous temperature logging and 300,000 dollar spoilage cover per load.</a:t>
            </a:r>
          </a:p>
        </p:txBody>
      </p:sp>
    </p:spTree>
  </p:cSld>
  <p:transition spd="med">
    <p:push dir="u"/>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457200"/>
            <a:ext cx="10058400" cy="731520"/>
          </a:xfrm>
          <a:prstGeom prst="rect">
            <a:avLst/>
          </a:prstGeom>
          <a:noFill/>
        </p:spPr>
        <p:txBody>
          <a:bodyPr wrap="square" anchor="t">
            <a:spAutoFit/>
          </a:bodyPr>
          <a:lstStyle/>
          <a:p>
            <a:pPr algn="l"/>
            <a:r>
              <a:rPr sz="2800" b="1">
                <a:solidFill>
                  <a:srgbClr val="C8A24A"/>
                </a:solidFill>
                <a:latin typeface="Georgia"/>
              </a:rPr>
              <a:t>The Route, October 14 to 22, 2026</a:t>
            </a:r>
          </a:p>
        </p:txBody>
      </p:sp>
      <p:sp>
        <p:nvSpPr>
          <p:cNvPr id="3" name="Rectangle 2"/>
          <p:cNvSpPr/>
          <p:nvPr/>
        </p:nvSpPr>
        <p:spPr>
          <a:xfrm>
            <a:off x="822960" y="1554480"/>
            <a:ext cx="146304" cy="77724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554480"/>
            <a:ext cx="1828800" cy="731520"/>
          </a:xfrm>
          <a:prstGeom prst="rect">
            <a:avLst/>
          </a:prstGeom>
          <a:noFill/>
        </p:spPr>
        <p:txBody>
          <a:bodyPr wrap="square" anchor="t">
            <a:spAutoFit/>
          </a:bodyPr>
          <a:lstStyle/>
          <a:p>
            <a:pPr algn="l"/>
            <a:r>
              <a:rPr sz="1500" b="1">
                <a:solidFill>
                  <a:srgbClr val="C8A24A"/>
                </a:solidFill>
                <a:latin typeface="Calibri"/>
              </a:rPr>
              <a:t>Oct 14 to 15</a:t>
            </a:r>
          </a:p>
        </p:txBody>
      </p:sp>
      <p:sp>
        <p:nvSpPr>
          <p:cNvPr id="5" name="TextBox 4"/>
          <p:cNvSpPr txBox="1"/>
          <p:nvPr/>
        </p:nvSpPr>
        <p:spPr>
          <a:xfrm>
            <a:off x="3017520" y="1536192"/>
            <a:ext cx="2011680" cy="457200"/>
          </a:xfrm>
          <a:prstGeom prst="rect">
            <a:avLst/>
          </a:prstGeom>
          <a:noFill/>
        </p:spPr>
        <p:txBody>
          <a:bodyPr wrap="square" anchor="t">
            <a:spAutoFit/>
          </a:bodyPr>
          <a:lstStyle/>
          <a:p>
            <a:pPr algn="l"/>
            <a:r>
              <a:rPr sz="1500" b="1">
                <a:solidFill>
                  <a:srgbClr val="EFE7D8"/>
                </a:solidFill>
                <a:latin typeface="Calibri"/>
              </a:rPr>
              <a:t>Barolo</a:t>
            </a:r>
          </a:p>
        </p:txBody>
      </p:sp>
      <p:sp>
        <p:nvSpPr>
          <p:cNvPr id="6" name="TextBox 5"/>
          <p:cNvSpPr txBox="1"/>
          <p:nvPr/>
        </p:nvSpPr>
        <p:spPr>
          <a:xfrm>
            <a:off x="5029200" y="1554480"/>
            <a:ext cx="6766560" cy="822960"/>
          </a:xfrm>
          <a:prstGeom prst="rect">
            <a:avLst/>
          </a:prstGeom>
          <a:noFill/>
        </p:spPr>
        <p:txBody>
          <a:bodyPr wrap="square" anchor="t">
            <a:spAutoFit/>
          </a:bodyPr>
          <a:lstStyle/>
          <a:p>
            <a:pPr algn="l"/>
            <a:r>
              <a:rPr sz="1250" b="0">
                <a:solidFill>
                  <a:srgbClr val="B9A9C4"/>
                </a:solidFill>
                <a:latin typeface="Calibri"/>
              </a:rPr>
              <a:t>Arrive Alba. Tenuta Marchetti, taste 2019 and 2020 from barrel, review terms.</a:t>
            </a:r>
          </a:p>
        </p:txBody>
      </p:sp>
      <p:sp>
        <p:nvSpPr>
          <p:cNvPr id="7" name="Rectangle 6"/>
          <p:cNvSpPr/>
          <p:nvPr/>
        </p:nvSpPr>
        <p:spPr>
          <a:xfrm>
            <a:off x="822960" y="2514600"/>
            <a:ext cx="146304" cy="77724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514600"/>
            <a:ext cx="1828800" cy="731520"/>
          </a:xfrm>
          <a:prstGeom prst="rect">
            <a:avLst/>
          </a:prstGeom>
          <a:noFill/>
        </p:spPr>
        <p:txBody>
          <a:bodyPr wrap="square" anchor="t">
            <a:spAutoFit/>
          </a:bodyPr>
          <a:lstStyle/>
          <a:p>
            <a:pPr algn="l"/>
            <a:r>
              <a:rPr sz="1500" b="1">
                <a:solidFill>
                  <a:srgbClr val="C8A24A"/>
                </a:solidFill>
                <a:latin typeface="Calibri"/>
              </a:rPr>
              <a:t>Oct 16</a:t>
            </a:r>
          </a:p>
        </p:txBody>
      </p:sp>
      <p:sp>
        <p:nvSpPr>
          <p:cNvPr id="9" name="TextBox 8"/>
          <p:cNvSpPr txBox="1"/>
          <p:nvPr/>
        </p:nvSpPr>
        <p:spPr>
          <a:xfrm>
            <a:off x="3017520" y="2496312"/>
            <a:ext cx="2011680" cy="457200"/>
          </a:xfrm>
          <a:prstGeom prst="rect">
            <a:avLst/>
          </a:prstGeom>
          <a:noFill/>
        </p:spPr>
        <p:txBody>
          <a:bodyPr wrap="square" anchor="t">
            <a:spAutoFit/>
          </a:bodyPr>
          <a:lstStyle/>
          <a:p>
            <a:pPr algn="l"/>
            <a:r>
              <a:rPr sz="1500" b="1">
                <a:solidFill>
                  <a:srgbClr val="EFE7D8"/>
                </a:solidFill>
                <a:latin typeface="Calibri"/>
              </a:rPr>
              <a:t>Barbaresco</a:t>
            </a:r>
          </a:p>
        </p:txBody>
      </p:sp>
      <p:sp>
        <p:nvSpPr>
          <p:cNvPr id="10" name="TextBox 9"/>
          <p:cNvSpPr txBox="1"/>
          <p:nvPr/>
        </p:nvSpPr>
        <p:spPr>
          <a:xfrm>
            <a:off x="5029200" y="2514600"/>
            <a:ext cx="6766560" cy="822960"/>
          </a:xfrm>
          <a:prstGeom prst="rect">
            <a:avLst/>
          </a:prstGeom>
          <a:noFill/>
        </p:spPr>
        <p:txBody>
          <a:bodyPr wrap="square" anchor="t">
            <a:spAutoFit/>
          </a:bodyPr>
          <a:lstStyle/>
          <a:p>
            <a:pPr algn="l"/>
            <a:r>
              <a:rPr sz="1250" b="0">
                <a:solidFill>
                  <a:srgbClr val="B9A9C4"/>
                </a:solidFill>
                <a:latin typeface="Calibri"/>
              </a:rPr>
              <a:t>Two estate visits through Sofia. Single vineyard focus. Tasting dinner in Alba.</a:t>
            </a:r>
          </a:p>
        </p:txBody>
      </p:sp>
      <p:sp>
        <p:nvSpPr>
          <p:cNvPr id="11" name="Rectangle 10"/>
          <p:cNvSpPr/>
          <p:nvPr/>
        </p:nvSpPr>
        <p:spPr>
          <a:xfrm>
            <a:off x="822960" y="3474720"/>
            <a:ext cx="146304" cy="77724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474720"/>
            <a:ext cx="1828800" cy="731520"/>
          </a:xfrm>
          <a:prstGeom prst="rect">
            <a:avLst/>
          </a:prstGeom>
          <a:noFill/>
        </p:spPr>
        <p:txBody>
          <a:bodyPr wrap="square" anchor="t">
            <a:spAutoFit/>
          </a:bodyPr>
          <a:lstStyle/>
          <a:p>
            <a:pPr algn="l"/>
            <a:r>
              <a:rPr sz="1500" b="1">
                <a:solidFill>
                  <a:srgbClr val="C8A24A"/>
                </a:solidFill>
                <a:latin typeface="Calibri"/>
              </a:rPr>
              <a:t>Oct 17</a:t>
            </a:r>
          </a:p>
        </p:txBody>
      </p:sp>
      <p:sp>
        <p:nvSpPr>
          <p:cNvPr id="13" name="TextBox 12"/>
          <p:cNvSpPr txBox="1"/>
          <p:nvPr/>
        </p:nvSpPr>
        <p:spPr>
          <a:xfrm>
            <a:off x="3017520" y="3456432"/>
            <a:ext cx="2011680" cy="457200"/>
          </a:xfrm>
          <a:prstGeom prst="rect">
            <a:avLst/>
          </a:prstGeom>
          <a:noFill/>
        </p:spPr>
        <p:txBody>
          <a:bodyPr wrap="square" anchor="t">
            <a:spAutoFit/>
          </a:bodyPr>
          <a:lstStyle/>
          <a:p>
            <a:pPr algn="l"/>
            <a:r>
              <a:rPr sz="1500" b="1">
                <a:solidFill>
                  <a:srgbClr val="EFE7D8"/>
                </a:solidFill>
                <a:latin typeface="Calibri"/>
              </a:rPr>
              <a:t>La Morra</a:t>
            </a:r>
          </a:p>
        </p:txBody>
      </p:sp>
      <p:sp>
        <p:nvSpPr>
          <p:cNvPr id="14" name="TextBox 13"/>
          <p:cNvSpPr txBox="1"/>
          <p:nvPr/>
        </p:nvSpPr>
        <p:spPr>
          <a:xfrm>
            <a:off x="5029200" y="3474720"/>
            <a:ext cx="6766560" cy="822960"/>
          </a:xfrm>
          <a:prstGeom prst="rect">
            <a:avLst/>
          </a:prstGeom>
          <a:noFill/>
        </p:spPr>
        <p:txBody>
          <a:bodyPr wrap="square" anchor="t">
            <a:spAutoFit/>
          </a:bodyPr>
          <a:lstStyle/>
          <a:p>
            <a:pPr algn="l"/>
            <a:r>
              <a:rPr sz="1250" b="0">
                <a:solidFill>
                  <a:srgbClr val="B9A9C4"/>
                </a:solidFill>
                <a:latin typeface="Calibri"/>
              </a:rPr>
              <a:t>A third Piedmont estate, compare cru sites. Revisit Marchetti samples.</a:t>
            </a:r>
          </a:p>
        </p:txBody>
      </p:sp>
      <p:sp>
        <p:nvSpPr>
          <p:cNvPr id="15" name="Rectangle 14"/>
          <p:cNvSpPr/>
          <p:nvPr/>
        </p:nvSpPr>
        <p:spPr>
          <a:xfrm>
            <a:off x="822960" y="4434840"/>
            <a:ext cx="146304" cy="77724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434840"/>
            <a:ext cx="1828800" cy="731520"/>
          </a:xfrm>
          <a:prstGeom prst="rect">
            <a:avLst/>
          </a:prstGeom>
          <a:noFill/>
        </p:spPr>
        <p:txBody>
          <a:bodyPr wrap="square" anchor="t">
            <a:spAutoFit/>
          </a:bodyPr>
          <a:lstStyle/>
          <a:p>
            <a:pPr algn="l"/>
            <a:r>
              <a:rPr sz="1500" b="1">
                <a:solidFill>
                  <a:srgbClr val="C8A24A"/>
                </a:solidFill>
                <a:latin typeface="Calibri"/>
              </a:rPr>
              <a:t>Oct 18 to 19</a:t>
            </a:r>
          </a:p>
        </p:txBody>
      </p:sp>
      <p:sp>
        <p:nvSpPr>
          <p:cNvPr id="17" name="TextBox 16"/>
          <p:cNvSpPr txBox="1"/>
          <p:nvPr/>
        </p:nvSpPr>
        <p:spPr>
          <a:xfrm>
            <a:off x="3017520" y="4416552"/>
            <a:ext cx="2011680" cy="457200"/>
          </a:xfrm>
          <a:prstGeom prst="rect">
            <a:avLst/>
          </a:prstGeom>
          <a:noFill/>
        </p:spPr>
        <p:txBody>
          <a:bodyPr wrap="square" anchor="t">
            <a:spAutoFit/>
          </a:bodyPr>
          <a:lstStyle/>
          <a:p>
            <a:pPr algn="l"/>
            <a:r>
              <a:rPr sz="1500" b="1">
                <a:solidFill>
                  <a:srgbClr val="EFE7D8"/>
                </a:solidFill>
                <a:latin typeface="Calibri"/>
              </a:rPr>
              <a:t>Montalcino</a:t>
            </a:r>
          </a:p>
        </p:txBody>
      </p:sp>
      <p:sp>
        <p:nvSpPr>
          <p:cNvPr id="18" name="TextBox 17"/>
          <p:cNvSpPr txBox="1"/>
          <p:nvPr/>
        </p:nvSpPr>
        <p:spPr>
          <a:xfrm>
            <a:off x="5029200" y="4434840"/>
            <a:ext cx="6766560" cy="822960"/>
          </a:xfrm>
          <a:prstGeom prst="rect">
            <a:avLst/>
          </a:prstGeom>
          <a:noFill/>
        </p:spPr>
        <p:txBody>
          <a:bodyPr wrap="square" anchor="t">
            <a:spAutoFit/>
          </a:bodyPr>
          <a:lstStyle/>
          <a:p>
            <a:pPr algn="l"/>
            <a:r>
              <a:rPr sz="1250" b="0">
                <a:solidFill>
                  <a:srgbClr val="B9A9C4"/>
                </a:solidFill>
                <a:latin typeface="Calibri"/>
              </a:rPr>
              <a:t>Transfer to Tuscany. Brunello visits, evaluate a 2017 and 2019 vertical.</a:t>
            </a:r>
          </a:p>
        </p:txBody>
      </p:sp>
      <p:sp>
        <p:nvSpPr>
          <p:cNvPr id="19" name="Rectangle 18"/>
          <p:cNvSpPr/>
          <p:nvPr/>
        </p:nvSpPr>
        <p:spPr>
          <a:xfrm>
            <a:off x="822960" y="5394960"/>
            <a:ext cx="146304" cy="77724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5394960"/>
            <a:ext cx="1828800" cy="731520"/>
          </a:xfrm>
          <a:prstGeom prst="rect">
            <a:avLst/>
          </a:prstGeom>
          <a:noFill/>
        </p:spPr>
        <p:txBody>
          <a:bodyPr wrap="square" anchor="t">
            <a:spAutoFit/>
          </a:bodyPr>
          <a:lstStyle/>
          <a:p>
            <a:pPr algn="l"/>
            <a:r>
              <a:rPr sz="1500" b="1">
                <a:solidFill>
                  <a:srgbClr val="C8A24A"/>
                </a:solidFill>
                <a:latin typeface="Calibri"/>
              </a:rPr>
              <a:t>Oct 20 to 22</a:t>
            </a:r>
          </a:p>
        </p:txBody>
      </p:sp>
      <p:sp>
        <p:nvSpPr>
          <p:cNvPr id="21" name="TextBox 20"/>
          <p:cNvSpPr txBox="1"/>
          <p:nvPr/>
        </p:nvSpPr>
        <p:spPr>
          <a:xfrm>
            <a:off x="3017520" y="5376672"/>
            <a:ext cx="2011680" cy="457200"/>
          </a:xfrm>
          <a:prstGeom prst="rect">
            <a:avLst/>
          </a:prstGeom>
          <a:noFill/>
        </p:spPr>
        <p:txBody>
          <a:bodyPr wrap="square" anchor="t">
            <a:spAutoFit/>
          </a:bodyPr>
          <a:lstStyle/>
          <a:p>
            <a:pPr algn="l"/>
            <a:r>
              <a:rPr sz="1500" b="1">
                <a:solidFill>
                  <a:srgbClr val="EFE7D8"/>
                </a:solidFill>
                <a:latin typeface="Calibri"/>
              </a:rPr>
              <a:t>Chianti, home</a:t>
            </a:r>
          </a:p>
        </p:txBody>
      </p:sp>
      <p:sp>
        <p:nvSpPr>
          <p:cNvPr id="22" name="TextBox 21"/>
          <p:cNvSpPr txBox="1"/>
          <p:nvPr/>
        </p:nvSpPr>
        <p:spPr>
          <a:xfrm>
            <a:off x="5029200" y="5394960"/>
            <a:ext cx="6766560" cy="822960"/>
          </a:xfrm>
          <a:prstGeom prst="rect">
            <a:avLst/>
          </a:prstGeom>
          <a:noFill/>
        </p:spPr>
        <p:txBody>
          <a:bodyPr wrap="square" anchor="t">
            <a:spAutoFit/>
          </a:bodyPr>
          <a:lstStyle/>
          <a:p>
            <a:pPr algn="l"/>
            <a:r>
              <a:rPr sz="1250" b="0">
                <a:solidFill>
                  <a:srgbClr val="B9A9C4"/>
                </a:solidFill>
                <a:latin typeface="Calibri"/>
              </a:rPr>
              <a:t>Sangiovese in the hills, consolidate in Florence, return via Frankfurt.</a:t>
            </a:r>
          </a:p>
        </p:txBody>
      </p:sp>
    </p:spTree>
  </p:cSld>
  <p:transition spd="med">
    <p:cover dir="l"/>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500"/>
                                        <p:tgtEl>
                                          <p:spTgt spid="8"/>
                                        </p:tgtEl>
                                      </p:cBhvr>
                                    </p:animEffect>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fade">
                                      <p:cBhvr>
                                        <p:cTn id="64" dur="500"/>
                                        <p:tgtEl>
                                          <p:spTgt spid="9"/>
                                        </p:tgtEl>
                                      </p:cBhvr>
                                    </p:animEffect>
                                  </p:childTnLst>
                                </p:cTn>
                              </p:par>
                            </p:childTnLst>
                          </p:cTn>
                        </p:par>
                      </p:childTnLst>
                    </p:cTn>
                  </p:par>
                  <p:par>
                    <p:cTn id="70" fill="hold">
                      <p:stCondLst>
                        <p:cond delay="0"/>
                      </p:stCondLst>
                      <p:childTnLst>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fade">
                                      <p:cBhvr>
                                        <p:cTn id="74" dur="500"/>
                                        <p:tgtEl>
                                          <p:spTgt spid="10"/>
                                        </p:tgtEl>
                                      </p:cBhvr>
                                    </p:animEffect>
                                  </p:childTnLst>
                                </p:cTn>
                              </p:par>
                            </p:childTnLst>
                          </p:cTn>
                        </p:par>
                      </p:childTnLst>
                    </p:cTn>
                  </p:par>
                  <p:par>
                    <p:cTn id="80" fill="hold">
                      <p:stCondLst>
                        <p:cond delay="0"/>
                      </p:stCondLst>
                      <p:childTnLst>
                        <p:par>
                          <p:cTn id="81" fill="hold">
                            <p:stCondLst>
                              <p:cond delay="0"/>
                            </p:stCondLst>
                            <p:childTnLst>
                              <p:par>
                                <p:cTn id="82" presetID="10" presetClass="entr" presetSubtype="0" fill="hold" grpId="0" nodeType="after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fade">
                                      <p:cBhvr>
                                        <p:cTn id="84" dur="500"/>
                                        <p:tgtEl>
                                          <p:spTgt spid="12"/>
                                        </p:tgtEl>
                                      </p:cBhvr>
                                    </p:animEffect>
                                  </p:childTnLst>
                                </p:cTn>
                              </p:par>
                            </p:childTnLst>
                          </p:cTn>
                        </p:par>
                      </p:childTnLst>
                    </p:cTn>
                  </p:par>
                  <p:par>
                    <p:cTn id="90" fill="hold">
                      <p:stCondLst>
                        <p:cond delay="0"/>
                      </p:stCondLst>
                      <p:childTnLst>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fade">
                                      <p:cBhvr>
                                        <p:cTn id="94" dur="500"/>
                                        <p:tgtEl>
                                          <p:spTgt spid="13"/>
                                        </p:tgtEl>
                                      </p:cBhvr>
                                    </p:animEffect>
                                  </p:childTnLst>
                                </p:cTn>
                              </p:par>
                            </p:childTnLst>
                          </p:cTn>
                        </p:par>
                      </p:childTnLst>
                    </p:cTn>
                  </p:par>
                  <p:par>
                    <p:cTn id="100" fill="hold">
                      <p:stCondLst>
                        <p:cond delay="0"/>
                      </p:stCondLst>
                      <p:childTnLst>
                        <p:par>
                          <p:cTn id="101" fill="hold">
                            <p:stCondLst>
                              <p:cond delay="0"/>
                            </p:stCondLst>
                            <p:childTnLst>
                              <p:par>
                                <p:cTn id="102" presetID="10" presetClass="entr" presetSubtype="0" fill="hold" grpId="0" nodeType="after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fade">
                                      <p:cBhvr>
                                        <p:cTn id="104" dur="500"/>
                                        <p:tgtEl>
                                          <p:spTgt spid="14"/>
                                        </p:tgtEl>
                                      </p:cBhvr>
                                    </p:animEffect>
                                  </p:childTnLst>
                                </p:cTn>
                              </p:par>
                            </p:childTnLst>
                          </p:cTn>
                        </p:par>
                      </p:childTnLst>
                    </p:cTn>
                  </p:par>
                  <p:par>
                    <p:cTn id="110" fill="hold">
                      <p:stCondLst>
                        <p:cond delay="0"/>
                      </p:stCondLst>
                      <p:childTnLst>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16"/>
                                        </p:tgtEl>
                                        <p:attrNameLst>
                                          <p:attrName>style.visibility</p:attrName>
                                        </p:attrNameLst>
                                      </p:cBhvr>
                                      <p:to>
                                        <p:strVal val="visible"/>
                                      </p:to>
                                    </p:set>
                                    <p:animEffect transition="in" filter="fade">
                                      <p:cBhvr>
                                        <p:cTn id="114" dur="500"/>
                                        <p:tgtEl>
                                          <p:spTgt spid="16"/>
                                        </p:tgtEl>
                                      </p:cBhvr>
                                    </p:animEffect>
                                  </p:childTnLst>
                                </p:cTn>
                              </p:par>
                            </p:childTnLst>
                          </p:cTn>
                        </p:par>
                      </p:childTnLst>
                    </p:cTn>
                  </p:par>
                  <p:par>
                    <p:cTn id="120" fill="hold">
                      <p:stCondLst>
                        <p:cond delay="0"/>
                      </p:stCondLst>
                      <p:childTnLst>
                        <p:par>
                          <p:cTn id="121" fill="hold">
                            <p:stCondLst>
                              <p:cond delay="0"/>
                            </p:stCondLst>
                            <p:childTnLst>
                              <p:par>
                                <p:cTn id="122" presetID="10" presetClass="entr" presetSubtype="0" fill="hold" grpId="0" nodeType="afterEffect">
                                  <p:stCondLst>
                                    <p:cond delay="0"/>
                                  </p:stCondLst>
                                  <p:childTnLst>
                                    <p:set>
                                      <p:cBhvr>
                                        <p:cTn id="123" dur="1" fill="hold">
                                          <p:stCondLst>
                                            <p:cond delay="0"/>
                                          </p:stCondLst>
                                        </p:cTn>
                                        <p:tgtEl>
                                          <p:spTgt spid="17"/>
                                        </p:tgtEl>
                                        <p:attrNameLst>
                                          <p:attrName>style.visibility</p:attrName>
                                        </p:attrNameLst>
                                      </p:cBhvr>
                                      <p:to>
                                        <p:strVal val="visible"/>
                                      </p:to>
                                    </p:set>
                                    <p:animEffect transition="in" filter="fade">
                                      <p:cBhvr>
                                        <p:cTn id="124" dur="500"/>
                                        <p:tgtEl>
                                          <p:spTgt spid="17"/>
                                        </p:tgtEl>
                                      </p:cBhvr>
                                    </p:animEffect>
                                  </p:childTnLst>
                                </p:cTn>
                              </p:par>
                            </p:childTnLst>
                          </p:cTn>
                        </p:par>
                      </p:childTnLst>
                    </p:cTn>
                  </p:par>
                  <p:par>
                    <p:cTn id="130" fill="hold">
                      <p:stCondLst>
                        <p:cond delay="0"/>
                      </p:stCondLst>
                      <p:childTnLst>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18"/>
                                        </p:tgtEl>
                                        <p:attrNameLst>
                                          <p:attrName>style.visibility</p:attrName>
                                        </p:attrNameLst>
                                      </p:cBhvr>
                                      <p:to>
                                        <p:strVal val="visible"/>
                                      </p:to>
                                    </p:set>
                                    <p:animEffect transition="in" filter="fade">
                                      <p:cBhvr>
                                        <p:cTn id="134" dur="500"/>
                                        <p:tgtEl>
                                          <p:spTgt spid="18"/>
                                        </p:tgtEl>
                                      </p:cBhvr>
                                    </p:animEffect>
                                  </p:childTnLst>
                                </p:cTn>
                              </p:par>
                            </p:childTnLst>
                          </p:cTn>
                        </p:par>
                      </p:childTnLst>
                    </p:cTn>
                  </p:par>
                  <p:par>
                    <p:cTn id="140" fill="hold">
                      <p:stCondLst>
                        <p:cond delay="0"/>
                      </p:stCondLst>
                      <p:childTnLst>
                        <p:par>
                          <p:cTn id="141" fill="hold">
                            <p:stCondLst>
                              <p:cond delay="0"/>
                            </p:stCondLst>
                            <p:childTnLst>
                              <p:par>
                                <p:cTn id="142" presetID="10" presetClass="entr" presetSubtype="0" fill="hold" grpId="0" nodeType="afterEffect">
                                  <p:stCondLst>
                                    <p:cond delay="0"/>
                                  </p:stCondLst>
                                  <p:childTnLst>
                                    <p:set>
                                      <p:cBhvr>
                                        <p:cTn id="143" dur="1" fill="hold">
                                          <p:stCondLst>
                                            <p:cond delay="0"/>
                                          </p:stCondLst>
                                        </p:cTn>
                                        <p:tgtEl>
                                          <p:spTgt spid="20"/>
                                        </p:tgtEl>
                                        <p:attrNameLst>
                                          <p:attrName>style.visibility</p:attrName>
                                        </p:attrNameLst>
                                      </p:cBhvr>
                                      <p:to>
                                        <p:strVal val="visible"/>
                                      </p:to>
                                    </p:set>
                                    <p:animEffect transition="in" filter="fade">
                                      <p:cBhvr>
                                        <p:cTn id="144" dur="500"/>
                                        <p:tgtEl>
                                          <p:spTgt spid="20"/>
                                        </p:tgtEl>
                                      </p:cBhvr>
                                    </p:animEffect>
                                  </p:childTnLst>
                                </p:cTn>
                              </p:par>
                            </p:childTnLst>
                          </p:cTn>
                        </p:par>
                      </p:childTnLst>
                    </p:cTn>
                  </p:par>
                  <p:par>
                    <p:cTn id="150" fill="hold">
                      <p:stCondLst>
                        <p:cond delay="0"/>
                      </p:stCondLst>
                      <p:childTnLst>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21"/>
                                        </p:tgtEl>
                                        <p:attrNameLst>
                                          <p:attrName>style.visibility</p:attrName>
                                        </p:attrNameLst>
                                      </p:cBhvr>
                                      <p:to>
                                        <p:strVal val="visible"/>
                                      </p:to>
                                    </p:set>
                                    <p:animEffect transition="in" filter="fade">
                                      <p:cBhvr>
                                        <p:cTn id="154" dur="500"/>
                                        <p:tgtEl>
                                          <p:spTgt spid="21"/>
                                        </p:tgtEl>
                                      </p:cBhvr>
                                    </p:animEffect>
                                  </p:childTnLst>
                                </p:cTn>
                              </p:par>
                            </p:childTnLst>
                          </p:cTn>
                        </p:par>
                      </p:childTnLst>
                    </p:cTn>
                  </p:par>
                  <p:par>
                    <p:cTn id="160" fill="hold">
                      <p:stCondLst>
                        <p:cond delay="0"/>
                      </p:stCondLst>
                      <p:childTnLst>
                        <p:par>
                          <p:cTn id="161" fill="hold">
                            <p:stCondLst>
                              <p:cond delay="0"/>
                            </p:stCondLst>
                            <p:childTnLst>
                              <p:par>
                                <p:cTn id="162" presetID="10" presetClass="entr" presetSubtype="0" fill="hold" grpId="0" nodeType="afterEffect">
                                  <p:stCondLst>
                                    <p:cond delay="0"/>
                                  </p:stCondLst>
                                  <p:childTnLst>
                                    <p:set>
                                      <p:cBhvr>
                                        <p:cTn id="163" dur="1" fill="hold">
                                          <p:stCondLst>
                                            <p:cond delay="0"/>
                                          </p:stCondLst>
                                        </p:cTn>
                                        <p:tgtEl>
                                          <p:spTgt spid="22"/>
                                        </p:tgtEl>
                                        <p:attrNameLst>
                                          <p:attrName>style.visibility</p:attrName>
                                        </p:attrNameLst>
                                      </p:cBhvr>
                                      <p:to>
                                        <p:strVal val="visible"/>
                                      </p:to>
                                    </p:set>
                                    <p:animEffect transition="in" filter="fade">
                                      <p:cBhvr>
                                        <p:cTn id="16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sp>
        <p:nvSpPr>
          <p:cNvPr id="2" name="TextBox 1"/>
          <p:cNvSpPr txBox="1"/>
          <p:nvPr/>
        </p:nvSpPr>
        <p:spPr>
          <a:xfrm>
            <a:off x="731520" y="457200"/>
            <a:ext cx="10515600" cy="731520"/>
          </a:xfrm>
          <a:prstGeom prst="rect">
            <a:avLst/>
          </a:prstGeom>
          <a:noFill/>
        </p:spPr>
        <p:txBody>
          <a:bodyPr wrap="square" anchor="t">
            <a:spAutoFit/>
          </a:bodyPr>
          <a:lstStyle/>
          <a:p>
            <a:pPr algn="l"/>
            <a:r>
              <a:rPr sz="2600" b="1">
                <a:solidFill>
                  <a:srgbClr val="C8A24A"/>
                </a:solidFill>
                <a:latin typeface="Georgia"/>
              </a:rPr>
              <a:t>Revenue Trajectory with the Italian Program</a:t>
            </a:r>
          </a:p>
        </p:txBody>
      </p:sp>
      <p:graphicFrame>
        <p:nvGraphicFramePr>
          <p:cNvPr id="3" name="Chart 2"/>
          <p:cNvGraphicFramePr>
            <a:graphicFrameLocks noGrp="1"/>
          </p:cNvGraphicFramePr>
          <p:nvPr/>
        </p:nvGraphicFramePr>
        <p:xfrm>
          <a:off x="822960" y="1554480"/>
          <a:ext cx="10515600" cy="4297680"/>
        </p:xfrm>
        <a:graphic>
          <a:graphicData uri="http://schemas.openxmlformats.org/drawingml/2006/chart">
            <c:chart xmlns:c="http://schemas.openxmlformats.org/drawingml/2006/chart" r:id="rId2"/>
          </a:graphicData>
        </a:graphic>
      </p:graphicFrame>
      <p:sp>
        <p:nvSpPr>
          <p:cNvPr id="4" name="TextBox 3"/>
          <p:cNvSpPr txBox="1"/>
          <p:nvPr/>
        </p:nvSpPr>
        <p:spPr>
          <a:xfrm>
            <a:off x="822960" y="6035040"/>
            <a:ext cx="10515600" cy="548640"/>
          </a:xfrm>
          <a:prstGeom prst="rect">
            <a:avLst/>
          </a:prstGeom>
          <a:noFill/>
        </p:spPr>
        <p:txBody>
          <a:bodyPr wrap="square" anchor="t">
            <a:spAutoFit/>
          </a:bodyPr>
          <a:lstStyle/>
          <a:p>
            <a:pPr algn="l"/>
            <a:r>
              <a:rPr sz="1300" b="0">
                <a:solidFill>
                  <a:srgbClr val="B9A9C4"/>
                </a:solidFill>
                <a:latin typeface="Calibri"/>
              </a:rPr>
              <a:t>Base portfolio grows 12 percent. Italy is expected to lift both revenue and goodwill once agreements are signed.</a:t>
            </a:r>
          </a:p>
        </p:txBody>
      </p:sp>
    </p:spTree>
  </p:cSld>
  <p:transition spd="med">
    <p:wipe dir="r"/>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320"/>
        </a:solidFill>
        <a:effectLst/>
      </p:bgPr>
    </p:bg>
    <p:spTree>
      <p:nvGrpSpPr>
        <p:cNvPr id="1" name=""/>
        <p:cNvGrpSpPr/>
        <p:nvPr/>
      </p:nvGrpSpPr>
      <p:grpSpPr/>
      <p:pic>
        <p:nvPicPr>
          <p:cNvPr id="2" name="Picture 1" descr="toast.jpg"/>
          <p:cNvPicPr>
            <a:picLocks noChangeAspect="1"/>
          </p:cNvPicPr>
          <p:nvPr/>
        </p:nvPicPr>
        <p:blipFill>
          <a:blip r:embed="rId2"/>
          <a:srcRect l="6151" r="6151"/>
          <a:stretch>
            <a:fillRect/>
          </a:stretch>
        </p:blipFill>
        <p:spPr>
          <a:xfrm>
            <a:off x="7680960" y="0"/>
            <a:ext cx="4510735" cy="6858000"/>
          </a:xfrm>
          <a:prstGeom prst="rect">
            <a:avLst/>
          </a:prstGeom>
        </p:spPr>
      </p:pic>
      <p:sp>
        <p:nvSpPr>
          <p:cNvPr id="3" name="Rectangle 2"/>
          <p:cNvSpPr/>
          <p:nvPr/>
        </p:nvSpPr>
        <p:spPr>
          <a:xfrm>
            <a:off x="7680960" y="0"/>
            <a:ext cx="109728" cy="6858000"/>
          </a:xfrm>
          <a:prstGeom prst="rect">
            <a:avLst/>
          </a:prstGeom>
          <a:solidFill>
            <a:srgbClr val="C8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6583680" cy="731520"/>
          </a:xfrm>
          <a:prstGeom prst="rect">
            <a:avLst/>
          </a:prstGeom>
          <a:noFill/>
        </p:spPr>
        <p:txBody>
          <a:bodyPr wrap="square" anchor="t">
            <a:spAutoFit/>
          </a:bodyPr>
          <a:lstStyle/>
          <a:p>
            <a:pPr algn="l"/>
            <a:r>
              <a:rPr sz="3200" b="1">
                <a:solidFill>
                  <a:srgbClr val="C8A24A"/>
                </a:solidFill>
                <a:latin typeface="Georgia"/>
              </a:rPr>
              <a:t>Next Steps</a:t>
            </a:r>
          </a:p>
        </p:txBody>
      </p:sp>
      <p:sp>
        <p:nvSpPr>
          <p:cNvPr id="5" name="TextBox 4"/>
          <p:cNvSpPr txBox="1"/>
          <p:nvPr/>
        </p:nvSpPr>
        <p:spPr>
          <a:xfrm>
            <a:off x="777240" y="1828800"/>
            <a:ext cx="6583680" cy="3657600"/>
          </a:xfrm>
          <a:prstGeom prst="rect">
            <a:avLst/>
          </a:prstGeom>
          <a:noFill/>
        </p:spPr>
        <p:txBody>
          <a:bodyPr wrap="square">
            <a:spAutoFit/>
          </a:bodyPr>
          <a:lstStyle/>
          <a:p>
            <a:pPr>
              <a:spcAft>
                <a:spcPts val="1400"/>
              </a:spcAft>
            </a:pPr>
            <a:r>
              <a:rPr sz="1600" b="0">
                <a:solidFill>
                  <a:srgbClr val="EFE7D8"/>
                </a:solidFill>
                <a:latin typeface="Calibri"/>
              </a:rPr>
              <a:t>Confirm Tenuta Marchetti and execute after legal review</a:t>
            </a:r>
          </a:p>
          <a:p>
            <a:pPr>
              <a:spcAft>
                <a:spcPts val="1400"/>
              </a:spcAft>
            </a:pPr>
            <a:r>
              <a:rPr sz="1600" b="0">
                <a:solidFill>
                  <a:srgbClr val="EFE7D8"/>
                </a:solidFill>
                <a:latin typeface="Calibri"/>
              </a:rPr>
              <a:t>Prioritize Cascina Valle and Poderi Serralunga for range</a:t>
            </a:r>
          </a:p>
          <a:p>
            <a:pPr>
              <a:spcAft>
                <a:spcPts val="1400"/>
              </a:spcAft>
            </a:pPr>
            <a:r>
              <a:rPr sz="1600" b="0">
                <a:solidFill>
                  <a:srgbClr val="EFE7D8"/>
                </a:solidFill>
                <a:latin typeface="Calibri"/>
              </a:rPr>
              <a:t>Finalize the October sourcing trip and estate appointments</a:t>
            </a:r>
          </a:p>
          <a:p>
            <a:pPr>
              <a:spcAft>
                <a:spcPts val="1400"/>
              </a:spcAft>
            </a:pPr>
            <a:r>
              <a:rPr sz="1600" b="0">
                <a:solidFill>
                  <a:srgbClr val="EFE7D8"/>
                </a:solidFill>
                <a:latin typeface="Calibri"/>
              </a:rPr>
              <a:t>Lock the cold chain lane and Schedule B rate</a:t>
            </a:r>
          </a:p>
          <a:p>
            <a:pPr>
              <a:spcAft>
                <a:spcPts val="1400"/>
              </a:spcAft>
            </a:pPr>
            <a:r>
              <a:rPr sz="1600" b="0">
                <a:solidFill>
                  <a:srgbClr val="EFE7D8"/>
                </a:solidFill>
                <a:latin typeface="Calibri"/>
              </a:rPr>
              <a:t>Monitor European tariff exposure before committing volume</a:t>
            </a:r>
          </a:p>
        </p:txBody>
      </p:sp>
      <p:sp>
        <p:nvSpPr>
          <p:cNvPr id="6" name="TextBox 5"/>
          <p:cNvSpPr txBox="1"/>
          <p:nvPr/>
        </p:nvSpPr>
        <p:spPr>
          <a:xfrm>
            <a:off x="777240" y="5669280"/>
            <a:ext cx="6583680" cy="548640"/>
          </a:xfrm>
          <a:prstGeom prst="rect">
            <a:avLst/>
          </a:prstGeom>
          <a:noFill/>
        </p:spPr>
        <p:txBody>
          <a:bodyPr wrap="square" anchor="t">
            <a:spAutoFit/>
          </a:bodyPr>
          <a:lstStyle/>
          <a:p>
            <a:pPr algn="l"/>
            <a:r>
              <a:rPr sz="1300" b="0">
                <a:solidFill>
                  <a:srgbClr val="B9A9C4"/>
                </a:solidFill>
                <a:latin typeface="Calibri"/>
              </a:rPr>
              <a:t>Target four to five producers confirmed by year end.</a:t>
            </a:r>
          </a:p>
        </p:txBody>
      </p:sp>
    </p:spTree>
  </p:cSld>
  <p:transition spd="med">
    <p:fade/>
  </p:transition>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