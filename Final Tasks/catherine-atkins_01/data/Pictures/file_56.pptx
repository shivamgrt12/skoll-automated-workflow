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Bottles</c:v>
                </c:pt>
              </c:strCache>
            </c:strRef>
          </c:tx>
          <c:dPt>
            <c:idx val="0"/>
            <c:spPr>
              <a:solidFill>
                <a:srgbClr val="6E1F2A"/>
              </a:solidFill>
            </c:spPr>
          </c:dPt>
          <c:dPt>
            <c:idx val="1"/>
            <c:spPr>
              <a:solidFill>
                <a:srgbClr val="B5673A"/>
              </a:solidFill>
            </c:spPr>
          </c:dPt>
          <c:dPt>
            <c:idx val="2"/>
            <c:spPr>
              <a:solidFill>
                <a:srgbClr val="8A5A3A"/>
              </a:solidFill>
            </c:spPr>
          </c:dPt>
          <c:dPt>
            <c:idx val="3"/>
            <c:spPr>
              <a:solidFill>
                <a:srgbClr val="C8A24A"/>
              </a:solidFill>
            </c:spPr>
          </c:dPt>
          <c:dPt>
            <c:idx val="4"/>
            <c:spPr>
              <a:solidFill>
                <a:srgbClr val="9C3B2E"/>
              </a:solidFill>
            </c:spPr>
          </c:dPt>
          <c:dPt>
            <c:idx val="5"/>
            <c:spPr>
              <a:solidFill>
                <a:srgbClr val="5FA777"/>
              </a:solidFill>
            </c:spPr>
          </c:dPt>
          <c:cat>
            <c:strRef>
              <c:f>Sheet1!$A$2:$A$7</c:f>
              <c:strCache>
                <c:ptCount val="6"/>
                <c:pt idx="0">
                  <c:v>Napa Cabernet</c:v>
                </c:pt>
                <c:pt idx="1">
                  <c:v>Barolo and Barbaresco</c:v>
                </c:pt>
                <c:pt idx="2">
                  <c:v>Burgundy</c:v>
                </c:pt>
                <c:pt idx="3">
                  <c:v>Champagne</c:v>
                </c:pt>
                <c:pt idx="4">
                  <c:v>Brunello</c:v>
                </c:pt>
                <c:pt idx="5">
                  <c:v>Sonoma Pinot</c:v>
                </c:pt>
              </c:strCache>
            </c:strRef>
          </c:cat>
          <c:val>
            <c:numRef>
              <c:f>Sheet1!$B$2:$B$7</c:f>
              <c:numCache>
                <c:formatCode>General</c:formatCode>
                <c:ptCount val="6"/>
                <c:pt idx="0">
                  <c:v>96</c:v>
                </c:pt>
                <c:pt idx="1">
                  <c:v>74</c:v>
                </c:pt>
                <c:pt idx="2">
                  <c:v>42</c:v>
                </c:pt>
                <c:pt idx="3">
                  <c:v>56</c:v>
                </c:pt>
                <c:pt idx="4">
                  <c:v>38</c:v>
                </c:pt>
                <c:pt idx="5">
                  <c:v>48</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1000">
              <a:solidFill>
                <a:srgbClr val="3A2C22"/>
              </a:solidFill>
            </a:defRPr>
          </a:pPr>
        </a:p>
      </c:txPr>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Cases poured, planned</c:v>
                </c:pt>
              </c:strCache>
            </c:strRef>
          </c:tx>
          <c:dPt>
            <c:idx val="0"/>
            <c:spPr>
              <a:solidFill>
                <a:srgbClr val="6E1F2A"/>
              </a:solidFill>
            </c:spPr>
          </c:dPt>
          <c:dPt>
            <c:idx val="1"/>
            <c:spPr>
              <a:solidFill>
                <a:srgbClr val="B5673A"/>
              </a:solidFill>
            </c:spPr>
          </c:dPt>
          <c:dPt>
            <c:idx val="2"/>
            <c:spPr>
              <a:solidFill>
                <a:srgbClr val="C8A24A"/>
              </a:solidFill>
            </c:spPr>
          </c:dPt>
          <c:dPt>
            <c:idx val="3"/>
            <c:spPr>
              <a:solidFill>
                <a:srgbClr val="8A5A3A"/>
              </a:solidFill>
            </c:spPr>
          </c:dPt>
          <c:dPt>
            <c:idx val="4"/>
            <c:spPr>
              <a:solidFill>
                <a:srgbClr val="5FA777"/>
              </a:solidFill>
            </c:spPr>
          </c:dPt>
          <c:cat>
            <c:strRef>
              <c:f>Sheet1!$A$2:$A$6</c:f>
              <c:strCache>
                <c:ptCount val="5"/>
                <c:pt idx="0">
                  <c:v>Le Jardin Dore</c:v>
                </c:pt>
                <c:pt idx="1">
                  <c:v>Bottega</c:v>
                </c:pt>
                <c:pt idx="2">
                  <c:v>Valleyvine</c:v>
                </c:pt>
                <c:pt idx="3">
                  <c:v>Vine and Table</c:v>
                </c:pt>
                <c:pt idx="4">
                  <c:v>Maison Terre</c:v>
                </c:pt>
              </c:strCache>
            </c:strRef>
          </c:cat>
          <c:val>
            <c:numRef>
              <c:f>Sheet1!$B$2:$B$6</c:f>
              <c:numCache>
                <c:formatCode>General</c:formatCode>
                <c:ptCount val="5"/>
                <c:pt idx="0">
                  <c:v>6</c:v>
                </c:pt>
                <c:pt idx="1">
                  <c:v>5</c:v>
                </c:pt>
                <c:pt idx="2">
                  <c:v>4</c:v>
                </c:pt>
                <c:pt idx="3">
                  <c:v>3</c:v>
                </c:pt>
                <c:pt idx="4">
                  <c:v>2</c:v>
                </c:pt>
              </c:numCache>
            </c:numRef>
          </c:val>
        </c:ser>
        <c:dLbls>
          <c:txPr>
            <a:bodyPr/>
            <a:lstStyle/>
            <a:p>
              <a:pPr>
                <a:defRPr sz="1000">
                  <a:solidFill>
                    <a:srgbClr val="3A2C22"/>
                  </a:solidFill>
                </a:defRPr>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3A2C22"/>
            </a:solidFill>
          </a:ln>
        </c:spPr>
        <c:txPr>
          <a:bodyPr/>
          <a:lstStyle/>
          <a:p>
            <a:pPr>
              <a:defRPr sz="1000">
                <a:solidFill>
                  <a:srgbClr val="3A2C22"/>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3A2C22"/>
            </a:solidFill>
          </a:ln>
        </c:spPr>
        <c:txPr>
          <a:bodyPr/>
          <a:lstStyle/>
          <a:p>
            <a:pPr>
              <a:defRPr sz="1000">
                <a:solidFill>
                  <a:srgbClr val="3A2C22"/>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EBDD"/>
        </a:solidFill>
        <a:effectLst/>
      </p:bgPr>
    </p:bg>
    <p:spTree>
      <p:nvGrpSpPr>
        <p:cNvPr id="1" name=""/>
        <p:cNvGrpSpPr/>
        <p:nvPr/>
      </p:nvGrpSpPr>
      <p:grpSpPr/>
      <p:pic>
        <p:nvPicPr>
          <p:cNvPr id="2" name="Picture 1" descr="steak.jpg"/>
          <p:cNvPicPr>
            <a:picLocks noChangeAspect="1"/>
          </p:cNvPicPr>
          <p:nvPr/>
        </p:nvPicPr>
        <p:blipFill>
          <a:blip r:embed="rId2"/>
          <a:srcRect t="12309" b="12309"/>
          <a:stretch>
            <a:fillRect/>
          </a:stretch>
        </p:blipFill>
        <p:spPr>
          <a:xfrm>
            <a:off x="0" y="0"/>
            <a:ext cx="5120640" cy="6858000"/>
          </a:xfrm>
          <a:prstGeom prst="rect">
            <a:avLst/>
          </a:prstGeom>
        </p:spPr>
      </p:pic>
      <p:sp>
        <p:nvSpPr>
          <p:cNvPr id="3" name="Rectangle 2"/>
          <p:cNvSpPr/>
          <p:nvPr/>
        </p:nvSpPr>
        <p:spPr>
          <a:xfrm>
            <a:off x="5120640" y="0"/>
            <a:ext cx="128016" cy="6858000"/>
          </a:xfrm>
          <a:prstGeom prst="rect">
            <a:avLst/>
          </a:prstGeom>
          <a:solidFill>
            <a:srgbClr val="B56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77840" y="1554480"/>
            <a:ext cx="6217920" cy="548640"/>
          </a:xfrm>
          <a:prstGeom prst="rect">
            <a:avLst/>
          </a:prstGeom>
          <a:noFill/>
        </p:spPr>
        <p:txBody>
          <a:bodyPr wrap="square" anchor="t">
            <a:spAutoFit/>
          </a:bodyPr>
          <a:lstStyle/>
          <a:p>
            <a:pPr algn="l"/>
            <a:r>
              <a:rPr sz="1400" b="1">
                <a:solidFill>
                  <a:srgbClr val="B5673A"/>
                </a:solidFill>
                <a:latin typeface="Calibri"/>
              </a:rPr>
              <a:t>QUARTERLY CLIENT TASTING DINNER</a:t>
            </a:r>
          </a:p>
        </p:txBody>
      </p:sp>
      <p:sp>
        <p:nvSpPr>
          <p:cNvPr id="5" name="TextBox 4"/>
          <p:cNvSpPr txBox="1"/>
          <p:nvPr/>
        </p:nvSpPr>
        <p:spPr>
          <a:xfrm>
            <a:off x="5532120" y="2103120"/>
            <a:ext cx="6309360" cy="1645920"/>
          </a:xfrm>
          <a:prstGeom prst="rect">
            <a:avLst/>
          </a:prstGeom>
          <a:noFill/>
        </p:spPr>
        <p:txBody>
          <a:bodyPr wrap="square" anchor="t">
            <a:spAutoFit/>
          </a:bodyPr>
          <a:lstStyle/>
          <a:p>
            <a:pPr algn="l"/>
            <a:r>
              <a:rPr sz="3800" b="1">
                <a:solidFill>
                  <a:srgbClr val="6E1F2A"/>
                </a:solidFill>
                <a:latin typeface="Georgia"/>
              </a:rPr>
              <a:t>An Evening of</a:t>
            </a:r>
          </a:p>
          <a:p>
            <a:pPr algn="l"/>
            <a:r>
              <a:rPr sz="3800" b="1">
                <a:solidFill>
                  <a:srgbClr val="6E1F2A"/>
                </a:solidFill>
                <a:latin typeface="Georgia"/>
              </a:rPr>
              <a:t>Napa and Piedmont</a:t>
            </a:r>
          </a:p>
        </p:txBody>
      </p:sp>
      <p:sp>
        <p:nvSpPr>
          <p:cNvPr id="6" name="Rectangle 5"/>
          <p:cNvSpPr/>
          <p:nvPr/>
        </p:nvSpPr>
        <p:spPr>
          <a:xfrm>
            <a:off x="5577840" y="3840480"/>
            <a:ext cx="2194560" cy="91440"/>
          </a:xfrm>
          <a:prstGeom prst="rect">
            <a:avLst/>
          </a:prstGeom>
          <a:solidFill>
            <a:srgbClr val="B56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0" y="4114800"/>
            <a:ext cx="6217920" cy="457200"/>
          </a:xfrm>
          <a:prstGeom prst="rect">
            <a:avLst/>
          </a:prstGeom>
          <a:noFill/>
        </p:spPr>
        <p:txBody>
          <a:bodyPr wrap="square" anchor="t">
            <a:spAutoFit/>
          </a:bodyPr>
          <a:lstStyle/>
          <a:p>
            <a:pPr algn="l"/>
            <a:r>
              <a:rPr sz="1600" b="1">
                <a:solidFill>
                  <a:srgbClr val="3A2C22"/>
                </a:solidFill>
                <a:latin typeface="Calibri"/>
              </a:rPr>
              <a:t>Saturday, November 14, 2026</a:t>
            </a:r>
          </a:p>
        </p:txBody>
      </p:sp>
      <p:sp>
        <p:nvSpPr>
          <p:cNvPr id="8" name="TextBox 7"/>
          <p:cNvSpPr txBox="1"/>
          <p:nvPr/>
        </p:nvSpPr>
        <p:spPr>
          <a:xfrm>
            <a:off x="5577840" y="4663440"/>
            <a:ext cx="6217920" cy="457200"/>
          </a:xfrm>
          <a:prstGeom prst="rect">
            <a:avLst/>
          </a:prstGeom>
          <a:noFill/>
        </p:spPr>
        <p:txBody>
          <a:bodyPr wrap="square" anchor="t">
            <a:spAutoFit/>
          </a:bodyPr>
          <a:lstStyle/>
          <a:p>
            <a:pPr algn="l"/>
            <a:r>
              <a:rPr sz="1300" b="0">
                <a:solidFill>
                  <a:srgbClr val="7A6A59"/>
                </a:solidFill>
                <a:latin typeface="Calibri"/>
              </a:rPr>
              <a:t>The Atkins home, 1480 Vineyard View Lane, Yountville</a:t>
            </a:r>
          </a:p>
        </p:txBody>
      </p:sp>
    </p:spTree>
  </p:cSld>
  <p:transition spd="med">
    <p:fade/>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00"/>
                                        <p:tgtEl>
                                          <p:spTgt spid="7"/>
                                        </p:tgtEl>
                                      </p:cBhvr>
                                    </p:animEffect>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fade">
                                      <p:cBhvr>
                                        <p:cTn id="5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EBDD"/>
        </a:solidFill>
        <a:effectLst/>
      </p:bgPr>
    </p:bg>
    <p:spTree>
      <p:nvGrpSpPr>
        <p:cNvPr id="1" name=""/>
        <p:cNvGrpSpPr/>
        <p:nvPr/>
      </p:nvGrpSpPr>
      <p:grpSpPr/>
      <p:sp>
        <p:nvSpPr>
          <p:cNvPr id="2" name="TextBox 1"/>
          <p:cNvSpPr txBox="1"/>
          <p:nvPr/>
        </p:nvSpPr>
        <p:spPr>
          <a:xfrm>
            <a:off x="731520" y="548640"/>
            <a:ext cx="10058400" cy="731520"/>
          </a:xfrm>
          <a:prstGeom prst="rect">
            <a:avLst/>
          </a:prstGeom>
          <a:noFill/>
        </p:spPr>
        <p:txBody>
          <a:bodyPr wrap="square" anchor="t">
            <a:spAutoFit/>
          </a:bodyPr>
          <a:lstStyle/>
          <a:p>
            <a:pPr algn="l"/>
            <a:r>
              <a:rPr sz="3000" b="1">
                <a:solidFill>
                  <a:srgbClr val="6E1F2A"/>
                </a:solidFill>
                <a:latin typeface="Georgia"/>
              </a:rPr>
              <a:t>The Evening</a:t>
            </a:r>
          </a:p>
        </p:txBody>
      </p:sp>
      <p:sp>
        <p:nvSpPr>
          <p:cNvPr id="3" name="Rectangle 2"/>
          <p:cNvSpPr/>
          <p:nvPr/>
        </p:nvSpPr>
        <p:spPr>
          <a:xfrm>
            <a:off x="777240" y="1371600"/>
            <a:ext cx="2194560" cy="82296"/>
          </a:xfrm>
          <a:prstGeom prst="rect">
            <a:avLst/>
          </a:prstGeom>
          <a:solidFill>
            <a:srgbClr val="B56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45920"/>
            <a:ext cx="6400800" cy="2926080"/>
          </a:xfrm>
          <a:prstGeom prst="rect">
            <a:avLst/>
          </a:prstGeom>
          <a:noFill/>
        </p:spPr>
        <p:txBody>
          <a:bodyPr wrap="square" anchor="t">
            <a:spAutoFit/>
          </a:bodyPr>
          <a:lstStyle/>
          <a:p>
            <a:pPr algn="l">
              <a:lnSpc>
                <a:spcPct val="120000"/>
              </a:lnSpc>
            </a:pPr>
            <a:r>
              <a:rPr sz="1700" b="0">
                <a:solidFill>
                  <a:srgbClr val="3A2C22"/>
                </a:solidFill>
                <a:latin typeface="Calibri"/>
              </a:rPr>
              <a:t>A first look at the Italian program. Napa anchors are paired against the incoming Piedmont samples, so guests taste the direction the portfolio is heading. Robert handles the room and decor. Twelve to sixteen top accounts at one long table, the way these evenings sell a list better than any sheet.</a:t>
            </a:r>
          </a:p>
        </p:txBody>
      </p:sp>
      <p:pic>
        <p:nvPicPr>
          <p:cNvPr id="5" name="Picture 4" descr="toast.jpg"/>
          <p:cNvPicPr>
            <a:picLocks noChangeAspect="1"/>
          </p:cNvPicPr>
          <p:nvPr/>
        </p:nvPicPr>
        <p:blipFill>
          <a:blip r:embed="rId2"/>
          <a:srcRect t="8239" b="8239"/>
          <a:stretch>
            <a:fillRect/>
          </a:stretch>
        </p:blipFill>
        <p:spPr>
          <a:xfrm>
            <a:off x="7589520" y="1554480"/>
            <a:ext cx="4023360" cy="4480560"/>
          </a:xfrm>
          <a:prstGeom prst="rect">
            <a:avLst/>
          </a:prstGeom>
        </p:spPr>
      </p:pic>
      <p:sp>
        <p:nvSpPr>
          <p:cNvPr id="6" name="TextBox 5"/>
          <p:cNvSpPr txBox="1"/>
          <p:nvPr/>
        </p:nvSpPr>
        <p:spPr>
          <a:xfrm>
            <a:off x="777240" y="4937760"/>
            <a:ext cx="6400800" cy="731520"/>
          </a:xfrm>
          <a:prstGeom prst="rect">
            <a:avLst/>
          </a:prstGeom>
          <a:noFill/>
        </p:spPr>
        <p:txBody>
          <a:bodyPr wrap="square" anchor="t">
            <a:spAutoFit/>
          </a:bodyPr>
          <a:lstStyle/>
          <a:p>
            <a:pPr algn="l"/>
            <a:r>
              <a:rPr sz="1300" b="0">
                <a:solidFill>
                  <a:srgbClr val="7A6A59"/>
                </a:solidFill>
                <a:latin typeface="Calibri"/>
              </a:rPr>
              <a:t>Reception grower Champagne. Canapes kept light, no heavy cream or aged cheese.</a:t>
            </a:r>
          </a:p>
        </p:txBody>
      </p:sp>
    </p:spTree>
  </p:cSld>
  <p:transition spd="med">
    <p:push dir="l"/>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500"/>
                                        <p:tgtEl>
                                          <p:spTgt spid="4"/>
                                        </p:tgtEl>
                                      </p:cBhvr>
                                    </p:animEffect>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fade">
                                      <p:cBhvr>
                                        <p:cTn id="4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EBDD"/>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nchor="t">
            <a:spAutoFit/>
          </a:bodyPr>
          <a:lstStyle/>
          <a:p>
            <a:pPr algn="l"/>
            <a:r>
              <a:rPr sz="3000" b="1">
                <a:solidFill>
                  <a:srgbClr val="6E1F2A"/>
                </a:solidFill>
                <a:latin typeface="Georgia"/>
              </a:rPr>
              <a:t>Menu and Pairings</a:t>
            </a:r>
          </a:p>
        </p:txBody>
      </p:sp>
      <p:graphicFrame>
        <p:nvGraphicFramePr>
          <p:cNvPr id="3" name="Table 2"/>
          <p:cNvGraphicFramePr>
            <a:graphicFrameLocks noGrp="1"/>
          </p:cNvGraphicFramePr>
          <p:nvPr/>
        </p:nvGraphicFramePr>
        <p:xfrm>
          <a:off x="777240" y="1463040"/>
          <a:ext cx="10607040" cy="4297680"/>
        </p:xfrm>
        <a:graphic>
          <a:graphicData uri="http://schemas.openxmlformats.org/drawingml/2006/table">
            <a:tbl>
              <a:tblPr>
                <a:tableStyleId>{5C22544A-7EE6-4342-B048-85BDC9FD1C3A}</a:tableStyleId>
              </a:tblPr>
              <a:tblGrid>
                <a:gridCol w="2103120"/>
                <a:gridCol w="4206240"/>
                <a:gridCol w="4297680"/>
              </a:tblGrid>
              <a:tr h="613954">
                <a:tc>
                  <a:txBody>
                    <a:bodyPr wrap="square"/>
                    <a:lstStyle/>
                    <a:p>
                      <a:pPr algn="l"/>
                      <a:r>
                        <a:rPr sz="1400" b="1">
                          <a:solidFill>
                            <a:srgbClr val="FFFFFF"/>
                          </a:solidFill>
                          <a:latin typeface="Calibri"/>
                        </a:rPr>
                        <a:t>Course</a:t>
                      </a:r>
                    </a:p>
                  </a:txBody>
                  <a:tcPr marL="73152" marR="73152" marT="27432" marB="27432" anchor="ctr">
                    <a:solidFill>
                      <a:srgbClr val="6E1F2A"/>
                    </a:solidFill>
                  </a:tcPr>
                </a:tc>
                <a:tc>
                  <a:txBody>
                    <a:bodyPr wrap="square"/>
                    <a:lstStyle/>
                    <a:p>
                      <a:pPr algn="ctr"/>
                      <a:r>
                        <a:rPr sz="1400" b="1">
                          <a:solidFill>
                            <a:srgbClr val="FFFFFF"/>
                          </a:solidFill>
                          <a:latin typeface="Calibri"/>
                        </a:rPr>
                        <a:t>Dish</a:t>
                      </a:r>
                    </a:p>
                  </a:txBody>
                  <a:tcPr marL="73152" marR="73152" marT="27432" marB="27432" anchor="ctr">
                    <a:solidFill>
                      <a:srgbClr val="6E1F2A"/>
                    </a:solidFill>
                  </a:tcPr>
                </a:tc>
                <a:tc>
                  <a:txBody>
                    <a:bodyPr wrap="square"/>
                    <a:lstStyle/>
                    <a:p>
                      <a:pPr algn="ctr"/>
                      <a:r>
                        <a:rPr sz="1400" b="1">
                          <a:solidFill>
                            <a:srgbClr val="FFFFFF"/>
                          </a:solidFill>
                          <a:latin typeface="Calibri"/>
                        </a:rPr>
                        <a:t>Pairing</a:t>
                      </a:r>
                    </a:p>
                  </a:txBody>
                  <a:tcPr marL="73152" marR="73152" marT="27432" marB="27432" anchor="ctr">
                    <a:solidFill>
                      <a:srgbClr val="6E1F2A"/>
                    </a:solidFill>
                  </a:tcPr>
                </a:tc>
              </a:tr>
              <a:tr h="613954">
                <a:tc>
                  <a:txBody>
                    <a:bodyPr wrap="square"/>
                    <a:lstStyle/>
                    <a:p>
                      <a:pPr algn="l"/>
                      <a:r>
                        <a:rPr sz="1400" b="0">
                          <a:solidFill>
                            <a:srgbClr val="3A2C22"/>
                          </a:solidFill>
                          <a:latin typeface="Calibri"/>
                        </a:rPr>
                        <a:t>Reception</a:t>
                      </a:r>
                    </a:p>
                  </a:txBody>
                  <a:tcPr marL="73152" marR="73152" marT="27432" marB="27432" anchor="ctr">
                    <a:solidFill>
                      <a:srgbClr val="FBF5EA"/>
                    </a:solidFill>
                  </a:tcPr>
                </a:tc>
                <a:tc>
                  <a:txBody>
                    <a:bodyPr wrap="square"/>
                    <a:lstStyle/>
                    <a:p>
                      <a:pPr algn="ctr"/>
                      <a:r>
                        <a:rPr sz="1400" b="0">
                          <a:solidFill>
                            <a:srgbClr val="3A2C22"/>
                          </a:solidFill>
                          <a:latin typeface="Calibri"/>
                        </a:rPr>
                        <a:t>Passed bites</a:t>
                      </a:r>
                    </a:p>
                  </a:txBody>
                  <a:tcPr marL="73152" marR="73152" marT="27432" marB="27432" anchor="ctr">
                    <a:solidFill>
                      <a:srgbClr val="FBF5EA"/>
                    </a:solidFill>
                  </a:tcPr>
                </a:tc>
                <a:tc>
                  <a:txBody>
                    <a:bodyPr wrap="square"/>
                    <a:lstStyle/>
                    <a:p>
                      <a:pPr algn="ctr"/>
                      <a:r>
                        <a:rPr sz="1400" b="0">
                          <a:solidFill>
                            <a:srgbClr val="3A2C22"/>
                          </a:solidFill>
                          <a:latin typeface="Calibri"/>
                        </a:rPr>
                        <a:t>Grower Champagne, Brut</a:t>
                      </a:r>
                    </a:p>
                  </a:txBody>
                  <a:tcPr marL="73152" marR="73152" marT="27432" marB="27432" anchor="ctr">
                    <a:solidFill>
                      <a:srgbClr val="FBF5EA"/>
                    </a:solidFill>
                  </a:tcPr>
                </a:tc>
              </a:tr>
              <a:tr h="613954">
                <a:tc>
                  <a:txBody>
                    <a:bodyPr wrap="square"/>
                    <a:lstStyle/>
                    <a:p>
                      <a:pPr algn="l"/>
                      <a:r>
                        <a:rPr sz="1400" b="0">
                          <a:solidFill>
                            <a:srgbClr val="3A2C22"/>
                          </a:solidFill>
                          <a:latin typeface="Calibri"/>
                        </a:rPr>
                        <a:t>First</a:t>
                      </a:r>
                    </a:p>
                  </a:txBody>
                  <a:tcPr marL="73152" marR="73152" marT="27432" marB="27432" anchor="ctr">
                    <a:solidFill>
                      <a:srgbClr val="F0E3CF"/>
                    </a:solidFill>
                  </a:tcPr>
                </a:tc>
                <a:tc>
                  <a:txBody>
                    <a:bodyPr wrap="square"/>
                    <a:lstStyle/>
                    <a:p>
                      <a:pPr algn="ctr"/>
                      <a:r>
                        <a:rPr sz="1400" b="0">
                          <a:solidFill>
                            <a:srgbClr val="3A2C22"/>
                          </a:solidFill>
                          <a:latin typeface="Calibri"/>
                        </a:rPr>
                        <a:t>Butternut squash veloute</a:t>
                      </a:r>
                    </a:p>
                  </a:txBody>
                  <a:tcPr marL="73152" marR="73152" marT="27432" marB="27432" anchor="ctr">
                    <a:solidFill>
                      <a:srgbClr val="F0E3CF"/>
                    </a:solidFill>
                  </a:tcPr>
                </a:tc>
                <a:tc>
                  <a:txBody>
                    <a:bodyPr wrap="square"/>
                    <a:lstStyle/>
                    <a:p>
                      <a:pPr algn="ctr"/>
                      <a:r>
                        <a:rPr sz="1400" b="0">
                          <a:solidFill>
                            <a:srgbClr val="3A2C22"/>
                          </a:solidFill>
                          <a:latin typeface="Calibri"/>
                        </a:rPr>
                        <a:t>Stonecreek Chardonnay 2023</a:t>
                      </a:r>
                    </a:p>
                  </a:txBody>
                  <a:tcPr marL="73152" marR="73152" marT="27432" marB="27432" anchor="ctr">
                    <a:solidFill>
                      <a:srgbClr val="F0E3CF"/>
                    </a:solidFill>
                  </a:tcPr>
                </a:tc>
              </a:tr>
              <a:tr h="613954">
                <a:tc>
                  <a:txBody>
                    <a:bodyPr wrap="square"/>
                    <a:lstStyle/>
                    <a:p>
                      <a:pPr algn="l"/>
                      <a:r>
                        <a:rPr sz="1400" b="0">
                          <a:solidFill>
                            <a:srgbClr val="3A2C22"/>
                          </a:solidFill>
                          <a:latin typeface="Calibri"/>
                        </a:rPr>
                        <a:t>Second</a:t>
                      </a:r>
                    </a:p>
                  </a:txBody>
                  <a:tcPr marL="73152" marR="73152" marT="27432" marB="27432" anchor="ctr">
                    <a:solidFill>
                      <a:srgbClr val="FBF5EA"/>
                    </a:solidFill>
                  </a:tcPr>
                </a:tc>
                <a:tc>
                  <a:txBody>
                    <a:bodyPr wrap="square"/>
                    <a:lstStyle/>
                    <a:p>
                      <a:pPr algn="ctr"/>
                      <a:r>
                        <a:rPr sz="1400" b="0">
                          <a:solidFill>
                            <a:srgbClr val="3A2C22"/>
                          </a:solidFill>
                          <a:latin typeface="Calibri"/>
                        </a:rPr>
                        <a:t>Wild mushroom risotto</a:t>
                      </a:r>
                    </a:p>
                  </a:txBody>
                  <a:tcPr marL="73152" marR="73152" marT="27432" marB="27432" anchor="ctr">
                    <a:solidFill>
                      <a:srgbClr val="FBF5EA"/>
                    </a:solidFill>
                  </a:tcPr>
                </a:tc>
                <a:tc>
                  <a:txBody>
                    <a:bodyPr wrap="square"/>
                    <a:lstStyle/>
                    <a:p>
                      <a:pPr algn="ctr"/>
                      <a:r>
                        <a:rPr sz="1400" b="0">
                          <a:solidFill>
                            <a:srgbClr val="3A2C22"/>
                          </a:solidFill>
                          <a:latin typeface="Calibri"/>
                        </a:rPr>
                        <a:t>Marchetti Langhe Nebbiolo</a:t>
                      </a:r>
                    </a:p>
                  </a:txBody>
                  <a:tcPr marL="73152" marR="73152" marT="27432" marB="27432" anchor="ctr">
                    <a:solidFill>
                      <a:srgbClr val="FBF5EA"/>
                    </a:solidFill>
                  </a:tcPr>
                </a:tc>
              </a:tr>
              <a:tr h="613954">
                <a:tc>
                  <a:txBody>
                    <a:bodyPr wrap="square"/>
                    <a:lstStyle/>
                    <a:p>
                      <a:pPr algn="l"/>
                      <a:r>
                        <a:rPr sz="1400" b="0">
                          <a:solidFill>
                            <a:srgbClr val="3A2C22"/>
                          </a:solidFill>
                          <a:latin typeface="Calibri"/>
                        </a:rPr>
                        <a:t>Main</a:t>
                      </a:r>
                    </a:p>
                  </a:txBody>
                  <a:tcPr marL="73152" marR="73152" marT="27432" marB="27432" anchor="ctr">
                    <a:solidFill>
                      <a:srgbClr val="F0E3CF"/>
                    </a:solidFill>
                  </a:tcPr>
                </a:tc>
                <a:tc>
                  <a:txBody>
                    <a:bodyPr wrap="square"/>
                    <a:lstStyle/>
                    <a:p>
                      <a:pPr algn="ctr"/>
                      <a:r>
                        <a:rPr sz="1400" b="0">
                          <a:solidFill>
                            <a:srgbClr val="3A2C22"/>
                          </a:solidFill>
                          <a:latin typeface="Calibri"/>
                        </a:rPr>
                        <a:t>Braised short rib</a:t>
                      </a:r>
                    </a:p>
                  </a:txBody>
                  <a:tcPr marL="73152" marR="73152" marT="27432" marB="27432" anchor="ctr">
                    <a:solidFill>
                      <a:srgbClr val="F0E3CF"/>
                    </a:solidFill>
                  </a:tcPr>
                </a:tc>
                <a:tc>
                  <a:txBody>
                    <a:bodyPr wrap="square"/>
                    <a:lstStyle/>
                    <a:p>
                      <a:pPr algn="ctr"/>
                      <a:r>
                        <a:rPr sz="1400" b="0">
                          <a:solidFill>
                            <a:srgbClr val="3A2C22"/>
                          </a:solidFill>
                          <a:latin typeface="Calibri"/>
                        </a:rPr>
                        <a:t>Whitfield Reserve Cabernet 2021</a:t>
                      </a:r>
                    </a:p>
                  </a:txBody>
                  <a:tcPr marL="73152" marR="73152" marT="27432" marB="27432" anchor="ctr">
                    <a:solidFill>
                      <a:srgbClr val="F0E3CF"/>
                    </a:solidFill>
                  </a:tcPr>
                </a:tc>
              </a:tr>
              <a:tr h="613954">
                <a:tc>
                  <a:txBody>
                    <a:bodyPr wrap="square"/>
                    <a:lstStyle/>
                    <a:p>
                      <a:pPr algn="l"/>
                      <a:r>
                        <a:rPr sz="1400" b="0">
                          <a:solidFill>
                            <a:srgbClr val="3A2C22"/>
                          </a:solidFill>
                          <a:latin typeface="Calibri"/>
                        </a:rPr>
                        <a:t>Vegetarian</a:t>
                      </a:r>
                    </a:p>
                  </a:txBody>
                  <a:tcPr marL="73152" marR="73152" marT="27432" marB="27432" anchor="ctr">
                    <a:solidFill>
                      <a:srgbClr val="FBF5EA"/>
                    </a:solidFill>
                  </a:tcPr>
                </a:tc>
                <a:tc>
                  <a:txBody>
                    <a:bodyPr wrap="square"/>
                    <a:lstStyle/>
                    <a:p>
                      <a:pPr algn="ctr"/>
                      <a:r>
                        <a:rPr sz="1400" b="0">
                          <a:solidFill>
                            <a:srgbClr val="3A2C22"/>
                          </a:solidFill>
                          <a:latin typeface="Calibri"/>
                        </a:rPr>
                        <a:t>Roasted eggplant</a:t>
                      </a:r>
                    </a:p>
                  </a:txBody>
                  <a:tcPr marL="73152" marR="73152" marT="27432" marB="27432" anchor="ctr">
                    <a:solidFill>
                      <a:srgbClr val="FBF5EA"/>
                    </a:solidFill>
                  </a:tcPr>
                </a:tc>
                <a:tc>
                  <a:txBody>
                    <a:bodyPr wrap="square"/>
                    <a:lstStyle/>
                    <a:p>
                      <a:pPr algn="ctr"/>
                      <a:r>
                        <a:rPr sz="1400" b="0">
                          <a:solidFill>
                            <a:srgbClr val="3A2C22"/>
                          </a:solidFill>
                          <a:latin typeface="Calibri"/>
                        </a:rPr>
                        <a:t>Whitfield Reserve Cabernet 2021</a:t>
                      </a:r>
                    </a:p>
                  </a:txBody>
                  <a:tcPr marL="73152" marR="73152" marT="27432" marB="27432" anchor="ctr">
                    <a:solidFill>
                      <a:srgbClr val="FBF5EA"/>
                    </a:solidFill>
                  </a:tcPr>
                </a:tc>
              </a:tr>
              <a:tr h="613956">
                <a:tc>
                  <a:txBody>
                    <a:bodyPr wrap="square"/>
                    <a:lstStyle/>
                    <a:p>
                      <a:pPr algn="l"/>
                      <a:r>
                        <a:rPr sz="1400" b="0">
                          <a:solidFill>
                            <a:srgbClr val="3A2C22"/>
                          </a:solidFill>
                          <a:latin typeface="Calibri"/>
                        </a:rPr>
                        <a:t>Dessert</a:t>
                      </a:r>
                    </a:p>
                  </a:txBody>
                  <a:tcPr marL="73152" marR="73152" marT="27432" marB="27432" anchor="ctr">
                    <a:solidFill>
                      <a:srgbClr val="F0E3CF"/>
                    </a:solidFill>
                  </a:tcPr>
                </a:tc>
                <a:tc>
                  <a:txBody>
                    <a:bodyPr wrap="square"/>
                    <a:lstStyle/>
                    <a:p>
                      <a:pPr algn="ctr"/>
                      <a:r>
                        <a:rPr sz="1400" b="0">
                          <a:solidFill>
                            <a:srgbClr val="3A2C22"/>
                          </a:solidFill>
                          <a:latin typeface="Calibri"/>
                        </a:rPr>
                        <a:t>Apple tart</a:t>
                      </a:r>
                    </a:p>
                  </a:txBody>
                  <a:tcPr marL="73152" marR="73152" marT="27432" marB="27432" anchor="ctr">
                    <a:solidFill>
                      <a:srgbClr val="F0E3CF"/>
                    </a:solidFill>
                  </a:tcPr>
                </a:tc>
                <a:tc>
                  <a:txBody>
                    <a:bodyPr wrap="square"/>
                    <a:lstStyle/>
                    <a:p>
                      <a:pPr algn="ctr"/>
                      <a:r>
                        <a:rPr sz="1400" b="0">
                          <a:solidFill>
                            <a:srgbClr val="3A2C22"/>
                          </a:solidFill>
                          <a:latin typeface="Calibri"/>
                        </a:rPr>
                        <a:t>Vintage Port</a:t>
                      </a:r>
                    </a:p>
                  </a:txBody>
                  <a:tcPr marL="73152" marR="73152" marT="27432" marB="27432" anchor="ctr">
                    <a:solidFill>
                      <a:srgbClr val="F0E3CF"/>
                    </a:solidFill>
                  </a:tcPr>
                </a:tc>
              </a:tr>
            </a:tbl>
          </a:graphicData>
        </a:graphic>
      </p:graphicFrame>
    </p:spTree>
  </p:cSld>
  <p:transition spd="med">
    <p:cover dir="d"/>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EBDD"/>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nchor="t">
            <a:spAutoFit/>
          </a:bodyPr>
          <a:lstStyle/>
          <a:p>
            <a:pPr algn="l"/>
            <a:r>
              <a:rPr sz="3000" b="1">
                <a:solidFill>
                  <a:srgbClr val="6E1F2A"/>
                </a:solidFill>
                <a:latin typeface="Georgia"/>
              </a:rPr>
              <a:t>From the Cellar</a:t>
            </a:r>
          </a:p>
        </p:txBody>
      </p:sp>
      <p:graphicFrame>
        <p:nvGraphicFramePr>
          <p:cNvPr id="3" name="Chart 2"/>
          <p:cNvGraphicFramePr>
            <a:graphicFrameLocks noGrp="1"/>
          </p:cNvGraphicFramePr>
          <p:nvPr/>
        </p:nvGraphicFramePr>
        <p:xfrm>
          <a:off x="640080" y="1554480"/>
          <a:ext cx="5852160" cy="4754880"/>
        </p:xfrm>
        <a:graphic>
          <a:graphicData uri="http://schemas.openxmlformats.org/drawingml/2006/chart">
            <c:chart xmlns:c="http://schemas.openxmlformats.org/drawingml/2006/chart" r:id="rId2"/>
          </a:graphicData>
        </a:graphic>
      </p:graphicFrame>
      <p:sp>
        <p:nvSpPr>
          <p:cNvPr id="4" name="Rectangle 3"/>
          <p:cNvSpPr/>
          <p:nvPr/>
        </p:nvSpPr>
        <p:spPr>
          <a:xfrm>
            <a:off x="6766560" y="1737360"/>
            <a:ext cx="4754880" cy="4206240"/>
          </a:xfrm>
          <a:prstGeom prst="rect">
            <a:avLst/>
          </a:prstGeom>
          <a:solidFill>
            <a:srgbClr val="FB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95160" y="1920240"/>
            <a:ext cx="4389120" cy="548640"/>
          </a:xfrm>
          <a:prstGeom prst="rect">
            <a:avLst/>
          </a:prstGeom>
          <a:noFill/>
        </p:spPr>
        <p:txBody>
          <a:bodyPr wrap="square" anchor="t">
            <a:spAutoFit/>
          </a:bodyPr>
          <a:lstStyle/>
          <a:p>
            <a:pPr algn="l"/>
            <a:r>
              <a:rPr sz="1500" b="1">
                <a:solidFill>
                  <a:srgbClr val="6E1F2A"/>
                </a:solidFill>
                <a:latin typeface="Calibri"/>
              </a:rPr>
              <a:t>Private collection</a:t>
            </a:r>
          </a:p>
        </p:txBody>
      </p:sp>
      <p:sp>
        <p:nvSpPr>
          <p:cNvPr id="6" name="TextBox 5"/>
          <p:cNvSpPr txBox="1"/>
          <p:nvPr/>
        </p:nvSpPr>
        <p:spPr>
          <a:xfrm>
            <a:off x="6995160" y="2560320"/>
            <a:ext cx="4389120" cy="3200400"/>
          </a:xfrm>
          <a:prstGeom prst="rect">
            <a:avLst/>
          </a:prstGeom>
          <a:noFill/>
        </p:spPr>
        <p:txBody>
          <a:bodyPr wrap="square" anchor="t">
            <a:spAutoFit/>
          </a:bodyPr>
          <a:lstStyle/>
          <a:p>
            <a:pPr algn="l">
              <a:lnSpc>
                <a:spcPct val="115000"/>
              </a:lnSpc>
            </a:pPr>
            <a:r>
              <a:rPr sz="1400" b="0">
                <a:solidFill>
                  <a:srgbClr val="3A2C22"/>
                </a:solidFill>
                <a:latin typeface="Calibri"/>
              </a:rPr>
              <a:t>About 400 bottles in the home cellar, insured at 85,000 dollars under the Hartford policy. Held at 55 degrees and 70 percent humidity. Tonight pours the Napa verticals beside the first Piedmont samples.</a:t>
            </a:r>
          </a:p>
        </p:txBody>
      </p:sp>
    </p:spTree>
  </p:cSld>
  <p:transition spd="med">
    <p:wipe dir="d"/>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fade">
                                      <p:cBhvr>
                                        <p:cTn id="4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EBDD"/>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nchor="t">
            <a:spAutoFit/>
          </a:bodyPr>
          <a:lstStyle/>
          <a:p>
            <a:pPr algn="l"/>
            <a:r>
              <a:rPr sz="3000" b="1">
                <a:solidFill>
                  <a:srgbClr val="6E1F2A"/>
                </a:solidFill>
                <a:latin typeface="Georgia"/>
              </a:rPr>
              <a:t>Guests and Pours</a:t>
            </a:r>
          </a:p>
        </p:txBody>
      </p:sp>
      <p:graphicFrame>
        <p:nvGraphicFramePr>
          <p:cNvPr id="3" name="Chart 2"/>
          <p:cNvGraphicFramePr>
            <a:graphicFrameLocks noGrp="1"/>
          </p:cNvGraphicFramePr>
          <p:nvPr/>
        </p:nvGraphicFramePr>
        <p:xfrm>
          <a:off x="731520" y="1554480"/>
          <a:ext cx="10607040" cy="4023360"/>
        </p:xfrm>
        <a:graphic>
          <a:graphicData uri="http://schemas.openxmlformats.org/drawingml/2006/chart">
            <c:chart xmlns:c="http://schemas.openxmlformats.org/drawingml/2006/chart" r:id="rId2"/>
          </a:graphicData>
        </a:graphic>
      </p:graphicFrame>
      <p:sp>
        <p:nvSpPr>
          <p:cNvPr id="4" name="TextBox 3"/>
          <p:cNvSpPr txBox="1"/>
          <p:nvPr/>
        </p:nvSpPr>
        <p:spPr>
          <a:xfrm>
            <a:off x="731520" y="5760720"/>
            <a:ext cx="10607040" cy="640080"/>
          </a:xfrm>
          <a:prstGeom prst="rect">
            <a:avLst/>
          </a:prstGeom>
          <a:noFill/>
        </p:spPr>
        <p:txBody>
          <a:bodyPr wrap="square" anchor="t">
            <a:spAutoFit/>
          </a:bodyPr>
          <a:lstStyle/>
          <a:p>
            <a:pPr algn="l"/>
            <a:r>
              <a:rPr sz="1300" b="0">
                <a:solidFill>
                  <a:srgbClr val="7A6A59"/>
                </a:solidFill>
                <a:latin typeface="Calibri"/>
              </a:rPr>
              <a:t>David Kim of Le Jardin Dore leads the table. Susan Bradley handles invitations and the final count. Eric Hoffman delivers from the warehouse the day before.</a:t>
            </a:r>
          </a:p>
        </p:txBody>
      </p:sp>
    </p:spTree>
  </p:cSld>
  <p:transition spd="med">
    <p:push dir="u"/>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EBDD"/>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nchor="t">
            <a:spAutoFit/>
          </a:bodyPr>
          <a:lstStyle/>
          <a:p>
            <a:pPr algn="l"/>
            <a:r>
              <a:rPr sz="3000" b="1">
                <a:solidFill>
                  <a:srgbClr val="6E1F2A"/>
                </a:solidFill>
                <a:latin typeface="Georgia"/>
              </a:rPr>
              <a:t>Run Sheet</a:t>
            </a:r>
          </a:p>
        </p:txBody>
      </p:sp>
      <p:graphicFrame>
        <p:nvGraphicFramePr>
          <p:cNvPr id="3" name="Table 2"/>
          <p:cNvGraphicFramePr>
            <a:graphicFrameLocks noGrp="1"/>
          </p:cNvGraphicFramePr>
          <p:nvPr/>
        </p:nvGraphicFramePr>
        <p:xfrm>
          <a:off x="777240" y="1463040"/>
          <a:ext cx="6035040" cy="4114800"/>
        </p:xfrm>
        <a:graphic>
          <a:graphicData uri="http://schemas.openxmlformats.org/drawingml/2006/table">
            <a:tbl>
              <a:tblPr>
                <a:tableStyleId>{5C22544A-7EE6-4342-B048-85BDC9FD1C3A}</a:tableStyleId>
              </a:tblPr>
              <a:tblGrid>
                <a:gridCol w="1645920"/>
                <a:gridCol w="4389120"/>
              </a:tblGrid>
              <a:tr h="685800">
                <a:tc>
                  <a:txBody>
                    <a:bodyPr wrap="square"/>
                    <a:lstStyle/>
                    <a:p>
                      <a:pPr algn="l"/>
                      <a:r>
                        <a:rPr sz="1400" b="1">
                          <a:solidFill>
                            <a:srgbClr val="FFFFFF"/>
                          </a:solidFill>
                          <a:latin typeface="Calibri"/>
                        </a:rPr>
                        <a:t>Time</a:t>
                      </a:r>
                    </a:p>
                  </a:txBody>
                  <a:tcPr marL="73152" marR="73152" marT="27432" marB="27432" anchor="ctr">
                    <a:solidFill>
                      <a:srgbClr val="6E1F2A"/>
                    </a:solidFill>
                  </a:tcPr>
                </a:tc>
                <a:tc>
                  <a:txBody>
                    <a:bodyPr wrap="square"/>
                    <a:lstStyle/>
                    <a:p>
                      <a:pPr algn="ctr"/>
                      <a:r>
                        <a:rPr sz="1400" b="1">
                          <a:solidFill>
                            <a:srgbClr val="FFFFFF"/>
                          </a:solidFill>
                          <a:latin typeface="Calibri"/>
                        </a:rPr>
                        <a:t>Action</a:t>
                      </a:r>
                    </a:p>
                  </a:txBody>
                  <a:tcPr marL="73152" marR="73152" marT="27432" marB="27432" anchor="ctr">
                    <a:solidFill>
                      <a:srgbClr val="6E1F2A"/>
                    </a:solidFill>
                  </a:tcPr>
                </a:tc>
              </a:tr>
              <a:tr h="685800">
                <a:tc>
                  <a:txBody>
                    <a:bodyPr wrap="square"/>
                    <a:lstStyle/>
                    <a:p>
                      <a:pPr algn="l"/>
                      <a:r>
                        <a:rPr sz="1400" b="0">
                          <a:solidFill>
                            <a:srgbClr val="3A2C22"/>
                          </a:solidFill>
                          <a:latin typeface="Calibri"/>
                        </a:rPr>
                        <a:t>3:00 PM</a:t>
                      </a:r>
                    </a:p>
                  </a:txBody>
                  <a:tcPr marL="73152" marR="73152" marT="27432" marB="27432" anchor="ctr">
                    <a:solidFill>
                      <a:srgbClr val="FBF5EA"/>
                    </a:solidFill>
                  </a:tcPr>
                </a:tc>
                <a:tc>
                  <a:txBody>
                    <a:bodyPr wrap="square"/>
                    <a:lstStyle/>
                    <a:p>
                      <a:pPr algn="ctr"/>
                      <a:r>
                        <a:rPr sz="1400" b="0">
                          <a:solidFill>
                            <a:srgbClr val="3A2C22"/>
                          </a:solidFill>
                          <a:latin typeface="Calibri"/>
                        </a:rPr>
                        <a:t>Catering staff arrive</a:t>
                      </a:r>
                    </a:p>
                  </a:txBody>
                  <a:tcPr marL="73152" marR="73152" marT="27432" marB="27432" anchor="ctr">
                    <a:solidFill>
                      <a:srgbClr val="FBF5EA"/>
                    </a:solidFill>
                  </a:tcPr>
                </a:tc>
              </a:tr>
              <a:tr h="685800">
                <a:tc>
                  <a:txBody>
                    <a:bodyPr wrap="square"/>
                    <a:lstStyle/>
                    <a:p>
                      <a:pPr algn="l"/>
                      <a:r>
                        <a:rPr sz="1400" b="0">
                          <a:solidFill>
                            <a:srgbClr val="3A2C22"/>
                          </a:solidFill>
                          <a:latin typeface="Calibri"/>
                        </a:rPr>
                        <a:t>5:00 PM</a:t>
                      </a:r>
                    </a:p>
                  </a:txBody>
                  <a:tcPr marL="73152" marR="73152" marT="27432" marB="27432" anchor="ctr">
                    <a:solidFill>
                      <a:srgbClr val="F0E3CF"/>
                    </a:solidFill>
                  </a:tcPr>
                </a:tc>
                <a:tc>
                  <a:txBody>
                    <a:bodyPr wrap="square"/>
                    <a:lstStyle/>
                    <a:p>
                      <a:pPr algn="ctr"/>
                      <a:r>
                        <a:rPr sz="1400" b="0">
                          <a:solidFill>
                            <a:srgbClr val="3A2C22"/>
                          </a:solidFill>
                          <a:latin typeface="Calibri"/>
                        </a:rPr>
                        <a:t>Glassware set, wines decanted</a:t>
                      </a:r>
                    </a:p>
                  </a:txBody>
                  <a:tcPr marL="73152" marR="73152" marT="27432" marB="27432" anchor="ctr">
                    <a:solidFill>
                      <a:srgbClr val="F0E3CF"/>
                    </a:solidFill>
                  </a:tcPr>
                </a:tc>
              </a:tr>
              <a:tr h="685800">
                <a:tc>
                  <a:txBody>
                    <a:bodyPr wrap="square"/>
                    <a:lstStyle/>
                    <a:p>
                      <a:pPr algn="l"/>
                      <a:r>
                        <a:rPr sz="1400" b="0">
                          <a:solidFill>
                            <a:srgbClr val="3A2C22"/>
                          </a:solidFill>
                          <a:latin typeface="Calibri"/>
                        </a:rPr>
                        <a:t>6:30 PM</a:t>
                      </a:r>
                    </a:p>
                  </a:txBody>
                  <a:tcPr marL="73152" marR="73152" marT="27432" marB="27432" anchor="ctr">
                    <a:solidFill>
                      <a:srgbClr val="FBF5EA"/>
                    </a:solidFill>
                  </a:tcPr>
                </a:tc>
                <a:tc>
                  <a:txBody>
                    <a:bodyPr wrap="square"/>
                    <a:lstStyle/>
                    <a:p>
                      <a:pPr algn="ctr"/>
                      <a:r>
                        <a:rPr sz="1400" b="0">
                          <a:solidFill>
                            <a:srgbClr val="3A2C22"/>
                          </a:solidFill>
                          <a:latin typeface="Calibri"/>
                        </a:rPr>
                        <a:t>Guests arrive, reception</a:t>
                      </a:r>
                    </a:p>
                  </a:txBody>
                  <a:tcPr marL="73152" marR="73152" marT="27432" marB="27432" anchor="ctr">
                    <a:solidFill>
                      <a:srgbClr val="FBF5EA"/>
                    </a:solidFill>
                  </a:tcPr>
                </a:tc>
              </a:tr>
              <a:tr h="685800">
                <a:tc>
                  <a:txBody>
                    <a:bodyPr wrap="square"/>
                    <a:lstStyle/>
                    <a:p>
                      <a:pPr algn="l"/>
                      <a:r>
                        <a:rPr sz="1400" b="0">
                          <a:solidFill>
                            <a:srgbClr val="3A2C22"/>
                          </a:solidFill>
                          <a:latin typeface="Calibri"/>
                        </a:rPr>
                        <a:t>7:15 PM</a:t>
                      </a:r>
                    </a:p>
                  </a:txBody>
                  <a:tcPr marL="73152" marR="73152" marT="27432" marB="27432" anchor="ctr">
                    <a:solidFill>
                      <a:srgbClr val="F0E3CF"/>
                    </a:solidFill>
                  </a:tcPr>
                </a:tc>
                <a:tc>
                  <a:txBody>
                    <a:bodyPr wrap="square"/>
                    <a:lstStyle/>
                    <a:p>
                      <a:pPr algn="ctr"/>
                      <a:r>
                        <a:rPr sz="1400" b="0">
                          <a:solidFill>
                            <a:srgbClr val="3A2C22"/>
                          </a:solidFill>
                          <a:latin typeface="Calibri"/>
                        </a:rPr>
                        <a:t>Seated dinner and pairings</a:t>
                      </a:r>
                    </a:p>
                  </a:txBody>
                  <a:tcPr marL="73152" marR="73152" marT="27432" marB="27432" anchor="ctr">
                    <a:solidFill>
                      <a:srgbClr val="F0E3CF"/>
                    </a:solidFill>
                  </a:tcPr>
                </a:tc>
              </a:tr>
              <a:tr h="685800">
                <a:tc>
                  <a:txBody>
                    <a:bodyPr wrap="square"/>
                    <a:lstStyle/>
                    <a:p>
                      <a:pPr algn="l"/>
                      <a:r>
                        <a:rPr sz="1400" b="0">
                          <a:solidFill>
                            <a:srgbClr val="3A2C22"/>
                          </a:solidFill>
                          <a:latin typeface="Calibri"/>
                        </a:rPr>
                        <a:t>9:30 PM</a:t>
                      </a:r>
                    </a:p>
                  </a:txBody>
                  <a:tcPr marL="73152" marR="73152" marT="27432" marB="27432" anchor="ctr">
                    <a:solidFill>
                      <a:srgbClr val="FBF5EA"/>
                    </a:solidFill>
                  </a:tcPr>
                </a:tc>
                <a:tc>
                  <a:txBody>
                    <a:bodyPr wrap="square"/>
                    <a:lstStyle/>
                    <a:p>
                      <a:pPr algn="ctr"/>
                      <a:r>
                        <a:rPr sz="1400" b="0">
                          <a:solidFill>
                            <a:srgbClr val="3A2C22"/>
                          </a:solidFill>
                          <a:latin typeface="Calibri"/>
                        </a:rPr>
                        <a:t>Port, coffee, and close</a:t>
                      </a:r>
                    </a:p>
                  </a:txBody>
                  <a:tcPr marL="73152" marR="73152" marT="27432" marB="27432" anchor="ctr">
                    <a:solidFill>
                      <a:srgbClr val="FBF5EA"/>
                    </a:solidFill>
                  </a:tcPr>
                </a:tc>
              </a:tr>
            </a:tbl>
          </a:graphicData>
        </a:graphic>
      </p:graphicFrame>
      <p:pic>
        <p:nvPicPr>
          <p:cNvPr id="4" name="Picture 3" descr="sax.jpg"/>
          <p:cNvPicPr>
            <a:picLocks noChangeAspect="1"/>
          </p:cNvPicPr>
          <p:nvPr/>
        </p:nvPicPr>
        <p:blipFill>
          <a:blip r:embed="rId2"/>
          <a:srcRect t="13298" b="13298"/>
          <a:stretch>
            <a:fillRect/>
          </a:stretch>
        </p:blipFill>
        <p:spPr>
          <a:xfrm>
            <a:off x="7223760" y="1463040"/>
            <a:ext cx="4297680" cy="4206240"/>
          </a:xfrm>
          <a:prstGeom prst="rect">
            <a:avLst/>
          </a:prstGeom>
        </p:spPr>
      </p:pic>
      <p:sp>
        <p:nvSpPr>
          <p:cNvPr id="5" name="TextBox 4"/>
          <p:cNvSpPr txBox="1"/>
          <p:nvPr/>
        </p:nvSpPr>
        <p:spPr>
          <a:xfrm>
            <a:off x="7223760" y="5806440"/>
            <a:ext cx="4297680" cy="548640"/>
          </a:xfrm>
          <a:prstGeom prst="rect">
            <a:avLst/>
          </a:prstGeom>
          <a:noFill/>
        </p:spPr>
        <p:txBody>
          <a:bodyPr wrap="square" anchor="t">
            <a:spAutoFit/>
          </a:bodyPr>
          <a:lstStyle/>
          <a:p>
            <a:pPr algn="l"/>
            <a:r>
              <a:rPr sz="1250" b="0">
                <a:solidFill>
                  <a:srgbClr val="7A6A59"/>
                </a:solidFill>
                <a:latin typeface="Calibri"/>
              </a:rPr>
              <a:t>Budget target 4,500 dollars, settled from the marketing line.</a:t>
            </a:r>
          </a:p>
        </p:txBody>
      </p:sp>
    </p:spTree>
  </p:cSld>
  <p:transition spd="med">
    <p:fade/>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