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Sales USD</c:v>
                </c:pt>
              </c:strCache>
            </c:strRef>
          </c:tx>
          <c:dPt>
            <c:idx val="0"/>
            <c:spPr>
              <a:solidFill>
                <a:srgbClr val="2A9D8F"/>
              </a:solidFill>
            </c:spPr>
          </c:dPt>
          <c:dPt>
            <c:idx val="1"/>
            <c:spPr>
              <a:solidFill>
                <a:srgbClr val="1F3A5F"/>
              </a:solidFill>
            </c:spPr>
          </c:dPt>
          <c:dPt>
            <c:idx val="2"/>
            <c:spPr>
              <a:solidFill>
                <a:srgbClr val="7CB5C9"/>
              </a:solidFill>
            </c:spPr>
          </c:dPt>
          <c:dPt>
            <c:idx val="3"/>
            <c:spPr>
              <a:solidFill>
                <a:srgbClr val="C8A24A"/>
              </a:solidFill>
            </c:spPr>
          </c:dPt>
          <c:cat>
            <c:strRef>
              <c:f>Sheet1!$A$2:$A$5</c:f>
              <c:strCache>
                <c:ptCount val="4"/>
                <c:pt idx="0">
                  <c:v>Maria Lopez</c:v>
                </c:pt>
                <c:pt idx="1">
                  <c:v>Tom Becker</c:v>
                </c:pt>
                <c:pt idx="2">
                  <c:v>Rachel Green</c:v>
                </c:pt>
                <c:pt idx="3">
                  <c:v>Brian Harper</c:v>
                </c:pt>
              </c:strCache>
            </c:strRef>
          </c:cat>
          <c:val>
            <c:numRef>
              <c:f>Sheet1!$B$2:$B$5</c:f>
              <c:numCache>
                <c:formatCode>General</c:formatCode>
                <c:ptCount val="4"/>
                <c:pt idx="0">
                  <c:v>320000</c:v>
                </c:pt>
                <c:pt idx="1">
                  <c:v>285000</c:v>
                </c:pt>
                <c:pt idx="2">
                  <c:v>250000</c:v>
                </c:pt>
                <c:pt idx="3">
                  <c:v>120000</c:v>
                </c:pt>
              </c:numCache>
            </c:numRef>
          </c:val>
        </c:ser>
        <c:dLbls>
          <c:txPr>
            <a:bodyPr/>
            <a:lstStyle/>
            <a:p>
              <a:pPr>
                <a:defRPr sz="1000">
                  <a:solidFill>
                    <a:srgbClr val="243240"/>
                  </a:solidFill>
                </a:defRPr>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243240"/>
            </a:solidFill>
          </a:ln>
        </c:spPr>
        <c:txPr>
          <a:bodyPr/>
          <a:lstStyle/>
          <a:p>
            <a:pPr>
              <a:defRPr sz="1000">
                <a:solidFill>
                  <a:srgbClr val="243240"/>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243240"/>
            </a:solidFill>
          </a:ln>
        </c:spPr>
        <c:txPr>
          <a:bodyPr/>
          <a:lstStyle/>
          <a:p>
            <a:pPr>
              <a:defRPr sz="1000">
                <a:solidFill>
                  <a:srgbClr val="243240"/>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USD</c:v>
                </c:pt>
              </c:strCache>
            </c:strRef>
          </c:tx>
          <c:dPt>
            <c:idx val="0"/>
            <c:spPr>
              <a:solidFill>
                <a:srgbClr val="C8A24A"/>
              </a:solidFill>
            </c:spPr>
          </c:dPt>
          <c:dPt>
            <c:idx val="1"/>
            <c:spPr>
              <a:solidFill>
                <a:srgbClr val="7CB5C9"/>
              </a:solidFill>
            </c:spPr>
          </c:dPt>
          <c:dPt>
            <c:idx val="2"/>
            <c:spPr>
              <a:solidFill>
                <a:srgbClr val="5FA777"/>
              </a:solidFill>
            </c:spPr>
          </c:dPt>
          <c:dPt>
            <c:idx val="3"/>
            <c:spPr>
              <a:solidFill>
                <a:srgbClr val="2A9D8F"/>
              </a:solidFill>
            </c:spPr>
          </c:dPt>
          <c:dPt>
            <c:idx val="4"/>
            <c:spPr>
              <a:solidFill>
                <a:srgbClr val="1F3A5F"/>
              </a:solidFill>
            </c:spPr>
          </c:dPt>
          <c:dPt>
            <c:idx val="5"/>
            <c:spPr>
              <a:solidFill>
                <a:srgbClr val="7A1F2B"/>
              </a:solidFill>
            </c:spPr>
          </c:dPt>
          <c:cat>
            <c:strRef>
              <c:f>Sheet1!$A$2:$A$7</c:f>
              <c:strCache>
                <c:ptCount val="6"/>
                <c:pt idx="0">
                  <c:v>Maison Terre</c:v>
                </c:pt>
                <c:pt idx="1">
                  <c:v>Solo Filo</c:v>
                </c:pt>
                <c:pt idx="2">
                  <c:v>Vine and Table</c:v>
                </c:pt>
                <c:pt idx="3">
                  <c:v>Valleyvine</c:v>
                </c:pt>
                <c:pt idx="4">
                  <c:v>Bottega</c:v>
                </c:pt>
                <c:pt idx="5">
                  <c:v>Le Jardin Dore</c:v>
                </c:pt>
              </c:strCache>
            </c:strRef>
          </c:cat>
          <c:val>
            <c:numRef>
              <c:f>Sheet1!$B$2:$B$7</c:f>
              <c:numCache>
                <c:formatCode>General</c:formatCode>
                <c:ptCount val="6"/>
                <c:pt idx="0">
                  <c:v>6120</c:v>
                </c:pt>
                <c:pt idx="1">
                  <c:v>13280</c:v>
                </c:pt>
                <c:pt idx="2">
                  <c:v>13720</c:v>
                </c:pt>
                <c:pt idx="3">
                  <c:v>16240</c:v>
                </c:pt>
                <c:pt idx="4">
                  <c:v>17420</c:v>
                </c:pt>
                <c:pt idx="5">
                  <c:v>30700</c:v>
                </c:pt>
              </c:numCache>
            </c:numRef>
          </c:val>
        </c:ser>
        <c:dLbls>
          <c:txPr>
            <a:bodyPr/>
            <a:lstStyle/>
            <a:p>
              <a:pPr>
                <a:defRPr sz="1000">
                  <a:solidFill>
                    <a:srgbClr val="243240"/>
                  </a:solidFill>
                </a:defRPr>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spPr>
          <a:ln>
            <a:solidFill>
              <a:srgbClr val="243240"/>
            </a:solidFill>
          </a:ln>
        </c:spPr>
        <c:txPr>
          <a:bodyPr/>
          <a:lstStyle/>
          <a:p>
            <a:pPr>
              <a:defRPr sz="1000">
                <a:solidFill>
                  <a:srgbClr val="243240"/>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spPr>
          <a:ln>
            <a:solidFill>
              <a:srgbClr val="243240"/>
            </a:solidFill>
          </a:ln>
        </c:spPr>
        <c:txPr>
          <a:bodyPr/>
          <a:lstStyle/>
          <a:p>
            <a:pPr>
              <a:defRPr sz="1000">
                <a:solidFill>
                  <a:srgbClr val="243240"/>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Wineries</c:v>
                </c:pt>
              </c:strCache>
            </c:strRef>
          </c:tx>
          <c:dPt>
            <c:idx val="0"/>
            <c:spPr>
              <a:solidFill>
                <a:srgbClr val="1F3A5F"/>
              </a:solidFill>
            </c:spPr>
          </c:dPt>
          <c:dPt>
            <c:idx val="1"/>
            <c:spPr>
              <a:solidFill>
                <a:srgbClr val="2A9D8F"/>
              </a:solidFill>
            </c:spPr>
          </c:dPt>
          <c:dPt>
            <c:idx val="2"/>
            <c:spPr>
              <a:solidFill>
                <a:srgbClr val="7CB5C9"/>
              </a:solidFill>
            </c:spPr>
          </c:dPt>
          <c:dPt>
            <c:idx val="3"/>
            <c:spPr>
              <a:solidFill>
                <a:srgbClr val="C8A24A"/>
              </a:solidFill>
            </c:spPr>
          </c:dPt>
          <c:cat>
            <c:strRef>
              <c:f>Sheet1!$A$2:$A$5</c:f>
              <c:strCache>
                <c:ptCount val="4"/>
                <c:pt idx="0">
                  <c:v>Napa Valley</c:v>
                </c:pt>
                <c:pt idx="1">
                  <c:v>Sonoma</c:v>
                </c:pt>
                <c:pt idx="2">
                  <c:v>Willamette</c:v>
                </c:pt>
                <c:pt idx="3">
                  <c:v>Paso Robles</c:v>
                </c:pt>
              </c:strCache>
            </c:strRef>
          </c:cat>
          <c:val>
            <c:numRef>
              <c:f>Sheet1!$B$2:$B$5</c:f>
              <c:numCache>
                <c:formatCode>General</c:formatCode>
                <c:ptCount val="4"/>
                <c:pt idx="0">
                  <c:v>5</c:v>
                </c:pt>
                <c:pt idx="1">
                  <c:v>4</c:v>
                </c:pt>
                <c:pt idx="2">
                  <c:v>3</c:v>
                </c:pt>
                <c:pt idx="3">
                  <c:v>2</c:v>
                </c:pt>
              </c:numCache>
            </c:numRef>
          </c:val>
        </c:ser>
        <c:dLbls>
          <c:txPr>
            <a:bodyPr/>
            <a:lstStyle/>
            <a:p>
              <a:pPr>
                <a:defRPr sz="1000">
                  <a:solidFill>
                    <a:srgbClr val="243240"/>
                  </a:solidFill>
                </a:defRPr>
              </a:pPr>
            </a:p>
          </c:txPr>
          <c:showLegendKey val="0"/>
          <c:showVal val="1"/>
          <c:showCatName val="0"/>
          <c:showSerName val="0"/>
          <c:showPercent val="0"/>
          <c:showBubbleSize val="0"/>
          <c:showLeaderLines val="1"/>
        </c:dLbls>
      </c:pieChart>
    </c:plotArea>
    <c:legend>
      <c:legendPos val="b"/>
      <c:overlay val="0"/>
      <c:txPr>
        <a:bodyPr/>
        <a:lstStyle/>
        <a:p>
          <a:pPr>
            <a:defRPr sz="1000">
              <a:solidFill>
                <a:srgbClr val="243240"/>
              </a:solidFill>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allery.jpg"/>
          <p:cNvPicPr>
            <a:picLocks noChangeAspect="1"/>
          </p:cNvPicPr>
          <p:nvPr/>
        </p:nvPicPr>
        <p:blipFill>
          <a:blip r:embed="rId2"/>
          <a:srcRect t="30514" b="30514"/>
          <a:stretch>
            <a:fillRect/>
          </a:stretch>
        </p:blipFill>
        <p:spPr>
          <a:xfrm>
            <a:off x="8595360" y="0"/>
            <a:ext cx="3596335" cy="2103120"/>
          </a:xfrm>
          <a:prstGeom prst="rect">
            <a:avLst/>
          </a:prstGeom>
        </p:spPr>
      </p:pic>
      <p:sp>
        <p:nvSpPr>
          <p:cNvPr id="3" name="Rectangle 2"/>
          <p:cNvSpPr/>
          <p:nvPr/>
        </p:nvSpPr>
        <p:spPr>
          <a:xfrm>
            <a:off x="0" y="0"/>
            <a:ext cx="8595360" cy="2103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85632" y="0"/>
            <a:ext cx="109728" cy="21031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57200"/>
            <a:ext cx="7680960" cy="731520"/>
          </a:xfrm>
          <a:prstGeom prst="rect">
            <a:avLst/>
          </a:prstGeom>
          <a:noFill/>
        </p:spPr>
        <p:txBody>
          <a:bodyPr wrap="square" anchor="t">
            <a:spAutoFit/>
          </a:bodyPr>
          <a:lstStyle/>
          <a:p>
            <a:pPr algn="l"/>
            <a:r>
              <a:rPr sz="3000" b="1">
                <a:solidFill>
                  <a:srgbClr val="FFFFFF"/>
                </a:solidFill>
                <a:latin typeface="Calibri"/>
              </a:rPr>
              <a:t>Fourth Quarter Business Review</a:t>
            </a:r>
          </a:p>
        </p:txBody>
      </p:sp>
      <p:sp>
        <p:nvSpPr>
          <p:cNvPr id="6" name="TextBox 5"/>
          <p:cNvSpPr txBox="1"/>
          <p:nvPr/>
        </p:nvSpPr>
        <p:spPr>
          <a:xfrm>
            <a:off x="658368" y="1280160"/>
            <a:ext cx="7680960" cy="548640"/>
          </a:xfrm>
          <a:prstGeom prst="rect">
            <a:avLst/>
          </a:prstGeom>
          <a:noFill/>
        </p:spPr>
        <p:txBody>
          <a:bodyPr wrap="square" anchor="t">
            <a:spAutoFit/>
          </a:bodyPr>
          <a:lstStyle/>
          <a:p>
            <a:pPr algn="l"/>
            <a:r>
              <a:rPr sz="1400" b="0">
                <a:solidFill>
                  <a:srgbClr val="CFE0D8"/>
                </a:solidFill>
                <a:latin typeface="Calibri"/>
              </a:rPr>
              <a:t>Atkins and Associates Fine Wines   |   October to December 2025</a:t>
            </a:r>
          </a:p>
        </p:txBody>
      </p:sp>
      <p:sp>
        <p:nvSpPr>
          <p:cNvPr id="7" name="TextBox 6"/>
          <p:cNvSpPr txBox="1"/>
          <p:nvPr/>
        </p:nvSpPr>
        <p:spPr>
          <a:xfrm>
            <a:off x="640080" y="2468880"/>
            <a:ext cx="10972800" cy="548640"/>
          </a:xfrm>
          <a:prstGeom prst="rect">
            <a:avLst/>
          </a:prstGeom>
          <a:noFill/>
        </p:spPr>
        <p:txBody>
          <a:bodyPr wrap="square" anchor="t">
            <a:spAutoFit/>
          </a:bodyPr>
          <a:lstStyle/>
          <a:p>
            <a:pPr algn="l"/>
            <a:r>
              <a:rPr sz="1600" b="1">
                <a:solidFill>
                  <a:srgbClr val="1F3A5F"/>
                </a:solidFill>
                <a:latin typeface="Calibri"/>
              </a:rPr>
              <a:t>Prepared with Susan Bradley for the leadership review</a:t>
            </a:r>
          </a:p>
        </p:txBody>
      </p:sp>
      <p:pic>
        <p:nvPicPr>
          <p:cNvPr id="8" name="Picture 7" descr="coffee.jpg"/>
          <p:cNvPicPr>
            <a:picLocks noChangeAspect="1"/>
          </p:cNvPicPr>
          <p:nvPr/>
        </p:nvPicPr>
        <p:blipFill>
          <a:blip r:embed="rId3"/>
          <a:srcRect t="13346" b="13346"/>
          <a:stretch>
            <a:fillRect/>
          </a:stretch>
        </p:blipFill>
        <p:spPr>
          <a:xfrm>
            <a:off x="640080" y="3200400"/>
            <a:ext cx="2743200" cy="3017520"/>
          </a:xfrm>
          <a:prstGeom prst="rect">
            <a:avLst/>
          </a:prstGeom>
        </p:spPr>
      </p:pic>
      <p:sp>
        <p:nvSpPr>
          <p:cNvPr id="9" name="Rectangle 8"/>
          <p:cNvSpPr/>
          <p:nvPr/>
        </p:nvSpPr>
        <p:spPr>
          <a:xfrm>
            <a:off x="640080" y="3200400"/>
            <a:ext cx="2743200" cy="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03320" y="3200400"/>
            <a:ext cx="1965960" cy="141732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3310128"/>
            <a:ext cx="1965960" cy="640080"/>
          </a:xfrm>
          <a:prstGeom prst="rect">
            <a:avLst/>
          </a:prstGeom>
          <a:noFill/>
        </p:spPr>
        <p:txBody>
          <a:bodyPr wrap="square" anchor="t">
            <a:spAutoFit/>
          </a:bodyPr>
          <a:lstStyle/>
          <a:p>
            <a:pPr algn="ctr"/>
            <a:r>
              <a:rPr sz="3000" b="1">
                <a:solidFill>
                  <a:srgbClr val="1F3A5F"/>
                </a:solidFill>
                <a:latin typeface="Calibri"/>
              </a:rPr>
              <a:t>$975K</a:t>
            </a:r>
          </a:p>
        </p:txBody>
      </p:sp>
      <p:sp>
        <p:nvSpPr>
          <p:cNvPr id="12" name="TextBox 11"/>
          <p:cNvSpPr txBox="1"/>
          <p:nvPr/>
        </p:nvSpPr>
        <p:spPr>
          <a:xfrm>
            <a:off x="3703320" y="4114800"/>
            <a:ext cx="1965960" cy="457200"/>
          </a:xfrm>
          <a:prstGeom prst="rect">
            <a:avLst/>
          </a:prstGeom>
          <a:noFill/>
        </p:spPr>
        <p:txBody>
          <a:bodyPr wrap="square" anchor="t">
            <a:spAutoFit/>
          </a:bodyPr>
          <a:lstStyle/>
          <a:p>
            <a:pPr algn="ctr"/>
            <a:r>
              <a:rPr sz="1100" b="0">
                <a:solidFill>
                  <a:srgbClr val="5A6B7A"/>
                </a:solidFill>
                <a:latin typeface="Calibri"/>
              </a:rPr>
              <a:t>Team sales, Q4</a:t>
            </a:r>
          </a:p>
        </p:txBody>
      </p:sp>
      <p:sp>
        <p:nvSpPr>
          <p:cNvPr id="13" name="Rectangle 12"/>
          <p:cNvSpPr/>
          <p:nvPr/>
        </p:nvSpPr>
        <p:spPr>
          <a:xfrm>
            <a:off x="5824727" y="3200400"/>
            <a:ext cx="1965960" cy="141732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24727" y="3310128"/>
            <a:ext cx="1965960" cy="640080"/>
          </a:xfrm>
          <a:prstGeom prst="rect">
            <a:avLst/>
          </a:prstGeom>
          <a:noFill/>
        </p:spPr>
        <p:txBody>
          <a:bodyPr wrap="square" anchor="t">
            <a:spAutoFit/>
          </a:bodyPr>
          <a:lstStyle/>
          <a:p>
            <a:pPr algn="ctr"/>
            <a:r>
              <a:rPr sz="3000" b="1">
                <a:solidFill>
                  <a:srgbClr val="1F3A5F"/>
                </a:solidFill>
                <a:latin typeface="Calibri"/>
              </a:rPr>
              <a:t>$61,575</a:t>
            </a:r>
          </a:p>
        </p:txBody>
      </p:sp>
      <p:sp>
        <p:nvSpPr>
          <p:cNvPr id="15" name="TextBox 14"/>
          <p:cNvSpPr txBox="1"/>
          <p:nvPr/>
        </p:nvSpPr>
        <p:spPr>
          <a:xfrm>
            <a:off x="5824727" y="4114800"/>
            <a:ext cx="1965960" cy="457200"/>
          </a:xfrm>
          <a:prstGeom prst="rect">
            <a:avLst/>
          </a:prstGeom>
          <a:noFill/>
        </p:spPr>
        <p:txBody>
          <a:bodyPr wrap="square" anchor="t">
            <a:spAutoFit/>
          </a:bodyPr>
          <a:lstStyle/>
          <a:p>
            <a:pPr algn="ctr"/>
            <a:r>
              <a:rPr sz="1100" b="0">
                <a:solidFill>
                  <a:srgbClr val="5A6B7A"/>
                </a:solidFill>
                <a:latin typeface="Calibri"/>
              </a:rPr>
              <a:t>Commissions paid</a:t>
            </a:r>
          </a:p>
        </p:txBody>
      </p:sp>
      <p:sp>
        <p:nvSpPr>
          <p:cNvPr id="16" name="Rectangle 15"/>
          <p:cNvSpPr/>
          <p:nvPr/>
        </p:nvSpPr>
        <p:spPr>
          <a:xfrm>
            <a:off x="7946136" y="3200400"/>
            <a:ext cx="1965960" cy="141732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46136" y="3310128"/>
            <a:ext cx="1965960" cy="640080"/>
          </a:xfrm>
          <a:prstGeom prst="rect">
            <a:avLst/>
          </a:prstGeom>
          <a:noFill/>
        </p:spPr>
        <p:txBody>
          <a:bodyPr wrap="square" anchor="t">
            <a:spAutoFit/>
          </a:bodyPr>
          <a:lstStyle/>
          <a:p>
            <a:pPr algn="ctr"/>
            <a:r>
              <a:rPr sz="3000" b="1">
                <a:solidFill>
                  <a:srgbClr val="1F3A5F"/>
                </a:solidFill>
                <a:latin typeface="Calibri"/>
              </a:rPr>
              <a:t>$89.7K</a:t>
            </a:r>
          </a:p>
        </p:txBody>
      </p:sp>
      <p:sp>
        <p:nvSpPr>
          <p:cNvPr id="18" name="TextBox 17"/>
          <p:cNvSpPr txBox="1"/>
          <p:nvPr/>
        </p:nvSpPr>
        <p:spPr>
          <a:xfrm>
            <a:off x="7946136" y="4114800"/>
            <a:ext cx="1965960" cy="457200"/>
          </a:xfrm>
          <a:prstGeom prst="rect">
            <a:avLst/>
          </a:prstGeom>
          <a:noFill/>
        </p:spPr>
        <p:txBody>
          <a:bodyPr wrap="square" anchor="t">
            <a:spAutoFit/>
          </a:bodyPr>
          <a:lstStyle/>
          <a:p>
            <a:pPr algn="ctr"/>
            <a:r>
              <a:rPr sz="1100" b="0">
                <a:solidFill>
                  <a:srgbClr val="5A6B7A"/>
                </a:solidFill>
                <a:latin typeface="Calibri"/>
              </a:rPr>
              <a:t>Top six accounts</a:t>
            </a:r>
          </a:p>
        </p:txBody>
      </p:sp>
      <p:sp>
        <p:nvSpPr>
          <p:cNvPr id="19" name="Rectangle 18"/>
          <p:cNvSpPr/>
          <p:nvPr/>
        </p:nvSpPr>
        <p:spPr>
          <a:xfrm>
            <a:off x="10067543" y="3200400"/>
            <a:ext cx="1965960" cy="141732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67543" y="3310128"/>
            <a:ext cx="1965960" cy="640080"/>
          </a:xfrm>
          <a:prstGeom prst="rect">
            <a:avLst/>
          </a:prstGeom>
          <a:noFill/>
        </p:spPr>
        <p:txBody>
          <a:bodyPr wrap="square" anchor="t">
            <a:spAutoFit/>
          </a:bodyPr>
          <a:lstStyle/>
          <a:p>
            <a:pPr algn="ctr"/>
            <a:r>
              <a:rPr sz="3000" b="1">
                <a:solidFill>
                  <a:srgbClr val="1F3A5F"/>
                </a:solidFill>
                <a:latin typeface="Calibri"/>
              </a:rPr>
              <a:t>12%</a:t>
            </a:r>
          </a:p>
        </p:txBody>
      </p:sp>
      <p:sp>
        <p:nvSpPr>
          <p:cNvPr id="21" name="TextBox 20"/>
          <p:cNvSpPr txBox="1"/>
          <p:nvPr/>
        </p:nvSpPr>
        <p:spPr>
          <a:xfrm>
            <a:off x="10067543" y="4114800"/>
            <a:ext cx="1965960" cy="457200"/>
          </a:xfrm>
          <a:prstGeom prst="rect">
            <a:avLst/>
          </a:prstGeom>
          <a:noFill/>
        </p:spPr>
        <p:txBody>
          <a:bodyPr wrap="square" anchor="t">
            <a:spAutoFit/>
          </a:bodyPr>
          <a:lstStyle/>
          <a:p>
            <a:pPr algn="ctr"/>
            <a:r>
              <a:rPr sz="1100" b="0">
                <a:solidFill>
                  <a:srgbClr val="5A6B7A"/>
                </a:solidFill>
                <a:latin typeface="Calibri"/>
              </a:rPr>
              <a:t>YoY growth</a:t>
            </a:r>
          </a:p>
        </p:txBody>
      </p:sp>
      <p:sp>
        <p:nvSpPr>
          <p:cNvPr id="22" name="TextBox 21"/>
          <p:cNvSpPr txBox="1"/>
          <p:nvPr/>
        </p:nvSpPr>
        <p:spPr>
          <a:xfrm>
            <a:off x="3703320" y="4937760"/>
            <a:ext cx="8229600" cy="1188720"/>
          </a:xfrm>
          <a:prstGeom prst="rect">
            <a:avLst/>
          </a:prstGeom>
          <a:noFill/>
        </p:spPr>
        <p:txBody>
          <a:bodyPr wrap="square" anchor="t">
            <a:spAutoFit/>
          </a:bodyPr>
          <a:lstStyle/>
          <a:p>
            <a:pPr algn="l">
              <a:lnSpc>
                <a:spcPct val="115000"/>
              </a:lnSpc>
            </a:pPr>
            <a:r>
              <a:rPr sz="1350" b="0">
                <a:solidFill>
                  <a:srgbClr val="243240"/>
                </a:solidFill>
                <a:latin typeface="Calibri"/>
              </a:rPr>
              <a:t>A solid close to the year. Team sales held at 975,000 dollars across four representatives, with commissions of 61,575 dollars paid. Six key accounts delivered 89,720 dollars in tracked orders heading into the Italian launch.</a:t>
            </a:r>
          </a:p>
        </p:txBody>
      </p:sp>
    </p:spTree>
  </p:cSld>
  <p:transition spd="med">
    <p:fade/>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childTnLst>
                          </p:cTn>
                        </p:par>
                      </p:childTnLst>
                    </p:cTn>
                  </p:par>
                  <p:par>
                    <p:cTn id="80" fill="hold">
                      <p:stCondLst>
                        <p:cond delay="0"/>
                      </p:stCondLst>
                      <p:childTnLst>
                        <p:par>
                          <p:cTn id="81" fill="hold">
                            <p:stCondLst>
                              <p:cond delay="0"/>
                            </p:stCondLst>
                            <p:childTnLst>
                              <p:par>
                                <p:cTn id="82" presetID="10" presetClass="entr" presetSubtype="0" fill="hold" grpId="0" nodeType="after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childTnLst>
                          </p:cTn>
                        </p:par>
                      </p:childTnLst>
                    </p:cTn>
                  </p:par>
                  <p:par>
                    <p:cTn id="90" fill="hold">
                      <p:stCondLst>
                        <p:cond delay="0"/>
                      </p:stCondLst>
                      <p:childTnLst>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500"/>
                                        <p:tgtEl>
                                          <p:spTgt spid="18"/>
                                        </p:tgtEl>
                                      </p:cBhvr>
                                    </p:animEffect>
                                  </p:childTnLst>
                                </p:cTn>
                              </p:par>
                            </p:childTnLst>
                          </p:cTn>
                        </p:par>
                      </p:childTnLst>
                    </p:cTn>
                  </p:par>
                  <p:par>
                    <p:cTn id="100" fill="hold">
                      <p:stCondLst>
                        <p:cond delay="0"/>
                      </p:stCondLst>
                      <p:childTnLst>
                        <p:par>
                          <p:cTn id="101" fill="hold">
                            <p:stCondLst>
                              <p:cond delay="0"/>
                            </p:stCondLst>
                            <p:childTnLst>
                              <p:par>
                                <p:cTn id="102" presetID="10" presetClass="entr" presetSubtype="0" fill="hold" grpId="0" nodeType="afterEffect">
                                  <p:stCondLst>
                                    <p:cond delay="0"/>
                                  </p:stCondLst>
                                  <p:childTnLst>
                                    <p:set>
                                      <p:cBhvr>
                                        <p:cTn id="103" dur="1" fill="hold">
                                          <p:stCondLst>
                                            <p:cond delay="0"/>
                                          </p:stCondLst>
                                        </p:cTn>
                                        <p:tgtEl>
                                          <p:spTgt spid="20"/>
                                        </p:tgtEl>
                                        <p:attrNameLst>
                                          <p:attrName>style.visibility</p:attrName>
                                        </p:attrNameLst>
                                      </p:cBhvr>
                                      <p:to>
                                        <p:strVal val="visible"/>
                                      </p:to>
                                    </p:set>
                                    <p:animEffect transition="in" filter="fade">
                                      <p:cBhvr>
                                        <p:cTn id="104" dur="500"/>
                                        <p:tgtEl>
                                          <p:spTgt spid="20"/>
                                        </p:tgtEl>
                                      </p:cBhvr>
                                    </p:animEffect>
                                  </p:childTnLst>
                                </p:cTn>
                              </p:par>
                            </p:childTnLst>
                          </p:cTn>
                        </p:par>
                      </p:childTnLst>
                    </p:cTn>
                  </p:par>
                  <p:par>
                    <p:cTn id="110" fill="hold">
                      <p:stCondLst>
                        <p:cond delay="0"/>
                      </p:stCondLst>
                      <p:childTnLst>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21"/>
                                        </p:tgtEl>
                                        <p:attrNameLst>
                                          <p:attrName>style.visibility</p:attrName>
                                        </p:attrNameLst>
                                      </p:cBhvr>
                                      <p:to>
                                        <p:strVal val="visible"/>
                                      </p:to>
                                    </p:set>
                                    <p:animEffect transition="in" filter="fade">
                                      <p:cBhvr>
                                        <p:cTn id="114" dur="500"/>
                                        <p:tgtEl>
                                          <p:spTgt spid="21"/>
                                        </p:tgtEl>
                                      </p:cBhvr>
                                    </p:animEffect>
                                  </p:childTnLst>
                                </p:cTn>
                              </p:par>
                            </p:childTnLst>
                          </p:cTn>
                        </p:par>
                      </p:childTnLst>
                    </p:cTn>
                  </p:par>
                  <p:par>
                    <p:cTn id="120" fill="hold">
                      <p:stCondLst>
                        <p:cond delay="0"/>
                      </p:stCondLst>
                      <p:childTnLst>
                        <p:par>
                          <p:cTn id="121" fill="hold">
                            <p:stCondLst>
                              <p:cond delay="0"/>
                            </p:stCondLst>
                            <p:childTnLst>
                              <p:par>
                                <p:cTn id="122" presetID="10" presetClass="entr" presetSubtype="0" fill="hold" grpId="0" nodeType="afterEffect">
                                  <p:stCondLst>
                                    <p:cond delay="0"/>
                                  </p:stCondLst>
                                  <p:childTnLst>
                                    <p:set>
                                      <p:cBhvr>
                                        <p:cTn id="123" dur="1" fill="hold">
                                          <p:stCondLst>
                                            <p:cond delay="0"/>
                                          </p:stCondLst>
                                        </p:cTn>
                                        <p:tgtEl>
                                          <p:spTgt spid="22"/>
                                        </p:tgtEl>
                                        <p:attrNameLst>
                                          <p:attrName>style.visibility</p:attrName>
                                        </p:attrNameLst>
                                      </p:cBhvr>
                                      <p:to>
                                        <p:strVal val="visible"/>
                                      </p:to>
                                    </p:set>
                                    <p:animEffect transition="in" filter="fade">
                                      <p:cBhvr>
                                        <p:cTn id="1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731520"/>
          </a:xfrm>
          <a:prstGeom prst="rect">
            <a:avLst/>
          </a:prstGeom>
          <a:noFill/>
        </p:spPr>
        <p:txBody>
          <a:bodyPr wrap="square" anchor="t">
            <a:spAutoFit/>
          </a:bodyPr>
          <a:lstStyle/>
          <a:p>
            <a:pPr algn="l"/>
            <a:r>
              <a:rPr sz="2800" b="1">
                <a:solidFill>
                  <a:srgbClr val="1F3A5F"/>
                </a:solidFill>
                <a:latin typeface="Calibri"/>
              </a:rPr>
              <a:t>Sales Performance by Representative</a:t>
            </a:r>
          </a:p>
        </p:txBody>
      </p:sp>
      <p:sp>
        <p:nvSpPr>
          <p:cNvPr id="3" name="Rectangle 2"/>
          <p:cNvSpPr/>
          <p:nvPr/>
        </p:nvSpPr>
        <p:spPr>
          <a:xfrm>
            <a:off x="658368" y="1280160"/>
            <a:ext cx="2743200" cy="8229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640080" y="1554480"/>
          <a:ext cx="5943600" cy="4480560"/>
        </p:xfrm>
        <a:graphic>
          <a:graphicData uri="http://schemas.openxmlformats.org/drawingml/2006/chart">
            <c:chart xmlns:c="http://schemas.openxmlformats.org/drawingml/2006/chart" r:id="rId2"/>
          </a:graphicData>
        </a:graphic>
      </p:graphicFrame>
      <p:graphicFrame>
        <p:nvGraphicFramePr>
          <p:cNvPr id="5" name="Table 4"/>
          <p:cNvGraphicFramePr>
            <a:graphicFrameLocks noGrp="1"/>
          </p:cNvGraphicFramePr>
          <p:nvPr/>
        </p:nvGraphicFramePr>
        <p:xfrm>
          <a:off x="6858000" y="1737360"/>
          <a:ext cx="4663440" cy="3657600"/>
        </p:xfrm>
        <a:graphic>
          <a:graphicData uri="http://schemas.openxmlformats.org/drawingml/2006/table">
            <a:tbl>
              <a:tblPr>
                <a:tableStyleId>{5C22544A-7EE6-4342-B048-85BDC9FD1C3A}</a:tableStyleId>
              </a:tblPr>
              <a:tblGrid>
                <a:gridCol w="1920240"/>
                <a:gridCol w="1463040"/>
                <a:gridCol w="1280160"/>
              </a:tblGrid>
              <a:tr h="609600">
                <a:tc>
                  <a:txBody>
                    <a:bodyPr wrap="square"/>
                    <a:lstStyle/>
                    <a:p>
                      <a:pPr algn="l"/>
                      <a:r>
                        <a:rPr sz="1300" b="1">
                          <a:solidFill>
                            <a:srgbClr val="FFFFFF"/>
                          </a:solidFill>
                          <a:latin typeface="Calibri"/>
                        </a:rPr>
                        <a:t>Rep</a:t>
                      </a:r>
                    </a:p>
                  </a:txBody>
                  <a:tcPr marL="73152" marR="73152" marT="27432" marB="27432" anchor="ctr">
                    <a:solidFill>
                      <a:srgbClr val="1F3A5F"/>
                    </a:solidFill>
                  </a:tcPr>
                </a:tc>
                <a:tc>
                  <a:txBody>
                    <a:bodyPr wrap="square"/>
                    <a:lstStyle/>
                    <a:p>
                      <a:pPr algn="ctr"/>
                      <a:r>
                        <a:rPr sz="1300" b="1">
                          <a:solidFill>
                            <a:srgbClr val="FFFFFF"/>
                          </a:solidFill>
                          <a:latin typeface="Calibri"/>
                        </a:rPr>
                        <a:t>Sales</a:t>
                      </a:r>
                    </a:p>
                  </a:txBody>
                  <a:tcPr marL="73152" marR="73152" marT="27432" marB="27432" anchor="ctr">
                    <a:solidFill>
                      <a:srgbClr val="1F3A5F"/>
                    </a:solidFill>
                  </a:tcPr>
                </a:tc>
                <a:tc>
                  <a:txBody>
                    <a:bodyPr wrap="square"/>
                    <a:lstStyle/>
                    <a:p>
                      <a:pPr algn="ctr"/>
                      <a:r>
                        <a:rPr sz="1300" b="1">
                          <a:solidFill>
                            <a:srgbClr val="FFFFFF"/>
                          </a:solidFill>
                          <a:latin typeface="Calibri"/>
                        </a:rPr>
                        <a:t>Comm</a:t>
                      </a:r>
                    </a:p>
                  </a:txBody>
                  <a:tcPr marL="73152" marR="73152" marT="27432" marB="27432" anchor="ctr">
                    <a:solidFill>
                      <a:srgbClr val="1F3A5F"/>
                    </a:solidFill>
                  </a:tcPr>
                </a:tc>
              </a:tr>
              <a:tr h="609600">
                <a:tc>
                  <a:txBody>
                    <a:bodyPr wrap="square"/>
                    <a:lstStyle/>
                    <a:p>
                      <a:pPr algn="l"/>
                      <a:r>
                        <a:rPr sz="1300" b="0">
                          <a:solidFill>
                            <a:srgbClr val="243240"/>
                          </a:solidFill>
                          <a:latin typeface="Calibri"/>
                        </a:rPr>
                        <a:t>Maria Lopez</a:t>
                      </a:r>
                    </a:p>
                  </a:txBody>
                  <a:tcPr marL="73152" marR="73152" marT="27432" marB="27432" anchor="ctr">
                    <a:solidFill>
                      <a:srgbClr val="EEF3F7"/>
                    </a:solidFill>
                  </a:tcPr>
                </a:tc>
                <a:tc>
                  <a:txBody>
                    <a:bodyPr wrap="square"/>
                    <a:lstStyle/>
                    <a:p>
                      <a:pPr algn="ctr"/>
                      <a:r>
                        <a:rPr sz="1300" b="0">
                          <a:solidFill>
                            <a:srgbClr val="243240"/>
                          </a:solidFill>
                          <a:latin typeface="Calibri"/>
                        </a:rPr>
                        <a:t>320,000</a:t>
                      </a:r>
                    </a:p>
                  </a:txBody>
                  <a:tcPr marL="73152" marR="73152" marT="27432" marB="27432" anchor="ctr">
                    <a:solidFill>
                      <a:srgbClr val="EEF3F7"/>
                    </a:solidFill>
                  </a:tcPr>
                </a:tc>
                <a:tc>
                  <a:txBody>
                    <a:bodyPr wrap="square"/>
                    <a:lstStyle/>
                    <a:p>
                      <a:pPr algn="ctr"/>
                      <a:r>
                        <a:rPr sz="1300" b="0">
                          <a:solidFill>
                            <a:srgbClr val="243240"/>
                          </a:solidFill>
                          <a:latin typeface="Calibri"/>
                        </a:rPr>
                        <a:t>16,000</a:t>
                      </a:r>
                    </a:p>
                  </a:txBody>
                  <a:tcPr marL="73152" marR="73152" marT="27432" marB="27432" anchor="ctr">
                    <a:solidFill>
                      <a:srgbClr val="EEF3F7"/>
                    </a:solidFill>
                  </a:tcPr>
                </a:tc>
              </a:tr>
              <a:tr h="609600">
                <a:tc>
                  <a:txBody>
                    <a:bodyPr wrap="square"/>
                    <a:lstStyle/>
                    <a:p>
                      <a:pPr algn="l"/>
                      <a:r>
                        <a:rPr sz="1300" b="0">
                          <a:solidFill>
                            <a:srgbClr val="243240"/>
                          </a:solidFill>
                          <a:latin typeface="Calibri"/>
                        </a:rPr>
                        <a:t>Tom Becker</a:t>
                      </a:r>
                    </a:p>
                  </a:txBody>
                  <a:tcPr marL="73152" marR="73152" marT="27432" marB="27432" anchor="ctr">
                    <a:solidFill>
                      <a:srgbClr val="FFFFFF"/>
                    </a:solidFill>
                  </a:tcPr>
                </a:tc>
                <a:tc>
                  <a:txBody>
                    <a:bodyPr wrap="square"/>
                    <a:lstStyle/>
                    <a:p>
                      <a:pPr algn="ctr"/>
                      <a:r>
                        <a:rPr sz="1300" b="0">
                          <a:solidFill>
                            <a:srgbClr val="243240"/>
                          </a:solidFill>
                          <a:latin typeface="Calibri"/>
                        </a:rPr>
                        <a:t>285,000</a:t>
                      </a:r>
                    </a:p>
                  </a:txBody>
                  <a:tcPr marL="73152" marR="73152" marT="27432" marB="27432" anchor="ctr">
                    <a:solidFill>
                      <a:srgbClr val="FFFFFF"/>
                    </a:solidFill>
                  </a:tcPr>
                </a:tc>
                <a:tc>
                  <a:txBody>
                    <a:bodyPr wrap="square"/>
                    <a:lstStyle/>
                    <a:p>
                      <a:pPr algn="ctr"/>
                      <a:r>
                        <a:rPr sz="1300" b="0">
                          <a:solidFill>
                            <a:srgbClr val="243240"/>
                          </a:solidFill>
                          <a:latin typeface="Calibri"/>
                        </a:rPr>
                        <a:t>14,250</a:t>
                      </a:r>
                    </a:p>
                  </a:txBody>
                  <a:tcPr marL="73152" marR="73152" marT="27432" marB="27432" anchor="ctr">
                    <a:solidFill>
                      <a:srgbClr val="FFFFFF"/>
                    </a:solidFill>
                  </a:tcPr>
                </a:tc>
              </a:tr>
              <a:tr h="609600">
                <a:tc>
                  <a:txBody>
                    <a:bodyPr wrap="square"/>
                    <a:lstStyle/>
                    <a:p>
                      <a:pPr algn="l"/>
                      <a:r>
                        <a:rPr sz="1300" b="0">
                          <a:solidFill>
                            <a:srgbClr val="243240"/>
                          </a:solidFill>
                          <a:latin typeface="Calibri"/>
                        </a:rPr>
                        <a:t>Rachel Green</a:t>
                      </a:r>
                    </a:p>
                  </a:txBody>
                  <a:tcPr marL="73152" marR="73152" marT="27432" marB="27432" anchor="ctr">
                    <a:solidFill>
                      <a:srgbClr val="EEF3F7"/>
                    </a:solidFill>
                  </a:tcPr>
                </a:tc>
                <a:tc>
                  <a:txBody>
                    <a:bodyPr wrap="square"/>
                    <a:lstStyle/>
                    <a:p>
                      <a:pPr algn="ctr"/>
                      <a:r>
                        <a:rPr sz="1300" b="0">
                          <a:solidFill>
                            <a:srgbClr val="243240"/>
                          </a:solidFill>
                          <a:latin typeface="Calibri"/>
                        </a:rPr>
                        <a:t>250,000</a:t>
                      </a:r>
                    </a:p>
                  </a:txBody>
                  <a:tcPr marL="73152" marR="73152" marT="27432" marB="27432" anchor="ctr">
                    <a:solidFill>
                      <a:srgbClr val="EEF3F7"/>
                    </a:solidFill>
                  </a:tcPr>
                </a:tc>
                <a:tc>
                  <a:txBody>
                    <a:bodyPr wrap="square"/>
                    <a:lstStyle/>
                    <a:p>
                      <a:pPr algn="ctr"/>
                      <a:r>
                        <a:rPr sz="1300" b="0">
                          <a:solidFill>
                            <a:srgbClr val="243240"/>
                          </a:solidFill>
                          <a:latin typeface="Calibri"/>
                        </a:rPr>
                        <a:t>12,500</a:t>
                      </a:r>
                    </a:p>
                  </a:txBody>
                  <a:tcPr marL="73152" marR="73152" marT="27432" marB="27432" anchor="ctr">
                    <a:solidFill>
                      <a:srgbClr val="EEF3F7"/>
                    </a:solidFill>
                  </a:tcPr>
                </a:tc>
              </a:tr>
              <a:tr h="609600">
                <a:tc>
                  <a:txBody>
                    <a:bodyPr wrap="square"/>
                    <a:lstStyle/>
                    <a:p>
                      <a:pPr algn="l"/>
                      <a:r>
                        <a:rPr sz="1300" b="0">
                          <a:solidFill>
                            <a:srgbClr val="243240"/>
                          </a:solidFill>
                          <a:latin typeface="Calibri"/>
                        </a:rPr>
                        <a:t>Brian Harper</a:t>
                      </a:r>
                    </a:p>
                  </a:txBody>
                  <a:tcPr marL="73152" marR="73152" marT="27432" marB="27432" anchor="ctr">
                    <a:solidFill>
                      <a:srgbClr val="FFFFFF"/>
                    </a:solidFill>
                  </a:tcPr>
                </a:tc>
                <a:tc>
                  <a:txBody>
                    <a:bodyPr wrap="square"/>
                    <a:lstStyle/>
                    <a:p>
                      <a:pPr algn="ctr"/>
                      <a:r>
                        <a:rPr sz="1300" b="0">
                          <a:solidFill>
                            <a:srgbClr val="243240"/>
                          </a:solidFill>
                          <a:latin typeface="Calibri"/>
                        </a:rPr>
                        <a:t>120,000</a:t>
                      </a:r>
                    </a:p>
                  </a:txBody>
                  <a:tcPr marL="73152" marR="73152" marT="27432" marB="27432" anchor="ctr">
                    <a:solidFill>
                      <a:srgbClr val="FFFFFF"/>
                    </a:solidFill>
                  </a:tcPr>
                </a:tc>
                <a:tc>
                  <a:txBody>
                    <a:bodyPr wrap="square"/>
                    <a:lstStyle/>
                    <a:p>
                      <a:pPr algn="ctr"/>
                      <a:r>
                        <a:rPr sz="1300" b="0">
                          <a:solidFill>
                            <a:srgbClr val="243240"/>
                          </a:solidFill>
                          <a:latin typeface="Calibri"/>
                        </a:rPr>
                        <a:t>18,825</a:t>
                      </a:r>
                    </a:p>
                  </a:txBody>
                  <a:tcPr marL="73152" marR="73152" marT="27432" marB="27432" anchor="ctr">
                    <a:solidFill>
                      <a:srgbClr val="FFFFFF"/>
                    </a:solidFill>
                  </a:tcPr>
                </a:tc>
              </a:tr>
              <a:tr h="609600">
                <a:tc>
                  <a:txBody>
                    <a:bodyPr wrap="square"/>
                    <a:lstStyle/>
                    <a:p>
                      <a:pPr algn="l"/>
                      <a:r>
                        <a:rPr sz="1300" b="0">
                          <a:solidFill>
                            <a:srgbClr val="243240"/>
                          </a:solidFill>
                          <a:latin typeface="Calibri"/>
                        </a:rPr>
                        <a:t>Total</a:t>
                      </a:r>
                    </a:p>
                  </a:txBody>
                  <a:tcPr marL="73152" marR="73152" marT="27432" marB="27432" anchor="ctr">
                    <a:solidFill>
                      <a:srgbClr val="EEF3F7"/>
                    </a:solidFill>
                  </a:tcPr>
                </a:tc>
                <a:tc>
                  <a:txBody>
                    <a:bodyPr wrap="square"/>
                    <a:lstStyle/>
                    <a:p>
                      <a:pPr algn="ctr"/>
                      <a:r>
                        <a:rPr sz="1300" b="0">
                          <a:solidFill>
                            <a:srgbClr val="243240"/>
                          </a:solidFill>
                          <a:latin typeface="Calibri"/>
                        </a:rPr>
                        <a:t>975,000</a:t>
                      </a:r>
                    </a:p>
                  </a:txBody>
                  <a:tcPr marL="73152" marR="73152" marT="27432" marB="27432" anchor="ctr">
                    <a:solidFill>
                      <a:srgbClr val="EEF3F7"/>
                    </a:solidFill>
                  </a:tcPr>
                </a:tc>
                <a:tc>
                  <a:txBody>
                    <a:bodyPr wrap="square"/>
                    <a:lstStyle/>
                    <a:p>
                      <a:pPr algn="ctr"/>
                      <a:r>
                        <a:rPr sz="1300" b="0">
                          <a:solidFill>
                            <a:srgbClr val="243240"/>
                          </a:solidFill>
                          <a:latin typeface="Calibri"/>
                        </a:rPr>
                        <a:t>61,575</a:t>
                      </a:r>
                    </a:p>
                  </a:txBody>
                  <a:tcPr marL="73152" marR="73152" marT="27432" marB="27432" anchor="ctr">
                    <a:solidFill>
                      <a:srgbClr val="EEF3F7"/>
                    </a:solidFill>
                  </a:tcPr>
                </a:tc>
              </a:tr>
            </a:tbl>
          </a:graphicData>
        </a:graphic>
      </p:graphicFrame>
      <p:sp>
        <p:nvSpPr>
          <p:cNvPr id="6" name="TextBox 5"/>
          <p:cNvSpPr txBox="1"/>
          <p:nvPr/>
        </p:nvSpPr>
        <p:spPr>
          <a:xfrm>
            <a:off x="6858000" y="5486400"/>
            <a:ext cx="4663440" cy="640080"/>
          </a:xfrm>
          <a:prstGeom prst="rect">
            <a:avLst/>
          </a:prstGeom>
          <a:noFill/>
        </p:spPr>
        <p:txBody>
          <a:bodyPr wrap="square" anchor="t">
            <a:spAutoFit/>
          </a:bodyPr>
          <a:lstStyle/>
          <a:p>
            <a:pPr algn="l"/>
            <a:r>
              <a:rPr sz="1200" b="0">
                <a:solidFill>
                  <a:srgbClr val="5A6B7A"/>
                </a:solidFill>
                <a:latin typeface="Calibri"/>
              </a:rPr>
              <a:t>Brian Harper earns a 1.5 percent override on rep sales, plus base commission.</a:t>
            </a:r>
          </a:p>
        </p:txBody>
      </p:sp>
    </p:spTree>
  </p:cSld>
  <p:transition spd="med">
    <p:push dir="l"/>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731520"/>
          </a:xfrm>
          <a:prstGeom prst="rect">
            <a:avLst/>
          </a:prstGeom>
          <a:noFill/>
        </p:spPr>
        <p:txBody>
          <a:bodyPr wrap="square" anchor="t">
            <a:spAutoFit/>
          </a:bodyPr>
          <a:lstStyle/>
          <a:p>
            <a:pPr algn="l"/>
            <a:r>
              <a:rPr sz="2800" b="1">
                <a:solidFill>
                  <a:srgbClr val="1F3A5F"/>
                </a:solidFill>
                <a:latin typeface="Calibri"/>
              </a:rPr>
              <a:t>Key Account Orders, Q4</a:t>
            </a:r>
          </a:p>
        </p:txBody>
      </p:sp>
      <p:sp>
        <p:nvSpPr>
          <p:cNvPr id="3" name="Rectangle 2"/>
          <p:cNvSpPr/>
          <p:nvPr/>
        </p:nvSpPr>
        <p:spPr>
          <a:xfrm>
            <a:off x="658368" y="1280160"/>
            <a:ext cx="2743200" cy="8229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640080" y="1554480"/>
          <a:ext cx="7315200" cy="4572000"/>
        </p:xfrm>
        <a:graphic>
          <a:graphicData uri="http://schemas.openxmlformats.org/drawingml/2006/chart">
            <c:chart xmlns:c="http://schemas.openxmlformats.org/drawingml/2006/chart" r:id="rId2"/>
          </a:graphicData>
        </a:graphic>
      </p:graphicFrame>
      <p:sp>
        <p:nvSpPr>
          <p:cNvPr id="5" name="Rectangle 4"/>
          <p:cNvSpPr/>
          <p:nvPr/>
        </p:nvSpPr>
        <p:spPr>
          <a:xfrm>
            <a:off x="8321040" y="1737360"/>
            <a:ext cx="3200400" cy="393192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0" y="1920240"/>
            <a:ext cx="2834640" cy="548640"/>
          </a:xfrm>
          <a:prstGeom prst="rect">
            <a:avLst/>
          </a:prstGeom>
          <a:noFill/>
        </p:spPr>
        <p:txBody>
          <a:bodyPr wrap="square" anchor="t">
            <a:spAutoFit/>
          </a:bodyPr>
          <a:lstStyle/>
          <a:p>
            <a:pPr algn="l"/>
            <a:r>
              <a:rPr sz="1400" b="1">
                <a:solidFill>
                  <a:srgbClr val="1F3A5F"/>
                </a:solidFill>
                <a:latin typeface="Calibri"/>
              </a:rPr>
              <a:t>Headline</a:t>
            </a:r>
          </a:p>
        </p:txBody>
      </p:sp>
      <p:sp>
        <p:nvSpPr>
          <p:cNvPr id="7" name="TextBox 6"/>
          <p:cNvSpPr txBox="1"/>
          <p:nvPr/>
        </p:nvSpPr>
        <p:spPr>
          <a:xfrm>
            <a:off x="8503920" y="2560320"/>
            <a:ext cx="2834640" cy="2926080"/>
          </a:xfrm>
          <a:prstGeom prst="rect">
            <a:avLst/>
          </a:prstGeom>
          <a:noFill/>
        </p:spPr>
        <p:txBody>
          <a:bodyPr wrap="square" anchor="t">
            <a:spAutoFit/>
          </a:bodyPr>
          <a:lstStyle/>
          <a:p>
            <a:pPr algn="l">
              <a:lnSpc>
                <a:spcPct val="112000"/>
              </a:lnSpc>
            </a:pPr>
            <a:r>
              <a:rPr sz="1300" b="0">
                <a:solidFill>
                  <a:srgbClr val="243240"/>
                </a:solidFill>
                <a:latin typeface="Calibri"/>
              </a:rPr>
              <a:t>Le Jardin Dore remains the largest single account at 30,700 dollars across the quarter. Six accounts delivered 89,720 dollars in tracked orders.</a:t>
            </a:r>
          </a:p>
        </p:txBody>
      </p:sp>
    </p:spTree>
  </p:cSld>
  <p:transition spd="med">
    <p:cover dir="d"/>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731520"/>
          </a:xfrm>
          <a:prstGeom prst="rect">
            <a:avLst/>
          </a:prstGeom>
          <a:noFill/>
        </p:spPr>
        <p:txBody>
          <a:bodyPr wrap="square" anchor="t">
            <a:spAutoFit/>
          </a:bodyPr>
          <a:lstStyle/>
          <a:p>
            <a:pPr algn="l"/>
            <a:r>
              <a:rPr sz="2800" b="1">
                <a:solidFill>
                  <a:srgbClr val="1F3A5F"/>
                </a:solidFill>
                <a:latin typeface="Calibri"/>
              </a:rPr>
              <a:t>Portfolio Mix and Margin</a:t>
            </a:r>
          </a:p>
        </p:txBody>
      </p:sp>
      <p:sp>
        <p:nvSpPr>
          <p:cNvPr id="3" name="Rectangle 2"/>
          <p:cNvSpPr/>
          <p:nvPr/>
        </p:nvSpPr>
        <p:spPr>
          <a:xfrm>
            <a:off x="658368" y="1280160"/>
            <a:ext cx="2743200" cy="8229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640080" y="1554480"/>
          <a:ext cx="5486400" cy="4572000"/>
        </p:xfrm>
        <a:graphic>
          <a:graphicData uri="http://schemas.openxmlformats.org/drawingml/2006/chart">
            <c:chart xmlns:c="http://schemas.openxmlformats.org/drawingml/2006/chart" r:id="rId2"/>
          </a:graphicData>
        </a:graphic>
      </p:graphicFrame>
      <p:sp>
        <p:nvSpPr>
          <p:cNvPr id="5" name="TextBox 4"/>
          <p:cNvSpPr txBox="1"/>
          <p:nvPr/>
        </p:nvSpPr>
        <p:spPr>
          <a:xfrm>
            <a:off x="6492240" y="1645920"/>
            <a:ext cx="4937760" cy="548640"/>
          </a:xfrm>
          <a:prstGeom prst="rect">
            <a:avLst/>
          </a:prstGeom>
          <a:noFill/>
        </p:spPr>
        <p:txBody>
          <a:bodyPr wrap="square" anchor="t">
            <a:spAutoFit/>
          </a:bodyPr>
          <a:lstStyle/>
          <a:p>
            <a:pPr algn="l"/>
            <a:r>
              <a:rPr sz="1400" b="1">
                <a:solidFill>
                  <a:srgbClr val="1F3A5F"/>
                </a:solidFill>
                <a:latin typeface="Calibri"/>
              </a:rPr>
              <a:t>Average gross margin by wine</a:t>
            </a:r>
          </a:p>
        </p:txBody>
      </p:sp>
      <p:graphicFrame>
        <p:nvGraphicFramePr>
          <p:cNvPr id="6" name="Table 5"/>
          <p:cNvGraphicFramePr>
            <a:graphicFrameLocks noGrp="1"/>
          </p:cNvGraphicFramePr>
          <p:nvPr/>
        </p:nvGraphicFramePr>
        <p:xfrm>
          <a:off x="6492240" y="2286000"/>
          <a:ext cx="4937760" cy="3108960"/>
        </p:xfrm>
        <a:graphic>
          <a:graphicData uri="http://schemas.openxmlformats.org/drawingml/2006/table">
            <a:tbl>
              <a:tblPr>
                <a:tableStyleId>{5C22544A-7EE6-4342-B048-85BDC9FD1C3A}</a:tableStyleId>
              </a:tblPr>
              <a:tblGrid>
                <a:gridCol w="3291840"/>
                <a:gridCol w="1645920"/>
              </a:tblGrid>
              <a:tr h="518160">
                <a:tc>
                  <a:txBody>
                    <a:bodyPr wrap="square"/>
                    <a:lstStyle/>
                    <a:p>
                      <a:pPr algn="l"/>
                      <a:r>
                        <a:rPr sz="1300" b="1">
                          <a:solidFill>
                            <a:srgbClr val="FFFFFF"/>
                          </a:solidFill>
                          <a:latin typeface="Calibri"/>
                        </a:rPr>
                        <a:t>Wine</a:t>
                      </a:r>
                    </a:p>
                  </a:txBody>
                  <a:tcPr marL="73152" marR="73152" marT="27432" marB="27432" anchor="ctr">
                    <a:solidFill>
                      <a:srgbClr val="1F3A5F"/>
                    </a:solidFill>
                  </a:tcPr>
                </a:tc>
                <a:tc>
                  <a:txBody>
                    <a:bodyPr wrap="square"/>
                    <a:lstStyle/>
                    <a:p>
                      <a:pPr algn="ctr"/>
                      <a:r>
                        <a:rPr sz="1300" b="1">
                          <a:solidFill>
                            <a:srgbClr val="FFFFFF"/>
                          </a:solidFill>
                          <a:latin typeface="Calibri"/>
                        </a:rPr>
                        <a:t>Margin</a:t>
                      </a:r>
                    </a:p>
                  </a:txBody>
                  <a:tcPr marL="73152" marR="73152" marT="27432" marB="27432" anchor="ctr">
                    <a:solidFill>
                      <a:srgbClr val="1F3A5F"/>
                    </a:solidFill>
                  </a:tcPr>
                </a:tc>
              </a:tr>
              <a:tr h="518160">
                <a:tc>
                  <a:txBody>
                    <a:bodyPr wrap="square"/>
                    <a:lstStyle/>
                    <a:p>
                      <a:pPr algn="l"/>
                      <a:r>
                        <a:rPr sz="1300" b="0">
                          <a:solidFill>
                            <a:srgbClr val="243240"/>
                          </a:solidFill>
                          <a:latin typeface="Calibri"/>
                        </a:rPr>
                        <a:t>Coastal Oak Sauv Blanc</a:t>
                      </a:r>
                    </a:p>
                  </a:txBody>
                  <a:tcPr marL="73152" marR="73152" marT="27432" marB="27432" anchor="ctr">
                    <a:solidFill>
                      <a:srgbClr val="EEF3F7"/>
                    </a:solidFill>
                  </a:tcPr>
                </a:tc>
                <a:tc>
                  <a:txBody>
                    <a:bodyPr wrap="square"/>
                    <a:lstStyle/>
                    <a:p>
                      <a:pPr algn="ctr"/>
                      <a:r>
                        <a:rPr sz="1300" b="0">
                          <a:solidFill>
                            <a:srgbClr val="243240"/>
                          </a:solidFill>
                          <a:latin typeface="Calibri"/>
                        </a:rPr>
                        <a:t>58.8%</a:t>
                      </a:r>
                    </a:p>
                  </a:txBody>
                  <a:tcPr marL="73152" marR="73152" marT="27432" marB="27432" anchor="ctr">
                    <a:solidFill>
                      <a:srgbClr val="EEF3F7"/>
                    </a:solidFill>
                  </a:tcPr>
                </a:tc>
              </a:tr>
              <a:tr h="518160">
                <a:tc>
                  <a:txBody>
                    <a:bodyPr wrap="square"/>
                    <a:lstStyle/>
                    <a:p>
                      <a:pPr algn="l"/>
                      <a:r>
                        <a:rPr sz="1300" b="0">
                          <a:solidFill>
                            <a:srgbClr val="243240"/>
                          </a:solidFill>
                          <a:latin typeface="Calibri"/>
                        </a:rPr>
                        <a:t>Vista Loma Zinfandel</a:t>
                      </a:r>
                    </a:p>
                  </a:txBody>
                  <a:tcPr marL="73152" marR="73152" marT="27432" marB="27432" anchor="ctr">
                    <a:solidFill>
                      <a:srgbClr val="FFFFFF"/>
                    </a:solidFill>
                  </a:tcPr>
                </a:tc>
                <a:tc>
                  <a:txBody>
                    <a:bodyPr wrap="square"/>
                    <a:lstStyle/>
                    <a:p>
                      <a:pPr algn="ctr"/>
                      <a:r>
                        <a:rPr sz="1300" b="0">
                          <a:solidFill>
                            <a:srgbClr val="243240"/>
                          </a:solidFill>
                          <a:latin typeface="Calibri"/>
                        </a:rPr>
                        <a:t>58.6%</a:t>
                      </a:r>
                    </a:p>
                  </a:txBody>
                  <a:tcPr marL="73152" marR="73152" marT="27432" marB="27432" anchor="ctr">
                    <a:solidFill>
                      <a:srgbClr val="FFFFFF"/>
                    </a:solidFill>
                  </a:tcPr>
                </a:tc>
              </a:tr>
              <a:tr h="518160">
                <a:tc>
                  <a:txBody>
                    <a:bodyPr wrap="square"/>
                    <a:lstStyle/>
                    <a:p>
                      <a:pPr algn="l"/>
                      <a:r>
                        <a:rPr sz="1300" b="0">
                          <a:solidFill>
                            <a:srgbClr val="243240"/>
                          </a:solidFill>
                          <a:latin typeface="Calibri"/>
                        </a:rPr>
                        <a:t>Paso Sierra Syrah</a:t>
                      </a:r>
                    </a:p>
                  </a:txBody>
                  <a:tcPr marL="73152" marR="73152" marT="27432" marB="27432" anchor="ctr">
                    <a:solidFill>
                      <a:srgbClr val="EEF3F7"/>
                    </a:solidFill>
                  </a:tcPr>
                </a:tc>
                <a:tc>
                  <a:txBody>
                    <a:bodyPr wrap="square"/>
                    <a:lstStyle/>
                    <a:p>
                      <a:pPr algn="ctr"/>
                      <a:r>
                        <a:rPr sz="1300" b="0">
                          <a:solidFill>
                            <a:srgbClr val="243240"/>
                          </a:solidFill>
                          <a:latin typeface="Calibri"/>
                        </a:rPr>
                        <a:t>57.7%</a:t>
                      </a:r>
                    </a:p>
                  </a:txBody>
                  <a:tcPr marL="73152" marR="73152" marT="27432" marB="27432" anchor="ctr">
                    <a:solidFill>
                      <a:srgbClr val="EEF3F7"/>
                    </a:solidFill>
                  </a:tcPr>
                </a:tc>
              </a:tr>
              <a:tr h="518160">
                <a:tc>
                  <a:txBody>
                    <a:bodyPr wrap="square"/>
                    <a:lstStyle/>
                    <a:p>
                      <a:pPr algn="l"/>
                      <a:r>
                        <a:rPr sz="1300" b="0">
                          <a:solidFill>
                            <a:srgbClr val="243240"/>
                          </a:solidFill>
                          <a:latin typeface="Calibri"/>
                        </a:rPr>
                        <a:t>Stonecreek Chardonnay</a:t>
                      </a:r>
                    </a:p>
                  </a:txBody>
                  <a:tcPr marL="73152" marR="73152" marT="27432" marB="27432" anchor="ctr">
                    <a:solidFill>
                      <a:srgbClr val="FFFFFF"/>
                    </a:solidFill>
                  </a:tcPr>
                </a:tc>
                <a:tc>
                  <a:txBody>
                    <a:bodyPr wrap="square"/>
                    <a:lstStyle/>
                    <a:p>
                      <a:pPr algn="ctr"/>
                      <a:r>
                        <a:rPr sz="1300" b="0">
                          <a:solidFill>
                            <a:srgbClr val="243240"/>
                          </a:solidFill>
                          <a:latin typeface="Calibri"/>
                        </a:rPr>
                        <a:t>56.8%</a:t>
                      </a:r>
                    </a:p>
                  </a:txBody>
                  <a:tcPr marL="73152" marR="73152" marT="27432" marB="27432" anchor="ctr">
                    <a:solidFill>
                      <a:srgbClr val="FFFFFF"/>
                    </a:solidFill>
                  </a:tcPr>
                </a:tc>
              </a:tr>
              <a:tr h="518160">
                <a:tc>
                  <a:txBody>
                    <a:bodyPr wrap="square"/>
                    <a:lstStyle/>
                    <a:p>
                      <a:pPr algn="l"/>
                      <a:r>
                        <a:rPr sz="1300" b="0">
                          <a:solidFill>
                            <a:srgbClr val="243240"/>
                          </a:solidFill>
                          <a:latin typeface="Calibri"/>
                        </a:rPr>
                        <a:t>Whitfield Estate Cabernet</a:t>
                      </a:r>
                    </a:p>
                  </a:txBody>
                  <a:tcPr marL="73152" marR="73152" marT="27432" marB="27432" anchor="ctr">
                    <a:solidFill>
                      <a:srgbClr val="EEF3F7"/>
                    </a:solidFill>
                  </a:tcPr>
                </a:tc>
                <a:tc>
                  <a:txBody>
                    <a:bodyPr wrap="square"/>
                    <a:lstStyle/>
                    <a:p>
                      <a:pPr algn="ctr"/>
                      <a:r>
                        <a:rPr sz="1300" b="0">
                          <a:solidFill>
                            <a:srgbClr val="243240"/>
                          </a:solidFill>
                          <a:latin typeface="Calibri"/>
                        </a:rPr>
                        <a:t>52.6%</a:t>
                      </a:r>
                    </a:p>
                  </a:txBody>
                  <a:tcPr marL="73152" marR="73152" marT="27432" marB="27432" anchor="ctr">
                    <a:solidFill>
                      <a:srgbClr val="EEF3F7"/>
                    </a:solidFill>
                  </a:tcPr>
                </a:tc>
              </a:tr>
            </a:tbl>
          </a:graphicData>
        </a:graphic>
      </p:graphicFrame>
    </p:spTree>
  </p:cSld>
  <p:transition spd="med">
    <p:wipe dir="d"/>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731520"/>
          </a:xfrm>
          <a:prstGeom prst="rect">
            <a:avLst/>
          </a:prstGeom>
          <a:noFill/>
        </p:spPr>
        <p:txBody>
          <a:bodyPr wrap="square" anchor="t">
            <a:spAutoFit/>
          </a:bodyPr>
          <a:lstStyle/>
          <a:p>
            <a:pPr algn="l"/>
            <a:r>
              <a:rPr sz="2800" b="1">
                <a:solidFill>
                  <a:srgbClr val="FFFFFF"/>
                </a:solidFill>
                <a:latin typeface="Calibri"/>
              </a:rPr>
              <a:t>Outlook into 2026</a:t>
            </a:r>
          </a:p>
        </p:txBody>
      </p:sp>
      <p:pic>
        <p:nvPicPr>
          <p:cNvPr id="4" name="Picture 3" descr="vineyard.jpg"/>
          <p:cNvPicPr>
            <a:picLocks noChangeAspect="1"/>
          </p:cNvPicPr>
          <p:nvPr/>
        </p:nvPicPr>
        <p:blipFill>
          <a:blip r:embed="rId2"/>
          <a:srcRect l="20383" r="20383"/>
          <a:stretch>
            <a:fillRect/>
          </a:stretch>
        </p:blipFill>
        <p:spPr>
          <a:xfrm>
            <a:off x="7315200" y="1371600"/>
            <a:ext cx="4876495" cy="5486400"/>
          </a:xfrm>
          <a:prstGeom prst="rect">
            <a:avLst/>
          </a:prstGeom>
        </p:spPr>
      </p:pic>
      <p:sp>
        <p:nvSpPr>
          <p:cNvPr id="5" name="Rectangle 4"/>
          <p:cNvSpPr/>
          <p:nvPr/>
        </p:nvSpPr>
        <p:spPr>
          <a:xfrm>
            <a:off x="7205472" y="1371600"/>
            <a:ext cx="109728" cy="54864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6309360" cy="4206240"/>
          </a:xfrm>
          <a:prstGeom prst="rect">
            <a:avLst/>
          </a:prstGeom>
          <a:noFill/>
        </p:spPr>
        <p:txBody>
          <a:bodyPr wrap="square">
            <a:spAutoFit/>
          </a:bodyPr>
          <a:lstStyle/>
          <a:p>
            <a:pPr>
              <a:spcAft>
                <a:spcPts val="1400"/>
              </a:spcAft>
            </a:pPr>
            <a:r>
              <a:rPr sz="1600" b="0">
                <a:solidFill>
                  <a:srgbClr val="243240"/>
                </a:solidFill>
                <a:latin typeface="Calibri"/>
              </a:rPr>
              <a:t>Launch the Italian program after legal review and the October trip</a:t>
            </a:r>
          </a:p>
          <a:p>
            <a:pPr>
              <a:spcAft>
                <a:spcPts val="1400"/>
              </a:spcAft>
            </a:pPr>
            <a:r>
              <a:rPr sz="1600" b="0">
                <a:solidFill>
                  <a:srgbClr val="243240"/>
                </a:solidFill>
                <a:latin typeface="Calibri"/>
              </a:rPr>
              <a:t>Hold the holiday client gift shipments deadline of December 15, 2026</a:t>
            </a:r>
          </a:p>
          <a:p>
            <a:pPr>
              <a:spcAft>
                <a:spcPts val="1400"/>
              </a:spcAft>
            </a:pPr>
            <a:r>
              <a:rPr sz="1600" b="0">
                <a:solidFill>
                  <a:srgbClr val="243240"/>
                </a:solidFill>
                <a:latin typeface="Calibri"/>
              </a:rPr>
              <a:t>Watch European tariff exposure on incoming wine duties</a:t>
            </a:r>
          </a:p>
          <a:p>
            <a:pPr>
              <a:spcAft>
                <a:spcPts val="1400"/>
              </a:spcAft>
            </a:pPr>
            <a:r>
              <a:rPr sz="1600" b="0">
                <a:solidFill>
                  <a:srgbClr val="243240"/>
                </a:solidFill>
                <a:latin typeface="Calibri"/>
              </a:rPr>
              <a:t>Sustain 12 percent growth on the base portfolio</a:t>
            </a:r>
          </a:p>
          <a:p>
            <a:pPr>
              <a:spcAft>
                <a:spcPts val="1400"/>
              </a:spcAft>
            </a:pPr>
            <a:r>
              <a:rPr sz="1600" b="0">
                <a:solidFill>
                  <a:srgbClr val="243240"/>
                </a:solidFill>
                <a:latin typeface="Calibri"/>
              </a:rPr>
              <a:t>Convert prospect restaurant accounts in the pipeline</a:t>
            </a:r>
          </a:p>
        </p:txBody>
      </p:sp>
    </p:spTree>
  </p:cSld>
  <p:transition spd="med">
    <p:push dir="u"/>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