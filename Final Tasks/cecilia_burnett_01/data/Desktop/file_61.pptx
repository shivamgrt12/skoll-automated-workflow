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techs</c:v>
                </c:pt>
              </c:strCache>
            </c:strRef>
          </c:tx>
          <c:spPr>
            <a:solidFill>
              <a:srgbClr val="B9A3E3"/>
            </a:solidFill>
          </c:spPr>
          <c:cat>
            <c:strRef>
              <c:f>Sheet1!$A$2:$A$4</c:f>
              <c:strCache>
                <c:ptCount val="3"/>
                <c:pt idx="0">
                  <c:v>Main Street</c:v>
                </c:pt>
                <c:pt idx="1">
                  <c:v>Orchard Plaza</c:v>
                </c:pt>
                <c:pt idx="2">
                  <c:v>Wheaton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9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for peak</c:v>
                </c:pt>
              </c:strCache>
            </c:strRef>
          </c:tx>
          <c:spPr>
            <a:solidFill>
              <a:srgbClr val="E6C25A"/>
            </a:solidFill>
          </c:spPr>
          <c:cat>
            <c:strRef>
              <c:f>Sheet1!$A$2:$A$4</c:f>
              <c:strCache>
                <c:ptCount val="3"/>
                <c:pt idx="0">
                  <c:v>Main Street</c:v>
                </c:pt>
                <c:pt idx="1">
                  <c:v>Orchard Plaza</c:v>
                </c:pt>
                <c:pt idx="2">
                  <c:v>Wheaton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</c:v>
                </c:pt>
                <c:pt idx="1">
                  <c:v>10</c:v>
                </c:pt>
                <c:pt idx="2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2EDF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2EDF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2EDF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2EDFA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34256" cy="6858000"/>
          </a:xfrm>
          <a:prstGeom prst="rect">
            <a:avLst/>
          </a:prstGeom>
          <a:solidFill>
            <a:srgbClr val="3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9A3E3"/>
                </a:solidFill>
                <a:latin typeface="Calibri"/>
              </a:rPr>
              <a:t>SEASONAL READINESS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7498079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200" b="1">
                <a:solidFill>
                  <a:srgbClr val="F2EDFA"/>
                </a:solidFill>
                <a:latin typeface="Calibri"/>
              </a:rPr>
              <a:t>Prom and Spring Peak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9D8FBB"/>
                </a:solidFill>
                <a:latin typeface="Calibri"/>
              </a:rPr>
              <a:t>Getting all three locations ready for the 2027 spring rush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2926080" cy="502920"/>
          </a:xfrm>
          <a:prstGeom prst="roundRect">
            <a:avLst/>
          </a:prstGeom>
          <a:solidFill>
            <a:srgbClr val="3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D8C8F0"/>
                </a:solidFill>
                <a:latin typeface="Calibri"/>
              </a:rPr>
              <a:t>Planning review: November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77440"/>
            <a:ext cx="3566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6C25A"/>
                </a:solidFill>
                <a:latin typeface="Calibri"/>
              </a:rPr>
              <a:t>Peak window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F2EDFA"/>
                </a:solidFill>
                <a:latin typeface="Calibri"/>
              </a:rPr>
              <a:t>April to May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FD4E2"/>
                </a:solidFill>
                <a:latin typeface="Calibri"/>
              </a:rPr>
              <a:t>Q2 is the strongest quarter of the year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109728"/>
          </a:xfrm>
          <a:prstGeom prst="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EDFA"/>
                </a:solidFill>
                <a:latin typeface="Calibri"/>
              </a:rPr>
              <a:t>Why the Spring Peak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83280" cy="1645920"/>
          </a:xfrm>
          <a:prstGeom prst="roundRect">
            <a:avLst/>
          </a:prstGeom>
          <a:solidFill>
            <a:srgbClr val="3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B9A3E3"/>
                </a:solidFill>
                <a:latin typeface="Calibri"/>
              </a:rPr>
              <a:t>$334,500</a:t>
            </a:r>
          </a:p>
          <a:p>
            <a:pPr algn="ctr"/>
            <a:r>
              <a:rPr sz="1200">
                <a:solidFill>
                  <a:srgbClr val="9D8FBB"/>
                </a:solidFill>
                <a:latin typeface="Calibri"/>
              </a:rPr>
              <a:t>Q2 revenue, prior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1645920"/>
          </a:xfrm>
          <a:prstGeom prst="roundRect">
            <a:avLst/>
          </a:prstGeom>
          <a:solidFill>
            <a:srgbClr val="3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D8C8F0"/>
                </a:solidFill>
                <a:latin typeface="Calibri"/>
              </a:rPr>
              <a:t>Main St</a:t>
            </a:r>
          </a:p>
          <a:p>
            <a:pPr algn="ctr"/>
            <a:r>
              <a:rPr sz="1200">
                <a:solidFill>
                  <a:srgbClr val="9D8FBB"/>
                </a:solidFill>
                <a:latin typeface="Calibri"/>
              </a:rPr>
              <a:t>Books out first, every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011680"/>
            <a:ext cx="3383280" cy="1645920"/>
          </a:xfrm>
          <a:prstGeom prst="roundRect">
            <a:avLst/>
          </a:prstGeom>
          <a:solidFill>
            <a:srgbClr val="3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E6C25A"/>
                </a:solidFill>
                <a:latin typeface="Calibri"/>
              </a:rPr>
              <a:t>3 tiers</a:t>
            </a:r>
          </a:p>
          <a:p>
            <a:pPr algn="ctr"/>
            <a:r>
              <a:rPr sz="1200">
                <a:solidFill>
                  <a:srgbClr val="9D8FBB"/>
                </a:solidFill>
                <a:latin typeface="Calibri"/>
              </a:rPr>
              <a:t>Prom packages, $75 to $99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F2EDFA"/>
                </a:solidFill>
                <a:latin typeface="Calibri"/>
              </a:rPr>
              <a:t>Prom weekends fill fast, especially at the Main Street flagship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2EDFA"/>
                </a:solidFill>
                <a:latin typeface="Calibri"/>
              </a:rPr>
              <a:t>Clients bring a dress color or photo and expect a match, so polish stock matters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2EDFA"/>
                </a:solidFill>
                <a:latin typeface="Calibri"/>
              </a:rPr>
              <a:t>Lash extensions at Wheaton add an upsell if the esthetics launch lands in time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109728"/>
          </a:xfrm>
          <a:prstGeom prst="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EDFA"/>
                </a:solidFill>
                <a:latin typeface="Calibri"/>
              </a:rPr>
              <a:t>The Prom Package Menu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3383280" cy="3566160"/>
          </a:xfrm>
          <a:prstGeom prst="rect">
            <a:avLst/>
          </a:prstGeom>
          <a:solidFill>
            <a:srgbClr val="3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383280" cy="146304"/>
          </a:xfrm>
          <a:prstGeom prst="rect">
            <a:avLst/>
          </a:prstGeom>
          <a:solidFill>
            <a:srgbClr val="D8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28346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D8C8F0"/>
                </a:solidFill>
                <a:latin typeface="Calibri"/>
              </a:rPr>
              <a:t>The Classic</a:t>
            </a:r>
          </a:p>
          <a:p>
            <a:pPr algn="l">
              <a:spcAft>
                <a:spcPts val="1000"/>
              </a:spcAft>
            </a:pPr>
            <a:r>
              <a:rPr sz="3000" b="1">
                <a:solidFill>
                  <a:srgbClr val="F2EDFA"/>
                </a:solidFill>
                <a:latin typeface="Calibri"/>
              </a:rPr>
              <a:t>$75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CFD4E2"/>
                </a:solidFill>
                <a:latin typeface="Calibri"/>
              </a:rPr>
              <a:t>Gel manicure and express pedicure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920240"/>
            <a:ext cx="3383280" cy="3566160"/>
          </a:xfrm>
          <a:prstGeom prst="rect">
            <a:avLst/>
          </a:prstGeom>
          <a:solidFill>
            <a:srgbClr val="3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146304"/>
          </a:xfrm>
          <a:prstGeom prst="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B9A3E3"/>
                </a:solidFill>
                <a:latin typeface="Calibri"/>
              </a:rPr>
              <a:t>The Showstopper</a:t>
            </a:r>
          </a:p>
          <a:p>
            <a:pPr algn="l">
              <a:spcAft>
                <a:spcPts val="1000"/>
              </a:spcAft>
            </a:pPr>
            <a:r>
              <a:rPr sz="3000" b="1">
                <a:solidFill>
                  <a:srgbClr val="F2EDFA"/>
                </a:solidFill>
                <a:latin typeface="Calibri"/>
              </a:rPr>
              <a:t>$95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CFD4E2"/>
                </a:solidFill>
                <a:latin typeface="Calibri"/>
              </a:rPr>
              <a:t>Full set acrylic with custom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920240"/>
            <a:ext cx="3383280" cy="3566160"/>
          </a:xfrm>
          <a:prstGeom prst="rect">
            <a:avLst/>
          </a:prstGeom>
          <a:solidFill>
            <a:srgbClr val="3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920240"/>
            <a:ext cx="3383280" cy="146304"/>
          </a:xfrm>
          <a:prstGeom prst="rect">
            <a:avLst/>
          </a:prstGeom>
          <a:solidFill>
            <a:srgbClr val="E6C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2286000"/>
            <a:ext cx="28346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E6C25A"/>
                </a:solidFill>
                <a:latin typeface="Calibri"/>
              </a:rPr>
              <a:t>The Glam</a:t>
            </a:r>
          </a:p>
          <a:p>
            <a:pPr algn="l">
              <a:spcAft>
                <a:spcPts val="1000"/>
              </a:spcAft>
            </a:pPr>
            <a:r>
              <a:rPr sz="3000" b="1">
                <a:solidFill>
                  <a:srgbClr val="F2EDFA"/>
                </a:solidFill>
                <a:latin typeface="Calibri"/>
              </a:rPr>
              <a:t>$99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CFD4E2"/>
                </a:solidFill>
                <a:latin typeface="Calibri"/>
              </a:rPr>
              <a:t>Dip powder, art, and paraffin treatment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60720"/>
            <a:ext cx="6217920" cy="548640"/>
          </a:xfrm>
          <a:prstGeom prst="roundRect">
            <a:avLst/>
          </a:prstGeom>
          <a:solidFill>
            <a:srgbClr val="3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D8C8F0"/>
                </a:solidFill>
                <a:latin typeface="Calibri"/>
              </a:rPr>
              <a:t>Groups of four or more save 10 percent per person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109728"/>
          </a:xfrm>
          <a:prstGeom prst="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EDFA"/>
                </a:solidFill>
                <a:latin typeface="Calibri"/>
              </a:rPr>
              <a:t>Staffing for the Rush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2011680"/>
            <a:ext cx="3657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E6C25A"/>
                </a:solidFill>
                <a:latin typeface="Calibri"/>
              </a:rPr>
              <a:t>The gap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2EDFA"/>
                </a:solidFill>
                <a:latin typeface="Calibri"/>
              </a:rPr>
              <a:t>Two Orchard Plaza techs left recently. Interviews underway to fill before April.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9D8FBB"/>
                </a:solidFill>
                <a:latin typeface="Calibri"/>
              </a:rPr>
              <a:t>Hold weekend hours steady. Do not cut staff to absorb the rent increase.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9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EDFA"/>
                </a:solidFill>
                <a:latin typeface="Calibri"/>
              </a:rPr>
              <a:t>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F2EDFA"/>
                </a:solidFill>
                <a:latin typeface="Calibri"/>
              </a:rPr>
              <a:t>Order extra polish, gel, and chrome stock by February, ahead of the March booking open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F2EDFA"/>
                </a:solidFill>
                <a:latin typeface="Calibri"/>
              </a:rPr>
              <a:t>Confirm prom-package pricing and group discount across all three desks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F2EDFA"/>
                </a:solidFill>
                <a:latin typeface="Calibri"/>
              </a:rPr>
              <a:t>Fill the two open Orchard Plaza chairs and set the weekend schedule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F2EDFA"/>
                </a:solidFill>
                <a:latin typeface="Calibri"/>
              </a:rPr>
              <a:t>Push early booking, especially Main Street, through the design board and front desk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F2EDFA"/>
                </a:solidFill>
                <a:latin typeface="Calibri"/>
              </a:rPr>
              <a:t>Decide whether Wheaton lash is ready to feature as a prom upsell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