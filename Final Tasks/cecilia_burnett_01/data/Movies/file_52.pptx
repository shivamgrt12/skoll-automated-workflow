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Setup cost (USD)</c:v>
                </c:pt>
              </c:strCache>
            </c:strRef>
          </c:tx>
          <c:spPr>
            <a:solidFill>
              <a:srgbClr val="D8B25A"/>
            </a:solidFill>
          </c:spPr>
          <c:cat>
            <c:strRef>
              <c:f>Sheet1!$A$2:$A$4</c:f>
              <c:strCache>
                <c:ptCount val="3"/>
                <c:pt idx="0">
                  <c:v>Waxing station</c:v>
                </c:pt>
                <c:pt idx="1">
                  <c:v>Lash chair and lamp</c:v>
                </c:pt>
                <c:pt idx="2">
                  <c:v>Starter kits and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1400</c:v>
                </c:pt>
                <c:pt idx="1">
                  <c:v>1500</c:v>
                </c:pt>
                <c:pt idx="2">
                  <c:v>600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1EAD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1EAD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1EAD7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D8B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8B25A"/>
                </a:solidFill>
                <a:latin typeface="Calibri"/>
              </a:rPr>
              <a:t>GOLDEN PRAIRIE NAILS  /  WHEATON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1EAD7"/>
                </a:solidFill>
                <a:latin typeface="Calibri"/>
              </a:rPr>
              <a:t>Adding Waxing and Lash Services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9BB6B3"/>
                </a:solidFill>
                <a:latin typeface="Calibri"/>
              </a:rPr>
              <a:t>A second revenue line that does not depend on a nail chair turning over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937760"/>
            <a:ext cx="2743200" cy="502920"/>
          </a:xfrm>
          <a:prstGeom prst="roundRect">
            <a:avLst/>
          </a:prstGeom>
          <a:solidFill>
            <a:srgbClr val="143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D8B25A"/>
                </a:solidFill>
                <a:latin typeface="Calibri"/>
              </a:rPr>
              <a:t>Prepared by Cecilia Burnett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4937760"/>
            <a:ext cx="2011680" cy="502920"/>
          </a:xfrm>
          <a:prstGeom prst="roundRect">
            <a:avLst/>
          </a:prstGeom>
          <a:solidFill>
            <a:srgbClr val="143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1EAD7"/>
                </a:solidFill>
                <a:latin typeface="Calibri"/>
              </a:rPr>
              <a:t>February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4937760"/>
            <a:ext cx="3017520" cy="502920"/>
          </a:xfrm>
          <a:prstGeom prst="roundRect">
            <a:avLst/>
          </a:prstGeom>
          <a:solidFill>
            <a:srgbClr val="143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1EAD7"/>
                </a:solidFill>
                <a:latin typeface="Calibri"/>
              </a:rPr>
              <a:t>314 Danada Square West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109728"/>
          </a:xfrm>
          <a:prstGeom prst="rect">
            <a:avLst/>
          </a:prstGeom>
          <a:solidFill>
            <a:srgbClr val="D8B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1EAD7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F1EAD7"/>
                </a:solidFill>
                <a:latin typeface="Calibri"/>
              </a:rPr>
              <a:t>Wheaton has the room and a younger client base to carry esthetics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F1EAD7"/>
                </a:solidFill>
                <a:latin typeface="Calibri"/>
              </a:rPr>
              <a:t>Brow and lip waxing plus full lash extensions open a new revenue line</a:t>
            </a:r>
          </a:p>
          <a:p>
            <a:pPr lvl="1">
              <a:spcAft>
                <a:spcPts val="1200"/>
              </a:spcAft>
            </a:pPr>
            <a:r>
              <a:rPr sz="1700" b="0">
                <a:solidFill>
                  <a:srgbClr val="F1EAD7"/>
                </a:solidFill>
                <a:latin typeface="Calibri"/>
              </a:rPr>
              <a:t>Independent of nail chair turnover and slow nail weeks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F1EAD7"/>
                </a:solidFill>
                <a:latin typeface="Calibri"/>
              </a:rPr>
              <a:t>Main Street and Orchard Plaza menus stay nails only for now</a:t>
            </a:r>
          </a:p>
          <a:p>
            <a:pPr lvl="1">
              <a:spcAft>
                <a:spcPts val="1200"/>
              </a:spcAft>
            </a:pPr>
            <a:r>
              <a:rPr sz="1700" b="0">
                <a:solidFill>
                  <a:srgbClr val="F1EAD7"/>
                </a:solidFill>
                <a:latin typeface="Calibri"/>
              </a:rPr>
              <a:t>Keeps the flagship focused while Wheaton tests the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566160" cy="1143000"/>
          </a:xfrm>
          <a:prstGeom prst="roundRect">
            <a:avLst/>
          </a:prstGeom>
          <a:solidFill>
            <a:srgbClr val="143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D8B25A"/>
                </a:solidFill>
                <a:latin typeface="Calibri"/>
              </a:rPr>
              <a:t>$120</a:t>
            </a:r>
          </a:p>
          <a:p>
            <a:pPr algn="ctr"/>
            <a:r>
              <a:rPr sz="1200">
                <a:solidFill>
                  <a:srgbClr val="9BB6B3"/>
                </a:solidFill>
                <a:latin typeface="Calibri"/>
              </a:rPr>
              <a:t>Full lash set 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154680"/>
            <a:ext cx="3566160" cy="1143000"/>
          </a:xfrm>
          <a:prstGeom prst="roundRect">
            <a:avLst/>
          </a:prstGeom>
          <a:solidFill>
            <a:srgbClr val="143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D8B25A"/>
                </a:solidFill>
                <a:latin typeface="Calibri"/>
              </a:rPr>
              <a:t>$9,600</a:t>
            </a:r>
          </a:p>
          <a:p>
            <a:pPr algn="ctr"/>
            <a:r>
              <a:rPr sz="1200">
                <a:solidFill>
                  <a:srgbClr val="9BB6B3"/>
                </a:solidFill>
                <a:latin typeface="Calibri"/>
              </a:rPr>
              <a:t>Target monthly lash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480560"/>
            <a:ext cx="3566160" cy="1143000"/>
          </a:xfrm>
          <a:prstGeom prst="roundRect">
            <a:avLst/>
          </a:prstGeom>
          <a:solidFill>
            <a:srgbClr val="143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D8B25A"/>
                </a:solidFill>
                <a:latin typeface="Calibri"/>
              </a:rPr>
              <a:t>Month 5</a:t>
            </a:r>
          </a:p>
          <a:p>
            <a:pPr algn="ctr"/>
            <a:r>
              <a:rPr sz="1200">
                <a:solidFill>
                  <a:srgbClr val="9BB6B3"/>
                </a:solidFill>
                <a:latin typeface="Calibri"/>
              </a:rPr>
              <a:t>Break-even target, year one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109728"/>
          </a:xfrm>
          <a:prstGeom prst="rect">
            <a:avLst/>
          </a:prstGeom>
          <a:solidFill>
            <a:srgbClr val="D8B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1EAD7"/>
                </a:solidFill>
                <a:latin typeface="Calibri"/>
              </a:rPr>
              <a:t>Two Paths to a Licensed Esthetician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029200" cy="91"/>
          </a:xfrm>
          <a:prstGeom prst="roundRect">
            <a:avLst/>
          </a:prstGeom>
          <a:solidFill>
            <a:srgbClr val="143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1EAD7"/>
                </a:solidFill>
                <a:latin typeface="Calibri"/>
              </a:rPr>
              <a:t/>
            </a:r>
          </a:p>
          <a:p>
            <a:pPr algn="ctr"/>
            <a:r>
              <a:rPr sz="1200">
                <a:solidFill>
                  <a:srgbClr val="F1EAD7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5029200" cy="3657600"/>
          </a:xfrm>
          <a:prstGeom prst="rect">
            <a:avLst/>
          </a:prstGeom>
          <a:solidFill>
            <a:srgbClr val="143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44805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D8B25A"/>
                </a:solidFill>
                <a:latin typeface="Calibri"/>
              </a:rPr>
              <a:t>Option A: Hire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1EAD7"/>
                </a:solidFill>
                <a:latin typeface="Calibri"/>
              </a:rPr>
              <a:t>Bring on a licensed esthetician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9BB6B3"/>
                </a:solidFill>
                <a:latin typeface="Calibri"/>
              </a:rPr>
              <a:t>Faster to launch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9BB6B3"/>
                </a:solidFill>
                <a:latin typeface="Calibri"/>
              </a:rPr>
              <a:t>Adds payroll before the service proves itself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920240"/>
            <a:ext cx="5029200" cy="3657600"/>
          </a:xfrm>
          <a:prstGeom prst="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4805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E2A2B"/>
                </a:solidFill>
                <a:latin typeface="Calibri"/>
              </a:rPr>
              <a:t>Option B: Sponsor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1EAD7"/>
                </a:solidFill>
                <a:latin typeface="Calibri"/>
              </a:rPr>
              <a:t>Send Ryan or a tech through the 750 hour program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9F3EF"/>
                </a:solidFill>
                <a:latin typeface="Calibri"/>
              </a:rPr>
              <a:t>Keeps it in house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9F3EF"/>
                </a:solidFill>
                <a:latin typeface="Calibri"/>
              </a:rPr>
              <a:t>Slower, but builds loyalty and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BB6B3"/>
                </a:solidFill>
                <a:latin typeface="Calibri"/>
              </a:rPr>
              <a:t>Illinois licenses esthetics separately from cosmetology. A licensed esthetician must be on site.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109728"/>
          </a:xfrm>
          <a:prstGeom prst="rect">
            <a:avLst/>
          </a:prstGeom>
          <a:solidFill>
            <a:srgbClr val="D8B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1EAD7"/>
                </a:solidFill>
                <a:latin typeface="Calibri"/>
              </a:rPr>
              <a:t>What It Costs to Start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2880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2103120"/>
            <a:ext cx="3566160" cy="1463040"/>
          </a:xfrm>
          <a:prstGeom prst="roundRect">
            <a:avLst/>
          </a:prstGeom>
          <a:solidFill>
            <a:srgbClr val="143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D8B25A"/>
                </a:solidFill>
                <a:latin typeface="Calibri"/>
              </a:rPr>
              <a:t>~$3,500</a:t>
            </a:r>
          </a:p>
          <a:p>
            <a:pPr algn="ctr"/>
            <a:r>
              <a:rPr sz="1200">
                <a:solidFill>
                  <a:srgbClr val="9BB6B3"/>
                </a:solidFill>
                <a:latin typeface="Calibri"/>
              </a:rPr>
              <a:t>Estimated total start-up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749039"/>
            <a:ext cx="3566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8B25A"/>
                </a:solidFill>
                <a:latin typeface="Calibri"/>
              </a:rPr>
              <a:t>Approval note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1EAD7"/>
                </a:solidFill>
                <a:latin typeface="Calibri"/>
              </a:rPr>
              <a:t>Each line above the $500 threshold comes to Cecilia first.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9BB6B3"/>
                </a:solidFill>
                <a:latin typeface="Calibri"/>
              </a:rPr>
              <a:t>Both build-outs sit under separate purchase approvals.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109728"/>
          </a:xfrm>
          <a:prstGeom prst="rect">
            <a:avLst/>
          </a:prstGeom>
          <a:solidFill>
            <a:srgbClr val="D8B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1EAD7"/>
                </a:solidFill>
                <a:latin typeface="Calibri"/>
              </a:rPr>
              <a:t>Open Questions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>
                <a:solidFill>
                  <a:srgbClr val="F1EAD7"/>
                </a:solidFill>
                <a:latin typeface="Calibri"/>
              </a:rPr>
              <a:t>Confirm the exact current esthetics hour requirement with the state board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F1EAD7"/>
                </a:solidFill>
                <a:latin typeface="Calibri"/>
              </a:rPr>
              <a:t>Decide hire versus sponsor by April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F1EAD7"/>
                </a:solidFill>
                <a:latin typeface="Calibri"/>
              </a:rPr>
              <a:t>Check the Wheaton lease for use restrictions on esthetic services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F1EAD7"/>
                </a:solidFill>
                <a:latin typeface="Calibri"/>
              </a:rPr>
              <a:t>Model month-five break-even with Mark Sullivan before committing payroll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60720"/>
            <a:ext cx="5943600" cy="548640"/>
          </a:xfrm>
          <a:prstGeom prst="roundRect">
            <a:avLst/>
          </a:prstGeom>
          <a:solidFill>
            <a:srgbClr val="D8B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A2B"/>
                </a:solidFill>
                <a:latin typeface="Calibri"/>
              </a:rPr>
              <a:t>Conservative target: clear added payroll and supplies by month five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