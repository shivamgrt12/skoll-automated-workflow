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FY2025 Revenue</c:v>
                </c:pt>
              </c:strCache>
            </c:strRef>
          </c:tx>
          <c:spPr>
            <a:solidFill>
              <a:srgbClr val="4D79B3"/>
            </a:solidFill>
          </c:spPr>
          <c:cat>
            <c:strRef>
              <c:f>Sheet1!$A$2:$A$4</c:f>
              <c:strCache>
                <c:ptCount val="3"/>
                <c:pt idx="0">
                  <c:v>Main Street</c:v>
                </c:pt>
                <c:pt idx="1">
                  <c:v>Orchard Plaza</c:v>
                </c:pt>
                <c:pt idx="2">
                  <c:v>Wheaton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548200</c:v>
                </c:pt>
                <c:pt idx="1">
                  <c:v>402150</c:v>
                </c:pt>
                <c:pt idx="2">
                  <c:v>262130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>
                  <a:solidFill>
                    <a:srgbClr val="EEF3F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EEF3FA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EEF3FA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FY2025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Payroll</c:v>
                </c:pt>
                <c:pt idx="1">
                  <c:v>Rent</c:v>
                </c:pt>
                <c:pt idx="2">
                  <c:v>Supplies</c:v>
                </c:pt>
                <c:pt idx="3">
                  <c:v>Taxes and benefits</c:v>
                </c:pt>
                <c:pt idx="4">
                  <c:v>Everything else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600000</c:v>
                </c:pt>
                <c:pt idx="1">
                  <c:v>174000</c:v>
                </c:pt>
                <c:pt idx="2">
                  <c:v>118500</c:v>
                </c:pt>
                <c:pt idx="3">
                  <c:v>66000</c:v>
                </c:pt>
                <c:pt idx="4">
                  <c:v>107300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>
                  <a:solidFill>
                    <a:srgbClr val="EEF3FA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100">
              <a:solidFill>
                <a:srgbClr val="EEF3FA"/>
              </a:solidFill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E8A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E8A93A"/>
                </a:solidFill>
                <a:latin typeface="Calibri"/>
              </a:rPr>
              <a:t>CONSOLIDATED REVIEW  /  FISCAL YEAR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06984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4200" b="1">
                <a:solidFill>
                  <a:srgbClr val="EEF3FA"/>
                </a:solidFill>
                <a:latin typeface="Calibri"/>
              </a:rPr>
              <a:t>Golden Prairie Nails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9FB2CC"/>
                </a:solidFill>
                <a:latin typeface="Calibri"/>
              </a:rPr>
              <a:t>Annual Business Review across Main Street, Orchard Plaza, and Wheaton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1206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FB2CC"/>
                </a:solidFill>
                <a:latin typeface="Calibri"/>
              </a:rPr>
              <a:t>Prepared with Mark Sullivan, Ridgepoint Financial Services  /  EIN 36-4815592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94360"/>
            <a:ext cx="822960" cy="109728"/>
          </a:xfrm>
          <a:prstGeom prst="rect">
            <a:avLst/>
          </a:prstGeom>
          <a:solidFill>
            <a:srgbClr val="E8A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EF3FA"/>
                </a:solidFill>
                <a:latin typeface="Calibri"/>
              </a:rPr>
              <a:t>The Year in Four Numbers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2606040" cy="1737360"/>
          </a:xfrm>
          <a:prstGeom prst="roundRect">
            <a:avLst/>
          </a:prstGeom>
          <a:solidFill>
            <a:srgbClr val="1C2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E8A93A"/>
                </a:solidFill>
                <a:latin typeface="Calibri"/>
              </a:rPr>
              <a:t>$1.21M</a:t>
            </a:r>
          </a:p>
          <a:p>
            <a:pPr algn="ctr"/>
            <a:r>
              <a:rPr sz="1200">
                <a:solidFill>
                  <a:srgbClr val="9FB2CC"/>
                </a:solidFill>
                <a:latin typeface="Calibri"/>
              </a:rPr>
              <a:t>Gross revenue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11880" y="2011680"/>
            <a:ext cx="2606040" cy="1737360"/>
          </a:xfrm>
          <a:prstGeom prst="roundRect">
            <a:avLst/>
          </a:prstGeom>
          <a:solidFill>
            <a:srgbClr val="1C2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4D79B3"/>
                </a:solidFill>
                <a:latin typeface="Calibri"/>
              </a:rPr>
              <a:t>$1.07M</a:t>
            </a:r>
          </a:p>
          <a:p>
            <a:pPr algn="ctr"/>
            <a:r>
              <a:rPr sz="1200">
                <a:solidFill>
                  <a:srgbClr val="9FB2CC"/>
                </a:solidFill>
                <a:latin typeface="Calibri"/>
              </a:rPr>
              <a:t>Operating expenses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011680"/>
            <a:ext cx="2606040" cy="1737360"/>
          </a:xfrm>
          <a:prstGeom prst="roundRect">
            <a:avLst/>
          </a:prstGeom>
          <a:solidFill>
            <a:srgbClr val="1C2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3FAE86"/>
                </a:solidFill>
                <a:latin typeface="Calibri"/>
              </a:rPr>
              <a:t>$146,680</a:t>
            </a:r>
          </a:p>
          <a:p>
            <a:pPr algn="ctr"/>
            <a:r>
              <a:rPr sz="1200">
                <a:solidFill>
                  <a:srgbClr val="9FB2CC"/>
                </a:solidFill>
                <a:latin typeface="Calibri"/>
              </a:rPr>
              <a:t>Owner take-home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89720" y="2011680"/>
            <a:ext cx="2148840" cy="1737360"/>
          </a:xfrm>
          <a:prstGeom prst="roundRect">
            <a:avLst/>
          </a:prstGeom>
          <a:solidFill>
            <a:srgbClr val="1C2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EEF3FA"/>
                </a:solidFill>
                <a:latin typeface="Calibri"/>
              </a:rPr>
              <a:t>28+3</a:t>
            </a:r>
          </a:p>
          <a:p>
            <a:pPr algn="ctr"/>
            <a:r>
              <a:rPr sz="1200">
                <a:solidFill>
                  <a:srgbClr val="9FB2CC"/>
                </a:solidFill>
                <a:latin typeface="Calibri"/>
              </a:rPr>
              <a:t>Techs and managers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20624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0">
                <a:solidFill>
                  <a:srgbClr val="EEF3FA"/>
                </a:solidFill>
                <a:latin typeface="Calibri"/>
              </a:rPr>
              <a:t>Revenue held steady through the two seasonal peaks, prom in spring and the holidays in late fall.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9FB2CC"/>
                </a:solidFill>
                <a:latin typeface="Calibri"/>
              </a:rPr>
              <a:t>Net take-home reconciles to the profit and loss: $1,212,480 revenue less $1,065,800 in operating expenses.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94360"/>
            <a:ext cx="822960" cy="109728"/>
          </a:xfrm>
          <a:prstGeom prst="rect">
            <a:avLst/>
          </a:prstGeom>
          <a:solidFill>
            <a:srgbClr val="E8A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EF3FA"/>
                </a:solidFill>
                <a:latin typeface="Calibri"/>
              </a:rPr>
              <a:t>Revenue by Location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1828800"/>
          <a:ext cx="676656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955279" y="2011680"/>
            <a:ext cx="34747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1">
                <a:solidFill>
                  <a:srgbClr val="E8A93A"/>
                </a:solidFill>
                <a:latin typeface="Calibri"/>
              </a:rPr>
              <a:t>Read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EEF3FA"/>
                </a:solidFill>
                <a:latin typeface="Calibri"/>
              </a:rPr>
              <a:t>Main Street remains the flagship at 45 percent of total revenue.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9FB2CC"/>
                </a:solidFill>
                <a:latin typeface="Calibri"/>
              </a:rPr>
              <a:t>Wheaton, open since 2023, is the growth seat and the home of the esthetics test.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94360"/>
            <a:ext cx="822960" cy="109728"/>
          </a:xfrm>
          <a:prstGeom prst="rect">
            <a:avLst/>
          </a:prstGeom>
          <a:solidFill>
            <a:srgbClr val="E8A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EF3FA"/>
                </a:solidFill>
                <a:latin typeface="Calibri"/>
              </a:rPr>
              <a:t>Where the Money Goes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1737360"/>
          <a:ext cx="621792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0" y="2011680"/>
            <a:ext cx="402336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1">
                <a:solidFill>
                  <a:srgbClr val="E8A93A"/>
                </a:solidFill>
                <a:latin typeface="Calibri"/>
              </a:rPr>
              <a:t>Payroll is the floor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EEF3FA"/>
                </a:solidFill>
                <a:latin typeface="Calibri"/>
              </a:rPr>
              <a:t>People are 56 percent of every dollar out. That is the business, and it stays that way.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9FB2CC"/>
                </a:solidFill>
                <a:latin typeface="Calibri"/>
              </a:rPr>
              <a:t>Rent across three locations runs $14,500 a month, the next pressure point in the lease talks.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94360"/>
            <a:ext cx="822960" cy="109728"/>
          </a:xfrm>
          <a:prstGeom prst="rect">
            <a:avLst/>
          </a:prstGeom>
          <a:solidFill>
            <a:srgbClr val="E8A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EF3FA"/>
                </a:solidFill>
                <a:latin typeface="Calibri"/>
              </a:rPr>
              <a:t>Outlook into 2026 and 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20240"/>
            <a:ext cx="10424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 b="0">
                <a:solidFill>
                  <a:srgbClr val="EEF3FA"/>
                </a:solidFill>
                <a:latin typeface="Calibri"/>
              </a:rPr>
              <a:t>Close the Main Street lease at no more than 7 to 9 percent with a 3 percent cap on later years</a:t>
            </a:r>
          </a:p>
          <a:p>
            <a:pPr>
              <a:spcAft>
                <a:spcPts val="1600"/>
              </a:spcAft>
            </a:pPr>
            <a:r>
              <a:rPr sz="1900" b="0">
                <a:solidFill>
                  <a:srgbClr val="EEF3FA"/>
                </a:solidFill>
                <a:latin typeface="Calibri"/>
              </a:rPr>
              <a:t>Test waxing and lash at Wheaton, hire or sponsor a licensed esthetician by spring</a:t>
            </a:r>
          </a:p>
          <a:p>
            <a:pPr>
              <a:spcAft>
                <a:spcPts val="1600"/>
              </a:spcAft>
            </a:pPr>
            <a:r>
              <a:rPr sz="1900" b="0">
                <a:solidFill>
                  <a:srgbClr val="EEF3FA"/>
                </a:solidFill>
                <a:latin typeface="Calibri"/>
              </a:rPr>
              <a:t>Hold supply costs through the gold-tier wholesale account and net 30 terms</a:t>
            </a:r>
          </a:p>
          <a:p>
            <a:pPr>
              <a:spcAft>
                <a:spcPts val="1600"/>
              </a:spcAft>
            </a:pPr>
            <a:r>
              <a:rPr sz="1900" b="0">
                <a:solidFill>
                  <a:srgbClr val="EEF3FA"/>
                </a:solidFill>
                <a:latin typeface="Calibri"/>
              </a:rPr>
              <a:t>Keep the trip fund on pace at $500 a month toward the $15,000 goal by mid-2027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5760720"/>
            <a:ext cx="6583680" cy="548640"/>
          </a:xfrm>
          <a:prstGeom prst="roundRect">
            <a:avLst/>
          </a:prstGeom>
          <a:solidFill>
            <a:srgbClr val="E8A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1203A"/>
                </a:solidFill>
                <a:latin typeface="Calibri"/>
              </a:rPr>
              <a:t>Discipline before headcount. Cash first, then growth.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