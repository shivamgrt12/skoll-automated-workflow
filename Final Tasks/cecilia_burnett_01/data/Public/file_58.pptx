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Loyalty App</c:v>
                </c:pt>
              </c:strCache>
            </c:strRef>
          </c:tx>
          <c:spPr>
            <a:solidFill>
              <a:srgbClr val="7C3144"/>
            </a:solidFill>
          </c:spPr>
          <c:cat>
            <c:strRef>
              <c:f>Sheet1!$A$2:$A$6</c:f>
              <c:strCache>
                <c:ptCount val="5"/>
                <c:pt idx="0">
                  <c:v>Up-front setup</c:v>
                </c:pt>
                <c:pt idx="1">
                  <c:v>Platform fees (36 mo)</c:v>
                </c:pt>
                <c:pt idx="2">
                  <c:v>Printing</c:v>
                </c:pt>
                <c:pt idx="3">
                  <c:v>Training</c:v>
                </c:pt>
                <c:pt idx="4">
                  <c:v>Maintenance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6500</c:v>
                </c:pt>
                <c:pt idx="1">
                  <c:v>3204</c:v>
                </c:pt>
                <c:pt idx="2">
                  <c:v>0</c:v>
                </c:pt>
                <c:pt idx="3">
                  <c:v>400</c:v>
                </c:pt>
                <c:pt idx="4">
                  <c:v>1800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Punch Card</c:v>
                </c:pt>
              </c:strCache>
            </c:strRef>
          </c:tx>
          <c:spPr>
            <a:solidFill>
              <a:srgbClr val="BB8A3E"/>
            </a:solidFill>
          </c:spPr>
          <c:cat>
            <c:strRef>
              <c:f>Sheet1!$A$2:$A$6</c:f>
              <c:strCache>
                <c:ptCount val="5"/>
                <c:pt idx="0">
                  <c:v>Up-front setup</c:v>
                </c:pt>
                <c:pt idx="1">
                  <c:v>Platform fees (36 mo)</c:v>
                </c:pt>
                <c:pt idx="2">
                  <c:v>Printing</c:v>
                </c:pt>
                <c:pt idx="3">
                  <c:v>Training</c:v>
                </c:pt>
                <c:pt idx="4">
                  <c:v>Maintenance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180</c:v>
                </c:pt>
                <c:pt idx="1">
                  <c:v>0</c:v>
                </c:pt>
                <c:pt idx="2">
                  <c:v>540</c:v>
                </c:pt>
                <c:pt idx="3">
                  <c:v>120</c:v>
                </c:pt>
                <c:pt idx="4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1000">
                  <a:solidFill>
                    <a:srgbClr val="3A2228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3A2228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3A2228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>
              <a:solidFill>
                <a:srgbClr val="3A2228"/>
              </a:solidFill>
              <a:latin typeface="Calibr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651760"/>
          </a:xfrm>
          <a:prstGeom prst="rect">
            <a:avLst/>
          </a:prstGeom>
          <a:solidFill>
            <a:srgbClr val="7C31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651760"/>
            <a:ext cx="12191695" cy="128016"/>
          </a:xfrm>
          <a:prstGeom prst="rect">
            <a:avLst/>
          </a:prstGeom>
          <a:solidFill>
            <a:srgbClr val="BB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C98699"/>
                </a:solidFill>
                <a:latin typeface="Calibri"/>
              </a:rPr>
              <a:t>MANAGER MEETING  /  DECISION 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18872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FBF6EE"/>
                </a:solidFill>
                <a:latin typeface="Calibri"/>
              </a:rPr>
              <a:t>Customer Loyalty: App or Punch Card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089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3A2228"/>
                </a:solidFill>
                <a:latin typeface="Calibri"/>
              </a:rPr>
              <a:t>A three-year cost comparison for all three locations, so we choose with eyes open.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120640"/>
            <a:ext cx="2377440" cy="502920"/>
          </a:xfrm>
          <a:prstGeom prst="roundRect">
            <a:avLst/>
          </a:prstGeom>
          <a:solidFill>
            <a:srgbClr val="7C31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BF6EE"/>
                </a:solidFill>
                <a:latin typeface="Calibri"/>
              </a:rPr>
              <a:t>Golden Prairie Nails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5120640"/>
            <a:ext cx="2194560" cy="502920"/>
          </a:xfrm>
          <a:prstGeom prst="roundRect">
            <a:avLst/>
          </a:prstGeom>
          <a:solidFill>
            <a:srgbClr val="C986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3A2228"/>
                </a:solidFill>
                <a:latin typeface="Calibri"/>
              </a:rPr>
              <a:t>Prepared by Cecilia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40080"/>
            <a:ext cx="822960" cy="109728"/>
          </a:xfrm>
          <a:prstGeom prst="rect">
            <a:avLst/>
          </a:prstGeom>
          <a:solidFill>
            <a:srgbClr val="7C31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7C3144"/>
                </a:solidFill>
                <a:latin typeface="Calibri"/>
              </a:rPr>
              <a:t>The Question on the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2024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 b="0">
                <a:solidFill>
                  <a:srgbClr val="3A2228"/>
                </a:solidFill>
                <a:latin typeface="Calibri"/>
              </a:rPr>
              <a:t>Clients ask for a rewards program at all three desks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3A2228"/>
                </a:solidFill>
                <a:latin typeface="Calibri"/>
              </a:rPr>
              <a:t>A polished app looks modern but carries a real build cost</a:t>
            </a:r>
          </a:p>
          <a:p>
            <a:pPr lvl="1">
              <a:spcAft>
                <a:spcPts val="1200"/>
              </a:spcAft>
            </a:pPr>
            <a:r>
              <a:rPr sz="1700" b="0">
                <a:solidFill>
                  <a:srgbClr val="3A2228"/>
                </a:solidFill>
                <a:latin typeface="Calibri"/>
              </a:rPr>
              <a:t>Build exceeds the $500 approval threshold and needs sign-off</a:t>
            </a:r>
          </a:p>
          <a:p>
            <a:pPr>
              <a:spcAft>
                <a:spcPts val="1200"/>
              </a:spcAft>
            </a:pPr>
            <a:r>
              <a:rPr sz="1900" b="0">
                <a:solidFill>
                  <a:srgbClr val="3A2228"/>
                </a:solidFill>
                <a:latin typeface="Calibri"/>
              </a:rPr>
              <a:t>A punch card starts now for almost nothing</a:t>
            </a:r>
          </a:p>
          <a:p>
            <a:pPr lvl="1">
              <a:spcAft>
                <a:spcPts val="1200"/>
              </a:spcAft>
            </a:pPr>
            <a:r>
              <a:rPr sz="1700" b="0">
                <a:solidFill>
                  <a:srgbClr val="3A2228"/>
                </a:solidFill>
                <a:latin typeface="Calibri"/>
              </a:rPr>
              <a:t>Lower ceiling, but proven and simple for the front desk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920240"/>
            <a:ext cx="3749039" cy="1554480"/>
          </a:xfrm>
          <a:prstGeom prst="roundRect">
            <a:avLst/>
          </a:prstGeom>
          <a:solidFill>
            <a:srgbClr val="FB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7C3144"/>
                </a:solidFill>
                <a:latin typeface="Calibri"/>
              </a:rPr>
              <a:t>$11,904</a:t>
            </a:r>
          </a:p>
          <a:p>
            <a:pPr algn="ctr"/>
            <a:r>
              <a:rPr sz="1200">
                <a:solidFill>
                  <a:srgbClr val="8A7670"/>
                </a:solidFill>
                <a:latin typeface="Calibri"/>
              </a:rPr>
              <a:t>App, three-year total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3657600"/>
            <a:ext cx="3749039" cy="1554480"/>
          </a:xfrm>
          <a:prstGeom prst="roundRect">
            <a:avLst/>
          </a:prstGeom>
          <a:solidFill>
            <a:srgbClr val="FB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000" b="1">
                <a:solidFill>
                  <a:srgbClr val="BB8A3E"/>
                </a:solidFill>
                <a:latin typeface="Calibri"/>
              </a:rPr>
              <a:t>$840</a:t>
            </a:r>
          </a:p>
          <a:p>
            <a:pPr algn="ctr"/>
            <a:r>
              <a:rPr sz="1200">
                <a:solidFill>
                  <a:srgbClr val="8A7670"/>
                </a:solidFill>
                <a:latin typeface="Calibri"/>
              </a:rPr>
              <a:t>Punch card, three-year total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40080"/>
            <a:ext cx="822960" cy="109728"/>
          </a:xfrm>
          <a:prstGeom prst="rect">
            <a:avLst/>
          </a:prstGeom>
          <a:solidFill>
            <a:srgbClr val="7C31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7C3144"/>
                </a:solidFill>
                <a:latin typeface="Calibri"/>
              </a:rPr>
              <a:t>Three-Year Cost, Line by Line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22960" y="1783080"/>
          <a:ext cx="1051560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  <p:transition xmlns:p14="http://schemas.microsoft.com/office/powerpoint/2010/main"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7C31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7C3144"/>
                </a:solidFill>
                <a:latin typeface="Calibri"/>
              </a:rPr>
              <a:t>Recommendation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828800"/>
            <a:ext cx="10515600" cy="1828800"/>
          </a:xfrm>
          <a:prstGeom prst="rect">
            <a:avLst/>
          </a:prstGeom>
          <a:solidFill>
            <a:srgbClr val="FB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100584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3A2228"/>
                </a:solidFill>
                <a:latin typeface="Calibri"/>
              </a:rPr>
              <a:t>Start the punch card now. Revisit the app after the loyalty habit proves out.</a:t>
            </a:r>
          </a:p>
          <a:p>
            <a:pPr algn="l">
              <a:spcAft>
                <a:spcPts val="1000"/>
              </a:spcAft>
            </a:pPr>
            <a:r>
              <a:rPr sz="1500" b="0">
                <a:solidFill>
                  <a:srgbClr val="8A7670"/>
                </a:solidFill>
                <a:latin typeface="Calibri"/>
              </a:rPr>
              <a:t>The difference is $11,064 over three years. That funds two pedicure stations or a real cushion for a slow payroll week.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023360"/>
            <a:ext cx="104241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>
                <a:solidFill>
                  <a:srgbClr val="3A2228"/>
                </a:solidFill>
                <a:latin typeface="Calibri"/>
              </a:rPr>
              <a:t>Punch card launches this month at all three desks, no approval gate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3A2228"/>
                </a:solidFill>
                <a:latin typeface="Calibri"/>
              </a:rPr>
              <a:t>Track redemption for two quarters to see if clients actually use it</a:t>
            </a:r>
          </a:p>
          <a:p>
            <a:pPr>
              <a:spcAft>
                <a:spcPts val="1400"/>
              </a:spcAft>
            </a:pPr>
            <a:r>
              <a:rPr sz="1800" b="0">
                <a:solidFill>
                  <a:srgbClr val="3A2228"/>
                </a:solidFill>
                <a:latin typeface="Calibri"/>
              </a:rPr>
              <a:t>If Megan takes the marketing seat, revisit a lean app build with real usage data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