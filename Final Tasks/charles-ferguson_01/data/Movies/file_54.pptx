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Hits</c:v>
                </c:pt>
              </c:strCache>
            </c:strRef>
          </c:tx>
          <c:spPr>
            <a:solidFill>
              <a:srgbClr val="3F8A4D"/>
            </a:solidFill>
          </c:spPr>
          <c:cat>
            <c:strRef>
              <c:f>Sheet1!$A$2:$A$7</c:f>
              <c:strCache>
                <c:ptCount val="6"/>
                <c:pt idx="0">
                  <c:v>Mason T</c:v>
                </c:pt>
                <c:pt idx="1">
                  <c:v>Jake R</c:v>
                </c:pt>
                <c:pt idx="2">
                  <c:v>Liam K</c:v>
                </c:pt>
                <c:pt idx="3">
                  <c:v>Aiden M</c:v>
                </c:pt>
                <c:pt idx="4">
                  <c:v>Owen P</c:v>
                </c:pt>
                <c:pt idx="5">
                  <c:v>Lucas 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13</c:v>
                </c:pt>
                <c:pt idx="2">
                  <c:v>12</c:v>
                </c:pt>
                <c:pt idx="3">
                  <c:v>11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20281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3F8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097280"/>
            <a:ext cx="4114800" cy="4114800"/>
          </a:xfrm>
          <a:prstGeom prst="ellipse">
            <a:avLst/>
          </a:prstGeom>
          <a:solidFill>
            <a:srgbClr val="3F8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2F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spc="240">
                <a:solidFill>
                  <a:srgbClr val="D6A531"/>
                </a:solidFill>
                <a:latin typeface="Trebuchet MS"/>
              </a:rPr>
              <a:t>CRESTWOOD AMERICAN MAJORS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9144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Trebuchet MS"/>
              </a:rPr>
              <a:t>2025 Season Review</a:t>
            </a:r>
          </a:p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F6F3E8"/>
                </a:solidFill>
                <a:latin typeface="Trebuchet MS"/>
              </a:rPr>
              <a:t>Ages eleven and twelve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Trebuchet MS"/>
              </a:rPr>
              <a:t>Head coach Bill Hartman  |  Assistant coach Charles Ferguson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Trebuchet MS"/>
              </a:rPr>
              <a:t>The season 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20574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057400" cy="146304"/>
          </a:xfrm>
          <a:prstGeom prst="roundRect">
            <a:avLst/>
          </a:prstGeom>
          <a:solidFill>
            <a:srgbClr val="2F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2F6B3C"/>
                </a:solidFill>
                <a:latin typeface="Trebuchet MS"/>
              </a:rPr>
              <a:t>4 - 2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6F7D6F"/>
                </a:solidFill>
                <a:latin typeface="Trebuchet MS"/>
              </a:rPr>
              <a:t>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35808" y="1554480"/>
            <a:ext cx="20574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5808" y="1554480"/>
            <a:ext cx="2057400" cy="146304"/>
          </a:xfrm>
          <a:prstGeom prst="roundRect">
            <a:avLst/>
          </a:prstGeom>
          <a:solidFill>
            <a:srgbClr val="BD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205740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BD5F38"/>
                </a:solidFill>
                <a:latin typeface="Trebuchet MS"/>
              </a:rPr>
              <a:t>.296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7889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6F7D6F"/>
                </a:solidFill>
                <a:latin typeface="Trebuchet MS"/>
              </a:rPr>
              <a:t>Team average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1554480"/>
            <a:ext cx="20574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48656" y="1554480"/>
            <a:ext cx="2057400" cy="146304"/>
          </a:xfrm>
          <a:prstGeom prst="roundRect">
            <a:avLst/>
          </a:prstGeom>
          <a:solidFill>
            <a:srgbClr val="2F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656" y="205740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2F6B3C"/>
                </a:solidFill>
                <a:latin typeface="Trebuchet MS"/>
              </a:rPr>
              <a:t>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7889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6F7D6F"/>
                </a:solidFill>
                <a:latin typeface="Trebuchet MS"/>
              </a:rPr>
              <a:t>Team hits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61504" y="1554480"/>
            <a:ext cx="20574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61504" y="1554480"/>
            <a:ext cx="2057400" cy="146304"/>
          </a:xfrm>
          <a:prstGeom prst="roundRect">
            <a:avLst/>
          </a:prstGeom>
          <a:solidFill>
            <a:srgbClr val="D6A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4" y="205740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D6A531"/>
                </a:solidFill>
                <a:latin typeface="Trebuchet MS"/>
              </a:rPr>
              <a:t>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27889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6F7D6F"/>
                </a:solidFill>
                <a:latin typeface="Trebuchet MS"/>
              </a:rPr>
              <a:t>RBIs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74352" y="1554480"/>
            <a:ext cx="20574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74352" y="1554480"/>
            <a:ext cx="2057400" cy="146304"/>
          </a:xfrm>
          <a:prstGeom prst="roundRect">
            <a:avLst/>
          </a:prstGeom>
          <a:solidFill>
            <a:srgbClr val="BD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4352" y="2057400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BD5F38"/>
                </a:solidFill>
                <a:latin typeface="Trebuchet MS"/>
              </a:rPr>
              <a:t>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278892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6F7D6F"/>
                </a:solidFill>
                <a:latin typeface="Trebuchet MS"/>
              </a:rPr>
              <a:t>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F6B3C"/>
                </a:solidFill>
                <a:latin typeface="Trebuchet MS"/>
              </a:rPr>
              <a:t>Hitting leaders, by hits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822960" y="4114800"/>
          <a:ext cx="1051560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D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F6B3C"/>
                </a:solidFill>
                <a:latin typeface="Trebuchet MS"/>
              </a:rPr>
              <a:t>Game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solidFill>
            <a:srgbClr val="2F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463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Opponent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41732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41732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1463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April 12,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96596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Maple Heights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96596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D6F"/>
                </a:solidFill>
                <a:latin typeface="Trebuchet MS"/>
              </a:rPr>
              <a:t>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965960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F8A4D"/>
                </a:solidFill>
                <a:latin typeface="Trebuchet MS"/>
              </a:rPr>
              <a:t>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96596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8 - 5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679191"/>
            <a:ext cx="10515600" cy="640080"/>
          </a:xfrm>
          <a:prstGeom prst="rect">
            <a:avLst/>
          </a:prstGeom>
          <a:solidFill>
            <a:srgbClr val="F4F8F2"/>
          </a:solidFill>
          <a:ln w="1270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79191"/>
            <a:ext cx="1463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April 26,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679191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Parma West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679191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D6F"/>
                </a:solidFill>
                <a:latin typeface="Trebuchet MS"/>
              </a:rPr>
              <a:t>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679191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F8A4D"/>
                </a:solidFill>
                <a:latin typeface="Trebuchet MS"/>
              </a:rPr>
              <a:t>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79191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6 - 3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392424"/>
            <a:ext cx="10515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392424"/>
            <a:ext cx="1463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May 10,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392424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Brookpark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392424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D6F"/>
                </a:solidFill>
                <a:latin typeface="Trebuchet MS"/>
              </a:rPr>
              <a:t>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392424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D5F38"/>
                </a:solidFill>
                <a:latin typeface="Trebuchet MS"/>
              </a:rPr>
              <a:t>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392424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4 - 7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105656"/>
            <a:ext cx="10515600" cy="640080"/>
          </a:xfrm>
          <a:prstGeom prst="rect">
            <a:avLst/>
          </a:prstGeom>
          <a:solidFill>
            <a:srgbClr val="F4F8F2"/>
          </a:solidFill>
          <a:ln w="1270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105656"/>
            <a:ext cx="1463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May 17,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105656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Garfield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105656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D6F"/>
                </a:solidFill>
                <a:latin typeface="Trebuchet MS"/>
              </a:rPr>
              <a:t>Home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105656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F8A4D"/>
                </a:solidFill>
                <a:latin typeface="Trebuchet MS"/>
              </a:rPr>
              <a:t>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105656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9 - 2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818888"/>
            <a:ext cx="10515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18888"/>
            <a:ext cx="1463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May 31,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4818888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Maple Heights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818888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D6F"/>
                </a:solidFill>
                <a:latin typeface="Trebuchet MS"/>
              </a:rPr>
              <a:t>Home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818888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D5F38"/>
                </a:solidFill>
                <a:latin typeface="Trebuchet MS"/>
              </a:rPr>
              <a:t>Loss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818888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5 - 6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solidFill>
            <a:srgbClr val="F4F8F2"/>
          </a:solidFill>
          <a:ln w="1270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532120"/>
            <a:ext cx="1463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June 7,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553212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Brookpark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532120"/>
            <a:ext cx="1645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F7D6F"/>
                </a:solidFill>
                <a:latin typeface="Trebuchet MS"/>
              </a:rPr>
              <a:t>Away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5532120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F8A4D"/>
                </a:solidFill>
                <a:latin typeface="Trebuchet MS"/>
              </a:rPr>
              <a:t>Win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53212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0281F"/>
                </a:solidFill>
                <a:latin typeface="Trebuchet MS"/>
              </a:rPr>
              <a:t>7 - 4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Trebuchet MS"/>
              </a:rPr>
              <a:t>Every player bats. Every player takes the field.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F6F3E8"/>
                </a:solidFill>
                <a:latin typeface="Trebuchet MS"/>
              </a:rPr>
              <a:t>We teach fundamentals and good sportsmanship before wins. The season wrapped with a strong showing and good attendance at practice all year.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480560"/>
            <a:ext cx="10515600" cy="1280160"/>
          </a:xfrm>
          <a:prstGeom prst="roundRect">
            <a:avLst/>
          </a:prstGeom>
          <a:solidFill>
            <a:srgbClr val="3F8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617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D6A531"/>
                </a:solidFill>
                <a:latin typeface="Trebuchet MS"/>
              </a:rPr>
              <a:t>Awards banquet  |  October 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166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Every player recognized. Thank you to the parents who ran snacks and hauled gear all season.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Season Review</dc:title>
  <dc:subject/>
  <dc:creator>Charles Ferguson</dc:creator>
  <cp:keywords/>
  <dc:description/>
  <cp:lastModifiedBy>Charles Ferguson</cp:lastModifiedBy>
  <cp:revision>1</cp:revision>
  <dcterms:created xsi:type="dcterms:W3CDTF">2026-02-16T10:00:00Z</dcterms:created>
  <dcterms:modified xsi:type="dcterms:W3CDTF">2026-02-16T10:00:00Z</dcterms:modified>
  <cp:category/>
</cp:coreProperties>
</file>