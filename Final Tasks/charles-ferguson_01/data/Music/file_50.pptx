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26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503920" y="1737360"/>
            <a:ext cx="2011680" cy="2011680"/>
          </a:xfrm>
          <a:prstGeom prst="donut">
            <a:avLst/>
          </a:prstGeom>
          <a:solidFill>
            <a:srgbClr val="E0A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8092440" y="1325880"/>
            <a:ext cx="2834640" cy="2834640"/>
          </a:xfrm>
          <a:prstGeom prst="donut">
            <a:avLst/>
          </a:prstGeom>
          <a:solidFill>
            <a:srgbClr val="E0A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7680960" y="914400"/>
            <a:ext cx="3657600" cy="3657600"/>
          </a:xfrm>
          <a:prstGeom prst="donut">
            <a:avLst/>
          </a:prstGeom>
          <a:solidFill>
            <a:srgbClr val="E0A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 spc="260">
                <a:solidFill>
                  <a:srgbClr val="E0A648"/>
                </a:solidFill>
                <a:latin typeface="Calibri"/>
              </a:rPr>
              <a:t>WESTERN RESERVE WOODTURNERS GUILD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8229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F3ECE0"/>
                </a:solidFill>
                <a:latin typeface="Constantia"/>
              </a:rPr>
              <a:t>Intermediate Woodturning</a:t>
            </a:r>
          </a:p>
          <a:p>
            <a:pPr algn="l">
              <a:spcAft>
                <a:spcPts val="600"/>
              </a:spcAft>
            </a:pPr>
            <a:r>
              <a:rPr sz="3000" b="0" i="0">
                <a:solidFill>
                  <a:srgbClr val="E0A648"/>
                </a:solidFill>
                <a:latin typeface="Constantia"/>
              </a:rPr>
              <a:t>End Grain, Sealing, and Hollowing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32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3ECE0"/>
                </a:solidFill>
                <a:latin typeface="Calibri"/>
              </a:rPr>
              <a:t>Second Saturday class  |  10:00 AM to 12:00 PM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FB0BA"/>
                </a:solidFill>
                <a:latin typeface="Calibri"/>
              </a:rPr>
              <a:t>Instructor: Charles Ferguson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26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9260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onstantia"/>
              </a:rPr>
              <a:t>This morning at the bench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5448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D2429"/>
                </a:solidFill>
                <a:latin typeface="Calibri"/>
              </a:rPr>
              <a:t>Why end grain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55448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 i="0">
                <a:solidFill>
                  <a:srgbClr val="7A4F28"/>
                </a:solidFill>
                <a:latin typeface="Calibri"/>
              </a:rPr>
              <a:t>10:00 to 10:20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395728"/>
            <a:ext cx="502920" cy="502920"/>
          </a:xfrm>
          <a:prstGeom prst="ellipse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95728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D2429"/>
                </a:solidFill>
                <a:latin typeface="Calibri"/>
              </a:rPr>
              <a:t>Seal a blank, hands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395728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 i="0">
                <a:solidFill>
                  <a:srgbClr val="7A4F28"/>
                </a:solidFill>
                <a:latin typeface="Calibri"/>
              </a:rPr>
              <a:t>10:20 to 10:40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236976"/>
            <a:ext cx="502920" cy="502920"/>
          </a:xfrm>
          <a:prstGeom prst="ellipse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3697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36976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D2429"/>
                </a:solidFill>
                <a:latin typeface="Calibri"/>
              </a:rPr>
              <a:t>Mount, true, set the rim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36976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 i="0">
                <a:solidFill>
                  <a:srgbClr val="7A4F28"/>
                </a:solidFill>
                <a:latin typeface="Calibri"/>
              </a:rPr>
              <a:t>10:40 to 11:15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078224"/>
            <a:ext cx="502920" cy="502920"/>
          </a:xfrm>
          <a:prstGeom prst="ellipse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7822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78224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D2429"/>
                </a:solidFill>
                <a:latin typeface="Calibri"/>
              </a:rPr>
              <a:t>Start the hollow, light cuts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4078224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 i="0">
                <a:solidFill>
                  <a:srgbClr val="7A4F28"/>
                </a:solidFill>
                <a:latin typeface="Calibri"/>
              </a:rPr>
              <a:t>11:15 to 11:50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919472"/>
            <a:ext cx="502920" cy="502920"/>
          </a:xfrm>
          <a:prstGeom prst="ellipse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1947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919472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D2429"/>
                </a:solidFill>
                <a:latin typeface="Calibri"/>
              </a:rPr>
              <a:t>Clean up, questions, 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919472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600" b="1" i="0">
                <a:solidFill>
                  <a:srgbClr val="7A4F28"/>
                </a:solidFill>
                <a:latin typeface="Calibri"/>
              </a:rPr>
              <a:t>11:50 to 12:00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6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32918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3ECE0"/>
                </a:solidFill>
                <a:latin typeface="Constantia"/>
              </a:rPr>
              <a:t>Why end
grain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0"/>
            <a:ext cx="32918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FB0BA"/>
                </a:solidFill>
                <a:latin typeface="Calibri"/>
              </a:rPr>
              <a:t>Green wood loses moisture fastest through the end grain.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18872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C8862A"/>
                </a:solidFill>
                <a:latin typeface="Calibri"/>
              </a:rPr>
              <a:t>▪  </a:t>
            </a:r>
            <a:r>
              <a:rPr sz="1900" b="1">
                <a:solidFill>
                  <a:srgbClr val="1D2429"/>
                </a:solidFill>
                <a:latin typeface="Calibri"/>
              </a:rPr>
              <a:t>Ends dry faster than the middle,</a:t>
            </a:r>
            <a:r>
              <a:rPr sz="1700">
                <a:solidFill>
                  <a:srgbClr val="6D6D6D"/>
                </a:solidFill>
                <a:latin typeface="Calibri"/>
              </a:rPr>
              <a:t>  so the wood splits as it shrinks unevenly.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8862A"/>
                </a:solidFill>
                <a:latin typeface="Calibri"/>
              </a:rPr>
              <a:t>▪  </a:t>
            </a:r>
            <a:r>
              <a:rPr sz="1900" b="1">
                <a:solidFill>
                  <a:srgbClr val="1D2429"/>
                </a:solidFill>
                <a:latin typeface="Calibri"/>
              </a:rPr>
              <a:t>Seal both end grain faces</a:t>
            </a:r>
            <a:r>
              <a:rPr sz="1700">
                <a:solidFill>
                  <a:srgbClr val="6D6D6D"/>
                </a:solidFill>
                <a:latin typeface="Calibri"/>
              </a:rPr>
              <a:t>  the day you get the blank, not next week.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8862A"/>
                </a:solidFill>
                <a:latin typeface="Calibri"/>
              </a:rPr>
              <a:t>▪  </a:t>
            </a:r>
            <a:r>
              <a:rPr sz="1900" b="1">
                <a:solidFill>
                  <a:srgbClr val="1D2429"/>
                </a:solidFill>
                <a:latin typeface="Calibri"/>
              </a:rPr>
              <a:t>Two coats,</a:t>
            </a:r>
            <a:r>
              <a:rPr sz="1700">
                <a:solidFill>
                  <a:srgbClr val="6D6D6D"/>
                </a:solidFill>
                <a:latin typeface="Calibri"/>
              </a:rPr>
              <a:t>  letting the first soak in before the second.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8862A"/>
                </a:solidFill>
                <a:latin typeface="Calibri"/>
              </a:rPr>
              <a:t>▪  </a:t>
            </a:r>
            <a:r>
              <a:rPr sz="1900" b="1">
                <a:solidFill>
                  <a:srgbClr val="1D2429"/>
                </a:solidFill>
                <a:latin typeface="Calibri"/>
              </a:rPr>
              <a:t>Label species and date,</a:t>
            </a:r>
            <a:r>
              <a:rPr sz="1700">
                <a:solidFill>
                  <a:srgbClr val="6D6D6D"/>
                </a:solidFill>
                <a:latin typeface="Calibri"/>
              </a:rPr>
              <a:t>  then store off the concrete on a rack with airflow.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8862A"/>
                </a:solidFill>
                <a:latin typeface="Calibri"/>
              </a:rPr>
              <a:t>▪  </a:t>
            </a:r>
            <a:r>
              <a:rPr sz="1900" b="1">
                <a:solidFill>
                  <a:srgbClr val="1D2429"/>
                </a:solidFill>
                <a:latin typeface="Calibri"/>
              </a:rPr>
              <a:t>A consistent habit</a:t>
            </a:r>
            <a:r>
              <a:rPr sz="1700">
                <a:solidFill>
                  <a:srgbClr val="6D6D6D"/>
                </a:solidFill>
                <a:latin typeface="Calibri"/>
              </a:rPr>
              <a:t>  beats the best sealer used once in a while.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D2429"/>
                </a:solidFill>
                <a:latin typeface="Constantia"/>
              </a:rPr>
              <a:t>Tool setup for hollowing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10515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64592" cy="868680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554480"/>
            <a:ext cx="4206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7A4F28"/>
                </a:solidFill>
                <a:latin typeface="Calibri"/>
              </a:rPr>
              <a:t>Bowl gouge, half inch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554480"/>
            <a:ext cx="5669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D2429"/>
                </a:solidFill>
                <a:latin typeface="Calibri"/>
              </a:rPr>
              <a:t>Truing and shaping the outside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78608"/>
            <a:ext cx="10515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578608"/>
            <a:ext cx="164592" cy="868680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578608"/>
            <a:ext cx="4206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7A4F28"/>
                </a:solidFill>
                <a:latin typeface="Calibri"/>
              </a:rPr>
              <a:t>Bowl gouge, three eighths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578608"/>
            <a:ext cx="5669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D2429"/>
                </a:solidFill>
                <a:latin typeface="Calibri"/>
              </a:rPr>
              <a:t>Refining the rim and inside near the top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02736"/>
            <a:ext cx="10515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602736"/>
            <a:ext cx="164592" cy="868680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602736"/>
            <a:ext cx="4206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7A4F28"/>
                </a:solidFill>
                <a:latin typeface="Calibri"/>
              </a:rPr>
              <a:t>Hollowing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602736"/>
            <a:ext cx="5669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D2429"/>
                </a:solidFill>
                <a:latin typeface="Calibri"/>
              </a:rPr>
              <a:t>Reaching the lower inside wall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626864"/>
            <a:ext cx="10515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D8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626864"/>
            <a:ext cx="164592" cy="868680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626864"/>
            <a:ext cx="4206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7A4F28"/>
                </a:solidFill>
                <a:latin typeface="Calibri"/>
              </a:rPr>
              <a:t>Calipers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626864"/>
            <a:ext cx="5669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D2429"/>
                </a:solidFill>
                <a:latin typeface="Calibri"/>
              </a:rPr>
              <a:t>Checking wall thickness as you go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3ECE0"/>
                </a:solidFill>
                <a:latin typeface="Constantia"/>
              </a:rPr>
              <a:t>Safety, every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2606040" cy="3108960"/>
          </a:xfrm>
          <a:prstGeom prst="roundRect">
            <a:avLst/>
          </a:prstGeom>
          <a:solidFill>
            <a:srgbClr val="26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606040" cy="128016"/>
          </a:xfrm>
          <a:prstGeom prst="roundRect">
            <a:avLst/>
          </a:prstGeom>
          <a:solidFill>
            <a:srgbClr val="E0A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0A648"/>
                </a:solidFill>
                <a:latin typeface="Calibri"/>
              </a:rPr>
              <a:t>Tool rest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00400"/>
            <a:ext cx="21945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3ECE0"/>
                </a:solidFill>
                <a:latin typeface="Calibri"/>
              </a:rPr>
              <a:t>and just below center.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79" y="1828800"/>
            <a:ext cx="2606040" cy="3108960"/>
          </a:xfrm>
          <a:prstGeom prst="roundRect">
            <a:avLst/>
          </a:prstGeom>
          <a:solidFill>
            <a:srgbClr val="26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11879" y="1828800"/>
            <a:ext cx="2606040" cy="128016"/>
          </a:xfrm>
          <a:prstGeom prst="roundRect">
            <a:avLst/>
          </a:prstGeom>
          <a:solidFill>
            <a:srgbClr val="E0A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79" y="219456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0A648"/>
                </a:solidFill>
                <a:latin typeface="Calibri"/>
              </a:rPr>
              <a:t>Face shield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79" y="3200400"/>
            <a:ext cx="21945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3ECE0"/>
                </a:solidFill>
                <a:latin typeface="Calibri"/>
              </a:rPr>
              <a:t>sleeves rolled, nothing loose near the lathe.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606040" cy="3108960"/>
          </a:xfrm>
          <a:prstGeom prst="roundRect">
            <a:avLst/>
          </a:prstGeom>
          <a:solidFill>
            <a:srgbClr val="26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2606040" cy="128016"/>
          </a:xfrm>
          <a:prstGeom prst="roundRect">
            <a:avLst/>
          </a:prstGeom>
          <a:solidFill>
            <a:srgbClr val="E0A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19456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0A648"/>
                </a:solidFill>
                <a:latin typeface="Calibri"/>
              </a:rPr>
              <a:t>Stop the lathe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200400"/>
            <a:ext cx="21945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3ECE0"/>
                </a:solidFill>
                <a:latin typeface="Calibri"/>
              </a:rPr>
              <a:t>before you reach in to check anything.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828800"/>
            <a:ext cx="2606040" cy="3108960"/>
          </a:xfrm>
          <a:prstGeom prst="roundRect">
            <a:avLst/>
          </a:prstGeom>
          <a:solidFill>
            <a:srgbClr val="26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89720" y="1828800"/>
            <a:ext cx="2606040" cy="128016"/>
          </a:xfrm>
          <a:prstGeom prst="roundRect">
            <a:avLst/>
          </a:prstGeom>
          <a:solidFill>
            <a:srgbClr val="E0A6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194560"/>
            <a:ext cx="2194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E0A648"/>
                </a:solidFill>
                <a:latin typeface="Calibri"/>
              </a:rPr>
              <a:t>If the wood fights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200400"/>
            <a:ext cx="21945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3ECE0"/>
                </a:solidFill>
                <a:latin typeface="Calibri"/>
              </a:rPr>
              <a:t>reset the rest or resharpen, do not muscle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1">
                <a:solidFill>
                  <a:srgbClr val="9FB0BA"/>
                </a:solidFill>
                <a:latin typeface="Calibri"/>
              </a:rPr>
              <a:t>We learn more from a wall that blew out than from one that went perfectly.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Woodturning Class</dc:title>
  <dc:subject/>
  <dc:creator>Charles Ferguson</dc:creator>
  <cp:keywords/>
  <dc:description/>
  <cp:lastModifiedBy>Charles Ferguson</cp:lastModifiedBy>
  <cp:revision>1</cp:revision>
  <dcterms:created xsi:type="dcterms:W3CDTF">2026-02-16T10:00:00Z</dcterms:created>
  <dcterms:modified xsi:type="dcterms:W3CDTF">2026-02-16T10:00:00Z</dcterms:modified>
  <cp:category/>
</cp:coreProperties>
</file>