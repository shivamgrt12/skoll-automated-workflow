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C9A24B"/>
            </a:solidFill>
          </c:spPr>
          <c:cat>
            <c:strRef>
              <c:f>Sheet1!$A$2:$A$5</c:f>
              <c:strCache>
                <c:ptCount val="4"/>
                <c:pt idx="0">
                  <c:v>401(k)</c:v>
                </c:pt>
                <c:pt idx="1">
                  <c:v>Meg 403(b)</c:v>
                </c:pt>
                <c:pt idx="2">
                  <c:v>Savings</c:v>
                </c:pt>
                <c:pt idx="3">
                  <c:v>529 plan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385</c:v>
                </c:pt>
                <c:pt idx="1">
                  <c:v>142</c:v>
                </c:pt>
                <c:pt idx="2">
                  <c:v>35</c:v>
                </c:pt>
                <c:pt idx="3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14233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DDDDD"/>
            </a:solidFill>
          </a:ln>
        </c:spPr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1F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0"/>
            <a:ext cx="54864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spc="280">
                <a:solidFill>
                  <a:srgbClr val="E3C277"/>
                </a:solidFill>
                <a:latin typeface="Calibri"/>
              </a:rPr>
              <a:t>PERSONAL PLANNING MEMO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 i="0">
                <a:solidFill>
                  <a:srgbClr val="F5F2EA"/>
                </a:solidFill>
                <a:latin typeface="Cambria"/>
              </a:rPr>
              <a:t>Retirement</a:t>
            </a:r>
          </a:p>
          <a:p>
            <a:pPr algn="l">
              <a:spcAft>
                <a:spcPts val="600"/>
              </a:spcAft>
            </a:pPr>
            <a:r>
              <a:rPr sz="4000" b="0" i="0">
                <a:solidFill>
                  <a:srgbClr val="E3C277"/>
                </a:solidFill>
                <a:latin typeface="Cambria"/>
              </a:rPr>
              <a:t>Readiness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5F2EA"/>
                </a:solidFill>
                <a:latin typeface="Calibri"/>
              </a:rPr>
              <a:t>Prepared for the kitchen-table talk with Meg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A7BD"/>
                </a:solidFill>
                <a:latin typeface="Calibri"/>
              </a:rPr>
              <a:t>Charles Ferguson  |  Last updated February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371600"/>
            <a:ext cx="4389120" cy="1325880"/>
          </a:xfrm>
          <a:prstGeom prst="roundRect">
            <a:avLst/>
          </a:prstGeom>
          <a:solidFill>
            <a:srgbClr val="14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536192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3C277"/>
                </a:solidFill>
                <a:latin typeface="Calibri"/>
              </a:rPr>
              <a:t>Age 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1945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 spc="100">
                <a:solidFill>
                  <a:srgbClr val="9AA7BD"/>
                </a:solidFill>
                <a:latin typeface="Calibri"/>
              </a:rPr>
              <a:t>Earliest unreduced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926080"/>
            <a:ext cx="4389120" cy="1325880"/>
          </a:xfrm>
          <a:prstGeom prst="roundRect">
            <a:avLst/>
          </a:prstGeom>
          <a:solidFill>
            <a:srgbClr val="14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3090672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3C277"/>
                </a:solidFill>
                <a:latin typeface="Calibri"/>
              </a:rPr>
              <a:t>5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7490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 spc="100">
                <a:solidFill>
                  <a:srgbClr val="9AA7BD"/>
                </a:solidFill>
                <a:latin typeface="Calibri"/>
              </a:rPr>
              <a:t>To eligibility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480560"/>
            <a:ext cx="4389120" cy="1325880"/>
          </a:xfrm>
          <a:prstGeom prst="roundRect">
            <a:avLst/>
          </a:prstGeom>
          <a:solidFill>
            <a:srgbClr val="14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4645152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3C277"/>
                </a:solidFill>
                <a:latin typeface="Calibri"/>
              </a:rPr>
              <a:t>$3,800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53035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 spc="100">
                <a:solidFill>
                  <a:srgbClr val="9AA7BD"/>
                </a:solidFill>
                <a:latin typeface="Calibri"/>
              </a:rPr>
              <a:t>Pension, monthly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5F2EA"/>
                </a:solidFill>
                <a:latin typeface="Cambria"/>
              </a:rPr>
              <a:t>Where the accounts stand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46304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3619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F29"/>
                </a:solidFill>
                <a:latin typeface="Calibri"/>
              </a:rPr>
              <a:t>401(k), Herongate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92024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HP-5530148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463040"/>
            <a:ext cx="3474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C9A24B"/>
                </a:solidFill>
                <a:latin typeface="Cambria"/>
              </a:rPr>
              <a:t>$385,000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14016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414016"/>
            <a:ext cx="146304" cy="841248"/>
          </a:xfrm>
          <a:prstGeom prst="rect">
            <a:avLst/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8716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F29"/>
                </a:solidFill>
                <a:latin typeface="Calibri"/>
              </a:rPr>
              <a:t>Pension, single life at 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871216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Local 1484-2207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414016"/>
            <a:ext cx="3474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3F7D5A"/>
                </a:solidFill>
                <a:latin typeface="Cambria"/>
              </a:rPr>
              <a:t>$3,800 / 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64992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364992"/>
            <a:ext cx="146304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43814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F29"/>
                </a:solidFill>
                <a:latin typeface="Calibri"/>
              </a:rPr>
              <a:t>Meg 403(b), school district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364992"/>
            <a:ext cx="3474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C9A24B"/>
                </a:solidFill>
                <a:latin typeface="Cambria"/>
              </a:rPr>
              <a:t>$142,000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15968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15968"/>
            <a:ext cx="146304" cy="841248"/>
          </a:xfrm>
          <a:prstGeom prst="rect">
            <a:avLst/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38912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F29"/>
                </a:solidFill>
                <a:latin typeface="Calibri"/>
              </a:rPr>
              <a:t>Savings, high yield at 4.2%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77316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Emergency cushion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315968"/>
            <a:ext cx="3474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3F7D5A"/>
                </a:solidFill>
                <a:latin typeface="Cambria"/>
              </a:rPr>
              <a:t>$35,000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66944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266944"/>
            <a:ext cx="146304" cy="841248"/>
          </a:xfrm>
          <a:prstGeom prst="rect">
            <a:avLst/>
          </a:prstGeom>
          <a:solidFill>
            <a:srgbClr val="1F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4009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F29"/>
                </a:solidFill>
                <a:latin typeface="Calibri"/>
              </a:rPr>
              <a:t>Mortgage remaining, 18 yrs at 3.75%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572414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LCB-0094127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266944"/>
            <a:ext cx="3474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1F3354"/>
                </a:solidFill>
                <a:latin typeface="Cambria"/>
              </a:rPr>
              <a:t>$152,220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Retirement assets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7A7A7A"/>
                </a:solidFill>
                <a:latin typeface="Calibri"/>
              </a:rPr>
              <a:t>Balances in thousands of dollars, February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79" y="1737360"/>
            <a:ext cx="3383280" cy="4480560"/>
          </a:xfrm>
          <a:prstGeom prst="round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4233B"/>
                </a:solidFill>
                <a:latin typeface="Cambria"/>
              </a:rPr>
              <a:t>Open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5176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▪  </a:t>
            </a:r>
            <a:r>
              <a:rPr sz="1500" b="1">
                <a:solidFill>
                  <a:srgbClr val="1A1F29"/>
                </a:solidFill>
                <a:latin typeface="Calibri"/>
              </a:rPr>
              <a:t>Health coverage</a:t>
            </a:r>
            <a:r>
              <a:rPr sz="1300">
                <a:solidFill>
                  <a:srgbClr val="6D6D6D"/>
                </a:solidFill>
                <a:latin typeface="Calibri"/>
              </a:rPr>
              <a:t>  in the gap before Medicare. Need real numbers.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▪  </a:t>
            </a:r>
            <a:r>
              <a:rPr sz="1500" b="1">
                <a:solidFill>
                  <a:srgbClr val="1A1F29"/>
                </a:solidFill>
                <a:latin typeface="Calibri"/>
              </a:rPr>
              <a:t>The knee,</a:t>
            </a:r>
            <a:r>
              <a:rPr sz="1300">
                <a:solidFill>
                  <a:srgbClr val="6D6D6D"/>
                </a:solidFill>
                <a:latin typeface="Calibri"/>
              </a:rPr>
              <a:t>  whether it forces the date earlier than 58.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▪  </a:t>
            </a:r>
            <a:r>
              <a:rPr sz="1500" b="1">
                <a:solidFill>
                  <a:srgbClr val="1A1F29"/>
                </a:solidFill>
                <a:latin typeface="Calibri"/>
              </a:rPr>
              <a:t>The shop,</a:t>
            </a:r>
            <a:r>
              <a:rPr sz="1300">
                <a:solidFill>
                  <a:srgbClr val="6D6D6D"/>
                </a:solidFill>
                <a:latin typeface="Calibri"/>
              </a:rPr>
              <a:t>  what layoffs after the contract decision would mean.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5F2EA"/>
                </a:solidFill>
                <a:latin typeface="Cambria"/>
              </a:rPr>
              <a:t>The plan from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1920240"/>
            <a:ext cx="54864" cy="402336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" y="1828800"/>
            <a:ext cx="329184" cy="329184"/>
          </a:xfrm>
          <a:prstGeom prst="ellipse">
            <a:avLst/>
          </a:prstGeom>
          <a:solidFill>
            <a:srgbClr val="E3C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7373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3C277"/>
                </a:solidFill>
                <a:latin typeface="Calibri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737360"/>
            <a:ext cx="6858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5F2EA"/>
                </a:solidFill>
                <a:latin typeface="Calibri"/>
              </a:rPr>
              <a:t>Track the budget and 529. No decisions until after tax season.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852928"/>
            <a:ext cx="329184" cy="329184"/>
          </a:xfrm>
          <a:prstGeom prst="ellipse">
            <a:avLst/>
          </a:prstGeom>
          <a:solidFill>
            <a:srgbClr val="E3C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76148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3C277"/>
                </a:solidFill>
                <a:latin typeface="Calibri"/>
              </a:rPr>
              <a:t>After tax season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61488"/>
            <a:ext cx="6858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5F2EA"/>
                </a:solidFill>
                <a:latin typeface="Calibri"/>
              </a:rPr>
              <a:t>Sit down with the CPA to pressure-test the pension and the coverage gap.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3877056"/>
            <a:ext cx="329184" cy="329184"/>
          </a:xfrm>
          <a:prstGeom prst="ellipse">
            <a:avLst/>
          </a:prstGeom>
          <a:solidFill>
            <a:srgbClr val="E3C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78561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3C277"/>
                </a:solidFill>
                <a:latin typeface="Calibri"/>
              </a:rPr>
              <a:t>Within a year of retiring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85616"/>
            <a:ext cx="6858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5F2EA"/>
                </a:solidFill>
                <a:latin typeface="Calibri"/>
              </a:rPr>
              <a:t>Request a formal benefit calculation in writing and lock the figures.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4901184"/>
            <a:ext cx="329184" cy="329184"/>
          </a:xfrm>
          <a:prstGeom prst="ellipse">
            <a:avLst/>
          </a:prstGeom>
          <a:solidFill>
            <a:srgbClr val="E3C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809744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3C277"/>
                </a:solidFill>
                <a:latin typeface="Calibri"/>
              </a:rPr>
              <a:t>At 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09744"/>
            <a:ext cx="6858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5F2EA"/>
                </a:solidFill>
                <a:latin typeface="Calibri"/>
              </a:rPr>
              <a:t>Decide based on the knee, the contract, and how the savings look.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Retirement Readiness Review</dc:title>
  <dc:subject/>
  <dc:creator>Charles Ferguson</dc:creator>
  <cp:keywords/>
  <dc:description/>
  <cp:lastModifiedBy>Charles Ferguson</cp:lastModifiedBy>
  <cp:revision>1</cp:revision>
  <dcterms:created xsi:type="dcterms:W3CDTF">2026-02-16T10:00:00Z</dcterms:created>
  <dcterms:modified xsi:type="dcterms:W3CDTF">2026-02-16T10:00:00Z</dcterms:modified>
  <cp:category/>
</cp:coreProperties>
</file>