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98A3E"/>
                </a:solidFill>
                <a:latin typeface="Cambria"/>
              </a:rPr>
              <a:t>MCKAY RANCH, FAMILY WORKING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000" b="1" i="0">
                <a:solidFill>
                  <a:srgbClr val="F4F0E4"/>
                </a:solidFill>
                <a:latin typeface="Cambria"/>
              </a:rPr>
              <a:t>The Land and the Easement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1">
                <a:solidFill>
                  <a:srgbClr val="C7CDBA"/>
                </a:solidFill>
                <a:latin typeface="Calibri"/>
              </a:rPr>
              <a:t>What a conservation easement would mean, and the decision ahead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C7CDBA"/>
                </a:solidFill>
                <a:latin typeface="Calibri"/>
              </a:rPr>
              <a:t>Charles McKay, to talk through with Sarah, Robert, and James  |  File WLT-2026-0473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E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2E3D2A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4F0E4"/>
                </a:solidFill>
                <a:latin typeface="Cambria"/>
              </a:rPr>
              <a:t>What a conservation easement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400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9301F"/>
                </a:solidFill>
                <a:latin typeface="Calibri"/>
              </a:rPr>
              <a:t>A voluntary legal agreement that permanently limits certain uses of land.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9301F"/>
                </a:solidFill>
                <a:latin typeface="Calibri"/>
              </a:rPr>
              <a:t>The family keeps ownership and may continue agricultural use, grazing, and the leases.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9301F"/>
                </a:solidFill>
                <a:latin typeface="Calibri"/>
              </a:rPr>
              <a:t>It prevents subdivision and most development, in perpetuity.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9301F"/>
                </a:solidFill>
                <a:latin typeface="Calibri"/>
              </a:rPr>
              <a:t>The restriction runs with the land to future owners.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737360"/>
            <a:ext cx="420624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920240"/>
            <a:ext cx="3749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7C5C24"/>
                </a:solidFill>
                <a:latin typeface="Cambria"/>
              </a:rPr>
              <a:t>The ground in question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9301F"/>
                </a:solidFill>
                <a:latin typeface="Calibri"/>
              </a:rPr>
              <a:t>The full property, about 2,800 acres: grassland, the Sage Creek bottom, and the timbered hills to the west.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023360"/>
            <a:ext cx="420624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4206240"/>
            <a:ext cx="3749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7C5C24"/>
                </a:solidFill>
                <a:latin typeface="Cambria"/>
              </a:rPr>
              <a:t>Through the Wyoming Land Trust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9301F"/>
                </a:solidFill>
                <a:latin typeface="Calibri"/>
              </a:rPr>
              <a:t>File WLT-2026-0473. A representative walks the property on October 3, 2026. Nothing is signed at that meeting.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E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2E3D2A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4F0E4"/>
                </a:solidFill>
                <a:latin typeface="Cambria"/>
              </a:rPr>
              <a:t>The tradeoff, plainly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03520" cy="548640"/>
          </a:xfrm>
          <a:prstGeom prst="rect">
            <a:avLst/>
          </a:prstGeom>
          <a:solidFill>
            <a:srgbClr val="4F6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What it protects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9301F"/>
                </a:solidFill>
                <a:latin typeface="Calibri"/>
              </a:rPr>
              <a:t>The land stays whole, the way it has been for over a hundred years.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9301F"/>
                </a:solidFill>
                <a:latin typeface="Calibri"/>
              </a:rPr>
              <a:t>No cutting it up and selling it off in pieces.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9301F"/>
                </a:solidFill>
                <a:latin typeface="Calibri"/>
              </a:rPr>
              <a:t>A sizable tax benefit if donated, subject to appraisal.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9301F"/>
                </a:solidFill>
                <a:latin typeface="Calibri"/>
              </a:rPr>
              <a:t>Heirs keep the right to ranch and lease.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212080" cy="548640"/>
          </a:xfrm>
          <a:prstGeom prst="rect">
            <a:avLst/>
          </a:prstGeom>
          <a:solidFill>
            <a:srgbClr val="9C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What it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9301F"/>
                </a:solidFill>
                <a:latin typeface="Calibri"/>
              </a:rPr>
              <a:t>The restriction is permanent and cannot be undone.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9301F"/>
                </a:solidFill>
                <a:latin typeface="Calibri"/>
              </a:rPr>
              <a:t>Heirs lose the option to subdivide or sell for development.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9301F"/>
                </a:solidFill>
                <a:latin typeface="Calibri"/>
              </a:rPr>
              <a:t>A qualified appraisal is required to establish value.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9301F"/>
                </a:solidFill>
                <a:latin typeface="Calibri"/>
              </a:rPr>
              <a:t>The choice should be made with independent legal and tax counsel.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F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E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2E3D2A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4F0E4"/>
                </a:solidFill>
                <a:latin typeface="Cambria"/>
              </a:rPr>
              <a:t>Where each of them stands, and 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400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9301F"/>
                </a:solidFill>
                <a:latin typeface="Calibri"/>
              </a:rPr>
              <a:t>Robert knows what this ground is worth as ground, not just as dollars.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9301F"/>
                </a:solidFill>
                <a:latin typeface="Calibri"/>
              </a:rPr>
              <a:t>Sarah is steady and holds the power of attorney; she will do right by all of them.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9301F"/>
                </a:solidFill>
                <a:latin typeface="Calibri"/>
              </a:rPr>
              <a:t>James is on the fire line half the year and would not want to run it.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B98A3E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9301F"/>
                </a:solidFill>
                <a:latin typeface="Calibri"/>
              </a:rPr>
              <a:t>None of them has asked for a thing, which is why I want to get this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737360"/>
            <a:ext cx="420624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B9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920240"/>
            <a:ext cx="37490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7C5C24"/>
                </a:solidFill>
                <a:latin typeface="Cambria"/>
              </a:rPr>
              <a:t>The decision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9301F"/>
                </a:solidFill>
                <a:latin typeface="Calibri"/>
              </a:rPr>
              <a:t>No decision before the October meeting. Read the draft carefully. Have Sarah read it. Sleep on it through the fall. Whatever I choose gets written down plainly so there is no fighting over it later. The land is the inheritance. Keep it whole if there is any honest way to do it.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2011680" cy="54864"/>
          </a:xfrm>
          <a:prstGeom prst="rect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4F0E4"/>
                </a:solidFill>
                <a:latin typeface="Cambria"/>
              </a:rPr>
              <a:t>Keep the land whole.</a:t>
            </a:r>
          </a:p>
          <a:p>
            <a:pPr>
              <a:spcBef>
                <a:spcPts val="1200"/>
              </a:spcBef>
            </a:pPr>
            <a:r>
              <a:rPr sz="1800" b="0" i="1">
                <a:solidFill>
                  <a:srgbClr val="C7CDBA"/>
                </a:solidFill>
                <a:latin typeface="Calibri"/>
              </a:rPr>
              <a:t>No agreement is signed at the October walk. The family weighs it together, with counsel, through the fall.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7CDBA"/>
                </a:solidFill>
                <a:latin typeface="Calibri"/>
              </a:rPr>
              <a:t>Charles McKay  |  McKay Ranch, 1462 County Road 6WX, Cody, Wyoming 82414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Charles McKay</dc:creator>
  <cp:keywords/>
  <dc:description/>
  <cp:lastModifiedBy>Charles McKay</cp:lastModifiedBy>
  <cp:revision>1</cp:revision>
  <dcterms:created xsi:type="dcterms:W3CDTF">2013-01-27T09:14:16Z</dcterms:created>
  <dcterms:modified xsi:type="dcterms:W3CDTF">2013-01-27T09:15:58Z</dcterms:modified>
  <cp:category/>
</cp:coreProperties>
</file>