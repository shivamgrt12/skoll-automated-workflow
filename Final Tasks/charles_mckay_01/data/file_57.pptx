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USD</c:v>
                </c:pt>
              </c:strCache>
            </c:strRef>
          </c:tx>
          <c:spPr>
            <a:solidFill>
              <a:srgbClr val="5D7A4A"/>
            </a:solidFill>
          </c:spPr>
          <c:cat>
            <c:strRef>
              <c:f>Sheet1!$A$2:$A$5</c:f>
              <c:strCache>
                <c:ptCount val="4"/>
                <c:pt idx="0">
                  <c:v>Grazing lease</c:v>
                </c:pt>
                <c:pt idx="1">
                  <c:v>Hay lease</c:v>
                </c:pt>
                <c:pt idx="2">
                  <c:v>Social Security</c:v>
                </c:pt>
                <c:pt idx="3">
                  <c:v>SEP-IRA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21600</c:v>
                </c:pt>
                <c:pt idx="1">
                  <c:v>8000</c:v>
                </c:pt>
                <c:pt idx="2">
                  <c:v>34200</c:v>
                </c:pt>
                <c:pt idx="3">
                  <c:v>18000</c:v>
                </c:pt>
              </c:numCache>
            </c:numRef>
          </c:val>
        </c:ser>
        <c:dLbls>
          <c:numFmt formatCode="#,##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B23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Monthly USD</c:v>
                </c:pt>
              </c:strCache>
            </c:strRef>
          </c:tx>
          <c:spPr>
            <a:solidFill>
              <a:srgbClr val="B07320"/>
            </a:solidFill>
          </c:spPr>
          <c:cat>
            <c:strRef>
              <c:f>Sheet1!$A$2:$A$9</c:f>
              <c:strCache>
                <c:ptCount val="8"/>
                <c:pt idx="0">
                  <c:v>Property tax</c:v>
                </c:pt>
                <c:pt idx="1">
                  <c:v>Insurance</c:v>
                </c:pt>
                <c:pt idx="2">
                  <c:v>Fuel</c:v>
                </c:pt>
                <c:pt idx="3">
                  <c:v>Utilities</c:v>
                </c:pt>
                <c:pt idx="4">
                  <c:v>Maintenance</c:v>
                </c:pt>
                <c:pt idx="5">
                  <c:v>Groceries</c:v>
                </c:pt>
                <c:pt idx="6">
                  <c:v>Health</c:v>
                </c:pt>
                <c:pt idx="7">
                  <c:v>Duke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567</c:v>
                </c:pt>
                <c:pt idx="1">
                  <c:v>233</c:v>
                </c:pt>
                <c:pt idx="2">
                  <c:v>280</c:v>
                </c:pt>
                <c:pt idx="3">
                  <c:v>210</c:v>
                </c:pt>
                <c:pt idx="4">
                  <c:v>500</c:v>
                </c:pt>
                <c:pt idx="5">
                  <c:v>450</c:v>
                </c:pt>
                <c:pt idx="6">
                  <c:v>95</c:v>
                </c:pt>
                <c:pt idx="7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B231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D99A3A"/>
                </a:solidFill>
                <a:latin typeface="Cambria"/>
              </a:rPr>
              <a:t>MCKAY RANCH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5000" b="1" i="0">
                <a:solidFill>
                  <a:srgbClr val="F6F1E6"/>
                </a:solidFill>
                <a:latin typeface="Cambria"/>
              </a:rPr>
              <a:t>2025 in Review, 2026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1">
                <a:solidFill>
                  <a:srgbClr val="CDC0AA"/>
                </a:solidFill>
                <a:latin typeface="Calibri"/>
              </a:rPr>
              <a:t>Income, costs, and the repair backlog, with no cattle to offset the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CDC0AA"/>
                </a:solidFill>
                <a:latin typeface="Calibri"/>
              </a:rPr>
              <a:t>Charles McKay  |  1462 County Road 6WX, Cody, Wyoming  |  As of February 28,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3A2E22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6F1E6"/>
                </a:solidFill>
                <a:latin typeface="Cambria"/>
              </a:rPr>
              <a:t>Where the income comes from</a:t>
            </a:r>
          </a:p>
          <a:p>
            <a:r>
              <a:rPr sz="1300" b="0" i="1">
                <a:solidFill>
                  <a:srgbClr val="CDC0AA"/>
                </a:solidFill>
                <a:latin typeface="Calibri"/>
              </a:rPr>
              <a:t>Annual gross, roughly 81,800 dollars a year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737360"/>
            <a:ext cx="38404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D99A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31A"/>
                </a:solidFill>
                <a:latin typeface="Calibri"/>
              </a:rPr>
              <a:t>Grazing lease 1,800 dollars a month.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D99A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31A"/>
                </a:solidFill>
                <a:latin typeface="Calibri"/>
              </a:rPr>
              <a:t>Hay lease 8,000 dollars a year, in two payments.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D99A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31A"/>
                </a:solidFill>
                <a:latin typeface="Calibri"/>
              </a:rPr>
              <a:t>Social Security 2,850 dollars a month.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D99A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31A"/>
                </a:solidFill>
                <a:latin typeface="Calibri"/>
              </a:rPr>
              <a:t>SEP-IRA withdrawal 1,500 dollars a month.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D99A3A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B231A"/>
                </a:solidFill>
                <a:latin typeface="Calibri"/>
              </a:rPr>
              <a:t>Monthly income about 6,817 dollars.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3A2E22"/>
                </a:solidFill>
                <a:latin typeface="Cambr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6F1E6"/>
                </a:solidFill>
                <a:latin typeface="Cambria"/>
              </a:rPr>
              <a:t>What it costs to hold the place</a:t>
            </a:r>
          </a:p>
          <a:p>
            <a:r>
              <a:rPr sz="1300" b="0" i="1">
                <a:solidFill>
                  <a:srgbClr val="CDC0AA"/>
                </a:solidFill>
                <a:latin typeface="Calibri"/>
              </a:rPr>
              <a:t>Monthly expenses about 2,395 dollars, net about 4,422 dollars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544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737360"/>
            <a:ext cx="38404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D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920240"/>
            <a:ext cx="3383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9A6A1F"/>
                </a:solidFill>
                <a:latin typeface="Cambria"/>
              </a:rPr>
              <a:t>Net monthly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B231A"/>
                </a:solidFill>
                <a:latin typeface="Calibri"/>
              </a:rPr>
              <a:t>About 4,422 dollars, held as reserve toward the big repairs.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611880"/>
            <a:ext cx="3840480" cy="2468880"/>
          </a:xfrm>
          <a:prstGeom prst="rect">
            <a:avLst/>
          </a:prstGeom>
          <a:solidFill>
            <a:srgbClr val="FFFFFF"/>
          </a:solidFill>
          <a:ln w="15875">
            <a:solidFill>
              <a:srgbClr val="D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794760"/>
            <a:ext cx="3383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700" b="1" i="0">
                <a:solidFill>
                  <a:srgbClr val="9A6A1F"/>
                </a:solidFill>
                <a:latin typeface="Cambria"/>
              </a:rPr>
              <a:t>The concern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B231A"/>
                </a:solidFill>
                <a:latin typeface="Calibri"/>
              </a:rPr>
              <a:t>Rising property taxes and maintenance with no cattle income to offset them, and the wish to pass the land to the kids intact.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197864"/>
            <a:ext cx="12191695" cy="5660136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3A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92608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 i="0">
                <a:solidFill>
                  <a:srgbClr val="3A2E22"/>
                </a:solidFill>
                <a:latin typeface="Cambria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56032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 i="0">
                <a:solidFill>
                  <a:srgbClr val="F6F1E6"/>
                </a:solidFill>
                <a:latin typeface="Cambria"/>
              </a:rPr>
              <a:t>The repair backlog</a:t>
            </a:r>
          </a:p>
          <a:p>
            <a:r>
              <a:rPr sz="1300" b="0" i="1">
                <a:solidFill>
                  <a:srgbClr val="CDC0AA"/>
                </a:solidFill>
                <a:latin typeface="Calibri"/>
              </a:rPr>
              <a:t>Six jobs, about 18,120 dollars, none committed yet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  <a:gridCol w="1828800"/>
                <a:gridCol w="24688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6F1E6"/>
                          </a:solidFill>
                          <a:latin typeface="Cambria"/>
                        </a:rPr>
                        <a:t>Job</a:t>
                      </a:r>
                    </a:p>
                  </a:txBody>
                  <a:tcPr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6F1E6"/>
                          </a:solidFill>
                          <a:latin typeface="Cambria"/>
                        </a:rPr>
                        <a:t>Priority</a:t>
                      </a:r>
                    </a:p>
                  </a:txBody>
                  <a:tcPr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6F1E6"/>
                          </a:solidFill>
                          <a:latin typeface="Cambria"/>
                        </a:rPr>
                        <a:t>Quote</a:t>
                      </a:r>
                    </a:p>
                  </a:txBody>
                  <a:tcPr>
                    <a:solidFill>
                      <a:srgbClr val="3A2E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6F1E6"/>
                          </a:solidFill>
                          <a:latin typeface="Cambria"/>
                        </a:rPr>
                        <a:t>Window</a:t>
                      </a:r>
                    </a:p>
                  </a:txBody>
                  <a:tcPr>
                    <a:solidFill>
                      <a:srgbClr val="3A2E2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Barn roof repair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South fence wire, 400 yards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3,500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Well pump replacement, 320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4,850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November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Road grading, county spur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Corral gate rebuild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Spring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Generator annual service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220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B231A"/>
                          </a:solidFill>
                          <a:latin typeface="Calibri"/>
                        </a:rPr>
                        <a:t>October 2026</a:t>
                      </a:r>
                    </a:p>
                  </a:txBody>
                  <a:tcPr>
                    <a:solidFill>
                      <a:srgbClr val="EFE7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3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E3D3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3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3D3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31A"/>
                          </a:solidFill>
                          <a:latin typeface="Calibri"/>
                        </a:rPr>
                        <a:t>18,120</a:t>
                      </a:r>
                    </a:p>
                  </a:txBody>
                  <a:tcPr>
                    <a:solidFill>
                      <a:srgbClr val="E3D3A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B231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3D3A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F6F1E6"/>
                </a:solidFill>
                <a:latin typeface="Cambria"/>
              </a:rPr>
              <a:t>Keep it working, keep it whole.</a:t>
            </a:r>
          </a:p>
          <a:p>
            <a:pPr>
              <a:spcBef>
                <a:spcPts val="1200"/>
              </a:spcBef>
            </a:pPr>
            <a:r>
              <a:rPr sz="1800" b="0" i="1">
                <a:solidFill>
                  <a:srgbClr val="CDC0AA"/>
                </a:solidFill>
                <a:latin typeface="Calibri"/>
              </a:rPr>
              <a:t>Decide the well pump by fall, order the south fence wire before the busy season, and hold the reserve for the barn roof.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CDC0AA"/>
                </a:solidFill>
                <a:latin typeface="Calibri"/>
              </a:rPr>
              <a:t>Charles McKay  |  McKay Ranch, Cody, Wyoming  |  No cattle, land retained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Charles McKay</dc:creator>
  <cp:keywords/>
  <dc:description/>
  <cp:lastModifiedBy>Charles McKay</cp:lastModifiedBy>
  <cp:revision>1</cp:revision>
  <dcterms:created xsi:type="dcterms:W3CDTF">2013-01-27T09:14:16Z</dcterms:created>
  <dcterms:modified xsi:type="dcterms:W3CDTF">2013-01-27T09:15:58Z</dcterms:modified>
  <cp:category/>
</cp:coreProperties>
</file>