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F</c:v>
                </c:pt>
              </c:strCache>
            </c:strRef>
          </c:tx>
          <c:spPr>
            <a:ln>
              <a:solidFill>
                <a:srgbClr val="C2703D"/>
              </a:solidFill>
            </a:ln>
          </c:spPr>
          <c:cat>
            <c:strRef>
              <c:f>Sheet1!$A$2:$A$6</c:f>
              <c:strCache>
                <c:ptCount val="5"/>
                <c:pt idx="0">
                  <c:v>15</c:v>
                </c:pt>
                <c:pt idx="1">
                  <c:v>18</c:v>
                </c:pt>
                <c:pt idx="2">
                  <c:v>21</c:v>
                </c:pt>
                <c:pt idx="3">
                  <c:v>24</c:v>
                </c:pt>
                <c:pt idx="4">
                  <c:v>27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</c:v>
                </c:pt>
                <c:pt idx="1">
                  <c:v>39</c:v>
                </c:pt>
                <c:pt idx="2">
                  <c:v>41</c:v>
                </c:pt>
                <c:pt idx="3">
                  <c:v>33</c:v>
                </c:pt>
                <c:pt idx="4">
                  <c:v>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 F</c:v>
                </c:pt>
              </c:strCache>
            </c:strRef>
          </c:tx>
          <c:spPr>
            <a:ln>
              <a:solidFill>
                <a:srgbClr val="3D6FA0"/>
              </a:solidFill>
            </a:ln>
          </c:spPr>
          <c:cat>
            <c:strRef>
              <c:f>Sheet1!$A$2:$A$6</c:f>
              <c:strCache>
                <c:ptCount val="5"/>
                <c:pt idx="0">
                  <c:v>15</c:v>
                </c:pt>
                <c:pt idx="1">
                  <c:v>18</c:v>
                </c:pt>
                <c:pt idx="2">
                  <c:v>21</c:v>
                </c:pt>
                <c:pt idx="3">
                  <c:v>24</c:v>
                </c:pt>
                <c:pt idx="4">
                  <c:v>27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</c:v>
                </c:pt>
                <c:pt idx="1">
                  <c:v>14</c:v>
                </c:pt>
                <c:pt idx="2">
                  <c:v>15</c:v>
                </c:pt>
                <c:pt idx="3">
                  <c:v>15</c:v>
                </c:pt>
                <c:pt idx="4">
                  <c:v>21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rgbClr val="1B2E3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Percent of median</c:v>
                </c:pt>
              </c:strCache>
            </c:strRef>
          </c:tx>
          <c:spPr>
            <a:solidFill>
              <a:srgbClr val="3AA6A0"/>
            </a:solidFill>
          </c:spPr>
          <c:cat>
            <c:strRef>
              <c:f>Sheet1!$A$2:$A$3</c:f>
              <c:strCache>
                <c:ptCount val="2"/>
                <c:pt idx="0">
                  <c:v>Blackwater, 9,100 ft</c:v>
                </c:pt>
                <c:pt idx="1">
                  <c:v>Evening Star, 9,300 ft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</c:v>
                </c:pt>
                <c:pt idx="1">
                  <c:v>106</c:v>
                </c:pt>
              </c:numCache>
            </c:numRef>
          </c:val>
        </c:ser>
        <c:dLbls>
          <c:numFmt formatCode="0&quot;%&quot;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1B2E3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A33D"/>
                </a:solidFill>
                <a:latin typeface="Cambria"/>
              </a:rPr>
              <a:t>WIND RIVER METEOROLOGICAL SOCIETY, AUTUMN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000" b="1" i="0">
                <a:solidFill>
                  <a:srgbClr val="F2F7FA"/>
                </a:solidFill>
                <a:latin typeface="Cambria"/>
              </a:rPr>
              <a:t>Reading the High Plains Sky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0" i="1">
                <a:solidFill>
                  <a:srgbClr val="BFD4DF"/>
                </a:solidFill>
                <a:latin typeface="Calibri"/>
              </a:rPr>
              <a:t>Forty years of backyard observation, from clouds, wind, and pressure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BFD4DF"/>
                </a:solidFill>
                <a:latin typeface="Calibri"/>
              </a:rPr>
              <a:t>Presented by Charles McKay, station KWYCODY0142  |  Cody, October 24,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97864"/>
            <a:ext cx="12191695" cy="5660136"/>
          </a:xfrm>
          <a:prstGeom prst="rect">
            <a:avLst/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92608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7455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56032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 i="0">
                <a:solidFill>
                  <a:srgbClr val="F2F7FA"/>
                </a:solidFill>
                <a:latin typeface="Cambria"/>
              </a:rPr>
              <a:t>The station by the barn</a:t>
            </a:r>
          </a:p>
          <a:p>
            <a:r>
              <a:rPr sz="1300" b="0" i="1">
                <a:solidFill>
                  <a:srgbClr val="BFD4DF"/>
                </a:solidFill>
                <a:latin typeface="Calibri"/>
              </a:rPr>
              <a:t>A home weather station feeding the wider observing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60350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B2E3A"/>
                </a:solidFill>
                <a:latin typeface="Calibri"/>
              </a:rPr>
              <a:t>Station ID KWYCODY0142, near Cody at about 5,100 feet.</a:t>
            </a:r>
          </a:p>
          <a:p>
            <a:pPr>
              <a:spcAft>
                <a:spcPts val="16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B2E3A"/>
                </a:solidFill>
                <a:latin typeface="Calibri"/>
              </a:rPr>
              <a:t>Temperature, barometric pressure, wind, and precipitation logged by hand each morning.</a:t>
            </a:r>
          </a:p>
          <a:p>
            <a:pPr>
              <a:spcAft>
                <a:spcPts val="16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B2E3A"/>
                </a:solidFill>
                <a:latin typeface="Calibri"/>
              </a:rPr>
              <a:t>First reading at 5:30 AM, coffee in hand, before the day starts.</a:t>
            </a:r>
          </a:p>
          <a:p>
            <a:pPr>
              <a:spcAft>
                <a:spcPts val="16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B2E3A"/>
                </a:solidFill>
                <a:latin typeface="Calibri"/>
              </a:rPr>
              <a:t>Readings upload to the wider network and build a long term local record.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1737360"/>
            <a:ext cx="457200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920240"/>
            <a:ext cx="4114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B07320"/>
                </a:solidFill>
                <a:latin typeface="Cambria"/>
              </a:rPr>
              <a:t>What it measures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B2E3A"/>
                </a:solidFill>
                <a:latin typeface="Calibri"/>
              </a:rPr>
              <a:t>High and low temperature, pressure trend, wind speed and direction, daily and monthly precipitation.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3291840"/>
            <a:ext cx="457200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3474720"/>
            <a:ext cx="4114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B07320"/>
                </a:solidFill>
                <a:latin typeface="Cambria"/>
              </a:rPr>
              <a:t>Why it matters here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B2E3A"/>
                </a:solidFill>
                <a:latin typeface="Calibri"/>
              </a:rPr>
              <a:t>On the high plains, weather is a working variable in nearly every plan, from fence work to the fishing.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4846320"/>
            <a:ext cx="457200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5029200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B07320"/>
                </a:solidFill>
                <a:latin typeface="Cambria"/>
              </a:rPr>
              <a:t>How I read it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B2E3A"/>
                </a:solidFill>
                <a:latin typeface="Calibri"/>
              </a:rPr>
              <a:t>By gauge, and by smell and wind shift, learned over forty years of looking up.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97864"/>
            <a:ext cx="12191695" cy="5660136"/>
          </a:xfrm>
          <a:prstGeom prst="rect">
            <a:avLst/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92608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7455F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56032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 i="0">
                <a:solidFill>
                  <a:srgbClr val="F2F7FA"/>
                </a:solidFill>
                <a:latin typeface="Cambria"/>
              </a:rPr>
              <a:t>A February at the console</a:t>
            </a:r>
          </a:p>
          <a:p>
            <a:r>
              <a:rPr sz="1300" b="0" i="1">
                <a:solidFill>
                  <a:srgbClr val="BFD4DF"/>
                </a:solidFill>
                <a:latin typeface="Calibri"/>
              </a:rPr>
              <a:t>Daily high and low temperature, mid to late month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55448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63840" y="1737360"/>
            <a:ext cx="38404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1B2E3A"/>
                </a:solidFill>
                <a:latin typeface="Calibri"/>
              </a:rPr>
              <a:t>Month precipitation 1.01 inches liquid.</a:t>
            </a:r>
          </a:p>
          <a:p>
            <a:pPr>
              <a:spcAft>
                <a:spcPts val="14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1B2E3A"/>
                </a:solidFill>
                <a:latin typeface="Calibri"/>
              </a:rPr>
              <a:t>Snowfall 12.6 inches across the month.</a:t>
            </a:r>
          </a:p>
          <a:p>
            <a:pPr>
              <a:spcAft>
                <a:spcPts val="14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1B2E3A"/>
                </a:solidFill>
                <a:latin typeface="Calibri"/>
              </a:rPr>
              <a:t>Pressure dips lined up with each front and the snow days.</a:t>
            </a:r>
          </a:p>
          <a:p>
            <a:pPr>
              <a:spcAft>
                <a:spcPts val="14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1B2E3A"/>
                </a:solidFill>
                <a:latin typeface="Calibri"/>
              </a:rPr>
              <a:t>Chinook warming broke the cold more than once.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97864"/>
            <a:ext cx="12191695" cy="5660136"/>
          </a:xfrm>
          <a:prstGeom prst="rect">
            <a:avLst/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92608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17455F"/>
                </a:solidFill>
                <a:latin typeface="Cambri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56032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 i="0">
                <a:solidFill>
                  <a:srgbClr val="F2F7FA"/>
                </a:solidFill>
                <a:latin typeface="Cambria"/>
              </a:rPr>
              <a:t>Snowpack and spring water</a:t>
            </a:r>
          </a:p>
          <a:p>
            <a:r>
              <a:rPr sz="1300" b="0" i="1">
                <a:solidFill>
                  <a:srgbClr val="BFD4DF"/>
                </a:solidFill>
                <a:latin typeface="Calibri"/>
              </a:rPr>
              <a:t>Two high sites that feed the creeks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645920"/>
          <a:ext cx="6035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040880" y="1737360"/>
            <a:ext cx="44805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1920240"/>
            <a:ext cx="4023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B07320"/>
                </a:solidFill>
                <a:latin typeface="Cambria"/>
              </a:rPr>
              <a:t>Near to a little above median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B2E3A"/>
                </a:solidFill>
                <a:latin typeface="Calibri"/>
              </a:rPr>
              <a:t>Both sites sat at or above the long term median through late February, which bodes well for creek flow come spring.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3840480"/>
            <a:ext cx="4480560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4023360"/>
            <a:ext cx="4023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B07320"/>
                </a:solidFill>
                <a:latin typeface="Cambria"/>
              </a:rPr>
              <a:t>What a home station adds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B2E3A"/>
                </a:solidFill>
                <a:latin typeface="Calibri"/>
              </a:rPr>
              <a:t>Decades of daily records turn one ranch into a long term reference point for the basin.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201168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2F7FA"/>
                </a:solidFill>
                <a:latin typeface="Cambria"/>
              </a:rPr>
              <a:t>Bring your own observations.</a:t>
            </a:r>
          </a:p>
          <a:p>
            <a:pPr>
              <a:spcBef>
                <a:spcPts val="1200"/>
              </a:spcBef>
            </a:pPr>
            <a:r>
              <a:rPr sz="1800" b="0" i="1">
                <a:solidFill>
                  <a:srgbClr val="BFD4DF"/>
                </a:solidFill>
                <a:latin typeface="Calibri"/>
              </a:rPr>
              <a:t>Practical forecasting from clouds, wind shift, and pressure. Questions and discussion to follow.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BFD4DF"/>
                </a:solidFill>
                <a:latin typeface="Calibri"/>
              </a:rPr>
              <a:t>Charles McKay  |  Contributor station KWYCODY0142, near Cody, Wyoming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Charles McKay</dc:creator>
  <cp:keywords/>
  <dc:description/>
  <cp:lastModifiedBy>Charles McKay</cp:lastModifiedBy>
  <cp:revision>1</cp:revision>
  <dcterms:created xsi:type="dcterms:W3CDTF">2013-01-27T09:14:16Z</dcterms:created>
  <dcterms:modified xsi:type="dcterms:W3CDTF">2013-01-27T09:15:58Z</dcterms:modified>
  <cp:category/>
</cp:coreProperties>
</file>