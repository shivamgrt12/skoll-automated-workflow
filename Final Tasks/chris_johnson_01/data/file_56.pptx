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Johnson Household — Financial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233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2EC"/>
                </a:solidFill>
                <a:latin typeface="Calibri"/>
              </a:rPr>
              <a:t>Where we stand before the filing and the roof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C874"/>
                </a:solidFill>
                <a:latin typeface="Calibri"/>
              </a:rPr>
              <a:t>Prepared by Chris &amp; Sienna  ·  Crestwood, Yonkers  · 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C874"/>
                </a:solidFill>
                <a:latin typeface="Calibri"/>
              </a:rPr>
              <a:t>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567863" cy="17373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256786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3A5A78"/>
                </a:solidFill>
                <a:latin typeface="Calibri"/>
              </a:rPr>
              <a:t>$250k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256786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7B"/>
                </a:solidFill>
                <a:latin typeface="Calibri"/>
              </a:rPr>
              <a:t>Household gross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0823" y="1554480"/>
            <a:ext cx="2567863" cy="17373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1783080"/>
            <a:ext cx="256786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3A5A78"/>
                </a:solidFill>
                <a:latin typeface="Calibri"/>
              </a:rPr>
              <a:t>$8,615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697480"/>
            <a:ext cx="256786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7B"/>
                </a:solidFill>
                <a:latin typeface="Calibri"/>
              </a:rPr>
              <a:t>Monthly outlays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554480"/>
            <a:ext cx="2567863" cy="17373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783080"/>
            <a:ext cx="256786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3A5A78"/>
                </a:solidFill>
                <a:latin typeface="Calibri"/>
              </a:rPr>
              <a:t>$42k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697480"/>
            <a:ext cx="256786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7B"/>
                </a:solidFill>
                <a:latin typeface="Calibri"/>
              </a:rPr>
              <a:t>Joint savings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75191" y="1554480"/>
            <a:ext cx="2567863" cy="17373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5191" y="1783080"/>
            <a:ext cx="256786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3A5A78"/>
                </a:solidFill>
                <a:latin typeface="Calibri"/>
              </a:rPr>
              <a:t>$330k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5191" y="2697480"/>
            <a:ext cx="256786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7B"/>
                </a:solidFill>
                <a:latin typeface="Calibri"/>
              </a:rPr>
              <a:t>Mortgage balance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Income Mix (annual)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C874"/>
                </a:solidFill>
                <a:latin typeface="Calibri"/>
              </a:rPr>
              <a:t>Income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441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3658"/>
                <a:gridCol w="2733406"/>
                <a:gridCol w="3537349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Amount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Basis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FDNY base salary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$138,000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Contract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FDNY overtime (variable)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$28,000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Not guaranteed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John Jay adjunct (payroll)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$12,000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8 teaching months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Sienna — Westchester Dental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$72,000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Office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Household gross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$250,000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FB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035040"/>
            <a:ext cx="1091153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B2A3A"/>
                </a:solidFill>
                <a:latin typeface="Calibri"/>
              </a:rPr>
              <a:t>Overtime is the variable slice and would drop during any desk-duty stretch from surgery.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Savings &amp; Earmarks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C874"/>
                </a:solidFill>
                <a:latin typeface="Calibri"/>
              </a:rPr>
              <a:t>Savings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4413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0782"/>
                <a:gridCol w="2535866"/>
                <a:gridCol w="4437765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Bucket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Amount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Emergency fund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$15,000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3-4 months, do not tap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Declan college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On top of 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Roof fund (earmark)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$15,000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Roof replacement target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Joint savings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$42,000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Webster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FB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035040"/>
            <a:ext cx="1091153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B2A3A"/>
                </a:solidFill>
                <a:latin typeface="Calibri"/>
              </a:rPr>
              <a:t>Roof fund earmark is the remembered target; confirm the live balance before treating the roof as funded.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529 College Savings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C874"/>
                </a:solidFill>
                <a:latin typeface="Calibri"/>
              </a:rPr>
              <a:t>Education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4414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2496"/>
                <a:gridCol w="3220959"/>
                <a:gridCol w="3220959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Child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Balance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Monthly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Declan (15)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$28,000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$66.67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Fiona (12)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$66.67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Liam (8)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$12,000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$66.66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$58,000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$200.00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FB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035040"/>
            <a:ext cx="1091153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B2A3A"/>
                </a:solidFill>
                <a:latin typeface="Calibri"/>
              </a:rPr>
              <a:t>Funded at $200 per month split three ways.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Two Decisions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C874"/>
                </a:solidFill>
                <a:latin typeface="Calibri"/>
              </a:rPr>
              <a:t>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A5A78"/>
                </a:solidFill>
                <a:latin typeface="Calibri"/>
              </a:rPr>
              <a:t>•  Roof: 18 winters on it, quote is $15,000 to $18,000 — is the fund really ready?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A5A78"/>
                </a:solidFill>
                <a:latin typeface="Calibri"/>
              </a:rPr>
              <a:t>•  Shoulder surgery: three months desk duty means roughly $7,000 of lost overtime.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Weigh the roof timeline against the surgery scenario, not in separate rooms.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Keep the principal &amp; interest ($1,665) separate from escrow ($1,100); don't double-count tax and insurance.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Action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C874"/>
                </a:solidFill>
                <a:latin typeface="Calibri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A5A78"/>
                </a:solidFill>
                <a:latin typeface="Calibri"/>
              </a:rPr>
              <a:t>•  Reconcile a full year of accounts against the budget before sitting with Maria.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A5A78"/>
                </a:solidFill>
                <a:latin typeface="Calibri"/>
              </a:rPr>
              <a:t>•  Confirm the real cash in the roof bucket against the live balance.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Square the adjunct and barbecue books against payroll for the filing.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Nothing gets committed and no money moves without a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