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Weekly miles</c:v>
                </c:pt>
              </c:strCache>
            </c:strRef>
          </c:tx>
          <c:spPr>
            <a:solidFill>
              <a:srgbClr val="F59E0B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Wk1</c:v>
                </c:pt>
                <c:pt idx="1">
                  <c:v>Wk2</c:v>
                </c:pt>
                <c:pt idx="2">
                  <c:v>Wk3</c:v>
                </c:pt>
                <c:pt idx="3">
                  <c:v>Wk4</c:v>
                </c:pt>
                <c:pt idx="4">
                  <c:v>Wk5</c:v>
                </c:pt>
                <c:pt idx="5">
                  <c:v>Wk6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95</c:v>
                </c:pt>
                <c:pt idx="1">
                  <c:v>110</c:v>
                </c:pt>
                <c:pt idx="2">
                  <c:v>120</c:v>
                </c:pt>
                <c:pt idx="3">
                  <c:v>80</c:v>
                </c:pt>
                <c:pt idx="4">
                  <c:v>135</c:v>
                </c:pt>
                <c:pt idx="5">
                  <c:v>150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431407"/>
                </a:solidFill>
              </a:defRPr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431407"/>
                </a:solidFill>
              </a:defRPr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spPr>
            <a:solidFill>
              <a:srgbClr val="EA580C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Endurance</c:v>
                </c:pt>
                <c:pt idx="1">
                  <c:v>Tempo</c:v>
                </c:pt>
                <c:pt idx="2">
                  <c:v>Threshold</c:v>
                </c:pt>
                <c:pt idx="3">
                  <c:v>Recovery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3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</c:ser>
      </c:pieChart>
    </c:plotArea>
    <c:legend>
      <c:legendPos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5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400" b="1">
                <a:solidFill>
                  <a:srgbClr val="431407"/>
                </a:solidFill>
                <a:latin typeface="Calibri"/>
              </a:rPr>
              <a:t>Road Cycling Season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Base, build and peak across the 2026 to 2027 winter block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291840"/>
            <a:ext cx="27432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FFEDD5"/>
                </a:solidFill>
                <a:latin typeface="Calibri"/>
              </a:rPr>
              <a:t>Folsom and American River training routes</a:t>
            </a:r>
          </a:p>
        </p:txBody>
      </p:sp>
    </p:spTree>
  </p:cSld>
  <p:clrMapOvr>
    <a:masterClrMapping/>
  </p:clrMapOvr>
  <p:transition xmlns:p14="http://schemas.microsoft.com/office/powerpoint/2010/main" spd="med">
    <p:wip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431407"/>
                </a:solidFill>
                <a:latin typeface="Calibri"/>
              </a:rPr>
              <a:t>Season Targets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828800" cy="457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60604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2606040" cy="8229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2606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431407"/>
                </a:solidFill>
                <a:latin typeface="Calibri"/>
              </a:rPr>
              <a:t>150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2606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9A3412"/>
                </a:solidFill>
                <a:latin typeface="Calibri"/>
              </a:rPr>
              <a:t>Miles per peak week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371600"/>
            <a:ext cx="260604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371600"/>
            <a:ext cx="2606040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36192"/>
            <a:ext cx="2606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431407"/>
                </a:solidFill>
                <a:latin typeface="Calibri"/>
              </a:rPr>
              <a:t>5,200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423160"/>
            <a:ext cx="2606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9A3412"/>
                </a:solidFill>
                <a:latin typeface="Calibri"/>
              </a:rPr>
              <a:t>Climbing feet weekly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371600"/>
            <a:ext cx="260604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371600"/>
            <a:ext cx="2606040" cy="82296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536192"/>
            <a:ext cx="2606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431407"/>
                </a:solidFill>
                <a:latin typeface="Calibri"/>
              </a:rPr>
              <a:t>4 to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423160"/>
            <a:ext cx="2606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9A3412"/>
                </a:solidFill>
                <a:latin typeface="Calibri"/>
              </a:rPr>
              <a:t>Rides per week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1371600"/>
            <a:ext cx="260604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69680" y="1371600"/>
            <a:ext cx="2606040" cy="8229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1536192"/>
            <a:ext cx="2606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431407"/>
                </a:solidFill>
                <a:latin typeface="Calibri"/>
              </a:rPr>
              <a:t>Oct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423160"/>
            <a:ext cx="2606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9A3412"/>
                </a:solidFill>
                <a:latin typeface="Calibri"/>
              </a:rPr>
              <a:t>Goal event month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640080" y="3246120"/>
          <a:ext cx="676656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40080" y="3108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9A3412"/>
                </a:solidFill>
                <a:latin typeface="Calibri"/>
              </a:rPr>
              <a:t>Progressive volume with a recovery week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7680960" y="3108960"/>
          <a:ext cx="3931920" cy="3291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7680960" y="310896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9A3412"/>
                </a:solidFill>
                <a:latin typeface="Calibri"/>
              </a:rPr>
              <a:t>Weekly time in zone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80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17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Training Blocks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474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0">
                <a:solidFill>
                  <a:srgbClr val="DCFCE7"/>
                </a:solidFill>
                <a:latin typeface="Calibri"/>
              </a:rPr>
              <a:t>Three phases from winter base to spring peak</a:t>
            </a:r>
          </a:p>
        </p:txBody>
      </p:sp>
    </p:spTree>
  </p:cSld>
  <p:clrMapOvr>
    <a:masterClrMapping/>
  </p:clrMapOvr>
  <p:transition xmlns:p14="http://schemas.microsoft.com/office/powerpoint/2010/main" spd="med">
    <p:push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431407"/>
                </a:solidFill>
                <a:latin typeface="Calibri"/>
              </a:rPr>
              <a:t>Phase Breakdown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828800" cy="457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36118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3611880" cy="640080"/>
          </a:xfrm>
          <a:prstGeom prst="round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Base  |  Nov to Dec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310896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>
                <a:solidFill>
                  <a:srgbClr val="431407"/>
                </a:solidFill>
                <a:latin typeface="Calibri"/>
              </a:rPr>
              <a:t>Long steady miles, low intensity. Rebuild aerobic engine after the autumn off weeks. Foot stretching every morning before clipping 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19" y="1463040"/>
            <a:ext cx="36118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19" y="1463040"/>
            <a:ext cx="3611880" cy="6400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19" y="157276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Build  |  Jan to Feb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39" y="2377440"/>
            <a:ext cx="310896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>
                <a:solidFill>
                  <a:srgbClr val="431407"/>
                </a:solidFill>
                <a:latin typeface="Calibri"/>
              </a:rPr>
              <a:t>Add tempo and threshold work twice a week. Indoor trainer on dark or wet mornings. Strength twice weekly at home.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8" y="1463040"/>
            <a:ext cx="36118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38158" y="1463040"/>
            <a:ext cx="3611880" cy="64008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58" y="157276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Peak  |  Oct event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8" y="2377440"/>
            <a:ext cx="310896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>
                <a:solidFill>
                  <a:srgbClr val="431407"/>
                </a:solidFill>
                <a:latin typeface="Calibri"/>
              </a:rPr>
              <a:t>Sharpen with short efforts, taper volume, and target the autumn group ride. Fresh legs over fitness in the final ten days.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5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46888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Keep the Body as Infrastructure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600" b="0">
                <a:solidFill>
                  <a:srgbClr val="FFEDD5"/>
                </a:solidFill>
                <a:latin typeface="Calibri"/>
              </a:rPr>
              <a:t>Consistency over heroics. Track load, respect the recovery weeks, and protect the feet so the season holds together.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27432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spd="med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