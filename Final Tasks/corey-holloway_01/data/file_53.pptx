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spPr>
            <a:solidFill>
              <a:srgbClr val="0E7C5A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Brokerage</c:v>
                </c:pt>
                <c:pt idx="1">
                  <c:v>Retirement 401k</c:v>
                </c:pt>
                <c:pt idx="2">
                  <c:v>Rollover account</c:v>
                </c:pt>
                <c:pt idx="3">
                  <c:v>Cash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145000</c:v>
                </c:pt>
                <c:pt idx="1">
                  <c:v>420000</c:v>
                </c:pt>
                <c:pt idx="2">
                  <c:v>180000</c:v>
                </c:pt>
                <c:pt idx="3">
                  <c:v>12000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F2937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savings rate</c:v>
                </c:pt>
              </c:strCache>
            </c:strRef>
          </c:tx>
          <c:spPr>
            <a:solidFill>
              <a:srgbClr val="B8860B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3057</c:v>
                </c:pt>
                <c:pt idx="1">
                  <c:v>3057</c:v>
                </c:pt>
                <c:pt idx="2">
                  <c:v>5300</c:v>
                </c:pt>
                <c:pt idx="3">
                  <c:v>5500</c:v>
                </c:pt>
                <c:pt idx="4">
                  <c:v>5700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F2937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F2937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0116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Retirement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1546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A planning review for the next chapter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017520"/>
            <a:ext cx="237744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Confidential personal finance summary, January 2026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Position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45720"/>
          </a:xfrm>
          <a:prstGeom prst="rect">
            <a:avLst/>
          </a:prstGeom>
          <a:solidFill>
            <a:srgbClr val="0E7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2606040" cy="82296"/>
          </a:xfrm>
          <a:prstGeom prst="rect">
            <a:avLst/>
          </a:prstGeom>
          <a:solidFill>
            <a:srgbClr val="0E7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$757k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Total assets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06040" cy="8229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$302k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Total liabilities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2606040" cy="822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$455k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Net worth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371600"/>
            <a:ext cx="260604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1371600"/>
            <a:ext cx="2606040" cy="82296"/>
          </a:xfrm>
          <a:prstGeom prst="rect">
            <a:avLst/>
          </a:prstGeom>
          <a:solidFill>
            <a:srgbClr val="0E7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536192"/>
            <a:ext cx="2606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Dec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42316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Alimony end date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40080" y="3246120"/>
          <a:ext cx="54864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" y="3108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Asset balances by account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400800" y="3246120"/>
          <a:ext cx="512064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0800" y="3108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75569"/>
                </a:solidFill>
                <a:latin typeface="Calibri"/>
              </a:rPr>
              <a:t>Monthly surplus rises once alimony ends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The 2028 Inflection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D1FAE5"/>
                </a:solidFill>
                <a:latin typeface="Calibri"/>
              </a:rPr>
              <a:t>What changes when the obligations clear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0B2545"/>
                </a:solidFill>
                <a:latin typeface="Calibri"/>
              </a:rPr>
              <a:t>Planning Levers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828800" cy="45720"/>
          </a:xfrm>
          <a:prstGeom prst="rect">
            <a:avLst/>
          </a:prstGeom>
          <a:solidFill>
            <a:srgbClr val="0E7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411480" cy="1097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08760"/>
            <a:ext cx="365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2704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Free Cash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20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Two recurring obligations end near the same time and return roughly twenty three hundred dollars a month to savings.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411480" cy="1097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508760"/>
            <a:ext cx="365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52704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Housing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874520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A three bedroom home is large for one person. A future downsize would unlock equity and trim fixed costs.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51760"/>
            <a:ext cx="5257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651760"/>
            <a:ext cx="411480" cy="1097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743200"/>
            <a:ext cx="365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6148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Contribution Catch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08960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At sixty the catch up limits apply. Direct the new surplus into tax advantaged accounts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51760"/>
            <a:ext cx="5257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651760"/>
            <a:ext cx="411480" cy="10972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743200"/>
            <a:ext cx="365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76148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Healthcare Runway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108960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Plan the bridge between employer coverage and the public program window well ahead of any exit.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286000"/>
            <a:ext cx="2743200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468880"/>
            <a:ext cx="10424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Decision, Not Drift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The numbers are sound. The open question is lifestyle design after 2027, and that is a choice to make deliberately rather than let happen.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