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Adherence percent</c:v>
                </c:pt>
              </c:strCache>
            </c:strRef>
          </c:tx>
          <c:spPr>
            <a:solidFill>
              <a:srgbClr val="14B8A6"/>
            </a:solidFill>
          </c:spPr>
          <c:cat>
            <c:strRef>
              <c:f>Sheet1!$A$2:$A$6</c:f>
              <c:strCache>
                <c:ptCount val="5"/>
                <c:pt idx="0">
                  <c:v>Week 1</c:v>
                </c:pt>
                <c:pt idx="1">
                  <c:v>Week 4</c:v>
                </c:pt>
                <c:pt idx="2">
                  <c:v>Week 8</c:v>
                </c:pt>
                <c:pt idx="3">
                  <c:v>Week 12</c:v>
                </c:pt>
                <c:pt idx="4">
                  <c:v>Week 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</c:v>
                </c:pt>
                <c:pt idx="1">
                  <c:v>77</c:v>
                </c:pt>
                <c:pt idx="2">
                  <c:v>83</c:v>
                </c:pt>
                <c:pt idx="3">
                  <c:v>86</c:v>
                </c:pt>
                <c:pt idx="4">
                  <c:v>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Energy score x10</c:v>
                </c:pt>
              </c:strCache>
            </c:strRef>
          </c:tx>
          <c:spPr>
            <a:solidFill>
              <a:srgbClr val="9DECE0"/>
            </a:solidFill>
          </c:spPr>
          <c:cat>
            <c:strRef>
              <c:f>Sheet1!$A$2:$A$6</c:f>
              <c:strCache>
                <c:ptCount val="5"/>
                <c:pt idx="0">
                  <c:v>Week 1</c:v>
                </c:pt>
                <c:pt idx="1">
                  <c:v>Week 4</c:v>
                </c:pt>
                <c:pt idx="2">
                  <c:v>Week 8</c:v>
                </c:pt>
                <c:pt idx="3">
                  <c:v>Week 12</c:v>
                </c:pt>
                <c:pt idx="4">
                  <c:v>Week 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</c:v>
                </c:pt>
                <c:pt idx="1">
                  <c:v>62</c:v>
                </c:pt>
                <c:pt idx="2">
                  <c:v>70</c:v>
                </c:pt>
                <c:pt idx="3">
                  <c:v>76</c:v>
                </c:pt>
                <c:pt idx="4">
                  <c:v>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1F2933"/>
          </a:solidFill>
          <a:latin typeface="Corbe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4028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514600"/>
            <a:ext cx="1280160" cy="109728"/>
          </a:xfrm>
          <a:prstGeom prst="rect">
            <a:avLst/>
          </a:prstGeom>
          <a:solidFill>
            <a:srgbClr val="9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4FFFD"/>
                </a:solidFill>
                <a:latin typeface="Corbel"/>
              </a:rPr>
              <a:t>Endurance Nutrition Coaching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1480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DECE0"/>
                </a:solidFill>
                <a:latin typeface="Corbel"/>
              </a:rPr>
              <a:t>A structured fueling system for runners and triathletes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FFD"/>
                </a:solidFill>
                <a:latin typeface="Corbel"/>
              </a:rPr>
              <a:t>Courtney Moore, RD, MS   |   Coaching program overview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DECE0"/>
                </a:solidFill>
                <a:latin typeface="Corbel"/>
              </a:rPr>
              <a:t>On this</a:t>
            </a:r>
          </a:p>
          <a:p>
            <a:pPr algn="l"/>
            <a:r>
              <a:rPr sz="3400" b="1">
                <a:solidFill>
                  <a:srgbClr val="F4FFFD"/>
                </a:solidFill>
                <a:latin typeface="Corbel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822960"/>
            <a:ext cx="6949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14B8A6"/>
                </a:solidFill>
                <a:latin typeface="Corbel"/>
              </a:rPr>
              <a:t>▪  </a:t>
            </a:r>
            <a:r>
              <a:rPr sz="1800" b="1">
                <a:solidFill>
                  <a:srgbClr val="1F2933"/>
                </a:solidFill>
                <a:latin typeface="Corbel"/>
              </a:rPr>
              <a:t>01   Who this program is for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14B8A6"/>
                </a:solidFill>
                <a:latin typeface="Corbel"/>
              </a:rPr>
              <a:t>▪  </a:t>
            </a:r>
            <a:r>
              <a:rPr sz="1800" b="1">
                <a:solidFill>
                  <a:srgbClr val="1F2933"/>
                </a:solidFill>
                <a:latin typeface="Corbel"/>
              </a:rPr>
              <a:t>02   The four phase fueling model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14B8A6"/>
                </a:solidFill>
                <a:latin typeface="Corbel"/>
              </a:rPr>
              <a:t>▪  </a:t>
            </a:r>
            <a:r>
              <a:rPr sz="1800" b="1">
                <a:solidFill>
                  <a:srgbClr val="1F2933"/>
                </a:solidFill>
                <a:latin typeface="Corbel"/>
              </a:rPr>
              <a:t>03   Client outcomes over a coaching block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14B8A6"/>
                </a:solidFill>
                <a:latin typeface="Corbel"/>
              </a:rPr>
              <a:t>▪  </a:t>
            </a:r>
            <a:r>
              <a:rPr sz="1800" b="1">
                <a:solidFill>
                  <a:srgbClr val="1F2933"/>
                </a:solidFill>
                <a:latin typeface="Corbel"/>
              </a:rPr>
              <a:t>04   What each tier includes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1264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orbel"/>
              </a:rPr>
              <a:t>Coaching program overview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46304" cy="502920"/>
          </a:xfrm>
          <a:prstGeom prst="rect">
            <a:avLst/>
          </a:prstGeom>
          <a:solidFill>
            <a:srgbClr val="9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orbel"/>
              </a:rPr>
              <a:t>Who this program is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orbel"/>
              </a:rPr>
              <a:t>Coaching program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6949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14B8A6"/>
                </a:solidFill>
                <a:latin typeface="Corbel"/>
              </a:rPr>
              <a:t>▪  </a:t>
            </a:r>
            <a:r>
              <a:rPr sz="1700" b="1">
                <a:solidFill>
                  <a:srgbClr val="1F2933"/>
                </a:solidFill>
                <a:latin typeface="Corbel"/>
              </a:rPr>
              <a:t>Distance runners</a:t>
            </a:r>
            <a:r>
              <a:rPr sz="1400" b="0">
                <a:solidFill>
                  <a:srgbClr val="1F2933"/>
                </a:solidFill>
                <a:latin typeface="Corbel"/>
              </a:rPr>
              <a:t>   half marathon through ultra distance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14B8A6"/>
                </a:solidFill>
                <a:latin typeface="Corbel"/>
              </a:rPr>
              <a:t>▪  </a:t>
            </a:r>
            <a:r>
              <a:rPr sz="1700" b="1">
                <a:solidFill>
                  <a:srgbClr val="1F2933"/>
                </a:solidFill>
                <a:latin typeface="Corbel"/>
              </a:rPr>
              <a:t>Triathletes</a:t>
            </a:r>
            <a:r>
              <a:rPr sz="1400" b="0">
                <a:solidFill>
                  <a:srgbClr val="1F2933"/>
                </a:solidFill>
                <a:latin typeface="Corbel"/>
              </a:rPr>
              <a:t>   sprint through half iron distance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14B8A6"/>
                </a:solidFill>
                <a:latin typeface="Corbel"/>
              </a:rPr>
              <a:t>▪  </a:t>
            </a:r>
            <a:r>
              <a:rPr sz="1700" b="1">
                <a:solidFill>
                  <a:srgbClr val="1F2933"/>
                </a:solidFill>
                <a:latin typeface="Corbel"/>
              </a:rPr>
              <a:t>Returning athletes</a:t>
            </a:r>
            <a:r>
              <a:rPr sz="1400" b="0">
                <a:solidFill>
                  <a:srgbClr val="1F2933"/>
                </a:solidFill>
                <a:latin typeface="Corbel"/>
              </a:rPr>
              <a:t>   rebuilding after a layoff or injury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14B8A6"/>
                </a:solidFill>
                <a:latin typeface="Corbel"/>
              </a:rPr>
              <a:t>▪  </a:t>
            </a:r>
            <a:r>
              <a:rPr sz="1700" b="1">
                <a:solidFill>
                  <a:srgbClr val="1F2933"/>
                </a:solidFill>
                <a:latin typeface="Corbel"/>
              </a:rPr>
              <a:t>Masters athletes</a:t>
            </a:r>
            <a:r>
              <a:rPr sz="1400" b="0">
                <a:solidFill>
                  <a:srgbClr val="1F2933"/>
                </a:solidFill>
                <a:latin typeface="Corbel"/>
              </a:rPr>
              <a:t>   training around work and family life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554480"/>
            <a:ext cx="3383280" cy="1325880"/>
          </a:xfrm>
          <a:prstGeom prst="round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66420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B8A6"/>
                </a:solidFill>
                <a:latin typeface="Corbel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26771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Corbel"/>
              </a:rPr>
              <a:t>Active clients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108960"/>
            <a:ext cx="3383280" cy="1325880"/>
          </a:xfrm>
          <a:prstGeom prst="round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2186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B8A6"/>
                </a:solidFill>
                <a:latin typeface="Corbel"/>
              </a:rPr>
              <a:t>3 mo+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82219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Corbel"/>
              </a:rPr>
              <a:t>Avg commitment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663440"/>
            <a:ext cx="3383280" cy="1325880"/>
          </a:xfrm>
          <a:prstGeom prst="round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77316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B8A6"/>
                </a:solidFill>
                <a:latin typeface="Corbel"/>
              </a:rPr>
              <a:t>Monthly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37667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Corbel"/>
              </a:rPr>
              <a:t>Check in cadence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46304" cy="502920"/>
          </a:xfrm>
          <a:prstGeom prst="rect">
            <a:avLst/>
          </a:prstGeom>
          <a:solidFill>
            <a:srgbClr val="9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orbel"/>
              </a:rPr>
              <a:t>The four phase fueling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orbel"/>
              </a:rPr>
              <a:t>Coaching program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6949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14B8A6"/>
                </a:solidFill>
                <a:latin typeface="Corbel"/>
              </a:rPr>
              <a:t>▪  </a:t>
            </a:r>
            <a:r>
              <a:rPr sz="1700" b="1">
                <a:solidFill>
                  <a:srgbClr val="1F2933"/>
                </a:solidFill>
                <a:latin typeface="Corbel"/>
              </a:rPr>
              <a:t>Base</a:t>
            </a:r>
            <a:r>
              <a:rPr sz="1400" b="0">
                <a:solidFill>
                  <a:srgbClr val="1F2933"/>
                </a:solidFill>
                <a:latin typeface="Corbel"/>
              </a:rPr>
              <a:t>   daily intake set to bodyweight and training load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14B8A6"/>
                </a:solidFill>
                <a:latin typeface="Corbel"/>
              </a:rPr>
              <a:t>▪  </a:t>
            </a:r>
            <a:r>
              <a:rPr sz="1700" b="1">
                <a:solidFill>
                  <a:srgbClr val="1F2933"/>
                </a:solidFill>
                <a:latin typeface="Corbel"/>
              </a:rPr>
              <a:t>Build</a:t>
            </a:r>
            <a:r>
              <a:rPr sz="1400" b="0">
                <a:solidFill>
                  <a:srgbClr val="1F2933"/>
                </a:solidFill>
                <a:latin typeface="Corbel"/>
              </a:rPr>
              <a:t>   carbohydrate periodization around key sessions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14B8A6"/>
                </a:solidFill>
                <a:latin typeface="Corbel"/>
              </a:rPr>
              <a:t>▪  </a:t>
            </a:r>
            <a:r>
              <a:rPr sz="1700" b="1">
                <a:solidFill>
                  <a:srgbClr val="1F2933"/>
                </a:solidFill>
                <a:latin typeface="Corbel"/>
              </a:rPr>
              <a:t>Peak</a:t>
            </a:r>
            <a:r>
              <a:rPr sz="1400" b="0">
                <a:solidFill>
                  <a:srgbClr val="1F2933"/>
                </a:solidFill>
                <a:latin typeface="Corbel"/>
              </a:rPr>
              <a:t>   race week fueling and gut training rehearsals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14B8A6"/>
                </a:solidFill>
                <a:latin typeface="Corbel"/>
              </a:rPr>
              <a:t>▪  </a:t>
            </a:r>
            <a:r>
              <a:rPr sz="1700" b="1">
                <a:solidFill>
                  <a:srgbClr val="1F2933"/>
                </a:solidFill>
                <a:latin typeface="Corbel"/>
              </a:rPr>
              <a:t>Recover</a:t>
            </a:r>
            <a:r>
              <a:rPr sz="1400" b="0">
                <a:solidFill>
                  <a:srgbClr val="1F2933"/>
                </a:solidFill>
                <a:latin typeface="Corbel"/>
              </a:rPr>
              <a:t>   glycogen and protein timing after hard efforts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554480"/>
            <a:ext cx="3383280" cy="1325880"/>
          </a:xfrm>
          <a:prstGeom prst="round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66420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B8A6"/>
                </a:solidFill>
                <a:latin typeface="Corbe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26771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Corbel"/>
              </a:rPr>
              <a:t>Phases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108960"/>
            <a:ext cx="3383280" cy="1325880"/>
          </a:xfrm>
          <a:prstGeom prst="round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2186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B8A6"/>
                </a:solidFill>
                <a:latin typeface="Corbel"/>
              </a:rPr>
              <a:t>16 wk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82219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Corbel"/>
              </a:rPr>
              <a:t>Plan horizon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663440"/>
            <a:ext cx="3383280" cy="1325880"/>
          </a:xfrm>
          <a:prstGeom prst="round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77316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B8A6"/>
                </a:solidFill>
                <a:latin typeface="Corbel"/>
              </a:rPr>
              <a:t>Every 4 wk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37667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Corbel"/>
              </a:rPr>
              <a:t>Reviews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46304" cy="502920"/>
          </a:xfrm>
          <a:prstGeom prst="rect">
            <a:avLst/>
          </a:prstGeom>
          <a:solidFill>
            <a:srgbClr val="9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orbel"/>
              </a:rPr>
              <a:t>Client outcomes over a coaching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orbel"/>
              </a:rPr>
              <a:t>Coaching program overview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1417320"/>
          <a:ext cx="7315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0" y="1554480"/>
            <a:ext cx="3200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orbel"/>
              </a:rPr>
              <a:t>Steady gains</a:t>
            </a:r>
          </a:p>
          <a:p>
            <a:pPr algn="l"/>
            <a:r>
              <a:rPr sz="600" b="0">
                <a:solidFill>
                  <a:srgbClr val="1F2933"/>
                </a:solidFill>
                <a:latin typeface="Corbel"/>
              </a:rPr>
              <a:t/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orbel"/>
              </a:rPr>
              <a:t>Adherence and reported energy climb as fueling habits become routine. Numbers are averages across recent clients.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46304" cy="502920"/>
          </a:xfrm>
          <a:prstGeom prst="rect">
            <a:avLst/>
          </a:prstGeom>
          <a:solidFill>
            <a:srgbClr val="9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orbel"/>
              </a:rPr>
              <a:t>What each tier includes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orbel"/>
              </a:rPr>
              <a:t>Coaching program overview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463040"/>
          <a:ext cx="10424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  <a:gridCol w="3474720"/>
              </a:tblGrid>
              <a:tr h="36576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orbel"/>
                        </a:defRPr>
                      </a:pPr>
                      <a:r>
                        <a:t>Element</a:t>
                      </a:r>
                    </a:p>
                  </a:txBody>
                  <a:tcPr anchor="ctr" marT="38100" marB="381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orbel"/>
                        </a:defRPr>
                      </a:pPr>
                      <a:r>
                        <a:t>Foundation</a:t>
                      </a:r>
                    </a:p>
                  </a:txBody>
                  <a:tcPr anchor="ctr" marT="38100" marB="381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orbel"/>
                        </a:defRPr>
                      </a:pPr>
                      <a:r>
                        <a:t>Performance</a:t>
                      </a:r>
                    </a:p>
                  </a:txBody>
                  <a:tcPr anchor="ctr" marT="38100" marB="38100"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3"/>
                          </a:solidFill>
                          <a:latin typeface="Corbel"/>
                        </a:defRPr>
                      </a:pPr>
                      <a:r>
                        <a:t>Intake consult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3"/>
                          </a:solidFill>
                          <a:latin typeface="Corbel"/>
                        </a:defRPr>
                      </a:pPr>
                      <a:r>
                        <a:t>90 minutes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3"/>
                          </a:solidFill>
                          <a:latin typeface="Corbel"/>
                        </a:defRPr>
                      </a:pPr>
                      <a:r>
                        <a:t>90 minutes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3"/>
                          </a:solidFill>
                          <a:latin typeface="Corbel"/>
                        </a:defRPr>
                      </a:pPr>
                      <a:r>
                        <a:t>Check in calls</a:t>
                      </a:r>
                    </a:p>
                  </a:txBody>
                  <a:tcPr anchor="ctr" marT="38100" marB="38100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3"/>
                          </a:solidFill>
                          <a:latin typeface="Corbel"/>
                        </a:defRPr>
                      </a:pPr>
                      <a:r>
                        <a:t>Monthly</a:t>
                      </a:r>
                    </a:p>
                  </a:txBody>
                  <a:tcPr anchor="ctr" marT="38100" marB="38100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3"/>
                          </a:solidFill>
                          <a:latin typeface="Corbel"/>
                        </a:defRPr>
                      </a:pPr>
                      <a:r>
                        <a:t>Twice monthly</a:t>
                      </a:r>
                    </a:p>
                  </a:txBody>
                  <a:tcPr anchor="ctr" marT="38100" marB="38100">
                    <a:solidFill>
                      <a:srgbClr val="E6F4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3"/>
                          </a:solidFill>
                          <a:latin typeface="Corbel"/>
                        </a:defRPr>
                      </a:pPr>
                      <a:r>
                        <a:t>Custom fuel plan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3"/>
                          </a:solidFill>
                          <a:latin typeface="Corbel"/>
                        </a:defRPr>
                      </a:pPr>
                      <a:r>
                        <a:t>Yes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3"/>
                          </a:solidFill>
                          <a:latin typeface="Corbel"/>
                        </a:defRPr>
                      </a:pPr>
                      <a:r>
                        <a:t>Yes plus race plans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3"/>
                          </a:solidFill>
                          <a:latin typeface="Corbel"/>
                        </a:defRPr>
                      </a:pPr>
                      <a:r>
                        <a:t>Message support</a:t>
                      </a:r>
                    </a:p>
                  </a:txBody>
                  <a:tcPr anchor="ctr" marT="38100" marB="38100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3"/>
                          </a:solidFill>
                          <a:latin typeface="Corbel"/>
                        </a:defRPr>
                      </a:pPr>
                      <a:r>
                        <a:t>Weekly</a:t>
                      </a:r>
                    </a:p>
                  </a:txBody>
                  <a:tcPr anchor="ctr" marT="38100" marB="38100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3"/>
                          </a:solidFill>
                          <a:latin typeface="Corbel"/>
                        </a:defRPr>
                      </a:pPr>
                      <a:r>
                        <a:t>Within one day</a:t>
                      </a:r>
                    </a:p>
                  </a:txBody>
                  <a:tcPr anchor="ctr" marT="38100" marB="38100">
                    <a:solidFill>
                      <a:srgbClr val="E6F4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3"/>
                          </a:solidFill>
                          <a:latin typeface="Corbel"/>
                        </a:defRPr>
                      </a:pPr>
                      <a:r>
                        <a:t>Lab review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3"/>
                          </a:solidFill>
                          <a:latin typeface="Corbel"/>
                        </a:defRPr>
                      </a:pPr>
                      <a:r>
                        <a:t>No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3"/>
                          </a:solidFill>
                          <a:latin typeface="Corbel"/>
                        </a:defRPr>
                      </a:pPr>
                      <a:r>
                        <a:t>Yes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38404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orbel"/>
              </a:rPr>
              <a:t>Two service tiers. Professional liability maintained through HPSO.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280160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FFD"/>
                </a:solidFill>
                <a:latin typeface="Corbel"/>
              </a:rPr>
              <a:t>Let us build your season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1480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ECE0"/>
                </a:solidFill>
                <a:latin typeface="Corbel"/>
              </a:rPr>
              <a:t>Coaching program overview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