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 enrolled</c:v>
                </c:pt>
              </c:strCache>
            </c:strRef>
          </c:tx>
          <c:spPr>
            <a:solidFill>
              <a:srgbClr val="3E78B2"/>
            </a:solidFill>
          </c:spPr>
          <c:cat>
            <c:strRef>
              <c:f>Sheet1!$A$2:$A$7</c:f>
              <c:strCache>
                <c:ptCount val="6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  <c:pt idx="4">
                  <c:v>Oct 2026</c:v>
                </c:pt>
                <c:pt idx="5">
                  <c:v>Nov 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B2733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Intervention</c:v>
                </c:pt>
              </c:strCache>
            </c:strRef>
          </c:tx>
          <c:spPr>
            <a:solidFill>
              <a:srgbClr val="3E78B2"/>
            </a:solidFill>
          </c:spPr>
          <c:cat>
            <c:strRef>
              <c:f>Sheet1!$A$2:$A$3</c:f>
              <c:strCache>
                <c:ptCount val="2"/>
                <c:pt idx="0">
                  <c:v>Baseline A1C</c:v>
                </c:pt>
                <c:pt idx="1">
                  <c:v>Month 3 A1C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8.7</c:v>
                </c:pt>
                <c:pt idx="1">
                  <c:v>7.6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care</c:v>
                </c:pt>
              </c:strCache>
            </c:strRef>
          </c:tx>
          <c:spPr>
            <a:solidFill>
              <a:srgbClr val="A9C6E6"/>
            </a:solidFill>
          </c:spPr>
          <c:cat>
            <c:strRef>
              <c:f>Sheet1!$A$2:$A$3</c:f>
              <c:strCache>
                <c:ptCount val="2"/>
                <c:pt idx="0">
                  <c:v>Baseline A1C</c:v>
                </c:pt>
                <c:pt idx="1">
                  <c:v>Month 3 A1C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8.6</c:v>
                </c:pt>
                <c:pt idx="1">
                  <c:v>8.2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B2733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54864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1280160" cy="109728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9FF"/>
                </a:solidFill>
                <a:latin typeface="Georgia"/>
              </a:rPr>
              <a:t>Culturally Adapted Dietary Counseling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9C6E6"/>
                </a:solidFill>
                <a:latin typeface="Georgia"/>
              </a:rPr>
              <a:t>Improving glycemic control in adults with type 2 diabetes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9FF"/>
                </a:solidFill>
                <a:latin typeface="Georgia"/>
              </a:rPr>
              <a:t>Courtney Moore, RD, MS   |   Clinical research summary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0"/>
            <a:ext cx="73152" cy="6858000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9C6E6"/>
                </a:solidFill>
                <a:latin typeface="Georgia"/>
              </a:rPr>
              <a:t>On this</a:t>
            </a:r>
          </a:p>
          <a:p>
            <a:pPr algn="l"/>
            <a:r>
              <a:rPr sz="3400" b="1">
                <a:solidFill>
                  <a:srgbClr val="F5F9FF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82296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3E78B2"/>
                </a:solidFill>
                <a:latin typeface="Georgia"/>
              </a:rPr>
              <a:t>▪  </a:t>
            </a:r>
            <a:r>
              <a:rPr sz="1800" b="1">
                <a:solidFill>
                  <a:srgbClr val="1B2733"/>
                </a:solidFill>
                <a:latin typeface="Georgia"/>
              </a:rPr>
              <a:t>01   Study design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3E78B2"/>
                </a:solidFill>
                <a:latin typeface="Georgia"/>
              </a:rPr>
              <a:t>▪  </a:t>
            </a:r>
            <a:r>
              <a:rPr sz="1800" b="1">
                <a:solidFill>
                  <a:srgbClr val="1B2733"/>
                </a:solidFill>
                <a:latin typeface="Georgia"/>
              </a:rPr>
              <a:t>02   Enrollment progress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3E78B2"/>
                </a:solidFill>
                <a:latin typeface="Georgia"/>
              </a:rPr>
              <a:t>▪  </a:t>
            </a:r>
            <a:r>
              <a:rPr sz="1800" b="1">
                <a:solidFill>
                  <a:srgbClr val="1B2733"/>
                </a:solidFill>
                <a:latin typeface="Georgia"/>
              </a:rPr>
              <a:t>03   Early signal on glycemic control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800" b="1">
                <a:solidFill>
                  <a:srgbClr val="3E78B2"/>
                </a:solidFill>
                <a:latin typeface="Georgia"/>
              </a:rPr>
              <a:t>▪  </a:t>
            </a:r>
            <a:r>
              <a:rPr sz="1800" b="1">
                <a:solidFill>
                  <a:srgbClr val="1B2733"/>
                </a:solidFill>
                <a:latin typeface="Georgia"/>
              </a:rPr>
              <a:t>04   Sample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1264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8A8A"/>
                </a:solidFill>
                <a:latin typeface="Georgia"/>
              </a:rPr>
              <a:t>Clinical research summary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Study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Georgia"/>
              </a:rPr>
              <a:t>Clinical research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E78B2"/>
                </a:solidFill>
                <a:latin typeface="Georgia"/>
              </a:rPr>
              <a:t>▪  </a:t>
            </a:r>
            <a:r>
              <a:rPr sz="1700" b="1">
                <a:solidFill>
                  <a:srgbClr val="1B2733"/>
                </a:solidFill>
                <a:latin typeface="Georgia"/>
              </a:rPr>
              <a:t>Pilot randomized trial</a:t>
            </a:r>
            <a:r>
              <a:rPr sz="1400" b="0">
                <a:solidFill>
                  <a:srgbClr val="1B2733"/>
                </a:solidFill>
                <a:latin typeface="Georgia"/>
              </a:rPr>
              <a:t>   intervention compared with standard education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E78B2"/>
                </a:solidFill>
                <a:latin typeface="Georgia"/>
              </a:rPr>
              <a:t>▪  </a:t>
            </a:r>
            <a:r>
              <a:rPr sz="1700" b="1">
                <a:solidFill>
                  <a:srgbClr val="1B2733"/>
                </a:solidFill>
                <a:latin typeface="Georgia"/>
              </a:rPr>
              <a:t>Target sample</a:t>
            </a:r>
            <a:r>
              <a:rPr sz="1400" b="0">
                <a:solidFill>
                  <a:srgbClr val="1B2733"/>
                </a:solidFill>
                <a:latin typeface="Georgia"/>
              </a:rPr>
              <a:t>   60 adults, 30 per arm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E78B2"/>
                </a:solidFill>
                <a:latin typeface="Georgia"/>
              </a:rPr>
              <a:t>▪  </a:t>
            </a:r>
            <a:r>
              <a:rPr sz="1700" b="1">
                <a:solidFill>
                  <a:srgbClr val="1B2733"/>
                </a:solidFill>
                <a:latin typeface="Georgia"/>
              </a:rPr>
              <a:t>Duration</a:t>
            </a:r>
            <a:r>
              <a:rPr sz="1400" b="0">
                <a:solidFill>
                  <a:srgbClr val="1B2733"/>
                </a:solidFill>
                <a:latin typeface="Georgia"/>
              </a:rPr>
              <a:t>   six month intervention and three month follow up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3E78B2"/>
                </a:solidFill>
                <a:latin typeface="Georgia"/>
              </a:rPr>
              <a:t>▪  </a:t>
            </a:r>
            <a:r>
              <a:rPr sz="1700" b="1">
                <a:solidFill>
                  <a:srgbClr val="1B2733"/>
                </a:solidFill>
                <a:latin typeface="Georgia"/>
              </a:rPr>
              <a:t>Setting</a:t>
            </a:r>
            <a:r>
              <a:rPr sz="1400" b="0">
                <a:solidFill>
                  <a:srgbClr val="1B2733"/>
                </a:solidFill>
                <a:latin typeface="Georgia"/>
              </a:rPr>
              <a:t>   outpatient clinical nutrition department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1554480"/>
            <a:ext cx="3383280" cy="1325880"/>
          </a:xfrm>
          <a:prstGeom prst="round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6420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78B2"/>
                </a:solidFill>
                <a:latin typeface="Georgia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6771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733"/>
                </a:solidFill>
                <a:latin typeface="Georgia"/>
              </a:rPr>
              <a:t>Target 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3108960"/>
            <a:ext cx="3383280" cy="1325880"/>
          </a:xfrm>
          <a:prstGeom prst="round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218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78B2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2219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733"/>
                </a:solidFill>
                <a:latin typeface="Georgia"/>
              </a:rPr>
              <a:t>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663440"/>
            <a:ext cx="3383280" cy="1325880"/>
          </a:xfrm>
          <a:prstGeom prst="roundRect">
            <a:avLst/>
          </a:prstGeom>
          <a:solidFill>
            <a:srgbClr val="E7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77316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78B2"/>
                </a:solidFill>
                <a:latin typeface="Georgia"/>
              </a:rPr>
              <a:t>3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766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2733"/>
                </a:solidFill>
                <a:latin typeface="Georgia"/>
              </a:rPr>
              <a:t>Follow up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Enrollment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Georgia"/>
              </a:rPr>
              <a:t>Clinical research summary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78B2"/>
                </a:solidFill>
                <a:latin typeface="Georgia"/>
              </a:rPr>
              <a:t>On pace</a:t>
            </a:r>
          </a:p>
          <a:p>
            <a:pPr algn="l"/>
            <a:r>
              <a:rPr sz="600" b="0">
                <a:solidFill>
                  <a:srgbClr val="1B2733"/>
                </a:solidFill>
                <a:latin typeface="Georgia"/>
              </a:rPr>
              <a:t/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Georgia"/>
              </a:rPr>
              <a:t>Twelve participants enrolled with no dropouts. Goal is to reach twenty by December 2026.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Early signal on glycemic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Georgia"/>
              </a:rPr>
              <a:t>Clinical research summary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417320"/>
          <a:ext cx="73152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E78B2"/>
                </a:solidFill>
                <a:latin typeface="Georgia"/>
              </a:rPr>
              <a:t>Wider drop</a:t>
            </a:r>
          </a:p>
          <a:p>
            <a:pPr algn="l"/>
            <a:r>
              <a:rPr sz="600" b="0">
                <a:solidFill>
                  <a:srgbClr val="1B2733"/>
                </a:solidFill>
                <a:latin typeface="Georgia"/>
              </a:rPr>
              <a:t/>
            </a:r>
          </a:p>
          <a:p>
            <a:pPr algn="l"/>
            <a:r>
              <a:rPr sz="1300" b="0">
                <a:solidFill>
                  <a:srgbClr val="1B2733"/>
                </a:solidFill>
                <a:latin typeface="Georgia"/>
              </a:rPr>
              <a:t>The intervention arm shows a larger early reduction in average A1C. Findings are preliminary and not yet powered.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146304" cy="50292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Georgia"/>
              </a:rPr>
              <a:t>Sample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355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9A9A"/>
                </a:solidFill>
                <a:latin typeface="Georgia"/>
              </a:rPr>
              <a:t>Clinical research summary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46304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Measure</a:t>
                      </a:r>
                    </a:p>
                  </a:txBody>
                  <a:tcPr anchor="ctr" marT="38100" marB="3810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Value</a:t>
                      </a:r>
                    </a:p>
                  </a:txBody>
                  <a:tcPr anchor="ctr" marT="38100" marB="38100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Enrolled to date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12 of 60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Food insecurity in sample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43 percent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Average baseline A1C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8.7 percent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Session completion rate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94 percent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Average session length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52 minutes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Engagement score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B2733"/>
                          </a:solidFill>
                          <a:latin typeface="Georgia"/>
                        </a:defRPr>
                      </a:pPr>
                      <a:r>
                        <a:t>8.2 of 10</a:t>
                      </a:r>
                    </a:p>
                  </a:txBody>
                  <a:tcPr anchor="ctr" marT="38100" marB="38100">
                    <a:solidFill>
                      <a:srgbClr val="E7ED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Georgia"/>
              </a:rPr>
              <a:t>Conference abstract submission planned for February 6, 2027.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1280160" cy="109728"/>
          </a:xfrm>
          <a:prstGeom prst="rect">
            <a:avLst/>
          </a:prstGeom>
          <a:solidFill>
            <a:srgbClr val="3E78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Georgia"/>
              </a:rPr>
              <a:t>Preliminary data, lasting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C6E6"/>
                </a:solidFill>
                <a:latin typeface="Georgia"/>
              </a:rPr>
              <a:t>Clinical research summary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