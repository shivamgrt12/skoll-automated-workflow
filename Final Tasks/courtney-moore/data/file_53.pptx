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Grams per hour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Sheet1!$A$2:$A$5</c:f>
              <c:strCache>
                <c:ptCount val="4"/>
                <c:pt idx="0">
                  <c:v>Under 2 hr</c:v>
                </c:pt>
                <c:pt idx="1">
                  <c:v>2 to 3 hr</c:v>
                </c:pt>
                <c:pt idx="2">
                  <c:v>3 to 4 hr</c:v>
                </c:pt>
                <c:pt idx="3">
                  <c:v>Over 4 hr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55</c:v>
                </c:pt>
                <c:pt idx="2">
                  <c:v>70</c:v>
                </c:pt>
                <c:pt idx="3">
                  <c:v>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3211F"/>
          </a:solidFill>
          <a:latin typeface="Trebuchet M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280160" cy="109728"/>
          </a:xfrm>
          <a:prstGeom prst="rect">
            <a:avLst/>
          </a:prstGeom>
          <a:solidFill>
            <a:srgbClr val="F2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7EF"/>
                </a:solidFill>
                <a:latin typeface="Trebuchet MS"/>
              </a:rPr>
              <a:t>Fueling the Marathon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2B47E"/>
                </a:solidFill>
                <a:latin typeface="Trebuchet MS"/>
              </a:rPr>
              <a:t>A practical race week and race day fueling clinic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7EF"/>
                </a:solidFill>
                <a:latin typeface="Trebuchet MS"/>
              </a:rPr>
              <a:t>Courtney Moore, RD, MS   |   Running club seminar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2B47E"/>
                </a:solidFill>
                <a:latin typeface="Trebuchet MS"/>
              </a:rPr>
              <a:t>On this</a:t>
            </a:r>
          </a:p>
          <a:p>
            <a:pPr algn="l"/>
            <a:r>
              <a:rPr sz="3400" b="1">
                <a:solidFill>
                  <a:srgbClr val="FFF7EF"/>
                </a:solidFill>
                <a:latin typeface="Trebuchet M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8229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800" b="1">
                <a:solidFill>
                  <a:srgbClr val="23211F"/>
                </a:solidFill>
                <a:latin typeface="Trebuchet MS"/>
              </a:rPr>
              <a:t>01   The race week timeline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800" b="1">
                <a:solidFill>
                  <a:srgbClr val="23211F"/>
                </a:solidFill>
                <a:latin typeface="Trebuchet MS"/>
              </a:rPr>
              <a:t>02   Carbohydrate per hour on race day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800" b="1">
                <a:solidFill>
                  <a:srgbClr val="23211F"/>
                </a:solidFill>
                <a:latin typeface="Trebuchet MS"/>
              </a:rPr>
              <a:t>03   Hydration and electrolytes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800" b="1">
                <a:solidFill>
                  <a:srgbClr val="23211F"/>
                </a:solidFill>
                <a:latin typeface="Trebuchet MS"/>
              </a:rPr>
              <a:t>04   A sample race day fueling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Trebuchet MS"/>
              </a:rPr>
              <a:t>Running club seminar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F2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rebuchet MS"/>
              </a:rPr>
              <a:t>The race week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Trebuchet MS"/>
              </a:rPr>
              <a:t>Running club seminar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Seven days out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raise carbohydrate share, ease training volume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Three days out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steady carbohydrate load, watch fiber and salt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Night before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familiar meal, hydrate to pale yellow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Race morning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light high carbohydrate meal three hours prior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07A1F"/>
                </a:solidFill>
                <a:latin typeface="Trebuchet MS"/>
              </a:rPr>
              <a:t>Days 3 to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11F"/>
                </a:solidFill>
                <a:latin typeface="Trebuchet MS"/>
              </a:rPr>
              <a:t>Carb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07A1F"/>
                </a:solidFill>
                <a:latin typeface="Trebuchet MS"/>
              </a:rPr>
              <a:t>Rehearsed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11F"/>
                </a:solidFill>
                <a:latin typeface="Trebuchet MS"/>
              </a:rPr>
              <a:t>Long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07A1F"/>
                </a:solidFill>
                <a:latin typeface="Trebuchet MS"/>
              </a:rP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11F"/>
                </a:solidFill>
                <a:latin typeface="Trebuchet MS"/>
              </a:rPr>
              <a:t>Surprises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F2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rebuchet MS"/>
              </a:rPr>
              <a:t>Carbohydrate per hour on race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Trebuchet MS"/>
              </a:rPr>
              <a:t>Running club seminar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4173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554480"/>
            <a:ext cx="3200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7A1F"/>
                </a:solidFill>
                <a:latin typeface="Trebuchet MS"/>
              </a:rPr>
              <a:t>Match the clock</a:t>
            </a:r>
          </a:p>
          <a:p>
            <a:pPr algn="l"/>
            <a:r>
              <a:rPr sz="600" b="0">
                <a:solidFill>
                  <a:srgbClr val="23211F"/>
                </a:solidFill>
                <a:latin typeface="Trebuchet MS"/>
              </a:rPr>
              <a:t/>
            </a:r>
          </a:p>
          <a:p>
            <a:pPr algn="l"/>
            <a:r>
              <a:rPr sz="1300" b="0">
                <a:solidFill>
                  <a:srgbClr val="23211F"/>
                </a:solidFill>
                <a:latin typeface="Trebuchet MS"/>
              </a:rPr>
              <a:t>Longer days on course need more carbohydrate per hour. Practice the exact amount during long runs.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F2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rebuchet MS"/>
              </a:rPr>
              <a:t>Hydration and electrolytes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Trebuchet MS"/>
              </a:rPr>
              <a:t>Running club seminar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Fluid target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16 to 20 ounces per hour, adjust for heat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Sodium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plan for salty sweaters and warm starts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Gut training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rehearse fueling on every long run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E07A1F"/>
                </a:solidFill>
                <a:latin typeface="Trebuchet MS"/>
              </a:rPr>
              <a:t>▪  </a:t>
            </a:r>
            <a:r>
              <a:rPr sz="1700" b="1">
                <a:solidFill>
                  <a:srgbClr val="23211F"/>
                </a:solidFill>
                <a:latin typeface="Trebuchet MS"/>
              </a:rPr>
              <a:t>Caffeine</a:t>
            </a:r>
            <a:r>
              <a:rPr sz="1400" b="0">
                <a:solidFill>
                  <a:srgbClr val="23211F"/>
                </a:solidFill>
                <a:latin typeface="Trebuchet MS"/>
              </a:rPr>
              <a:t>   small dose late in the race if tolerated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07A1F"/>
                </a:solidFill>
                <a:latin typeface="Trebuchet MS"/>
              </a:rPr>
              <a:t>16 to 20 oz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11F"/>
                </a:solidFill>
                <a:latin typeface="Trebuchet MS"/>
              </a:rPr>
              <a:t>Fluid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07A1F"/>
                </a:solidFill>
                <a:latin typeface="Trebuchet MS"/>
              </a:rPr>
              <a:t>Every 20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11F"/>
                </a:solidFill>
                <a:latin typeface="Trebuchet MS"/>
              </a:rPr>
              <a:t>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07A1F"/>
                </a:solidFill>
                <a:latin typeface="Trebuchet MS"/>
              </a:rPr>
              <a:t>Long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11F"/>
                </a:solidFill>
                <a:latin typeface="Trebuchet MS"/>
              </a:rPr>
              <a:t>Test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F2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rebuchet MS"/>
              </a:rPr>
              <a:t>A sample race day fueling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Trebuchet MS"/>
              </a:rPr>
              <a:t>Running club seminar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46304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Time point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Fuel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Fluid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Wake plus meal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Bagel, banana, nut butter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12 oz water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Start line</a:t>
                      </a:r>
                    </a:p>
                  </a:txBody>
                  <a:tcPr anchor="ctr" marT="38100" marB="38100">
                    <a:solidFill>
                      <a:srgbClr val="F6E8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One gel</a:t>
                      </a:r>
                    </a:p>
                  </a:txBody>
                  <a:tcPr anchor="ctr" marT="38100" marB="38100">
                    <a:solidFill>
                      <a:srgbClr val="F6E8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Sip to thirst</a:t>
                      </a:r>
                    </a:p>
                  </a:txBody>
                  <a:tcPr anchor="ctr" marT="38100" marB="38100">
                    <a:solidFill>
                      <a:srgbClr val="F6E8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Every 40 minutes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One gel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6 to 8 oz sport drink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Mile 18 to 20</a:t>
                      </a:r>
                    </a:p>
                  </a:txBody>
                  <a:tcPr anchor="ctr" marT="38100" marB="38100">
                    <a:solidFill>
                      <a:srgbClr val="F6E8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Gel plus caffeine</a:t>
                      </a:r>
                    </a:p>
                  </a:txBody>
                  <a:tcPr anchor="ctr" marT="38100" marB="38100">
                    <a:solidFill>
                      <a:srgbClr val="F6E8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Electrolyte</a:t>
                      </a:r>
                    </a:p>
                  </a:txBody>
                  <a:tcPr anchor="ctr" marT="38100" marB="38100">
                    <a:solidFill>
                      <a:srgbClr val="F6E8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Finish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Protein and carbohydrate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11F"/>
                          </a:solidFill>
                          <a:latin typeface="Trebuchet MS"/>
                        </a:defRPr>
                      </a:pPr>
                      <a:r>
                        <a:t>Rehydrate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8404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Trebuchet MS"/>
              </a:rPr>
              <a:t>Build your own card and rehearse it before race day.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7EF"/>
                </a:solidFill>
                <a:latin typeface="Trebuchet MS"/>
              </a:rPr>
              <a:t>Train the gut. Trust the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B47E"/>
                </a:solidFill>
                <a:latin typeface="Trebuchet MS"/>
              </a:rPr>
              <a:t>Running club seminar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