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energy</c:v>
                </c:pt>
              </c:strCache>
            </c:strRef>
          </c:tx>
          <c:spPr>
            <a:solidFill>
              <a:srgbClr val="8B5CC7"/>
            </a:solidFill>
          </c:spPr>
          <c:cat>
            <c:strRef>
              <c:f>Sheet1!$A$2:$A$4</c:f>
              <c:strCache>
                <c:ptCount val="3"/>
                <c:pt idx="0">
                  <c:v>Carbohydrate</c:v>
                </c:pt>
                <c:pt idx="1">
                  <c:v>Protein</c:v>
                </c:pt>
                <c:pt idx="2">
                  <c:v>Fat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22</c:v>
                </c:pt>
                <c:pt idx="2">
                  <c:v>30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241634"/>
          </a:solidFill>
          <a:latin typeface="Constant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280160" cy="109728"/>
          </a:xfrm>
          <a:prstGeom prst="rect">
            <a:avLst/>
          </a:prstGeom>
          <a:solidFill>
            <a:srgbClr val="C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AF6FF"/>
                </a:solidFill>
                <a:latin typeface="Constantia"/>
              </a:rPr>
              <a:t>Medical Nutrition Therapy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9B3E6"/>
                </a:solidFill>
                <a:latin typeface="Constantia"/>
              </a:rPr>
              <a:t>Type 2 diabetes management for the clinical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AF6FF"/>
                </a:solidFill>
                <a:latin typeface="Constantia"/>
              </a:rPr>
              <a:t>Courtney Moore, RD, MS   |   Graduate nutrition lecture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B3E6"/>
                </a:solidFill>
                <a:latin typeface="Constantia"/>
              </a:rPr>
              <a:t>On this</a:t>
            </a:r>
          </a:p>
          <a:p>
            <a:pPr algn="l"/>
            <a:r>
              <a:rPr sz="3400" b="1">
                <a:solidFill>
                  <a:srgbClr val="FAF6FF"/>
                </a:solidFill>
                <a:latin typeface="Constant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8229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800" b="1">
                <a:solidFill>
                  <a:srgbClr val="241634"/>
                </a:solidFill>
                <a:latin typeface="Constantia"/>
              </a:rPr>
              <a:t>01   Learning objectives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800" b="1">
                <a:solidFill>
                  <a:srgbClr val="241634"/>
                </a:solidFill>
                <a:latin typeface="Constantia"/>
              </a:rPr>
              <a:t>02   Glycemic and lab targets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800" b="1">
                <a:solidFill>
                  <a:srgbClr val="241634"/>
                </a:solidFill>
                <a:latin typeface="Constantia"/>
              </a:rPr>
              <a:t>03   Macronutrient distribution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800" b="1">
                <a:solidFill>
                  <a:srgbClr val="241634"/>
                </a:solidFill>
                <a:latin typeface="Constantia"/>
              </a:rPr>
              <a:t>04   Counseling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onstantia"/>
              </a:rPr>
              <a:t>Graduate nutrition lecture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C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tantia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nstantia"/>
              </a:rPr>
              <a:t>Graduate nutrition lecture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Targets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state glycemic and lab goals for most adults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Macronutrients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build an individualized prescription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Behavior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apply culturally adapted counseling methods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Equity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screen for food insecurity and adjust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8B5CC7"/>
                </a:solidFill>
                <a:latin typeface="Constant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1634"/>
                </a:solidFill>
                <a:latin typeface="Constantia"/>
              </a:rPr>
              <a:t>Credits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8B5CC7"/>
                </a:solidFill>
                <a:latin typeface="Constantia"/>
              </a:rPr>
              <a:t>Graduate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1634"/>
                </a:solidFill>
                <a:latin typeface="Constantia"/>
              </a:rPr>
              <a:t>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8B5CC7"/>
                </a:solidFill>
                <a:latin typeface="Constantia"/>
              </a:rPr>
              <a:t>Clinical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1634"/>
                </a:solidFill>
                <a:latin typeface="Constantia"/>
              </a:rPr>
              <a:t>Module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C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tantia"/>
              </a:rPr>
              <a:t>Glycemic and lab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nstantia"/>
              </a:rPr>
              <a:t>Graduate nutrition lecture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46304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onstantia"/>
                        </a:defRPr>
                      </a:pPr>
                      <a:r>
                        <a:t>Measure</a:t>
                      </a:r>
                    </a:p>
                  </a:txBody>
                  <a:tcPr anchor="ctr" marT="38100" marB="38100">
                    <a:solidFill>
                      <a:srgbClr val="4C2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onstantia"/>
                        </a:defRPr>
                      </a:pPr>
                      <a:r>
                        <a:t>Typical target</a:t>
                      </a:r>
                    </a:p>
                  </a:txBody>
                  <a:tcPr anchor="ctr" marT="38100" marB="38100">
                    <a:solidFill>
                      <a:srgbClr val="4C2A6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A1C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Under 7 percent for most adults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Fasting glucose</a:t>
                      </a:r>
                    </a:p>
                  </a:txBody>
                  <a:tcPr anchor="ctr" marT="38100" marB="38100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80 to 130 mg per dL</a:t>
                      </a:r>
                    </a:p>
                  </a:txBody>
                  <a:tcPr anchor="ctr" marT="38100" marB="38100">
                    <a:solidFill>
                      <a:srgbClr val="EEE7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Post meal glucose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Under 180 mg per dL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Blood pressure</a:t>
                      </a:r>
                    </a:p>
                  </a:txBody>
                  <a:tcPr anchor="ctr" marT="38100" marB="38100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Under 130 over 80</a:t>
                      </a:r>
                    </a:p>
                  </a:txBody>
                  <a:tcPr anchor="ctr" marT="38100" marB="38100">
                    <a:solidFill>
                      <a:srgbClr val="EEE7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Carbohydrate per meal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1634"/>
                          </a:solidFill>
                          <a:latin typeface="Constantia"/>
                        </a:defRPr>
                      </a:pPr>
                      <a:r>
                        <a:t>45 to 60 grams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840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onstantia"/>
              </a:rPr>
              <a:t>Targets are individualized for age, history, and risk.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C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tantia"/>
              </a:rPr>
              <a:t>Macronutrient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nstantia"/>
              </a:rPr>
              <a:t>Graduate nutrition lecture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4173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554480"/>
            <a:ext cx="3200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C7"/>
                </a:solidFill>
                <a:latin typeface="Constantia"/>
              </a:rPr>
              <a:t>Balance</a:t>
            </a:r>
          </a:p>
          <a:p>
            <a:pPr algn="l"/>
            <a:r>
              <a:rPr sz="600" b="0">
                <a:solidFill>
                  <a:srgbClr val="241634"/>
                </a:solidFill>
                <a:latin typeface="Constantia"/>
              </a:rPr>
              <a:t/>
            </a:r>
          </a:p>
          <a:p>
            <a:pPr algn="l"/>
            <a:r>
              <a:rPr sz="1300" b="0">
                <a:solidFill>
                  <a:srgbClr val="241634"/>
                </a:solidFill>
                <a:latin typeface="Constantia"/>
              </a:rPr>
              <a:t>A common starting distribution. Carbohydrate is spread evenly across meals and emphasizes high fiber sources.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C9B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tantia"/>
              </a:rPr>
              <a:t>Counseling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nstantia"/>
              </a:rPr>
              <a:t>Graduate nutrition lecture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Start with the plate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work from foods the patient already eats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Adapt traditions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modify recipes rather than replace them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Small shifts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brown rice for white, protein at every meal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8B5CC7"/>
                </a:solidFill>
                <a:latin typeface="Constantia"/>
              </a:rPr>
              <a:t>▪  </a:t>
            </a:r>
            <a:r>
              <a:rPr sz="1700" b="1">
                <a:solidFill>
                  <a:srgbClr val="241634"/>
                </a:solidFill>
                <a:latin typeface="Constantia"/>
              </a:rPr>
              <a:t>Follow through</a:t>
            </a:r>
            <a:r>
              <a:rPr sz="1400" b="0">
                <a:solidFill>
                  <a:srgbClr val="241634"/>
                </a:solidFill>
                <a:latin typeface="Constantia"/>
              </a:rPr>
              <a:t>   short frequent check ins sustain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8B5CC7"/>
                </a:solidFill>
                <a:latin typeface="Constantia"/>
              </a:rPr>
              <a:t>Adapt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1634"/>
                </a:solidFill>
                <a:latin typeface="Constantia"/>
              </a:rPr>
              <a:t>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8B5CC7"/>
                </a:solidFill>
                <a:latin typeface="Constantia"/>
              </a:rPr>
              <a:t>Frequent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1634"/>
                </a:solidFill>
                <a:latin typeface="Constantia"/>
              </a:rPr>
              <a:t>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8B5CC7"/>
                </a:solidFill>
                <a:latin typeface="Constantia"/>
              </a:rPr>
              <a:t>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1634"/>
                </a:solidFill>
                <a:latin typeface="Constantia"/>
              </a:rPr>
              <a:t>Focus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8B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AF6FF"/>
                </a:solidFill>
                <a:latin typeface="Constantia"/>
              </a:rPr>
              <a:t>Evidence based. Patient centered.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9B3E6"/>
                </a:solidFill>
                <a:latin typeface="Constantia"/>
              </a:rPr>
              <a:t>Graduate nutrition lecture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