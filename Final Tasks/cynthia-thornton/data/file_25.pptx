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E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698480" cy="539496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731520"/>
            <a:ext cx="10698480" cy="50800"/>
          </a:xfrm>
          <a:prstGeom prst="rect">
            <a:avLst/>
          </a:prstGeom>
          <a:solidFill>
            <a:srgbClr val="B9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 i="0">
                <a:solidFill>
                  <a:srgbClr val="4A1B2A"/>
                </a:solidFill>
                <a:latin typeface="Constantia"/>
              </a:rPr>
              <a:t>The Tasting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320040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1">
                <a:solidFill>
                  <a:srgbClr val="7E2C44"/>
                </a:solidFill>
                <a:latin typeface="Constantia"/>
              </a:rPr>
              <a:t>Rootstock  |  Seasonal menu and pairings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93776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4A1B2A"/>
                </a:solidFill>
                <a:latin typeface="Constantia"/>
              </a:rPr>
              <a:t>A five-course progression that changes with the harvest. Fall 2026 preview.</a:t>
            </a:r>
          </a:p>
        </p:txBody>
      </p:sp>
    </p:spTree>
  </p:cSld>
  <p:clrMapOvr>
    <a:masterClrMapping/>
  </p:clrMapOvr>
  <p:transition spd="med">
    <p:wip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7E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0"/>
            <a:ext cx="100584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BF3F0"/>
                </a:solidFill>
                <a:latin typeface="Constantia"/>
              </a:rPr>
              <a:t>Five Courses, 95 Dollars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822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B98A3E"/>
                </a:solidFill>
                <a:latin typeface="Constantia"/>
              </a:rPr>
              <a:t>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371600"/>
            <a:ext cx="9601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4A1B2A"/>
                </a:solidFill>
                <a:latin typeface="Constantia"/>
              </a:rPr>
              <a:t>House cultured butter and sourdough</a:t>
            </a:r>
          </a:p>
          <a:p>
            <a:pPr algn="l"/>
            <a:r>
              <a:rPr sz="1200" b="0" i="1">
                <a:solidFill>
                  <a:srgbClr val="7E2C44"/>
                </a:solidFill>
                <a:latin typeface="Constantia"/>
              </a:rPr>
              <a:t>82 percent hydration, two day culture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304288"/>
            <a:ext cx="10607040" cy="12700"/>
          </a:xfrm>
          <a:prstGeom prst="rect">
            <a:avLst/>
          </a:prstGeom>
          <a:solidFill>
            <a:srgbClr val="EA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95728"/>
            <a:ext cx="822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B98A3E"/>
                </a:solidFill>
                <a:latin typeface="Constantia"/>
              </a:rPr>
              <a:t>II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395728"/>
            <a:ext cx="9601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4A1B2A"/>
                </a:solidFill>
                <a:latin typeface="Constantia"/>
              </a:rPr>
              <a:t>Roasted chicory salad</a:t>
            </a:r>
          </a:p>
          <a:p>
            <a:pPr algn="l"/>
            <a:r>
              <a:rPr sz="1200" b="0" i="1">
                <a:solidFill>
                  <a:srgbClr val="7E2C44"/>
                </a:solidFill>
                <a:latin typeface="Constantia"/>
              </a:rPr>
              <a:t>Honey-lacto carrots, ricotta, hazelnut, cider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328416"/>
            <a:ext cx="10607040" cy="12700"/>
          </a:xfrm>
          <a:prstGeom prst="rect">
            <a:avLst/>
          </a:prstGeom>
          <a:solidFill>
            <a:srgbClr val="EA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419856"/>
            <a:ext cx="822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B98A3E"/>
                </a:solidFill>
                <a:latin typeface="Constantia"/>
              </a:rPr>
              <a:t>III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419856"/>
            <a:ext cx="9601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4A1B2A"/>
                </a:solidFill>
                <a:latin typeface="Constantia"/>
              </a:rPr>
              <a:t>Hand-rolled pappardelle</a:t>
            </a:r>
          </a:p>
          <a:p>
            <a:pPr algn="l"/>
            <a:r>
              <a:rPr sz="1200" b="0" i="1">
                <a:solidFill>
                  <a:srgbClr val="7E2C44"/>
                </a:solidFill>
                <a:latin typeface="Constantia"/>
              </a:rPr>
              <a:t>Short rib ragu on the Sunday-stew base, aged provolone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352544"/>
            <a:ext cx="10607040" cy="12700"/>
          </a:xfrm>
          <a:prstGeom prst="rect">
            <a:avLst/>
          </a:prstGeom>
          <a:solidFill>
            <a:srgbClr val="EA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443984"/>
            <a:ext cx="822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B98A3E"/>
                </a:solidFill>
                <a:latin typeface="Constantia"/>
              </a:rPr>
              <a:t>IV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4443984"/>
            <a:ext cx="9601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4A1B2A"/>
                </a:solidFill>
                <a:latin typeface="Constantia"/>
              </a:rPr>
              <a:t>Seared diver scallops</a:t>
            </a:r>
          </a:p>
          <a:p>
            <a:pPr algn="l"/>
            <a:r>
              <a:rPr sz="1200" b="0" i="1">
                <a:solidFill>
                  <a:srgbClr val="7E2C44"/>
                </a:solidFill>
                <a:latin typeface="Constantia"/>
              </a:rPr>
              <a:t>Celery root puree, brown butter, apple, cider gastrique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5376672"/>
            <a:ext cx="10607040" cy="12700"/>
          </a:xfrm>
          <a:prstGeom prst="rect">
            <a:avLst/>
          </a:prstGeom>
          <a:solidFill>
            <a:srgbClr val="EA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5468112"/>
            <a:ext cx="82296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B98A3E"/>
                </a:solidFill>
                <a:latin typeface="Constantia"/>
              </a:rPr>
              <a:t>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5468112"/>
            <a:ext cx="9601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4A1B2A"/>
                </a:solidFill>
                <a:latin typeface="Constantia"/>
              </a:rPr>
              <a:t>Bread and olive oil cake</a:t>
            </a:r>
          </a:p>
          <a:p>
            <a:pPr algn="l"/>
            <a:r>
              <a:rPr sz="1200" b="0" i="1">
                <a:solidFill>
                  <a:srgbClr val="7E2C44"/>
                </a:solidFill>
                <a:latin typeface="Constantia"/>
              </a:rPr>
              <a:t>Whipped cream, late-season fruit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6400800"/>
            <a:ext cx="10607040" cy="12700"/>
          </a:xfrm>
          <a:prstGeom prst="rect">
            <a:avLst/>
          </a:prstGeom>
          <a:solidFill>
            <a:srgbClr val="EA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med">
    <p:wip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1B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BF3F0"/>
                </a:solidFill>
                <a:latin typeface="Constantia"/>
              </a:rPr>
              <a:t>Signature Dishes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5212080" cy="4206240"/>
          </a:xfrm>
          <a:prstGeom prst="rect">
            <a:avLst/>
          </a:prstGeom>
          <a:solidFill>
            <a:srgbClr val="7E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554480"/>
            <a:ext cx="5212080" cy="164592"/>
          </a:xfrm>
          <a:prstGeom prst="rect">
            <a:avLst/>
          </a:prstGeom>
          <a:solidFill>
            <a:srgbClr val="B9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2024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BF3F0"/>
                </a:solidFill>
                <a:latin typeface="Constantia"/>
              </a:rPr>
              <a:t>Seared Diver Scallops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926080"/>
            <a:ext cx="44805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AD7C6"/>
                </a:solidFill>
                <a:latin typeface="Constantia"/>
              </a:rPr>
              <a:t>U10 scallops, celery root puree, brown butter, apple brunoise, toasted hazelnut, cider gastrique.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51206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98A3E"/>
                </a:solidFill>
                <a:latin typeface="Constantia"/>
              </a:rPr>
              <a:t>34 dollars  |  29 percent food cost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554480"/>
            <a:ext cx="5212080" cy="4206240"/>
          </a:xfrm>
          <a:prstGeom prst="rect">
            <a:avLst/>
          </a:prstGeom>
          <a:solidFill>
            <a:srgbClr val="7E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554480"/>
            <a:ext cx="5212080" cy="164592"/>
          </a:xfrm>
          <a:prstGeom prst="rect">
            <a:avLst/>
          </a:prstGeom>
          <a:solidFill>
            <a:srgbClr val="B98A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920240"/>
            <a:ext cx="4480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BF3F0"/>
                </a:solidFill>
                <a:latin typeface="Constantia"/>
              </a:rPr>
              <a:t>Hand-Rolled Pappardelle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926080"/>
            <a:ext cx="44805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AD7C6"/>
                </a:solidFill>
                <a:latin typeface="Constantia"/>
              </a:rPr>
              <a:t>Egg-yolk pasta, braised short rib ragu, aged provolone, gremolata at the pass.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51206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B98A3E"/>
                </a:solidFill>
                <a:latin typeface="Constantia"/>
              </a:rPr>
              <a:t>29 dollars  |  25 percent food cost</a:t>
            </a:r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486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4A1B2A"/>
                </a:solidFill>
                <a:latin typeface="Constantia"/>
              </a:rPr>
              <a:t>Beverage and Pairings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554480"/>
            <a:ext cx="10607040" cy="548640"/>
          </a:xfrm>
          <a:prstGeom prst="rect">
            <a:avLst/>
          </a:prstGeom>
          <a:solidFill>
            <a:srgbClr val="7E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BF3F0"/>
                </a:solidFill>
                <a:latin typeface="Constantia"/>
              </a:rPr>
              <a:t>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BF3F0"/>
                </a:solidFill>
                <a:latin typeface="Constantia"/>
              </a:rPr>
              <a:t>Pour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03120"/>
            <a:ext cx="10607040" cy="713232"/>
          </a:xfrm>
          <a:prstGeom prst="rect">
            <a:avLst/>
          </a:prstGeom>
          <a:solidFill>
            <a:srgbClr val="EA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03120"/>
            <a:ext cx="4937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A1B2A"/>
                </a:solidFill>
                <a:latin typeface="Constantia"/>
              </a:rPr>
              <a:t>Cultured butter, bread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103120"/>
            <a:ext cx="5120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7E2C44"/>
                </a:solidFill>
                <a:latin typeface="Constantia"/>
              </a:rPr>
              <a:t>Off-dry Riesling or a dry sparkling cider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816352"/>
            <a:ext cx="4937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A1B2A"/>
                </a:solidFill>
                <a:latin typeface="Constantia"/>
              </a:rPr>
              <a:t>Chicory salad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816352"/>
            <a:ext cx="5120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7E2C44"/>
                </a:solidFill>
                <a:latin typeface="Constantia"/>
              </a:rPr>
              <a:t>Light amber ale or a dry rose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529584"/>
            <a:ext cx="10607040" cy="713232"/>
          </a:xfrm>
          <a:prstGeom prst="rect">
            <a:avLst/>
          </a:prstGeom>
          <a:solidFill>
            <a:srgbClr val="EA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529584"/>
            <a:ext cx="4937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A1B2A"/>
                </a:solidFill>
                <a:latin typeface="Constantia"/>
              </a:rPr>
              <a:t>Pappardelle, short rib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529584"/>
            <a:ext cx="5120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7E2C44"/>
                </a:solidFill>
                <a:latin typeface="Constantia"/>
              </a:rPr>
              <a:t>California Zinfandel, the everyday pour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242816"/>
            <a:ext cx="4937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A1B2A"/>
                </a:solidFill>
                <a:latin typeface="Constantia"/>
              </a:rPr>
              <a:t>Diver scallops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242816"/>
            <a:ext cx="5120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7E2C44"/>
                </a:solidFill>
                <a:latin typeface="Constantia"/>
              </a:rPr>
              <a:t>Unoaked Chardonnay or a coastal white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956048"/>
            <a:ext cx="10607040" cy="713232"/>
          </a:xfrm>
          <a:prstGeom prst="rect">
            <a:avLst/>
          </a:prstGeom>
          <a:solidFill>
            <a:srgbClr val="EAD7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956048"/>
            <a:ext cx="49377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4A1B2A"/>
                </a:solidFill>
                <a:latin typeface="Constantia"/>
              </a:rPr>
              <a:t>Dessert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4956048"/>
            <a:ext cx="51206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7E2C44"/>
                </a:solidFill>
                <a:latin typeface="Constantia"/>
              </a:rPr>
              <a:t>Tawny-style fortified or a late-harvest pour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85216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7E2C44"/>
                </a:solidFill>
                <a:latin typeface="Constantia"/>
              </a:rPr>
              <a:t>Optional pairing flight, 55 dollars. Local lager and NJ craft stouts available at the bar.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E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BF3F0"/>
                </a:solidFill>
                <a:latin typeface="Constantia"/>
              </a:rPr>
              <a:t>Menu Economics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2468880" cy="219456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7E2C44"/>
                </a:solidFill>
                <a:latin typeface="Constantia"/>
              </a:rPr>
              <a:t>80 to 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4A1B2A"/>
                </a:solidFill>
                <a:latin typeface="Constantia"/>
              </a:rPr>
              <a:t>average check, dollars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566160" y="2194560"/>
            <a:ext cx="2468880" cy="219456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4688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7E2C44"/>
                </a:solidFill>
                <a:latin typeface="Constantia"/>
              </a:rPr>
              <a:t>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365760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4A1B2A"/>
                </a:solidFill>
                <a:latin typeface="Constantia"/>
              </a:rPr>
              <a:t>food cost target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194560"/>
            <a:ext cx="2468880" cy="219456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24688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7E2C44"/>
                </a:solidFill>
                <a:latin typeface="Constantia"/>
              </a:rPr>
              <a:t>95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65760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4A1B2A"/>
                </a:solidFill>
                <a:latin typeface="Constantia"/>
              </a:rPr>
              <a:t>tasting menu, dollars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2194560"/>
            <a:ext cx="2468880" cy="219456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2468880"/>
            <a:ext cx="2468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600" b="1" i="0">
                <a:solidFill>
                  <a:srgbClr val="7E2C44"/>
                </a:solidFill>
                <a:latin typeface="Constantia"/>
              </a:rPr>
              <a:t>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657600"/>
            <a:ext cx="2468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4A1B2A"/>
                </a:solidFill>
                <a:latin typeface="Constantia"/>
              </a:rPr>
              <a:t>optional pairing, dollars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2064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EAD7C6"/>
                </a:solidFill>
                <a:latin typeface="Constantia"/>
              </a:rPr>
              <a:t>Built on tested dishes from the home development log, refined over months of days-off cooking before any of it reaches a guest.</a:t>
            </a:r>
          </a:p>
        </p:txBody>
      </p:sp>
    </p:spTree>
  </p:cSld>
  <p:clrMapOvr>
    <a:masterClrMapping/>
  </p:clrMapOvr>
  <p:transition spd="med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Cynthia Thornton</dc:creator>
  <cp:lastModifiedBy>Cynthia Thornton</cp:lastModifiedBy>
  <dcterms:created xsi:type="dcterms:W3CDTF">2026-10-10T09:00:00Z</dcterms:created>
  <dcterms:modified xsi:type="dcterms:W3CDTF">2026-10-15T18:00:00Z</dcterms:modified>
</cp:coreProperties>
</file>