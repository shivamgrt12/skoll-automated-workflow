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0"/>
            <a:ext cx="12191695" cy="164592"/>
          </a:xfrm>
          <a:prstGeom prst="rect">
            <a:avLst/>
          </a:prstGeom>
          <a:solidFill>
            <a:srgbClr val="B55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BF8F4"/>
                </a:solidFill>
                <a:latin typeface="Calibri"/>
              </a:rPr>
              <a:t>Operations and Opening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38328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B5552E"/>
                </a:solidFill>
                <a:latin typeface="Calibri"/>
              </a:rPr>
              <a:t>Rootstock  |  Build, staff, and open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12064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7E2DA"/>
                </a:solidFill>
                <a:latin typeface="Calibri"/>
              </a:rPr>
              <a:t>Prepared by Cynthia Thornton, Chef-Owner  |  October 2026  |  Confidential</a:t>
            </a:r>
          </a:p>
        </p:txBody>
      </p:sp>
    </p:spTree>
  </p:cSld>
  <p:clrMapOvr>
    <a:masterClrMapping/>
  </p:clrMapOvr>
  <p:transition spd="med">
    <p:push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B55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0"/>
            <a:ext cx="100584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BF8F4"/>
                </a:solidFill>
                <a:latin typeface="Calibri"/>
              </a:rPr>
              <a:t>Timeline to Opening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108960"/>
            <a:ext cx="10332720" cy="38100"/>
          </a:xfrm>
          <a:prstGeom prst="rect">
            <a:avLst/>
          </a:prstGeom>
          <a:solidFill>
            <a:srgbClr val="3E46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" y="2971800"/>
            <a:ext cx="292608" cy="292608"/>
          </a:xfrm>
          <a:prstGeom prst="ellipse">
            <a:avLst/>
          </a:prstGeom>
          <a:solidFill>
            <a:srgbClr val="B55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2926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B5552E"/>
                </a:solidFill>
                <a:latin typeface="Calibri"/>
              </a:rPr>
              <a:t>Q4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47472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3262B"/>
                </a:solidFill>
                <a:latin typeface="Calibri"/>
              </a:rPr>
              <a:t>Lease and LOI, investor close</a:t>
            </a:r>
          </a:p>
        </p:txBody>
      </p:sp>
      <p:sp>
        <p:nvSpPr>
          <p:cNvPr id="9" name="Oval 8"/>
          <p:cNvSpPr/>
          <p:nvPr/>
        </p:nvSpPr>
        <p:spPr>
          <a:xfrm>
            <a:off x="4389120" y="2971800"/>
            <a:ext cx="292608" cy="292608"/>
          </a:xfrm>
          <a:prstGeom prst="ellipse">
            <a:avLst/>
          </a:prstGeom>
          <a:solidFill>
            <a:srgbClr val="B55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0" y="1920240"/>
            <a:ext cx="2926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B5552E"/>
                </a:solidFill>
                <a:latin typeface="Calibri"/>
              </a:rPr>
              <a:t>Q1 2027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347472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3262B"/>
                </a:solidFill>
                <a:latin typeface="Calibri"/>
              </a:rPr>
              <a:t>Financing and permits</a:t>
            </a:r>
          </a:p>
        </p:txBody>
      </p:sp>
      <p:sp>
        <p:nvSpPr>
          <p:cNvPr id="12" name="Oval 11"/>
          <p:cNvSpPr/>
          <p:nvPr/>
        </p:nvSpPr>
        <p:spPr>
          <a:xfrm>
            <a:off x="7680960" y="2971800"/>
            <a:ext cx="292608" cy="292608"/>
          </a:xfrm>
          <a:prstGeom prst="ellipse">
            <a:avLst/>
          </a:prstGeom>
          <a:solidFill>
            <a:srgbClr val="B55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1920240"/>
            <a:ext cx="2926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B5552E"/>
                </a:solidFill>
                <a:latin typeface="Calibri"/>
              </a:rPr>
              <a:t>Q2 2027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347472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3262B"/>
                </a:solidFill>
                <a:latin typeface="Calibri"/>
              </a:rPr>
              <a:t>Buildout and hiring</a:t>
            </a:r>
          </a:p>
        </p:txBody>
      </p:sp>
      <p:sp>
        <p:nvSpPr>
          <p:cNvPr id="15" name="Oval 14"/>
          <p:cNvSpPr/>
          <p:nvPr/>
        </p:nvSpPr>
        <p:spPr>
          <a:xfrm>
            <a:off x="10972800" y="2971800"/>
            <a:ext cx="292608" cy="292608"/>
          </a:xfrm>
          <a:prstGeom prst="ellipse">
            <a:avLst/>
          </a:prstGeom>
          <a:solidFill>
            <a:srgbClr val="B55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98480" y="1920240"/>
            <a:ext cx="2926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B5552E"/>
                </a:solidFill>
                <a:latin typeface="Calibri"/>
              </a:rPr>
              <a:t>Q3 2027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347472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3262B"/>
                </a:solidFill>
                <a:latin typeface="Calibri"/>
              </a:rPr>
              <a:t>Open the doors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5778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3E4651"/>
                </a:solidFill>
                <a:latin typeface="Calibri"/>
              </a:rPr>
              <a:t>Sequenced deliberately. Each phase only starts when the prior one is funded and signed. No opening before the kitchen is dialed.</a:t>
            </a:r>
          </a:p>
        </p:txBody>
      </p:sp>
    </p:spTree>
  </p:cSld>
  <p:clrMapOvr>
    <a:masterClrMapping/>
  </p:clrMapOvr>
  <p:transition spd="med">
    <p:push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3262B"/>
                </a:solidFill>
                <a:latin typeface="Calibri"/>
              </a:rPr>
              <a:t>Use of Funds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2801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B5552E"/>
                </a:solidFill>
                <a:latin typeface="Calibri"/>
              </a:rPr>
              <a:t>Total project 465,000 dollars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" y="2336292"/>
            <a:ext cx="1160145" cy="2875788"/>
          </a:xfrm>
          <a:prstGeom prst="rect">
            <a:avLst/>
          </a:prstGeom>
          <a:solidFill>
            <a:srgbClr val="B55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257800"/>
            <a:ext cx="143446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23262B"/>
                </a:solidFill>
                <a:latin typeface="Calibri"/>
              </a:rPr>
              <a:t>Buildout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61972"/>
            <a:ext cx="143446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B5552E"/>
                </a:solidFill>
                <a:latin typeface="Calibri"/>
              </a:rPr>
              <a:t>185k</a:t>
            </a:r>
          </a:p>
        </p:txBody>
      </p:sp>
      <p:sp>
        <p:nvSpPr>
          <p:cNvPr id="8" name="Rectangle 7"/>
          <p:cNvSpPr/>
          <p:nvPr/>
        </p:nvSpPr>
        <p:spPr>
          <a:xfrm>
            <a:off x="2257425" y="3735324"/>
            <a:ext cx="1160145" cy="1476756"/>
          </a:xfrm>
          <a:prstGeom prst="rect">
            <a:avLst/>
          </a:prstGeom>
          <a:solidFill>
            <a:srgbClr val="B55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20265" y="5257800"/>
            <a:ext cx="143446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23262B"/>
                </a:solidFill>
                <a:latin typeface="Calibri"/>
              </a:rPr>
              <a:t>Equipment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20265" y="3461004"/>
            <a:ext cx="143446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B5552E"/>
                </a:solidFill>
                <a:latin typeface="Calibri"/>
              </a:rPr>
              <a:t>95k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54730" y="4465930"/>
            <a:ext cx="1160145" cy="746150"/>
          </a:xfrm>
          <a:prstGeom prst="rect">
            <a:avLst/>
          </a:prstGeom>
          <a:solidFill>
            <a:srgbClr val="B55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17570" y="5257800"/>
            <a:ext cx="143446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23262B"/>
                </a:solidFill>
                <a:latin typeface="Calibri"/>
              </a:rPr>
              <a:t>Furniture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17570" y="4191610"/>
            <a:ext cx="143446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B5552E"/>
                </a:solidFill>
                <a:latin typeface="Calibri"/>
              </a:rPr>
              <a:t>48k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52035" y="4745736"/>
            <a:ext cx="1160145" cy="466344"/>
          </a:xfrm>
          <a:prstGeom prst="rect">
            <a:avLst/>
          </a:prstGeom>
          <a:solidFill>
            <a:srgbClr val="B55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14875" y="5257800"/>
            <a:ext cx="143446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23262B"/>
                </a:solidFill>
                <a:latin typeface="Calibri"/>
              </a:rPr>
              <a:t>Permits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14875" y="4471416"/>
            <a:ext cx="143446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B5552E"/>
                </a:solidFill>
                <a:latin typeface="Calibri"/>
              </a:rPr>
              <a:t>30k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49340" y="4668012"/>
            <a:ext cx="1160145" cy="544068"/>
          </a:xfrm>
          <a:prstGeom prst="rect">
            <a:avLst/>
          </a:prstGeom>
          <a:solidFill>
            <a:srgbClr val="B55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12180" y="5257800"/>
            <a:ext cx="143446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23262B"/>
                </a:solidFill>
                <a:latin typeface="Calibri"/>
              </a:rPr>
              <a:t>Payroll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12180" y="4393692"/>
            <a:ext cx="143446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B5552E"/>
                </a:solidFill>
                <a:latin typeface="Calibri"/>
              </a:rPr>
              <a:t>35k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46645" y="4870095"/>
            <a:ext cx="1160145" cy="341985"/>
          </a:xfrm>
          <a:prstGeom prst="rect">
            <a:avLst/>
          </a:prstGeom>
          <a:solidFill>
            <a:srgbClr val="B55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09485" y="5257800"/>
            <a:ext cx="143446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23262B"/>
                </a:solidFill>
                <a:latin typeface="Calibri"/>
              </a:rPr>
              <a:t>Smallwares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09485" y="4595775"/>
            <a:ext cx="143446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B5552E"/>
                </a:solidFill>
                <a:latin typeface="Calibri"/>
              </a:rPr>
              <a:t>22k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43950" y="4932274"/>
            <a:ext cx="1160145" cy="279806"/>
          </a:xfrm>
          <a:prstGeom prst="rect">
            <a:avLst/>
          </a:prstGeom>
          <a:solidFill>
            <a:srgbClr val="B55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06790" y="5257800"/>
            <a:ext cx="143446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23262B"/>
                </a:solidFill>
                <a:latin typeface="Calibri"/>
              </a:rPr>
              <a:t>Inventory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06790" y="4657954"/>
            <a:ext cx="143446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B5552E"/>
                </a:solidFill>
                <a:latin typeface="Calibri"/>
              </a:rPr>
              <a:t>18k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41255" y="4714647"/>
            <a:ext cx="1160145" cy="497433"/>
          </a:xfrm>
          <a:prstGeom prst="rect">
            <a:avLst/>
          </a:prstGeom>
          <a:solidFill>
            <a:srgbClr val="B55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04095" y="5257800"/>
            <a:ext cx="143446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23262B"/>
                </a:solidFill>
                <a:latin typeface="Calibri"/>
              </a:rPr>
              <a:t>Reserve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04095" y="4440327"/>
            <a:ext cx="143446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B5552E"/>
                </a:solidFill>
                <a:latin typeface="Calibri"/>
              </a:rPr>
              <a:t>32k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" y="5212080"/>
            <a:ext cx="10515600" cy="19050"/>
          </a:xfrm>
          <a:prstGeom prst="rect">
            <a:avLst/>
          </a:prstGeom>
          <a:solidFill>
            <a:srgbClr val="3E46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576072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3E4651"/>
                </a:solidFill>
                <a:latin typeface="Calibri"/>
              </a:rPr>
              <a:t>Funded by 50,000 owner equity, a 165,000 SBA 7(a) loan, and 250,000 investor equity.</a:t>
            </a:r>
          </a:p>
        </p:txBody>
      </p:sp>
    </p:spTree>
  </p:cSld>
  <p:clrMapOvr>
    <a:masterClrMapping/>
  </p:clrMapOvr>
  <p:transition spd="med">
    <p:push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BF8F4"/>
                </a:solidFill>
                <a:latin typeface="Calibri"/>
              </a:rPr>
              <a:t>Opening Brigade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645920"/>
            <a:ext cx="5120640" cy="1188720"/>
          </a:xfrm>
          <a:prstGeom prst="rect">
            <a:avLst/>
          </a:prstGeom>
          <a:solidFill>
            <a:srgbClr val="3E46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63500" cy="1188720"/>
          </a:xfrm>
          <a:prstGeom prst="rect">
            <a:avLst/>
          </a:prstGeom>
          <a:solidFill>
            <a:srgbClr val="B55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645920"/>
            <a:ext cx="466344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BF8F4"/>
                </a:solidFill>
                <a:latin typeface="Calibri"/>
              </a:rPr>
              <a:t>Chef-Owner</a:t>
            </a:r>
          </a:p>
          <a:p>
            <a:pPr algn="l"/>
            <a:r>
              <a:rPr sz="1200" b="0" i="0">
                <a:solidFill>
                  <a:srgbClr val="E7E2DA"/>
                </a:solidFill>
                <a:latin typeface="Calibri"/>
              </a:rPr>
              <a:t>Cynthia Thornton. Menu, sourcing, the line.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645920"/>
            <a:ext cx="5120640" cy="1188720"/>
          </a:xfrm>
          <a:prstGeom prst="rect">
            <a:avLst/>
          </a:prstGeom>
          <a:solidFill>
            <a:srgbClr val="3E46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09360" y="1645920"/>
            <a:ext cx="63500" cy="1188720"/>
          </a:xfrm>
          <a:prstGeom prst="rect">
            <a:avLst/>
          </a:prstGeom>
          <a:solidFill>
            <a:srgbClr val="B55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645920"/>
            <a:ext cx="466344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BF8F4"/>
                </a:solidFill>
                <a:latin typeface="Calibri"/>
              </a:rPr>
              <a:t>Sous chef</a:t>
            </a:r>
          </a:p>
          <a:p>
            <a:pPr algn="l"/>
            <a:r>
              <a:rPr sz="1200" b="0" i="0">
                <a:solidFill>
                  <a:srgbClr val="E7E2DA"/>
                </a:solidFill>
                <a:latin typeface="Calibri"/>
              </a:rPr>
              <a:t>One hire. Runs service when I am in the office.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063240"/>
            <a:ext cx="5120640" cy="1188720"/>
          </a:xfrm>
          <a:prstGeom prst="rect">
            <a:avLst/>
          </a:prstGeom>
          <a:solidFill>
            <a:srgbClr val="3E46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3063240"/>
            <a:ext cx="63500" cy="1188720"/>
          </a:xfrm>
          <a:prstGeom prst="rect">
            <a:avLst/>
          </a:prstGeom>
          <a:solidFill>
            <a:srgbClr val="B55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63240"/>
            <a:ext cx="466344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BF8F4"/>
                </a:solidFill>
                <a:latin typeface="Calibri"/>
              </a:rPr>
              <a:t>Line cooks</a:t>
            </a:r>
          </a:p>
          <a:p>
            <a:pPr algn="l"/>
            <a:r>
              <a:rPr sz="1200" b="0" i="0">
                <a:solidFill>
                  <a:srgbClr val="E7E2DA"/>
                </a:solidFill>
                <a:latin typeface="Calibri"/>
              </a:rPr>
              <a:t>Three. Saute, grill, garde manger.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3063240"/>
            <a:ext cx="5120640" cy="1188720"/>
          </a:xfrm>
          <a:prstGeom prst="rect">
            <a:avLst/>
          </a:prstGeom>
          <a:solidFill>
            <a:srgbClr val="3E46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3063240"/>
            <a:ext cx="63500" cy="1188720"/>
          </a:xfrm>
          <a:prstGeom prst="rect">
            <a:avLst/>
          </a:prstGeom>
          <a:solidFill>
            <a:srgbClr val="B55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3063240"/>
            <a:ext cx="466344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BF8F4"/>
                </a:solidFill>
                <a:latin typeface="Calibri"/>
              </a:rPr>
              <a:t>Pastry</a:t>
            </a:r>
          </a:p>
          <a:p>
            <a:pPr algn="l"/>
            <a:r>
              <a:rPr sz="1200" b="0" i="0">
                <a:solidFill>
                  <a:srgbClr val="E7E2DA"/>
                </a:solidFill>
                <a:latin typeface="Calibri"/>
              </a:rPr>
              <a:t>One. Bread service and desserts.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480560"/>
            <a:ext cx="5120640" cy="1188720"/>
          </a:xfrm>
          <a:prstGeom prst="rect">
            <a:avLst/>
          </a:prstGeom>
          <a:solidFill>
            <a:srgbClr val="3E46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" y="4480560"/>
            <a:ext cx="63500" cy="1188720"/>
          </a:xfrm>
          <a:prstGeom prst="rect">
            <a:avLst/>
          </a:prstGeom>
          <a:solidFill>
            <a:srgbClr val="B55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480560"/>
            <a:ext cx="466344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BF8F4"/>
                </a:solidFill>
                <a:latin typeface="Calibri"/>
              </a:rPr>
              <a:t>General manager</a:t>
            </a:r>
          </a:p>
          <a:p>
            <a:pPr algn="l"/>
            <a:r>
              <a:rPr sz="1200" b="0" i="0">
                <a:solidFill>
                  <a:srgbClr val="E7E2DA"/>
                </a:solidFill>
                <a:latin typeface="Calibri"/>
              </a:rPr>
              <a:t>Experienced FOH lead, hired before opening.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4480560"/>
            <a:ext cx="5120640" cy="1188720"/>
          </a:xfrm>
          <a:prstGeom prst="rect">
            <a:avLst/>
          </a:prstGeom>
          <a:solidFill>
            <a:srgbClr val="3E46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4480560"/>
            <a:ext cx="63500" cy="1188720"/>
          </a:xfrm>
          <a:prstGeom prst="rect">
            <a:avLst/>
          </a:prstGeom>
          <a:solidFill>
            <a:srgbClr val="B55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4480560"/>
            <a:ext cx="466344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BF8F4"/>
                </a:solidFill>
                <a:latin typeface="Calibri"/>
              </a:rPr>
              <a:t>Advisor</a:t>
            </a:r>
          </a:p>
          <a:p>
            <a:pPr algn="l"/>
            <a:r>
              <a:rPr sz="1200" b="0" i="0">
                <a:solidFill>
                  <a:srgbClr val="E7E2DA"/>
                </a:solidFill>
                <a:latin typeface="Calibri"/>
              </a:rPr>
              <a:t>Frank Benedetto, 25 years running a room.</a:t>
            </a:r>
          </a:p>
        </p:txBody>
      </p:sp>
    </p:spTree>
  </p:cSld>
  <p:clrMapOvr>
    <a:masterClrMapping/>
  </p:clrMapOvr>
  <p:transition spd="med">
    <p:push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B55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3262B"/>
                </a:solidFill>
                <a:latin typeface="Calibri"/>
              </a:rPr>
              <a:t>Risk and Mitigation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42062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B5552E"/>
                </a:solidFill>
                <a:latin typeface="Calibri"/>
              </a:rPr>
              <a:t>High first-year failure 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0" y="1554480"/>
            <a:ext cx="64008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3262B"/>
                </a:solidFill>
                <a:latin typeface="Calibri"/>
              </a:rPr>
              <a:t>Conservative cover count and a 32,000 working capital cushion.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560320"/>
            <a:ext cx="10789920" cy="12700"/>
          </a:xfrm>
          <a:prstGeom prst="rect">
            <a:avLst/>
          </a:prstGeom>
          <a:solidFill>
            <a:srgbClr val="E7E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651760"/>
            <a:ext cx="42062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B5552E"/>
                </a:solidFill>
                <a:latin typeface="Calibri"/>
              </a:rPr>
              <a:t>Food cost volatility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2651760"/>
            <a:ext cx="64008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3262B"/>
                </a:solidFill>
                <a:latin typeface="Calibri"/>
              </a:rPr>
              <a:t>Direct farm buying and a 30 percent food cost target, reviewed weekly.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657600"/>
            <a:ext cx="10789920" cy="12700"/>
          </a:xfrm>
          <a:prstGeom prst="rect">
            <a:avLst/>
          </a:prstGeom>
          <a:solidFill>
            <a:srgbClr val="E7E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749040"/>
            <a:ext cx="42062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B5552E"/>
                </a:solidFill>
                <a:latin typeface="Calibri"/>
              </a:rPr>
              <a:t>Labor pressure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3749040"/>
            <a:ext cx="64008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3262B"/>
                </a:solidFill>
                <a:latin typeface="Calibri"/>
              </a:rPr>
              <a:t>Owner on the line at opening, tight brigade, cross-trained stations.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754880"/>
            <a:ext cx="10789920" cy="12700"/>
          </a:xfrm>
          <a:prstGeom prst="rect">
            <a:avLst/>
          </a:prstGeom>
          <a:solidFill>
            <a:srgbClr val="E7E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846320"/>
            <a:ext cx="42062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B5552E"/>
                </a:solidFill>
                <a:latin typeface="Calibri"/>
              </a:rPr>
              <a:t>Slow ramp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4846320"/>
            <a:ext cx="64008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3262B"/>
                </a:solidFill>
                <a:latin typeface="Calibri"/>
              </a:rPr>
              <a:t>Lower break-even at 233 covers per week, modest year-one revenue.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5852160"/>
            <a:ext cx="10789920" cy="12700"/>
          </a:xfrm>
          <a:prstGeom prst="rect">
            <a:avLst/>
          </a:prstGeom>
          <a:solidFill>
            <a:srgbClr val="E7E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push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55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BF8F4"/>
                </a:solidFill>
                <a:latin typeface="Calibri"/>
              </a:rPr>
              <a:t>Next Steps</a:t>
            </a:r>
          </a:p>
        </p:txBody>
      </p:sp>
      <p:sp>
        <p:nvSpPr>
          <p:cNvPr id="4" name="Oval 3"/>
          <p:cNvSpPr/>
          <p:nvPr/>
        </p:nvSpPr>
        <p:spPr>
          <a:xfrm>
            <a:off x="822960" y="2103120"/>
            <a:ext cx="548640" cy="548640"/>
          </a:xfrm>
          <a:prstGeom prst="ellipse">
            <a:avLst/>
          </a:prstGeom>
          <a:solidFill>
            <a:srgbClr val="FB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B5552E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2103120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FBF8F4"/>
                </a:solidFill>
                <a:latin typeface="Calibri"/>
              </a:rPr>
              <a:t>Finish the financial model before the November 2, 2026 review.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3017520"/>
            <a:ext cx="548640" cy="548640"/>
          </a:xfrm>
          <a:prstGeom prst="ellipse">
            <a:avLst/>
          </a:prstGeom>
          <a:solidFill>
            <a:srgbClr val="FB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01752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B5552E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3017520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FBF8F4"/>
                </a:solidFill>
                <a:latin typeface="Calibri"/>
              </a:rPr>
              <a:t>Sign a lease or letter of intent on the lead Hoboken space.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3931920"/>
            <a:ext cx="548640" cy="548640"/>
          </a:xfrm>
          <a:prstGeom prst="ellipse">
            <a:avLst/>
          </a:prstGeom>
          <a:solidFill>
            <a:srgbClr val="FB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93192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B5552E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931920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FBF8F4"/>
                </a:solidFill>
                <a:latin typeface="Calibri"/>
              </a:rPr>
              <a:t>Close investor equity and get SBA pre-qualified.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4846320"/>
            <a:ext cx="548640" cy="548640"/>
          </a:xfrm>
          <a:prstGeom prst="ellipse">
            <a:avLst/>
          </a:prstGeom>
          <a:solidFill>
            <a:srgbClr val="FB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84632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B5552E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4846320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FBF8F4"/>
                </a:solidFill>
                <a:latin typeface="Calibri"/>
              </a:rPr>
              <a:t>Keep owner equity climbing toward the 50,000 target.</a:t>
            </a:r>
          </a:p>
        </p:txBody>
      </p:sp>
    </p:spTree>
  </p:cSld>
  <p:clrMapOvr>
    <a:masterClrMapping/>
  </p:clrMapOvr>
  <p:transition spd="med">
    <p:push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Cynthia Thornton</dc:creator>
  <cp:lastModifiedBy>Cynthia Thornton</cp:lastModifiedBy>
  <dcterms:created xsi:type="dcterms:W3CDTF">2026-10-10T09:00:00Z</dcterms:created>
  <dcterms:modified xsi:type="dcterms:W3CDTF">2026-10-15T18:00:00Z</dcterms:modified>
</cp:coreProperties>
</file>