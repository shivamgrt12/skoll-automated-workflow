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4F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320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2F4F3"/>
                </a:solidFill>
                <a:latin typeface="Verdana"/>
              </a:rPr>
              <a:t>Market</a:t>
            </a:r>
          </a:p>
          <a:p>
            <a:pPr algn="l"/>
            <a:r>
              <a:rPr sz="3000" b="1" i="0">
                <a:solidFill>
                  <a:srgbClr val="D08A2C"/>
                </a:solidFill>
                <a:latin typeface="Verdana"/>
              </a:rPr>
              <a:t>and</a:t>
            </a:r>
          </a:p>
          <a:p>
            <a:pPr algn="l"/>
            <a:r>
              <a:rPr sz="3000" b="1" i="0">
                <a:solidFill>
                  <a:srgbClr val="F2F4F3"/>
                </a:solidFill>
                <a:latin typeface="Verdana"/>
              </a:rPr>
              <a:t>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651760"/>
            <a:ext cx="7132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2F4F3"/>
                </a:solidFill>
                <a:latin typeface="Verdana"/>
              </a:rPr>
              <a:t>Where Rootstock opens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840480"/>
            <a:ext cx="6949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CE2DF"/>
                </a:solidFill>
                <a:latin typeface="Verdana"/>
              </a:rPr>
              <a:t>Eight candidate spaces evaluated and ranked across Jersey City and Hoboken.</a:t>
            </a:r>
          </a:p>
          <a:p>
            <a:pPr algn="l"/>
            <a:r>
              <a:rPr sz="1100" b="1" i="0">
                <a:solidFill>
                  <a:srgbClr val="D08A2C"/>
                </a:solidFill>
                <a:latin typeface="Verdana"/>
              </a:rPr>
              <a:t>Cynthia Thornton  |  October 2026</a:t>
            </a:r>
          </a:p>
        </p:txBody>
      </p:sp>
    </p:spTree>
  </p:cSld>
  <p:clrMapOvr>
    <a:masterClrMapping/>
  </p:clrMapOvr>
  <p:transition spd="med">
    <p:cover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0"/>
            <a:ext cx="10058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2F4F3"/>
                </a:solidFill>
                <a:latin typeface="Verdana"/>
              </a:rPr>
              <a:t>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C2B33"/>
                </a:solidFill>
                <a:latin typeface="Verdana"/>
              </a:rPr>
              <a:t>Jersey City and Hoboken: high-income, food-literate diners, one PATH stop from Manhattan.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926080"/>
            <a:ext cx="2468880" cy="1554480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926080"/>
            <a:ext cx="2468880" cy="50800"/>
          </a:xfrm>
          <a:prstGeom prst="rect">
            <a:avLst/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4F6D5A"/>
                </a:solidFill>
                <a:latin typeface="Verdana"/>
              </a:rPr>
              <a:t>1 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8620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C2B33"/>
                </a:solidFill>
                <a:latin typeface="Verdana"/>
              </a:rPr>
              <a:t>to Manhattan by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926080"/>
            <a:ext cx="2468880" cy="1554480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926080"/>
            <a:ext cx="2468880" cy="50800"/>
          </a:xfrm>
          <a:prstGeom prst="rect">
            <a:avLst/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315468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4F6D5A"/>
                </a:solidFill>
                <a:latin typeface="Verdana"/>
              </a:rPr>
              <a:t>40 seats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88620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C2B33"/>
                </a:solidFill>
                <a:latin typeface="Verdana"/>
              </a:rPr>
              <a:t>intimate by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926080"/>
            <a:ext cx="2468880" cy="1554480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926080"/>
            <a:ext cx="2468880" cy="50800"/>
          </a:xfrm>
          <a:prstGeom prst="rect">
            <a:avLst/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15468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4F6D5A"/>
                </a:solidFill>
                <a:latin typeface="Verdana"/>
              </a:rPr>
              <a:t>80-90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8620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C2B33"/>
                </a:solidFill>
                <a:latin typeface="Verdana"/>
              </a:rPr>
              <a:t>target check, dollars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2926080"/>
            <a:ext cx="2468880" cy="1554480"/>
          </a:xfrm>
          <a:prstGeom prst="rect">
            <a:avLst/>
          </a:prstGeom>
          <a:solidFill>
            <a:srgbClr val="DC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2926080"/>
            <a:ext cx="2468880" cy="50800"/>
          </a:xfrm>
          <a:prstGeom prst="rect">
            <a:avLst/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315468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4F6D5A"/>
                </a:solidFill>
                <a:latin typeface="Verdana"/>
              </a:rPr>
              <a:t>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88620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C2B33"/>
                </a:solidFill>
                <a:latin typeface="Verdana"/>
              </a:rPr>
              <a:t>no ingredient-driven tasting room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2920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4F6D5A"/>
                </a:solidFill>
                <a:latin typeface="Verdana"/>
              </a:rPr>
              <a:t>The room sits between a steakhouse and a trend-chasing small-plates spot. Neither exists at this size with this sourcing story in the market today.</a:t>
            </a:r>
          </a:p>
        </p:txBody>
      </p:sp>
    </p:spTree>
  </p:cSld>
  <p:clrMapOvr>
    <a:masterClrMapping/>
  </p:clrMapOvr>
  <p:transition spd="med">
    <p:cover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2B33"/>
                </a:solidFill>
                <a:latin typeface="Verdana"/>
              </a:rPr>
              <a:t>Candidate Spaces, Monthly 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3054096"/>
            <a:ext cx="1160145" cy="1975104"/>
          </a:xfrm>
          <a:prstGeom prst="rect">
            <a:avLst/>
          </a:prstGeom>
          <a:solidFill>
            <a:srgbClr val="4F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74920"/>
            <a:ext cx="143446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1C2B33"/>
                </a:solidFill>
                <a:latin typeface="Calibri"/>
              </a:rPr>
              <a:t>Elm 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79776"/>
            <a:ext cx="143446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4F6D5A"/>
                </a:solidFill>
                <a:latin typeface="Calibri"/>
              </a:rPr>
              <a:t>7,200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257425" y="2340864"/>
            <a:ext cx="1160145" cy="2688336"/>
          </a:xfrm>
          <a:prstGeom prst="rect">
            <a:avLst/>
          </a:prstGeom>
          <a:solidFill>
            <a:srgbClr val="4F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20265" y="5074920"/>
            <a:ext cx="143446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1C2B33"/>
                </a:solidFill>
                <a:latin typeface="Calibri"/>
              </a:rPr>
              <a:t>Wash 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0265" y="2066544"/>
            <a:ext cx="143446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4F6D5A"/>
                </a:solidFill>
                <a:latin typeface="Calibri"/>
              </a:rPr>
              <a:t>9,800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54730" y="2807208"/>
            <a:ext cx="1160145" cy="2221992"/>
          </a:xfrm>
          <a:prstGeom prst="rect">
            <a:avLst/>
          </a:prstGeom>
          <a:solidFill>
            <a:srgbClr val="4F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7570" y="5074920"/>
            <a:ext cx="143446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1C2B33"/>
                </a:solidFill>
                <a:latin typeface="Calibri"/>
              </a:rPr>
              <a:t>Newark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7570" y="2532888"/>
            <a:ext cx="143446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4F6D5A"/>
                </a:solidFill>
                <a:latin typeface="Calibri"/>
              </a:rPr>
              <a:t>8,100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52035" y="1874520"/>
            <a:ext cx="1160145" cy="3154680"/>
          </a:xfrm>
          <a:prstGeom prst="rect">
            <a:avLst/>
          </a:prstGeom>
          <a:solidFill>
            <a:srgbClr val="4F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4875" y="5074920"/>
            <a:ext cx="143446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1C2B33"/>
                </a:solidFill>
                <a:latin typeface="Calibri"/>
              </a:rPr>
              <a:t>Grove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4875" y="1600200"/>
            <a:ext cx="143446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4F6D5A"/>
                </a:solidFill>
                <a:latin typeface="Calibri"/>
              </a:rPr>
              <a:t>11,500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9340" y="3136393"/>
            <a:ext cx="1160145" cy="1892807"/>
          </a:xfrm>
          <a:prstGeom prst="rect">
            <a:avLst/>
          </a:prstGeom>
          <a:solidFill>
            <a:srgbClr val="4F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2180" y="5074920"/>
            <a:ext cx="143446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1C2B33"/>
                </a:solidFill>
                <a:latin typeface="Calibri"/>
              </a:rPr>
              <a:t>1st 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2180" y="2862073"/>
            <a:ext cx="143446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4F6D5A"/>
                </a:solidFill>
                <a:latin typeface="Calibri"/>
              </a:rPr>
              <a:t>6,900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46645" y="2999232"/>
            <a:ext cx="1160145" cy="2029968"/>
          </a:xfrm>
          <a:prstGeom prst="rect">
            <a:avLst/>
          </a:prstGeom>
          <a:solidFill>
            <a:srgbClr val="4F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09485" y="5074920"/>
            <a:ext cx="143446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1C2B33"/>
                </a:solidFill>
                <a:latin typeface="Calibri"/>
              </a:rPr>
              <a:t>Jersey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9485" y="2724912"/>
            <a:ext cx="143446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4F6D5A"/>
                </a:solidFill>
                <a:latin typeface="Calibri"/>
              </a:rPr>
              <a:t>7,400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43950" y="2670048"/>
            <a:ext cx="1160145" cy="2359152"/>
          </a:xfrm>
          <a:prstGeom prst="rect">
            <a:avLst/>
          </a:prstGeom>
          <a:solidFill>
            <a:srgbClr val="4F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06790" y="5074920"/>
            <a:ext cx="143446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1C2B33"/>
                </a:solidFill>
                <a:latin typeface="Calibri"/>
              </a:rPr>
              <a:t>Hudson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6790" y="2395728"/>
            <a:ext cx="143446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4F6D5A"/>
                </a:solidFill>
                <a:latin typeface="Calibri"/>
              </a:rPr>
              <a:t>8,600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41255" y="2587752"/>
            <a:ext cx="1160145" cy="2441448"/>
          </a:xfrm>
          <a:prstGeom prst="rect">
            <a:avLst/>
          </a:prstGeom>
          <a:solidFill>
            <a:srgbClr val="4F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4095" y="5074920"/>
            <a:ext cx="143446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1C2B33"/>
                </a:solidFill>
                <a:latin typeface="Calibri"/>
              </a:rPr>
              <a:t>Newark2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4095" y="2313432"/>
            <a:ext cx="143446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4F6D5A"/>
                </a:solidFill>
                <a:latin typeface="Calibri"/>
              </a:rPr>
              <a:t>8,900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029200"/>
            <a:ext cx="10515600" cy="1905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6692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F6D5A"/>
                </a:solidFill>
                <a:latin typeface="Verdana"/>
              </a:rPr>
              <a:t>Lead candidate 214 Elm Street, Hoboken: 1,650 sq ft, second-generation restaurant, hood and grease trap in place.</a:t>
            </a:r>
          </a:p>
        </p:txBody>
      </p:sp>
    </p:spTree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698480" cy="1188720"/>
          </a:xfrm>
          <a:prstGeom prst="rect">
            <a:avLst/>
          </a:prstGeom>
          <a:solidFill>
            <a:srgbClr val="D0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731520"/>
            <a:ext cx="10058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C2B33"/>
                </a:solidFill>
                <a:latin typeface="Verdana"/>
              </a:rPr>
              <a:t>Lead Candidate: 214 Elm Street, Hoboken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3383280" cy="1325880"/>
          </a:xfrm>
          <a:prstGeom prst="rect">
            <a:avLst/>
          </a:prstGeom>
          <a:solidFill>
            <a:srgbClr val="4F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2F4F3"/>
                </a:solidFill>
                <a:latin typeface="Verdana"/>
              </a:rPr>
              <a:t>1,650 sq 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CE2DF"/>
                </a:solidFill>
                <a:latin typeface="Verdana"/>
              </a:rPr>
              <a:t>Right size for a 40-seat room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377440"/>
            <a:ext cx="3383280" cy="1325880"/>
          </a:xfrm>
          <a:prstGeom prst="rect">
            <a:avLst/>
          </a:prstGeom>
          <a:solidFill>
            <a:srgbClr val="4F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5603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2F4F3"/>
                </a:solidFill>
                <a:latin typeface="Verdana"/>
              </a:rPr>
              <a:t>Second-gen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1546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CE2DF"/>
                </a:solidFill>
                <a:latin typeface="Verdana"/>
              </a:rPr>
              <a:t>Hood and grease trap already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2377440"/>
            <a:ext cx="3383280" cy="1325880"/>
          </a:xfrm>
          <a:prstGeom prst="rect">
            <a:avLst/>
          </a:prstGeom>
          <a:solidFill>
            <a:srgbClr val="4F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5603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2F4F3"/>
                </a:solidFill>
                <a:latin typeface="Verdana"/>
              </a:rPr>
              <a:t>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1546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CE2DF"/>
                </a:solidFill>
                <a:latin typeface="Verdana"/>
              </a:rPr>
              <a:t>Walk from the 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3383280" cy="1325880"/>
          </a:xfrm>
          <a:prstGeom prst="rect">
            <a:avLst/>
          </a:prstGeom>
          <a:solidFill>
            <a:srgbClr val="4F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2F4F3"/>
                </a:solidFill>
                <a:latin typeface="Verdana"/>
              </a:rPr>
              <a:t>7,200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091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CE2DF"/>
                </a:solidFill>
                <a:latin typeface="Verdana"/>
              </a:rPr>
              <a:t>Monthly rent, dollars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3931920"/>
            <a:ext cx="3383280" cy="1325880"/>
          </a:xfrm>
          <a:prstGeom prst="rect">
            <a:avLst/>
          </a:prstGeom>
          <a:solidFill>
            <a:srgbClr val="4F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1148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2F4F3"/>
                </a:solidFill>
                <a:latin typeface="Verdana"/>
              </a:rPr>
              <a:t>Oct 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7091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CE2DF"/>
                </a:solidFill>
                <a:latin typeface="Verdana"/>
              </a:rPr>
              <a:t>Viewing scheduled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3931920"/>
            <a:ext cx="3383280" cy="1325880"/>
          </a:xfrm>
          <a:prstGeom prst="rect">
            <a:avLst/>
          </a:prstGeom>
          <a:solidFill>
            <a:srgbClr val="4F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1148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2F4F3"/>
                </a:solidFill>
                <a:latin typeface="Verdana"/>
              </a:rPr>
              <a:t>Frank's pick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7091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CE2DF"/>
                </a:solidFill>
                <a:latin typeface="Verdana"/>
              </a:rPr>
              <a:t>Vetted by the advisor</a:t>
            </a:r>
          </a:p>
        </p:txBody>
      </p:sp>
    </p:spTree>
  </p:cSld>
  <p:clrMapOvr>
    <a:masterClrMapping/>
  </p:clrMapOvr>
  <p:transition spd="med">
    <p:cover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2F4F3"/>
                </a:solidFill>
                <a:latin typeface="Verdana"/>
              </a:rPr>
              <a:t>The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2F4F3"/>
                </a:solidFill>
                <a:latin typeface="Verdana"/>
              </a:rPr>
              <a:t>Elm Street is the lead. It is the cheapest path to a working kitchen, in the right town, near the train, and already vetted.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572000"/>
            <a:ext cx="10607040" cy="1188720"/>
          </a:xfrm>
          <a:prstGeom prst="rect">
            <a:avLst/>
          </a:prstGeom>
          <a:solidFill>
            <a:srgbClr val="1C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10058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08A2C"/>
                </a:solidFill>
                <a:latin typeface="Verdana"/>
              </a:rPr>
              <a:t>Next: viewing October 26, 2026, then a letter of intent if the numbers hold.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Cynthia Thornton</dc:creator>
  <cp:lastModifiedBy>Cynthia Thornton</cp:lastModifiedBy>
  <dcterms:created xsi:type="dcterms:W3CDTF">2026-10-10T09:00:00Z</dcterms:created>
  <dcterms:modified xsi:type="dcterms:W3CDTF">2026-10-15T18:00:00Z</dcterms:modified>
</cp:coreProperties>
</file>