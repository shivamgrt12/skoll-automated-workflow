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Documents</c:v>
                </c:pt>
              </c:strCache>
            </c:strRef>
          </c:tx>
          <c:spPr>
            <a:solidFill>
              <a:srgbClr val="2F6FB3"/>
            </a:solidFill>
          </c:spPr>
          <c:cat>
            <c:strRef>
              <c:f>Sheet1!$A$2:$A$5</c:f>
              <c:strCache>
                <c:ptCount val="4"/>
                <c:pt idx="0">
                  <c:v>First-level review</c:v>
                </c:pt>
                <c:pt idx="1">
                  <c:v>Privilege coded</c:v>
                </c:pt>
                <c:pt idx="2">
                  <c:v>Produced</c:v>
                </c:pt>
                <c:pt idx="3">
                  <c:v>Withheld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</c:v>
                </c:pt>
                <c:pt idx="1">
                  <c:v>120</c:v>
                </c:pt>
                <c:pt idx="2">
                  <c:v>360</c:v>
                </c:pt>
                <c:pt idx="3">
                  <c:v>40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13335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B27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B273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3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C7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Meridian Properties v. Coastal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C79A4B"/>
                </a:solidFill>
                <a:latin typeface="Calibri"/>
              </a:rPr>
              <a:t>Matter Status and Trial Preparation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B2733"/>
                </a:solidFill>
                <a:latin typeface="Calibri"/>
              </a:rPr>
              <a:t>Prepared by Danny P. Wells, Senior Associate, Commercial Litigation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B2733"/>
                </a:solidFill>
                <a:latin typeface="Calibri"/>
              </a:rPr>
              <a:t>Oakbridge Law, 1180 Raymond Blvd, Newark, NJ 07102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B2733"/>
                </a:solidFill>
                <a:latin typeface="Calibri"/>
              </a:rPr>
              <a:t>Matter No. 2024-0417  | 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A6B7D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3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DCE6F2"/>
                </a:solidFill>
                <a:latin typeface="Calibri"/>
              </a:rPr>
              <a:t>1.  Case status and posture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DCE6F2"/>
                </a:solidFill>
                <a:latin typeface="Calibri"/>
              </a:rPr>
              <a:t>2.  Key liability and damages issues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DCE6F2"/>
                </a:solidFill>
                <a:latin typeface="Calibri"/>
              </a:rPr>
              <a:t>3.  Document review progress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DCE6F2"/>
                </a:solidFill>
                <a:latin typeface="Calibri"/>
              </a:rPr>
              <a:t>4.  Outstanding tasks and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DCE6F2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7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Case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06040" cy="173736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06040" cy="109728"/>
          </a:xfrm>
          <a:prstGeom prst="rect">
            <a:avLst/>
          </a:prstGeom>
          <a:solidFill>
            <a:srgbClr val="C7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13335A"/>
                </a:solidFill>
                <a:latin typeface="Georgia"/>
              </a:rPr>
              <a:t>$4.2M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B2733"/>
                </a:solidFill>
                <a:latin typeface="Calibri"/>
              </a:rPr>
              <a:t>Amount in dispute on the breach of contract claim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463040"/>
            <a:ext cx="2606040" cy="173736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4992" y="1463040"/>
            <a:ext cx="2606040" cy="109728"/>
          </a:xfrm>
          <a:prstGeom prst="rect">
            <a:avLst/>
          </a:prstGeom>
          <a:solidFill>
            <a:srgbClr val="C7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7830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13335A"/>
                </a:solidFill>
                <a:latin typeface="Georgia"/>
              </a:rPr>
              <a:t>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42316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B2733"/>
                </a:solidFill>
                <a:latin typeface="Calibri"/>
              </a:rPr>
              <a:t>Fact discovery completed last quarter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463040"/>
            <a:ext cx="2606040" cy="173736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463040"/>
            <a:ext cx="2606040" cy="109728"/>
          </a:xfrm>
          <a:prstGeom prst="rect">
            <a:avLst/>
          </a:prstGeom>
          <a:solidFill>
            <a:srgbClr val="C7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7830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13335A"/>
                </a:solidFill>
                <a:latin typeface="Georgia"/>
              </a:rPr>
              <a:t>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42316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B2733"/>
                </a:solidFill>
                <a:latin typeface="Calibri"/>
              </a:rPr>
              <a:t>Documents through first-level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463040"/>
            <a:ext cx="2606040" cy="173736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7696" y="1463040"/>
            <a:ext cx="2606040" cy="109728"/>
          </a:xfrm>
          <a:prstGeom prst="rect">
            <a:avLst/>
          </a:prstGeom>
          <a:solidFill>
            <a:srgbClr val="C7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7830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13335A"/>
                </a:solidFill>
                <a:latin typeface="Georgia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42316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B2733"/>
                </a:solidFill>
                <a:latin typeface="Calibri"/>
              </a:rPr>
              <a:t>Items logged as privileged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11064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B2733"/>
                </a:solidFill>
                <a:latin typeface="Calibri"/>
              </a:rPr>
              <a:t>Liability turns on whether the change orders modified the completion deadline or only the scope of the Phase II buildout. The opposing custodian texts at MERI-000205 undercut the oral modification theory. The invoice tie-out at MERI-000159 to 204 supports the full claim. We expect a challenge to the lost-profits methodology and an impossibility defense built on supply delays, which the admission at MERI-000112 cuts against.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A6B7D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7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Key Document References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5486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Bates Begin</a:t>
                      </a:r>
                    </a:p>
                  </a:txBody>
                  <a:tcPr marL="73152" marR="73152" marT="27432" marB="27432">
                    <a:solidFill>
                      <a:srgbClr val="1333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Bates End</a:t>
                      </a:r>
                    </a:p>
                  </a:txBody>
                  <a:tcPr marL="73152" marR="73152" marT="27432" marB="27432">
                    <a:solidFill>
                      <a:srgbClr val="1333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>
                    <a:solidFill>
                      <a:srgbClr val="1333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27432" marB="27432">
                    <a:solidFill>
                      <a:srgbClr val="1333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Custodian</a:t>
                      </a:r>
                    </a:p>
                  </a:txBody>
                  <a:tcPr marL="73152" marR="73152" marT="27432" marB="27432">
                    <a:solidFill>
                      <a:srgbClr val="1333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>
                    <a:solidFill>
                      <a:srgbClr val="1333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MERI-000112</a:t>
                      </a:r>
                    </a:p>
                  </a:txBody>
                  <a:tcPr marL="73152" marR="73152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MERI-000140</a:t>
                      </a:r>
                    </a:p>
                  </a:txBody>
                  <a:tcPr marL="73152" marR="73152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Email thread</a:t>
                      </a:r>
                    </a:p>
                  </a:txBody>
                  <a:tcPr marL="73152" marR="73152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2023-08-14</a:t>
                      </a:r>
                    </a:p>
                  </a:txBody>
                  <a:tcPr marL="73152" marR="73152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Coastal</a:t>
                      </a:r>
                    </a:p>
                  </a:txBody>
                  <a:tcPr marL="73152" marR="73152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Reviewed</a:t>
                      </a:r>
                    </a:p>
                  </a:txBody>
                  <a:tcPr marL="73152" marR="73152" marT="27432" marB="27432"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MERI-000141</a:t>
                      </a:r>
                    </a:p>
                  </a:txBody>
                  <a:tcPr marL="73152" marR="73152" marT="27432" marB="27432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MERI-000141</a:t>
                      </a:r>
                    </a:p>
                  </a:txBody>
                  <a:tcPr marL="73152" marR="73152" marT="27432" marB="27432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 marL="73152" marR="73152" marT="27432" marB="27432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2022-11-02</a:t>
                      </a:r>
                    </a:p>
                  </a:txBody>
                  <a:tcPr marL="73152" marR="73152" marT="27432" marB="27432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Meridian</a:t>
                      </a:r>
                    </a:p>
                  </a:txBody>
                  <a:tcPr marL="73152" marR="73152" marT="27432" marB="27432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Reviewed</a:t>
                      </a:r>
                    </a:p>
                  </a:txBody>
                  <a:tcPr marL="73152" marR="73152" marT="27432" marB="27432">
                    <a:solidFill>
                      <a:srgbClr val="DCE6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MERI-000159</a:t>
                      </a:r>
                    </a:p>
                  </a:txBody>
                  <a:tcPr marL="73152" marR="73152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MERI-000204</a:t>
                      </a:r>
                    </a:p>
                  </a:txBody>
                  <a:tcPr marL="73152" marR="73152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Invoices</a:t>
                      </a:r>
                    </a:p>
                  </a:txBody>
                  <a:tcPr marL="73152" marR="73152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2023-12-01</a:t>
                      </a:r>
                    </a:p>
                  </a:txBody>
                  <a:tcPr marL="73152" marR="73152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Meridian</a:t>
                      </a:r>
                    </a:p>
                  </a:txBody>
                  <a:tcPr marL="73152" marR="73152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Reviewed</a:t>
                      </a:r>
                    </a:p>
                  </a:txBody>
                  <a:tcPr marL="73152" marR="73152" marT="27432" marB="27432"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MERI-000205</a:t>
                      </a:r>
                    </a:p>
                  </a:txBody>
                  <a:tcPr marL="73152" marR="73152" marT="27432" marB="27432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MERI-000231</a:t>
                      </a:r>
                    </a:p>
                  </a:txBody>
                  <a:tcPr marL="73152" marR="73152" marT="27432" marB="27432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Text export</a:t>
                      </a:r>
                    </a:p>
                  </a:txBody>
                  <a:tcPr marL="73152" marR="73152" marT="27432" marB="27432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2023-10-10</a:t>
                      </a:r>
                    </a:p>
                  </a:txBody>
                  <a:tcPr marL="73152" marR="73152" marT="27432" marB="27432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Coastal</a:t>
                      </a:r>
                    </a:p>
                  </a:txBody>
                  <a:tcPr marL="73152" marR="73152" marT="27432" marB="27432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733"/>
                          </a:solidFill>
                          <a:latin typeface="Calibri"/>
                        </a:rPr>
                        <a:t>Reviewed</a:t>
                      </a:r>
                    </a:p>
                  </a:txBody>
                  <a:tcPr marL="73152" marR="73152" marT="27432" marB="27432">
                    <a:solidFill>
                      <a:srgbClr val="DCE6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All items confirmed in the review tracker. Privileged strategy memo and expert draft preserved as work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A6B7D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7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Document Review Progress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10607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A6B7D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7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Outstanding Tasks and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468880" cy="86868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Late February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463040"/>
            <a:ext cx="8412480" cy="86868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463040"/>
            <a:ext cx="8046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</a:rPr>
              <a:t>Finalize and serve the privilege 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2468880" cy="86868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October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606040"/>
            <a:ext cx="8412480" cy="86868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606040"/>
            <a:ext cx="8046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</a:rPr>
              <a:t>Complete expert report and deposition outlines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2468880" cy="86868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November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749039"/>
            <a:ext cx="8412480" cy="86868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749039"/>
            <a:ext cx="8046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</a:rPr>
              <a:t>Pre-trial motions and witness preparation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92040"/>
            <a:ext cx="2468880" cy="86868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2468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December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4892040"/>
            <a:ext cx="8412480" cy="86868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892040"/>
            <a:ext cx="8046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</a:rPr>
              <a:t>Final trial binder assembly and exhibit 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A6B7D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3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91440"/>
          </a:xfrm>
          <a:prstGeom prst="rect">
            <a:avLst/>
          </a:prstGeom>
          <a:solidFill>
            <a:srgbClr val="C7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Georgia"/>
              </a:rPr>
              <a:t>Reviewed and ready for partner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CE6F2"/>
                </a:solidFill>
                <a:latin typeface="Calibri"/>
              </a:rPr>
              <a:t>Danny P. Wells, Senior Associate  |  Supervising Partner: Catherine Ware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CE6F2"/>
                </a:solidFill>
                <a:latin typeface="Calibri"/>
              </a:rPr>
              <a:t>Oakbridge Law, Commercial Litigation, Newark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DCE6F2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