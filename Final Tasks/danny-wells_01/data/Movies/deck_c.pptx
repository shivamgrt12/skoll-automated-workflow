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DD4BF"/>
              </a:solidFill>
            </c:spPr>
          </c:dPt>
          <c:dPt>
            <c:idx val="1"/>
            <c:spPr>
              <a:solidFill>
                <a:srgbClr val="F2C14E"/>
              </a:solidFill>
            </c:spPr>
          </c:dPt>
          <c:dPt>
            <c:idx val="2"/>
            <c:spPr>
              <a:solidFill>
                <a:srgbClr val="4F9ED6"/>
              </a:solidFill>
            </c:spPr>
          </c:dPt>
          <c:dPt>
            <c:idx val="3"/>
            <c:spPr>
              <a:solidFill>
                <a:srgbClr val="E07A5F"/>
              </a:solidFill>
            </c:spPr>
          </c:dPt>
          <c:dPt>
            <c:idx val="4"/>
            <c:spPr>
              <a:solidFill>
                <a:srgbClr val="9B8CCE"/>
              </a:solidFill>
            </c:spPr>
          </c:dPt>
          <c:dPt>
            <c:idx val="5"/>
            <c:spPr>
              <a:solidFill>
                <a:srgbClr val="6B7A8F"/>
              </a:solidFill>
            </c:spPr>
          </c:dPt>
          <c:cat>
            <c:strRef>
              <c:f>Sheet1!$A$2:$A$7</c:f>
              <c:strCache>
                <c:ptCount val="6"/>
                <c:pt idx="0">
                  <c:v>Mortgage</c:v>
                </c:pt>
                <c:pt idx="1">
                  <c:v>Saving</c:v>
                </c:pt>
                <c:pt idx="2">
                  <c:v>Living</c:v>
                </c:pt>
                <c:pt idx="3">
                  <c:v>Cars</c:v>
                </c:pt>
                <c:pt idx="4">
                  <c:v>Health and care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3200</c:v>
                </c:pt>
                <c:pt idx="1">
                  <c:v>3500</c:v>
                </c:pt>
                <c:pt idx="2">
                  <c:v>1100</c:v>
                </c:pt>
                <c:pt idx="3">
                  <c:v>760</c:v>
                </c:pt>
                <c:pt idx="4">
                  <c:v>925</c:v>
                </c:pt>
                <c:pt idx="5">
                  <c:v>1232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100" b="1">
                  <a:solidFill>
                    <a:srgbClr val="E8EEF5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E8EEF5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E8EEF5"/>
                </a:solidFill>
                <a:latin typeface="Calibri"/>
              </a:rPr>
              <a:t>Household Financial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2DD4BF"/>
                </a:solidFill>
                <a:latin typeface="Calibri"/>
              </a:rPr>
              <a:t>Danny and Priya Menon-Wells, 2026 Planning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FB0C3"/>
                </a:solidFill>
                <a:latin typeface="Calibri"/>
              </a:rPr>
              <a:t>73 Claremont Avenue, Montclair, NJ 07042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FB0C3"/>
                </a:solidFill>
                <a:latin typeface="Calibri"/>
              </a:rPr>
              <a:t>Prepared February 2026, private to the household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FB0C3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C14E"/>
                </a:solidFill>
                <a:latin typeface="Calibri"/>
              </a:rPr>
              <a:t>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474720" cy="1828800"/>
          </a:xfrm>
          <a:prstGeom prst="rect">
            <a:avLst/>
          </a:prstGeom>
          <a:solidFill>
            <a:srgbClr val="1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9728" cy="1828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C14E"/>
                </a:solidFill>
                <a:latin typeface="Calibri"/>
              </a:rPr>
              <a:t>$17,800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E8EEF5"/>
                </a:solidFill>
                <a:latin typeface="Calibri"/>
              </a:rPr>
              <a:t>Combined monthly take-home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554480"/>
            <a:ext cx="3474720" cy="1828800"/>
          </a:xfrm>
          <a:prstGeom prst="rect">
            <a:avLst/>
          </a:prstGeom>
          <a:solidFill>
            <a:srgbClr val="1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554480"/>
            <a:ext cx="109728" cy="1828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8288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C14E"/>
                </a:solidFill>
                <a:latin typeface="Calibri"/>
              </a:rPr>
              <a:t>$10,717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6974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E8EEF5"/>
                </a:solidFill>
                <a:latin typeface="Calibri"/>
              </a:rPr>
              <a:t>Planned monthly outflow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554480"/>
            <a:ext cx="3474720" cy="1828800"/>
          </a:xfrm>
          <a:prstGeom prst="rect">
            <a:avLst/>
          </a:prstGeom>
          <a:solidFill>
            <a:srgbClr val="1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109728" cy="1828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C14E"/>
                </a:solidFill>
                <a:latin typeface="Calibri"/>
              </a:rPr>
              <a:t>$7,083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974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E8EEF5"/>
                </a:solidFill>
                <a:latin typeface="Calibri"/>
              </a:rPr>
              <a:t>Monthly surplus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3474720" cy="1828800"/>
          </a:xfrm>
          <a:prstGeom prst="rect">
            <a:avLst/>
          </a:prstGeom>
          <a:solidFill>
            <a:srgbClr val="1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109728" cy="1828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59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C14E"/>
                </a:solidFill>
                <a:latin typeface="Calibri"/>
              </a:rPr>
              <a:t>$42,000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3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E8EEF5"/>
                </a:solidFill>
                <a:latin typeface="Calibri"/>
              </a:rPr>
              <a:t>Emergency fund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749039"/>
            <a:ext cx="3474720" cy="1828800"/>
          </a:xfrm>
          <a:prstGeom prst="rect">
            <a:avLst/>
          </a:prstGeom>
          <a:solidFill>
            <a:srgbClr val="1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3749039"/>
            <a:ext cx="109728" cy="1828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4023359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C14E"/>
                </a:solidFill>
                <a:latin typeface="Calibri"/>
              </a:rPr>
              <a:t>$18,000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89203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E8EEF5"/>
                </a:solidFill>
                <a:latin typeface="Calibri"/>
              </a:rPr>
              <a:t>IVF fund balance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749039"/>
            <a:ext cx="3474720" cy="1828800"/>
          </a:xfrm>
          <a:prstGeom prst="rect">
            <a:avLst/>
          </a:prstGeom>
          <a:solidFill>
            <a:srgbClr val="1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749039"/>
            <a:ext cx="109728" cy="1828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023359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C14E"/>
                </a:solidFill>
                <a:latin typeface="Calibri"/>
              </a:rPr>
              <a:t>780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89203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E8EEF5"/>
                </a:solidFill>
                <a:latin typeface="Calibri"/>
              </a:rPr>
              <a:t>Credit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FB0C3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E8EEF5"/>
                </a:solidFill>
                <a:latin typeface="Calibri"/>
              </a:rPr>
              <a:t>Monthly outflow detail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6170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21821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27432" marB="27432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21821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73152" marR="73152" marT="27432" marB="27432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21821"/>
                          </a:solidFill>
                          <a:latin typeface="Calibri"/>
                        </a:rPr>
                        <a:t>Annual</a:t>
                      </a:r>
                    </a:p>
                  </a:txBody>
                  <a:tcPr marL="73152" marR="73152" marT="27432" marB="27432">
                    <a:solidFill>
                      <a:srgbClr val="2DD4B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Mortgage with escrow</a:t>
                      </a:r>
                    </a:p>
                  </a:txBody>
                  <a:tcPr marL="73152" marR="73152" marT="27432" marB="27432"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$3,200</a:t>
                      </a:r>
                    </a:p>
                  </a:txBody>
                  <a:tcPr marL="73152" marR="73152" marT="27432" marB="27432"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$38,400</a:t>
                      </a:r>
                    </a:p>
                  </a:txBody>
                  <a:tcPr marL="73152" marR="73152" marT="27432" marB="27432">
                    <a:solidFill>
                      <a:srgbClr val="26344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Savings and investing</a:t>
                      </a:r>
                    </a:p>
                  </a:txBody>
                  <a:tcPr marL="73152" marR="73152" marT="27432" marB="27432">
                    <a:solidFill>
                      <a:srgbClr val="1F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$3,500</a:t>
                      </a:r>
                    </a:p>
                  </a:txBody>
                  <a:tcPr marL="73152" marR="73152" marT="27432" marB="27432">
                    <a:solidFill>
                      <a:srgbClr val="1F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$42,000</a:t>
                      </a:r>
                    </a:p>
                  </a:txBody>
                  <a:tcPr marL="73152" marR="73152" marT="27432" marB="27432">
                    <a:solidFill>
                      <a:srgbClr val="1F2B3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Groceries</a:t>
                      </a:r>
                    </a:p>
                  </a:txBody>
                  <a:tcPr marL="73152" marR="73152" marT="27432" marB="27432"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$720</a:t>
                      </a:r>
                    </a:p>
                  </a:txBody>
                  <a:tcPr marL="73152" marR="73152" marT="27432" marB="27432"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$8,640</a:t>
                      </a:r>
                    </a:p>
                  </a:txBody>
                  <a:tcPr marL="73152" marR="73152" marT="27432" marB="27432">
                    <a:solidFill>
                      <a:srgbClr val="26344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Auto loan</a:t>
                      </a:r>
                    </a:p>
                  </a:txBody>
                  <a:tcPr marL="73152" marR="73152" marT="27432" marB="27432">
                    <a:solidFill>
                      <a:srgbClr val="1F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$520</a:t>
                      </a:r>
                    </a:p>
                  </a:txBody>
                  <a:tcPr marL="73152" marR="73152" marT="27432" marB="27432">
                    <a:solidFill>
                      <a:srgbClr val="1F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$6,240</a:t>
                      </a:r>
                    </a:p>
                  </a:txBody>
                  <a:tcPr marL="73152" marR="73152" marT="27432" marB="27432">
                    <a:solidFill>
                      <a:srgbClr val="1F2B3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Fertility cycle</a:t>
                      </a:r>
                    </a:p>
                  </a:txBody>
                  <a:tcPr marL="73152" marR="73152" marT="27432" marB="27432"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 marL="73152" marR="73152" marT="27432" marB="27432"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$5,400</a:t>
                      </a:r>
                    </a:p>
                  </a:txBody>
                  <a:tcPr marL="73152" marR="73152" marT="27432" marB="27432">
                    <a:solidFill>
                      <a:srgbClr val="26344A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Health insurance</a:t>
                      </a:r>
                    </a:p>
                  </a:txBody>
                  <a:tcPr marL="73152" marR="73152" marT="27432" marB="27432">
                    <a:solidFill>
                      <a:srgbClr val="1F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$380</a:t>
                      </a:r>
                    </a:p>
                  </a:txBody>
                  <a:tcPr marL="73152" marR="73152" marT="27432" marB="27432">
                    <a:solidFill>
                      <a:srgbClr val="1F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Calibri"/>
                        </a:rPr>
                        <a:t>$4,560</a:t>
                      </a:r>
                    </a:p>
                  </a:txBody>
                  <a:tcPr marL="73152" marR="73152" marT="27432" marB="27432">
                    <a:solidFill>
                      <a:srgbClr val="1F2B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440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9FB0C3"/>
                </a:solidFill>
                <a:latin typeface="Calibri"/>
              </a:rPr>
              <a:t>Annual equals monthly times twelve. Remaining surplus routes to the IVF fund, travel, and discretionary.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FB0C3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E8EEF5"/>
                </a:solidFill>
                <a:latin typeface="Calibri"/>
              </a:rPr>
              <a:t>Where the money goes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188720" y="1188720"/>
          <a:ext cx="97840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FB0C3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E8EEF5"/>
                </a:solidFill>
                <a:latin typeface="Calibri"/>
              </a:rPr>
              <a:t>Savings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8EEF5"/>
                </a:solidFill>
                <a:latin typeface="Calibri"/>
              </a:rPr>
              <a:t>Emergency fund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9FB0C3"/>
                </a:solidFill>
                <a:latin typeface="Calibri"/>
              </a:rPr>
              <a:t>$42,000  target met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554480"/>
            <a:ext cx="5943600" cy="457200"/>
          </a:xfrm>
          <a:prstGeom prst="rect">
            <a:avLst/>
          </a:prstGeom>
          <a:solidFill>
            <a:srgbClr val="26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554480"/>
            <a:ext cx="5943600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55448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8EEF5"/>
                </a:solidFill>
                <a:latin typeface="Calibri"/>
              </a:rPr>
              <a:t>IVF fund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9FB0C3"/>
                </a:solidFill>
                <a:latin typeface="Calibri"/>
              </a:rPr>
              <a:t>$18,000  toward $25,000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3017520"/>
            <a:ext cx="5943600" cy="457200"/>
          </a:xfrm>
          <a:prstGeom prst="rect">
            <a:avLst/>
          </a:prstGeom>
          <a:solidFill>
            <a:srgbClr val="26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3017520"/>
            <a:ext cx="4279392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301752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72%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8EEF5"/>
                </a:solidFill>
                <a:latin typeface="Calibri"/>
              </a:rPr>
              <a:t>Retirement combined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9FB0C3"/>
                </a:solidFill>
                <a:latin typeface="Calibri"/>
              </a:rPr>
              <a:t>$320,000  ongoing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4480560"/>
            <a:ext cx="5943600" cy="457200"/>
          </a:xfrm>
          <a:prstGeom prst="rect">
            <a:avLst/>
          </a:prstGeom>
          <a:solidFill>
            <a:srgbClr val="26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4480560"/>
            <a:ext cx="4754880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448056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FB0C3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9144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E8EEF5"/>
                </a:solidFill>
                <a:latin typeface="Calibri"/>
              </a:rPr>
              <a:t>Steady plan, clear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9FB0C3"/>
                </a:solidFill>
                <a:latin typeface="Calibri"/>
              </a:rPr>
              <a:t>Accounts held at Ally, Fidelity, and a monthly-paid card.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9FB0C3"/>
                </a:solidFill>
                <a:latin typeface="Calibri"/>
              </a:rPr>
              <a:t>Review again with Priya at the end of the quarter.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FB0C3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2026-02-10T09:00:00Z</dcterms:created>
  <dcterms:modified xsi:type="dcterms:W3CDTF">2026-02-10T09:00:00Z</dcterms:modified>
  <cp:category/>
</cp:coreProperties>
</file>