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Books</c:v>
                </c:pt>
              </c:strCache>
            </c:strRef>
          </c:tx>
          <c:dPt>
            <c:idx val="0"/>
            <c:spPr>
              <a:solidFill>
                <a:srgbClr val="5B3A29"/>
              </a:solidFill>
            </c:spPr>
          </c:dPt>
          <c:dPt>
            <c:idx val="1"/>
            <c:spPr>
              <a:solidFill>
                <a:srgbClr val="A8521F"/>
              </a:solidFill>
            </c:spPr>
          </c:dPt>
          <c:dPt>
            <c:idx val="2"/>
            <c:spPr>
              <a:solidFill>
                <a:srgbClr val="6B6233"/>
              </a:solidFill>
            </c:spPr>
          </c:dPt>
          <c:dPt>
            <c:idx val="3"/>
            <c:spPr>
              <a:solidFill>
                <a:srgbClr val="8A6D3B"/>
              </a:solidFill>
            </c:spPr>
          </c:dPt>
          <c:dPt>
            <c:idx val="4"/>
            <c:spPr>
              <a:solidFill>
                <a:srgbClr val="D8C3A5"/>
              </a:solidFill>
            </c:spPr>
          </c:dPt>
          <c:cat>
            <c:strRef>
              <c:f>Sheet1!$A$2:$A$6</c:f>
              <c:strCache>
                <c:ptCount val="5"/>
                <c:pt idx="0">
                  <c:v>History</c:v>
                </c:pt>
                <c:pt idx="1">
                  <c:v>Legal Thriller</c:v>
                </c:pt>
                <c:pt idx="2">
                  <c:v>Fiction</c:v>
                </c:pt>
                <c:pt idx="3">
                  <c:v>Memoir</c:v>
                </c:pt>
                <c:pt idx="4">
                  <c:v>Nonfiction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>
              <a:solidFill>
                <a:srgbClr val="2E2117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5B3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128016" cy="6858000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3017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ECDD"/>
                </a:solidFill>
                <a:latin typeface="Cambria"/>
              </a:rPr>
              <a:t>A Year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ECDD"/>
                </a:solidFill>
                <a:latin typeface="Cambria"/>
              </a:rPr>
              <a:t>in Books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ECDD"/>
                </a:solidFill>
                <a:latin typeface="Cambria"/>
              </a:rPr>
              <a:t>and Vinyl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377440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5B3A29"/>
                </a:solidFill>
                <a:latin typeface="Cambria"/>
              </a:rPr>
              <a:t>Danny Wells, personal reading and record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6949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8521F"/>
                </a:solidFill>
                <a:latin typeface="Calibri"/>
              </a:rPr>
              <a:t>Home office, 73 Claremont Avenue, Montclair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8521F"/>
                </a:solidFill>
                <a:latin typeface="Calibri"/>
              </a:rPr>
              <a:t>Covering 2025 into early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623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A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164592" cy="1828800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5ECDD"/>
                </a:solidFill>
                <a:latin typeface="Cambria"/>
              </a:rPr>
              <a:t>What this year held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D8C3A5"/>
                </a:solidFill>
                <a:latin typeface="Calibri"/>
              </a:rPr>
              <a:t>Around two books a month on the commute and at night.  A turntable gift from Priya that turned into a steady habit.  Springsteen and the Jersey tradition front and center.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D8C3A5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3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ECDD"/>
                </a:solidFill>
                <a:latin typeface="Cambria"/>
              </a:rPr>
              <a:t>Books finished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5ECDD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73152" marR="73152" marT="27432" marB="27432">
                    <a:solidFill>
                      <a:srgbClr val="A852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5ECDD"/>
                          </a:solidFill>
                          <a:latin typeface="Calibri"/>
                        </a:rPr>
                        <a:t>Author</a:t>
                      </a:r>
                    </a:p>
                  </a:txBody>
                  <a:tcPr marL="73152" marR="73152" marT="27432" marB="27432">
                    <a:solidFill>
                      <a:srgbClr val="A852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5ECDD"/>
                          </a:solidFill>
                          <a:latin typeface="Calibri"/>
                        </a:rPr>
                        <a:t>Genre</a:t>
                      </a:r>
                    </a:p>
                  </a:txBody>
                  <a:tcPr marL="73152" marR="73152" marT="27432" marB="27432">
                    <a:solidFill>
                      <a:srgbClr val="A852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5ECDD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marL="73152" marR="73152" marT="27432" marB="27432">
                    <a:solidFill>
                      <a:srgbClr val="A852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The Lincoln Highway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Amor Towles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Fiction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The Power Broker</a:t>
                      </a:r>
                    </a:p>
                  </a:txBody>
                  <a:tcPr marL="73152" marR="73152" marT="27432" marB="27432"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Robert Caro</a:t>
                      </a:r>
                    </a:p>
                  </a:txBody>
                  <a:tcPr marL="73152" marR="73152" marT="27432" marB="27432"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73152" marR="73152" marT="27432" marB="27432"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73152" marR="73152" marT="27432" marB="27432">
                    <a:solidFill>
                      <a:srgbClr val="E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Defending Jacob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William Landay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Legal Thriller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The Splendid and the Vile</a:t>
                      </a:r>
                    </a:p>
                  </a:txBody>
                  <a:tcPr marL="73152" marR="73152" marT="27432" marB="27432"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Erik Larson</a:t>
                      </a:r>
                    </a:p>
                  </a:txBody>
                  <a:tcPr marL="73152" marR="73152" marT="27432" marB="27432"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73152" marR="73152" marT="27432" marB="27432"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 marL="73152" marR="73152" marT="27432" marB="27432">
                    <a:solidFill>
                      <a:srgbClr val="E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Born to Run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Bruce Springsteen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Memoir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E2117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73152" marR="73152" marT="27432" marB="27432">
                    <a:solidFill>
                      <a:srgbClr val="D8C3A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B3A29"/>
                </a:solidFill>
                <a:latin typeface="Calibri"/>
              </a:rPr>
              <a:t>Currently reading: The Arbitration by Thomas Kessler, a legal thriller that gets the procedure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623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3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ECDD"/>
                </a:solidFill>
                <a:latin typeface="Cambria"/>
              </a:rPr>
              <a:t>Reading by genre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280160" y="1280160"/>
          <a:ext cx="9601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623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3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ECDD"/>
                </a:solidFill>
                <a:latin typeface="Cambria"/>
              </a:rPr>
              <a:t>On the turntable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474720" cy="1828800"/>
          </a:xfrm>
          <a:prstGeom prst="rect">
            <a:avLst/>
          </a:prstGeom>
          <a:solidFill>
            <a:srgbClr val="D8C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74720" cy="548640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5ECDD"/>
                </a:solidFill>
                <a:latin typeface="Cambria"/>
              </a:rPr>
              <a:t>Born to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E2117"/>
                </a:solidFill>
                <a:latin typeface="Calibri"/>
              </a:rPr>
              <a:t>Bruce Springsteen, 1975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1828800"/>
          </a:xfrm>
          <a:prstGeom prst="rect">
            <a:avLst/>
          </a:prstGeom>
          <a:solidFill>
            <a:srgbClr val="D8C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474720" cy="548640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36192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5ECDD"/>
                </a:solidFill>
                <a:latin typeface="Cambria"/>
              </a:rPr>
              <a:t>Darkness on the Edge of Town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E2117"/>
                </a:solidFill>
                <a:latin typeface="Calibri"/>
              </a:rPr>
              <a:t>Bruce Springsteen, 1978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474720" cy="1828800"/>
          </a:xfrm>
          <a:prstGeom prst="rect">
            <a:avLst/>
          </a:prstGeom>
          <a:solidFill>
            <a:srgbClr val="D8C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463040"/>
            <a:ext cx="3474720" cy="548640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36192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5ECDD"/>
                </a:solidFill>
                <a:latin typeface="Cambria"/>
              </a:rPr>
              <a:t>Nebraska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1945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E2117"/>
                </a:solidFill>
                <a:latin typeface="Calibri"/>
              </a:rPr>
              <a:t>Bruce Springsteen, 1982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3474720" cy="1828800"/>
          </a:xfrm>
          <a:prstGeom prst="rect">
            <a:avLst/>
          </a:prstGeom>
          <a:solidFill>
            <a:srgbClr val="D8C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3474720" cy="548640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39312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5ECDD"/>
                </a:solidFill>
                <a:latin typeface="Cambria"/>
              </a:rPr>
              <a:t>The 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E2117"/>
                </a:solidFill>
                <a:latin typeface="Calibri"/>
              </a:rPr>
              <a:t>E Street Band, 1980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566160"/>
            <a:ext cx="3474720" cy="1828800"/>
          </a:xfrm>
          <a:prstGeom prst="rect">
            <a:avLst/>
          </a:prstGeom>
          <a:solidFill>
            <a:srgbClr val="D8C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566160"/>
            <a:ext cx="3474720" cy="548640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639312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5ECDD"/>
                </a:solidFill>
                <a:latin typeface="Cambria"/>
              </a:rPr>
              <a:t>I Don't Want to Go Home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9768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E2117"/>
                </a:solidFill>
                <a:latin typeface="Calibri"/>
              </a:rPr>
              <a:t>Southside Johnny, 1976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566160"/>
            <a:ext cx="3474720" cy="1828800"/>
          </a:xfrm>
          <a:prstGeom prst="rect">
            <a:avLst/>
          </a:prstGeom>
          <a:solidFill>
            <a:srgbClr val="D8C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566160"/>
            <a:ext cx="3474720" cy="548640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3639312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5ECDD"/>
                </a:solidFill>
                <a:latin typeface="Cambria"/>
              </a:rPr>
              <a:t>The '59 Sound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29768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E2117"/>
                </a:solidFill>
                <a:latin typeface="Calibri"/>
              </a:rPr>
              <a:t>The Gaslight Anthem, 2008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6233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A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91440"/>
          </a:xfrm>
          <a:prstGeom prst="rect">
            <a:avLst/>
          </a:prstGeom>
          <a:solidFill>
            <a:srgbClr val="A8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5ECDD"/>
                </a:solidFill>
                <a:latin typeface="Cambria"/>
              </a:rPr>
              <a:t>Next up on the shelf and the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8C3A5"/>
                </a:solidFill>
                <a:latin typeface="Calibri"/>
              </a:rPr>
              <a:t>Whatever Connelly put out this year, and a Patti Smith record to round out the Jersey shelf.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8C3A5"/>
                </a:solidFill>
                <a:latin typeface="Calibri"/>
              </a:rPr>
              <a:t>Danny Wells, Montclair, New Jersey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D8C3A5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