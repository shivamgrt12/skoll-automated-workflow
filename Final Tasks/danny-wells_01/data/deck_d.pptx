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Miles</c:v>
                </c:pt>
              </c:strCache>
            </c:strRef>
          </c:tx>
          <c:spPr>
            <a:ln w="38100">
              <a:solidFill>
                <a:srgbClr val="14A08A"/>
              </a:solidFill>
            </a:ln>
          </c:spPr>
          <c:cat>
            <c:strRef>
              <c:f>Sheet1!$A$2:$A$6</c:f>
              <c:strCache>
                <c:ptCount val="5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</c:v>
                </c:pt>
                <c:pt idx="1">
                  <c:v>38</c:v>
                </c:pt>
                <c:pt idx="2">
                  <c:v>36</c:v>
                </c:pt>
                <c:pt idx="3">
                  <c:v>44</c:v>
                </c:pt>
                <c:pt idx="4">
                  <c:v>42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 b="1">
                  <a:solidFill>
                    <a:srgbClr val="0F7A52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4342A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4342A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0F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28016"/>
          </a:xfrm>
          <a:prstGeom prst="rect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orbel"/>
              </a:rPr>
              <a:t>Training and Movement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9BE15D"/>
                </a:solidFill>
                <a:latin typeface="Calibri"/>
              </a:rPr>
              <a:t>Running, strength, and migraine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4342A"/>
                </a:solidFill>
                <a:latin typeface="Calibri"/>
              </a:rPr>
              <a:t>Danny Wells, Montclair, New Jersey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4342A"/>
                </a:solidFill>
                <a:latin typeface="Calibri"/>
              </a:rPr>
              <a:t>Three runs and three lifts per week. Movement is the cheapest insurance against migraines.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A6B5F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377440"/>
            <a:ext cx="164592" cy="1828800"/>
          </a:xfrm>
          <a:prstGeom prst="rect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rbel"/>
              </a:rPr>
              <a:t>The weekly rhythm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56616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6F7EE"/>
                </a:solidFill>
                <a:latin typeface="Calibri"/>
              </a:rPr>
              <a:t>Run Tuesday, Thursday, Saturday.  Lift Monday, Wednesday, Friday before work.  Weekend walks with Priya.  Sleep held at seven hours as part of the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E6F7EE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orbel"/>
              </a:rPr>
              <a:t>Weekly schedule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74765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marL="73152" marR="73152" marT="27432" marB="27432">
                    <a:solidFill>
                      <a:srgbClr val="14A0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Morning</a:t>
                      </a:r>
                    </a:p>
                  </a:txBody>
                  <a:tcPr marL="73152" marR="73152" marT="27432" marB="27432">
                    <a:solidFill>
                      <a:srgbClr val="14A0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27432" marB="27432">
                    <a:solidFill>
                      <a:srgbClr val="14A0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73152" marR="73152" marT="27432" marB="27432">
                    <a:solidFill>
                      <a:srgbClr val="14A08A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Monday</a:t>
                      </a:r>
                    </a:p>
                  </a:txBody>
                  <a:tcPr marL="73152" marR="73152" marT="27432" marB="27432">
                    <a:solidFill>
                      <a:srgbClr val="D6EF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6:15 AM</a:t>
                      </a:r>
                    </a:p>
                  </a:txBody>
                  <a:tcPr marL="73152" marR="73152" marT="27432" marB="27432">
                    <a:solidFill>
                      <a:srgbClr val="D6EF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marL="73152" marR="73152" marT="27432" marB="27432">
                    <a:solidFill>
                      <a:srgbClr val="D6EF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45 min, full body</a:t>
                      </a:r>
                    </a:p>
                  </a:txBody>
                  <a:tcPr marL="73152" marR="73152" marT="27432" marB="27432">
                    <a:solidFill>
                      <a:srgbClr val="D6EFE1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Tuesday</a:t>
                      </a:r>
                    </a:p>
                  </a:txBody>
                  <a:tcPr marL="73152" marR="73152" marT="27432" marB="27432">
                    <a:solidFill>
                      <a:srgbClr val="EA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7:00 AM</a:t>
                      </a:r>
                    </a:p>
                  </a:txBody>
                  <a:tcPr marL="73152" marR="73152" marT="27432" marB="27432">
                    <a:solidFill>
                      <a:srgbClr val="EA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73152" marR="73152" marT="27432" marB="27432">
                    <a:solidFill>
                      <a:srgbClr val="EA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3 to 4 miles easy</a:t>
                      </a:r>
                    </a:p>
                  </a:txBody>
                  <a:tcPr marL="73152" marR="73152" marT="27432" marB="27432">
                    <a:solidFill>
                      <a:srgbClr val="EAF6E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Wednesday</a:t>
                      </a:r>
                    </a:p>
                  </a:txBody>
                  <a:tcPr marL="73152" marR="73152" marT="27432" marB="27432">
                    <a:solidFill>
                      <a:srgbClr val="D6EF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6:15 AM</a:t>
                      </a:r>
                    </a:p>
                  </a:txBody>
                  <a:tcPr marL="73152" marR="73152" marT="27432" marB="27432">
                    <a:solidFill>
                      <a:srgbClr val="D6EF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marL="73152" marR="73152" marT="27432" marB="27432">
                    <a:solidFill>
                      <a:srgbClr val="D6EF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45 min, upper</a:t>
                      </a:r>
                    </a:p>
                  </a:txBody>
                  <a:tcPr marL="73152" marR="73152" marT="27432" marB="27432">
                    <a:solidFill>
                      <a:srgbClr val="D6EFE1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Thursday</a:t>
                      </a:r>
                    </a:p>
                  </a:txBody>
                  <a:tcPr marL="73152" marR="73152" marT="27432" marB="27432">
                    <a:solidFill>
                      <a:srgbClr val="EA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7:00 AM</a:t>
                      </a:r>
                    </a:p>
                  </a:txBody>
                  <a:tcPr marL="73152" marR="73152" marT="27432" marB="27432">
                    <a:solidFill>
                      <a:srgbClr val="EA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73152" marR="73152" marT="27432" marB="27432">
                    <a:solidFill>
                      <a:srgbClr val="EA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Branch Brook Park</a:t>
                      </a:r>
                    </a:p>
                  </a:txBody>
                  <a:tcPr marL="73152" marR="73152" marT="27432" marB="27432">
                    <a:solidFill>
                      <a:srgbClr val="EAF6E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Friday</a:t>
                      </a:r>
                    </a:p>
                  </a:txBody>
                  <a:tcPr marL="73152" marR="73152" marT="27432" marB="27432">
                    <a:solidFill>
                      <a:srgbClr val="D6EF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6:15 AM</a:t>
                      </a:r>
                    </a:p>
                  </a:txBody>
                  <a:tcPr marL="73152" marR="73152" marT="27432" marB="27432">
                    <a:solidFill>
                      <a:srgbClr val="D6EF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marL="73152" marR="73152" marT="27432" marB="27432">
                    <a:solidFill>
                      <a:srgbClr val="D6EF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45 min, lower</a:t>
                      </a:r>
                    </a:p>
                  </a:txBody>
                  <a:tcPr marL="73152" marR="73152" marT="27432" marB="27432">
                    <a:solidFill>
                      <a:srgbClr val="D6EFE1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Saturday</a:t>
                      </a:r>
                    </a:p>
                  </a:txBody>
                  <a:tcPr marL="73152" marR="73152" marT="27432" marB="27432">
                    <a:solidFill>
                      <a:srgbClr val="EA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7:30 AM</a:t>
                      </a:r>
                    </a:p>
                  </a:txBody>
                  <a:tcPr marL="73152" marR="73152" marT="27432" marB="27432">
                    <a:solidFill>
                      <a:srgbClr val="EA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73152" marR="73152" marT="27432" marB="27432">
                    <a:solidFill>
                      <a:srgbClr val="EA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342A"/>
                          </a:solidFill>
                          <a:latin typeface="Calibri"/>
                        </a:rPr>
                        <a:t>Long, 4 miles</a:t>
                      </a:r>
                    </a:p>
                  </a:txBody>
                  <a:tcPr marL="73152" marR="73152" marT="27432" marB="27432">
                    <a:solidFill>
                      <a:srgbClr val="EAF6E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A6B5F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orbel"/>
              </a:rPr>
              <a:t>Monthly mileage trend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106984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A6B5F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orbel"/>
              </a:rPr>
              <a:t>Why it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228600" cy="1097280"/>
          </a:xfrm>
          <a:prstGeom prst="rect">
            <a:avLst/>
          </a:prstGeom>
          <a:solidFill>
            <a:srgbClr val="14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0F7A52"/>
                </a:solidFill>
                <a:latin typeface="Corbel"/>
              </a:rPr>
              <a:t>Migraine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4342A"/>
                </a:solidFill>
                <a:latin typeface="Calibri"/>
              </a:rPr>
              <a:t>Steady movement, hydration, and sleep keep monthly headache days at two to three.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80360"/>
            <a:ext cx="228600" cy="1097280"/>
          </a:xfrm>
          <a:prstGeom prst="rect">
            <a:avLst/>
          </a:prstGeom>
          <a:solidFill>
            <a:srgbClr val="14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0F7A52"/>
                </a:solidFill>
                <a:latin typeface="Corbel"/>
              </a:rPr>
              <a:t>Stress release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4342A"/>
                </a:solidFill>
                <a:latin typeface="Calibri"/>
              </a:rPr>
              <a:t>Trial-prep weeks land easier when the morning lift or run is already done.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97680"/>
            <a:ext cx="228600" cy="1097280"/>
          </a:xfrm>
          <a:prstGeom prst="rect">
            <a:avLst/>
          </a:prstGeom>
          <a:solidFill>
            <a:srgbClr val="14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0F7A52"/>
                </a:solidFill>
                <a:latin typeface="Corbel"/>
              </a:rPr>
              <a:t>Shared habit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00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4342A"/>
                </a:solidFill>
                <a:latin typeface="Calibri"/>
              </a:rPr>
              <a:t>Weekend walks with Priya keep the routine social, not just solo miles.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A6B5F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91440"/>
          </a:xfrm>
          <a:prstGeom prst="rect">
            <a:avLst/>
          </a:prstGeom>
          <a:solidFill>
            <a:srgbClr val="9BE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orbel"/>
              </a:rPr>
              <a:t>Keep moving, keep steady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E6F7EE"/>
                </a:solidFill>
                <a:latin typeface="Calibri"/>
              </a:rPr>
              <a:t>Danny Wells  |  Montclair, New Jersey  |  Three and three, every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E6F7EE"/>
                </a:solidFill>
                <a:latin typeface="Calibri"/>
              </a:rPr>
              <a:t>Danny P. Wells  |  Montclair, NJ  |  danny.wells@greenridertech.co  |  (973) 555-0177  |  Copyright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2026-02-10T09:00:00Z</dcterms:created>
  <dcterms:modified xsi:type="dcterms:W3CDTF">2026-02-10T09:00:00Z</dcterms:modified>
  <cp:category/>
</cp:coreProperties>
</file>