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Dine in</c:v>
                </c:pt>
              </c:strCache>
            </c:strRef>
          </c:tx>
          <c:spPr>
            <a:solidFill>
              <a:srgbClr val="1F5FA8"/>
            </a:solidFill>
          </c:spPr>
          <c:cat>
            <c:strRef>
              <c:f>Sheet1!$A$2:$A$6</c:f>
              <c:strCache>
                <c:ptCount val="5"/>
                <c:pt idx="0">
                  <c:v>Oct 2025</c:v>
                </c:pt>
                <c:pt idx="1">
                  <c:v>Nov 2025</c:v>
                </c:pt>
                <c:pt idx="2">
                  <c:v>Dec 2025</c:v>
                </c:pt>
                <c:pt idx="3">
                  <c:v>Jan 2026</c:v>
                </c:pt>
                <c:pt idx="4">
                  <c:v>Feb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36800</c:v>
                </c:pt>
                <c:pt idx="1">
                  <c:v>38200</c:v>
                </c:pt>
                <c:pt idx="2">
                  <c:v>40100</c:v>
                </c:pt>
                <c:pt idx="3">
                  <c:v>41200</c:v>
                </c:pt>
                <c:pt idx="4">
                  <c:v>36400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Catering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Sheet1!$A$2:$A$6</c:f>
              <c:strCache>
                <c:ptCount val="5"/>
                <c:pt idx="0">
                  <c:v>Oct 2025</c:v>
                </c:pt>
                <c:pt idx="1">
                  <c:v>Nov 2025</c:v>
                </c:pt>
                <c:pt idx="2">
                  <c:v>Dec 2025</c:v>
                </c:pt>
                <c:pt idx="3">
                  <c:v>Jan 2026</c:v>
                </c:pt>
                <c:pt idx="4">
                  <c:v>Feb 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5400</c:v>
                </c:pt>
                <c:pt idx="1">
                  <c:v>5900</c:v>
                </c:pt>
                <c:pt idx="2">
                  <c:v>6300</c:v>
                </c:pt>
                <c:pt idx="3">
                  <c:v>6800</c:v>
                </c:pt>
                <c:pt idx="4">
                  <c:v>7600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Delivery</c:v>
                </c:pt>
              </c:strCache>
            </c:strRef>
          </c:tx>
          <c:spPr>
            <a:solidFill>
              <a:srgbClr val="4A86C7"/>
            </a:solidFill>
          </c:spPr>
          <c:cat>
            <c:strRef>
              <c:f>Sheet1!$A$2:$A$6</c:f>
              <c:strCache>
                <c:ptCount val="5"/>
                <c:pt idx="0">
                  <c:v>Oct 2025</c:v>
                </c:pt>
                <c:pt idx="1">
                  <c:v>Nov 2025</c:v>
                </c:pt>
                <c:pt idx="2">
                  <c:v>Dec 2025</c:v>
                </c:pt>
                <c:pt idx="3">
                  <c:v>Jan 2026</c:v>
                </c:pt>
                <c:pt idx="4">
                  <c:v>Feb 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4000</c:v>
                </c:pt>
                <c:pt idx="1">
                  <c:v>4200</c:v>
                </c:pt>
                <c:pt idx="2">
                  <c:v>4500</c:v>
                </c:pt>
                <c:pt idx="3">
                  <c:v>4400</c:v>
                </c:pt>
                <c:pt idx="4">
                  <c:v>3900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B3A4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B3A4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2B3A4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4114800" cy="146304"/>
          </a:xfrm>
          <a:prstGeom prst="rect">
            <a:avLst/>
          </a:prstGeom>
          <a:solidFill>
            <a:srgbClr val="4A8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Memphis Soul Kitchen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0">
                <a:solidFill>
                  <a:srgbClr val="4A86C7"/>
                </a:solidFill>
                <a:latin typeface="Calibri"/>
              </a:rPr>
              <a:t>Owner Financial Review, Year Four of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AF1F8"/>
                </a:solidFill>
                <a:latin typeface="Calibri"/>
              </a:rPr>
              <a:t>Darius Marcus Barker, Owner and Head Chef  |  EIN 54-2287310</a:t>
            </a:r>
          </a:p>
          <a:p>
            <a:pPr algn="l"/>
            <a:r>
              <a:rPr sz="1400" b="0" i="0">
                <a:solidFill>
                  <a:srgbClr val="EAF1F8"/>
                </a:solidFill>
                <a:latin typeface="Calibri"/>
              </a:rPr>
              <a:t>Reporting period through January 2026  |  Church Hill, Richmond, Virginia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22A4A"/>
                </a:solidFill>
                <a:latin typeface="Calibri"/>
              </a:rPr>
              <a:t>Review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B3A4D"/>
                </a:solidFill>
                <a:latin typeface="Calibri"/>
              </a:rPr>
              <a:t>  Revenue by channel and monthly profit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3A4D"/>
                </a:solidFill>
                <a:latin typeface="Calibri"/>
              </a:rPr>
              <a:t>  Cost structure and food cost discipline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3A4D"/>
                </a:solidFill>
                <a:latin typeface="Calibri"/>
              </a:rPr>
              <a:t>  Outstanding debt and the building purchase goal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3A4D"/>
                </a:solidFill>
                <a:latin typeface="Calibri"/>
              </a:rPr>
              <a:t>  Catering as the growth lever for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January 2026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651760" cy="21031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651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$52,400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651760" cy="2103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Gross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651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$35,632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2651760" cy="2103120"/>
          </a:xfrm>
          <a:prstGeom prst="rect">
            <a:avLst/>
          </a:prstGeom>
          <a:solidFill>
            <a:srgbClr val="4A8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Food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651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63040"/>
            <a:ext cx="2651760" cy="21031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73736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Owner 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6517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3A4D"/>
                </a:solidFill>
                <a:latin typeface="Calibri"/>
              </a:rPr>
              <a:t>  Dine in revenue of 41,200 carried the month, with catering at 6,800 and delivery at 4,400.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3A4D"/>
                </a:solidFill>
                <a:latin typeface="Calibri"/>
              </a:rPr>
              <a:t>  Cost of goods held at 32 percent, in line with target for a soul food menu.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3A4D"/>
                </a:solidFill>
                <a:latin typeface="Calibri"/>
              </a:rPr>
              <a:t>  Wages and payroll taxes of 16,203 remain the largest single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Revenue by Channel, Recent Months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188720"/>
          <a:ext cx="108813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Profit and Loss, January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257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Amount (USD)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52,400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Dine in, catering,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Cost of goods sold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16,768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32% of revenue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35,632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Wages and payroll taxes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16,203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Staff, every other Friday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Commercial 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Frank Donovan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Utilities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1,480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Restaurant portion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Business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3A4D"/>
                          </a:solidFill>
                        </a:rPr>
                        <a:t>Policy BOP-7720394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Debt and the 2027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2062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Active Debt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Small business loan from River City Community Credit Union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Reference SBL-204417, original principal 15,000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Eighteen months remaining on the 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4206240"/>
          </a:xfrm>
          <a:prstGeom prst="rect">
            <a:avLst/>
          </a:prstGeom>
          <a:solidFill>
            <a:srgbClr val="4A8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Building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Buy the building from Frank Donovan when the lease renews in 2027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Emergency fund near 4,000 and building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Catering growth funds the down payment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128016"/>
          </a:xfrm>
          <a:prstGeom prst="rect">
            <a:avLst/>
          </a:prstGeom>
          <a:solidFill>
            <a:srgbClr val="4A8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Steady, Disciplined,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EAF1F8"/>
                </a:solidFill>
                <a:latin typeface="Calibri"/>
              </a:rPr>
              <a:t>Darius Marcus Barker  |  Memphis Soul Kitchen LLC</a:t>
            </a:r>
          </a:p>
          <a:p>
            <a:pPr algn="l"/>
            <a:r>
              <a:rPr sz="1600" b="0" i="0">
                <a:solidFill>
                  <a:srgbClr val="EAF1F8"/>
                </a:solidFill>
                <a:latin typeface="Calibri"/>
              </a:rPr>
              <a:t>(804) 555-2200  |  darius.barker@Greenridertech.co</a:t>
            </a:r>
          </a:p>
          <a:p>
            <a:pPr algn="l"/>
            <a:r>
              <a:rPr sz="1600" b="0" i="0">
                <a:solidFill>
                  <a:srgbClr val="EAF1F8"/>
                </a:solidFill>
                <a:latin typeface="Calibri"/>
              </a:rPr>
              <a:t>(c) 2026 Memphis Soul Kitchen, Richmond, Virginia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dc:creator/>
</cp:coreProperties>
</file>