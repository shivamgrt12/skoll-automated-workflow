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(USD)</c:v>
                </c:pt>
              </c:strCache>
            </c:strRef>
          </c:tx>
          <c:spPr>
            <a:solidFill>
              <a:srgbClr val="EC4D8A"/>
            </a:solidFill>
          </c:spPr>
          <c:cat>
            <c:strRef>
              <c:f>Sheet1!$A$2:$A$6</c:f>
              <c:strCache>
                <c:ptCount val="5"/>
                <c:pt idx="0">
                  <c:v>Harvest social</c:v>
                </c:pt>
                <c:pt idx="1">
                  <c:v>NYE showcase</c:v>
                </c:pt>
                <c:pt idx="2">
                  <c:v>Winter sessions</c:v>
                </c:pt>
                <c:pt idx="3">
                  <c:v>Sweetheart night</c:v>
                </c:pt>
                <c:pt idx="4">
                  <c:v>Festival,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360</c:v>
                </c:pt>
                <c:pt idx="1">
                  <c:v>560</c:v>
                </c:pt>
                <c:pt idx="2">
                  <c:v>320</c:v>
                </c:pt>
                <c:pt idx="3">
                  <c:v>400</c:v>
                </c:pt>
                <c:pt idx="4">
                  <c:v>600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F3F2F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3F2F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3F2FB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F3F2F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Field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Fie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Field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Fiel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Field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Field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Fiel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Field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Field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Fiel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Field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Fie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Field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640080"/>
            <a:ext cx="2377440" cy="23774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1463040"/>
            <a:ext cx="1645920" cy="1645920"/>
          </a:xfrm>
          <a:prstGeom prst="ellipse">
            <a:avLst/>
          </a:prstGeom>
          <a:solidFill>
            <a:srgbClr val="EC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82296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600" b="1" i="0">
                <a:solidFill>
                  <a:srgbClr val="F3F2FB"/>
                </a:solidFill>
                <a:latin typeface="Calibri"/>
              </a:rPr>
              <a:t>Riverside Groove Collective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66160"/>
            <a:ext cx="8229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200" b="0" i="1">
                <a:solidFill>
                  <a:srgbClr val="F6C453"/>
                </a:solidFill>
                <a:latin typeface="Calibri"/>
              </a:rPr>
              <a:t>Jazz, funk, and soul for your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86400"/>
            <a:ext cx="100584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B9B6CF"/>
                </a:solidFill>
                <a:latin typeface="Calibri"/>
              </a:rPr>
              <a:t>Booking deck  |  Darius Marcus Barker, bassist and musical director</a:t>
            </a:r>
          </a:p>
          <a:p>
            <a:pPr algn="l"/>
            <a:r>
              <a:rPr sz="1400" b="0" i="0">
                <a:solidFill>
                  <a:srgbClr val="B9B6CF"/>
                </a:solidFill>
                <a:latin typeface="Calibri"/>
              </a:rPr>
              <a:t>(804) 555-3162  |  darius.barker@Greenridertech.co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457200" cy="1188720"/>
          </a:xfrm>
          <a:prstGeom prst="rect">
            <a:avLst/>
          </a:prstGeom>
          <a:solidFill>
            <a:srgbClr val="EC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651760"/>
            <a:ext cx="9144000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600" b="1" i="0">
                <a:solidFill>
                  <a:srgbClr val="F3F2FB"/>
                </a:solidFill>
                <a:latin typeface="Calibri"/>
              </a:rPr>
              <a:t>Six Players, One Pocket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3840480"/>
            <a:ext cx="91440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1">
                <a:solidFill>
                  <a:srgbClr val="F6C453"/>
                </a:solidFill>
                <a:latin typeface="Calibri"/>
              </a:rPr>
              <a:t>Bass, keys, guitar, drums, saxophone, and vocals.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3F2FB"/>
                </a:solidFill>
                <a:latin typeface="Calibri"/>
              </a:rPr>
              <a:t>What the Band Brings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212080" cy="4754880"/>
          </a:xfrm>
          <a:prstGeom prst="rect">
            <a:avLst/>
          </a:prstGeom>
          <a:solidFill>
            <a:srgbClr val="1D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4754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F6C453"/>
                </a:solidFill>
                <a:latin typeface="Calibri"/>
              </a:rPr>
              <a:t>Sets We 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F3F2FB"/>
                </a:solidFill>
                <a:latin typeface="Calibri"/>
              </a:rPr>
              <a:t>  Festival main stage, full energy funk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3F2FB"/>
                </a:solidFill>
                <a:latin typeface="Calibri"/>
              </a:rPr>
              <a:t>  Club and lounge, jazz forward sets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3F2FB"/>
                </a:solidFill>
                <a:latin typeface="Calibri"/>
              </a:rPr>
              <a:t>  Private events and receptions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3F2FB"/>
                </a:solidFill>
                <a:latin typeface="Calibri"/>
              </a:rPr>
              <a:t>  School assemblies with storytelling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3F2FB"/>
                </a:solidFill>
                <a:latin typeface="Calibri"/>
              </a:rPr>
              <a:t>  Community socials in Church Hill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212080" cy="4754880"/>
          </a:xfrm>
          <a:prstGeom prst="rect">
            <a:avLst/>
          </a:prstGeom>
          <a:solidFill>
            <a:srgbClr val="1D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63040"/>
            <a:ext cx="4754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F6C453"/>
                </a:solidFill>
                <a:latin typeface="Calibri"/>
              </a:rPr>
              <a:t>How We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F3F2FB"/>
                </a:solidFill>
                <a:latin typeface="Calibri"/>
              </a:rPr>
              <a:t>  Rehearse Thursdays at Northside Community Center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3F2FB"/>
                </a:solidFill>
                <a:latin typeface="Calibri"/>
              </a:rPr>
              <a:t>  Perform two to three times a month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3F2FB"/>
                </a:solidFill>
                <a:latin typeface="Calibri"/>
              </a:rPr>
              <a:t>  Stage plot provided on request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3F2FB"/>
                </a:solidFill>
                <a:latin typeface="Calibri"/>
              </a:rPr>
              <a:t>  Earnings split evenly six ways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3F2FB"/>
                </a:solidFill>
                <a:latin typeface="Calibri"/>
              </a:rPr>
              <a:t>  Booked across Virginia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C4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3F2FB"/>
                </a:solidFill>
                <a:latin typeface="Calibri"/>
              </a:rPr>
              <a:t>Rate Card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5836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3F2FB"/>
                          </a:solidFill>
                        </a:rPr>
                        <a:t>Engagement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3F2FB"/>
                          </a:solidFill>
                        </a:rPr>
                        <a:t>Typical Gross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3F2FB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3F2FB"/>
                          </a:solidFill>
                        </a:rPr>
                        <a:t>Community social</a:t>
                      </a:r>
                    </a:p>
                  </a:txBody>
                  <a:tcPr>
                    <a:solidFill>
                      <a:srgbClr val="1D1D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3F2FB"/>
                          </a:solidFill>
                        </a:rPr>
                        <a:t>$200 to $400</a:t>
                      </a:r>
                    </a:p>
                  </a:txBody>
                  <a:tcPr>
                    <a:solidFill>
                      <a:srgbClr val="1D1D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3F2FB"/>
                          </a:solidFill>
                        </a:rPr>
                        <a:t>Two sets</a:t>
                      </a:r>
                    </a:p>
                  </a:txBody>
                  <a:tcPr>
                    <a:solidFill>
                      <a:srgbClr val="1D1D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3F2FB"/>
                          </a:solidFill>
                        </a:rPr>
                        <a:t>School assembly</a:t>
                      </a:r>
                    </a:p>
                  </a:txBody>
                  <a:tcPr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3F2FB"/>
                          </a:solidFill>
                        </a:rPr>
                        <a:t>$150 to $200</a:t>
                      </a:r>
                    </a:p>
                  </a:txBody>
                  <a:tcPr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3F2FB"/>
                          </a:solidFill>
                        </a:rPr>
                        <a:t>Includes storytelling</a:t>
                      </a:r>
                    </a:p>
                  </a:txBody>
                  <a:tcPr>
                    <a:solidFill>
                      <a:srgbClr val="26263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3F2FB"/>
                          </a:solidFill>
                        </a:rPr>
                        <a:t>Jazz festival</a:t>
                      </a:r>
                    </a:p>
                  </a:txBody>
                  <a:tcPr>
                    <a:solidFill>
                      <a:srgbClr val="1D1D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3F2FB"/>
                          </a:solidFill>
                        </a:rPr>
                        <a:t>$300 to $600</a:t>
                      </a:r>
                    </a:p>
                  </a:txBody>
                  <a:tcPr>
                    <a:solidFill>
                      <a:srgbClr val="1D1D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3F2FB"/>
                          </a:solidFill>
                        </a:rPr>
                        <a:t>Main or side stage</a:t>
                      </a:r>
                    </a:p>
                  </a:txBody>
                  <a:tcPr>
                    <a:solidFill>
                      <a:srgbClr val="1D1D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3F2FB"/>
                          </a:solidFill>
                        </a:rPr>
                        <a:t>Private event</a:t>
                      </a:r>
                    </a:p>
                  </a:txBody>
                  <a:tcPr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3F2FB"/>
                          </a:solidFill>
                        </a:rPr>
                        <a:t>$400</a:t>
                      </a:r>
                    </a:p>
                  </a:txBody>
                  <a:tcPr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3F2FB"/>
                          </a:solidFill>
                        </a:rPr>
                        <a:t>Reception length</a:t>
                      </a:r>
                    </a:p>
                  </a:txBody>
                  <a:tcPr>
                    <a:solidFill>
                      <a:srgbClr val="26263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F6C453"/>
                </a:solidFill>
                <a:latin typeface="Calibri"/>
              </a:rPr>
              <a:t>Festival dates fill fast. The October 24, 2026 main stage set is confirmed.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3F2FB"/>
                </a:solidFill>
                <a:latin typeface="Calibri"/>
              </a:rPr>
              <a:t>Gross Pay by Recent Engagement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80160"/>
          <a:ext cx="1069848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200" b="1" i="0">
                <a:solidFill>
                  <a:srgbClr val="F3F2FB"/>
                </a:solidFill>
                <a:latin typeface="Calibri"/>
              </a:rPr>
              <a:t>Book the Groove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23360"/>
            <a:ext cx="105156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B9B6CF"/>
                </a:solidFill>
                <a:latin typeface="Calibri"/>
              </a:rPr>
              <a:t>Darius Marcus Barker, musical director</a:t>
            </a:r>
          </a:p>
          <a:p>
            <a:pPr algn="l"/>
            <a:r>
              <a:rPr sz="1600" b="0" i="0">
                <a:solidFill>
                  <a:srgbClr val="B9B6CF"/>
                </a:solidFill>
                <a:latin typeface="Calibri"/>
              </a:rPr>
              <a:t>(804) 555-3162  |  darius.barker@Greenridertech.co</a:t>
            </a:r>
          </a:p>
          <a:p>
            <a:pPr algn="l"/>
            <a:r>
              <a:rPr sz="1600" b="0" i="0">
                <a:solidFill>
                  <a:srgbClr val="B9B6CF"/>
                </a:solidFill>
                <a:latin typeface="Calibri"/>
              </a:rPr>
              <a:t>(c) 2026 Riverside Groove Collective, Richmond, Virginia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  <dc:creator/>
</cp:coreProperties>
</file>