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 balance (USD)</c:v>
                </c:pt>
              </c:strCache>
            </c:strRef>
          </c:tx>
          <c:spPr>
            <a:ln w="31750">
              <a:solidFill>
                <a:srgbClr val="0A4D46"/>
              </a:solidFill>
            </a:ln>
          </c:spPr>
          <c:cat>
            <c:strRef>
              <c:f>Sheet1!$A$2:$A$6</c:f>
              <c:strCache>
                <c:ptCount val="5"/>
                <c:pt idx="0">
                  <c:v>Dec 2025</c:v>
                </c:pt>
                <c:pt idx="1">
                  <c:v>Feb 2026</c:v>
                </c:pt>
                <c:pt idx="2">
                  <c:v>Dec 2026</c:v>
                </c:pt>
                <c:pt idx="3">
                  <c:v>Jul 2027</c:v>
                </c:pt>
                <c:pt idx="4">
                  <c:v>Dec 2027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</c:v>
                </c:pt>
                <c:pt idx="1">
                  <c:v>5800</c:v>
                </c:pt>
                <c:pt idx="2">
                  <c:v>10800</c:v>
                </c:pt>
                <c:pt idx="3">
                  <c:v>15000</c:v>
                </c:pt>
                <c:pt idx="4">
                  <c:v>18000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100">
                  <a:solidFill>
                    <a:srgbClr val="16302C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6302C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6302C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302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82880"/>
          </a:xfrm>
          <a:prstGeom prst="rect">
            <a:avLst/>
          </a:prstGeom>
          <a:solidFill>
            <a:srgbClr val="7CC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Owning the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1">
                <a:solidFill>
                  <a:srgbClr val="E7F5F1"/>
                </a:solidFill>
                <a:latin typeface="Calibri"/>
              </a:rPr>
              <a:t>A Savings and Lending Plan Toward the 2027 Lease Renewal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7F5F1"/>
                </a:solidFill>
                <a:latin typeface="Calibri"/>
              </a:rPr>
              <a:t>Darius Marcus Barker, Owner, Memphis Soul Kitchen LLC</a:t>
            </a:r>
          </a:p>
          <a:p>
            <a:pPr algn="l"/>
            <a:r>
              <a:rPr sz="1400" b="0" i="0">
                <a:solidFill>
                  <a:srgbClr val="E7F5F1"/>
                </a:solidFill>
                <a:latin typeface="Calibri"/>
              </a:rPr>
              <a:t>2501 East Broad Street, Richmond, VA 23223  |  (804) 555-2200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651760"/>
            <a:ext cx="914400" cy="914400"/>
          </a:xfrm>
          <a:prstGeom prst="ellipse">
            <a:avLst/>
          </a:prstGeom>
          <a:solidFill>
            <a:srgbClr val="7CC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2560320"/>
            <a:ext cx="91440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From Renter to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657600"/>
            <a:ext cx="91440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1">
                <a:solidFill>
                  <a:srgbClr val="7CC24A"/>
                </a:solidFill>
                <a:latin typeface="Calibri"/>
              </a:rPr>
              <a:t>Frank Donovan's lease renews in 2027. The plan is to buy.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Two Track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2120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212080" cy="548640"/>
          </a:xfrm>
          <a:prstGeom prst="rect">
            <a:avLst/>
          </a:prstGeom>
          <a:solidFill>
            <a:srgbClr val="7CC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A4D46"/>
                </a:solidFill>
                <a:latin typeface="Calibri"/>
              </a:rPr>
              <a:t>Track One, Save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Set aside 500 a month toward the building fund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Hold the emergency fund near 4,000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Route catering surplus straight to savings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Keep household expenses steady at 4,650 a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2120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212080" cy="548640"/>
          </a:xfrm>
          <a:prstGeom prst="rect">
            <a:avLst/>
          </a:prstGeom>
          <a:solidFill>
            <a:srgbClr val="E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4846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0A4D46"/>
                </a:solidFill>
                <a:latin typeface="Calibri"/>
              </a:rPr>
              <a:t>Track Two, Borrow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Finish the current loan, SBL-204417, eighteen months out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Build credit history with River City Community Credit Union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Explore small business real estate lending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302C"/>
                </a:solidFill>
                <a:latin typeface="Calibri"/>
              </a:rPr>
              <a:t>  Target a down payment by the 2027 renewal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Building Fund Projection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791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0F6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Monthly Save</a:t>
                      </a:r>
                    </a:p>
                  </a:txBody>
                  <a:tcPr>
                    <a:solidFill>
                      <a:srgbClr val="0F6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Cumulative Fund</a:t>
                      </a:r>
                    </a:p>
                  </a:txBody>
                  <a:tcPr>
                    <a:solidFill>
                      <a:srgbClr val="0F6E6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Through 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Q1 2026 to Q2 2026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$500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$7,800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Q3 2026 to 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$10,800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Full year 2027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$600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$18,000</a:t>
                      </a:r>
                    </a:p>
                  </a:txBody>
                  <a:tcPr>
                    <a:solidFill>
                      <a:srgbClr val="D9EE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Target at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302C"/>
                          </a:solidFill>
                        </a:rPr>
                        <a:t>$18,000 plus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1">
                <a:solidFill>
                  <a:srgbClr val="0A4D46"/>
                </a:solidFill>
                <a:latin typeface="Calibri"/>
              </a:rPr>
              <a:t>Quarter labels run within the savings calendar.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Projected Building Fund Growth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128016"/>
          </a:xfrm>
          <a:prstGeom prst="rect">
            <a:avLst/>
          </a:prstGeom>
          <a:solidFill>
            <a:srgbClr val="7CC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Patient, and Building Toward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E7F5F1"/>
                </a:solidFill>
                <a:latin typeface="Calibri"/>
              </a:rPr>
              <a:t>Darius Marcus Barker  |  Memphis Soul Kitchen LLC</a:t>
            </a:r>
          </a:p>
          <a:p>
            <a:pPr algn="l"/>
            <a:r>
              <a:rPr sz="1600" b="0" i="0">
                <a:solidFill>
                  <a:srgbClr val="E7F5F1"/>
                </a:solidFill>
                <a:latin typeface="Calibri"/>
              </a:rPr>
              <a:t>(804) 555-2200  |  darius.barker@Greenridertech.co</a:t>
            </a:r>
          </a:p>
          <a:p>
            <a:pPr algn="l"/>
            <a:r>
              <a:rPr sz="1600" b="0" i="0">
                <a:solidFill>
                  <a:srgbClr val="E7F5F1"/>
                </a:solidFill>
                <a:latin typeface="Calibri"/>
              </a:rPr>
              <a:t>(c) 2026 Memphis Soul Kitchen, Church Hill, Richmond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dc:creator/>
</cp:coreProperties>
</file>