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 total ($)</c:v>
                </c:pt>
              </c:strCache>
            </c:strRef>
          </c:tx>
          <c:spPr>
            <a:ln w="31750">
              <a:solidFill>
                <a:srgbClr val="C16E3A"/>
              </a:solidFill>
            </a:ln>
          </c:spPr>
          <c:cat>
            <c:strRef>
              <c:f>Sheet1!$A$2:$A$6</c:f>
              <c:strCache>
                <c:ptCount val="5"/>
                <c:pt idx="0">
                  <c:v>Jan 10</c:v>
                </c:pt>
                <c:pt idx="1">
                  <c:v>Jan 17</c:v>
                </c:pt>
                <c:pt idx="2">
                  <c:v>Jan 23</c:v>
                </c:pt>
                <c:pt idx="3">
                  <c:v>Jan 21</c:v>
                </c:pt>
                <c:pt idx="4">
                  <c:v>Jan 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149</c:v>
                </c:pt>
                <c:pt idx="1">
                  <c:v>146</c:v>
                </c:pt>
                <c:pt idx="2">
                  <c:v>143</c:v>
                </c:pt>
                <c:pt idx="3">
                  <c:v>90</c:v>
                </c:pt>
                <c:pt idx="4">
                  <c:v>138</c:v>
                </c:pt>
              </c:numCache>
            </c:numRef>
          </c:val>
          <c:smooth val="0"/>
        </c:ser>
        <c:dLbls>
          <c:numFmt formatCode="$#,##0" sourceLinked="0"/>
          <c:txPr>
            <a:bodyPr/>
            <a:lstStyle/>
            <a:p>
              <a:pPr>
                <a:defRPr sz="1200">
                  <a:solidFill>
                    <a:srgbClr val="5B3A21"/>
                  </a:solidFill>
                  <a:latin typeface="Corbe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B3A21"/>
                </a:solidFill>
                <a:latin typeface="Corbe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B3A21"/>
                </a:solidFill>
                <a:latin typeface="Corbe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5B3A21"/>
          </a:solidFill>
          <a:latin typeface="Corbe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C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5B3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0" y="2651760"/>
            <a:ext cx="1463040" cy="1463040"/>
          </a:xfrm>
          <a:prstGeom prst="ellipse">
            <a:avLst/>
          </a:prstGeom>
          <a:solidFill>
            <a:srgbClr val="E0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31089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ECDB"/>
                </a:solidFill>
                <a:latin typeface="Constantia"/>
              </a:rPr>
              <a:t>Dive Shop Season</a:t>
            </a:r>
          </a:p>
          <a:p>
            <a:pPr algn="l"/>
            <a:r>
              <a:rPr sz="2800" b="1">
                <a:solidFill>
                  <a:srgbClr val="E0A04E"/>
                </a:solidFill>
                <a:latin typeface="Constantia"/>
              </a:rPr>
              <a:t>Winter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377440"/>
            <a:ext cx="73152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B3A21"/>
                </a:solidFill>
                <a:latin typeface="Corbel"/>
              </a:rPr>
              <a:t>Atlantic Reef Dive Co.</a:t>
            </a:r>
          </a:p>
          <a:p>
            <a:pPr algn="l"/>
            <a:r>
              <a:rPr sz="1500" b="0">
                <a:solidFill>
                  <a:srgbClr val="7A6A42"/>
                </a:solidFill>
                <a:latin typeface="Corbel"/>
              </a:rPr>
              <a:t>Instruction, charters, and tips, January 2026</a:t>
            </a:r>
          </a:p>
          <a:p>
            <a:pPr algn="l"/>
            <a:r>
              <a:rPr sz="1300" b="0">
                <a:solidFill>
                  <a:srgbClr val="7A6A42"/>
                </a:solidFill>
                <a:latin typeface="Corbel"/>
              </a:rPr>
              <a:t>Darren Mitchell Cash, PADI Divemaster DM-22907</a:t>
            </a:r>
          </a:p>
          <a:p>
            <a:pPr algn="l"/>
            <a:r>
              <a:rPr sz="1200" b="0">
                <a:solidFill>
                  <a:srgbClr val="7A6A42"/>
                </a:solidFill>
                <a:latin typeface="Corbel"/>
              </a:rPr>
              <a:t>Wilmington waterfront, North Carolina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3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3657600" cy="137160"/>
          </a:xfrm>
          <a:prstGeom prst="rect">
            <a:avLst/>
          </a:prstGeom>
          <a:solidFill>
            <a:srgbClr val="E0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6ECDB"/>
                </a:solidFill>
                <a:latin typeface="Constantia"/>
              </a:rPr>
              <a:t>How the winter shifts ran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C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1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6ECDB"/>
                </a:solidFill>
                <a:latin typeface="Constantia"/>
              </a:rPr>
              <a:t>January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A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24688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C16E3A"/>
                </a:solidFill>
                <a:latin typeface="Corbel"/>
              </a:rPr>
              <a:t>56</a:t>
            </a:r>
          </a:p>
          <a:p>
            <a:pPr algn="ctr"/>
            <a:r>
              <a:rPr sz="1200" b="0">
                <a:solidFill>
                  <a:srgbClr val="7A6A42"/>
                </a:solidFill>
                <a:latin typeface="Corbel"/>
              </a:rPr>
              <a:t>Hours worked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46304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A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645920"/>
            <a:ext cx="24688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C16E3A"/>
                </a:solidFill>
                <a:latin typeface="Corbel"/>
              </a:rPr>
              <a:t>$1,008</a:t>
            </a:r>
          </a:p>
          <a:p>
            <a:pPr algn="ctr"/>
            <a:r>
              <a:rPr sz="1200" b="0">
                <a:solidFill>
                  <a:srgbClr val="7A6A42"/>
                </a:solidFill>
                <a:latin typeface="Corbel"/>
              </a:rPr>
              <a:t>Base pay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A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24688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C16E3A"/>
                </a:solidFill>
                <a:latin typeface="Corbel"/>
              </a:rPr>
              <a:t>$300</a:t>
            </a:r>
          </a:p>
          <a:p>
            <a:pPr algn="ctr"/>
            <a:r>
              <a:rPr sz="1200" b="0">
                <a:solidFill>
                  <a:srgbClr val="7A6A42"/>
                </a:solidFill>
                <a:latin typeface="Corbel"/>
              </a:rPr>
              <a:t>Tips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6839" y="146304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A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39" y="1645920"/>
            <a:ext cx="24688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C16E3A"/>
                </a:solidFill>
                <a:latin typeface="Corbel"/>
              </a:rPr>
              <a:t>$1,308</a:t>
            </a:r>
          </a:p>
          <a:p>
            <a:pPr algn="ctr"/>
            <a:r>
              <a:rPr sz="1200" b="0">
                <a:solidFill>
                  <a:srgbClr val="7A6A42"/>
                </a:solidFill>
                <a:latin typeface="Corbel"/>
              </a:rPr>
              <a:t>Day 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107899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B3A21"/>
                </a:solidFill>
                <a:latin typeface="Corbel"/>
              </a:rPr>
              <a:t>Schedule</a:t>
            </a:r>
          </a:p>
          <a:p>
            <a:pPr algn="l"/>
            <a:r>
              <a:rPr sz="1300" b="0">
                <a:solidFill>
                  <a:srgbClr val="3A2A1A"/>
                </a:solidFill>
                <a:latin typeface="Corbel"/>
              </a:rPr>
              <a:t>Wednesday, Friday, and Saturday mornings, six thirty to twelve thirty.</a:t>
            </a:r>
          </a:p>
          <a:p>
            <a:pPr algn="l"/>
            <a:r>
              <a:rPr sz="1300" b="0">
                <a:solidFill>
                  <a:srgbClr val="3A2A1A"/>
                </a:solidFill>
                <a:latin typeface="Corbel"/>
              </a:rPr>
              <a:t>Two shifts cut short for wind and swell, two canceled for storms.</a:t>
            </a:r>
          </a:p>
          <a:p>
            <a:pPr algn="l"/>
            <a:r>
              <a:rPr sz="1300" b="0">
                <a:solidFill>
                  <a:srgbClr val="3A2A1A"/>
                </a:solidFill>
                <a:latin typeface="Corbel"/>
              </a:rPr>
              <a:t>Monthly take runs $950 to $1,200, which lands between $11,400 and $14,400 across a year.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C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1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6ECDB"/>
                </a:solidFill>
                <a:latin typeface="Constantia"/>
              </a:rPr>
              <a:t>Shift detail, selected days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7160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6ECDB"/>
                          </a:solidFill>
                          <a:latin typeface="Corbel"/>
                        </a:rPr>
                        <a:t>Date</a:t>
                      </a:r>
                    </a:p>
                  </a:txBody>
                  <a:tcPr>
                    <a:solidFill>
                      <a:srgbClr val="5B3A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6ECDB"/>
                          </a:solidFill>
                          <a:latin typeface="Corbel"/>
                        </a:rPr>
                        <a:t>Day</a:t>
                      </a:r>
                    </a:p>
                  </a:txBody>
                  <a:tcPr>
                    <a:solidFill>
                      <a:srgbClr val="5B3A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6ECDB"/>
                          </a:solidFill>
                          <a:latin typeface="Corbel"/>
                        </a:rPr>
                        <a:t>Worked hrs</a:t>
                      </a:r>
                    </a:p>
                  </a:txBody>
                  <a:tcPr>
                    <a:solidFill>
                      <a:srgbClr val="5B3A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6ECDB"/>
                          </a:solidFill>
                          <a:latin typeface="Corbel"/>
                        </a:rPr>
                        <a:t>Base pay</a:t>
                      </a:r>
                    </a:p>
                  </a:txBody>
                  <a:tcPr>
                    <a:solidFill>
                      <a:srgbClr val="5B3A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6ECDB"/>
                          </a:solidFill>
                          <a:latin typeface="Corbel"/>
                        </a:rPr>
                        <a:t>Tips</a:t>
                      </a:r>
                    </a:p>
                  </a:txBody>
                  <a:tcPr>
                    <a:solidFill>
                      <a:srgbClr val="5B3A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6ECDB"/>
                          </a:solidFill>
                          <a:latin typeface="Corbel"/>
                        </a:rPr>
                        <a:t>Day total</a:t>
                      </a:r>
                    </a:p>
                  </a:txBody>
                  <a:tcPr>
                    <a:solidFill>
                      <a:srgbClr val="5B3A2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01/10/2026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$108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$41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$149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01/17/2026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$108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$38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$146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01/23/2026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Fri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$108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$35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$143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01/21/2026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$72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$18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$90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01/28/2026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A2A1A"/>
                          </a:solidFill>
                          <a:latin typeface="Corbel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C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1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6ECDB"/>
                </a:solidFill>
                <a:latin typeface="Constantia"/>
              </a:rPr>
              <a:t>Day totals across January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280160"/>
          <a:ext cx="100584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3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1463040"/>
          </a:xfrm>
          <a:prstGeom prst="rect">
            <a:avLst/>
          </a:prstGeom>
          <a:solidFill>
            <a:srgbClr val="C1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5156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6ECDB"/>
                </a:solidFill>
                <a:latin typeface="Constantia"/>
              </a:rPr>
              <a:t>Steady winter, tighter shoulder months ahead</a:t>
            </a:r>
          </a:p>
          <a:p>
            <a:pPr algn="l"/>
            <a:r>
              <a:rPr sz="1400" b="0">
                <a:solidFill>
                  <a:srgbClr val="E0A04E"/>
                </a:solidFill>
                <a:latin typeface="Constantia"/>
              </a:rPr>
              <a:t>Tips run better in the visitor stretches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6ECDB"/>
                </a:solidFill>
                <a:latin typeface="Corbel"/>
              </a:rPr>
              <a:t>Darren Mitchell Cash, darren.cash@Greenridertech.co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  <cp:contentStatus/>
</cp:coreProperties>
</file>