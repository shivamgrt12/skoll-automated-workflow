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%</c:v>
                </c:pt>
              </c:strCache>
            </c:strRef>
          </c:tx>
          <c:spPr>
            <a:solidFill>
              <a:srgbClr val="8FD6C2"/>
            </a:solidFill>
          </c:spPr>
          <c:cat>
            <c:strRef>
              <c:f>Sheet1!$A$2:$A$5</c:f>
              <c:strCache>
                <c:ptCount val="4"/>
                <c:pt idx="0">
                  <c:v>Masonboro</c:v>
                </c:pt>
                <c:pt idx="1">
                  <c:v>Crystal Pier</c:v>
                </c:pt>
                <c:pt idx="2">
                  <c:v>Five Mile</c:v>
                </c:pt>
                <c:pt idx="3">
                  <c:v>Liberty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85.0</c:v>
                </c:pt>
                <c:pt idx="1">
                  <c:v>84.4</c:v>
                </c:pt>
                <c:pt idx="2">
                  <c:v>90.6</c:v>
                </c:pt>
                <c:pt idx="3">
                  <c:v>71.4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Latest %</c:v>
                </c:pt>
              </c:strCache>
            </c:strRef>
          </c:tx>
          <c:spPr>
            <a:solidFill>
              <a:srgbClr val="149E8C"/>
            </a:solidFill>
          </c:spPr>
          <c:cat>
            <c:strRef>
              <c:f>Sheet1!$A$2:$A$5</c:f>
              <c:strCache>
                <c:ptCount val="4"/>
                <c:pt idx="0">
                  <c:v>Masonboro</c:v>
                </c:pt>
                <c:pt idx="1">
                  <c:v>Crystal Pier</c:v>
                </c:pt>
                <c:pt idx="2">
                  <c:v>Five Mile</c:v>
                </c:pt>
                <c:pt idx="3">
                  <c:v>Liberty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90.0</c:v>
                </c:pt>
                <c:pt idx="1">
                  <c:v>90.7</c:v>
                </c:pt>
                <c:pt idx="2">
                  <c:v>89.1</c:v>
                </c:pt>
                <c:pt idx="3">
                  <c:v>82.1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0E4D3A"/>
                  </a:solidFill>
                  <a:latin typeface="Candar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E4D3A"/>
                </a:solidFill>
                <a:latin typeface="Candar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E4D3A"/>
                </a:solidFill>
                <a:latin typeface="Candara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0E4D3A"/>
              </a:solidFill>
              <a:latin typeface="Candara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0E4D3A"/>
          </a:solidFill>
          <a:latin typeface="Candar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E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28016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640080"/>
            <a:ext cx="1463040" cy="1463040"/>
          </a:xfrm>
          <a:prstGeom prst="ellipse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rebuchet MS"/>
              </a:rPr>
              <a:t>Honors Thesis Progress</a:t>
            </a:r>
          </a:p>
          <a:p>
            <a:pPr algn="l"/>
            <a:r>
              <a:rPr sz="1500" b="0">
                <a:solidFill>
                  <a:srgbClr val="8FD6C2"/>
                </a:solidFill>
                <a:latin typeface="Trebuchet MS"/>
              </a:rPr>
              <a:t>Coral recovery trajectories, Wrightsville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4D3A"/>
                </a:solidFill>
                <a:latin typeface="Candara"/>
              </a:rPr>
              <a:t>Darren Mitchell Cash, Oakridge University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Advisor: Professor Karen Whitfield</a:t>
            </a:r>
          </a:p>
          <a:p>
            <a:pPr algn="l"/>
            <a:r>
              <a:rPr sz="1200" b="0">
                <a:solidFill>
                  <a:srgbClr val="3A4A45"/>
                </a:solidFill>
                <a:latin typeface="Candara"/>
              </a:rPr>
              <a:t>darren.cash@Greenridertech.co, Wilmington, North Carolina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3200400" cy="137160"/>
          </a:xfrm>
          <a:prstGeom prst="rect">
            <a:avLst/>
          </a:prstGeom>
          <a:solidFill>
            <a:srgbClr val="8F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rebuchet MS"/>
              </a:rPr>
              <a:t>Where the work stands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rebuchet MS"/>
              </a:rPr>
              <a:t>Questions and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4D3A"/>
                </a:solidFill>
                <a:latin typeface="Candara"/>
              </a:rPr>
              <a:t>Research questions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How does the healthy share change across the cooler months.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Do deeper, clearer sites recover faster than shallow ones.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Can a steady recovery rate come from biweekly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4D3A"/>
                </a:solidFill>
                <a:latin typeface="Candara"/>
              </a:rPr>
              <a:t>Milestones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Twenty surveys logged through February 2026.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First full analysis planned for October 2026.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Complete draft to advisor January 2027.</a:t>
            </a:r>
          </a:p>
          <a:p>
            <a:pPr algn="l"/>
            <a:r>
              <a:rPr sz="1300" b="0">
                <a:solidFill>
                  <a:srgbClr val="3A4A45"/>
                </a:solidFill>
                <a:latin typeface="Candara"/>
              </a:rPr>
              <a:t>Honors defense in the spring 2027 term.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rebuchet MS"/>
              </a:rPr>
              <a:t>Survey effort by site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ndara"/>
                        </a:rPr>
                        <a:t>Site</a:t>
                      </a:r>
                    </a:p>
                  </a:txBody>
                  <a:tcPr>
                    <a:solidFill>
                      <a:srgbClr val="0E4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ndara"/>
                        </a:rPr>
                        <a:t>Surveys</a:t>
                      </a:r>
                    </a:p>
                  </a:txBody>
                  <a:tcPr>
                    <a:solidFill>
                      <a:srgbClr val="0E4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ndara"/>
                        </a:rPr>
                        <a:t>Mean healthy %</a:t>
                      </a:r>
                    </a:p>
                  </a:txBody>
                  <a:tcPr>
                    <a:solidFill>
                      <a:srgbClr val="0E4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ndara"/>
                        </a:rPr>
                        <a:t>Trend</a:t>
                      </a:r>
                    </a:p>
                  </a:txBody>
                  <a:tcPr>
                    <a:solidFill>
                      <a:srgbClr val="0E4D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Masonboro 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Crystal Pier Reef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88.5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Five Mile 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89.3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Flat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Liberty Rocks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76.7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4A45"/>
                          </a:solidFill>
                          <a:latin typeface="Candara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rebuchet MS"/>
              </a:rPr>
              <a:t>Healthy share, first to latest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28016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46304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rebuchet MS"/>
              </a:rPr>
              <a:t>On track for an October 2026 analysis</a:t>
            </a:r>
          </a:p>
          <a:p>
            <a:pPr algn="l"/>
            <a:r>
              <a:rPr sz="1400" b="0">
                <a:solidFill>
                  <a:srgbClr val="8FD6C2"/>
                </a:solidFill>
                <a:latin typeface="Trebuchet MS"/>
              </a:rPr>
              <a:t>Tighten the recovery rate definition before the next advisor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7F2"/>
                </a:solidFill>
                <a:latin typeface="Candara"/>
              </a:rPr>
              <a:t>Darren Mitchell Cash, darren.cash@Greenridertech.co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</cp:coreProperties>
</file>