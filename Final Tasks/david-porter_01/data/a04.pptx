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($K)</c:v>
                </c:pt>
              </c:strCache>
            </c:strRef>
          </c:tx>
          <c:spPr>
            <a:solidFill>
              <a:srgbClr val="7A8C5E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 plan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342</c:v>
                </c:pt>
                <c:pt idx="1">
                  <c:v>386</c:v>
                </c:pt>
                <c:pt idx="2">
                  <c:v>416</c:v>
                </c:pt>
                <c:pt idx="3">
                  <c:v>429</c:v>
                </c:pt>
                <c:pt idx="4">
                  <c:v>480</c:v>
                </c:pt>
                <c:pt idx="5">
                  <c:v>540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2B3A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3F5B3C"/>
              </a:solidFill>
            </c:spPr>
          </c:dPt>
          <c:dPt>
            <c:idx val="1"/>
            <c:spPr>
              <a:solidFill>
                <a:srgbClr val="7A8C5E"/>
              </a:solidFill>
            </c:spPr>
          </c:dPt>
          <c:dPt>
            <c:idx val="2"/>
            <c:spPr>
              <a:solidFill>
                <a:srgbClr val="C9892A"/>
              </a:solidFill>
            </c:spPr>
          </c:dPt>
          <c:dPt>
            <c:idx val="3"/>
            <c:spPr>
              <a:solidFill>
                <a:srgbClr val="9BB07A"/>
              </a:solidFill>
            </c:spPr>
          </c:dPt>
          <c:dPt>
            <c:idx val="4"/>
            <c:spPr>
              <a:solidFill>
                <a:srgbClr val="B3733A"/>
              </a:solidFill>
            </c:spPr>
          </c:dPt>
          <c:cat>
            <c:strRef>
              <c:f>Sheet1!$A$2:$A$6</c:f>
              <c:strCache>
                <c:ptCount val="5"/>
                <c:pt idx="0">
                  <c:v>Counter retail</c:v>
                </c:pt>
                <c:pt idx="1">
                  <c:v>Custom cakes</c:v>
                </c:pt>
                <c:pt idx="2">
                  <c:v>Wholesale</c:v>
                </c:pt>
                <c:pt idx="3">
                  <c:v>Online</c:v>
                </c:pt>
                <c:pt idx="4">
                  <c:v>Holiday boxes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22</c:v>
                </c:pt>
                <c:pt idx="2">
                  <c:v>14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>
              <a:solidFill>
                <a:srgbClr val="2B3A2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3F5B3C"/>
              </a:solidFill>
            </c:spPr>
          </c:dPt>
          <c:dPt>
            <c:idx val="1"/>
            <c:spPr>
              <a:solidFill>
                <a:srgbClr val="7A8C5E"/>
              </a:solidFill>
            </c:spPr>
          </c:dPt>
          <c:dPt>
            <c:idx val="2"/>
            <c:spPr>
              <a:solidFill>
                <a:srgbClr val="C9892A"/>
              </a:solidFill>
            </c:spPr>
          </c:dPt>
          <c:dPt>
            <c:idx val="3"/>
            <c:spPr>
              <a:solidFill>
                <a:srgbClr val="9BB07A"/>
              </a:solidFill>
            </c:spPr>
          </c:dPt>
          <c:dPt>
            <c:idx val="4"/>
            <c:spPr>
              <a:solidFill>
                <a:srgbClr val="B3733A"/>
              </a:solidFill>
            </c:spPr>
          </c:dPt>
          <c:dPt>
            <c:idx val="5"/>
            <c:spPr>
              <a:solidFill>
                <a:srgbClr val="D6C089"/>
              </a:solidFill>
            </c:spPr>
          </c:dPt>
          <c:cat>
            <c:strRef>
              <c:f>Sheet1!$A$2:$A$7</c:f>
              <c:strCache>
                <c:ptCount val="6"/>
                <c:pt idx="0">
                  <c:v>Counter retail</c:v>
                </c:pt>
                <c:pt idx="1">
                  <c:v>Custom cakes</c:v>
                </c:pt>
                <c:pt idx="2">
                  <c:v>Wholesale</c:v>
                </c:pt>
                <c:pt idx="3">
                  <c:v>Online</c:v>
                </c:pt>
                <c:pt idx="4">
                  <c:v>Holiday boxes</c:v>
                </c:pt>
                <c:pt idx="5">
                  <c:v>Cafe attach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22</c:v>
                </c:pt>
                <c:pt idx="2">
                  <c:v>14</c:v>
                </c:pt>
                <c:pt idx="3">
                  <c:v>1</c:v>
                </c:pt>
                <c:pt idx="4">
                  <c:v>1</c:v>
                </c:pt>
                <c:pt idx="5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>
              <a:solidFill>
                <a:srgbClr val="2B3A2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57200"/>
            <a:ext cx="1280160" cy="1280160"/>
          </a:xfrm>
          <a:prstGeom prst="ellipse">
            <a:avLst/>
          </a:prstGeom>
          <a:solidFill>
            <a:srgbClr val="7A8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1097280"/>
            <a:ext cx="731520" cy="731520"/>
          </a:xfrm>
          <a:prstGeom prst="ellipse">
            <a:avLst/>
          </a:prstGeom>
          <a:solidFill>
            <a:srgbClr val="C9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4114800"/>
            <a:ext cx="1005840" cy="1005840"/>
          </a:xfrm>
          <a:prstGeom prst="ellipse">
            <a:avLst/>
          </a:prstGeom>
          <a:solidFill>
            <a:srgbClr val="9B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0" y="5120640"/>
            <a:ext cx="640080" cy="640080"/>
          </a:xfrm>
          <a:prstGeom prst="ellipse">
            <a:avLst/>
          </a:prstGeom>
          <a:solidFill>
            <a:srgbClr val="C98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7A8C5E"/>
                </a:solidFill>
                <a:latin typeface="Calibri"/>
              </a:rPr>
              <a:t>PORTER'S BAKEHOUSE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6400800" cy="11887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4200" b="1" i="0">
                <a:solidFill>
                  <a:srgbClr val="2B3A28"/>
                </a:solidFill>
                <a:latin typeface="Cambria"/>
              </a:rPr>
              <a:t>2027 Strategic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64008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600" b="0" i="1">
                <a:solidFill>
                  <a:srgbClr val="6B7A64"/>
                </a:solidFill>
                <a:latin typeface="Calibri"/>
              </a:rPr>
              <a:t>A year-end planning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6400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1" i="0">
                <a:solidFill>
                  <a:srgbClr val="2B3A28"/>
                </a:solidFill>
                <a:latin typeface="Calibri"/>
              </a:rPr>
              <a:t>David Porter · December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3A28"/>
                </a:solidFill>
                <a:latin typeface="Cambria"/>
              </a:rPr>
              <a:t>2026 In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6B7A64"/>
                </a:solidFill>
                <a:latin typeface="Calibri"/>
              </a:rPr>
              <a:t>Twelve months and twelve percent of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7432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743200" cy="9144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94560"/>
            <a:ext cx="24140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1" i="0">
                <a:solidFill>
                  <a:srgbClr val="6B7A64"/>
                </a:solidFill>
                <a:latin typeface="Calibri"/>
              </a:rPr>
              <a:t>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514600"/>
            <a:ext cx="2414016" cy="6400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3A28"/>
                </a:solidFill>
                <a:latin typeface="Cambria"/>
              </a:rPr>
              <a:t>$480K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08960"/>
            <a:ext cx="24140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6B7A64"/>
                </a:solidFill>
                <a:latin typeface="Calibri"/>
              </a:rPr>
              <a:t>up 12% YoY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011680"/>
            <a:ext cx="27432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011680"/>
            <a:ext cx="2743200" cy="9144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194560"/>
            <a:ext cx="24140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1" i="0">
                <a:solidFill>
                  <a:srgbClr val="6B7A64"/>
                </a:solidFill>
                <a:latin typeface="Calibri"/>
              </a:rPr>
              <a:t>Wedding cakes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514600"/>
            <a:ext cx="2414016" cy="6400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3A28"/>
                </a:solidFill>
                <a:latin typeface="Cambria"/>
              </a:rP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108960"/>
            <a:ext cx="24140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6B7A64"/>
                </a:solidFill>
                <a:latin typeface="Calibri"/>
              </a:rPr>
              <a:t>avg ticket $1,820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011680"/>
            <a:ext cx="27432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011680"/>
            <a:ext cx="2743200" cy="9144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194560"/>
            <a:ext cx="24140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1" i="0">
                <a:solidFill>
                  <a:srgbClr val="6B7A64"/>
                </a:solidFill>
                <a:latin typeface="Calibri"/>
              </a:rPr>
              <a:t>Wholesale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514600"/>
            <a:ext cx="2414016" cy="6400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3A28"/>
                </a:solidFill>
                <a:latin typeface="Cambria"/>
              </a:rPr>
              <a:t>$74,400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108960"/>
            <a:ext cx="24140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6B7A64"/>
                </a:solidFill>
                <a:latin typeface="Calibri"/>
              </a:rPr>
              <a:t>annualized run-rate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011680"/>
            <a:ext cx="25603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011680"/>
            <a:ext cx="2560320" cy="91440"/>
          </a:xfrm>
          <a:prstGeom prst="rect">
            <a:avLst/>
          </a:prstGeom>
          <a:solidFill>
            <a:srgbClr val="C9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0032" y="2194560"/>
            <a:ext cx="223113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1" i="0">
                <a:solidFill>
                  <a:srgbClr val="6B7A64"/>
                </a:solidFill>
                <a:latin typeface="Calibri"/>
              </a:rPr>
              <a:t>Food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514600"/>
            <a:ext cx="2231136" cy="6400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3A28"/>
                </a:solidFill>
                <a:latin typeface="Cambria"/>
              </a:rPr>
              <a:t>31%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3108960"/>
            <a:ext cx="223113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6B7A64"/>
                </a:solidFill>
                <a:latin typeface="Calibri"/>
              </a:rPr>
              <a:t>over 28%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0"/>
            <a:ext cx="114300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000" b="1" i="0">
                <a:solidFill>
                  <a:srgbClr val="2B3A28"/>
                </a:solidFill>
                <a:latin typeface="Cambria"/>
              </a:rPr>
              <a:t>Wins and watchouts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43400"/>
            <a:ext cx="5486400" cy="2286000"/>
          </a:xfrm>
          <a:prstGeom prst="rect">
            <a:avLst/>
          </a:prstGeom>
          <a:noFill/>
        </p:spPr>
        <p:txBody>
          <a:bodyPr wrap="square" lIns="20000" rIns="2000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B3A28"/>
                </a:solidFill>
                <a:latin typeface="Calibri"/>
              </a:rPr>
              <a:t>●  Lyon trip refreshed laminated dough technique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B3A28"/>
                </a:solidFill>
                <a:latin typeface="Calibri"/>
              </a:rPr>
              <a:t>●  Holiday cookie box gross run-rate set a new high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B3A28"/>
                </a:solidFill>
                <a:latin typeface="Calibri"/>
              </a:rPr>
              <a:t>●  Wedding cake pipeline filled through April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43400"/>
            <a:ext cx="5486400" cy="2286000"/>
          </a:xfrm>
          <a:prstGeom prst="rect">
            <a:avLst/>
          </a:prstGeom>
          <a:noFill/>
        </p:spPr>
        <p:txBody>
          <a:bodyPr wrap="square" lIns="20000" rIns="2000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B3A28"/>
                </a:solidFill>
                <a:latin typeface="Calibri"/>
              </a:rPr>
              <a:t>●  King Arthur flour stepped up 15%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B3A28"/>
                </a:solidFill>
                <a:latin typeface="Calibri"/>
              </a:rPr>
              <a:t>●  Deck oven bottom shelf calibration twice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B3A28"/>
                </a:solidFill>
                <a:latin typeface="Calibri"/>
              </a:rPr>
              <a:t>●  Cafe expansion still on the table, awaiting LOC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2027 Strategic Brief · 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3A28"/>
                </a:solidFill>
                <a:latin typeface="Cambria"/>
              </a:rPr>
              <a:t>Revenue, Five-Year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6B7A64"/>
                </a:solidFill>
                <a:latin typeface="Calibri"/>
              </a:rPr>
              <a:t>2022 through 2026 actuals, 2027 plan in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011680"/>
          <a:ext cx="11247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2027 Strategic Brief · 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3A28"/>
                </a:solidFill>
                <a:latin typeface="Cambria"/>
              </a:rPr>
              <a:t>Customer Mix · 2026 vs 2027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011680"/>
          <a:ext cx="53035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2286000"/>
            <a:ext cx="1828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2B3A28"/>
                </a:solidFill>
                <a:latin typeface="Cambria"/>
              </a:rPr>
              <a:t>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0" y="2011680"/>
          <a:ext cx="530352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2027 Strategic Brief · 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3A28"/>
                </a:solidFill>
                <a:latin typeface="Cambria"/>
              </a:rPr>
              <a:t>Seasonal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6B7A64"/>
                </a:solidFill>
                <a:latin typeface="Calibri"/>
              </a:rPr>
              <a:t>Where the year actually lives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0"/>
            <a:ext cx="777240" cy="45720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77724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B3A28"/>
                </a:solidFill>
                <a:latin typeface="Calibri"/>
              </a:rPr>
              <a:t>Jan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77724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800" b="0" i="0">
                <a:solidFill>
                  <a:srgbClr val="6B7A64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426464" y="4846320"/>
            <a:ext cx="777240" cy="91440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6464" y="5852160"/>
            <a:ext cx="77724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B3A28"/>
                </a:solidFill>
                <a:latin typeface="Calibri"/>
              </a:rPr>
              <a:t>Feb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6217920"/>
            <a:ext cx="77724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800" b="0" i="0">
                <a:solidFill>
                  <a:srgbClr val="6B7A64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2395728" y="4389120"/>
            <a:ext cx="777240" cy="137160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5728" y="5852160"/>
            <a:ext cx="77724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B3A28"/>
                </a:solidFill>
                <a:latin typeface="Calibri"/>
              </a:rPr>
              <a:t>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6217920"/>
            <a:ext cx="77724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800" b="0" i="0">
                <a:solidFill>
                  <a:srgbClr val="6B7A64"/>
                </a:solidFill>
                <a:latin typeface="Calibri"/>
              </a:rPr>
              <a:t>Easter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3703320"/>
            <a:ext cx="777240" cy="205740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2" y="5852160"/>
            <a:ext cx="77724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B3A28"/>
                </a:solidFill>
                <a:latin typeface="Calibri"/>
              </a:rPr>
              <a:t>Apr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6217920"/>
            <a:ext cx="77724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800" b="0" i="0">
                <a:solidFill>
                  <a:srgbClr val="6B7A64"/>
                </a:solidFill>
                <a:latin typeface="Calibri"/>
              </a:rPr>
              <a:t>Easter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3817620"/>
            <a:ext cx="777240" cy="194310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6" y="5852160"/>
            <a:ext cx="77724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B3A28"/>
                </a:solidFill>
                <a:latin typeface="Calibri"/>
              </a:rPr>
              <a:t>May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6217920"/>
            <a:ext cx="77724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800" b="0" i="0">
                <a:solidFill>
                  <a:srgbClr val="6B7A64"/>
                </a:solidFill>
                <a:latin typeface="Calibri"/>
              </a:rPr>
              <a:t>Mother's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3931920"/>
            <a:ext cx="777240" cy="182880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5852160"/>
            <a:ext cx="77724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B3A28"/>
                </a:solidFill>
                <a:latin typeface="Calibri"/>
              </a:rPr>
              <a:t>Jun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6217920"/>
            <a:ext cx="77724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800" b="0" i="0">
                <a:solidFill>
                  <a:srgbClr val="6B7A64"/>
                </a:solidFill>
                <a:latin typeface="Calibri"/>
              </a:rPr>
              <a:t>Wedding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2784" y="4617720"/>
            <a:ext cx="777240" cy="114300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4" y="5852160"/>
            <a:ext cx="77724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B3A28"/>
                </a:solidFill>
                <a:latin typeface="Calibri"/>
              </a:rPr>
              <a:t>Jul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6217920"/>
            <a:ext cx="77724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800" b="0" i="0">
                <a:solidFill>
                  <a:srgbClr val="6B7A64"/>
                </a:solidFill>
                <a:latin typeface="Calibri"/>
              </a:rPr>
              <a:t>Wedding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4846320"/>
            <a:ext cx="777240" cy="91440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42048" y="5852160"/>
            <a:ext cx="77724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B3A28"/>
                </a:solidFill>
                <a:latin typeface="Calibri"/>
              </a:rPr>
              <a:t>Aug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6217920"/>
            <a:ext cx="77724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800" b="0" i="0">
                <a:solidFill>
                  <a:srgbClr val="6B7A64"/>
                </a:solidFill>
                <a:latin typeface="Calibri"/>
              </a:rPr>
              <a:t>Wedding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11312" y="4617720"/>
            <a:ext cx="777240" cy="114300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5852160"/>
            <a:ext cx="77724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B3A28"/>
                </a:solidFill>
                <a:latin typeface="Calibri"/>
              </a:rPr>
              <a:t>Sep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6217920"/>
            <a:ext cx="77724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800" b="0" i="0">
                <a:solidFill>
                  <a:srgbClr val="6B7A64"/>
                </a:solidFill>
                <a:latin typeface="Calibri"/>
              </a:rPr>
              <a:t>Wedding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0576" y="3817620"/>
            <a:ext cx="777240" cy="194310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0576" y="5852160"/>
            <a:ext cx="77724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B3A28"/>
                </a:solidFill>
                <a:latin typeface="Calibri"/>
              </a:rPr>
              <a:t>Oct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6217920"/>
            <a:ext cx="77724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800" b="0" i="0">
                <a:solidFill>
                  <a:srgbClr val="6B7A64"/>
                </a:solidFill>
                <a:latin typeface="Calibri"/>
              </a:rPr>
              <a:t>Wedding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49840" y="3474720"/>
            <a:ext cx="777240" cy="228600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5852160"/>
            <a:ext cx="77724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B3A28"/>
                </a:solidFill>
                <a:latin typeface="Calibri"/>
              </a:rPr>
              <a:t>Nov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6217920"/>
            <a:ext cx="77724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800" b="0" i="0">
                <a:solidFill>
                  <a:srgbClr val="6B7A64"/>
                </a:solidFill>
                <a:latin typeface="Calibri"/>
              </a:rPr>
              <a:t>Holiday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119104" y="3474720"/>
            <a:ext cx="777240" cy="228600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19104" y="5852160"/>
            <a:ext cx="77724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B3A28"/>
                </a:solidFill>
                <a:latin typeface="Calibri"/>
              </a:rPr>
              <a:t>Dec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19104" y="6217920"/>
            <a:ext cx="77724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ctr"/>
            <a:r>
              <a:rPr sz="800" b="0" i="0">
                <a:solidFill>
                  <a:srgbClr val="6B7A64"/>
                </a:solidFill>
                <a:latin typeface="Calibri"/>
              </a:rPr>
              <a:t>Holiday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219456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0" i="1">
                <a:solidFill>
                  <a:srgbClr val="6B7A64"/>
                </a:solidFill>
                <a:latin typeface="Calibri"/>
              </a:rPr>
              <a:t>Heat: relative bake-floor intensity. April Easter + Wedding ramp, November to December holiday peak.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2027 Strategic Brief · 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3A28"/>
                </a:solidFill>
                <a:latin typeface="Cambria"/>
              </a:rPr>
              <a:t>2027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6B7A64"/>
                </a:solidFill>
                <a:latin typeface="Calibri"/>
              </a:rPr>
              <a:t>Four bets, scoped tight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743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0D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743200" cy="27432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237744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000" b="1" i="0">
                <a:solidFill>
                  <a:srgbClr val="2B3A28"/>
                </a:solidFill>
                <a:latin typeface="Cambria"/>
              </a:rPr>
              <a:t>Cafe Counter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37744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600" b="1" i="0">
                <a:solidFill>
                  <a:srgbClr val="7A8C5E"/>
                </a:solidFill>
                <a:latin typeface="Cambria"/>
              </a:rPr>
              <a:t>$66K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2377440" cy="10972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200" b="0" i="0">
                <a:solidFill>
                  <a:srgbClr val="6B7A64"/>
                </a:solidFill>
                <a:latin typeface="Calibri"/>
              </a:rPr>
              <a:t>Open by Easter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286000"/>
            <a:ext cx="2743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0D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286000"/>
            <a:ext cx="2743200" cy="274320"/>
          </a:xfrm>
          <a:prstGeom prst="rect">
            <a:avLst/>
          </a:prstGeom>
          <a:solidFill>
            <a:srgbClr val="C9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697480"/>
            <a:ext cx="237744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000" b="1" i="0">
                <a:solidFill>
                  <a:srgbClr val="2B3A28"/>
                </a:solidFill>
                <a:latin typeface="Cambria"/>
              </a:rPr>
              <a:t>Second Flour Mill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91840"/>
            <a:ext cx="237744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600" b="1" i="0">
                <a:solidFill>
                  <a:srgbClr val="C9892A"/>
                </a:solidFill>
                <a:latin typeface="Cambria"/>
              </a:rPr>
              <a:t>+5%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023360"/>
            <a:ext cx="2377440" cy="10972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200" b="0" i="0">
                <a:solidFill>
                  <a:srgbClr val="6B7A64"/>
                </a:solidFill>
                <a:latin typeface="Calibri"/>
              </a:rPr>
              <a:t>Cover 50% of all-purpose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286000"/>
            <a:ext cx="2743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0D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286000"/>
            <a:ext cx="2743200" cy="27432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237744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000" b="1" i="0">
                <a:solidFill>
                  <a:srgbClr val="2B3A28"/>
                </a:solidFill>
                <a:latin typeface="Cambria"/>
              </a:rPr>
              <a:t>Cookie Box Online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91840"/>
            <a:ext cx="237744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600" b="1" i="0">
                <a:solidFill>
                  <a:srgbClr val="7A8C5E"/>
                </a:solidFill>
                <a:latin typeface="Cambria"/>
              </a:rPr>
              <a:t>+$30K rev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23360"/>
            <a:ext cx="2377440" cy="10972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200" b="0" i="0">
                <a:solidFill>
                  <a:srgbClr val="6B7A64"/>
                </a:solidFill>
                <a:latin typeface="Calibri"/>
              </a:rPr>
              <a:t>Squarespace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286000"/>
            <a:ext cx="27432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0D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286000"/>
            <a:ext cx="2743200" cy="27432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697480"/>
            <a:ext cx="237744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000" b="1" i="0">
                <a:solidFill>
                  <a:srgbClr val="2B3A28"/>
                </a:solidFill>
                <a:latin typeface="Cambria"/>
              </a:rPr>
              <a:t>Wholesale +1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291840"/>
            <a:ext cx="237744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600" b="1" i="0">
                <a:solidFill>
                  <a:srgbClr val="3F5B3C"/>
                </a:solidFill>
                <a:latin typeface="Cambria"/>
              </a:rPr>
              <a:t>Pawtucket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023360"/>
            <a:ext cx="2377440" cy="10972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200" b="0" i="0">
                <a:solidFill>
                  <a:srgbClr val="6B7A64"/>
                </a:solidFill>
                <a:latin typeface="Calibri"/>
              </a:rPr>
              <a:t>New restaurant partner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2027 Strategic Brief · 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3A28"/>
                </a:solidFill>
                <a:latin typeface="Cambria"/>
              </a:rPr>
              <a:t>Investment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6B7A64"/>
                </a:solidFill>
                <a:latin typeface="Calibri"/>
              </a:rPr>
              <a:t>Where the next $90K goes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1168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9600">
                <a:tc>
                  <a:txBody>
                    <a:bodyPr lIns="40000" tIns="20000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>
                    <a:solidFill>
                      <a:srgbClr val="2B3A28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>
                    <a:solidFill>
                      <a:srgbClr val="2B3A28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2B3A28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2B3A28"/>
                    </a:solidFill>
                  </a:tcPr>
                </a:tc>
              </a:tr>
              <a:tr h="609600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Cafe buildout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$66,000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Providence Credit Union LOC + reserve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Rick Davidson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Equipment refresh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$8,000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Operating cash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Jake Thompson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</a:tr>
              <a:tr h="609600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Marketing &amp; 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$6,000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Operating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Sofia 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Staff training (France trip)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$4,500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Personal + bakery split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David Porter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</a:tr>
              <a:tr h="609600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Contingency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Emergency fund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3A28"/>
                          </a:solidFill>
                          <a:latin typeface="Calibri"/>
                        </a:rPr>
                        <a:t>David Porter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2027 Strategic Brief · 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3F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1887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Steady hand. Bigger oven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800" b="0" i="1">
                <a:solidFill>
                  <a:srgbClr val="DBE6CF"/>
                </a:solidFill>
                <a:latin typeface="Calibri"/>
              </a:rPr>
              <a:t>Federal Hill, 2027.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2B3A28"/>
                </a:solidFill>
                <a:latin typeface="Calibri"/>
              </a:rPr>
              <a:t>Review cadence: monthly with Sofia and Jake on the bakery board;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2B3A28"/>
                </a:solidFill>
                <a:latin typeface="Calibri"/>
              </a:rPr>
              <a:t>quarterly with Russell &amp; Associates and Paul Henderson on the financial side.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