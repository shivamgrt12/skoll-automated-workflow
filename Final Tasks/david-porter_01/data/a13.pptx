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ln w="31750">
              <a:solidFill>
                <a:srgbClr val="B3733A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21</c:v>
                </c:pt>
                <c:pt idx="2">
                  <c:v>26</c:v>
                </c:pt>
                <c:pt idx="3">
                  <c:v>29</c:v>
                </c:pt>
                <c:pt idx="4">
                  <c:v>38</c:v>
                </c:pt>
                <c:pt idx="5">
                  <c:v>40</c:v>
                </c:pt>
                <c:pt idx="6">
                  <c:v>38</c:v>
                </c:pt>
                <c:pt idx="7">
                  <c:v>32</c:v>
                </c:pt>
                <c:pt idx="8">
                  <c:v>30</c:v>
                </c:pt>
                <c:pt idx="9">
                  <c:v>33</c:v>
                </c:pt>
                <c:pt idx="10">
                  <c:v>42</c:v>
                </c:pt>
                <c:pt idx="11">
                  <c:v>52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ln w="31750">
              <a:solidFill>
                <a:srgbClr val="2B211A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</c:v>
                </c:pt>
                <c:pt idx="1">
                  <c:v>26</c:v>
                </c:pt>
                <c:pt idx="2">
                  <c:v>32</c:v>
                </c:pt>
                <c:pt idx="3">
                  <c:v>35</c:v>
                </c:pt>
                <c:pt idx="4">
                  <c:v>46</c:v>
                </c:pt>
                <c:pt idx="5">
                  <c:v>48</c:v>
                </c:pt>
                <c:pt idx="6">
                  <c:v>46</c:v>
                </c:pt>
                <c:pt idx="7">
                  <c:v>38</c:v>
                </c:pt>
                <c:pt idx="8">
                  <c:v>36</c:v>
                </c:pt>
                <c:pt idx="9">
                  <c:v>40</c:v>
                </c:pt>
                <c:pt idx="10">
                  <c:v>52</c:v>
                </c:pt>
                <c:pt idx="11">
                  <c:v>68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 YTD</c:v>
                </c:pt>
              </c:strCache>
            </c:strRef>
          </c:tx>
          <c:spPr>
            <a:ln w="31750">
              <a:solidFill>
                <a:srgbClr val="7A8C5E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31</c:v>
                </c:pt>
                <c:pt idx="1">
                  <c:v>30</c:v>
                </c:pt>
                <c:pt idx="2">
                  <c:v>37</c:v>
                </c:pt>
                <c:pt idx="3">
                  <c:v>40</c:v>
                </c:pt>
                <c:pt idx="4">
                  <c:v>53</c:v>
                </c:pt>
                <c:pt idx="5">
                  <c:v>55</c:v>
                </c:pt>
                <c:pt idx="6">
                  <c:v>53</c:v>
                </c:pt>
                <c:pt idx="7">
                  <c:v>44</c:v>
                </c:pt>
                <c:pt idx="8">
                  <c:v>41</c:v>
                </c:pt>
                <c:pt idx="9">
                  <c:v>45</c:v>
                </c:pt>
                <c:pt idx="10">
                  <c:v>58</c:v>
                </c:pt>
                <c:pt idx="11">
                  <c:v>76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5A3A1F"/>
              </a:solidFill>
            </c:spPr>
          </c:dPt>
          <c:dPt>
            <c:idx val="1"/>
            <c:spPr>
              <a:solidFill>
                <a:srgbClr val="B3733A"/>
              </a:solidFill>
            </c:spPr>
          </c:dPt>
          <c:dPt>
            <c:idx val="2"/>
            <c:spPr>
              <a:solidFill>
                <a:srgbClr val="C9892A"/>
              </a:solidFill>
            </c:spPr>
          </c:dPt>
          <c:dPt>
            <c:idx val="3"/>
            <c:spPr>
              <a:solidFill>
                <a:srgbClr val="D6C089"/>
              </a:solidFill>
            </c:spPr>
          </c:dPt>
          <c:dPt>
            <c:idx val="4"/>
            <c:spPr>
              <a:solidFill>
                <a:srgbClr val="7A8C5E"/>
              </a:solidFill>
            </c:spPr>
          </c:dPt>
          <c:cat>
            <c:strRef>
              <c:f>Sheet1!$A$2:$A$6</c:f>
              <c:strCache>
                <c:ptCount val="5"/>
                <c:pt idx="0">
                  <c:v>Construction</c:v>
                </c:pt>
                <c:pt idx="1">
                  <c:v>Equipment</c:v>
                </c:pt>
                <c:pt idx="2">
                  <c:v>Cooling</c:v>
                </c:pt>
                <c:pt idx="3">
                  <c:v>Signage</c:v>
                </c:pt>
                <c:pt idx="4">
                  <c:v>Contingency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52400</c:v>
                </c:pt>
                <c:pt idx="1">
                  <c:v>6800</c:v>
                </c:pt>
                <c:pt idx="2">
                  <c:v>3000</c:v>
                </c:pt>
                <c:pt idx="3">
                  <c:v>1400</c:v>
                </c:pt>
                <c:pt idx="4">
                  <c:v>2400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>
              <a:solidFill>
                <a:srgbClr val="2B211A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cash</c:v>
                </c:pt>
              </c:strCache>
            </c:strRef>
          </c:tx>
          <c:spPr>
            <a:ln w="31750">
              <a:solidFill>
                <a:srgbClr val="B3733A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  <c:pt idx="6">
                  <c:v>M7</c:v>
                </c:pt>
                <c:pt idx="7">
                  <c:v>M8</c:v>
                </c:pt>
                <c:pt idx="8">
                  <c:v>M9</c:v>
                </c:pt>
                <c:pt idx="9">
                  <c:v>M10</c:v>
                </c:pt>
                <c:pt idx="10">
                  <c:v>M11</c:v>
                </c:pt>
                <c:pt idx="11">
                  <c:v>M12</c:v>
                </c:pt>
                <c:pt idx="12">
                  <c:v>M13</c:v>
                </c:pt>
                <c:pt idx="13">
                  <c:v>M14</c:v>
                </c:pt>
                <c:pt idx="14">
                  <c:v>M15</c:v>
                </c:pt>
                <c:pt idx="15">
                  <c:v>M16</c:v>
                </c:pt>
                <c:pt idx="16">
                  <c:v>M17</c:v>
                </c:pt>
                <c:pt idx="17">
                  <c:v>M18</c:v>
                </c:pt>
                <c:pt idx="18">
                  <c:v>M19</c:v>
                </c:pt>
                <c:pt idx="19">
                  <c:v>M20</c:v>
                </c:pt>
                <c:pt idx="20">
                  <c:v>M21</c:v>
                </c:pt>
                <c:pt idx="21">
                  <c:v>M22</c:v>
                </c:pt>
                <c:pt idx="22">
                  <c:v>M23</c:v>
                </c:pt>
                <c:pt idx="23">
                  <c:v>M24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-66</c:v>
                </c:pt>
                <c:pt idx="1">
                  <c:v>-64</c:v>
                </c:pt>
                <c:pt idx="2">
                  <c:v>-61</c:v>
                </c:pt>
                <c:pt idx="3">
                  <c:v>-57</c:v>
                </c:pt>
                <c:pt idx="4">
                  <c:v>-52</c:v>
                </c:pt>
                <c:pt idx="5">
                  <c:v>-46</c:v>
                </c:pt>
                <c:pt idx="6">
                  <c:v>-39</c:v>
                </c:pt>
                <c:pt idx="7">
                  <c:v>-31</c:v>
                </c:pt>
                <c:pt idx="8">
                  <c:v>-22</c:v>
                </c:pt>
                <c:pt idx="9">
                  <c:v>-12</c:v>
                </c:pt>
                <c:pt idx="10">
                  <c:v>-1</c:v>
                </c:pt>
                <c:pt idx="11">
                  <c:v>11</c:v>
                </c:pt>
                <c:pt idx="12">
                  <c:v>24</c:v>
                </c:pt>
                <c:pt idx="13">
                  <c:v>38</c:v>
                </c:pt>
                <c:pt idx="14">
                  <c:v>53</c:v>
                </c:pt>
                <c:pt idx="15">
                  <c:v>69</c:v>
                </c:pt>
                <c:pt idx="16">
                  <c:v>86</c:v>
                </c:pt>
                <c:pt idx="17">
                  <c:v>104</c:v>
                </c:pt>
                <c:pt idx="18">
                  <c:v>123</c:v>
                </c:pt>
                <c:pt idx="19">
                  <c:v>143</c:v>
                </c:pt>
                <c:pt idx="20">
                  <c:v>164</c:v>
                </c:pt>
                <c:pt idx="21">
                  <c:v>186</c:v>
                </c:pt>
                <c:pt idx="22">
                  <c:v>209</c:v>
                </c:pt>
                <c:pt idx="23">
                  <c:v>233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B37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PORTER'S BAKEHOUSE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058400" cy="11887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Cafe Expansion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0584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600" b="0" i="1">
                <a:solidFill>
                  <a:srgbClr val="F1D6A5"/>
                </a:solidFill>
                <a:latin typeface="Calibri"/>
              </a:rPr>
              <a:t>8-seat counter, financing brief, and rollout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400" b="1" i="0">
                <a:solidFill>
                  <a:srgbClr val="2B211A"/>
                </a:solidFill>
                <a:latin typeface="Calibri"/>
              </a:rPr>
              <a:t>Prepared by David Porter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100584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200" b="0" i="0">
                <a:solidFill>
                  <a:srgbClr val="7A6A55"/>
                </a:solidFill>
                <a:latin typeface="Calibri"/>
              </a:rPr>
              <a:t>287 Atwells Avenue, Federal Hill, Providence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200" b="0" i="0">
                <a:solidFill>
                  <a:srgbClr val="7A6A55"/>
                </a:solidFill>
                <a:latin typeface="Calibri"/>
              </a:rPr>
              <a:t>For Providence Credit Union, business lending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7A6A55"/>
                </a:solidFill>
                <a:latin typeface="Calibri"/>
              </a:rPr>
              <a:t>Eight-seat counter adds a coffee-and-pastry attach to a steady retail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B37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6400800" cy="3657600"/>
          </a:xfrm>
          <a:prstGeom prst="rect">
            <a:avLst/>
          </a:prstGeom>
          <a:noFill/>
        </p:spPr>
        <p:txBody>
          <a:bodyPr wrap="square" lIns="20000" rIns="2000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B211A"/>
                </a:solidFill>
                <a:latin typeface="Calibri"/>
              </a:rPr>
              <a:t>●  16 years on Federal Hill, $480K revenue, up 12% year over year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11A"/>
                </a:solidFill>
                <a:latin typeface="Calibri"/>
              </a:rPr>
              <a:t>●  Daily counter traffic exceeds 220 transactions; coffee attach is currently zero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11A"/>
                </a:solidFill>
                <a:latin typeface="Calibri"/>
              </a:rPr>
              <a:t>●  Eight seats convert a passing customer into a sitting one without changing the bake floor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11A"/>
                </a:solidFill>
                <a:latin typeface="Calibri"/>
              </a:rPr>
              <a:t>●  Modest projection: $250 a day, six bake days a week, about $6,500 a month gross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B211A"/>
                </a:solidFill>
                <a:latin typeface="Calibri"/>
              </a:rPr>
              <a:t>●  Payback inside two years before financing cost; revenue grows the wholesale referral too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2011680"/>
            <a:ext cx="4480560" cy="4114800"/>
          </a:xfrm>
          <a:prstGeom prst="rect">
            <a:avLst/>
          </a:prstGeom>
          <a:solidFill>
            <a:srgbClr val="FAF4EA"/>
          </a:solidFill>
          <a:ln>
            <a:solidFill>
              <a:srgbClr val="E6D9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2148840"/>
            <a:ext cx="4114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B3733A"/>
                </a:solidFill>
                <a:latin typeface="Calibri"/>
              </a:rPr>
              <a:t>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468880"/>
            <a:ext cx="4114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200" b="1" i="0">
                <a:solidFill>
                  <a:srgbClr val="2B211A"/>
                </a:solidFill>
                <a:latin typeface="Cambria"/>
              </a:rPr>
              <a:t>Today's bakery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017520"/>
            <a:ext cx="2286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0" i="0">
                <a:solidFill>
                  <a:srgbClr val="7A6A55"/>
                </a:solidFill>
                <a:latin typeface="Calibri"/>
              </a:rPr>
              <a:t>Annual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3017520"/>
            <a:ext cx="201168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r"/>
            <a:r>
              <a:rPr sz="1200" b="1" i="0">
                <a:solidFill>
                  <a:srgbClr val="2B211A"/>
                </a:solidFill>
                <a:latin typeface="Calibri"/>
              </a:rPr>
              <a:t>$480,000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429000"/>
            <a:ext cx="2286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0" i="0">
                <a:solidFill>
                  <a:srgbClr val="7A6A55"/>
                </a:solidFill>
                <a:latin typeface="Calibri"/>
              </a:rPr>
              <a:t>Year over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3429000"/>
            <a:ext cx="201168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r"/>
            <a:r>
              <a:rPr sz="1200" b="1" i="0">
                <a:solidFill>
                  <a:srgbClr val="2B211A"/>
                </a:solidFill>
                <a:latin typeface="Calibri"/>
              </a:rPr>
              <a:t>+12%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840480"/>
            <a:ext cx="2286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0" i="0">
                <a:solidFill>
                  <a:srgbClr val="7A6A55"/>
                </a:solidFill>
                <a:latin typeface="Calibri"/>
              </a:rPr>
              <a:t>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840480"/>
            <a:ext cx="201168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r"/>
            <a:r>
              <a:rPr sz="1200" b="1" i="0">
                <a:solidFill>
                  <a:srgbClr val="2B211A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251960"/>
            <a:ext cx="2286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0" i="0">
                <a:solidFill>
                  <a:srgbClr val="7A6A55"/>
                </a:solidFill>
                <a:latin typeface="Calibri"/>
              </a:rPr>
              <a:t>Wedding cakes / 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4251960"/>
            <a:ext cx="201168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r"/>
            <a:r>
              <a:rPr sz="1200" b="1" i="0">
                <a:solidFill>
                  <a:srgbClr val="2B211A"/>
                </a:solidFill>
                <a:latin typeface="Calibri"/>
              </a:rPr>
              <a:t>35 to 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663440"/>
            <a:ext cx="2286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0" i="0">
                <a:solidFill>
                  <a:srgbClr val="7A6A55"/>
                </a:solidFill>
                <a:latin typeface="Calibri"/>
              </a:rPr>
              <a:t>Wholesale / 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4663440"/>
            <a:ext cx="201168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r"/>
            <a:r>
              <a:rPr sz="1200" b="1" i="0">
                <a:solidFill>
                  <a:srgbClr val="2B211A"/>
                </a:solidFill>
                <a:latin typeface="Calibri"/>
              </a:rPr>
              <a:t>$6,200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074920"/>
            <a:ext cx="2286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0" i="0">
                <a:solidFill>
                  <a:srgbClr val="7A6A55"/>
                </a:solidFill>
                <a:latin typeface="Calibri"/>
              </a:rPr>
              <a:t>Bakery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5074920"/>
            <a:ext cx="201168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r"/>
            <a:r>
              <a:rPr sz="1200" b="1" i="0">
                <a:solidFill>
                  <a:srgbClr val="2B211A"/>
                </a:solidFill>
                <a:latin typeface="Calibri"/>
              </a:rPr>
              <a:t>Tue to Sun, 6 AM to 5 PM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Cafe Expansion ·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Revenue Trend Supports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7A6A55"/>
                </a:solidFill>
                <a:latin typeface="Calibri"/>
              </a:rPr>
              <a:t>Five-year monthly revenue, seasonal pattern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B37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011680"/>
          <a:ext cx="112471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1">
                <a:solidFill>
                  <a:srgbClr val="7A6A55"/>
                </a:solidFill>
                <a:latin typeface="Calibri"/>
              </a:rPr>
              <a:t>Monthly revenue in $K · 2026 figures through October are actuals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Cafe Expansion ·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Project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7A6A55"/>
                </a:solidFill>
                <a:latin typeface="Calibri"/>
              </a:rPr>
              <a:t>Construction itemized by Rick Davidson, Davidson Builders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B37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11680"/>
          <a:ext cx="685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522514">
                <a:tc>
                  <a:txBody>
                    <a:bodyPr lIns="40000" tIns="20000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>
                    <a:solidFill>
                      <a:srgbClr val="2B211A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>
                    <a:solidFill>
                      <a:srgbClr val="2B211A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2B211A"/>
                    </a:solidFill>
                  </a:tcPr>
                </a:tc>
              </a:tr>
              <a:tr h="522514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Construction (contractor estimate)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$52,400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itemized in formal estimate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Espresso machine and grinder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$6,800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two-group, used market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</a:tr>
              <a:tr h="522514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Refrigeration and small wares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$3,000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undercounter, casework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Signage and exterior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$1,400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window decal, sandwich board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</a:tr>
              <a:tr h="522514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Contingency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$2,400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about 4 percent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Total project cost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>$66,000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 lIns="40000" tIns="20000"/>
                    <a:lstStyle/>
                    <a:p>
                      <a:r>
                        <a:rPr sz="1100">
                          <a:solidFill>
                            <a:srgbClr val="2B21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498079" y="1920240"/>
          <a:ext cx="42976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Cafe Expansion ·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Financing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7A6A55"/>
                </a:solidFill>
                <a:latin typeface="Calibri"/>
              </a:rPr>
              <a:t>Mixed funding, modest LOC, working cushion intact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B37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657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657600" cy="91440"/>
          </a:xfrm>
          <a:prstGeom prst="rect">
            <a:avLst/>
          </a:prstGeom>
          <a:solidFill>
            <a:srgbClr val="B37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194560"/>
            <a:ext cx="33284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7A6A55"/>
                </a:solidFill>
                <a:latin typeface="Calibri"/>
              </a:rPr>
              <a:t>Line of 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514600"/>
            <a:ext cx="332841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$40,000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108960"/>
            <a:ext cx="33284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7A6A55"/>
                </a:solidFill>
                <a:latin typeface="Calibri"/>
              </a:rPr>
              <a:t>Providence Credit Union, business lending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011680"/>
            <a:ext cx="3657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011680"/>
            <a:ext cx="3657600" cy="91440"/>
          </a:xfrm>
          <a:prstGeom prst="rect">
            <a:avLst/>
          </a:prstGeom>
          <a:solidFill>
            <a:srgbClr val="C9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194560"/>
            <a:ext cx="33284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7A6A55"/>
                </a:solidFill>
                <a:latin typeface="Calibri"/>
              </a:rPr>
              <a:t>Emergency Fund Draw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514600"/>
            <a:ext cx="332841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$15,000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3108960"/>
            <a:ext cx="33284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7A6A55"/>
                </a:solidFill>
                <a:latin typeface="Calibri"/>
              </a:rPr>
              <a:t>leaves a $13K cushion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011680"/>
            <a:ext cx="3657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011680"/>
            <a:ext cx="3657600" cy="9144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2194560"/>
            <a:ext cx="33284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7A6A55"/>
                </a:solidFill>
                <a:latin typeface="Calibri"/>
              </a:rPr>
              <a:t>Operating Reserve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514600"/>
            <a:ext cx="332841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$11,000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108960"/>
            <a:ext cx="332841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7A6A55"/>
                </a:solidFill>
                <a:latin typeface="Calibri"/>
              </a:rPr>
              <a:t>Q4 retail surplus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4300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000" b="1" i="0">
                <a:solidFill>
                  <a:srgbClr val="2B211A"/>
                </a:solidFill>
                <a:latin typeface="Cambria"/>
              </a:rPr>
              <a:t>Repayment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11430000" cy="1828800"/>
          </a:xfrm>
          <a:prstGeom prst="rect">
            <a:avLst/>
          </a:prstGeom>
          <a:noFill/>
        </p:spPr>
        <p:txBody>
          <a:bodyPr wrap="square" lIns="20000" rIns="2000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B211A"/>
                </a:solidFill>
                <a:latin typeface="Calibri"/>
              </a:rPr>
              <a:t>●  Five year amortization on the $40K LOC at prime plus 2%, $830 a month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211A"/>
                </a:solidFill>
                <a:latin typeface="Calibri"/>
              </a:rPr>
              <a:t>●  Cafe revenue covers the LOC payment from month four forward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211A"/>
                </a:solidFill>
                <a:latin typeface="Calibri"/>
              </a:rPr>
              <a:t>●  Wholesale and custom-cake margin continues to fund household and tuition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211A"/>
                </a:solidFill>
                <a:latin typeface="Calibri"/>
              </a:rPr>
              <a:t>●  Hartford business insurance rider added October 1 for the new counter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Cafe Expansion · 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Build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7A6A55"/>
                </a:solidFill>
                <a:latin typeface="Calibri"/>
              </a:rPr>
              <a:t>Sixteen-week plan, open before Easter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B37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1247120" cy="45720"/>
          </a:xfrm>
          <a:prstGeom prst="rect">
            <a:avLst/>
          </a:prstGeom>
          <a:solidFill>
            <a:srgbClr val="E0D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2877312" cy="365760"/>
          </a:xfrm>
          <a:prstGeom prst="rect">
            <a:avLst/>
          </a:prstGeom>
          <a:solidFill>
            <a:srgbClr val="B37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2B211A"/>
                </a:solidFill>
                <a:latin typeface="Calibri"/>
              </a:rPr>
              <a:t>Permits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0232" y="2788920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7A6A55"/>
                </a:solidFill>
                <a:latin typeface="Calibri"/>
              </a:rPr>
              <a:t>Nov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4512" y="3246120"/>
            <a:ext cx="2157984" cy="365760"/>
          </a:xfrm>
          <a:prstGeom prst="rect">
            <a:avLst/>
          </a:prstGeom>
          <a:solidFill>
            <a:srgbClr val="C9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2B211A"/>
                </a:solidFill>
                <a:latin typeface="Calibri"/>
              </a:rPr>
              <a:t>Demo &amp; rough-in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8216" y="3291840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7A6A55"/>
                </a:solidFill>
                <a:latin typeface="Calibri"/>
              </a:rPr>
              <a:t>Dec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92496" y="3749039"/>
            <a:ext cx="2157984" cy="36576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94759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2B211A"/>
                </a:solidFill>
                <a:latin typeface="Calibri"/>
              </a:rPr>
              <a:t>Finish carpentry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6200" y="3794759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7A6A55"/>
                </a:solidFill>
                <a:latin typeface="Calibri"/>
              </a:rPr>
              <a:t>Jan 2027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50480" y="4251960"/>
            <a:ext cx="1438656" cy="365760"/>
          </a:xfrm>
          <a:prstGeom prst="rect">
            <a:avLst/>
          </a:prstGeom>
          <a:solidFill>
            <a:srgbClr val="D6C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2B211A"/>
                </a:solidFill>
                <a:latin typeface="Calibri"/>
              </a:rPr>
              <a:t>Equipment install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4297680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7A6A55"/>
                </a:solidFill>
                <a:latin typeface="Calibri"/>
              </a:rPr>
              <a:t>Feb 2027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4754880"/>
            <a:ext cx="863193" cy="36576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2B211A"/>
                </a:solidFill>
                <a:latin typeface="Calibri"/>
              </a:rPr>
              <a:t>Soft 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8049" y="4800600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7A6A55"/>
                </a:solidFill>
                <a:latin typeface="Calibri"/>
              </a:rPr>
              <a:t>Mar 2027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52329" y="5257800"/>
            <a:ext cx="863193" cy="365760"/>
          </a:xfrm>
          <a:prstGeom prst="rect">
            <a:avLst/>
          </a:prstGeom>
          <a:solidFill>
            <a:srgbClr val="4F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303520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100" b="1" i="0">
                <a:solidFill>
                  <a:srgbClr val="2B211A"/>
                </a:solidFill>
                <a:latin typeface="Calibri"/>
              </a:rPr>
              <a:t>Easter launch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61243" y="5303520"/>
            <a:ext cx="18288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7A6A55"/>
                </a:solidFill>
                <a:latin typeface="Calibri"/>
              </a:rPr>
              <a:t>Apr 2027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Cafe Expansion ·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Return 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7A6A55"/>
                </a:solidFill>
                <a:latin typeface="Calibri"/>
              </a:rPr>
              <a:t>24-month cumulative cash flow against the $66K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B37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2011680"/>
          <a:ext cx="7772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503920" y="2011680"/>
            <a:ext cx="32918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2011680"/>
            <a:ext cx="3291840" cy="91440"/>
          </a:xfrm>
          <a:prstGeom prst="rect">
            <a:avLst/>
          </a:prstGeom>
          <a:solidFill>
            <a:srgbClr val="B37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68512" y="2194560"/>
            <a:ext cx="296265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7A6A55"/>
                </a:solidFill>
                <a:latin typeface="Calibri"/>
              </a:rPr>
              <a:t>Payback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8512" y="2514600"/>
            <a:ext cx="296265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Month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3108960"/>
            <a:ext cx="296265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7A6A55"/>
                </a:solidFill>
                <a:latin typeface="Calibri"/>
              </a:rPr>
              <a:t>cumulative break-even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3566160"/>
            <a:ext cx="32918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3920" y="3566160"/>
            <a:ext cx="3291840" cy="91440"/>
          </a:xfrm>
          <a:prstGeom prst="rect">
            <a:avLst/>
          </a:prstGeom>
          <a:solidFill>
            <a:srgbClr val="7A8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3749040"/>
            <a:ext cx="296265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7A6A55"/>
                </a:solidFill>
                <a:latin typeface="Calibri"/>
              </a:rPr>
              <a:t>24-mo cash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4069080"/>
            <a:ext cx="296265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+$233K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4663440"/>
            <a:ext cx="296265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7A6A55"/>
                </a:solidFill>
                <a:latin typeface="Calibri"/>
              </a:rPr>
              <a:t>cumulative, pre-tax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5120640"/>
            <a:ext cx="329184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5120640"/>
            <a:ext cx="3291840" cy="91440"/>
          </a:xfrm>
          <a:prstGeom prst="rect">
            <a:avLst/>
          </a:prstGeom>
          <a:solidFill>
            <a:srgbClr val="C98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8512" y="5303520"/>
            <a:ext cx="296265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1" i="0">
                <a:solidFill>
                  <a:srgbClr val="7A6A55"/>
                </a:solidFill>
                <a:latin typeface="Calibri"/>
              </a:rPr>
              <a:t>Break-even attach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8512" y="5623560"/>
            <a:ext cx="2962656" cy="64008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$180 /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8512" y="6217920"/>
            <a:ext cx="2962656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000" b="0" i="0">
                <a:solidFill>
                  <a:srgbClr val="7A6A55"/>
                </a:solidFill>
                <a:latin typeface="Calibri"/>
              </a:rPr>
              <a:t>below planning case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Cafe Expansion · 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11430000" cy="54864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800" b="1" i="0">
                <a:solidFill>
                  <a:srgbClr val="2B211A"/>
                </a:solidFill>
                <a:latin typeface="Cambria"/>
              </a:rPr>
              <a:t>The Ask &amp; The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6576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300" b="0" i="0">
                <a:solidFill>
                  <a:srgbClr val="7A6A55"/>
                </a:solidFill>
                <a:latin typeface="Calibri"/>
              </a:rPr>
              <a:t>What we need from Providence Credit Union, and what we are watching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B37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4864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200" b="1" i="0">
                <a:solidFill>
                  <a:srgbClr val="2B211A"/>
                </a:solidFill>
                <a:latin typeface="Cambria"/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5486400" cy="3200400"/>
          </a:xfrm>
          <a:prstGeom prst="rect">
            <a:avLst/>
          </a:prstGeom>
          <a:noFill/>
        </p:spPr>
        <p:txBody>
          <a:bodyPr wrap="square" lIns="20000" rIns="2000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B211A"/>
                </a:solidFill>
                <a:latin typeface="Calibri"/>
              </a:rPr>
              <a:t>●  $40,000 business line of credit at prime plus 2%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211A"/>
                </a:solidFill>
                <a:latin typeface="Calibri"/>
              </a:rPr>
              <a:t>●  60-month amortization, no prepayment penalty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211A"/>
                </a:solidFill>
                <a:latin typeface="Calibri"/>
              </a:rPr>
              <a:t>●  Decision inside two weeks to hold the Davidson Builders winter slot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4864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2200" b="1" i="0">
                <a:solidFill>
                  <a:srgbClr val="2B211A"/>
                </a:solidFill>
                <a:latin typeface="Cambria"/>
              </a:rPr>
              <a:t>Watch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06040"/>
            <a:ext cx="5486400" cy="3200400"/>
          </a:xfrm>
          <a:prstGeom prst="rect">
            <a:avLst/>
          </a:prstGeom>
          <a:noFill/>
        </p:spPr>
        <p:txBody>
          <a:bodyPr wrap="square" lIns="20000" rIns="20000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B211A"/>
                </a:solidFill>
                <a:latin typeface="Calibri"/>
              </a:rPr>
              <a:t>●  King Arthur flour pricing (up 15% since spring)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211A"/>
                </a:solidFill>
                <a:latin typeface="Calibri"/>
              </a:rPr>
              <a:t>●  Holiday cookie box volume (60 / day in December)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211A"/>
                </a:solidFill>
                <a:latin typeface="Calibri"/>
              </a:rPr>
              <a:t>●  Providence Manor wholesale renewal in Q3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B211A"/>
                </a:solidFill>
                <a:latin typeface="Calibri"/>
              </a:rPr>
              <a:t>●  Cholesterol watch keeps me on a deliberate 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Next step: review and signed term sheet from Paul Henderson at Crestfield, then submit to Providence Credit Union.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5A3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11430000" cy="274320"/>
          </a:xfrm>
          <a:prstGeom prst="rect">
            <a:avLst/>
          </a:prstGeom>
          <a:noFill/>
        </p:spPr>
        <p:txBody>
          <a:bodyPr wrap="square" lIns="20000" rIns="20000" tIns="10000" bIns="1000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Cafe Expansion ·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