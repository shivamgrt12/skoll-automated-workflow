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invoiced</c:v>
                </c:pt>
              </c:strCache>
            </c:strRef>
          </c:tx>
          <c:spPr>
            <a:solidFill>
              <a:srgbClr val="6D8EA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1880</c:v>
                </c:pt>
                <c:pt idx="1">
                  <c:v>1920</c:v>
                </c:pt>
                <c:pt idx="2">
                  <c:v>2050</c:v>
                </c:pt>
                <c:pt idx="3">
                  <c:v>2100</c:v>
                </c:pt>
                <c:pt idx="4">
                  <c:v>2150</c:v>
                </c:pt>
                <c:pt idx="5">
                  <c:v>2180</c:v>
                </c:pt>
                <c:pt idx="6">
                  <c:v>2200</c:v>
                </c:pt>
                <c:pt idx="7">
                  <c:v>2200</c:v>
                </c:pt>
                <c:pt idx="8">
                  <c:v>2240</c:v>
                </c:pt>
                <c:pt idx="9">
                  <c:v>2200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F2D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324859"/>
              </a:solidFill>
            </c:spPr>
          </c:dPt>
          <c:dPt>
            <c:idx val="1"/>
            <c:spPr>
              <a:solidFill>
                <a:srgbClr val="6D8EA8"/>
              </a:solidFill>
            </c:spPr>
          </c:dPt>
          <c:dPt>
            <c:idx val="2"/>
            <c:spPr>
              <a:solidFill>
                <a:srgbClr val="C9892A"/>
              </a:solidFill>
            </c:spPr>
          </c:dPt>
          <c:dPt>
            <c:idx val="3"/>
            <c:spPr>
              <a:solidFill>
                <a:srgbClr val="9BB4C8"/>
              </a:solidFill>
            </c:spPr>
          </c:dPt>
          <c:dPt>
            <c:idx val="4"/>
            <c:spPr>
              <a:solidFill>
                <a:srgbClr val="7A8C5E"/>
              </a:solidFill>
            </c:spPr>
          </c:dPt>
          <c:cat>
            <c:strRef>
              <c:f>Sheet1!$A$2:$A$6</c:f>
              <c:strCache>
                <c:ptCount val="5"/>
                <c:pt idx="0">
                  <c:v>Morning pastries</c:v>
                </c:pt>
                <c:pt idx="1">
                  <c:v>Lunch rolls</c:v>
                </c:pt>
                <c:pt idx="2">
                  <c:v>Cookie trays</c:v>
                </c:pt>
                <c:pt idx="3">
                  <c:v>Holiday specials</c:v>
                </c:pt>
                <c:pt idx="4">
                  <c:v>Bread loaves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22</c:v>
                </c:pt>
                <c:pt idx="2">
                  <c:v>16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1F2D3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6D8EA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Cookie trays</c:v>
                </c:pt>
                <c:pt idx="1">
                  <c:v>Morning pastries</c:v>
                </c:pt>
                <c:pt idx="2">
                  <c:v>Holiday specials</c:v>
                </c:pt>
                <c:pt idx="3">
                  <c:v>Lunch rolls</c:v>
                </c:pt>
                <c:pt idx="4">
                  <c:v>Bread loaves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51</c:v>
                </c:pt>
                <c:pt idx="2">
                  <c:v>49</c:v>
                </c:pt>
                <c:pt idx="3">
                  <c:v>44</c:v>
                </c:pt>
                <c:pt idx="4">
                  <c:v>38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F2D3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6D8EA8"/>
                </a:solidFill>
                <a:latin typeface="Calibri"/>
              </a:rPr>
              <a:t>WHOLESALE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11887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Providence Manor Hotel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500" b="0" i="1">
                <a:solidFill>
                  <a:srgbClr val="C8D5DF"/>
                </a:solidFill>
                <a:latin typeface="Calibri"/>
              </a:rPr>
              <a:t>Q3 2026 account review and Q4 expansion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1F2D39"/>
                </a:solidFill>
                <a:latin typeface="Calibri"/>
              </a:rPr>
              <a:t>Prepared for: Karen Wells, Events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1F2D39"/>
                </a:solidFill>
                <a:latin typeface="Calibri"/>
              </a:rPr>
              <a:t>From: David Porter, Porter's Bakehouse · Federal Hill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6D7D8A"/>
                </a:solidFill>
                <a:latin typeface="Calibri"/>
              </a:rPr>
              <a:t>October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Account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D7D8A"/>
                </a:solidFill>
                <a:latin typeface="Calibri"/>
              </a:rPr>
              <a:t>Where the Providence Manor account stands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743200" cy="9144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D7D8A"/>
                </a:solidFill>
                <a:latin typeface="Calibri"/>
              </a:rPr>
              <a:t>Run-rate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24140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$2,200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089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D7D8A"/>
                </a:solidFill>
                <a:latin typeface="Calibri"/>
              </a:rPr>
              <a:t>monthly · 35% of wholesale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01168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743200" cy="9144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1945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D7D8A"/>
                </a:solidFill>
                <a:latin typeface="Calibri"/>
              </a:rPr>
              <a:t>Tenure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514600"/>
            <a:ext cx="24140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4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1089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D7D8A"/>
                </a:solidFill>
                <a:latin typeface="Calibri"/>
              </a:rPr>
              <a:t>since 2022, no missed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743200" cy="9144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D7D8A"/>
                </a:solidFill>
                <a:latin typeface="Calibri"/>
              </a:rPr>
              <a:t>Order frequency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514600"/>
            <a:ext cx="24140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3x / wk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08960"/>
            <a:ext cx="24140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D7D8A"/>
                </a:solidFill>
                <a:latin typeface="Calibri"/>
              </a:rPr>
              <a:t>Tue, Thu, Sat early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011680"/>
            <a:ext cx="25603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011680"/>
            <a:ext cx="2560320" cy="91440"/>
          </a:xfrm>
          <a:prstGeom prst="rect">
            <a:avLst/>
          </a:prstGeom>
          <a:solidFill>
            <a:srgbClr val="C9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2194560"/>
            <a:ext cx="223113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6D7D8A"/>
                </a:solidFill>
                <a:latin typeface="Calibri"/>
              </a:rPr>
              <a:t>Renewal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514600"/>
            <a:ext cx="223113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Q3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108960"/>
            <a:ext cx="223113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6D7D8A"/>
                </a:solidFill>
                <a:latin typeface="Calibri"/>
              </a:rPr>
              <a:t>on the table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1F2D39"/>
                </a:solidFill>
                <a:latin typeface="Cambria"/>
              </a:rPr>
              <a:t>Account narrative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43400"/>
            <a:ext cx="11430000" cy="22860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D39"/>
                </a:solidFill>
                <a:latin typeface="Calibri"/>
              </a:rPr>
              <a:t>●  Standing weekly: 72 morning pastries, 24 lunch rolls, holiday cookie tray on Friday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D39"/>
                </a:solidFill>
                <a:latin typeface="Calibri"/>
              </a:rPr>
              <a:t>●  Events overflow: roughly $300 in average event-driven sweet trays per month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D39"/>
                </a:solidFill>
                <a:latin typeface="Calibri"/>
              </a:rPr>
              <a:t>●  Custom holiday tier: December 2025 ran 38 cookie trays for in-room amenity service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D39"/>
                </a:solidFill>
                <a:latin typeface="Calibri"/>
              </a:rPr>
              <a:t>●  On-time delivery: 100 percent across 2024 to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Providence Manor · 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Order Volume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D7D8A"/>
                </a:solidFill>
                <a:latin typeface="Calibri"/>
              </a:rPr>
              <a:t>Monthly invoice value · 2024 through Q3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011680"/>
          <a:ext cx="11247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1">
                <a:solidFill>
                  <a:srgbClr val="6D7D8A"/>
                </a:solidFill>
                <a:latin typeface="Calibri"/>
              </a:rPr>
              <a:t>Quiet seasonal lift in Q1, holiday push in November and December still pending.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Providence Manor · 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Product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D7D8A"/>
                </a:solidFill>
                <a:latin typeface="Calibri"/>
              </a:rPr>
              <a:t>What flows from the Federal Hill bakery to the Manor kitchen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01168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103120"/>
            <a:ext cx="5486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1F2D39"/>
                </a:solidFill>
                <a:latin typeface="Cambria"/>
              </a:rPr>
              <a:t>Mix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36576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D39"/>
                </a:solidFill>
                <a:latin typeface="Calibri"/>
              </a:rPr>
              <a:t>●  Morning pastries lead share at 44%, room for almond and chocolate-hazelnut adds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D39"/>
                </a:solidFill>
                <a:latin typeface="Calibri"/>
              </a:rPr>
              <a:t>●  Holiday specials trend up year over year, 12% from 8% in 2024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D39"/>
                </a:solidFill>
                <a:latin typeface="Calibri"/>
              </a:rPr>
              <a:t>●  Bread loaves underweight versus other accounts at 6%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D39"/>
                </a:solidFill>
                <a:latin typeface="Calibri"/>
              </a:rPr>
              <a:t>●  Cookie trays are the highest-margin line in the mix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Providence Manor · 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Margin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D7D8A"/>
                </a:solidFill>
                <a:latin typeface="Calibri"/>
              </a:rPr>
              <a:t>Gross margin by line, 2026 YTD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011680"/>
          <a:ext cx="11247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Providence Manor · 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Q4 2026 Expansion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D7D8A"/>
                </a:solidFill>
                <a:latin typeface="Calibri"/>
              </a:rPr>
              <a:t>Volume bump for the holiday and event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>
                    <a:solidFill>
                      <a:srgbClr val="1F2D39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Current weekly</a:t>
                      </a:r>
                    </a:p>
                  </a:txBody>
                  <a:tcPr>
                    <a:solidFill>
                      <a:srgbClr val="1F2D39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Proposed weekly</a:t>
                      </a:r>
                    </a:p>
                  </a:txBody>
                  <a:tcPr>
                    <a:solidFill>
                      <a:srgbClr val="1F2D39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F2D39"/>
                    </a:solidFill>
                  </a:tcPr>
                </a:tc>
              </a:tr>
              <a:tr h="585216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Morning pastries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almond and pain au chocolat added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Cookie trays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in-room amenity build during Dec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  <a:tr h="585216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Holiday specials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3 trays / 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gingerbread, hot cocoa, vanilla bean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Bread loaves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1F2D39"/>
                          </a:solidFill>
                          <a:latin typeface="Calibri"/>
                        </a:rPr>
                        <a:t>Federal Hill rye and country sour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14300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1" i="0">
                <a:solidFill>
                  <a:srgbClr val="1F2D39"/>
                </a:solidFill>
                <a:latin typeface="Calibri"/>
              </a:rPr>
              <a:t>Estimated incremental monthly revenue: $720 from October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Providence Manor · 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1F2D39"/>
                </a:solidFill>
                <a:latin typeface="Cambria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6D7D8A"/>
                </a:solidFill>
                <a:latin typeface="Calibri"/>
              </a:rPr>
              <a:t>Lock the Q4 lift and the 2027 renewal in one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430000" cy="36576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9"/>
                </a:solidFill>
                <a:latin typeface="Calibri"/>
              </a:rPr>
              <a:t>●  Confirm the morning pastry mix with the breakfast team by Nov 1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9"/>
                </a:solidFill>
                <a:latin typeface="Calibri"/>
              </a:rPr>
              <a:t>●  Draft 2027 wholesale renewal at the new run-rate, send to Karen Wells inside two weeks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9"/>
                </a:solidFill>
                <a:latin typeface="Calibri"/>
              </a:rPr>
              <a:t>●  Cookie tray production schedule shared with Sofia, locked Nov 4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9"/>
                </a:solidFill>
                <a:latin typeface="Calibri"/>
              </a:rPr>
              <a:t>●  Holiday tray pickup window: Tuesday and Friday at 6:15 AM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9"/>
                </a:solidFill>
                <a:latin typeface="Calibri"/>
              </a:rPr>
              <a:t>●  Next review: late January 2027, after Christmas cookie cycle closes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6D8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Questions: David Porter · david.porter@Finthesiss.ai · 287 Atwells Avenue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24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Providence Manor · 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