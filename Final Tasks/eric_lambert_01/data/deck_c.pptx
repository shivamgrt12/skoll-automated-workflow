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work at n = 64</c:v>
                </c:pt>
              </c:strCache>
            </c:strRef>
          </c:tx>
          <c:dPt>
            <c:idx val="0"/>
            <c:spPr>
              <a:solidFill>
                <a:srgbClr val="B03A2E"/>
              </a:solidFill>
            </c:spPr>
          </c:dPt>
          <c:dPt>
            <c:idx val="1"/>
            <c:spPr>
              <a:solidFill>
                <a:srgbClr val="E07A2E"/>
              </a:solidFill>
            </c:spPr>
          </c:dPt>
          <c:dPt>
            <c:idx val="2"/>
            <c:spPr>
              <a:solidFill>
                <a:srgbClr val="C79A3B"/>
              </a:solidFill>
            </c:spPr>
          </c:dPt>
          <c:dPt>
            <c:idx val="3"/>
            <c:spPr>
              <a:solidFill>
                <a:srgbClr val="7A5C3B"/>
              </a:solidFill>
            </c:spPr>
          </c:dPt>
          <c:dPt>
            <c:idx val="4"/>
            <c:spPr>
              <a:solidFill>
                <a:srgbClr val="9A4A2A"/>
              </a:solidFill>
            </c:spPr>
          </c:dPt>
          <c:cat>
            <c:strRef>
              <c:f>Sheet1!$A$2:$A$6</c:f>
              <c:strCache>
                <c:ptCount val="5"/>
                <c:pt idx="0">
                  <c:v>O(1)</c:v>
                </c:pt>
                <c:pt idx="1">
                  <c:v>O(log n)</c:v>
                </c:pt>
                <c:pt idx="2">
                  <c:v>O(n)</c:v>
                </c:pt>
                <c:pt idx="3">
                  <c:v>O(n log n)</c:v>
                </c:pt>
                <c:pt idx="4">
                  <c:v>O(n^2)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6</c:v>
                </c:pt>
                <c:pt idx="2">
                  <c:v>64</c:v>
                </c:pt>
                <c:pt idx="3">
                  <c:v>384</c:v>
                </c:pt>
                <c:pt idx="4">
                  <c:v>4096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dPt>
            <c:idx val="0"/>
            <c:spPr>
              <a:solidFill>
                <a:srgbClr val="B03A2E"/>
              </a:solidFill>
            </c:spPr>
          </c:dPt>
          <c:dPt>
            <c:idx val="1"/>
            <c:spPr>
              <a:solidFill>
                <a:srgbClr val="E07A2E"/>
              </a:solidFill>
            </c:spPr>
          </c:dPt>
          <c:dPt>
            <c:idx val="2"/>
            <c:spPr>
              <a:solidFill>
                <a:srgbClr val="C79A3B"/>
              </a:solidFill>
            </c:spPr>
          </c:dPt>
          <c:dPt>
            <c:idx val="3"/>
            <c:spPr>
              <a:solidFill>
                <a:srgbClr val="7A5C3B"/>
              </a:solidFill>
            </c:spPr>
          </c:dPt>
          <c:cat>
            <c:strRef>
              <c:f>Sheet1!$A$2:$A$5</c:f>
              <c:strCache>
                <c:ptCount val="4"/>
                <c:pt idx="0">
                  <c:v>September</c:v>
                </c:pt>
                <c:pt idx="1">
                  <c:v>October</c:v>
                </c:pt>
                <c:pt idx="2">
                  <c:v>November</c:v>
                </c:pt>
                <c:pt idx="3">
                  <c:v>December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7</c:v>
                </c:pt>
                <c:pt idx="2">
                  <c:v>7</c:v>
                </c:pt>
                <c:pt idx="3">
                  <c:v>5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03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0"/>
            <a:ext cx="12191695" cy="2560320"/>
          </a:xfrm>
          <a:prstGeom prst="rect">
            <a:avLst/>
          </a:prstGeom>
          <a:solidFill>
            <a:srgbClr val="3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23774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5720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FFD9B3"/>
                </a:solidFill>
                <a:latin typeface="Segoe UI"/>
              </a:rPr>
              <a:t>A tutoring walkthrough  -  Eric Lambert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CFD8DC"/>
                </a:solidFill>
                <a:latin typeface="Segoe UI"/>
              </a:rPr>
              <a:t>Peer Tutor, Lakeview Learning Center</a:t>
            </a:r>
          </a:p>
        </p:txBody>
      </p:sp>
    </p:spTree>
  </p:cSld>
  <p:clrMapOvr>
    <a:masterClrMapping/>
  </p:clrMapOvr>
  <p:transition spd="med">
    <p:wipe dir="d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D9B3"/>
                </a:solidFill>
                <a:latin typeface="Segoe UI"/>
              </a:rPr>
              <a:t>START HERE, ALWAYS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Linked lists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B03A2E"/>
                </a:solidFill>
                <a:latin typeface="Segoe UI"/>
              </a:rPr>
              <a:t>- A linked list is not an array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2A1A16"/>
                </a:solidFill>
                <a:latin typeface="Segoe UI"/>
              </a:rPr>
              <a:t>  - Each node only knows where the next one is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B03A2E"/>
                </a:solidFill>
                <a:latin typeface="Segoe UI"/>
              </a:rPr>
              <a:t>- The analogy that works: a treasure hunt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2A1A16"/>
                </a:solidFill>
                <a:latin typeface="Segoe UI"/>
              </a:rPr>
              <a:t>  - Every clue points to the next, you cannot skip ahead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B03A2E"/>
                </a:solidFill>
                <a:latin typeface="Segoe UI"/>
              </a:rPr>
              <a:t>- Where students slip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2A1A16"/>
                </a:solidFill>
                <a:latin typeface="Segoe UI"/>
              </a:rPr>
              <a:t>  - Forgetting the empty list case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2A1A16"/>
                </a:solidFill>
                <a:latin typeface="Segoe UI"/>
              </a:rPr>
              <a:t>  - Losing the rest of the list when inserting a node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D9B3"/>
                </a:solidFill>
                <a:latin typeface="Segoe UI"/>
              </a:rPr>
              <a:t>HOW FAST THINGS GROW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Big-O, the intuition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417320"/>
          <a:ext cx="69494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55279" y="173736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B03A2E"/>
                </a:solidFill>
                <a:latin typeface="Segoe UI"/>
              </a:rPr>
              <a:t>- Constant time does not grow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B03A2E"/>
                </a:solidFill>
                <a:latin typeface="Segoe UI"/>
              </a:rPr>
              <a:t>- Linear tracks the data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B03A2E"/>
                </a:solidFill>
                <a:latin typeface="Segoe UI"/>
              </a:rPr>
              <a:t>- Quadratic is the nested loop trap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2A1A16"/>
                </a:solidFill>
                <a:latin typeface="Segoe UI"/>
              </a:rPr>
              <a:t>  - Show it with bubble sort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D9B3"/>
                </a:solidFill>
                <a:latin typeface="Segoe UI"/>
              </a:rPr>
              <a:t>DELETION IS THE HARD 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Binary search trees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B03A2E"/>
                </a:solidFill>
                <a:latin typeface="Segoe UI"/>
              </a:rPr>
              <a:t>- The property is the whole game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2A1A16"/>
                </a:solidFill>
                <a:latin typeface="Segoe UI"/>
              </a:rPr>
              <a:t>  - Left is smaller, right is larger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B03A2E"/>
                </a:solidFill>
                <a:latin typeface="Segoe UI"/>
              </a:rPr>
              <a:t>- Three deletion cases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2A1A16"/>
                </a:solidFill>
                <a:latin typeface="Segoe UI"/>
              </a:rPr>
              <a:t>  - No children, just remove it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2A1A16"/>
                </a:solidFill>
                <a:latin typeface="Segoe UI"/>
              </a:rPr>
              <a:t>  - One child, replace it with the child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2A1A16"/>
                </a:solidFill>
                <a:latin typeface="Segoe UI"/>
              </a:rPr>
              <a:t>  - Two children, use the in-order successor, then delete that node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B03A2E"/>
                </a:solidFill>
                <a:latin typeface="Segoe UI"/>
              </a:rPr>
              <a:t>- Slow down and draw every step for the two-child case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D9B3"/>
                </a:solidFill>
                <a:latin typeface="Segoe UI"/>
              </a:rPr>
              <a:t>STEADY DEMAND AT THE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Sessions this term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417320"/>
          <a:ext cx="69494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55279" y="173736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B03A2E"/>
                </a:solidFill>
                <a:latin typeface="Segoe UI"/>
              </a:rPr>
              <a:t>- Twenty three sessions over the fall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B03A2E"/>
                </a:solidFill>
                <a:latin typeface="Segoe UI"/>
              </a:rPr>
              <a:t>- Busiest around midterms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B03A2E"/>
                </a:solidFill>
                <a:latin typeface="Segoe UI"/>
              </a:rPr>
              <a:t>- Mostly intro programming and data structures</a:t>
            </a:r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D9B3"/>
                </a:solidFill>
                <a:latin typeface="Segoe UI"/>
              </a:rPr>
              <a:t>MY RULES OF THUMB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What makes a session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B03A2E"/>
                </a:solidFill>
                <a:latin typeface="Segoe UI"/>
              </a:rPr>
              <a:t>- Make them do the work, I can explain all day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B03A2E"/>
                </a:solidFill>
                <a:latin typeface="Segoe UI"/>
              </a:rPr>
              <a:t>- Ask them to explain it back before moving on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B03A2E"/>
                </a:solidFill>
                <a:latin typeface="Segoe UI"/>
              </a:rPr>
              <a:t>- Start with the smallest case, one node, two nodes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B03A2E"/>
                </a:solidFill>
                <a:latin typeface="Segoe UI"/>
              </a:rPr>
              <a:t>- Connect to something they already know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B03A2E"/>
                </a:solidFill>
                <a:latin typeface="Segoe UI"/>
              </a:rPr>
              <a:t>- One topic done well beats five touched and forgotten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Eric Lambert</cp:lastModifiedBy>
  <cp:revision>1</cp:revision>
  <dcterms:created xsi:type="dcterms:W3CDTF">2026-01-18T10:00:00Z</dcterms:created>
  <dcterms:modified xsi:type="dcterms:W3CDTF">2026-01-18T10:30:00Z</dcterms:modified>
  <cp:category/>
</cp:coreProperties>
</file>