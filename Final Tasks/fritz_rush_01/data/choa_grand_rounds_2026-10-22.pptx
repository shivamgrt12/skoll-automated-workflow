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A39A5-8B35-4EFA-994A-45E7BCF057D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30896-6ED4-47F8-B5DF-7F4D528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2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6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35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06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1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5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52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98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75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41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23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30896-6ED4-47F8-B5DF-7F4D528291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91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69FA-1AFB-E05E-727F-B956C283C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0E039-3760-79FD-801E-670B1F442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A3D75-D250-0F3E-CBF9-3B7B201FC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DAA42-DA2D-5E20-6961-6FD7F35B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8A024-277C-ECF0-35C9-294FB5AC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7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09D7-277C-AB67-E6B6-C84DB6BE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8DECD-1E77-0424-6373-F508980FA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80386-1A16-B61B-BBDC-168C58EC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79939-BEE3-C4E8-526C-503263B7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7D3AD-6E74-B2FF-7869-083F5F1E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7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1A62-F882-7867-52C1-9F9957D12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C11C5-B80D-F522-B2D4-605A1FAE8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0DD74-69B1-DA52-D3E9-27FDDC97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A8807-45D1-FF30-B78D-06AF8819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D311B-42AA-A218-E7DD-1B6C82282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97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4B48-9D28-BB31-C9C7-A01AF0FCF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C4C6C-784F-7617-5D9F-EAB76491A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7BF0E-E98E-73AB-6F8B-F7036D0BC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23F76-30B3-FB23-1E3B-2DA55553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12774-4596-60A7-DB6F-06D6958E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479C5-6739-AC9F-D3EF-90C6437B0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96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EFAA-1D52-354D-2224-4559E53C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22B5D-851B-1252-99FD-1637B89B0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3D635-36C2-D163-37E3-91120E91E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F9793-0F45-48E7-7D31-DCDF0876B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6C52-7C43-258E-6D7C-63E83CD2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5D53F-1A1F-E680-358A-2AA15DC7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679BC0-6269-3916-C20A-50256BCD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489ED6-1EC5-2537-D474-E3183F13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1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E009-C208-89FA-E888-AE363983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7BFAA4-7033-6099-EDD7-734612273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46266-1BB4-7C41-0DA2-2B8E8599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3C52E-63F1-D024-9523-1711C7FA9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459385-F76A-DEC4-6E01-28F0CDFF2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3D33AC-B905-E461-A340-E2853A4E6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363C1-2128-C0A5-237C-8F94DBF8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4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43452-F4AE-4F01-D7D1-BC141D2E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8EAE9-A2AC-71F4-1A50-192A015B9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71701-9437-0681-4DE9-BEC6197FC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E3E04-8E23-1660-DE59-3384B6B65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D9838-A05D-8356-DE64-B7ABBC8A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1E615-45EA-5510-610D-0FA3415D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BE4A-A574-F86F-A73D-D1ADB085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6015B-E096-1A17-65A6-1EC94FE53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E9E0-4FF5-EE26-6A3A-ECA55EC7A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599F8-39BA-ACED-FBDF-C5B6CDC1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9703C-FCD6-61B8-EFA5-787669D04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5EDE0-9990-39A3-364D-21BABBF5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1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8636-01E3-4979-FACB-29B9D628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6A8EB-207B-5D17-57D6-49E392896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C322F-509E-EBBC-4FA8-6227CDE0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09BD9-0644-628A-FD86-D3BE1C91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004F8-F1DD-B01C-0FA5-818B1D9F8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1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19661A-6A90-43B2-D9DC-AA155C630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F9F38-511D-DFCE-E17E-DC55BC7AE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2856F-77EC-B5C8-284A-E5AE13826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7CF4E-0E16-D054-B67E-1A9976D8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27635-5ECA-61C4-EB57-13A4D1E5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66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E249-2911-4C92-5F24-AD66215D4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37BCA-26D9-D67F-B4D3-B30052A26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5271B-F960-AE63-7AA3-ACF7FA14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B7192-FF85-EEDE-BDC4-1F9789AFF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359C6-E08E-80A3-0336-4E940C5E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38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FE2CE2-390A-3161-66C3-F2356A7A8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9BBD9-AFB9-EAF3-9361-BD590DB98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F2BE1-0AE1-84EA-79A9-848AC3A46A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E47A7-8CBA-4FD7-88AA-6FA817C7AF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9218E-5344-D954-2718-11384975F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A58AF-5462-6B08-8DB7-F53E711CA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E050F-B7D5-43E9-AACA-369822F6B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9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9739A-D2E9-C895-FCEA-D6C5E4A77E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Malaria Vaccine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ACAB7-1FA3-6ED3-8116-948339FE21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What general pediatrics needs to know about how research reaches the child
CHOA Grand Rounds - October 22, 2026
Fritz Rush, MD, MPH  |  PID Fellow, Glenwood College / CHOA</a:t>
            </a:r>
          </a:p>
        </p:txBody>
      </p:sp>
    </p:spTree>
    <p:extLst>
      <p:ext uri="{BB962C8B-B14F-4D97-AF65-F5344CB8AC3E}">
        <p14:creationId xmlns:p14="http://schemas.microsoft.com/office/powerpoint/2010/main" val="753119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A9A0A-5986-6C31-ABFA-28827A9BB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matters to a general pediatrics room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84986-621E-91F5-1972-CD32BCEF0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 one of us saw the WHO announcement of the first malaria vaccine</a:t>
            </a:r>
          </a:p>
          <a:p>
            <a:r>
              <a:rPr lang="en-US"/>
              <a:t>The distance from 'approved' to 'delivered' is where children live or die</a:t>
            </a:r>
          </a:p>
          <a:p>
            <a:r>
              <a:rPr lang="en-US"/>
              <a:t>This talk is about that distance - what implementation science actually does</a:t>
            </a:r>
          </a:p>
          <a:p>
            <a:r>
              <a:rPr lang="en-US"/>
              <a:t>Nothing here is dumbed down. This is the same evidence I take to an international ID room</a:t>
            </a:r>
          </a:p>
        </p:txBody>
      </p:sp>
    </p:spTree>
    <p:extLst>
      <p:ext uri="{BB962C8B-B14F-4D97-AF65-F5344CB8AC3E}">
        <p14:creationId xmlns:p14="http://schemas.microsoft.com/office/powerpoint/2010/main" val="252209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7878-1603-52A8-6B0E-3FBDE1F3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disease burden, briefly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F762D-E273-F9F5-78A2-AAE3750E0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Approximately 600,000 malaria deaths annually, mostly children under five in sub-Saharan Africa</a:t>
            </a:r>
          </a:p>
          <a:p>
            <a:r>
              <a:rPr lang="en-US"/>
              <a:t>Clinical malaria episodes: hundreds of millions per year</a:t>
            </a:r>
          </a:p>
          <a:p>
            <a:r>
              <a:rPr lang="en-US"/>
              <a:t>RTS,S/AS01 (Mosquirix) is the first WHO-recommended malaria vaccine</a:t>
            </a:r>
          </a:p>
          <a:p>
            <a:r>
              <a:rPr lang="en-US"/>
              <a:t>Approved 2021, WHO-recommended for children in high-transmission regions</a:t>
            </a:r>
          </a:p>
        </p:txBody>
      </p:sp>
    </p:spTree>
    <p:extLst>
      <p:ext uri="{BB962C8B-B14F-4D97-AF65-F5344CB8AC3E}">
        <p14:creationId xmlns:p14="http://schemas.microsoft.com/office/powerpoint/2010/main" val="177902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FAC21-A792-58D6-EEE0-7A974433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efficacy actually says, and what it does not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0D64B-6DDE-1C89-EEDC-CD29ACEED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Phase 3 efficacy against clinical malaria in children: approximately 36%</a:t>
            </a:r>
          </a:p>
          <a:p>
            <a:r>
              <a:rPr lang="en-US"/>
              <a:t>Efficacy is a per-child measure. Implementation science asks a population question</a:t>
            </a:r>
          </a:p>
          <a:p>
            <a:r>
              <a:rPr lang="en-US"/>
              <a:t>If efficacy is 36% and coverage is 50%, illness averted at population level is much lower than 36%</a:t>
            </a:r>
          </a:p>
          <a:p>
            <a:r>
              <a:rPr lang="en-US"/>
              <a:t>If coverage is 80%, illness averted is much closer to the biological ceiling</a:t>
            </a:r>
          </a:p>
          <a:p>
            <a:r>
              <a:rPr lang="en-US"/>
              <a:t>This is why coverage is the story</a:t>
            </a:r>
          </a:p>
        </p:txBody>
      </p:sp>
    </p:spTree>
    <p:extLst>
      <p:ext uri="{BB962C8B-B14F-4D97-AF65-F5344CB8AC3E}">
        <p14:creationId xmlns:p14="http://schemas.microsoft.com/office/powerpoint/2010/main" val="2455956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E6BC-3431-5A65-9B11-9C01BF6E7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we measured it - four countries, five 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4162D-E701-4315-FE4E-B566FD0F3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Kintampo (Ghana), Kilifi (Kenya), Manhica (Mozambique), Nanoro (Burkina Faso), Bagamoyo (Tanzania)</a:t>
            </a:r>
          </a:p>
          <a:p>
            <a:r>
              <a:rPr lang="en-US"/>
              <a:t>Coverage = doses delivered / eligible birth cohort in the current protocol amendment window</a:t>
            </a:r>
          </a:p>
          <a:p>
            <a:r>
              <a:rPr lang="en-US"/>
              <a:t>Two-source verification per site: raw field-data pipeline against partner sign-off</a:t>
            </a:r>
          </a:p>
          <a:p>
            <a:r>
              <a:rPr lang="en-US"/>
              <a:t>This is not a chart-review methodology, this is a reconciliation methodology</a:t>
            </a:r>
          </a:p>
        </p:txBody>
      </p:sp>
    </p:spTree>
    <p:extLst>
      <p:ext uri="{BB962C8B-B14F-4D97-AF65-F5344CB8AC3E}">
        <p14:creationId xmlns:p14="http://schemas.microsoft.com/office/powerpoint/2010/main" val="274289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24C6-77FD-0ADF-F296-C002798E9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found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F35D7-6275-EB09-AB40-664ED9856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Kintampo: 68.4%   |   Kilifi: 79.6% (open)   |   Manhica: 81.1%</a:t>
            </a:r>
          </a:p>
          <a:p>
            <a:r>
              <a:rPr lang="en-US"/>
              <a:t>Nanoro: 73.4%   |   Bagamoyo: 85.4%</a:t>
            </a:r>
          </a:p>
          <a:p>
            <a:r>
              <a:rPr lang="en-US"/>
              <a:t>Aggregate weighted coverage across 4,382 enrolled encounters: 77.2%</a:t>
            </a:r>
          </a:p>
          <a:p>
            <a:r>
              <a:rPr lang="en-US"/>
              <a:t>One site carries an open conclusion because sources disagreed - we did not force a verdict</a:t>
            </a:r>
          </a:p>
        </p:txBody>
      </p:sp>
    </p:spTree>
    <p:extLst>
      <p:ext uri="{BB962C8B-B14F-4D97-AF65-F5344CB8AC3E}">
        <p14:creationId xmlns:p14="http://schemas.microsoft.com/office/powerpoint/2010/main" val="254624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C539-2C03-AFE1-DD73-CE96F199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Illness averted, translated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9BB36-C720-1952-C510-2D8C8DE67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Assuming per-child efficacy of 36% and site-averaged baseline incidence of 312 clinical episodes per 1000 children</a:t>
            </a:r>
          </a:p>
          <a:p>
            <a:r>
              <a:rPr lang="en-US"/>
              <a:t>Approximately 380 clinical malaria episodes averted across the cohort at current coverage</a:t>
            </a:r>
          </a:p>
          <a:p>
            <a:r>
              <a:rPr lang="en-US"/>
              <a:t>Range with open-conclusion site: 361 to 401</a:t>
            </a:r>
          </a:p>
          <a:p>
            <a:r>
              <a:rPr lang="en-US"/>
              <a:t>For general pediatrics: this is what real-world coverage buys you in cases that never happen</a:t>
            </a:r>
          </a:p>
        </p:txBody>
      </p:sp>
    </p:spTree>
    <p:extLst>
      <p:ext uri="{BB962C8B-B14F-4D97-AF65-F5344CB8AC3E}">
        <p14:creationId xmlns:p14="http://schemas.microsoft.com/office/powerpoint/2010/main" val="2932671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6C86A-6BC9-B137-D551-217346FBD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we hold an open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A90FF-642E-9043-7F18-E8E71C542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site had a delta of 33 doses between raw encounter data and partner sign-off</a:t>
            </a:r>
          </a:p>
          <a:p>
            <a:r>
              <a:rPr lang="en-US"/>
              <a:t>Two possibilities: partner sign-off lags real delivery, or pipeline double-counts a week</a:t>
            </a:r>
          </a:p>
          <a:p>
            <a:r>
              <a:rPr lang="en-US"/>
              <a:t>Conservative posture: report as range, not point estimate</a:t>
            </a:r>
          </a:p>
          <a:p>
            <a:r>
              <a:rPr lang="en-US"/>
              <a:t>This is what scientific honesty looks like when the data does not agree</a:t>
            </a:r>
          </a:p>
        </p:txBody>
      </p:sp>
    </p:spTree>
    <p:extLst>
      <p:ext uri="{BB962C8B-B14F-4D97-AF65-F5344CB8AC3E}">
        <p14:creationId xmlns:p14="http://schemas.microsoft.com/office/powerpoint/2010/main" val="462122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41511-A948-548E-FBCD-D690F7BC3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implementation science looks like in your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D1113-49BA-5F7D-6484-B1639EC32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Substitute 'RTS,S coverage in Kilifi' with 'HPV coverage in your rising 7th graders'</a:t>
            </a:r>
          </a:p>
          <a:p>
            <a:r>
              <a:rPr lang="en-US"/>
              <a:t>Substitute 'partner sign-off vs pipeline' with 'chart claim vs registry'</a:t>
            </a:r>
          </a:p>
          <a:p>
            <a:r>
              <a:rPr lang="en-US"/>
              <a:t>The methodology travels. The judgment travels. Multi-source reconciliation is not overhead - it is the work</a:t>
            </a:r>
          </a:p>
          <a:p>
            <a:r>
              <a:rPr lang="en-US"/>
              <a:t>This is why some of us fellowship into implementation science instead of bench discovery</a:t>
            </a:r>
          </a:p>
        </p:txBody>
      </p:sp>
    </p:spTree>
    <p:extLst>
      <p:ext uri="{BB962C8B-B14F-4D97-AF65-F5344CB8AC3E}">
        <p14:creationId xmlns:p14="http://schemas.microsoft.com/office/powerpoint/2010/main" val="4111808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B1BC-D5DA-34CE-66FE-B0B268F3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next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4A915-FFA5-98C2-86F0-1C4F6FD7D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R21 to NIAID under review, extends reconciliation methodology to a larger site set</a:t>
            </a:r>
          </a:p>
          <a:p>
            <a:r>
              <a:rPr lang="en-US"/>
              <a:t>Manuscript submission after this fortnight</a:t>
            </a:r>
          </a:p>
          <a:p>
            <a:r>
              <a:rPr lang="en-US"/>
              <a:t>Field-site partnerships continuing through University of Colorado co-PI structure</a:t>
            </a:r>
          </a:p>
          <a:p>
            <a:r>
              <a:rPr lang="en-US"/>
              <a:t>General pediatrics implications: the same methods work on the domestic vaccine coverage questions we all live with</a:t>
            </a:r>
          </a:p>
        </p:txBody>
      </p:sp>
    </p:spTree>
    <p:extLst>
      <p:ext uri="{BB962C8B-B14F-4D97-AF65-F5344CB8AC3E}">
        <p14:creationId xmlns:p14="http://schemas.microsoft.com/office/powerpoint/2010/main" val="2907525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5715B-DD1F-5126-C27B-65279C92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Acknowledgments and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41445-BFD3-59C2-59F4-DD596A10A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Kevin Osborne (Glenwood College) - mentor</a:t>
            </a:r>
          </a:p>
          <a:p>
            <a:r>
              <a:rPr lang="en-US"/>
              <a:t>Sarah Kelley (University of Colorado) - co-PI</a:t>
            </a:r>
          </a:p>
          <a:p>
            <a:r>
              <a:rPr lang="en-US"/>
              <a:t>Site PIs, field coordinators, WHO and UNICEF collaborators</a:t>
            </a:r>
          </a:p>
          <a:p>
            <a:r>
              <a:rPr lang="en-US"/>
              <a:t>Grateful to CHOA general pediatrics for the invitation and the room</a:t>
            </a:r>
          </a:p>
          <a:p>
            <a:r>
              <a:rPr lang="en-US"/>
              <a:t>Questions welcome</a:t>
            </a:r>
          </a:p>
        </p:txBody>
      </p:sp>
    </p:spTree>
    <p:extLst>
      <p:ext uri="{BB962C8B-B14F-4D97-AF65-F5344CB8AC3E}">
        <p14:creationId xmlns:p14="http://schemas.microsoft.com/office/powerpoint/2010/main" val="2943102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Widescreen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Malaria Vaccine Implementation</vt:lpstr>
      <vt:lpstr>Why this matters to a general pediatrics room</vt:lpstr>
      <vt:lpstr>The disease burden, briefly</vt:lpstr>
      <vt:lpstr>What efficacy actually says, and what it does not</vt:lpstr>
      <vt:lpstr>How we measured it - four countries, five sites</vt:lpstr>
      <vt:lpstr>What we found</vt:lpstr>
      <vt:lpstr>Illness averted, translated</vt:lpstr>
      <vt:lpstr>Why we hold an open conclusion</vt:lpstr>
      <vt:lpstr>What implementation science looks like in your practice</vt:lpstr>
      <vt:lpstr>What is next</vt:lpstr>
      <vt:lpstr>Acknowledgments and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2026-07-07T03:00:28Z</dcterms:created>
  <dcterms:modified xsi:type="dcterms:W3CDTF">2026-07-07T03:00:28Z</dcterms:modified>
</cp:coreProperties>
</file>