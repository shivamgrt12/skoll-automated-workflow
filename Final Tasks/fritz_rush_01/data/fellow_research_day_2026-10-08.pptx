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AE65D2-2BB9-45E7-A9C1-B4E5D535BBD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9025F-18C1-45DA-91E6-37D09FBF5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3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025F-18C1-45DA-91E6-37D09FBF5F1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91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025F-18C1-45DA-91E6-37D09FBF5F1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26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025F-18C1-45DA-91E6-37D09FBF5F1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20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025F-18C1-45DA-91E6-37D09FBF5F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12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025F-18C1-45DA-91E6-37D09FBF5F1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06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025F-18C1-45DA-91E6-37D09FBF5F1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82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025F-18C1-45DA-91E6-37D09FBF5F1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18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025F-18C1-45DA-91E6-37D09FBF5F1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08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025F-18C1-45DA-91E6-37D09FBF5F1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03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025F-18C1-45DA-91E6-37D09FBF5F1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42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1FB4-B33B-29FD-3A2C-42A7EA522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0D038-F219-0DA8-E956-85C908927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8D677-6C92-F176-C68D-0F1B76E65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557A0-448D-5948-8F3E-10A88CAC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FB5FB-F9E3-6926-6CA1-2C2B51F5A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42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0530-5811-CF49-B0DB-944E36378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B1D02-976F-83C7-9C1B-51FDF5819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09388-F8B4-AF6C-EBE1-67152BAE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4B034-7E8B-D7C0-65DD-51F817BC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AB77B-5906-E759-9F7D-09BE7264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4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1DF1-286E-1A13-DBB1-496F85C69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FEACE-AD2F-7123-5BB7-C791C252A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3FEF8-7D57-8969-889E-C562D9A44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60B74-5EB3-F120-BEBC-67F983A3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9B365-BECB-39CA-D34E-2450054C7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22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D734A-6331-F561-4F5E-EBE5A2A69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A9A77-28FC-44ED-C4C7-83594B764F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A5C70-0BB7-487F-7BD1-F4D5E359C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3C616-71DB-FBB3-1CE6-E851FA3B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F290B-550A-3FA4-024B-98028A4A3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2DE95-000A-660E-B793-E4ABB61A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4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68B1D-2864-10B7-A2CF-4339C7A8B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24384-BE52-5052-4516-582D3D36C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87791B-9A88-11F9-BA46-C5A6BB754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D8760-359A-C361-6A9A-652BC3E77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1D3FC-0B52-0A42-BB46-E4C4132D94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C6E7DC-81F2-C753-D7C8-D3CAFB02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E161D-1677-4B75-91DB-EE90807E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2BE621-4698-115F-D885-DE3A90B7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0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7943-7560-7720-6E1C-42ADADA5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3472D-8A51-4189-F355-1F602F57D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763EB-2A9C-5C5B-DDF3-46F76D1B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2B8A3-CA9B-B85F-5CF5-887A265C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393E5-202C-807A-3368-F1211D71B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55741-B976-D8EB-C17F-DB5343BF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5C9B8-ADE9-3F0F-1FDF-7AFCD4FB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6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E612-86E7-4018-31C6-2078A966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FC90E-47E2-9EEE-24C9-C124010D1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E3E6F-E423-B5CF-AAAC-15404B732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0D012-92EC-C16D-3234-8A2B3BDB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BB143-A8D9-B287-4239-5154C182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DB7C5-E5F7-6788-CD49-CA56FDEEE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3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DC00-028D-1033-C752-77DB29A5F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A5B1B-F677-FB5E-4CE9-4EDC65A8B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DF975-C286-D193-6486-BDED474A9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91225-4D1E-1513-39F6-41C6E125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1016C-EF3A-FBFC-8564-E41936B1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D82C8-7C13-8B85-FF4C-CEF4283EF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3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CC58-66B4-ECB4-7DFB-8380E86B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92D1F-CBA9-B370-CA46-B0CE08309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2D34C-BF74-F737-A901-52A7B067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46541-20DC-AF93-5152-74627EEA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D6D8C-E307-C467-2C28-731C69DC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13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2D1E84-8E58-222C-02AB-C0CB1662B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53D58-12AB-1AE9-0081-FA7016C20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3FD65-803C-9644-6D6D-7EC77C3D4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DF2FC-87D1-14D6-D0F9-82214DE51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D80D-BDD1-A7A6-A749-A9918CB6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66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842CF-C18E-3C97-29A2-A78C1EB4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F5D6C-3670-AADD-057E-23E751E25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9D525-4423-6304-B5A3-FF307B35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B2396-688D-3B76-219B-8F031822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44038-DA86-1662-98C7-9739E586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7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219C96-712C-875A-A42E-DE31A6A83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BC5AF-B7DC-BCE9-64C4-3854BC961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3DB1A-B3B0-770F-77E5-73D5C86355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7EA1C-18F0-4F20-979E-BDEAE0AB5268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CFE99-4F05-2994-701C-5927E12F0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AF119-07F7-136B-5911-2B138CE8E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61EA1-4CBE-4C1A-A993-B72DD14DE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45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D8455-A3F9-AF31-94B6-D5001C142E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RTS,S Malaria Vaccine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B1E17-B681-8163-AEE5-0F60254519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Multi-site coverage and illness-averted read
Fellow Research Day - October 8, 2026
Fritz Rush, PGY-6 PID, Glenwood College
Mentor: Dr. Kevin Osborne  |  Co-PI: Dr. Sarah Kelley (UColorado)</a:t>
            </a:r>
          </a:p>
        </p:txBody>
      </p:sp>
    </p:spTree>
    <p:extLst>
      <p:ext uri="{BB962C8B-B14F-4D97-AF65-F5344CB8AC3E}">
        <p14:creationId xmlns:p14="http://schemas.microsoft.com/office/powerpoint/2010/main" val="1627313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AD845-7CDF-4AF5-CEF5-87DE4764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5D50D-7840-E002-9B8F-86098319C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RTS,S/AS01 is the first WHO-recommended malaria vaccine</a:t>
            </a:r>
          </a:p>
          <a:p>
            <a:r>
              <a:rPr lang="en-US"/>
              <a:t>Efficacy against clinical malaria in children: ~36% per Phase 3</a:t>
            </a:r>
          </a:p>
          <a:p>
            <a:r>
              <a:rPr lang="en-US"/>
              <a:t>Implementation science question: does real-world coverage in sub-Saharan African cohorts reach the level needed for population-level illness averted</a:t>
            </a:r>
          </a:p>
          <a:p>
            <a:r>
              <a:rPr lang="en-US"/>
              <a:t>Our study: five field sites across four countries, multi-year cohort, University of Colorado partnership</a:t>
            </a:r>
          </a:p>
          <a:p>
            <a:r>
              <a:rPr lang="en-US"/>
              <a:t>Preliminary internal read for the fellowship - external publication windows are IDWeek (Oct 15-19) and Grand Rounds (Oct 22)</a:t>
            </a:r>
          </a:p>
        </p:txBody>
      </p:sp>
    </p:spTree>
    <p:extLst>
      <p:ext uri="{BB962C8B-B14F-4D97-AF65-F5344CB8AC3E}">
        <p14:creationId xmlns:p14="http://schemas.microsoft.com/office/powerpoint/2010/main" val="1073739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E5F4F-383D-BB03-A882-89D4DCB2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0A617-7C92-86B2-5629-A4B68D833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Prospective observational implementation cohort</a:t>
            </a:r>
          </a:p>
          <a:p>
            <a:r>
              <a:rPr lang="en-US"/>
              <a:t>Denominator: eligible birth cohort per site under ethics amendment 4 window</a:t>
            </a:r>
          </a:p>
          <a:p>
            <a:r>
              <a:rPr lang="en-US"/>
              <a:t>Numerator: RTS,S doses administered per protocol</a:t>
            </a:r>
          </a:p>
          <a:p>
            <a:r>
              <a:rPr lang="en-US"/>
              <a:t>Coverage = doses / eligible birth cohort</a:t>
            </a:r>
          </a:p>
          <a:p>
            <a:r>
              <a:rPr lang="en-US"/>
              <a:t>Illness averted = Sigma (site coverage x site birth cohort x efficacy fraction 0.36 x site-specific baseline malaria incidence per 1000)</a:t>
            </a:r>
          </a:p>
          <a:p>
            <a:r>
              <a:rPr lang="en-US"/>
              <a:t>Two-source verification per site: Dropbox raw pipeline reconciled against Salesforce partner sign-off</a:t>
            </a:r>
          </a:p>
          <a:p>
            <a:r>
              <a:rPr lang="en-US"/>
              <a:t>Open conclusion where sources disagree - no forced verdict</a:t>
            </a:r>
          </a:p>
        </p:txBody>
      </p:sp>
    </p:spTree>
    <p:extLst>
      <p:ext uri="{BB962C8B-B14F-4D97-AF65-F5344CB8AC3E}">
        <p14:creationId xmlns:p14="http://schemas.microsoft.com/office/powerpoint/2010/main" val="1236552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3ACC-0DDA-730E-0483-5007BC4A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Per-site coverage (preliminary)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AC36B-BCD9-95C3-A79C-E84D8A2F6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Kintampo, Ghana: 68.4% (locked)</a:t>
            </a:r>
          </a:p>
          <a:p>
            <a:r>
              <a:rPr lang="en-US"/>
              <a:t>Kilifi, Kenya: 79.6% (OPEN CONCLUSION - encounter count and partner sign-off disagree by 33 doses)</a:t>
            </a:r>
          </a:p>
          <a:p>
            <a:r>
              <a:rPr lang="en-US"/>
              <a:t>Manhica, Mozambique: 81.1% (locked)</a:t>
            </a:r>
          </a:p>
          <a:p>
            <a:r>
              <a:rPr lang="en-US"/>
              <a:t>Nanoro, Burkina Faso: 73.4% (locked)</a:t>
            </a:r>
          </a:p>
          <a:p>
            <a:r>
              <a:rPr lang="en-US"/>
              <a:t>Bagamoyo, Tanzania: 85.4% (locked)</a:t>
            </a:r>
          </a:p>
          <a:p>
            <a:r>
              <a:rPr lang="en-US"/>
              <a:t>Total enrolled: 4,382 encounters (Dropbox pipeline of record)</a:t>
            </a:r>
          </a:p>
          <a:p>
            <a:r>
              <a:rPr lang="en-US"/>
              <a:t>Weighted aggregate: 77.2%</a:t>
            </a:r>
          </a:p>
        </p:txBody>
      </p:sp>
    </p:spTree>
    <p:extLst>
      <p:ext uri="{BB962C8B-B14F-4D97-AF65-F5344CB8AC3E}">
        <p14:creationId xmlns:p14="http://schemas.microsoft.com/office/powerpoint/2010/main" val="3981348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B8E2-427E-11BE-524B-504EB1520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Illness averted (point estimate)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0662D-1448-2A5A-D80E-93E734CBE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Assumed efficacy fraction: 0.36 (per RTS,S Phase 3, held constant across sites for this pass)</a:t>
            </a:r>
          </a:p>
          <a:p>
            <a:r>
              <a:rPr lang="en-US"/>
              <a:t>Site-averaged baseline malaria incidence: 312 per 1000</a:t>
            </a:r>
          </a:p>
          <a:p>
            <a:r>
              <a:rPr lang="en-US"/>
              <a:t>Point estimate: 380 cases of clinical malaria averted across the cohort</a:t>
            </a:r>
          </a:p>
          <a:p>
            <a:r>
              <a:rPr lang="en-US"/>
              <a:t>Range with Kilifi open conclusion: 361 to 401</a:t>
            </a:r>
          </a:p>
          <a:p>
            <a:r>
              <a:rPr lang="en-US"/>
              <a:t>Interpretation: coverage is high enough at four of five sites to hit meaningful illness-averted numbers</a:t>
            </a:r>
          </a:p>
        </p:txBody>
      </p:sp>
    </p:spTree>
    <p:extLst>
      <p:ext uri="{BB962C8B-B14F-4D97-AF65-F5344CB8AC3E}">
        <p14:creationId xmlns:p14="http://schemas.microsoft.com/office/powerpoint/2010/main" val="3293640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D923-2DF0-BC53-BB2A-F99CF7E4F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Cross-source reconciliation - what we set aside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FB71B-1671-3122-0516-2C09BA5A3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Confluence protocol page v3.2 shows Ghana coverage at 62.0% - stale, predates Amendment 4</a:t>
            </a:r>
          </a:p>
          <a:p>
            <a:r>
              <a:rPr lang="en-US"/>
              <a:t>Slack #rtss-colorado pinned message from May shows 71.0% - obsolete</a:t>
            </a:r>
          </a:p>
          <a:p>
            <a:r>
              <a:rPr lang="en-US"/>
              <a:t>Airtable manuscript pipeline row #17 shows 4,127 enrolled encounters - stale August snapshot</a:t>
            </a:r>
          </a:p>
          <a:p>
            <a:r>
              <a:rPr lang="en-US"/>
              <a:t>Winning rule: newest and closest to source. Jira delivery tickets + Dropbox raw pipeline + Salesforce partner sign-off</a:t>
            </a:r>
          </a:p>
          <a:p>
            <a:r>
              <a:rPr lang="en-US"/>
              <a:t>This is what we take to IDWeek. This is what we take to Grand Rounds. This is what goes on the record.</a:t>
            </a:r>
          </a:p>
        </p:txBody>
      </p:sp>
    </p:spTree>
    <p:extLst>
      <p:ext uri="{BB962C8B-B14F-4D97-AF65-F5344CB8AC3E}">
        <p14:creationId xmlns:p14="http://schemas.microsoft.com/office/powerpoint/2010/main" val="2996204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6D0E0-60E6-2193-B8CB-5BDA6CA25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 conclusions and what would collapse them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E923B-3906-4816-7D6A-1DAE96FBC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Kilifi: encounter count 815 vs partner sign-off 782 (delta 33 doses)</a:t>
            </a:r>
          </a:p>
          <a:p>
            <a:r>
              <a:rPr lang="en-US"/>
              <a:t>Two hypotheses: (1) partner sign-off lags real delivery, (2) raw pipeline double-counts a delivery week</a:t>
            </a:r>
          </a:p>
          <a:p>
            <a:r>
              <a:rPr lang="en-US"/>
              <a:t>Next step: WhatsApp field-coordinator sync with Kilifi PI before IDWeek departure</a:t>
            </a:r>
          </a:p>
          <a:p>
            <a:r>
              <a:rPr lang="en-US"/>
              <a:t>Do not force this into a locked figure for IDWeek. Present as range.</a:t>
            </a:r>
          </a:p>
        </p:txBody>
      </p:sp>
    </p:spTree>
    <p:extLst>
      <p:ext uri="{BB962C8B-B14F-4D97-AF65-F5344CB8AC3E}">
        <p14:creationId xmlns:p14="http://schemas.microsoft.com/office/powerpoint/2010/main" val="67487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D74C-603A-C1BA-7B4E-F14BC340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R21 status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9C5F9-18AE-651A-48A3-B8A8AADFA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R21 submitted to NIAID February 2026</a:t>
            </a:r>
          </a:p>
          <a:p>
            <a:r>
              <a:rPr lang="en-US"/>
              <a:t>Summary statement expected in this fortnight window</a:t>
            </a:r>
          </a:p>
          <a:p>
            <a:r>
              <a:rPr lang="en-US"/>
              <a:t>Response memo staged and awaiting mentor sit-down with Kevin</a:t>
            </a:r>
          </a:p>
          <a:p>
            <a:r>
              <a:rPr lang="en-US"/>
              <a:t>Do not preview R21 direction in the WordPress blog or on Twitter</a:t>
            </a:r>
          </a:p>
        </p:txBody>
      </p:sp>
    </p:spTree>
    <p:extLst>
      <p:ext uri="{BB962C8B-B14F-4D97-AF65-F5344CB8AC3E}">
        <p14:creationId xmlns:p14="http://schemas.microsoft.com/office/powerpoint/2010/main" val="317214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695A8-822D-8C9E-E3DD-5EA88360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 into IDWeek and Grand Rounds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94E0D-88A4-8FD1-B690-4DCFEFAE7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Kilifi open conclusion resolution attempt before Oct 15 departure</a:t>
            </a:r>
          </a:p>
          <a:p>
            <a:r>
              <a:rPr lang="en-US"/>
              <a:t>Same figure set across poster, short talk, and CHOA Grand Rounds</a:t>
            </a:r>
          </a:p>
          <a:p>
            <a:r>
              <a:rPr lang="en-US"/>
              <a:t>No same-site figure allowed to drift between audiences</a:t>
            </a:r>
          </a:p>
          <a:p>
            <a:r>
              <a:rPr lang="en-US"/>
              <a:t>Kevin sit-down at IDWeek for R21 response memo walk-through</a:t>
            </a:r>
          </a:p>
        </p:txBody>
      </p:sp>
    </p:spTree>
    <p:extLst>
      <p:ext uri="{BB962C8B-B14F-4D97-AF65-F5344CB8AC3E}">
        <p14:creationId xmlns:p14="http://schemas.microsoft.com/office/powerpoint/2010/main" val="1386069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938E0-BA07-2E22-4DF5-3FD7ADC7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909FC-0F25-0ABC-690C-7DB1A498C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Methodology questions welcome</a:t>
            </a:r>
          </a:p>
          <a:p>
            <a:r>
              <a:rPr lang="en-US"/>
              <a:t>Denominator definition, amendment window, efficacy assumption held constant across sites</a:t>
            </a:r>
          </a:p>
          <a:p>
            <a:r>
              <a:rPr lang="en-US"/>
              <a:t>Backup slides available on sensitivity analyses</a:t>
            </a:r>
          </a:p>
          <a:p>
            <a:r>
              <a:rPr lang="en-US"/>
              <a:t>Contact: fritz.rush at Finthesiss.ai</a:t>
            </a:r>
          </a:p>
        </p:txBody>
      </p:sp>
    </p:spTree>
    <p:extLst>
      <p:ext uri="{BB962C8B-B14F-4D97-AF65-F5344CB8AC3E}">
        <p14:creationId xmlns:p14="http://schemas.microsoft.com/office/powerpoint/2010/main" val="3848395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Widescreen</PresentationFormat>
  <Paragraphs>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RTS,S Malaria Vaccine Implementation</vt:lpstr>
      <vt:lpstr>Background</vt:lpstr>
      <vt:lpstr>Methods</vt:lpstr>
      <vt:lpstr>Per-site coverage (preliminary)</vt:lpstr>
      <vt:lpstr>Illness averted (point estimate)</vt:lpstr>
      <vt:lpstr>Cross-source reconciliation - what we set aside</vt:lpstr>
      <vt:lpstr>Open conclusions and what would collapse them</vt:lpstr>
      <vt:lpstr>R21 status</vt:lpstr>
      <vt:lpstr>Next steps into IDWeek and Grand Rounds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2026-07-07T03:00:25Z</dcterms:created>
  <dcterms:modified xsi:type="dcterms:W3CDTF">2026-07-07T03:00:25Z</dcterms:modified>
</cp:coreProperties>
</file>