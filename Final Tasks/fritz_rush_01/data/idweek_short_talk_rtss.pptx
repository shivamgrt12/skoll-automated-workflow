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52CA6B-3951-437C-BA3D-067098DD9FCA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63B7D9-D34E-4D4B-8D67-FE2E1DBE6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9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3B7D9-D34E-4D4B-8D67-FE2E1DBE6F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34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3B7D9-D34E-4D4B-8D67-FE2E1DBE6F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79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3B7D9-D34E-4D4B-8D67-FE2E1DBE6F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357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3B7D9-D34E-4D4B-8D67-FE2E1DBE6F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53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3B7D9-D34E-4D4B-8D67-FE2E1DBE6F7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177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3B7D9-D34E-4D4B-8D67-FE2E1DBE6F7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506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3B7D9-D34E-4D4B-8D67-FE2E1DBE6F7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70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3B7D9-D34E-4D4B-8D67-FE2E1DBE6F7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596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3B7D9-D34E-4D4B-8D67-FE2E1DBE6F7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90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7C8C0-5B61-212A-97ED-83C2B2326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CD6DC-52E5-9466-7716-9F8954BDB0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22352-A1F7-E6BA-731E-59F63A41E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96208-0A21-4577-827E-E7F57584DB5E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87E5E-ACA5-22FC-DEC3-77C95E4A1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2F40-2637-3ADA-A6E0-2F788EDB2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817C-9E7B-4EE7-91B7-4CB282394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32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F6EAC-15E1-45D4-3D0B-F857A9A03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F313D-5CA6-B551-F06B-CE451357A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DF17F-5912-C3CC-7627-4F9ECD4BC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96208-0A21-4577-827E-E7F57584DB5E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D7793-8179-A8B7-2F7E-1CD868049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81BAE-0899-5693-09E5-484C7D26D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817C-9E7B-4EE7-91B7-4CB282394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90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1060F-4376-4CFF-B87D-59DE8925B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D4D4F-150D-C90D-3052-17D667373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B1C70-2F44-A5AF-2AFF-12988D042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96208-0A21-4577-827E-E7F57584DB5E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7CFFE-1036-3B23-76A8-5A7891E28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51250-3D96-F0B5-17EA-ACE6B84AB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817C-9E7B-4EE7-91B7-4CB282394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51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17BDA-C9C4-F460-9792-3F4D0E83C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DAF98-FA38-D016-073D-3D06F230FD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B406B-0C66-7F01-1058-711A4D55D9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609D2-E420-BB19-662F-84CD3C8D1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96208-0A21-4577-827E-E7F57584DB5E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F49B7-CB84-B9E6-D9B1-B82287BB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A99DE-D32B-FEAA-9D31-5714F0289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817C-9E7B-4EE7-91B7-4CB282394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5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E9AB7-6CF5-5FA4-39F9-B9FED22DD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70A57-CA37-D4DC-569A-B9D2AAE5F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AC431-8558-73E9-B37A-8BD67AFCF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693BA8-8B98-AFD1-1768-C7042C7EC0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B9AD3-FBA1-E97D-1366-3787FBA879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2B8079-FCCF-9E13-C2C2-725CDF353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96208-0A21-4577-827E-E7F57584DB5E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7978E5-80CC-4093-7FE7-7F5AA75E8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5EA1B2-84A5-2F75-CD45-21A63989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817C-9E7B-4EE7-91B7-4CB282394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697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8D3DD-B34A-8AAD-FA59-0ECB6434D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9CE06D-D7BF-450B-779A-FEAEF4ECD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96208-0A21-4577-827E-E7F57584DB5E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2031DF-FBF8-328E-FC7B-231E0F423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ECEE46-F4B5-CAF2-5F77-A76A6F6C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817C-9E7B-4EE7-91B7-4CB282394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95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D45412-C8BA-D42F-B74E-13D1F809C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96208-0A21-4577-827E-E7F57584DB5E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CA7A33-26DA-3AF7-A37E-3067C834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09F32-67AE-69A0-E319-5519E3B6D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817C-9E7B-4EE7-91B7-4CB282394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27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AF7AA-3A62-9FE0-9270-100E23D9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8D854-D4E7-FE2B-4C55-7D1B6FC00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D4900-508E-5C42-0206-02DBBE537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0BF51-1222-1FC1-57FF-ED9324401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96208-0A21-4577-827E-E7F57584DB5E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7CBF1-4FE7-FCE0-A967-5894B2880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8157D0-6DFF-E2E3-A5C8-827F6B73E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817C-9E7B-4EE7-91B7-4CB282394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987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35455-9ECD-308E-A5BE-E2955390D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6F336F-F33E-5098-C3C0-13686034C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DE8B8-0B11-7CB2-627F-685375786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54365-840D-34B1-6875-F8C516E5F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96208-0A21-4577-827E-E7F57584DB5E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60CA8-6A3D-FDEC-B69D-F3684F0F4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31801-C402-73EA-2EA0-744787478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817C-9E7B-4EE7-91B7-4CB282394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460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47D9A-357D-677E-C6D1-0E2B3DC26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1155C-5C03-7B34-AA3D-DF9561787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260C-8760-6D12-D7F6-4ECC52FFF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96208-0A21-4577-827E-E7F57584DB5E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F3CFB-7BBD-D8E9-F811-9F30792EB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F7948-5174-FCB5-8B17-16BF2DAD8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817C-9E7B-4EE7-91B7-4CB282394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199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EC0435-9983-0462-984F-6D7E472FE3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37A7D-87A8-B7E0-5BE7-E07AEF810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FEC99-30D3-C838-259A-A4AA56472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96208-0A21-4577-827E-E7F57584DB5E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C45CB-C83D-D102-2B29-35A18B8BB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B44FD-8564-9230-43D1-1CD74234C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817C-9E7B-4EE7-91B7-4CB282394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429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46A70-5808-CBA6-256E-87F63461F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E9A99-FE75-5DCD-D488-6E31C863B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007BF-0AD9-A3D2-2AB3-CC3AC3C3C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96208-0A21-4577-827E-E7F57584DB5E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06517-028A-8B0B-609F-9368D46D9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5C71B-E09B-8025-4640-FAB2A0F5A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817C-9E7B-4EE7-91B7-4CB282394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90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FA0C8-807C-1E93-96EF-E62DBB466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CC450-90D2-B16F-E6CD-032277468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A372D-A515-3969-1A07-6A570C86D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96208-0A21-4577-827E-E7F57584DB5E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EF560-6B9A-9273-0EE2-AD1CD172DA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98BDD-A6F8-FEB2-AC6B-A9A2DEFFD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A6817C-9E7B-4EE7-91B7-4CB282394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399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EF3E6-D339-EEC9-EB54-F4F3905A0B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RTS,S Implementation Coverage and Illness-Averted Estimates Across Four Sub-Saharan African Sites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7575FE-CB88-25CB-D264-C05D4DD416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IDWeek 2026 - October 17, 2026
Session: Vaccine Implementation and Delivery
Fritz Rush, MD, MPH  |  Glenwood College / Children's Healthcare of Atlanta
Collaborators: Sarah Kelley (UColorado), site PIs, Kevin Osborne</a:t>
            </a:r>
          </a:p>
        </p:txBody>
      </p:sp>
    </p:spTree>
    <p:extLst>
      <p:ext uri="{BB962C8B-B14F-4D97-AF65-F5344CB8AC3E}">
        <p14:creationId xmlns:p14="http://schemas.microsoft.com/office/powerpoint/2010/main" val="34485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62D2D-A5F8-2FB5-52E8-DA9265091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CF775-7D08-DECA-04A0-0CF550FD7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Does real-world RTS,S coverage in sub-Saharan African implementation cohorts reach the level needed for population-level clinical malaria averted</a:t>
            </a:r>
          </a:p>
          <a:p>
            <a:r>
              <a:rPr lang="en-US"/>
              <a:t>Bar for that answer: reconcile coverage across multiple field sites against protocol amendments, not just against an aggregate row</a:t>
            </a:r>
          </a:p>
        </p:txBody>
      </p:sp>
    </p:spTree>
    <p:extLst>
      <p:ext uri="{BB962C8B-B14F-4D97-AF65-F5344CB8AC3E}">
        <p14:creationId xmlns:p14="http://schemas.microsoft.com/office/powerpoint/2010/main" val="862470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44A2E-EBD9-AC28-A92B-86DAB1377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(30 seconds)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F262F-81D9-B22C-66E2-5B621B7CC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Prospective observational implementation cohort, five sites across four countries</a:t>
            </a:r>
          </a:p>
          <a:p>
            <a:r>
              <a:rPr lang="en-US"/>
              <a:t>Coverage = doses / eligible birth cohort (Amendment 4 window)</a:t>
            </a:r>
          </a:p>
          <a:p>
            <a:r>
              <a:rPr lang="en-US"/>
              <a:t>Two-source verification per site: Dropbox raw pipeline reconciled against Salesforce partner sign-off</a:t>
            </a:r>
          </a:p>
          <a:p>
            <a:r>
              <a:rPr lang="en-US"/>
              <a:t>Aggregate illness averted with the walked-out formula in backup</a:t>
            </a:r>
          </a:p>
        </p:txBody>
      </p:sp>
    </p:spTree>
    <p:extLst>
      <p:ext uri="{BB962C8B-B14F-4D97-AF65-F5344CB8AC3E}">
        <p14:creationId xmlns:p14="http://schemas.microsoft.com/office/powerpoint/2010/main" val="815805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B486C-2035-7167-473E-3FF81E0D4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Per-site coverage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856F4-1016-7F5F-50B5-021C44E06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Kintampo, Ghana: 68.4% (n=892 eligible cohort)</a:t>
            </a:r>
          </a:p>
          <a:p>
            <a:r>
              <a:rPr lang="en-US"/>
              <a:t>Kilifi, Kenya: 79.6% (n=1,024) - open conclusion, see limitations</a:t>
            </a:r>
          </a:p>
          <a:p>
            <a:r>
              <a:rPr lang="en-US"/>
              <a:t>Manhica, Mozambique: 81.1% (n=745)</a:t>
            </a:r>
          </a:p>
          <a:p>
            <a:r>
              <a:rPr lang="en-US"/>
              <a:t>Nanoro, Burkina Faso: 73.4% (n=981)</a:t>
            </a:r>
          </a:p>
          <a:p>
            <a:r>
              <a:rPr lang="en-US"/>
              <a:t>Bagamoyo, Tanzania: 85.4% (n=740)</a:t>
            </a:r>
          </a:p>
          <a:p>
            <a:r>
              <a:rPr lang="en-US"/>
              <a:t>Aggregate weighted coverage: 77.2% across 4,382 enrolled encounters</a:t>
            </a:r>
          </a:p>
        </p:txBody>
      </p:sp>
    </p:spTree>
    <p:extLst>
      <p:ext uri="{BB962C8B-B14F-4D97-AF65-F5344CB8AC3E}">
        <p14:creationId xmlns:p14="http://schemas.microsoft.com/office/powerpoint/2010/main" val="3660327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DE8A-981D-1FE9-9551-0C658259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Illness averted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BB336-EF52-D380-8ED9-EDAC73A99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Efficacy fraction: 0.36 (RTS,S Phase 3, held constant)</a:t>
            </a:r>
          </a:p>
          <a:p>
            <a:r>
              <a:rPr lang="en-US"/>
              <a:t>Site-averaged baseline incidence: 312 per 1000</a:t>
            </a:r>
          </a:p>
          <a:p>
            <a:r>
              <a:rPr lang="en-US"/>
              <a:t>Point estimate: 380 clinical malaria cases averted across cohort</a:t>
            </a:r>
          </a:p>
          <a:p>
            <a:r>
              <a:rPr lang="en-US"/>
              <a:t>Range accounting for Kilifi open conclusion: 361 to 401</a:t>
            </a:r>
          </a:p>
        </p:txBody>
      </p:sp>
    </p:spTree>
    <p:extLst>
      <p:ext uri="{BB962C8B-B14F-4D97-AF65-F5344CB8AC3E}">
        <p14:creationId xmlns:p14="http://schemas.microsoft.com/office/powerpoint/2010/main" val="1072879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2E10B-D790-27FD-C070-C5BAFAF94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4D64B-E3F4-3729-2E86-1A62313137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Kilifi encounter count (815) and partner sign-off (782) disagree by 33 doses</a:t>
            </a:r>
          </a:p>
          <a:p>
            <a:r>
              <a:rPr lang="en-US"/>
              <a:t>Conservative posture: report as range, do not force a verdict</a:t>
            </a:r>
          </a:p>
          <a:p>
            <a:r>
              <a:rPr lang="en-US"/>
              <a:t>Baseline incidence held site-averaged rather than site-specific in this pass</a:t>
            </a:r>
          </a:p>
          <a:p>
            <a:r>
              <a:rPr lang="en-US"/>
              <a:t>Cross-source reconciliation surfaced two stale documents (Confluence v3.2, Airtable pipeline row #17) that we set aside</a:t>
            </a:r>
          </a:p>
        </p:txBody>
      </p:sp>
    </p:spTree>
    <p:extLst>
      <p:ext uri="{BB962C8B-B14F-4D97-AF65-F5344CB8AC3E}">
        <p14:creationId xmlns:p14="http://schemas.microsoft.com/office/powerpoint/2010/main" val="1306579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B34B7-8DBE-BB36-CB73-C41E75175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48960-7216-5B49-581A-FAFF70CE4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Four of five sites clear coverage thresholds associated with meaningful illness averted</a:t>
            </a:r>
          </a:p>
          <a:p>
            <a:r>
              <a:rPr lang="en-US"/>
              <a:t>Real-world implementation is heterogeneous - single-site studies would miss this</a:t>
            </a:r>
          </a:p>
          <a:p>
            <a:r>
              <a:rPr lang="en-US"/>
              <a:t>Multi-source reconciliation is not a project-management overhead - it is the analysis</a:t>
            </a:r>
          </a:p>
          <a:p>
            <a:r>
              <a:rPr lang="en-US"/>
              <a:t>R21 direction: extend the reconciliation methodology to a larger site set (under review, NIAID)</a:t>
            </a:r>
          </a:p>
        </p:txBody>
      </p:sp>
    </p:spTree>
    <p:extLst>
      <p:ext uri="{BB962C8B-B14F-4D97-AF65-F5344CB8AC3E}">
        <p14:creationId xmlns:p14="http://schemas.microsoft.com/office/powerpoint/2010/main" val="1449768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75339-FE56-C0C4-E9DB-21617692B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Acknowledgments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25B48-0183-D81E-6E5B-C749EB1ED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Kevin Osborne (Glenwood College)</a:t>
            </a:r>
          </a:p>
          <a:p>
            <a:r>
              <a:rPr lang="en-US"/>
              <a:t>Sarah Kelley (University of Colorado)</a:t>
            </a:r>
          </a:p>
          <a:p>
            <a:r>
              <a:rPr lang="en-US"/>
              <a:t>Site PIs and field coordinators at Kintampo, Kilifi, Manhica, Nanoro, and Bagamoyo</a:t>
            </a:r>
          </a:p>
          <a:p>
            <a:r>
              <a:rPr lang="en-US"/>
              <a:t>WHO and UNICEF pediatric malaria vaccine implementation groups</a:t>
            </a:r>
          </a:p>
          <a:p>
            <a:r>
              <a:rPr lang="en-US"/>
              <a:t>Funding acknowledgment per submitted grant</a:t>
            </a:r>
          </a:p>
        </p:txBody>
      </p:sp>
    </p:spTree>
    <p:extLst>
      <p:ext uri="{BB962C8B-B14F-4D97-AF65-F5344CB8AC3E}">
        <p14:creationId xmlns:p14="http://schemas.microsoft.com/office/powerpoint/2010/main" val="1090998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D76A7-0CD1-AF9A-E6A6-A4C9AC85F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Backup - illness averted formula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B0280-7A82-8FA1-076C-555A7D46A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Site illness averted = site coverage x site birth cohort x efficacy fraction x site baseline incidence per 1000</a:t>
            </a:r>
          </a:p>
          <a:p>
            <a:r>
              <a:rPr lang="en-US"/>
              <a:t>Aggregate = sum of site-level illness averted</a:t>
            </a:r>
          </a:p>
          <a:p>
            <a:r>
              <a:rPr lang="en-US"/>
              <a:t>For this pass: efficacy = 0.36 (per protocol), baseline incidence = 312/1000 site-averaged</a:t>
            </a:r>
          </a:p>
          <a:p>
            <a:r>
              <a:rPr lang="en-US"/>
              <a:t>Full walked-out calc in coverage_illness_averted_calc.pdf</a:t>
            </a:r>
          </a:p>
        </p:txBody>
      </p:sp>
    </p:spTree>
    <p:extLst>
      <p:ext uri="{BB962C8B-B14F-4D97-AF65-F5344CB8AC3E}">
        <p14:creationId xmlns:p14="http://schemas.microsoft.com/office/powerpoint/2010/main" val="2319318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</Words>
  <Application>Microsoft Office PowerPoint</Application>
  <PresentationFormat>Widescreen</PresentationFormat>
  <Paragraphs>52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RTS,S Implementation Coverage and Illness-Averted Estimates Across Four Sub-Saharan African Sites</vt:lpstr>
      <vt:lpstr>Question</vt:lpstr>
      <vt:lpstr>Methods (30 seconds)</vt:lpstr>
      <vt:lpstr>Per-site coverage</vt:lpstr>
      <vt:lpstr>Illness averted</vt:lpstr>
      <vt:lpstr>Limitations</vt:lpstr>
      <vt:lpstr>Implications</vt:lpstr>
      <vt:lpstr>Acknowledgments</vt:lpstr>
      <vt:lpstr>Backup - illness averted formula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2026-07-07T03:00:27Z</dcterms:created>
  <dcterms:modified xsi:type="dcterms:W3CDTF">2026-07-07T03:00:27Z</dcterms:modified>
</cp:coreProperties>
</file>