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Grade Points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AP Eng Lit</c:v>
                </c:pt>
                <c:pt idx="1">
                  <c:v>AP Calc AB</c:v>
                </c:pt>
                <c:pt idx="2">
                  <c:v>Physics</c:v>
                </c:pt>
                <c:pt idx="3">
                  <c:v>US Gov</c:v>
                </c:pt>
                <c:pt idx="4">
                  <c:v>Creative Writing</c:v>
                </c:pt>
                <c:pt idx="5">
                  <c:v>Ensemble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</c:v>
                </c:pt>
                <c:pt idx="1">
                  <c:v>3.3</c:v>
                </c:pt>
                <c:pt idx="2">
                  <c:v>3.3</c:v>
                </c:pt>
                <c:pt idx="3">
                  <c:v>3.7</c:v>
                </c:pt>
                <c:pt idx="4">
                  <c:v>4.0</c:v>
                </c:pt>
                <c:pt idx="5">
                  <c:v>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AF4E8"/>
                </a:solidFill>
                <a:latin typeface="Palatino Linotype"/>
              </a:rPr>
              <a:t>GERALD THOMAS ELLISON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C9A84C"/>
                </a:solidFill>
                <a:latin typeface="Calibri"/>
              </a:rPr>
              <a:t>Music Performance Audition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834640"/>
            <a:ext cx="3044952" cy="54864"/>
          </a:xfrm>
          <a:prstGeom prst="rect">
            <a:avLst/>
          </a:prstGeom>
          <a:solidFill>
            <a:srgbClr val="DC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AF4E8"/>
                </a:solidFill>
                <a:latin typeface="Calibri"/>
              </a:rPr>
              <a:t>Lakemont College · Music Performance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D7B9"/>
                </a:solidFill>
                <a:latin typeface="Calibri"/>
              </a:rPr>
              <a:t>Audition Date: June 5, 2027  ·  Performing Arts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CC3A5"/>
                </a:solidFill>
                <a:latin typeface="Calibri"/>
              </a:rPr>
              <a:t>Primary: Fiddle (10 years)  ·  Secondary: Mandolin (5 years)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AF91"/>
                </a:solidFill>
                <a:latin typeface="Calibri"/>
              </a:rPr>
              <a:t>Student Director, The Ridgewood Ramblers  ·  Ridgewood High School, Columbus, Ohio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49678"/>
                </a:solidFill>
                <a:latin typeface="Calibri"/>
              </a:rPr>
              <a:t>Prepared with Mr. David Crawford, Bluegrass Director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  <p:transition spd="slow">
    <p:dissolv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ARTIST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The music came to me before I understood what it meant. My grandfather Walter sat me down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in Harlan County with his fiddle when I was seven years old, and I have not set it down since.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Bluegrass is not a style I perform — it is the language my family speaks across generations.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I play fiddle the way some people tell stories, with intention, with the past in my hands,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and with the hope that whoever's in the room hears something real.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At Ridgewood High, I direct fourteen students as their student director and first fiddle.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I write original compositions in the iPhone notes app when the ideas won't wait for paper.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I have been preparing for this audition as the most honest performance of my life so far.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/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I am applying to Lakemont's Music Performance program because I want to be taught</a:t>
            </a:r>
          </a:p>
          <a:p>
            <a:pPr algn="l"/>
            <a:r>
              <a:rPr sz="1500">
                <a:solidFill>
                  <a:srgbClr val="FAF4E8"/>
                </a:solidFill>
                <a:latin typeface="Calibri"/>
              </a:rPr>
              <a:t>the way Mr. Crawford teaches: seriously, with craft, and without apology for the genre.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  <p:transition spd="slow">
    <p:dissolv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INSTRUMENTS &amp;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4E8"/>
                </a:solidFill>
                <a:latin typeface="Calibri"/>
              </a:rPr>
              <a:t>Fiddle — Competition Level (10 years)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55648"/>
            <a:ext cx="9144000" cy="201168"/>
          </a:xfrm>
          <a:prstGeom prst="rect">
            <a:avLst/>
          </a:prstGeom>
          <a:solidFill>
            <a:srgbClr val="32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55648"/>
            <a:ext cx="841248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17190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92%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4E8"/>
                </a:solidFill>
                <a:latin typeface="Calibri"/>
              </a:rPr>
              <a:t>Mandolin — Confident Second Instrument (5 years)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9144000" cy="201168"/>
          </a:xfrm>
          <a:prstGeom prst="rect">
            <a:avLst/>
          </a:prstGeom>
          <a:solidFill>
            <a:srgbClr val="32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713232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254203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4E8"/>
                </a:solidFill>
                <a:latin typeface="Calibri"/>
              </a:rPr>
              <a:t>Ensemble Direction &amp; Leadership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01568"/>
            <a:ext cx="9144000" cy="201168"/>
          </a:xfrm>
          <a:prstGeom prst="rect">
            <a:avLst/>
          </a:prstGeom>
          <a:solidFill>
            <a:srgbClr val="32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01568"/>
            <a:ext cx="777240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3364991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4E8"/>
                </a:solidFill>
                <a:latin typeface="Calibri"/>
              </a:rPr>
              <a:t>Songwriting &amp; Original Composition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24528"/>
            <a:ext cx="9144000" cy="201168"/>
          </a:xfrm>
          <a:prstGeom prst="rect">
            <a:avLst/>
          </a:prstGeom>
          <a:solidFill>
            <a:srgbClr val="32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24528"/>
            <a:ext cx="640080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4187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4E8"/>
                </a:solidFill>
                <a:latin typeface="Calibri"/>
              </a:rPr>
              <a:t>Music Notation (notation software)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47488"/>
            <a:ext cx="9144000" cy="201168"/>
          </a:xfrm>
          <a:prstGeom prst="rect">
            <a:avLst/>
          </a:prstGeom>
          <a:solidFill>
            <a:srgbClr val="32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047488"/>
            <a:ext cx="621792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501091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68%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AF4E8"/>
                </a:solidFill>
                <a:latin typeface="Calibri"/>
              </a:rPr>
              <a:t>Vocal Harmony 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70448"/>
            <a:ext cx="9144000" cy="201168"/>
          </a:xfrm>
          <a:prstGeom prst="rect">
            <a:avLst/>
          </a:prstGeom>
          <a:solidFill>
            <a:srgbClr val="32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70448"/>
            <a:ext cx="5669280" cy="2011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5833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62%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F91"/>
                </a:solidFill>
                <a:latin typeface="Calibri"/>
              </a:rPr>
              <a:t>Additional: AP English Literature · AP Calc AB · Creative 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  <p:transition spd="slow">
    <p:dissolv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PERFORMANCE HIGHLIGHTS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Venue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Ohio Regional Bluegrass Competition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First Fiddle + Solo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Regional Venue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5th Place — First Entry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Ohio Regional Bluegrass Competition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First Fiddle + Student Director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Regional Venue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4th Place — Improved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Ohio Regional Bluegrass Competition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First Fiddle + Student Director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Regional Venue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2nd Place — Best Finish ★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Appalachian Strings Festival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First Fiddle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Downtown Columbus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Lead Featured Performer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Columbus Arts Festival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Ensemble Director + Lead Fiddle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Columbus Parks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Headline Slot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2026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First Methodist Christmas Program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Fiddle Soloist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First Methodist Columbus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Audience Favorite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2027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State Fiddle Championship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Soloist + Ensemble Director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Lakemont PAC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Competing — May 8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ORIGINAL COMPOSITIONS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9A84C"/>
                </a:solidFill>
                <a:latin typeface="Calibri"/>
              </a:rPr>
              <a:t>Works composed independently or in collaboration with Mr. Crawford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653142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Co-Author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Performance History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Harlan County Homecoming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G. Ellison (solo)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3:42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Original Bluegrass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Competition opener; Regionals 2025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Grandpa Walter's Tune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G. Ellison (solo)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5:01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Original Bluegrass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Solo showcase; emotional centerpiece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Columbus Reel No. 2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The Ridgewood Ramblers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2:58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Ensemble Reel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Full ensemble showcase; high energy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Scioto Sunday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Crawford / Ellison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4:44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Instrumental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Fall 2025 festival premiere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Letters to Harlan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G. Ellison (solo)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3:15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Original Folk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Private — not yet performed publicly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A Good Winter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G. Ellison (solo)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4:20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Bluegrass Ballad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Private — notes app draft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  <p:transition spd="slow">
    <p:dissolv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ACADEMIC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0" cy="5212080"/>
          </a:xfrm>
          <a:prstGeom prst="rect">
            <a:avLst/>
          </a:prstGeom>
          <a:solidFill>
            <a:srgbClr val="37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Calibri"/>
              </a:rPr>
              <a:t>Academic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School: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83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Ridgewood High School, Columbus, Ohio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GPA: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3.78 / 4.0 — Top 10% (Rank 28/320)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SAT: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718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1280 (Oct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AP Courses: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5661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AP English Lit (A), AP Calc AB (B+)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Other Courses: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1605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Physics, US Gov, Creative Writing, Bluegrass 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Graduation: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7548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May 29, 2027 · Ohio Expo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Rec Letters: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349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Mrs. Patricia Nelson (AP English Lit)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84C"/>
                </a:solidFill>
                <a:latin typeface="Calibri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943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AF4E8"/>
                </a:solidFill>
                <a:latin typeface="Calibri"/>
              </a:rPr>
              <a:t>Mr. David Crawford (Bluegrass Director)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760720" y="1188720"/>
          <a:ext cx="594360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LAKEMONT AUDITION REPERTOIRE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9A84C"/>
                </a:solidFill>
                <a:latin typeface="Calibri"/>
              </a:rPr>
              <a:t>Prepared in consultation with Mr. David Crawford · Lakemont Performing Arts Center, June 5, 2027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Composer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Instrument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C9A84C"/>
                          </a:solidFill>
                          <a:latin typeface="Calibri"/>
                        </a:rPr>
                        <a:t>Intent</a:t>
                      </a:r>
                    </a:p>
                  </a:txBody>
                  <a:tcPr>
                    <a:solidFill>
                      <a:srgbClr val="2812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Harlan County Homecoming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G. Ellison (original)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Fiddle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3:42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Opens with voice — introduces my compositional style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Devil's Dream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Traditional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Fiddle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2:15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Technical showcase — speed and precision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Ashokan Farewell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Jay Ungar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Fiddle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4:10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Lyrical expression — dynamics and phrasing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Grandpa Walter's Tune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G. Ellison (original)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Fiddle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5:01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Emotional depth — personal narrative through music</a:t>
                      </a:r>
                    </a:p>
                  </a:txBody>
                  <a:tcPr>
                    <a:solidFill>
                      <a:srgbClr val="37111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The Road Home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arr. Crawford / Ellison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Fiddle + Mandolin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3:30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AF4E8"/>
                          </a:solidFill>
                          <a:latin typeface="Calibri"/>
                        </a:rPr>
                        <a:t>Closes with dual instrumentation — range showcase</a:t>
                      </a:r>
                    </a:p>
                  </a:txBody>
                  <a:tcPr>
                    <a:solidFill>
                      <a:srgbClr val="46161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AF91"/>
                </a:solidFill>
                <a:latin typeface="Calibri"/>
              </a:rPr>
              <a:t>Total audition duration: approximately 18–19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  <p:transition spd="slow">
    <p:dissolv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9167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A84C"/>
                </a:solidFill>
                <a:latin typeface="Calibri"/>
              </a:rPr>
              <a:t>WHY LAKEMONT COLLEGE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solidFill>
            <a:srgbClr val="3C1219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44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  1.  Tradition meets 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38988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AF4E8"/>
                </a:solidFill>
                <a:latin typeface="Calibri"/>
              </a:rPr>
              <a:t>Lakemont's Music Performance program is known for treating folk and bluegrass traditions with the same scholarly seriousness as classical performance. That is exactly what I am looking for.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11247120" cy="914400"/>
          </a:xfrm>
          <a:prstGeom prst="rect">
            <a:avLst/>
          </a:prstGeom>
          <a:solidFill>
            <a:srgbClr val="3C1219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95727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  2.  The right faculty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44144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AF4E8"/>
                </a:solidFill>
                <a:latin typeface="Calibri"/>
              </a:rPr>
              <a:t>Mr. Crawford has spoken about Lakemont's faculty with respect I trust. That endorsement means more to me than rankings.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79"/>
            <a:ext cx="11247120" cy="914400"/>
          </a:xfrm>
          <a:prstGeom prst="rect">
            <a:avLst/>
          </a:prstGeom>
          <a:solidFill>
            <a:srgbClr val="3C1219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47287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  3.  Competition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49300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AF4E8"/>
                </a:solidFill>
                <a:latin typeface="Calibri"/>
              </a:rPr>
              <a:t>The State Fiddle Championship takes place at Lakemont's own Performing Arts Center. Competing there before auditioning there is not an accident — it is preparation.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11247120" cy="914400"/>
          </a:xfrm>
          <a:prstGeom prst="rect">
            <a:avLst/>
          </a:prstGeom>
          <a:solidFill>
            <a:srgbClr val="3C1219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498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  4.  Room to grow as a composer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54456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AF4E8"/>
                </a:solidFill>
                <a:latin typeface="Calibri"/>
              </a:rPr>
              <a:t>I want to develop the original voice I've started in the notes app. I need an environment that holds that work seriously.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3C1219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50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9A84C"/>
                </a:solidFill>
                <a:latin typeface="Calibri"/>
              </a:rPr>
              <a:t>  5.  The honest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59612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AF4E8"/>
                </a:solidFill>
                <a:latin typeface="Calibri"/>
              </a:rPr>
              <a:t>I have a college plan the family knows about. Lakemont is the plan I believe in. I am here because the music is worth the harder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  <p:transition spd="slow">
    <p:dissolv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8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148840"/>
            <a:ext cx="39593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AF4E8"/>
                </a:solidFill>
                <a:latin typeface="Palatino Linotype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4C"/>
                </a:solidFill>
                <a:latin typeface="Calibri"/>
              </a:rPr>
              <a:t>Gerald Thomas Ellison  ·  Fiddle, Mandolin, 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AF4E8"/>
                </a:solidFill>
                <a:latin typeface="Calibri"/>
              </a:rPr>
              <a:t>Lakemont College Music Performance Audition · June 5,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0D7B9"/>
                </a:solidFill>
                <a:latin typeface="Calibri"/>
              </a:rPr>
              <a:t>"The music is sacred ground."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CC3A5"/>
                </a:solidFill>
                <a:latin typeface="Calibri"/>
              </a:rPr>
              <a:t>gerald.t.ellison@gmail.com  ·  Columbus, Ohio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AF91"/>
                </a:solidFill>
                <a:latin typeface="Calibri"/>
              </a:rPr>
              <a:t>Mentor: Mr. David Crawford · crawford.strings@gmail.com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48C6E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