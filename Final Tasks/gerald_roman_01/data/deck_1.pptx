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Incidence per 1,000 person-months</c:v>
                </c:pt>
              </c:strCache>
            </c:strRef>
          </c:tx>
          <c:spPr>
            <a:solidFill>
              <a:srgbClr val="1B9AAA"/>
            </a:solidFill>
          </c:spPr>
          <c:cat>
            <c:strRef>
              <c:f>Sheet1!$A$2:$A$7</c:f>
              <c:strCache>
                <c:ptCount val="6"/>
                <c:pt idx="0">
                  <c:v>Sandtown-Winchester</c:v>
                </c:pt>
                <c:pt idx="1">
                  <c:v>Greenmount West</c:v>
                </c:pt>
                <c:pt idx="2">
                  <c:v>Cherry Hill</c:v>
                </c:pt>
                <c:pt idx="3">
                  <c:v>Park Heights</c:v>
                </c:pt>
                <c:pt idx="4">
                  <c:v>Jonestown</c:v>
                </c:pt>
                <c:pt idx="5">
                  <c:v>Franklin Square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39.8</c:v>
                </c:pt>
                <c:pt idx="1">
                  <c:v>18.7</c:v>
                </c:pt>
                <c:pt idx="2">
                  <c:v>22.7</c:v>
                </c:pt>
                <c:pt idx="3">
                  <c:v>19.5</c:v>
                </c:pt>
                <c:pt idx="4">
                  <c:v>39.8</c:v>
                </c:pt>
                <c:pt idx="5">
                  <c:v>28.5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 b="1">
                  <a:solidFill>
                    <a:srgbClr val="0B254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B25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B254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Neighborhood-Level Socioeconomic Factors and</a:t>
            </a:r>
          </a:p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Respiratory Illness Burden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BFE3E6"/>
                </a:solidFill>
                <a:latin typeface="Calibri"/>
              </a:rPr>
              <a:t>Evidence from the Urban Respiratory Illness Surveillance Network (URISN)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9FC9CE"/>
                </a:solidFill>
                <a:latin typeface="Calibri"/>
              </a:rPr>
              <a:t>Gerald Marie Roman, PhD, MPH   |   Principal Investigator, Chesapeake Institute of Public Health</a:t>
            </a:r>
          </a:p>
          <a:p>
            <a:pPr algn="l"/>
            <a:r>
              <a:rPr sz="1300" b="0" i="0">
                <a:solidFill>
                  <a:srgbClr val="9FC9CE"/>
                </a:solidFill>
                <a:latin typeface="Calibri"/>
              </a:rPr>
              <a:t>National Conference of Epidemiologists  |  Hyatt Regency Chicago  |  October 16,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B9AAA"/>
                </a:solidFill>
                <a:latin typeface="Calibri"/>
              </a:rPr>
              <a:t>•  </a:t>
            </a:r>
            <a:r>
              <a:rPr b="1" sz="1800">
                <a:solidFill>
                  <a:srgbClr val="0B2545"/>
                </a:solidFill>
                <a:latin typeface="Calibri"/>
              </a:rPr>
              <a:t>Background</a:t>
            </a:r>
            <a:r>
              <a:rPr sz="1700">
                <a:solidFill>
                  <a:srgbClr val="0B2545"/>
                </a:solidFill>
                <a:latin typeface="Calibri"/>
              </a:rPr>
              <a:t>  Housing as a social determinant of respiratory health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B9AAA"/>
                </a:solidFill>
                <a:latin typeface="Calibri"/>
              </a:rPr>
              <a:t>•  </a:t>
            </a:r>
            <a:r>
              <a:rPr b="1" sz="1800">
                <a:solidFill>
                  <a:srgbClr val="0B2545"/>
                </a:solidFill>
                <a:latin typeface="Calibri"/>
              </a:rPr>
              <a:t>Surveillance design</a:t>
            </a:r>
            <a:r>
              <a:rPr sz="1700">
                <a:solidFill>
                  <a:srgbClr val="0B2545"/>
                </a:solidFill>
                <a:latin typeface="Calibri"/>
              </a:rPr>
              <a:t>  Six Baltimore neighborhoods, individual-level data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B9AAA"/>
                </a:solidFill>
                <a:latin typeface="Calibri"/>
              </a:rPr>
              <a:t>•  </a:t>
            </a:r>
            <a:r>
              <a:rPr b="1" sz="1800">
                <a:solidFill>
                  <a:srgbClr val="0B2545"/>
                </a:solidFill>
                <a:latin typeface="Calibri"/>
              </a:rPr>
              <a:t>Key finding</a:t>
            </a:r>
            <a:r>
              <a:rPr sz="1700">
                <a:solidFill>
                  <a:srgbClr val="0B2545"/>
                </a:solidFill>
                <a:latin typeface="Calibri"/>
              </a:rPr>
              <a:t>  Housing Quality Index and illness incidence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B9AAA"/>
                </a:solidFill>
                <a:latin typeface="Calibri"/>
              </a:rPr>
              <a:t>•  </a:t>
            </a:r>
            <a:r>
              <a:rPr b="1" sz="1800">
                <a:solidFill>
                  <a:srgbClr val="0B2545"/>
                </a:solidFill>
                <a:latin typeface="Calibri"/>
              </a:rPr>
              <a:t>Equity gradient</a:t>
            </a:r>
            <a:r>
              <a:rPr sz="1700">
                <a:solidFill>
                  <a:srgbClr val="0B2545"/>
                </a:solidFill>
                <a:latin typeface="Calibri"/>
              </a:rPr>
              <a:t>  Where the burden concentrates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B9AAA"/>
                </a:solidFill>
                <a:latin typeface="Calibri"/>
              </a:rPr>
              <a:t>•  </a:t>
            </a:r>
            <a:r>
              <a:rPr b="1" sz="1800">
                <a:solidFill>
                  <a:srgbClr val="0B2545"/>
                </a:solidFill>
                <a:latin typeface="Calibri"/>
              </a:rPr>
              <a:t>Policy relevance</a:t>
            </a:r>
            <a:r>
              <a:rPr sz="1700">
                <a:solidFill>
                  <a:srgbClr val="0B2545"/>
                </a:solidFill>
                <a:latin typeface="Calibri"/>
              </a:rPr>
              <a:t>  What this means for housing and health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The surveillance network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37360"/>
            <a:ext cx="26060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2606040" cy="164592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0B2545"/>
                </a:solidFill>
                <a:latin typeface="Calibri"/>
              </a:rPr>
              <a:t>2,847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B7B"/>
                </a:solidFill>
                <a:latin typeface="Calibri"/>
              </a:rPr>
              <a:t>participants enrolled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737360"/>
            <a:ext cx="26060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737360"/>
            <a:ext cx="2606040" cy="164592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24028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0B2545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2461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B7B"/>
                </a:solidFill>
                <a:latin typeface="Calibri"/>
              </a:rPr>
              <a:t>Baltimore neighborhoods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26060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2606040" cy="164592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24028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0B2545"/>
                </a:solidFill>
                <a:latin typeface="Calibri"/>
              </a:rPr>
              <a:t>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461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B7B"/>
                </a:solidFill>
                <a:latin typeface="Calibri"/>
              </a:rPr>
              <a:t>follow-up retention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737360"/>
            <a:ext cx="26060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1737360"/>
            <a:ext cx="2606040" cy="164592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224028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0B2545"/>
                </a:solidFill>
                <a:latin typeface="Calibri"/>
              </a:rPr>
              <a:t>24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2461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A6B7B"/>
                </a:solidFill>
                <a:latin typeface="Calibri"/>
              </a:rPr>
              <a:t>prospective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B2545"/>
                </a:solidFill>
                <a:latin typeface="Calibri"/>
              </a:rPr>
              <a:t>URISN tracks respiratory illness incidence and its structural determinants across a socioeconomic gradient, from Greenmount West to Sandtown-Winchester and Jonestown.</a:t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2545"/>
                </a:solidFill>
                <a:latin typeface="Calibri"/>
              </a:rPr>
              <a:t>Respiratory illness incidence by neighborhood, 2024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80160"/>
          <a:ext cx="109728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2545"/>
                </a:solidFill>
                <a:latin typeface="Calibri"/>
              </a:rPr>
              <a:t>Adjusted association, negative binomial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9728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IRR per 10-pt HQI decrease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Unadjusted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1.22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1.16 to 1.29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Strong crude gradient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+ Age, sex</a:t>
                      </a:r>
                    </a:p>
                  </a:txBody>
                  <a:tcPr marL="73152" marR="73152" marT="27432" marB="27432" anchor="ctr">
                    <a:solidFill>
                      <a:srgbClr val="E0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 marL="73152" marR="73152" marT="27432" marB="27432" anchor="ctr">
                    <a:solidFill>
                      <a:srgbClr val="E0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1.13 to 1.26</a:t>
                      </a:r>
                    </a:p>
                  </a:txBody>
                  <a:tcPr marL="73152" marR="73152" marT="27432" marB="27432" anchor="ctr">
                    <a:solidFill>
                      <a:srgbClr val="E0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Persists after demographics</a:t>
                      </a:r>
                    </a:p>
                  </a:txBody>
                  <a:tcPr marL="73152" marR="73152" marT="27432" marB="27432" anchor="ctr">
                    <a:solidFill>
                      <a:srgbClr val="E0EEE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+ Income, insurance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1.16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1.10 to 1.23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Attenuates, remains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Fully adjusted</a:t>
                      </a:r>
                    </a:p>
                  </a:txBody>
                  <a:tcPr marL="73152" marR="73152" marT="27432" marB="27432" anchor="ctr">
                    <a:solidFill>
                      <a:srgbClr val="E0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1.14</a:t>
                      </a:r>
                    </a:p>
                  </a:txBody>
                  <a:tcPr marL="73152" marR="73152" marT="27432" marB="27432" anchor="ctr">
                    <a:solidFill>
                      <a:srgbClr val="E0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1.08 to 1.21</a:t>
                      </a:r>
                    </a:p>
                  </a:txBody>
                  <a:tcPr marL="73152" marR="73152" marT="27432" marB="27432" anchor="ctr">
                    <a:solidFill>
                      <a:srgbClr val="E0E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Independent association</a:t>
                      </a:r>
                    </a:p>
                  </a:txBody>
                  <a:tcPr marL="73152" marR="73152" marT="27432" marB="27432" anchor="ctr">
                    <a:solidFill>
                      <a:srgbClr val="E0EE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0B2545"/>
                </a:solidFill>
                <a:latin typeface="Calibri"/>
              </a:rPr>
              <a:t>Each 10-point decrease in the Housing Quality Index is associated with a 14 percent increase in respiratory illness incidence after full adjustment. The gradient is steepest among adults 55 and older and households below 150 percent of the federal poverty level.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77440"/>
            <a:ext cx="3108960" cy="109728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Housing is a modifiable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BFE3E6"/>
                </a:solidFill>
                <a:latin typeface="Calibri"/>
              </a:rPr>
              <a:t>Investment in housing remediation may reduce preventable respiratory illness in the Baltimore neighborhoods already carrying the heaviest burden.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FB4BA"/>
                </a:solidFill>
                <a:latin typeface="Calibri"/>
              </a:rPr>
              <a:t>gerald.roman@gmail.com   |   Chesapeake Institute of Public Health   |   Grant MPH-2023-URB-0417</a:t>
            </a:r>
          </a:p>
        </p:txBody>
      </p:sp>
    </p:spTree>
  </p:cSld>
  <p:clrMapOvr>
    <a:masterClrMapping/>
  </p:clrMapOvr>
  <p:transition spd="med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