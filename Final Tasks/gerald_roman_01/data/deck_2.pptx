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(%)</c:v>
                </c:pt>
              </c:strCache>
            </c:strRef>
          </c:tx>
          <c:spPr>
            <a:ln w="31750">
              <a:solidFill>
                <a:srgbClr val="14532D"/>
              </a:solidFill>
            </a:ln>
          </c:spPr>
          <c:cat>
            <c:strRef>
              <c:f>Sheet1!$A$2:$A$7</c:f>
              <c:strCache>
                <c:ptCount val="6"/>
                <c:pt idx="0">
                  <c:v>Q1 24</c:v>
                </c:pt>
                <c:pt idx="1">
                  <c:v>Q2 24</c:v>
                </c:pt>
                <c:pt idx="2">
                  <c:v>Q3 24</c:v>
                </c:pt>
                <c:pt idx="3">
                  <c:v>Q4 24</c:v>
                </c:pt>
                <c:pt idx="4">
                  <c:v>Q1 25</c:v>
                </c:pt>
                <c:pt idx="5">
                  <c:v>Q2 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88.0</c:v>
                </c:pt>
                <c:pt idx="1">
                  <c:v>89.5</c:v>
                </c:pt>
                <c:pt idx="2">
                  <c:v>90.4</c:v>
                </c:pt>
                <c:pt idx="3">
                  <c:v>91.0</c:v>
                </c:pt>
                <c:pt idx="4">
                  <c:v>91.2</c:v>
                </c:pt>
                <c:pt idx="5">
                  <c:v>91.4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4532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4361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"/>
          <c:min val="8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4361F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14532D"/>
              </a:solidFill>
            </c:spPr>
          </c:dPt>
          <c:dPt>
            <c:idx val="1"/>
            <c:spPr>
              <a:solidFill>
                <a:srgbClr val="2E7D43"/>
              </a:solidFill>
            </c:spPr>
          </c:dPt>
          <c:dPt>
            <c:idx val="2"/>
            <c:spPr>
              <a:solidFill>
                <a:srgbClr val="C99700"/>
              </a:solidFill>
            </c:spPr>
          </c:dPt>
          <c:dPt>
            <c:idx val="3"/>
            <c:spPr>
              <a:solidFill>
                <a:srgbClr val="8AA886"/>
              </a:solidFill>
            </c:spPr>
          </c:dPt>
          <c:dPt>
            <c:idx val="4"/>
            <c:spPr>
              <a:solidFill>
                <a:srgbClr val="B0B7A8"/>
              </a:solidFill>
            </c:spPr>
          </c:dPt>
          <c:cat>
            <c:strRef>
              <c:f>Sheet1!$A$2:$A$6</c:f>
              <c:strCache>
                <c:ptCount val="5"/>
                <c:pt idx="0">
                  <c:v>Personnel</c:v>
                </c:pt>
                <c:pt idx="1">
                  <c:v>Field operations</c:v>
                </c:pt>
                <c:pt idx="2">
                  <c:v>Data and analysis</c:v>
                </c:pt>
                <c:pt idx="3">
                  <c:v>Community translation</c:v>
                </c:pt>
                <c:pt idx="4">
                  <c:v>Indirect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78000</c:v>
                </c:pt>
                <c:pt idx="1">
                  <c:v>21000</c:v>
                </c:pt>
                <c:pt idx="2">
                  <c:v>15000</c:v>
                </c:pt>
                <c:pt idx="3">
                  <c:v>12000</c:v>
                </c:pt>
                <c:pt idx="4">
                  <c:v>15667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900">
                  <a:solidFill>
                    <a:srgbClr val="14361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28016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URISN Year 3 Renewal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6D9A8"/>
                </a:solidFill>
                <a:latin typeface="Calibri"/>
              </a:rPr>
              <a:t>Sustaining respiratory illness surveillance across Baltimore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Prepared for the Meridian Public Health Foundation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Grant MPH-2023-URB-0417   |   Renewal request $141,667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Gerald Marie Roman, PhD, MPH, Principal Investigator   |   Submission due November 9, 2026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Renewal 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212080" cy="2057400"/>
          </a:xfrm>
          <a:prstGeom prst="rect">
            <a:avLst/>
          </a:prstGeom>
          <a:solidFill>
            <a:srgbClr val="F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46304" cy="20574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Calibri"/>
              </a:rPr>
              <a:t>Aim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4361F"/>
                </a:solidFill>
                <a:latin typeface="Calibri"/>
              </a:rPr>
              <a:t>Continue prospective surveillance across all six sites with at least 80 percent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212080" cy="2057400"/>
          </a:xfrm>
          <a:prstGeom prst="rect">
            <a:avLst/>
          </a:prstGeom>
          <a:solidFill>
            <a:srgbClr val="F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146304" cy="20574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Calibri"/>
              </a:rPr>
              <a:t>Aim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4361F"/>
                </a:solidFill>
                <a:latin typeface="Calibri"/>
              </a:rPr>
              <a:t>Test whether change in housing quality between Year 1 and Year 3 tracks change in illness incidence.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5212080" cy="2057400"/>
          </a:xfrm>
          <a:prstGeom prst="rect">
            <a:avLst/>
          </a:prstGeom>
          <a:solidFill>
            <a:srgbClr val="F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146304" cy="20574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Calibri"/>
              </a:rPr>
              <a:t>Aim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4361F"/>
                </a:solidFill>
                <a:latin typeface="Calibri"/>
              </a:rPr>
              <a:t>Deliver a community synthesis report for residents, policymakers, and the Foundation.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703320"/>
            <a:ext cx="5212080" cy="2057400"/>
          </a:xfrm>
          <a:prstGeom prst="rect">
            <a:avLst/>
          </a:prstGeom>
          <a:solidFill>
            <a:srgbClr val="F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703320"/>
            <a:ext cx="146304" cy="20574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886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532D"/>
                </a:solidFill>
                <a:latin typeface="Calibri"/>
              </a:rPr>
              <a:t>Aim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4361F"/>
                </a:solidFill>
                <a:latin typeface="Calibri"/>
              </a:rPr>
              <a:t>Disseminate through two peer-reviewed papers and one national conference talk.</a:t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4532D"/>
                </a:solidFill>
                <a:latin typeface="Calibri"/>
              </a:rPr>
              <a:t>Follow-up retention through Year 2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10972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4532D"/>
                </a:solidFill>
                <a:latin typeface="Calibri"/>
              </a:rPr>
              <a:t>Year 3 budget allocation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6400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920240"/>
            <a:ext cx="4206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Total renewal request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$141,667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4361F"/>
                </a:solidFill>
                <a:latin typeface="Calibri"/>
              </a:rPr>
              <a:t>Personnel covers 50 percent PI effort, the biostatistician, and two research assistants. Indirect costs are held at the Foundation standard rate.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Renewal period timeline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27632"/>
            <a:ext cx="256032" cy="256032"/>
          </a:xfrm>
          <a:prstGeom prst="ellipse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6D9A8"/>
                </a:solidFill>
                <a:latin typeface="Calibri"/>
              </a:rPr>
              <a:t>Oct to Dec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55448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Q4 site visits, housing re-assessment, Chicago talk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79192"/>
            <a:ext cx="256032" cy="256032"/>
          </a:xfrm>
          <a:prstGeom prst="ellipse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6D9A8"/>
                </a:solidFill>
                <a:latin typeface="Calibri"/>
              </a:rPr>
              <a:t>Jan to Mar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60604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 cleaning, longitudinal dataset, Aim 2 analysis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30752"/>
            <a:ext cx="256032" cy="256032"/>
          </a:xfrm>
          <a:prstGeom prst="ellipse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6D9A8"/>
                </a:solidFill>
                <a:latin typeface="Calibri"/>
              </a:rPr>
              <a:t>Apr to Jun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6576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Submit Aim 2 manuscript, draft synthesis report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82312"/>
            <a:ext cx="256032" cy="256032"/>
          </a:xfrm>
          <a:prstGeom prst="ellipse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6D9A8"/>
                </a:solidFill>
                <a:latin typeface="Calibri"/>
              </a:rPr>
              <a:t>Jul to Sep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091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Disseminate report, final Foundation progress report</a:t>
            </a:r>
          </a:p>
        </p:txBody>
      </p:sp>
    </p:spTree>
  </p:cSld>
  <p:clrMapOvr>
    <a:masterClrMapping/>
  </p:clrMapOvr>
  <p:transition spd="med">
    <p:cover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