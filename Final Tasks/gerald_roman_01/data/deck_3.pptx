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Illness rate</c:v>
                </c:pt>
              </c:strCache>
            </c:strRef>
          </c:tx>
          <c:dPt>
            <c:idx val="0"/>
            <c:spPr>
              <a:solidFill>
                <a:srgbClr val="6B1F2A"/>
              </a:solidFill>
            </c:spPr>
          </c:dPt>
          <c:dPt>
            <c:idx val="1"/>
            <c:spPr>
              <a:solidFill>
                <a:srgbClr val="E07A3F"/>
              </a:solidFill>
            </c:spPr>
          </c:dPt>
          <c:dPt>
            <c:idx val="2"/>
            <c:spPr>
              <a:solidFill>
                <a:srgbClr val="C9A227"/>
              </a:solidFill>
            </c:spPr>
          </c:dPt>
          <c:cat>
            <c:strRef>
              <c:f>Sheet1!$A$2:$A$4</c:f>
              <c:strCache>
                <c:ptCount val="3"/>
                <c:pt idx="0">
                  <c:v>Lower housing quality</c:v>
                </c:pt>
                <c:pt idx="1">
                  <c:v>Middle</c:v>
                </c:pt>
                <c:pt idx="2">
                  <c:v>Higher housing quality</c:v>
                </c:pt>
              </c:strCache>
            </c:strRef>
          </c:cat>
          <c:val>
            <c:numRef>
              <c:f>Sheet1!$B$2:$B$4</c:f>
              <c:numCache>
                <c:formatCode>General</c:formatCode>
                <c:ptCount val="3"/>
                <c:pt idx="0">
                  <c:v>40</c:v>
                </c:pt>
                <c:pt idx="1">
                  <c:v>28</c:v>
                </c:pt>
                <c:pt idx="2">
                  <c:v>19</c:v>
                </c:pt>
              </c:numCache>
            </c:numRef>
          </c:val>
        </c:ser>
        <c:dLbls>
          <c:numFmt formatCode="0" sourceLinked="0"/>
          <c:txPr>
            <a:bodyPr/>
            <a:lstStyle/>
            <a:p>
              <a:pPr>
                <a:defRPr sz="1200" b="1">
                  <a:solidFill>
                    <a:srgbClr val="3D1218"/>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000">
                <a:solidFill>
                  <a:srgbClr val="3D1218"/>
                </a:solidFill>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solidFill>
                  <a:srgbClr val="3D1218"/>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6B1F2A"/>
        </a:solidFill>
        <a:effectLst/>
      </p:bgPr>
    </p:bg>
    <p:spTree>
      <p:nvGrpSpPr>
        <p:cNvPr id="1" name=""/>
        <p:cNvGrpSpPr/>
        <p:nvPr/>
      </p:nvGrpSpPr>
      <p:grpSpPr/>
      <p:sp>
        <p:nvSpPr>
          <p:cNvPr id="2" name="Rectangle 1"/>
          <p:cNvSpPr/>
          <p:nvPr/>
        </p:nvSpPr>
        <p:spPr>
          <a:xfrm>
            <a:off x="0" y="4206240"/>
            <a:ext cx="12191695" cy="2651760"/>
          </a:xfrm>
          <a:prstGeom prst="rect">
            <a:avLst/>
          </a:prstGeom>
          <a:solidFill>
            <a:srgbClr val="FB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069080"/>
            <a:ext cx="12191695" cy="146304"/>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0515600" cy="1463040"/>
          </a:xfrm>
          <a:prstGeom prst="rect">
            <a:avLst/>
          </a:prstGeom>
          <a:noFill/>
        </p:spPr>
        <p:txBody>
          <a:bodyPr wrap="square" anchor="t">
            <a:spAutoFit/>
          </a:bodyPr>
          <a:lstStyle/>
          <a:p>
            <a:pPr algn="l"/>
            <a:r>
              <a:rPr sz="3400" b="1" i="0">
                <a:solidFill>
                  <a:srgbClr val="FFFFFF"/>
                </a:solidFill>
                <a:latin typeface="Calibri"/>
              </a:rPr>
              <a:t>Housing and Breathing</a:t>
            </a:r>
          </a:p>
          <a:p>
            <a:pPr algn="l"/>
            <a:r>
              <a:rPr sz="3400" b="1" i="0">
                <a:solidFill>
                  <a:srgbClr val="FFFFFF"/>
                </a:solidFill>
                <a:latin typeface="Calibri"/>
              </a:rPr>
              <a:t>in Our Neighborhoods</a:t>
            </a:r>
          </a:p>
        </p:txBody>
      </p:sp>
      <p:sp>
        <p:nvSpPr>
          <p:cNvPr id="5" name="TextBox 4"/>
          <p:cNvSpPr txBox="1"/>
          <p:nvPr/>
        </p:nvSpPr>
        <p:spPr>
          <a:xfrm>
            <a:off x="731520" y="2834640"/>
            <a:ext cx="10058400" cy="640080"/>
          </a:xfrm>
          <a:prstGeom prst="rect">
            <a:avLst/>
          </a:prstGeom>
          <a:noFill/>
        </p:spPr>
        <p:txBody>
          <a:bodyPr wrap="square" anchor="t">
            <a:spAutoFit/>
          </a:bodyPr>
          <a:lstStyle/>
          <a:p>
            <a:pPr algn="l"/>
            <a:r>
              <a:rPr sz="1700" b="0" i="0">
                <a:solidFill>
                  <a:srgbClr val="F3CBB0"/>
                </a:solidFill>
                <a:latin typeface="Calibri"/>
              </a:rPr>
              <a:t>What the URISN study learned, in plain language</a:t>
            </a:r>
          </a:p>
        </p:txBody>
      </p:sp>
      <p:sp>
        <p:nvSpPr>
          <p:cNvPr id="6" name="TextBox 5"/>
          <p:cNvSpPr txBox="1"/>
          <p:nvPr/>
        </p:nvSpPr>
        <p:spPr>
          <a:xfrm>
            <a:off x="731520" y="4754880"/>
            <a:ext cx="10515600" cy="1371600"/>
          </a:xfrm>
          <a:prstGeom prst="rect">
            <a:avLst/>
          </a:prstGeom>
          <a:noFill/>
        </p:spPr>
        <p:txBody>
          <a:bodyPr wrap="square" anchor="t">
            <a:spAutoFit/>
          </a:bodyPr>
          <a:lstStyle/>
          <a:p>
            <a:pPr algn="l">
              <a:lnSpc>
                <a:spcPct val="130000"/>
              </a:lnSpc>
            </a:pPr>
            <a:r>
              <a:rPr sz="1400" b="0" i="0">
                <a:solidFill>
                  <a:srgbClr val="3D1218"/>
                </a:solidFill>
                <a:latin typeface="Calibri"/>
              </a:rPr>
              <a:t>A community briefing from the Urban Respiratory Illness Surveillance Network</a:t>
            </a:r>
          </a:p>
          <a:p>
            <a:pPr algn="l">
              <a:lnSpc>
                <a:spcPct val="130000"/>
              </a:lnSpc>
            </a:pPr>
            <a:r>
              <a:rPr sz="1400" b="0" i="0">
                <a:solidFill>
                  <a:srgbClr val="3D1218"/>
                </a:solidFill>
                <a:latin typeface="Calibri"/>
              </a:rPr>
              <a:t>Gerald Roman and the URISN team   |   Chesapeake Institute of Public Health   |   Fall 2026</a:t>
            </a:r>
          </a:p>
        </p:txBody>
      </p:sp>
    </p:spTree>
  </p:cSld>
  <p:clrMapOvr>
    <a:masterClrMapping/>
  </p:clrMapOvr>
  <p:transition spd="med">
    <p:zoom/>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3EC"/>
        </a:solidFill>
        <a:effectLst/>
      </p:bgPr>
    </p:bg>
    <p:spTree>
      <p:nvGrpSpPr>
        <p:cNvPr id="1" name=""/>
        <p:cNvGrpSpPr/>
        <p:nvPr/>
      </p:nvGrpSpPr>
      <p:grpSpPr/>
      <p:sp>
        <p:nvSpPr>
          <p:cNvPr id="2" name="TextBox 1"/>
          <p:cNvSpPr txBox="1"/>
          <p:nvPr/>
        </p:nvSpPr>
        <p:spPr>
          <a:xfrm>
            <a:off x="914400" y="914400"/>
            <a:ext cx="10058400" cy="914400"/>
          </a:xfrm>
          <a:prstGeom prst="rect">
            <a:avLst/>
          </a:prstGeom>
          <a:noFill/>
        </p:spPr>
        <p:txBody>
          <a:bodyPr wrap="square" anchor="t">
            <a:spAutoFit/>
          </a:bodyPr>
          <a:lstStyle/>
          <a:p>
            <a:pPr algn="l"/>
            <a:r>
              <a:rPr sz="2200" b="1" i="0">
                <a:solidFill>
                  <a:srgbClr val="E07A3F"/>
                </a:solidFill>
                <a:latin typeface="Calibri"/>
              </a:rPr>
              <a:t>The short version</a:t>
            </a:r>
          </a:p>
        </p:txBody>
      </p:sp>
      <p:sp>
        <p:nvSpPr>
          <p:cNvPr id="3" name="TextBox 2"/>
          <p:cNvSpPr txBox="1"/>
          <p:nvPr/>
        </p:nvSpPr>
        <p:spPr>
          <a:xfrm>
            <a:off x="914400" y="1828800"/>
            <a:ext cx="10332720" cy="3200400"/>
          </a:xfrm>
          <a:prstGeom prst="rect">
            <a:avLst/>
          </a:prstGeom>
          <a:noFill/>
        </p:spPr>
        <p:txBody>
          <a:bodyPr wrap="square" anchor="t">
            <a:spAutoFit/>
          </a:bodyPr>
          <a:lstStyle/>
          <a:p>
            <a:pPr algn="l">
              <a:lnSpc>
                <a:spcPct val="125000"/>
              </a:lnSpc>
            </a:pPr>
            <a:r>
              <a:rPr sz="2600" b="0" i="0">
                <a:solidFill>
                  <a:srgbClr val="3D1218"/>
                </a:solidFill>
                <a:latin typeface="Calibri"/>
              </a:rPr>
              <a:t>Where homes are in poorer condition, people get more respiratory illness. That stays true even after we account for age, income, and whether someone smokes. Better housing is not only about comfort. It is about how often families get sick.</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B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0972800" cy="548640"/>
          </a:xfrm>
          <a:prstGeom prst="rect">
            <a:avLst/>
          </a:prstGeom>
          <a:noFill/>
        </p:spPr>
        <p:txBody>
          <a:bodyPr wrap="square" anchor="t">
            <a:spAutoFit/>
          </a:bodyPr>
          <a:lstStyle/>
          <a:p>
            <a:pPr algn="l"/>
            <a:r>
              <a:rPr sz="2600" b="1" i="0">
                <a:solidFill>
                  <a:srgbClr val="FFFFFF"/>
                </a:solidFill>
                <a:latin typeface="Calibri"/>
              </a:rPr>
              <a:t>Where illness is highest</a:t>
            </a:r>
          </a:p>
        </p:txBody>
      </p:sp>
      <p:graphicFrame>
        <p:nvGraphicFramePr>
          <p:cNvPr id="4" name="Chart 3"/>
          <p:cNvGraphicFramePr>
            <a:graphicFrameLocks noGrp="1"/>
          </p:cNvGraphicFramePr>
          <p:nvPr/>
        </p:nvGraphicFramePr>
        <p:xfrm>
          <a:off x="731520" y="1371600"/>
          <a:ext cx="10698480" cy="4754880"/>
        </p:xfrm>
        <a:graphic>
          <a:graphicData uri="http://schemas.openxmlformats.org/drawingml/2006/chart">
            <c:chart xmlns:c="http://schemas.openxmlformats.org/drawingml/2006/chart" r:id="rId2"/>
          </a:graphicData>
        </a:graphic>
      </p:graphicFrame>
      <p:sp>
        <p:nvSpPr>
          <p:cNvPr id="5" name="TextBox 4"/>
          <p:cNvSpPr txBox="1"/>
          <p:nvPr/>
        </p:nvSpPr>
        <p:spPr>
          <a:xfrm>
            <a:off x="731520" y="6126480"/>
            <a:ext cx="10972800" cy="548640"/>
          </a:xfrm>
          <a:prstGeom prst="rect">
            <a:avLst/>
          </a:prstGeom>
          <a:noFill/>
        </p:spPr>
        <p:txBody>
          <a:bodyPr wrap="square" anchor="t">
            <a:spAutoFit/>
          </a:bodyPr>
          <a:lstStyle/>
          <a:p>
            <a:pPr algn="l"/>
            <a:r>
              <a:rPr sz="1200" b="0" i="1">
                <a:solidFill>
                  <a:srgbClr val="8A6B5E"/>
                </a:solidFill>
                <a:latin typeface="Calibri"/>
              </a:rPr>
              <a:t>Respiratory illness episodes per 1,000 person-months, by housing quality group.</a:t>
            </a:r>
          </a:p>
        </p:txBody>
      </p:sp>
    </p:spTree>
  </p:cSld>
  <p:clrMapOvr>
    <a:masterClrMapping/>
  </p:clrMapOvr>
  <p:transition spd="med">
    <p:wipe dir="r"/>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3EC"/>
        </a:solidFill>
        <a:effectLst/>
      </p:bgPr>
    </p:bg>
    <p:spTree>
      <p:nvGrpSpPr>
        <p:cNvPr id="1" name=""/>
        <p:cNvGrpSpPr/>
        <p:nvPr/>
      </p:nvGrpSpPr>
      <p:grpSpPr/>
      <p:sp>
        <p:nvSpPr>
          <p:cNvPr id="2" name="TextBox 1"/>
          <p:cNvSpPr txBox="1"/>
          <p:nvPr/>
        </p:nvSpPr>
        <p:spPr>
          <a:xfrm>
            <a:off x="640080" y="457200"/>
            <a:ext cx="10972800" cy="640080"/>
          </a:xfrm>
          <a:prstGeom prst="rect">
            <a:avLst/>
          </a:prstGeom>
          <a:noFill/>
        </p:spPr>
        <p:txBody>
          <a:bodyPr wrap="square" anchor="t">
            <a:spAutoFit/>
          </a:bodyPr>
          <a:lstStyle/>
          <a:p>
            <a:pPr algn="l"/>
            <a:r>
              <a:rPr sz="2400" b="1" i="0">
                <a:solidFill>
                  <a:srgbClr val="6B1F2A"/>
                </a:solidFill>
                <a:latin typeface="Calibri"/>
              </a:rPr>
              <a:t>What residents told us helped</a:t>
            </a:r>
          </a:p>
        </p:txBody>
      </p:sp>
      <p:sp>
        <p:nvSpPr>
          <p:cNvPr id="3" name="TextBox 2"/>
          <p:cNvSpPr txBox="1"/>
          <p:nvPr/>
        </p:nvSpPr>
        <p:spPr>
          <a:xfrm>
            <a:off x="822960" y="1463040"/>
            <a:ext cx="10332720" cy="4572000"/>
          </a:xfrm>
          <a:prstGeom prst="rect">
            <a:avLst/>
          </a:prstGeom>
          <a:noFill/>
        </p:spPr>
        <p:txBody>
          <a:bodyPr wrap="square">
            <a:spAutoFit/>
          </a:bodyPr>
          <a:lstStyle/>
          <a:p>
            <a:pPr>
              <a:spcAft>
                <a:spcPts val="1600"/>
              </a:spcAft>
            </a:pPr>
            <a:r>
              <a:rPr sz="1800" b="1">
                <a:solidFill>
                  <a:srgbClr val="E07A3F"/>
                </a:solidFill>
                <a:latin typeface="Calibri"/>
              </a:rPr>
              <a:t>•  </a:t>
            </a:r>
            <a:r>
              <a:rPr b="1" sz="1800">
                <a:solidFill>
                  <a:srgbClr val="3D1218"/>
                </a:solidFill>
                <a:latin typeface="Calibri"/>
              </a:rPr>
              <a:t>Repairs that matter</a:t>
            </a:r>
            <a:r>
              <a:rPr sz="1700">
                <a:solidFill>
                  <a:srgbClr val="3D1218"/>
                </a:solidFill>
                <a:latin typeface="Calibri"/>
              </a:rPr>
              <a:t>  Fixing leaks, mold, and ventilation came up most often.</a:t>
            </a:r>
          </a:p>
          <a:p>
            <a:pPr>
              <a:spcAft>
                <a:spcPts val="1600"/>
              </a:spcAft>
            </a:pPr>
            <a:r>
              <a:rPr sz="1800" b="1">
                <a:solidFill>
                  <a:srgbClr val="E07A3F"/>
                </a:solidFill>
                <a:latin typeface="Calibri"/>
              </a:rPr>
              <a:t>•  </a:t>
            </a:r>
            <a:r>
              <a:rPr b="1" sz="1800">
                <a:solidFill>
                  <a:srgbClr val="3D1218"/>
                </a:solidFill>
                <a:latin typeface="Calibri"/>
              </a:rPr>
              <a:t>Knowing the inspection process</a:t>
            </a:r>
            <a:r>
              <a:rPr sz="1700">
                <a:solidFill>
                  <a:srgbClr val="3D1218"/>
                </a:solidFill>
                <a:latin typeface="Calibri"/>
              </a:rPr>
              <a:t>  Residents wanted a clearer path to report housing problems.</a:t>
            </a:r>
          </a:p>
          <a:p>
            <a:pPr>
              <a:spcAft>
                <a:spcPts val="1600"/>
              </a:spcAft>
            </a:pPr>
            <a:r>
              <a:rPr sz="1800" b="1">
                <a:solidFill>
                  <a:srgbClr val="E07A3F"/>
                </a:solidFill>
                <a:latin typeface="Calibri"/>
              </a:rPr>
              <a:t>•  </a:t>
            </a:r>
            <a:r>
              <a:rPr b="1" sz="1800">
                <a:solidFill>
                  <a:srgbClr val="3D1218"/>
                </a:solidFill>
                <a:latin typeface="Calibri"/>
              </a:rPr>
              <a:t>Local clinics close by</a:t>
            </a:r>
            <a:r>
              <a:rPr sz="1700">
                <a:solidFill>
                  <a:srgbClr val="3D1218"/>
                </a:solidFill>
                <a:latin typeface="Calibri"/>
              </a:rPr>
              <a:t>  Care that is easy to reach changes whether illness gets treated early.</a:t>
            </a:r>
          </a:p>
          <a:p>
            <a:pPr>
              <a:spcAft>
                <a:spcPts val="1600"/>
              </a:spcAft>
            </a:pPr>
            <a:r>
              <a:rPr sz="1800" b="1">
                <a:solidFill>
                  <a:srgbClr val="E07A3F"/>
                </a:solidFill>
                <a:latin typeface="Calibri"/>
              </a:rPr>
              <a:t>•  </a:t>
            </a:r>
            <a:r>
              <a:rPr b="1" sz="1800">
                <a:solidFill>
                  <a:srgbClr val="3D1218"/>
                </a:solidFill>
                <a:latin typeface="Calibri"/>
              </a:rPr>
              <a:t>Neighbors sharing information</a:t>
            </a:r>
            <a:r>
              <a:rPr sz="1700">
                <a:solidFill>
                  <a:srgbClr val="3D1218"/>
                </a:solidFill>
                <a:latin typeface="Calibri"/>
              </a:rPr>
              <a:t>  Word of mouth moved health resources faster than any flyer.</a:t>
            </a:r>
          </a:p>
        </p:txBody>
      </p:sp>
    </p:spTree>
  </p:cSld>
  <p:clrMapOvr>
    <a:masterClrMapping/>
  </p:clrMapOvr>
  <p:transition spd="med">
    <p:push dir="l"/>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07A3F"/>
        </a:solidFill>
        <a:effectLst/>
      </p:bgPr>
    </p:bg>
    <p:spTree>
      <p:nvGrpSpPr>
        <p:cNvPr id="1" name=""/>
        <p:cNvGrpSpPr/>
        <p:nvPr/>
      </p:nvGrpSpPr>
      <p:grpSpPr/>
      <p:sp>
        <p:nvSpPr>
          <p:cNvPr id="2" name="TextBox 1"/>
          <p:cNvSpPr txBox="1"/>
          <p:nvPr/>
        </p:nvSpPr>
        <p:spPr>
          <a:xfrm>
            <a:off x="822960" y="2468880"/>
            <a:ext cx="10515600" cy="1097280"/>
          </a:xfrm>
          <a:prstGeom prst="rect">
            <a:avLst/>
          </a:prstGeom>
          <a:noFill/>
        </p:spPr>
        <p:txBody>
          <a:bodyPr wrap="square" anchor="t">
            <a:spAutoFit/>
          </a:bodyPr>
          <a:lstStyle/>
          <a:p>
            <a:pPr algn="l"/>
            <a:r>
              <a:rPr sz="3400" b="1" i="0">
                <a:solidFill>
                  <a:srgbClr val="FFFFFF"/>
                </a:solidFill>
                <a:latin typeface="Calibri"/>
              </a:rPr>
              <a:t>Thank you for taking part</a:t>
            </a:r>
          </a:p>
        </p:txBody>
      </p:sp>
      <p:sp>
        <p:nvSpPr>
          <p:cNvPr id="3" name="TextBox 2"/>
          <p:cNvSpPr txBox="1"/>
          <p:nvPr/>
        </p:nvSpPr>
        <p:spPr>
          <a:xfrm>
            <a:off x="822960" y="3657600"/>
            <a:ext cx="10058400" cy="914400"/>
          </a:xfrm>
          <a:prstGeom prst="rect">
            <a:avLst/>
          </a:prstGeom>
          <a:noFill/>
        </p:spPr>
        <p:txBody>
          <a:bodyPr wrap="square" anchor="t">
            <a:spAutoFit/>
          </a:bodyPr>
          <a:lstStyle/>
          <a:p>
            <a:pPr algn="l">
              <a:lnSpc>
                <a:spcPct val="130000"/>
              </a:lnSpc>
            </a:pPr>
            <a:r>
              <a:rPr sz="1600" b="0" i="0">
                <a:solidFill>
                  <a:srgbClr val="3D1218"/>
                </a:solidFill>
                <a:latin typeface="Calibri"/>
              </a:rPr>
              <a:t>This work belongs to the six neighborhoods that made it possible.</a:t>
            </a:r>
          </a:p>
          <a:p>
            <a:pPr algn="l">
              <a:lnSpc>
                <a:spcPct val="130000"/>
              </a:lnSpc>
            </a:pPr>
            <a:r>
              <a:rPr sz="1600" b="0" i="0">
                <a:solidFill>
                  <a:srgbClr val="3D1218"/>
                </a:solidFill>
                <a:latin typeface="Calibri"/>
              </a:rPr>
              <a:t>Questions are welcome at gerald.roman@gmail.com.</a:t>
            </a:r>
          </a:p>
        </p:txBody>
      </p:sp>
    </p:spTree>
  </p:cSld>
  <p:clrMapOvr>
    <a:masterClrMapping/>
  </p:clrMapOvr>
  <p:transition spd="med">
    <p:cover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