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331720"/>
            <a:ext cx="2377440" cy="109728"/>
          </a:xfrm>
          <a:prstGeom prst="rect">
            <a:avLst/>
          </a:prstGeom>
          <a:solidFill>
            <a:srgbClr val="7C5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Fingerstyle Technique Intensive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C9BBEA"/>
                </a:solidFill>
                <a:latin typeface="Calibri"/>
              </a:rPr>
              <a:t>Making one guitar sound like more than one instrument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93776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9A93B8"/>
                </a:solidFill>
                <a:latin typeface="Calibri"/>
              </a:rPr>
              <a:t>A three hour hands-on workshop with Gerald Roman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9A93B8"/>
                </a:solidFill>
                <a:latin typeface="Calibri"/>
              </a:rPr>
              <a:t>Dragonfly Music Center, Studio B   |   November 14, 2026   |   Intermediate level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E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7C5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2D2A4A"/>
                </a:solidFill>
                <a:latin typeface="Calibri"/>
              </a:rPr>
              <a:t>What we will 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1">
                <a:solidFill>
                  <a:srgbClr val="7C5CBF"/>
                </a:solidFill>
                <a:latin typeface="Calibri"/>
              </a:rPr>
              <a:t>•  </a:t>
            </a:r>
            <a:r>
              <a:rPr b="1" sz="1800">
                <a:solidFill>
                  <a:srgbClr val="241F3A"/>
                </a:solidFill>
                <a:latin typeface="Calibri"/>
              </a:rPr>
              <a:t>The Travis pick</a:t>
            </a:r>
            <a:r>
              <a:rPr sz="1700">
                <a:solidFill>
                  <a:srgbClr val="241F3A"/>
                </a:solidFill>
                <a:latin typeface="Calibri"/>
              </a:rPr>
              <a:t>  Steady alternating bass under a free melody hand.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7C5CBF"/>
                </a:solidFill>
                <a:latin typeface="Calibri"/>
              </a:rPr>
              <a:t>•  </a:t>
            </a:r>
            <a:r>
              <a:rPr b="1" sz="1800">
                <a:solidFill>
                  <a:srgbClr val="241F3A"/>
                </a:solidFill>
                <a:latin typeface="Calibri"/>
              </a:rPr>
              <a:t>Bass independence</a:t>
            </a:r>
            <a:r>
              <a:rPr sz="1700">
                <a:solidFill>
                  <a:srgbClr val="241F3A"/>
                </a:solidFill>
                <a:latin typeface="Calibri"/>
              </a:rPr>
              <a:t>  Training the thumb to keep time on its own.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7C5CBF"/>
                </a:solidFill>
                <a:latin typeface="Calibri"/>
              </a:rPr>
              <a:t>•  </a:t>
            </a:r>
            <a:r>
              <a:rPr b="1" sz="1800">
                <a:solidFill>
                  <a:srgbClr val="241F3A"/>
                </a:solidFill>
                <a:latin typeface="Calibri"/>
              </a:rPr>
              <a:t>Melody over motion</a:t>
            </a:r>
            <a:r>
              <a:rPr sz="1700">
                <a:solidFill>
                  <a:srgbClr val="241F3A"/>
                </a:solidFill>
                <a:latin typeface="Calibri"/>
              </a:rPr>
              <a:t>  Holding a singing line against a moving bass.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7C5CBF"/>
                </a:solidFill>
                <a:latin typeface="Calibri"/>
              </a:rPr>
              <a:t>•  </a:t>
            </a:r>
            <a:r>
              <a:rPr b="1" sz="1800">
                <a:solidFill>
                  <a:srgbClr val="241F3A"/>
                </a:solidFill>
                <a:latin typeface="Calibri"/>
              </a:rPr>
              <a:t>Putting it together</a:t>
            </a:r>
            <a:r>
              <a:rPr sz="1700">
                <a:solidFill>
                  <a:srgbClr val="241F3A"/>
                </a:solidFill>
                <a:latin typeface="Calibri"/>
              </a:rPr>
              <a:t>  A short folk arrangement you leave able to play.</a:t>
            </a:r>
          </a:p>
        </p:txBody>
      </p:sp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How the three hours run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972800" cy="310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Block</a:t>
                      </a:r>
                    </a:p>
                  </a:txBody>
                  <a:tcPr marL="73152" marR="73152" marT="27432" marB="27432" anchor="ctr">
                    <a:solidFill>
                      <a:srgbClr val="7C5C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L="73152" marR="73152" marT="27432" marB="27432" anchor="ctr">
                    <a:solidFill>
                      <a:srgbClr val="7C5C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Focus</a:t>
                      </a:r>
                    </a:p>
                  </a:txBody>
                  <a:tcPr marL="73152" marR="73152" marT="27432" marB="27432" anchor="ctr">
                    <a:solidFill>
                      <a:srgbClr val="7C5CB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9E4F5"/>
                          </a:solidFill>
                          <a:latin typeface="Calibri"/>
                        </a:rPr>
                        <a:t>Warm-up</a:t>
                      </a:r>
                    </a:p>
                  </a:txBody>
                  <a:tcPr marL="73152" marR="73152" marT="27432" marB="27432" anchor="ctr">
                    <a:solidFill>
                      <a:srgbClr val="3A36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9E4F5"/>
                          </a:solidFill>
                          <a:latin typeface="Calibri"/>
                        </a:rPr>
                        <a:t>10:00 to 10:25</a:t>
                      </a:r>
                    </a:p>
                  </a:txBody>
                  <a:tcPr marL="73152" marR="73152" marT="27432" marB="27432" anchor="ctr">
                    <a:solidFill>
                      <a:srgbClr val="3A36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9E4F5"/>
                          </a:solidFill>
                          <a:latin typeface="Calibri"/>
                        </a:rPr>
                        <a:t>Posture, right-hand anchoring, slow thumb drills</a:t>
                      </a:r>
                    </a:p>
                  </a:txBody>
                  <a:tcPr marL="73152" marR="73152" marT="27432" marB="27432" anchor="ctr">
                    <a:solidFill>
                      <a:srgbClr val="3A3660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9E4F5"/>
                          </a:solidFill>
                          <a:latin typeface="Calibri"/>
                        </a:rPr>
                        <a:t>Travis pick</a:t>
                      </a:r>
                    </a:p>
                  </a:txBody>
                  <a:tcPr marL="73152" marR="73152" marT="27432" marB="27432" anchor="ctr">
                    <a:solidFill>
                      <a:srgbClr val="2D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9E4F5"/>
                          </a:solidFill>
                          <a:latin typeface="Calibri"/>
                        </a:rPr>
                        <a:t>10:25 to 11:15</a:t>
                      </a:r>
                    </a:p>
                  </a:txBody>
                  <a:tcPr marL="73152" marR="73152" marT="27432" marB="27432" anchor="ctr">
                    <a:solidFill>
                      <a:srgbClr val="2D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9E4F5"/>
                          </a:solidFill>
                          <a:latin typeface="Calibri"/>
                        </a:rPr>
                        <a:t>Alternating bass on open chords</a:t>
                      </a:r>
                    </a:p>
                  </a:txBody>
                  <a:tcPr marL="73152" marR="73152" marT="27432" marB="27432" anchor="ctr">
                    <a:solidFill>
                      <a:srgbClr val="2D2A4A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9E4F5"/>
                          </a:solidFill>
                          <a:latin typeface="Calibri"/>
                        </a:rPr>
                        <a:t>Break</a:t>
                      </a:r>
                    </a:p>
                  </a:txBody>
                  <a:tcPr marL="73152" marR="73152" marT="27432" marB="27432" anchor="ctr">
                    <a:solidFill>
                      <a:srgbClr val="3A36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9E4F5"/>
                          </a:solidFill>
                          <a:latin typeface="Calibri"/>
                        </a:rPr>
                        <a:t>11:15 to 11:25</a:t>
                      </a:r>
                    </a:p>
                  </a:txBody>
                  <a:tcPr marL="73152" marR="73152" marT="27432" marB="27432" anchor="ctr">
                    <a:solidFill>
                      <a:srgbClr val="3A36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9E4F5"/>
                          </a:solidFill>
                          <a:latin typeface="Calibri"/>
                        </a:rPr>
                        <a:t>Rest the hands</a:t>
                      </a:r>
                    </a:p>
                  </a:txBody>
                  <a:tcPr marL="73152" marR="73152" marT="27432" marB="27432" anchor="ctr">
                    <a:solidFill>
                      <a:srgbClr val="3A3660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9E4F5"/>
                          </a:solidFill>
                          <a:latin typeface="Calibri"/>
                        </a:rPr>
                        <a:t>Melody work</a:t>
                      </a:r>
                    </a:p>
                  </a:txBody>
                  <a:tcPr marL="73152" marR="73152" marT="27432" marB="27432" anchor="ctr">
                    <a:solidFill>
                      <a:srgbClr val="2D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9E4F5"/>
                          </a:solidFill>
                          <a:latin typeface="Calibri"/>
                        </a:rPr>
                        <a:t>11:25 to 12:20</a:t>
                      </a:r>
                    </a:p>
                  </a:txBody>
                  <a:tcPr marL="73152" marR="73152" marT="27432" marB="27432" anchor="ctr">
                    <a:solidFill>
                      <a:srgbClr val="2D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9E4F5"/>
                          </a:solidFill>
                          <a:latin typeface="Calibri"/>
                        </a:rPr>
                        <a:t>Adding a tune above the bass</a:t>
                      </a:r>
                    </a:p>
                  </a:txBody>
                  <a:tcPr marL="73152" marR="73152" marT="27432" marB="27432" anchor="ctr">
                    <a:solidFill>
                      <a:srgbClr val="2D2A4A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9E4F5"/>
                          </a:solidFill>
                          <a:latin typeface="Calibri"/>
                        </a:rPr>
                        <a:t>Arrangement</a:t>
                      </a:r>
                    </a:p>
                  </a:txBody>
                  <a:tcPr marL="73152" marR="73152" marT="27432" marB="27432" anchor="ctr">
                    <a:solidFill>
                      <a:srgbClr val="3A36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9E4F5"/>
                          </a:solidFill>
                          <a:latin typeface="Calibri"/>
                        </a:rPr>
                        <a:t>12:20 to 1:00</a:t>
                      </a:r>
                    </a:p>
                  </a:txBody>
                  <a:tcPr marL="73152" marR="73152" marT="27432" marB="27432" anchor="ctr">
                    <a:solidFill>
                      <a:srgbClr val="3A36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9E4F5"/>
                          </a:solidFill>
                          <a:latin typeface="Calibri"/>
                        </a:rPr>
                        <a:t>Build and play a short piece together</a:t>
                      </a:r>
                    </a:p>
                  </a:txBody>
                  <a:tcPr marL="73152" marR="73152" marT="27432" marB="27432" anchor="ctr">
                    <a:solidFill>
                      <a:srgbClr val="3A366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48463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C9BBEA"/>
                </a:solidFill>
                <a:latin typeface="Calibri"/>
              </a:rPr>
              <a:t>Bring your own steel-string or nylon-string guitar and a capo if you own one. Finger picks are optional and there will be a few to try.</a:t>
            </a:r>
          </a:p>
        </p:txBody>
      </p:sp>
    </p:spTree>
  </p:cSld>
  <p:clrMapOvr>
    <a:masterClrMapping/>
  </p:clrMapOvr>
  <p:transition spd="med">
    <p:wipe dir="d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E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2D2A4A"/>
                </a:solidFill>
                <a:latin typeface="Calibri"/>
              </a:rPr>
              <a:t>Pieces we draw from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69848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49240"/>
                <a:gridCol w="534924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Piece</a:t>
                      </a:r>
                    </a:p>
                  </a:txBody>
                  <a:tcPr marL="73152" marR="73152" marT="27432" marB="27432" anchor="ctr">
                    <a:solidFill>
                      <a:srgbClr val="2D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Technique it teaches</a:t>
                      </a:r>
                    </a:p>
                  </a:txBody>
                  <a:tcPr marL="73152" marR="73152" marT="27432" marB="27432" anchor="ctr">
                    <a:solidFill>
                      <a:srgbClr val="2D2A4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1F3A"/>
                          </a:solidFill>
                          <a:latin typeface="Calibri"/>
                        </a:rPr>
                        <a:t>A slow folk melody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41F3A"/>
                          </a:solidFill>
                          <a:latin typeface="Calibri"/>
                        </a:rPr>
                        <a:t>Alternating bass with a simple top line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1F3A"/>
                          </a:solidFill>
                          <a:latin typeface="Calibri"/>
                        </a:rPr>
                        <a:t>A fiddle-tune adaptation</a:t>
                      </a:r>
                    </a:p>
                  </a:txBody>
                  <a:tcPr marL="73152" marR="73152" marT="27432" marB="27432" anchor="ctr">
                    <a:solidFill>
                      <a:srgbClr val="E9E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41F3A"/>
                          </a:solidFill>
                          <a:latin typeface="Calibri"/>
                        </a:rPr>
                        <a:t>Speed and thumb steadiness</a:t>
                      </a:r>
                    </a:p>
                  </a:txBody>
                  <a:tcPr marL="73152" marR="73152" marT="27432" marB="27432" anchor="ctr">
                    <a:solidFill>
                      <a:srgbClr val="E9E4F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1F3A"/>
                          </a:solidFill>
                          <a:latin typeface="Calibri"/>
                        </a:rPr>
                        <a:t>A hymn arrangement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41F3A"/>
                          </a:solidFill>
                          <a:latin typeface="Calibri"/>
                        </a:rPr>
                        <a:t>Voice leading and let-ring chords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1F3A"/>
                          </a:solidFill>
                          <a:latin typeface="Calibri"/>
                        </a:rPr>
                        <a:t>A blues in E</a:t>
                      </a:r>
                    </a:p>
                  </a:txBody>
                  <a:tcPr marL="73152" marR="73152" marT="27432" marB="27432" anchor="ctr">
                    <a:solidFill>
                      <a:srgbClr val="E9E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41F3A"/>
                          </a:solidFill>
                          <a:latin typeface="Calibri"/>
                        </a:rPr>
                        <a:t>Syncopation and the pinch stroke</a:t>
                      </a:r>
                    </a:p>
                  </a:txBody>
                  <a:tcPr marL="73152" marR="73152" marT="27432" marB="27432" anchor="ctr">
                    <a:solidFill>
                      <a:srgbClr val="E9E4F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57200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241F3A"/>
                </a:solidFill>
                <a:latin typeface="Calibri"/>
              </a:rPr>
              <a:t>You leave with a printed tablature packet, a practice plan for the four weeks after, and an open invitation to email questions as you work through it.</a:t>
            </a:r>
          </a:p>
        </p:txBody>
      </p:sp>
    </p:spTree>
  </p:cSld>
  <p:clrMapOvr>
    <a:masterClrMapping/>
  </p:clrMapOvr>
  <p:transition spd="med">
    <p:split orient="vert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743200"/>
            <a:ext cx="2743200" cy="91440"/>
          </a:xfrm>
          <a:prstGeom prst="rect">
            <a:avLst/>
          </a:prstGeom>
          <a:solidFill>
            <a:srgbClr val="D9B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Keep the hands moving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C9BBEA"/>
                </a:solidFill>
                <a:latin typeface="Calibri"/>
              </a:rPr>
              <a:t>Twenty quiet minutes a day beats two rushed hours on the weekend.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C9BBEA"/>
                </a:solidFill>
                <a:latin typeface="Calibri"/>
              </a:rPr>
              <a:t>See you in Studio B.</a:t>
            </a:r>
          </a:p>
        </p:txBody>
      </p:sp>
    </p:spTree>
  </p:cSld>
  <p:clrMapOvr>
    <a:masterClrMapping/>
  </p:clrMapOvr>
  <p:transition spd="med">
    <p:cover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