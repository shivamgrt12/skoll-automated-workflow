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2A36"/>
                </a:solidFill>
              </a:rPr>
              <a:t>Surface area as a function of base side x</a:t>
            </a:r>
          </a:p>
        </c:rich>
      </c:tx>
      <c:layout/>
      <c:overlay val="0"/>
    </c:title>
    <c:autoTitleDeleted val="0"/>
    <c:plotArea>
      <c:lineChart>
        <c:grouping val="standard"/>
        <c:varyColors val="0"/>
        <c:ser>
          <c:idx val="0"/>
          <c:order val="0"/>
          <c:tx>
            <c:strRef>
              <c:f>Sheet1!$B$1</c:f>
              <c:strCache>
                <c:ptCount val="1"/>
                <c:pt idx="0">
                  <c:v>A(x) - surface area (sq cm)</c:v>
                </c:pt>
              </c:strCache>
            </c:strRef>
          </c:tx>
          <c:spPr>
            <a:ln w="34925">
              <a:solidFill>
                <a:srgbClr val="2A6F7C"/>
              </a:solidFill>
            </a:ln>
          </c:spPr>
          <c:marker>
            <c:symbol val="none"/>
          </c:marker>
          <c:cat>
            <c:strRef>
              <c:f>Sheet1!$A$2:$A$14</c:f>
              <c:strCache>
                <c:ptCount val="13"/>
                <c:pt idx="0">
                  <c:v>10</c:v>
                </c:pt>
                <c:pt idx="1">
                  <c:v>15</c:v>
                </c:pt>
                <c:pt idx="2">
                  <c:v>20</c:v>
                </c:pt>
                <c:pt idx="3">
                  <c:v>25</c:v>
                </c:pt>
                <c:pt idx="4">
                  <c:v>30</c:v>
                </c:pt>
                <c:pt idx="5">
                  <c:v>35</c:v>
                </c:pt>
                <c:pt idx="6">
                  <c:v>40</c:v>
                </c:pt>
                <c:pt idx="7">
                  <c:v>45</c:v>
                </c:pt>
                <c:pt idx="8">
                  <c:v>50</c:v>
                </c:pt>
                <c:pt idx="9">
                  <c:v>55</c:v>
                </c:pt>
                <c:pt idx="10">
                  <c:v>60</c:v>
                </c:pt>
                <c:pt idx="11">
                  <c:v>65</c:v>
                </c:pt>
                <c:pt idx="12">
                  <c:v>70</c:v>
                </c:pt>
              </c:strCache>
            </c:strRef>
          </c:cat>
          <c:val>
            <c:numRef>
              <c:f>Sheet1!$B$2:$B$14</c:f>
              <c:numCache>
                <c:formatCode>General</c:formatCode>
                <c:ptCount val="13"/>
                <c:pt idx="0">
                  <c:v>12900.0</c:v>
                </c:pt>
                <c:pt idx="1">
                  <c:v>8758.333333333334</c:v>
                </c:pt>
                <c:pt idx="2">
                  <c:v>6800.0</c:v>
                </c:pt>
                <c:pt idx="3">
                  <c:v>5745.0</c:v>
                </c:pt>
                <c:pt idx="4">
                  <c:v>5166.666666666667</c:v>
                </c:pt>
                <c:pt idx="5">
                  <c:v>4882.142857142857</c:v>
                </c:pt>
                <c:pt idx="6">
                  <c:v>4800.0</c:v>
                </c:pt>
                <c:pt idx="7">
                  <c:v>4869.444444444444</c:v>
                </c:pt>
                <c:pt idx="8">
                  <c:v>5060.0</c:v>
                </c:pt>
                <c:pt idx="9">
                  <c:v>5352.272727272728</c:v>
                </c:pt>
                <c:pt idx="10">
                  <c:v>5733.333333333334</c:v>
                </c:pt>
                <c:pt idx="11">
                  <c:v>6194.2307692307695</c:v>
                </c:pt>
                <c:pt idx="12">
                  <c:v>6728.571428571428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0"/>
          </a:xfrm>
          <a:prstGeom prst="rect">
            <a:avLst/>
          </a:prstGeom>
          <a:solidFill>
            <a:srgbClr val="0F2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965960"/>
            <a:ext cx="12191695" cy="73152"/>
          </a:xfrm>
          <a:prstGeom prst="rect">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11480"/>
            <a:ext cx="10058400" cy="457200"/>
          </a:xfrm>
          <a:prstGeom prst="rect">
            <a:avLst/>
          </a:prstGeom>
          <a:noFill/>
        </p:spPr>
        <p:txBody>
          <a:bodyPr wrap="square" lIns="0" rIns="0" tIns="0" bIns="0" anchor="t">
            <a:spAutoFit/>
          </a:bodyPr>
          <a:lstStyle/>
          <a:p>
            <a:pPr algn="l"/>
            <a:r>
              <a:rPr sz="1400" b="1">
                <a:solidFill>
                  <a:srgbClr val="D5A838"/>
                </a:solidFill>
                <a:latin typeface="Calibri"/>
              </a:rPr>
              <a:t>UNIT 3 - APPLICATIONS OF DERIVATIVES</a:t>
            </a:r>
          </a:p>
        </p:txBody>
      </p:sp>
      <p:sp>
        <p:nvSpPr>
          <p:cNvPr id="6" name="TextBox 5"/>
          <p:cNvSpPr txBox="1"/>
          <p:nvPr/>
        </p:nvSpPr>
        <p:spPr>
          <a:xfrm>
            <a:off x="548640" y="868680"/>
            <a:ext cx="10972800" cy="1097280"/>
          </a:xfrm>
          <a:prstGeom prst="rect">
            <a:avLst/>
          </a:prstGeom>
          <a:noFill/>
        </p:spPr>
        <p:txBody>
          <a:bodyPr wrap="square" lIns="0" rIns="0" tIns="0" bIns="0" anchor="t">
            <a:spAutoFit/>
          </a:bodyPr>
          <a:lstStyle/>
          <a:p>
            <a:pPr algn="l"/>
            <a:r>
              <a:rPr sz="5400" b="1">
                <a:solidFill>
                  <a:srgbClr val="FFFFFF"/>
                </a:solidFill>
                <a:latin typeface="Calibri"/>
              </a:rPr>
              <a:t>Optimization</a:t>
            </a:r>
          </a:p>
        </p:txBody>
      </p:sp>
      <p:sp>
        <p:nvSpPr>
          <p:cNvPr id="7" name="TextBox 6"/>
          <p:cNvSpPr txBox="1"/>
          <p:nvPr/>
        </p:nvSpPr>
        <p:spPr>
          <a:xfrm>
            <a:off x="548640" y="2468880"/>
            <a:ext cx="10058400" cy="548640"/>
          </a:xfrm>
          <a:prstGeom prst="rect">
            <a:avLst/>
          </a:prstGeom>
          <a:noFill/>
        </p:spPr>
        <p:txBody>
          <a:bodyPr wrap="square" lIns="0" rIns="0" tIns="0" bIns="0" anchor="t">
            <a:spAutoFit/>
          </a:bodyPr>
          <a:lstStyle/>
          <a:p>
            <a:pPr algn="l"/>
            <a:r>
              <a:rPr sz="2600" b="1">
                <a:solidFill>
                  <a:srgbClr val="0F2A36"/>
                </a:solidFill>
                <a:latin typeface="Calibri"/>
              </a:rPr>
              <a:t>Designing a Box with Minimum Surface Area</a:t>
            </a:r>
          </a:p>
        </p:txBody>
      </p:sp>
      <p:sp>
        <p:nvSpPr>
          <p:cNvPr id="8" name="TextBox 7"/>
          <p:cNvSpPr txBox="1"/>
          <p:nvPr/>
        </p:nvSpPr>
        <p:spPr>
          <a:xfrm>
            <a:off x="548640" y="3108960"/>
            <a:ext cx="10058400" cy="457200"/>
          </a:xfrm>
          <a:prstGeom prst="rect">
            <a:avLst/>
          </a:prstGeom>
          <a:noFill/>
        </p:spPr>
        <p:txBody>
          <a:bodyPr wrap="square" lIns="0" rIns="0" tIns="0" bIns="0" anchor="t">
            <a:spAutoFit/>
          </a:bodyPr>
          <a:lstStyle/>
          <a:p>
            <a:pPr algn="l"/>
            <a:r>
              <a:rPr sz="1800" b="0">
                <a:solidFill>
                  <a:srgbClr val="5D6573"/>
                </a:solidFill>
                <a:latin typeface="Calibri"/>
              </a:rPr>
              <a:t>Why one variable beats two every time</a:t>
            </a:r>
          </a:p>
        </p:txBody>
      </p:sp>
      <p:sp>
        <p:nvSpPr>
          <p:cNvPr id="9" name="TextBox 8"/>
          <p:cNvSpPr txBox="1"/>
          <p:nvPr/>
        </p:nvSpPr>
        <p:spPr>
          <a:xfrm>
            <a:off x="548640" y="5394960"/>
            <a:ext cx="10058400" cy="365760"/>
          </a:xfrm>
          <a:prstGeom prst="rect">
            <a:avLst/>
          </a:prstGeom>
          <a:noFill/>
        </p:spPr>
        <p:txBody>
          <a:bodyPr wrap="square" lIns="0" rIns="0" tIns="0" bIns="0" anchor="t">
            <a:spAutoFit/>
          </a:bodyPr>
          <a:lstStyle/>
          <a:p>
            <a:pPr algn="l"/>
            <a:r>
              <a:rPr sz="1400" b="0">
                <a:solidFill>
                  <a:srgbClr val="0F2A36"/>
                </a:solidFill>
                <a:latin typeface="Calibri"/>
              </a:rPr>
              <a:t>Mr. Hari Mooney  -  AP Calculus AB  -  Period 4, Room 204</a:t>
            </a:r>
          </a:p>
        </p:txBody>
      </p:sp>
      <p:sp>
        <p:nvSpPr>
          <p:cNvPr id="10" name="TextBox 9"/>
          <p:cNvSpPr txBox="1"/>
          <p:nvPr/>
        </p:nvSpPr>
        <p:spPr>
          <a:xfrm>
            <a:off x="548640" y="5760720"/>
            <a:ext cx="10058400" cy="365760"/>
          </a:xfrm>
          <a:prstGeom prst="rect">
            <a:avLst/>
          </a:prstGeom>
          <a:noFill/>
        </p:spPr>
        <p:txBody>
          <a:bodyPr wrap="square" lIns="0" rIns="0" tIns="0" bIns="0" anchor="t">
            <a:spAutoFit/>
          </a:bodyPr>
          <a:lstStyle/>
          <a:p>
            <a:pPr algn="l"/>
            <a:r>
              <a:rPr sz="1200" b="0">
                <a:solidFill>
                  <a:srgbClr val="5D6573"/>
                </a:solidFill>
                <a:latin typeface="Calibri"/>
              </a:rPr>
              <a:t>Lesson date: October 28,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Learning Objectives</a:t>
            </a:r>
          </a:p>
        </p:txBody>
      </p:sp>
      <p:sp>
        <p:nvSpPr>
          <p:cNvPr id="5" name="Oval 4"/>
          <p:cNvSpPr/>
          <p:nvPr/>
        </p:nvSpPr>
        <p:spPr>
          <a:xfrm>
            <a:off x="640080" y="1463040"/>
            <a:ext cx="502920" cy="502920"/>
          </a:xfrm>
          <a:prstGeom prst="ellipse">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libri"/>
              </a:rPr>
              <a:t>1</a:t>
            </a:r>
          </a:p>
        </p:txBody>
      </p:sp>
      <p:sp>
        <p:nvSpPr>
          <p:cNvPr id="6" name="TextBox 5"/>
          <p:cNvSpPr txBox="1"/>
          <p:nvPr/>
        </p:nvSpPr>
        <p:spPr>
          <a:xfrm>
            <a:off x="1371600" y="1517904"/>
            <a:ext cx="7772400" cy="548640"/>
          </a:xfrm>
          <a:prstGeom prst="rect">
            <a:avLst/>
          </a:prstGeom>
          <a:noFill/>
        </p:spPr>
        <p:txBody>
          <a:bodyPr wrap="square" lIns="0" rIns="0" tIns="0" bIns="0" anchor="t">
            <a:spAutoFit/>
          </a:bodyPr>
          <a:lstStyle/>
          <a:p>
            <a:pPr algn="l"/>
            <a:r>
              <a:rPr sz="1800" b="0">
                <a:solidFill>
                  <a:srgbClr val="0F2A36"/>
                </a:solidFill>
                <a:latin typeface="Calibri"/>
              </a:rPr>
              <a:t>Translate a real-world description into a function of one variable.</a:t>
            </a:r>
          </a:p>
        </p:txBody>
      </p:sp>
      <p:sp>
        <p:nvSpPr>
          <p:cNvPr id="7" name="Oval 6"/>
          <p:cNvSpPr/>
          <p:nvPr/>
        </p:nvSpPr>
        <p:spPr>
          <a:xfrm>
            <a:off x="640080" y="2240280"/>
            <a:ext cx="502920" cy="502920"/>
          </a:xfrm>
          <a:prstGeom prst="ellipse">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libri"/>
              </a:rPr>
              <a:t>2</a:t>
            </a:r>
          </a:p>
        </p:txBody>
      </p:sp>
      <p:sp>
        <p:nvSpPr>
          <p:cNvPr id="8" name="TextBox 7"/>
          <p:cNvSpPr txBox="1"/>
          <p:nvPr/>
        </p:nvSpPr>
        <p:spPr>
          <a:xfrm>
            <a:off x="1371600" y="2295144"/>
            <a:ext cx="7772400" cy="548640"/>
          </a:xfrm>
          <a:prstGeom prst="rect">
            <a:avLst/>
          </a:prstGeom>
          <a:noFill/>
        </p:spPr>
        <p:txBody>
          <a:bodyPr wrap="square" lIns="0" rIns="0" tIns="0" bIns="0" anchor="t">
            <a:spAutoFit/>
          </a:bodyPr>
          <a:lstStyle/>
          <a:p>
            <a:pPr algn="l"/>
            <a:r>
              <a:rPr sz="1800" b="0">
                <a:solidFill>
                  <a:srgbClr val="0F2A36"/>
                </a:solidFill>
                <a:latin typeface="Calibri"/>
              </a:rPr>
              <a:t>Set up an objective function and a constraint equation.</a:t>
            </a:r>
          </a:p>
        </p:txBody>
      </p:sp>
      <p:sp>
        <p:nvSpPr>
          <p:cNvPr id="9" name="Oval 8"/>
          <p:cNvSpPr/>
          <p:nvPr/>
        </p:nvSpPr>
        <p:spPr>
          <a:xfrm>
            <a:off x="640080" y="3017520"/>
            <a:ext cx="502920" cy="502920"/>
          </a:xfrm>
          <a:prstGeom prst="ellipse">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libri"/>
              </a:rPr>
              <a:t>3</a:t>
            </a:r>
          </a:p>
        </p:txBody>
      </p:sp>
      <p:sp>
        <p:nvSpPr>
          <p:cNvPr id="10" name="TextBox 9"/>
          <p:cNvSpPr txBox="1"/>
          <p:nvPr/>
        </p:nvSpPr>
        <p:spPr>
          <a:xfrm>
            <a:off x="1371600" y="3072384"/>
            <a:ext cx="7772400" cy="548640"/>
          </a:xfrm>
          <a:prstGeom prst="rect">
            <a:avLst/>
          </a:prstGeom>
          <a:noFill/>
        </p:spPr>
        <p:txBody>
          <a:bodyPr wrap="square" lIns="0" rIns="0" tIns="0" bIns="0" anchor="t">
            <a:spAutoFit/>
          </a:bodyPr>
          <a:lstStyle/>
          <a:p>
            <a:pPr algn="l"/>
            <a:r>
              <a:rPr sz="1800" b="0">
                <a:solidFill>
                  <a:srgbClr val="0F2A36"/>
                </a:solidFill>
                <a:latin typeface="Calibri"/>
              </a:rPr>
              <a:t>Use the first derivative test to locate extrema and confirm with the second derivative.</a:t>
            </a:r>
          </a:p>
        </p:txBody>
      </p:sp>
      <p:sp>
        <p:nvSpPr>
          <p:cNvPr id="11" name="Oval 10"/>
          <p:cNvSpPr/>
          <p:nvPr/>
        </p:nvSpPr>
        <p:spPr>
          <a:xfrm>
            <a:off x="640080" y="3794760"/>
            <a:ext cx="502920" cy="502920"/>
          </a:xfrm>
          <a:prstGeom prst="ellipse">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libri"/>
              </a:rPr>
              <a:t>4</a:t>
            </a:r>
          </a:p>
        </p:txBody>
      </p:sp>
      <p:sp>
        <p:nvSpPr>
          <p:cNvPr id="12" name="TextBox 11"/>
          <p:cNvSpPr txBox="1"/>
          <p:nvPr/>
        </p:nvSpPr>
        <p:spPr>
          <a:xfrm>
            <a:off x="1371600" y="3849624"/>
            <a:ext cx="7772400" cy="548640"/>
          </a:xfrm>
          <a:prstGeom prst="rect">
            <a:avLst/>
          </a:prstGeom>
          <a:noFill/>
        </p:spPr>
        <p:txBody>
          <a:bodyPr wrap="square" lIns="0" rIns="0" tIns="0" bIns="0" anchor="t">
            <a:spAutoFit/>
          </a:bodyPr>
          <a:lstStyle/>
          <a:p>
            <a:pPr algn="l"/>
            <a:r>
              <a:rPr sz="1800" b="0">
                <a:solidFill>
                  <a:srgbClr val="0F2A36"/>
                </a:solidFill>
                <a:latin typeface="Calibri"/>
              </a:rPr>
              <a:t>Interpret the answer in the original context, with correct units.</a:t>
            </a:r>
          </a:p>
        </p:txBody>
      </p:sp>
      <p:sp>
        <p:nvSpPr>
          <p:cNvPr id="13" name="TextBox 12"/>
          <p:cNvSpPr txBox="1"/>
          <p:nvPr/>
        </p:nvSpPr>
        <p:spPr>
          <a:xfrm>
            <a:off x="9509760" y="1463040"/>
            <a:ext cx="2377440" cy="365760"/>
          </a:xfrm>
          <a:prstGeom prst="rect">
            <a:avLst/>
          </a:prstGeom>
          <a:noFill/>
        </p:spPr>
        <p:txBody>
          <a:bodyPr wrap="square" lIns="0" rIns="0" tIns="0" bIns="0" anchor="t">
            <a:spAutoFit/>
          </a:bodyPr>
          <a:lstStyle/>
          <a:p>
            <a:pPr algn="l"/>
            <a:r>
              <a:rPr sz="1200" b="1">
                <a:solidFill>
                  <a:srgbClr val="2A6F7C"/>
                </a:solidFill>
                <a:latin typeface="Calibri"/>
              </a:rPr>
              <a:t>Today's exit ticket</a:t>
            </a:r>
          </a:p>
        </p:txBody>
      </p:sp>
      <p:sp>
        <p:nvSpPr>
          <p:cNvPr id="14" name="Rounded Rectangle 13"/>
          <p:cNvSpPr/>
          <p:nvPr/>
        </p:nvSpPr>
        <p:spPr>
          <a:xfrm>
            <a:off x="9509760" y="1828800"/>
            <a:ext cx="2377440" cy="3291840"/>
          </a:xfrm>
          <a:prstGeom prst="roundRect">
            <a:avLst/>
          </a:prstGeom>
          <a:solidFill>
            <a:srgbClr val="FFFFFF"/>
          </a:solidFill>
          <a:ln>
            <a:solidFill>
              <a:srgbClr val="2A6F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1965960"/>
            <a:ext cx="2103120" cy="3108960"/>
          </a:xfrm>
          <a:prstGeom prst="rect">
            <a:avLst/>
          </a:prstGeom>
          <a:noFill/>
        </p:spPr>
        <p:txBody>
          <a:bodyPr wrap="square" lIns="0" rIns="0" tIns="0" bIns="0" anchor="t">
            <a:spAutoFit/>
          </a:bodyPr>
          <a:lstStyle/>
          <a:p>
            <a:pPr algn="l"/>
            <a:r>
              <a:rPr sz="1400" b="0">
                <a:solidFill>
                  <a:srgbClr val="0F2A36"/>
                </a:solidFill>
                <a:latin typeface="Calibri"/>
              </a:rPr>
              <a:t>Open top, square base, volume 32,000 cubic centimetres. Find x and y that minimise the surface area. Justify with the second derivative.</a:t>
            </a:r>
          </a:p>
        </p:txBody>
      </p:sp>
      <p:sp>
        <p:nvSpPr>
          <p:cNvPr id="16" name="TextBox 15"/>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17" name="TextBox 16"/>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The Optimization Workflow</a:t>
            </a:r>
          </a:p>
        </p:txBody>
      </p:sp>
      <p:sp>
        <p:nvSpPr>
          <p:cNvPr id="5" name="Rounded Rectangle 4"/>
          <p:cNvSpPr/>
          <p:nvPr/>
        </p:nvSpPr>
        <p:spPr>
          <a:xfrm>
            <a:off x="710031" y="2377440"/>
            <a:ext cx="1920240" cy="1463040"/>
          </a:xfrm>
          <a:prstGeom prst="roundRect">
            <a:avLst/>
          </a:prstGeom>
          <a:solidFill>
            <a:srgbClr val="0F2A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Read &amp;
Define vars</a:t>
            </a:r>
          </a:p>
        </p:txBody>
      </p:sp>
      <p:sp>
        <p:nvSpPr>
          <p:cNvPr id="6" name="Right Arrow 5"/>
          <p:cNvSpPr/>
          <p:nvPr/>
        </p:nvSpPr>
        <p:spPr>
          <a:xfrm>
            <a:off x="2670271" y="2944368"/>
            <a:ext cx="212608" cy="329184"/>
          </a:xfrm>
          <a:prstGeom prst="rightArrow">
            <a:avLst/>
          </a:prstGeom>
          <a:solidFill>
            <a:srgbClr val="5D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2879" y="2377440"/>
            <a:ext cx="1920240" cy="1463040"/>
          </a:xfrm>
          <a:prstGeom prst="round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Constraint
equation</a:t>
            </a:r>
          </a:p>
        </p:txBody>
      </p:sp>
      <p:sp>
        <p:nvSpPr>
          <p:cNvPr id="8" name="Right Arrow 7"/>
          <p:cNvSpPr/>
          <p:nvPr/>
        </p:nvSpPr>
        <p:spPr>
          <a:xfrm>
            <a:off x="4883119" y="2944368"/>
            <a:ext cx="212608" cy="329184"/>
          </a:xfrm>
          <a:prstGeom prst="rightArrow">
            <a:avLst/>
          </a:prstGeom>
          <a:solidFill>
            <a:srgbClr val="5D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35727" y="2377440"/>
            <a:ext cx="1920240" cy="1463040"/>
          </a:xfrm>
          <a:prstGeom prst="roundRect">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Reduce to
one variable</a:t>
            </a:r>
          </a:p>
        </p:txBody>
      </p:sp>
      <p:sp>
        <p:nvSpPr>
          <p:cNvPr id="10" name="Right Arrow 9"/>
          <p:cNvSpPr/>
          <p:nvPr/>
        </p:nvSpPr>
        <p:spPr>
          <a:xfrm>
            <a:off x="7095967" y="2944368"/>
            <a:ext cx="212608" cy="329184"/>
          </a:xfrm>
          <a:prstGeom prst="rightArrow">
            <a:avLst/>
          </a:prstGeom>
          <a:solidFill>
            <a:srgbClr val="5D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48575" y="2377440"/>
            <a:ext cx="1920240" cy="1463040"/>
          </a:xfrm>
          <a:prstGeom prst="roundRect">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Differentiate
&amp; set to 0</a:t>
            </a:r>
          </a:p>
        </p:txBody>
      </p:sp>
      <p:sp>
        <p:nvSpPr>
          <p:cNvPr id="12" name="Right Arrow 11"/>
          <p:cNvSpPr/>
          <p:nvPr/>
        </p:nvSpPr>
        <p:spPr>
          <a:xfrm>
            <a:off x="9308815" y="2944368"/>
            <a:ext cx="212608" cy="329184"/>
          </a:xfrm>
          <a:prstGeom prst="rightArrow">
            <a:avLst/>
          </a:prstGeom>
          <a:solidFill>
            <a:srgbClr val="5D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61423" y="2377440"/>
            <a:ext cx="1920240" cy="1463040"/>
          </a:xfrm>
          <a:prstGeom prst="roundRect">
            <a:avLst/>
          </a:prstGeom>
          <a:solidFill>
            <a:srgbClr val="3D8B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Verify &amp; answer
with units</a:t>
            </a:r>
          </a:p>
        </p:txBody>
      </p:sp>
      <p:sp>
        <p:nvSpPr>
          <p:cNvPr id="14" name="TextBox 13"/>
          <p:cNvSpPr txBox="1"/>
          <p:nvPr/>
        </p:nvSpPr>
        <p:spPr>
          <a:xfrm>
            <a:off x="548640" y="4206240"/>
            <a:ext cx="11064240" cy="2194560"/>
          </a:xfrm>
          <a:prstGeom prst="rect">
            <a:avLst/>
          </a:prstGeom>
          <a:noFill/>
        </p:spPr>
        <p:txBody>
          <a:bodyPr wrap="square" lIns="0" rIns="0" tIns="0" bIns="0" anchor="t">
            <a:spAutoFit/>
          </a:bodyPr>
          <a:lstStyle/>
          <a:p>
            <a:pPr algn="l"/>
            <a:r>
              <a:rPr sz="1800" b="0">
                <a:solidFill>
                  <a:srgbClr val="0F2A36"/>
                </a:solidFill>
                <a:latin typeface="Calibri"/>
              </a:rPr>
              <a:t>Most students lose points on step 3. Once the objective is in one variable, the rest is mechanical. We will spend the next slide just on the constraint and the substitution.</a:t>
            </a:r>
          </a:p>
        </p:txBody>
      </p:sp>
      <p:sp>
        <p:nvSpPr>
          <p:cNvPr id="15" name="TextBox 14"/>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16" name="TextBox 15"/>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600" b="1">
                <a:solidFill>
                  <a:srgbClr val="FFFFFF"/>
                </a:solidFill>
                <a:latin typeface="Calibri"/>
              </a:rPr>
              <a:t>Setup - the box, the constraint, the objective</a:t>
            </a:r>
          </a:p>
        </p:txBody>
      </p:sp>
      <p:sp>
        <p:nvSpPr>
          <p:cNvPr id="5" name="TextBox 4"/>
          <p:cNvSpPr txBox="1"/>
          <p:nvPr/>
        </p:nvSpPr>
        <p:spPr>
          <a:xfrm>
            <a:off x="548640" y="1188720"/>
            <a:ext cx="6400800" cy="457200"/>
          </a:xfrm>
          <a:prstGeom prst="rect">
            <a:avLst/>
          </a:prstGeom>
          <a:noFill/>
        </p:spPr>
        <p:txBody>
          <a:bodyPr wrap="square" lIns="0" rIns="0" tIns="0" bIns="0" anchor="t">
            <a:spAutoFit/>
          </a:bodyPr>
          <a:lstStyle/>
          <a:p>
            <a:pPr algn="l"/>
            <a:r>
              <a:rPr sz="1800" b="1">
                <a:solidFill>
                  <a:srgbClr val="C97A3A"/>
                </a:solidFill>
                <a:latin typeface="Calibri"/>
              </a:rPr>
              <a:t>Variables</a:t>
            </a:r>
          </a:p>
        </p:txBody>
      </p:sp>
      <p:sp>
        <p:nvSpPr>
          <p:cNvPr id="6" name="TextBox 5"/>
          <p:cNvSpPr txBox="1"/>
          <p:nvPr/>
        </p:nvSpPr>
        <p:spPr>
          <a:xfrm>
            <a:off x="548640" y="1600200"/>
            <a:ext cx="6400800" cy="914400"/>
          </a:xfrm>
          <a:prstGeom prst="rect">
            <a:avLst/>
          </a:prstGeom>
          <a:noFill/>
        </p:spPr>
        <p:txBody>
          <a:bodyPr wrap="square" lIns="0" rIns="0" tIns="0" bIns="0" anchor="t">
            <a:spAutoFit/>
          </a:bodyPr>
          <a:lstStyle/>
          <a:p>
            <a:pPr algn="l"/>
            <a:r>
              <a:rPr sz="1800" b="0">
                <a:solidFill>
                  <a:srgbClr val="0F2A36"/>
                </a:solidFill>
                <a:latin typeface="Calibri"/>
              </a:rPr>
              <a:t>x = side of square base (cm)
y = height of the box (cm)</a:t>
            </a:r>
          </a:p>
        </p:txBody>
      </p:sp>
      <p:sp>
        <p:nvSpPr>
          <p:cNvPr id="7" name="TextBox 6"/>
          <p:cNvSpPr txBox="1"/>
          <p:nvPr/>
        </p:nvSpPr>
        <p:spPr>
          <a:xfrm>
            <a:off x="548640" y="2697480"/>
            <a:ext cx="6400800" cy="457200"/>
          </a:xfrm>
          <a:prstGeom prst="rect">
            <a:avLst/>
          </a:prstGeom>
          <a:noFill/>
        </p:spPr>
        <p:txBody>
          <a:bodyPr wrap="square" lIns="0" rIns="0" tIns="0" bIns="0" anchor="t">
            <a:spAutoFit/>
          </a:bodyPr>
          <a:lstStyle/>
          <a:p>
            <a:pPr algn="l"/>
            <a:r>
              <a:rPr sz="1800" b="1">
                <a:solidFill>
                  <a:srgbClr val="C97A3A"/>
                </a:solidFill>
                <a:latin typeface="Calibri"/>
              </a:rPr>
              <a:t>Constraint (open-top box has volume 32,000)</a:t>
            </a:r>
          </a:p>
        </p:txBody>
      </p:sp>
      <p:sp>
        <p:nvSpPr>
          <p:cNvPr id="8" name="TextBox 7"/>
          <p:cNvSpPr txBox="1"/>
          <p:nvPr/>
        </p:nvSpPr>
        <p:spPr>
          <a:xfrm>
            <a:off x="548640" y="3154680"/>
            <a:ext cx="6400800" cy="548640"/>
          </a:xfrm>
          <a:prstGeom prst="rect">
            <a:avLst/>
          </a:prstGeom>
          <a:noFill/>
        </p:spPr>
        <p:txBody>
          <a:bodyPr wrap="square" lIns="0" rIns="0" tIns="0" bIns="0" anchor="t">
            <a:spAutoFit/>
          </a:bodyPr>
          <a:lstStyle/>
          <a:p>
            <a:pPr algn="l"/>
            <a:r>
              <a:rPr sz="2000" b="1">
                <a:solidFill>
                  <a:srgbClr val="0F2A36"/>
                </a:solidFill>
                <a:latin typeface="Calibri"/>
              </a:rPr>
              <a:t>V = x^2 y = 32,000     so     y = 32,000 / x^2</a:t>
            </a:r>
          </a:p>
        </p:txBody>
      </p:sp>
      <p:sp>
        <p:nvSpPr>
          <p:cNvPr id="9" name="TextBox 8"/>
          <p:cNvSpPr txBox="1"/>
          <p:nvPr/>
        </p:nvSpPr>
        <p:spPr>
          <a:xfrm>
            <a:off x="548640" y="3931920"/>
            <a:ext cx="6400800" cy="457200"/>
          </a:xfrm>
          <a:prstGeom prst="rect">
            <a:avLst/>
          </a:prstGeom>
          <a:noFill/>
        </p:spPr>
        <p:txBody>
          <a:bodyPr wrap="square" lIns="0" rIns="0" tIns="0" bIns="0" anchor="t">
            <a:spAutoFit/>
          </a:bodyPr>
          <a:lstStyle/>
          <a:p>
            <a:pPr algn="l"/>
            <a:r>
              <a:rPr sz="1800" b="1">
                <a:solidFill>
                  <a:srgbClr val="C97A3A"/>
                </a:solidFill>
                <a:latin typeface="Calibri"/>
              </a:rPr>
              <a:t>Objective (open top - no top face)</a:t>
            </a:r>
          </a:p>
        </p:txBody>
      </p:sp>
      <p:sp>
        <p:nvSpPr>
          <p:cNvPr id="10" name="TextBox 9"/>
          <p:cNvSpPr txBox="1"/>
          <p:nvPr/>
        </p:nvSpPr>
        <p:spPr>
          <a:xfrm>
            <a:off x="548640" y="4389120"/>
            <a:ext cx="6400800" cy="548640"/>
          </a:xfrm>
          <a:prstGeom prst="rect">
            <a:avLst/>
          </a:prstGeom>
          <a:noFill/>
        </p:spPr>
        <p:txBody>
          <a:bodyPr wrap="square" lIns="0" rIns="0" tIns="0" bIns="0" anchor="t">
            <a:spAutoFit/>
          </a:bodyPr>
          <a:lstStyle/>
          <a:p>
            <a:pPr algn="l"/>
            <a:r>
              <a:rPr sz="2200" b="1">
                <a:solidFill>
                  <a:srgbClr val="0F2A36"/>
                </a:solidFill>
                <a:latin typeface="Calibri"/>
              </a:rPr>
              <a:t>A = x^2 + 4 x y</a:t>
            </a:r>
          </a:p>
        </p:txBody>
      </p:sp>
      <p:sp>
        <p:nvSpPr>
          <p:cNvPr id="11" name="TextBox 10"/>
          <p:cNvSpPr txBox="1"/>
          <p:nvPr/>
        </p:nvSpPr>
        <p:spPr>
          <a:xfrm>
            <a:off x="548640" y="5074920"/>
            <a:ext cx="6400800" cy="457200"/>
          </a:xfrm>
          <a:prstGeom prst="rect">
            <a:avLst/>
          </a:prstGeom>
          <a:noFill/>
        </p:spPr>
        <p:txBody>
          <a:bodyPr wrap="square" lIns="0" rIns="0" tIns="0" bIns="0" anchor="t">
            <a:spAutoFit/>
          </a:bodyPr>
          <a:lstStyle/>
          <a:p>
            <a:pPr algn="l"/>
            <a:r>
              <a:rPr sz="1800" b="0">
                <a:solidFill>
                  <a:srgbClr val="0F2A36"/>
                </a:solidFill>
                <a:latin typeface="Calibri"/>
              </a:rPr>
              <a:t>Substituting:</a:t>
            </a:r>
          </a:p>
        </p:txBody>
      </p:sp>
      <p:sp>
        <p:nvSpPr>
          <p:cNvPr id="12" name="TextBox 11"/>
          <p:cNvSpPr txBox="1"/>
          <p:nvPr/>
        </p:nvSpPr>
        <p:spPr>
          <a:xfrm>
            <a:off x="548640" y="5440680"/>
            <a:ext cx="6400800" cy="640080"/>
          </a:xfrm>
          <a:prstGeom prst="rect">
            <a:avLst/>
          </a:prstGeom>
          <a:noFill/>
        </p:spPr>
        <p:txBody>
          <a:bodyPr wrap="square" lIns="0" rIns="0" tIns="0" bIns="0" anchor="t">
            <a:spAutoFit/>
          </a:bodyPr>
          <a:lstStyle/>
          <a:p>
            <a:pPr algn="l"/>
            <a:r>
              <a:rPr sz="2400" b="1">
                <a:solidFill>
                  <a:srgbClr val="2A6F7C"/>
                </a:solidFill>
                <a:latin typeface="Calibri"/>
              </a:rPr>
              <a:t>A(x) = x^2 + 128,000 / x</a:t>
            </a:r>
          </a:p>
        </p:txBody>
      </p:sp>
      <p:sp>
        <p:nvSpPr>
          <p:cNvPr id="13" name="Parallelogram 12"/>
          <p:cNvSpPr/>
          <p:nvPr/>
        </p:nvSpPr>
        <p:spPr>
          <a:xfrm>
            <a:off x="8229600" y="1463040"/>
            <a:ext cx="2560320" cy="822960"/>
          </a:xfrm>
          <a:prstGeom prst="parallelogram">
            <a:avLst/>
          </a:prstGeom>
          <a:solidFill>
            <a:srgbClr val="CFE1E5"/>
          </a:solidFill>
          <a:ln>
            <a:solidFill>
              <a:srgbClr val="0F2A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286000"/>
            <a:ext cx="2560320" cy="2286000"/>
          </a:xfrm>
          <a:prstGeom prst="rect">
            <a:avLst/>
          </a:prstGeom>
          <a:solidFill>
            <a:srgbClr val="E8EFE4"/>
          </a:solidFill>
          <a:ln>
            <a:solidFill>
              <a:srgbClr val="0F2A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10241280" y="2286000"/>
            <a:ext cx="548640" cy="2286000"/>
          </a:xfrm>
          <a:prstGeom prst="parallelogram">
            <a:avLst/>
          </a:prstGeom>
          <a:solidFill>
            <a:srgbClr val="BCCFD5"/>
          </a:solidFill>
          <a:ln>
            <a:solidFill>
              <a:srgbClr val="0F2A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4663440"/>
            <a:ext cx="1371600" cy="365760"/>
          </a:xfrm>
          <a:prstGeom prst="rect">
            <a:avLst/>
          </a:prstGeom>
          <a:noFill/>
        </p:spPr>
        <p:txBody>
          <a:bodyPr wrap="square" lIns="0" rIns="0" tIns="0" bIns="0" anchor="t">
            <a:spAutoFit/>
          </a:bodyPr>
          <a:lstStyle/>
          <a:p>
            <a:pPr algn="ctr"/>
            <a:r>
              <a:rPr sz="2200" b="1">
                <a:solidFill>
                  <a:srgbClr val="C97A3A"/>
                </a:solidFill>
                <a:latin typeface="Calibri"/>
              </a:rPr>
              <a:t>x</a:t>
            </a:r>
          </a:p>
        </p:txBody>
      </p:sp>
      <p:sp>
        <p:nvSpPr>
          <p:cNvPr id="17" name="TextBox 16"/>
          <p:cNvSpPr txBox="1"/>
          <p:nvPr/>
        </p:nvSpPr>
        <p:spPr>
          <a:xfrm>
            <a:off x="10789920" y="2926080"/>
            <a:ext cx="548640" cy="457200"/>
          </a:xfrm>
          <a:prstGeom prst="rect">
            <a:avLst/>
          </a:prstGeom>
          <a:noFill/>
        </p:spPr>
        <p:txBody>
          <a:bodyPr wrap="square" lIns="0" rIns="0" tIns="0" bIns="0" anchor="t">
            <a:spAutoFit/>
          </a:bodyPr>
          <a:lstStyle/>
          <a:p>
            <a:pPr algn="l"/>
            <a:r>
              <a:rPr sz="2200" b="1">
                <a:solidFill>
                  <a:srgbClr val="C97A3A"/>
                </a:solidFill>
                <a:latin typeface="Calibri"/>
              </a:rPr>
              <a:t>y</a:t>
            </a:r>
          </a:p>
        </p:txBody>
      </p:sp>
      <p:sp>
        <p:nvSpPr>
          <p:cNvPr id="18" name="TextBox 17"/>
          <p:cNvSpPr txBox="1"/>
          <p:nvPr/>
        </p:nvSpPr>
        <p:spPr>
          <a:xfrm>
            <a:off x="7680960" y="5120640"/>
            <a:ext cx="3200400" cy="457200"/>
          </a:xfrm>
          <a:prstGeom prst="rect">
            <a:avLst/>
          </a:prstGeom>
          <a:noFill/>
        </p:spPr>
        <p:txBody>
          <a:bodyPr wrap="square" lIns="0" rIns="0" tIns="0" bIns="0" anchor="t">
            <a:spAutoFit/>
          </a:bodyPr>
          <a:lstStyle/>
          <a:p>
            <a:pPr algn="ctr"/>
            <a:r>
              <a:rPr sz="1400" b="0">
                <a:solidFill>
                  <a:srgbClr val="5D6573"/>
                </a:solidFill>
                <a:latin typeface="Calibri"/>
              </a:rPr>
              <a:t>Open at the top - no lid</a:t>
            </a:r>
          </a:p>
        </p:txBody>
      </p:sp>
      <p:sp>
        <p:nvSpPr>
          <p:cNvPr id="19" name="TextBox 18"/>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20" name="TextBox 19"/>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400" b="1">
                <a:solidFill>
                  <a:srgbClr val="FFFFFF"/>
                </a:solidFill>
                <a:latin typeface="Calibri"/>
              </a:rPr>
              <a:t>A(x) = x^2 + 128,000 / x   -   find the minimum</a:t>
            </a:r>
          </a:p>
        </p:txBody>
      </p:sp>
      <p:graphicFrame>
        <p:nvGraphicFramePr>
          <p:cNvPr id="5" name="Chart 4"/>
          <p:cNvGraphicFramePr>
            <a:graphicFrameLocks noGrp="1"/>
          </p:cNvGraphicFramePr>
          <p:nvPr/>
        </p:nvGraphicFramePr>
        <p:xfrm>
          <a:off x="457200" y="1097280"/>
          <a:ext cx="7772400" cy="4937760"/>
        </p:xfrm>
        <a:graphic>
          <a:graphicData uri="http://schemas.openxmlformats.org/drawingml/2006/chart">
            <c:chart xmlns:c="http://schemas.openxmlformats.org/drawingml/2006/chart" r:id="rId2"/>
          </a:graphicData>
        </a:graphic>
      </p:graphicFrame>
      <p:sp>
        <p:nvSpPr>
          <p:cNvPr id="6" name="TextBox 5"/>
          <p:cNvSpPr txBox="1"/>
          <p:nvPr/>
        </p:nvSpPr>
        <p:spPr>
          <a:xfrm>
            <a:off x="8412480" y="1280160"/>
            <a:ext cx="3383280" cy="457200"/>
          </a:xfrm>
          <a:prstGeom prst="rect">
            <a:avLst/>
          </a:prstGeom>
          <a:noFill/>
        </p:spPr>
        <p:txBody>
          <a:bodyPr wrap="square" lIns="0" rIns="0" tIns="0" bIns="0" anchor="t">
            <a:spAutoFit/>
          </a:bodyPr>
          <a:lstStyle/>
          <a:p>
            <a:pPr algn="l"/>
            <a:r>
              <a:rPr sz="1800" b="1">
                <a:solidFill>
                  <a:srgbClr val="C97A3A"/>
                </a:solidFill>
                <a:latin typeface="Calibri"/>
              </a:rPr>
              <a:t>Where is the minimum?</a:t>
            </a:r>
          </a:p>
        </p:txBody>
      </p:sp>
      <p:sp>
        <p:nvSpPr>
          <p:cNvPr id="7" name="TextBox 6"/>
          <p:cNvSpPr txBox="1"/>
          <p:nvPr/>
        </p:nvSpPr>
        <p:spPr>
          <a:xfrm>
            <a:off x="8412480" y="1737360"/>
            <a:ext cx="3383280" cy="2286000"/>
          </a:xfrm>
          <a:prstGeom prst="rect">
            <a:avLst/>
          </a:prstGeom>
          <a:noFill/>
        </p:spPr>
        <p:txBody>
          <a:bodyPr wrap="square" lIns="0" rIns="0" tIns="0" bIns="0" anchor="t">
            <a:spAutoFit/>
          </a:bodyPr>
          <a:lstStyle/>
          <a:p>
            <a:pPr algn="l"/>
            <a:r>
              <a:rPr sz="1600" b="0">
                <a:solidFill>
                  <a:srgbClr val="0F2A36"/>
                </a:solidFill>
                <a:latin typeface="Calibri"/>
              </a:rPr>
              <a:t>A'(x) = 2x - 128,000 / x^2
Set A'(x) = 0:
  2x = 128,000 / x^2
  2 x^3 = 128,000
  x^3 = 64,000
  x = 40</a:t>
            </a:r>
          </a:p>
        </p:txBody>
      </p:sp>
      <p:sp>
        <p:nvSpPr>
          <p:cNvPr id="8" name="TextBox 7"/>
          <p:cNvSpPr txBox="1"/>
          <p:nvPr/>
        </p:nvSpPr>
        <p:spPr>
          <a:xfrm>
            <a:off x="8412480" y="4297680"/>
            <a:ext cx="3383280" cy="457200"/>
          </a:xfrm>
          <a:prstGeom prst="rect">
            <a:avLst/>
          </a:prstGeom>
          <a:noFill/>
        </p:spPr>
        <p:txBody>
          <a:bodyPr wrap="square" lIns="0" rIns="0" tIns="0" bIns="0" anchor="t">
            <a:spAutoFit/>
          </a:bodyPr>
          <a:lstStyle/>
          <a:p>
            <a:pPr algn="l"/>
            <a:r>
              <a:rPr sz="1400" b="1">
                <a:solidFill>
                  <a:srgbClr val="2A6F7C"/>
                </a:solidFill>
                <a:latin typeface="Calibri"/>
              </a:rPr>
              <a:t>Second derivative check</a:t>
            </a:r>
          </a:p>
        </p:txBody>
      </p:sp>
      <p:sp>
        <p:nvSpPr>
          <p:cNvPr id="9" name="TextBox 8"/>
          <p:cNvSpPr txBox="1"/>
          <p:nvPr/>
        </p:nvSpPr>
        <p:spPr>
          <a:xfrm>
            <a:off x="8412480" y="4663440"/>
            <a:ext cx="3383280" cy="914400"/>
          </a:xfrm>
          <a:prstGeom prst="rect">
            <a:avLst/>
          </a:prstGeom>
          <a:noFill/>
        </p:spPr>
        <p:txBody>
          <a:bodyPr wrap="square" lIns="0" rIns="0" tIns="0" bIns="0" anchor="t">
            <a:spAutoFit/>
          </a:bodyPr>
          <a:lstStyle/>
          <a:p>
            <a:pPr algn="l"/>
            <a:r>
              <a:rPr sz="1400" b="0">
                <a:solidFill>
                  <a:srgbClr val="0F2A36"/>
                </a:solidFill>
                <a:latin typeface="Calibri"/>
              </a:rPr>
              <a:t>A''(x) = 2 + 256,000 / x^3 &gt; 0
So x = 40 is a minimum.</a:t>
            </a:r>
          </a:p>
        </p:txBody>
      </p:sp>
      <p:sp>
        <p:nvSpPr>
          <p:cNvPr id="10" name="TextBox 9"/>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11" name="TextBox 10"/>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400" b="1">
                <a:solidFill>
                  <a:srgbClr val="FFFFFF"/>
                </a:solidFill>
                <a:latin typeface="Calibri"/>
              </a:rPr>
              <a:t>Sanity check - compare candidate dimensions</a:t>
            </a:r>
          </a:p>
        </p:txBody>
      </p:sp>
      <p:graphicFrame>
        <p:nvGraphicFramePr>
          <p:cNvPr id="5" name="Table 4"/>
          <p:cNvGraphicFramePr>
            <a:graphicFrameLocks noGrp="1"/>
          </p:cNvGraphicFramePr>
          <p:nvPr/>
        </p:nvGraphicFramePr>
        <p:xfrm>
          <a:off x="548640" y="1280160"/>
          <a:ext cx="11064240" cy="3657600"/>
        </p:xfrm>
        <a:graphic>
          <a:graphicData uri="http://schemas.openxmlformats.org/drawingml/2006/table">
            <a:tbl>
              <a:tblPr firstRow="1" bandRow="1">
                <a:tableStyleId>{5C22544A-7EE6-4342-B048-85BDC9FD1C3A}</a:tableStyleId>
              </a:tblPr>
              <a:tblGrid>
                <a:gridCol w="1828800"/>
                <a:gridCol w="2743200"/>
                <a:gridCol w="3108960"/>
                <a:gridCol w="3383280"/>
              </a:tblGrid>
              <a:tr h="609600">
                <a:tc>
                  <a:txBody>
                    <a:bodyPr/>
                    <a:lstStyle/>
                    <a:p>
                      <a:r>
                        <a:rPr sz="1400" b="1">
                          <a:solidFill>
                            <a:srgbClr val="FFFFFF"/>
                          </a:solidFill>
                          <a:latin typeface="Calibri"/>
                        </a:rPr>
                        <a:t>x (cm)</a:t>
                      </a:r>
                    </a:p>
                  </a:txBody>
                  <a:tcPr>
                    <a:solidFill>
                      <a:srgbClr val="0F2A36"/>
                    </a:solidFill>
                  </a:tcPr>
                </a:tc>
                <a:tc>
                  <a:txBody>
                    <a:bodyPr/>
                    <a:lstStyle/>
                    <a:p>
                      <a:r>
                        <a:rPr sz="1400" b="1">
                          <a:solidFill>
                            <a:srgbClr val="FFFFFF"/>
                          </a:solidFill>
                          <a:latin typeface="Calibri"/>
                        </a:rPr>
                        <a:t>y = 32000 / x^2 (cm)</a:t>
                      </a:r>
                    </a:p>
                  </a:txBody>
                  <a:tcPr>
                    <a:solidFill>
                      <a:srgbClr val="0F2A36"/>
                    </a:solidFill>
                  </a:tcPr>
                </a:tc>
                <a:tc>
                  <a:txBody>
                    <a:bodyPr/>
                    <a:lstStyle/>
                    <a:p>
                      <a:r>
                        <a:rPr sz="1400" b="1">
                          <a:solidFill>
                            <a:srgbClr val="FFFFFF"/>
                          </a:solidFill>
                          <a:latin typeface="Calibri"/>
                        </a:rPr>
                        <a:t>A = x^2 + 4xy (sq cm)</a:t>
                      </a:r>
                    </a:p>
                  </a:txBody>
                  <a:tcPr>
                    <a:solidFill>
                      <a:srgbClr val="0F2A36"/>
                    </a:solidFill>
                  </a:tcPr>
                </a:tc>
                <a:tc>
                  <a:txBody>
                    <a:bodyPr/>
                    <a:lstStyle/>
                    <a:p>
                      <a:r>
                        <a:rPr sz="1400" b="1">
                          <a:solidFill>
                            <a:srgbClr val="FFFFFF"/>
                          </a:solidFill>
                          <a:latin typeface="Calibri"/>
                        </a:rPr>
                        <a:t>Comment</a:t>
                      </a:r>
                    </a:p>
                  </a:txBody>
                  <a:tcPr>
                    <a:solidFill>
                      <a:srgbClr val="0F2A36"/>
                    </a:solidFill>
                  </a:tcPr>
                </a:tc>
              </a:tr>
              <a:tr h="609600">
                <a:tc>
                  <a:txBody>
                    <a:bodyPr/>
                    <a:lstStyle/>
                    <a:p>
                      <a:r>
                        <a:rPr sz="1400">
                          <a:solidFill>
                            <a:srgbClr val="0F2A36"/>
                          </a:solidFill>
                          <a:latin typeface="Calibri"/>
                        </a:rPr>
                        <a:t>20</a:t>
                      </a:r>
                    </a:p>
                  </a:txBody>
                  <a:tcPr>
                    <a:solidFill>
                      <a:srgbClr val="FFFFFF"/>
                    </a:solidFill>
                  </a:tcPr>
                </a:tc>
                <a:tc>
                  <a:txBody>
                    <a:bodyPr/>
                    <a:lstStyle/>
                    <a:p>
                      <a:r>
                        <a:rPr sz="1400">
                          <a:solidFill>
                            <a:srgbClr val="0F2A36"/>
                          </a:solidFill>
                          <a:latin typeface="Calibri"/>
                        </a:rPr>
                        <a:t>80.00</a:t>
                      </a:r>
                    </a:p>
                  </a:txBody>
                  <a:tcPr>
                    <a:solidFill>
                      <a:srgbClr val="FFFFFF"/>
                    </a:solidFill>
                  </a:tcPr>
                </a:tc>
                <a:tc>
                  <a:txBody>
                    <a:bodyPr/>
                    <a:lstStyle/>
                    <a:p>
                      <a:r>
                        <a:rPr sz="1400">
                          <a:solidFill>
                            <a:srgbClr val="0F2A36"/>
                          </a:solidFill>
                          <a:latin typeface="Calibri"/>
                        </a:rPr>
                        <a:t>6,800</a:t>
                      </a:r>
                    </a:p>
                  </a:txBody>
                  <a:tcPr>
                    <a:solidFill>
                      <a:srgbClr val="FFFFFF"/>
                    </a:solidFill>
                  </a:tcPr>
                </a:tc>
                <a:tc>
                  <a:txBody>
                    <a:bodyPr/>
                    <a:lstStyle/>
                    <a:p>
                      <a:r>
                        <a:rPr sz="1400">
                          <a:solidFill>
                            <a:srgbClr val="0F2A36"/>
                          </a:solidFill>
                          <a:latin typeface="Calibri"/>
                        </a:rPr>
                        <a:t>Tall and narrow - lots of side area</a:t>
                      </a:r>
                    </a:p>
                  </a:txBody>
                  <a:tcPr>
                    <a:solidFill>
                      <a:srgbClr val="FFFFFF"/>
                    </a:solidFill>
                  </a:tcPr>
                </a:tc>
              </a:tr>
              <a:tr h="609600">
                <a:tc>
                  <a:txBody>
                    <a:bodyPr/>
                    <a:lstStyle/>
                    <a:p>
                      <a:r>
                        <a:rPr sz="1400">
                          <a:solidFill>
                            <a:srgbClr val="0F2A36"/>
                          </a:solidFill>
                          <a:latin typeface="Calibri"/>
                        </a:rPr>
                        <a:t>30</a:t>
                      </a:r>
                    </a:p>
                  </a:txBody>
                  <a:tcPr>
                    <a:solidFill>
                      <a:srgbClr val="FFFFFF"/>
                    </a:solidFill>
                  </a:tcPr>
                </a:tc>
                <a:tc>
                  <a:txBody>
                    <a:bodyPr/>
                    <a:lstStyle/>
                    <a:p>
                      <a:r>
                        <a:rPr sz="1400">
                          <a:solidFill>
                            <a:srgbClr val="0F2A36"/>
                          </a:solidFill>
                          <a:latin typeface="Calibri"/>
                        </a:rPr>
                        <a:t>35.56</a:t>
                      </a:r>
                    </a:p>
                  </a:txBody>
                  <a:tcPr>
                    <a:solidFill>
                      <a:srgbClr val="FFFFFF"/>
                    </a:solidFill>
                  </a:tcPr>
                </a:tc>
                <a:tc>
                  <a:txBody>
                    <a:bodyPr/>
                    <a:lstStyle/>
                    <a:p>
                      <a:r>
                        <a:rPr sz="1400">
                          <a:solidFill>
                            <a:srgbClr val="0F2A36"/>
                          </a:solidFill>
                          <a:latin typeface="Calibri"/>
                        </a:rPr>
                        <a:t>5,166</a:t>
                      </a:r>
                    </a:p>
                  </a:txBody>
                  <a:tcPr>
                    <a:solidFill>
                      <a:srgbClr val="FFFFFF"/>
                    </a:solidFill>
                  </a:tcPr>
                </a:tc>
                <a:tc>
                  <a:txBody>
                    <a:bodyPr/>
                    <a:lstStyle/>
                    <a:p>
                      <a:r>
                        <a:rPr sz="1400">
                          <a:solidFill>
                            <a:srgbClr val="0F2A36"/>
                          </a:solidFill>
                          <a:latin typeface="Calibri"/>
                        </a:rPr>
                        <a:t>Closer to balanced, smaller area</a:t>
                      </a:r>
                    </a:p>
                  </a:txBody>
                  <a:tcPr>
                    <a:solidFill>
                      <a:srgbClr val="FFFFFF"/>
                    </a:solidFill>
                  </a:tcPr>
                </a:tc>
              </a:tr>
              <a:tr h="609600">
                <a:tc>
                  <a:txBody>
                    <a:bodyPr/>
                    <a:lstStyle/>
                    <a:p>
                      <a:r>
                        <a:rPr sz="1400" b="1">
                          <a:solidFill>
                            <a:srgbClr val="0F2A36"/>
                          </a:solidFill>
                          <a:latin typeface="Calibri"/>
                        </a:rPr>
                        <a:t>40</a:t>
                      </a:r>
                    </a:p>
                  </a:txBody>
                  <a:tcPr>
                    <a:solidFill>
                      <a:srgbClr val="F5E6C4"/>
                    </a:solidFill>
                  </a:tcPr>
                </a:tc>
                <a:tc>
                  <a:txBody>
                    <a:bodyPr/>
                    <a:lstStyle/>
                    <a:p>
                      <a:r>
                        <a:rPr sz="1400" b="1">
                          <a:solidFill>
                            <a:srgbClr val="0F2A36"/>
                          </a:solidFill>
                          <a:latin typeface="Calibri"/>
                        </a:rPr>
                        <a:t>20.00</a:t>
                      </a:r>
                    </a:p>
                  </a:txBody>
                  <a:tcPr>
                    <a:solidFill>
                      <a:srgbClr val="F5E6C4"/>
                    </a:solidFill>
                  </a:tcPr>
                </a:tc>
                <a:tc>
                  <a:txBody>
                    <a:bodyPr/>
                    <a:lstStyle/>
                    <a:p>
                      <a:r>
                        <a:rPr sz="1400" b="1">
                          <a:solidFill>
                            <a:srgbClr val="0F2A36"/>
                          </a:solidFill>
                          <a:latin typeface="Calibri"/>
                        </a:rPr>
                        <a:t>4,800</a:t>
                      </a:r>
                    </a:p>
                  </a:txBody>
                  <a:tcPr>
                    <a:solidFill>
                      <a:srgbClr val="F5E6C4"/>
                    </a:solidFill>
                  </a:tcPr>
                </a:tc>
                <a:tc>
                  <a:txBody>
                    <a:bodyPr/>
                    <a:lstStyle/>
                    <a:p>
                      <a:r>
                        <a:rPr sz="1400" b="1">
                          <a:solidFill>
                            <a:srgbClr val="0F2A36"/>
                          </a:solidFill>
                          <a:latin typeface="Calibri"/>
                        </a:rPr>
                        <a:t>Minimum - matches calculus result</a:t>
                      </a:r>
                    </a:p>
                  </a:txBody>
                  <a:tcPr>
                    <a:solidFill>
                      <a:srgbClr val="F5E6C4"/>
                    </a:solidFill>
                  </a:tcPr>
                </a:tc>
              </a:tr>
              <a:tr h="609600">
                <a:tc>
                  <a:txBody>
                    <a:bodyPr/>
                    <a:lstStyle/>
                    <a:p>
                      <a:r>
                        <a:rPr sz="1400">
                          <a:solidFill>
                            <a:srgbClr val="0F2A36"/>
                          </a:solidFill>
                          <a:latin typeface="Calibri"/>
                        </a:rPr>
                        <a:t>50</a:t>
                      </a:r>
                    </a:p>
                  </a:txBody>
                  <a:tcPr>
                    <a:solidFill>
                      <a:srgbClr val="FFFFFF"/>
                    </a:solidFill>
                  </a:tcPr>
                </a:tc>
                <a:tc>
                  <a:txBody>
                    <a:bodyPr/>
                    <a:lstStyle/>
                    <a:p>
                      <a:r>
                        <a:rPr sz="1400">
                          <a:solidFill>
                            <a:srgbClr val="0F2A36"/>
                          </a:solidFill>
                          <a:latin typeface="Calibri"/>
                        </a:rPr>
                        <a:t>12.80</a:t>
                      </a:r>
                    </a:p>
                  </a:txBody>
                  <a:tcPr>
                    <a:solidFill>
                      <a:srgbClr val="FFFFFF"/>
                    </a:solidFill>
                  </a:tcPr>
                </a:tc>
                <a:tc>
                  <a:txBody>
                    <a:bodyPr/>
                    <a:lstStyle/>
                    <a:p>
                      <a:r>
                        <a:rPr sz="1400">
                          <a:solidFill>
                            <a:srgbClr val="0F2A36"/>
                          </a:solidFill>
                          <a:latin typeface="Calibri"/>
                        </a:rPr>
                        <a:t>5,060</a:t>
                      </a:r>
                    </a:p>
                  </a:txBody>
                  <a:tcPr>
                    <a:solidFill>
                      <a:srgbClr val="FFFFFF"/>
                    </a:solidFill>
                  </a:tcPr>
                </a:tc>
                <a:tc>
                  <a:txBody>
                    <a:bodyPr/>
                    <a:lstStyle/>
                    <a:p>
                      <a:r>
                        <a:rPr sz="1400">
                          <a:solidFill>
                            <a:srgbClr val="0F2A36"/>
                          </a:solidFill>
                          <a:latin typeface="Calibri"/>
                        </a:rPr>
                        <a:t>Wider base, area climbs again</a:t>
                      </a:r>
                    </a:p>
                  </a:txBody>
                  <a:tcPr>
                    <a:solidFill>
                      <a:srgbClr val="FFFFFF"/>
                    </a:solidFill>
                  </a:tcPr>
                </a:tc>
              </a:tr>
              <a:tr h="609600">
                <a:tc>
                  <a:txBody>
                    <a:bodyPr/>
                    <a:lstStyle/>
                    <a:p>
                      <a:r>
                        <a:rPr sz="1400">
                          <a:solidFill>
                            <a:srgbClr val="0F2A36"/>
                          </a:solidFill>
                          <a:latin typeface="Calibri"/>
                        </a:rPr>
                        <a:t>60</a:t>
                      </a:r>
                    </a:p>
                  </a:txBody>
                  <a:tcPr>
                    <a:solidFill>
                      <a:srgbClr val="FFFFFF"/>
                    </a:solidFill>
                  </a:tcPr>
                </a:tc>
                <a:tc>
                  <a:txBody>
                    <a:bodyPr/>
                    <a:lstStyle/>
                    <a:p>
                      <a:r>
                        <a:rPr sz="1400">
                          <a:solidFill>
                            <a:srgbClr val="0F2A36"/>
                          </a:solidFill>
                          <a:latin typeface="Calibri"/>
                        </a:rPr>
                        <a:t>8.89</a:t>
                      </a:r>
                    </a:p>
                  </a:txBody>
                  <a:tcPr>
                    <a:solidFill>
                      <a:srgbClr val="FFFFFF"/>
                    </a:solidFill>
                  </a:tcPr>
                </a:tc>
                <a:tc>
                  <a:txBody>
                    <a:bodyPr/>
                    <a:lstStyle/>
                    <a:p>
                      <a:r>
                        <a:rPr sz="1400">
                          <a:solidFill>
                            <a:srgbClr val="0F2A36"/>
                          </a:solidFill>
                          <a:latin typeface="Calibri"/>
                        </a:rPr>
                        <a:t>5,733</a:t>
                      </a:r>
                    </a:p>
                  </a:txBody>
                  <a:tcPr>
                    <a:solidFill>
                      <a:srgbClr val="FFFFFF"/>
                    </a:solidFill>
                  </a:tcPr>
                </a:tc>
                <a:tc>
                  <a:txBody>
                    <a:bodyPr/>
                    <a:lstStyle/>
                    <a:p>
                      <a:r>
                        <a:rPr sz="1400">
                          <a:solidFill>
                            <a:srgbClr val="0F2A36"/>
                          </a:solidFill>
                          <a:latin typeface="Calibri"/>
                        </a:rPr>
                        <a:t>Far from optimal</a:t>
                      </a:r>
                    </a:p>
                  </a:txBody>
                  <a:tcPr>
                    <a:solidFill>
                      <a:srgbClr val="FFFFFF"/>
                    </a:solidFill>
                  </a:tcPr>
                </a:tc>
              </a:tr>
            </a:tbl>
          </a:graphicData>
        </a:graphic>
      </p:graphicFrame>
      <p:sp>
        <p:nvSpPr>
          <p:cNvPr id="6" name="TextBox 5"/>
          <p:cNvSpPr txBox="1"/>
          <p:nvPr/>
        </p:nvSpPr>
        <p:spPr>
          <a:xfrm>
            <a:off x="548640" y="5212080"/>
            <a:ext cx="11064240" cy="914400"/>
          </a:xfrm>
          <a:prstGeom prst="rect">
            <a:avLst/>
          </a:prstGeom>
          <a:noFill/>
        </p:spPr>
        <p:txBody>
          <a:bodyPr wrap="square" lIns="0" rIns="0" tIns="0" bIns="0" anchor="t">
            <a:spAutoFit/>
          </a:bodyPr>
          <a:lstStyle/>
          <a:p>
            <a:pPr algn="l"/>
            <a:r>
              <a:rPr sz="1600" b="0">
                <a:solidFill>
                  <a:srgbClr val="5D6573"/>
                </a:solidFill>
                <a:latin typeface="Calibri"/>
              </a:rPr>
              <a:t>Notice how the area is 4,800 at x = 40 and rises on both sides. Calculus gave us the exact answer, the table just confirms the picture.</a:t>
            </a:r>
          </a:p>
        </p:txBody>
      </p:sp>
      <p:sp>
        <p:nvSpPr>
          <p:cNvPr id="7" name="TextBox 6"/>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8" name="TextBox 7"/>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400" b="1">
                <a:solidFill>
                  <a:srgbClr val="FFFFFF"/>
                </a:solidFill>
                <a:latin typeface="Calibri"/>
              </a:rPr>
              <a:t>Writing the answer the AP graders want</a:t>
            </a:r>
          </a:p>
        </p:txBody>
      </p:sp>
      <p:sp>
        <p:nvSpPr>
          <p:cNvPr id="5" name="Rounded Rectangle 4"/>
          <p:cNvSpPr/>
          <p:nvPr/>
        </p:nvSpPr>
        <p:spPr>
          <a:xfrm>
            <a:off x="548640" y="1371600"/>
            <a:ext cx="3474720" cy="1417320"/>
          </a:xfrm>
          <a:prstGeom prst="roundRect">
            <a:avLst/>
          </a:prstGeom>
          <a:solidFill>
            <a:srgbClr val="0F2A3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1 pt</a:t>
            </a:r>
          </a:p>
          <a:p>
            <a:r>
              <a:rPr sz="1500" b="1">
                <a:solidFill>
                  <a:srgbClr val="FFFFFF"/>
                </a:solidFill>
                <a:latin typeface="Calibri"/>
              </a:rPr>
              <a:t>State the objective and constraint</a:t>
            </a:r>
          </a:p>
        </p:txBody>
      </p:sp>
      <p:sp>
        <p:nvSpPr>
          <p:cNvPr id="6" name="Rounded Rectangle 5"/>
          <p:cNvSpPr/>
          <p:nvPr/>
        </p:nvSpPr>
        <p:spPr>
          <a:xfrm>
            <a:off x="4206240" y="1371600"/>
            <a:ext cx="3474720" cy="1417320"/>
          </a:xfrm>
          <a:prstGeom prst="roundRect">
            <a:avLst/>
          </a:prstGeom>
          <a:solidFill>
            <a:srgbClr val="2A6F7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1 pt</a:t>
            </a:r>
          </a:p>
          <a:p>
            <a:r>
              <a:rPr sz="1500" b="1">
                <a:solidFill>
                  <a:srgbClr val="FFFFFF"/>
                </a:solidFill>
                <a:latin typeface="Calibri"/>
              </a:rPr>
              <a:t>Reduce to one variable and show A(x)</a:t>
            </a:r>
          </a:p>
        </p:txBody>
      </p:sp>
      <p:sp>
        <p:nvSpPr>
          <p:cNvPr id="7" name="Rounded Rectangle 6"/>
          <p:cNvSpPr/>
          <p:nvPr/>
        </p:nvSpPr>
        <p:spPr>
          <a:xfrm>
            <a:off x="7863840" y="1371600"/>
            <a:ext cx="3474720" cy="1417320"/>
          </a:xfrm>
          <a:prstGeom prst="roundRect">
            <a:avLst/>
          </a:prstGeom>
          <a:solidFill>
            <a:srgbClr val="C97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2 pts</a:t>
            </a:r>
          </a:p>
          <a:p>
            <a:r>
              <a:rPr sz="1500" b="1">
                <a:solidFill>
                  <a:srgbClr val="FFFFFF"/>
                </a:solidFill>
                <a:latin typeface="Calibri"/>
              </a:rPr>
              <a:t>Take the derivative and set it to zero</a:t>
            </a:r>
          </a:p>
        </p:txBody>
      </p:sp>
      <p:sp>
        <p:nvSpPr>
          <p:cNvPr id="8" name="Rounded Rectangle 7"/>
          <p:cNvSpPr/>
          <p:nvPr/>
        </p:nvSpPr>
        <p:spPr>
          <a:xfrm>
            <a:off x="548640" y="3063240"/>
            <a:ext cx="3474720" cy="1417320"/>
          </a:xfrm>
          <a:prstGeom prst="roundRect">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1 pt</a:t>
            </a:r>
          </a:p>
          <a:p>
            <a:r>
              <a:rPr sz="1500" b="1">
                <a:solidFill>
                  <a:srgbClr val="FFFFFF"/>
                </a:solidFill>
                <a:latin typeface="Calibri"/>
              </a:rPr>
              <a:t>Solve for x = 40</a:t>
            </a:r>
          </a:p>
        </p:txBody>
      </p:sp>
      <p:sp>
        <p:nvSpPr>
          <p:cNvPr id="9" name="Rounded Rectangle 8"/>
          <p:cNvSpPr/>
          <p:nvPr/>
        </p:nvSpPr>
        <p:spPr>
          <a:xfrm>
            <a:off x="4206240" y="3063240"/>
            <a:ext cx="3474720" cy="1417320"/>
          </a:xfrm>
          <a:prstGeom prst="roundRect">
            <a:avLst/>
          </a:prstGeom>
          <a:solidFill>
            <a:srgbClr val="3D8B75"/>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1 pt</a:t>
            </a:r>
          </a:p>
          <a:p>
            <a:r>
              <a:rPr sz="1500" b="1">
                <a:solidFill>
                  <a:srgbClr val="FFFFFF"/>
                </a:solidFill>
                <a:latin typeface="Calibri"/>
              </a:rPr>
              <a:t>Confirm a minimum (2nd derivative)</a:t>
            </a:r>
          </a:p>
        </p:txBody>
      </p:sp>
      <p:sp>
        <p:nvSpPr>
          <p:cNvPr id="10" name="Rounded Rectangle 9"/>
          <p:cNvSpPr/>
          <p:nvPr/>
        </p:nvSpPr>
        <p:spPr>
          <a:xfrm>
            <a:off x="7863840" y="3063240"/>
            <a:ext cx="3474720" cy="1417320"/>
          </a:xfrm>
          <a:prstGeom prst="roundRect">
            <a:avLst/>
          </a:prstGeom>
          <a:solidFill>
            <a:srgbClr val="0F2A3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300" b="1">
                <a:solidFill>
                  <a:srgbClr val="D5A838"/>
                </a:solidFill>
                <a:latin typeface="Calibri"/>
              </a:rPr>
              <a:t>1 pt</a:t>
            </a:r>
          </a:p>
          <a:p>
            <a:r>
              <a:rPr sz="1500" b="1">
                <a:solidFill>
                  <a:srgbClr val="FFFFFF"/>
                </a:solidFill>
                <a:latin typeface="Calibri"/>
              </a:rPr>
              <a:t>Report y = 20 and units (cm)</a:t>
            </a:r>
          </a:p>
        </p:txBody>
      </p:sp>
      <p:sp>
        <p:nvSpPr>
          <p:cNvPr id="11" name="TextBox 10"/>
          <p:cNvSpPr txBox="1"/>
          <p:nvPr/>
        </p:nvSpPr>
        <p:spPr>
          <a:xfrm>
            <a:off x="548640" y="4937760"/>
            <a:ext cx="11064240" cy="1371600"/>
          </a:xfrm>
          <a:prstGeom prst="rect">
            <a:avLst/>
          </a:prstGeom>
          <a:noFill/>
        </p:spPr>
        <p:txBody>
          <a:bodyPr wrap="square" lIns="0" rIns="0" tIns="0" bIns="0" anchor="t">
            <a:spAutoFit/>
          </a:bodyPr>
          <a:lstStyle/>
          <a:p>
            <a:pPr algn="l"/>
            <a:r>
              <a:rPr sz="1800" b="0">
                <a:solidFill>
                  <a:srgbClr val="0F2A36"/>
                </a:solidFill>
                <a:latin typeface="Calibri"/>
              </a:rPr>
              <a:t>Total: 7 points. Last year's class average on this exact question type was 4.8. We are aiming for 6 plus on the next free response set.</a:t>
            </a:r>
          </a:p>
        </p:txBody>
      </p:sp>
      <p:sp>
        <p:nvSpPr>
          <p:cNvPr id="12" name="TextBox 11"/>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Prep - AP Calculus AB - Mr. Mooney</a:t>
            </a:r>
          </a:p>
        </p:txBody>
      </p:sp>
      <p:sp>
        <p:nvSpPr>
          <p:cNvPr id="13" name="TextBox 12"/>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0972800" cy="548640"/>
          </a:xfrm>
          <a:prstGeom prst="rect">
            <a:avLst/>
          </a:prstGeom>
          <a:noFill/>
        </p:spPr>
        <p:txBody>
          <a:bodyPr wrap="square" lIns="0" rIns="0" tIns="0" bIns="0" anchor="t">
            <a:spAutoFit/>
          </a:bodyPr>
          <a:lstStyle/>
          <a:p>
            <a:pPr algn="l"/>
            <a:r>
              <a:rPr sz="1400" b="1">
                <a:solidFill>
                  <a:srgbClr val="D5A838"/>
                </a:solidFill>
                <a:latin typeface="Calibri"/>
              </a:rPr>
              <a:t>EXIT TICKET - DUE NEXT CLASS</a:t>
            </a:r>
          </a:p>
        </p:txBody>
      </p:sp>
      <p:sp>
        <p:nvSpPr>
          <p:cNvPr id="5" name="TextBox 4"/>
          <p:cNvSpPr txBox="1"/>
          <p:nvPr/>
        </p:nvSpPr>
        <p:spPr>
          <a:xfrm>
            <a:off x="548640" y="1097280"/>
            <a:ext cx="10972800" cy="1097280"/>
          </a:xfrm>
          <a:prstGeom prst="rect">
            <a:avLst/>
          </a:prstGeom>
          <a:noFill/>
        </p:spPr>
        <p:txBody>
          <a:bodyPr wrap="square" lIns="0" rIns="0" tIns="0" bIns="0" anchor="t">
            <a:spAutoFit/>
          </a:bodyPr>
          <a:lstStyle/>
          <a:p>
            <a:pPr algn="l"/>
            <a:r>
              <a:rPr sz="2600" b="1">
                <a:solidFill>
                  <a:srgbClr val="FFFFFF"/>
                </a:solidFill>
                <a:latin typeface="Calibri"/>
              </a:rPr>
              <a:t>A closed cylindrical can has a volume of 500 cubic cm. Find the radius and height that minimise the total surface area.</a:t>
            </a:r>
          </a:p>
        </p:txBody>
      </p:sp>
      <p:sp>
        <p:nvSpPr>
          <p:cNvPr id="6" name="TextBox 5"/>
          <p:cNvSpPr txBox="1"/>
          <p:nvPr/>
        </p:nvSpPr>
        <p:spPr>
          <a:xfrm>
            <a:off x="548640" y="3108960"/>
            <a:ext cx="10972800" cy="548640"/>
          </a:xfrm>
          <a:prstGeom prst="rect">
            <a:avLst/>
          </a:prstGeom>
          <a:noFill/>
        </p:spPr>
        <p:txBody>
          <a:bodyPr wrap="square" lIns="0" rIns="0" tIns="0" bIns="0" anchor="t">
            <a:spAutoFit/>
          </a:bodyPr>
          <a:lstStyle/>
          <a:p>
            <a:pPr algn="l"/>
            <a:r>
              <a:rPr sz="1800" b="1">
                <a:solidFill>
                  <a:srgbClr val="D5A838"/>
                </a:solidFill>
                <a:latin typeface="Calibri"/>
              </a:rPr>
              <a:t>Reminders</a:t>
            </a:r>
          </a:p>
        </p:txBody>
      </p:sp>
      <p:sp>
        <p:nvSpPr>
          <p:cNvPr id="7" name="TextBox 6"/>
          <p:cNvSpPr txBox="1"/>
          <p:nvPr/>
        </p:nvSpPr>
        <p:spPr>
          <a:xfrm>
            <a:off x="548640" y="3566160"/>
            <a:ext cx="10972800" cy="2286000"/>
          </a:xfrm>
          <a:prstGeom prst="rect">
            <a:avLst/>
          </a:prstGeom>
          <a:noFill/>
        </p:spPr>
        <p:txBody>
          <a:bodyPr wrap="square" lIns="0" rIns="0" tIns="0" bIns="0" anchor="t">
            <a:spAutoFit/>
          </a:bodyPr>
          <a:lstStyle/>
          <a:p>
            <a:pPr algn="l"/>
            <a:r>
              <a:rPr sz="1800" b="0">
                <a:solidFill>
                  <a:srgbClr val="FFFFFF"/>
                </a:solidFill>
                <a:latin typeface="Calibri"/>
              </a:rPr>
              <a:t>1.  Define your variables before you write a single equation.
2.  Show the constraint explicitly.
3.  The second derivative is one mark - never skip it.
4.  Submit a clean, boxed final answer with units.</a:t>
            </a:r>
          </a:p>
        </p:txBody>
      </p:sp>
      <p:sp>
        <p:nvSpPr>
          <p:cNvPr id="8" name="TextBox 7"/>
          <p:cNvSpPr txBox="1"/>
          <p:nvPr/>
        </p:nvSpPr>
        <p:spPr>
          <a:xfrm>
            <a:off x="548640" y="6217920"/>
            <a:ext cx="10972800" cy="365760"/>
          </a:xfrm>
          <a:prstGeom prst="rect">
            <a:avLst/>
          </a:prstGeom>
          <a:noFill/>
        </p:spPr>
        <p:txBody>
          <a:bodyPr wrap="square" lIns="0" rIns="0" tIns="0" bIns="0" anchor="t">
            <a:spAutoFit/>
          </a:bodyPr>
          <a:lstStyle/>
          <a:p>
            <a:pPr algn="l"/>
            <a:r>
              <a:rPr sz="1200" b="0">
                <a:solidFill>
                  <a:srgbClr val="D5A838"/>
                </a:solidFill>
                <a:latin typeface="Calibri"/>
              </a:rPr>
              <a:t>Help hours: Tuesday and Thursday, 7:00 - 7:30 AM, Room 204. Blog: harimooney.org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