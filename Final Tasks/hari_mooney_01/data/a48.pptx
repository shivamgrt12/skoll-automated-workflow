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Allocation</c:v>
                </c:pt>
              </c:strCache>
            </c:strRef>
          </c:tx>
          <c:cat>
            <c:strRef>
              <c:f>Sheet1!$A$2:$A$6</c:f>
              <c:strCache>
                <c:ptCount val="5"/>
                <c:pt idx="0">
                  <c:v>Tournament fees ($450)</c:v>
                </c:pt>
                <c:pt idx="1">
                  <c:v>Transportation ($550)</c:v>
                </c:pt>
                <c:pt idx="2">
                  <c:v>Equipment ($300)</c:v>
                </c:pt>
                <c:pt idx="3">
                  <c:v>Uniforms ($225)</c:v>
                </c:pt>
                <c:pt idx="4">
                  <c:v>USCF dues ($280)</c:v>
                </c:pt>
              </c:strCache>
            </c:strRef>
          </c:cat>
          <c:val>
            <c:numRef>
              <c:f>Sheet1!$B$2:$B$6</c:f>
              <c:numCache>
                <c:formatCode>General</c:formatCode>
                <c:ptCount val="5"/>
                <c:pt idx="0">
                  <c:v>450</c:v>
                </c:pt>
                <c:pt idx="1">
                  <c:v>550</c:v>
                </c:pt>
                <c:pt idx="2">
                  <c:v>300</c:v>
                </c:pt>
                <c:pt idx="3">
                  <c:v>225</c:v>
                </c:pt>
                <c:pt idx="4">
                  <c:v>280</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legend>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D2747"/>
                </a:solidFill>
              </a:rPr>
              <a:t>Active players by season</a:t>
            </a:r>
          </a:p>
        </c:rich>
      </c:tx>
      <c:layout/>
      <c:overlay val="0"/>
    </c:title>
    <c:autoTitleDeleted val="0"/>
    <c:plotArea>
      <c:barChart>
        <c:barDir val="col"/>
        <c:grouping val="clustered"/>
        <c:ser>
          <c:idx val="0"/>
          <c:order val="0"/>
          <c:tx>
            <c:strRef>
              <c:f>Sheet1!$B$1</c:f>
              <c:strCache>
                <c:ptCount val="1"/>
                <c:pt idx="0">
                  <c:v>Active players</c:v>
                </c:pt>
              </c:strCache>
            </c:strRef>
          </c:tx>
          <c:spPr>
            <a:solidFill>
              <a:srgbClr val="D96D4C"/>
            </a:solidFill>
          </c:spPr>
          <c:cat>
            <c:strRef>
              <c:f>Sheet1!$A$2:$A$6</c:f>
              <c:strCache>
                <c:ptCount val="5"/>
                <c:pt idx="0">
                  <c:v>2022-23</c:v>
                </c:pt>
                <c:pt idx="1">
                  <c:v>2023-24</c:v>
                </c:pt>
                <c:pt idx="2">
                  <c:v>2024-25</c:v>
                </c:pt>
                <c:pt idx="3">
                  <c:v>2025-26</c:v>
                </c:pt>
                <c:pt idx="4">
                  <c:v>2026-27</c:v>
                </c:pt>
              </c:strCache>
            </c:strRef>
          </c:cat>
          <c:val>
            <c:numRef>
              <c:f>Sheet1!$B$2:$B$6</c:f>
              <c:numCache>
                <c:formatCode>General</c:formatCode>
                <c:ptCount val="5"/>
                <c:pt idx="0">
                  <c:v>5</c:v>
                </c:pt>
                <c:pt idx="1">
                  <c:v>7</c:v>
                </c:pt>
                <c:pt idx="2">
                  <c:v>9</c:v>
                </c:pt>
                <c:pt idx="3">
                  <c:v>12</c:v>
                </c:pt>
                <c:pt idx="4">
                  <c:v>14</c:v>
                </c:pt>
              </c:numCache>
            </c:numRef>
          </c:val>
        </c:ser>
        <c:dLbls>
          <c:txPr>
            <a:bodyPr/>
            <a:lstStyle/>
            <a:p>
              <a:pPr>
                <a:defRPr sz="12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2025-26 (12 players)</c:v>
                </c:pt>
              </c:strCache>
            </c:strRef>
          </c:tx>
          <c:spPr>
            <a:solidFill>
              <a:srgbClr val="5D6573"/>
            </a:solidFill>
          </c:spPr>
          <c:cat>
            <c:strRef>
              <c:f>Sheet1!$A$2:$A$6</c:f>
              <c:strCache>
                <c:ptCount val="5"/>
                <c:pt idx="0">
                  <c:v>Tournament fees</c:v>
                </c:pt>
                <c:pt idx="1">
                  <c:v>Transportation</c:v>
                </c:pt>
                <c:pt idx="2">
                  <c:v>Equipment</c:v>
                </c:pt>
                <c:pt idx="3">
                  <c:v>Uniforms</c:v>
                </c:pt>
                <c:pt idx="4">
                  <c:v>USCF dues</c:v>
                </c:pt>
              </c:strCache>
            </c:strRef>
          </c:cat>
          <c:val>
            <c:numRef>
              <c:f>Sheet1!$B$2:$B$6</c:f>
              <c:numCache>
                <c:formatCode>General</c:formatCode>
                <c:ptCount val="5"/>
                <c:pt idx="0">
                  <c:v>425</c:v>
                </c:pt>
                <c:pt idx="1">
                  <c:v>520</c:v>
                </c:pt>
                <c:pt idx="2">
                  <c:v>0</c:v>
                </c:pt>
                <c:pt idx="3">
                  <c:v>180</c:v>
                </c:pt>
                <c:pt idx="4">
                  <c:v>240</c:v>
                </c:pt>
              </c:numCache>
            </c:numRef>
          </c:val>
        </c:ser>
        <c:ser>
          <c:idx val="1"/>
          <c:order val="1"/>
          <c:tx>
            <c:strRef>
              <c:f>Sheet1!$C$1</c:f>
              <c:strCache>
                <c:ptCount val="1"/>
                <c:pt idx="0">
                  <c:v>2026-27 (14 players)</c:v>
                </c:pt>
              </c:strCache>
            </c:strRef>
          </c:tx>
          <c:spPr>
            <a:solidFill>
              <a:srgbClr val="D96D4C"/>
            </a:solidFill>
          </c:spPr>
          <c:cat>
            <c:strRef>
              <c:f>Sheet1!$A$2:$A$6</c:f>
              <c:strCache>
                <c:ptCount val="5"/>
                <c:pt idx="0">
                  <c:v>Tournament fees</c:v>
                </c:pt>
                <c:pt idx="1">
                  <c:v>Transportation</c:v>
                </c:pt>
                <c:pt idx="2">
                  <c:v>Equipment</c:v>
                </c:pt>
                <c:pt idx="3">
                  <c:v>Uniforms</c:v>
                </c:pt>
                <c:pt idx="4">
                  <c:v>USCF dues</c:v>
                </c:pt>
              </c:strCache>
            </c:strRef>
          </c:cat>
          <c:val>
            <c:numRef>
              <c:f>Sheet1!$C$2:$C$6</c:f>
              <c:numCache>
                <c:formatCode>General</c:formatCode>
                <c:ptCount val="5"/>
                <c:pt idx="0">
                  <c:v>450</c:v>
                </c:pt>
                <c:pt idx="1">
                  <c:v>550</c:v>
                </c:pt>
                <c:pt idx="2">
                  <c:v>300</c:v>
                </c:pt>
                <c:pt idx="3">
                  <c:v>225</c:v>
                </c:pt>
                <c:pt idx="4">
                  <c:v>280</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Team avg USCF rating</c:v>
                </c:pt>
              </c:strCache>
            </c:strRef>
          </c:tx>
          <c:spPr>
            <a:ln w="38100">
              <a:solidFill>
                <a:srgbClr val="3D8B75"/>
              </a:solidFill>
            </a:ln>
          </c:spPr>
          <c:marker>
            <c:symbol val="none"/>
          </c:marker>
          <c:cat>
            <c:strRef>
              <c:f>Sheet1!$A$2:$A$9</c:f>
              <c:strCache>
                <c:ptCount val="8"/>
                <c:pt idx="0">
                  <c:v>Mar</c:v>
                </c:pt>
                <c:pt idx="1">
                  <c:v>Apr</c:v>
                </c:pt>
                <c:pt idx="2">
                  <c:v>May</c:v>
                </c:pt>
                <c:pt idx="3">
                  <c:v>Jun</c:v>
                </c:pt>
                <c:pt idx="4">
                  <c:v>Jul</c:v>
                </c:pt>
                <c:pt idx="5">
                  <c:v>Aug</c:v>
                </c:pt>
                <c:pt idx="6">
                  <c:v>Sep</c:v>
                </c:pt>
                <c:pt idx="7">
                  <c:v>Oct</c:v>
                </c:pt>
              </c:strCache>
            </c:strRef>
          </c:cat>
          <c:val>
            <c:numRef>
              <c:f>Sheet1!$B$2:$B$9</c:f>
              <c:numCache>
                <c:formatCode>General</c:formatCode>
                <c:ptCount val="8"/>
                <c:pt idx="0">
                  <c:v>1542</c:v>
                </c:pt>
                <c:pt idx="1">
                  <c:v>1556</c:v>
                </c:pt>
                <c:pt idx="2">
                  <c:v>1571</c:v>
                </c:pt>
                <c:pt idx="3">
                  <c:v>1583</c:v>
                </c:pt>
                <c:pt idx="4">
                  <c:v>1596</c:v>
                </c:pt>
                <c:pt idx="5">
                  <c:v>1612</c:v>
                </c:pt>
                <c:pt idx="6">
                  <c:v>1638</c:v>
                </c:pt>
                <c:pt idx="7">
                  <c:v>1654</c:v>
                </c:pt>
              </c:numCache>
            </c:numRef>
          </c:val>
          <c:smooth val="0"/>
        </c:ser>
        <c:dLbls>
          <c:txPr>
            <a:bodyPr/>
            <a:lstStyle/>
            <a:p>
              <a:pPr>
                <a:defRPr sz="1100" b="1"/>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D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114800" cy="6858000"/>
          </a:xfrm>
          <a:prstGeom prst="rect">
            <a:avLst/>
          </a:prstGeom>
          <a:solidFill>
            <a:srgbClr val="D96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0080"/>
            <a:ext cx="3474720" cy="365760"/>
          </a:xfrm>
          <a:prstGeom prst="rect">
            <a:avLst/>
          </a:prstGeom>
          <a:noFill/>
        </p:spPr>
        <p:txBody>
          <a:bodyPr wrap="square" lIns="0" rIns="0" tIns="0" bIns="0" anchor="t">
            <a:spAutoFit/>
          </a:bodyPr>
          <a:lstStyle/>
          <a:p>
            <a:pPr algn="l"/>
            <a:r>
              <a:rPr sz="1200" b="1">
                <a:solidFill>
                  <a:srgbClr val="FFFFFF"/>
                </a:solidFill>
                <a:latin typeface="Calibri"/>
              </a:rPr>
              <a:t>EASTWICK PREP</a:t>
            </a:r>
          </a:p>
        </p:txBody>
      </p:sp>
      <p:sp>
        <p:nvSpPr>
          <p:cNvPr id="6" name="TextBox 5"/>
          <p:cNvSpPr txBox="1"/>
          <p:nvPr/>
        </p:nvSpPr>
        <p:spPr>
          <a:xfrm>
            <a:off x="457200" y="1005840"/>
            <a:ext cx="3474720" cy="2286000"/>
          </a:xfrm>
          <a:prstGeom prst="rect">
            <a:avLst/>
          </a:prstGeom>
          <a:noFill/>
        </p:spPr>
        <p:txBody>
          <a:bodyPr wrap="square" lIns="0" rIns="0" tIns="0" bIns="0" anchor="t">
            <a:spAutoFit/>
          </a:bodyPr>
          <a:lstStyle/>
          <a:p>
            <a:pPr algn="l"/>
            <a:r>
              <a:rPr sz="4400" b="1">
                <a:solidFill>
                  <a:srgbClr val="FFFFFF"/>
                </a:solidFill>
                <a:latin typeface="Calibri"/>
              </a:rPr>
              <a:t>Eastwick
Knights</a:t>
            </a:r>
          </a:p>
        </p:txBody>
      </p:sp>
      <p:sp>
        <p:nvSpPr>
          <p:cNvPr id="7" name="TextBox 6"/>
          <p:cNvSpPr txBox="1"/>
          <p:nvPr/>
        </p:nvSpPr>
        <p:spPr>
          <a:xfrm>
            <a:off x="457200" y="3291840"/>
            <a:ext cx="3474720" cy="457200"/>
          </a:xfrm>
          <a:prstGeom prst="rect">
            <a:avLst/>
          </a:prstGeom>
          <a:noFill/>
        </p:spPr>
        <p:txBody>
          <a:bodyPr wrap="square" lIns="0" rIns="0" tIns="0" bIns="0" anchor="t">
            <a:spAutoFit/>
          </a:bodyPr>
          <a:lstStyle/>
          <a:p>
            <a:pPr algn="l"/>
            <a:r>
              <a:rPr sz="1800" b="0">
                <a:solidFill>
                  <a:srgbClr val="D5A838"/>
                </a:solidFill>
                <a:latin typeface="Calibri"/>
              </a:rPr>
              <a:t>Scholastic Chess Program</a:t>
            </a:r>
          </a:p>
        </p:txBody>
      </p:sp>
      <p:sp>
        <p:nvSpPr>
          <p:cNvPr id="8" name="TextBox 7"/>
          <p:cNvSpPr txBox="1"/>
          <p:nvPr/>
        </p:nvSpPr>
        <p:spPr>
          <a:xfrm>
            <a:off x="457200" y="5852160"/>
            <a:ext cx="3474720" cy="365760"/>
          </a:xfrm>
          <a:prstGeom prst="rect">
            <a:avLst/>
          </a:prstGeom>
          <a:noFill/>
        </p:spPr>
        <p:txBody>
          <a:bodyPr wrap="square" lIns="0" rIns="0" tIns="0" bIns="0" anchor="t">
            <a:spAutoFit/>
          </a:bodyPr>
          <a:lstStyle/>
          <a:p>
            <a:pPr algn="l"/>
            <a:r>
              <a:rPr sz="1400" b="1">
                <a:solidFill>
                  <a:srgbClr val="FFFFFF"/>
                </a:solidFill>
                <a:latin typeface="Calibri"/>
              </a:rPr>
              <a:t>Coach Hari Mooney</a:t>
            </a:r>
          </a:p>
        </p:txBody>
      </p:sp>
      <p:sp>
        <p:nvSpPr>
          <p:cNvPr id="9" name="TextBox 8"/>
          <p:cNvSpPr txBox="1"/>
          <p:nvPr/>
        </p:nvSpPr>
        <p:spPr>
          <a:xfrm>
            <a:off x="457200" y="6217920"/>
            <a:ext cx="3474720" cy="365760"/>
          </a:xfrm>
          <a:prstGeom prst="rect">
            <a:avLst/>
          </a:prstGeom>
          <a:noFill/>
        </p:spPr>
        <p:txBody>
          <a:bodyPr wrap="square" lIns="0" rIns="0" tIns="0" bIns="0" anchor="t">
            <a:spAutoFit/>
          </a:bodyPr>
          <a:lstStyle/>
          <a:p>
            <a:pPr algn="l"/>
            <a:r>
              <a:rPr sz="1200" b="0">
                <a:solidFill>
                  <a:srgbClr val="FFFFFF"/>
                </a:solidFill>
                <a:latin typeface="Calibri"/>
              </a:rPr>
              <a:t>USCF Certified Coach</a:t>
            </a:r>
          </a:p>
        </p:txBody>
      </p:sp>
      <p:sp>
        <p:nvSpPr>
          <p:cNvPr id="10" name="TextBox 9"/>
          <p:cNvSpPr txBox="1"/>
          <p:nvPr/>
        </p:nvSpPr>
        <p:spPr>
          <a:xfrm>
            <a:off x="4572000" y="1280160"/>
            <a:ext cx="6858000" cy="457200"/>
          </a:xfrm>
          <a:prstGeom prst="rect">
            <a:avLst/>
          </a:prstGeom>
          <a:noFill/>
        </p:spPr>
        <p:txBody>
          <a:bodyPr wrap="square" lIns="0" rIns="0" tIns="0" bIns="0" anchor="t">
            <a:spAutoFit/>
          </a:bodyPr>
          <a:lstStyle/>
          <a:p>
            <a:pPr algn="l"/>
            <a:r>
              <a:rPr sz="1400" b="1">
                <a:solidFill>
                  <a:srgbClr val="D5A838"/>
                </a:solidFill>
                <a:latin typeface="Calibri"/>
              </a:rPr>
              <a:t>BUDGET PROPOSAL 2026 - 2027</a:t>
            </a:r>
          </a:p>
        </p:txBody>
      </p:sp>
      <p:sp>
        <p:nvSpPr>
          <p:cNvPr id="11" name="TextBox 10"/>
          <p:cNvSpPr txBox="1"/>
          <p:nvPr/>
        </p:nvSpPr>
        <p:spPr>
          <a:xfrm>
            <a:off x="4572000" y="1737360"/>
            <a:ext cx="7132320" cy="2194560"/>
          </a:xfrm>
          <a:prstGeom prst="rect">
            <a:avLst/>
          </a:prstGeom>
          <a:noFill/>
        </p:spPr>
        <p:txBody>
          <a:bodyPr wrap="square" lIns="0" rIns="0" tIns="0" bIns="0" anchor="t">
            <a:spAutoFit/>
          </a:bodyPr>
          <a:lstStyle/>
          <a:p>
            <a:pPr algn="l"/>
            <a:r>
              <a:rPr sz="4400" b="1">
                <a:solidFill>
                  <a:srgbClr val="FFFFFF"/>
                </a:solidFill>
                <a:latin typeface="Calibri"/>
              </a:rPr>
              <a:t>Funding the Knights' first state finals run</a:t>
            </a:r>
          </a:p>
        </p:txBody>
      </p:sp>
      <p:sp>
        <p:nvSpPr>
          <p:cNvPr id="12" name="TextBox 11"/>
          <p:cNvSpPr txBox="1"/>
          <p:nvPr/>
        </p:nvSpPr>
        <p:spPr>
          <a:xfrm>
            <a:off x="4572000" y="4572000"/>
            <a:ext cx="6858000" cy="457200"/>
          </a:xfrm>
          <a:prstGeom prst="rect">
            <a:avLst/>
          </a:prstGeom>
          <a:noFill/>
        </p:spPr>
        <p:txBody>
          <a:bodyPr wrap="square" lIns="0" rIns="0" tIns="0" bIns="0" anchor="t">
            <a:spAutoFit/>
          </a:bodyPr>
          <a:lstStyle/>
          <a:p>
            <a:pPr algn="l"/>
            <a:r>
              <a:rPr sz="1800" b="0">
                <a:solidFill>
                  <a:srgbClr val="FFFFFF"/>
                </a:solidFill>
                <a:latin typeface="Calibri"/>
              </a:rPr>
              <a:t>Submitted to Principal Gloria Reyes</a:t>
            </a:r>
          </a:p>
        </p:txBody>
      </p:sp>
      <p:sp>
        <p:nvSpPr>
          <p:cNvPr id="13" name="TextBox 12"/>
          <p:cNvSpPr txBox="1"/>
          <p:nvPr/>
        </p:nvSpPr>
        <p:spPr>
          <a:xfrm>
            <a:off x="4572000" y="5029200"/>
            <a:ext cx="6858000" cy="457200"/>
          </a:xfrm>
          <a:prstGeom prst="rect">
            <a:avLst/>
          </a:prstGeom>
          <a:noFill/>
        </p:spPr>
        <p:txBody>
          <a:bodyPr wrap="square" lIns="0" rIns="0" tIns="0" bIns="0" anchor="t">
            <a:spAutoFit/>
          </a:bodyPr>
          <a:lstStyle/>
          <a:p>
            <a:pPr algn="l"/>
            <a:r>
              <a:rPr sz="1400" b="0">
                <a:solidFill>
                  <a:srgbClr val="D5A838"/>
                </a:solidFill>
                <a:latin typeface="Calibri"/>
              </a:rPr>
              <a:t>Submission Date: October 5,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D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548640"/>
          </a:xfrm>
          <a:prstGeom prst="rect">
            <a:avLst/>
          </a:prstGeom>
          <a:noFill/>
        </p:spPr>
        <p:txBody>
          <a:bodyPr wrap="square" lIns="0" rIns="0" tIns="0" bIns="0" anchor="t">
            <a:spAutoFit/>
          </a:bodyPr>
          <a:lstStyle/>
          <a:p>
            <a:pPr algn="l"/>
            <a:r>
              <a:rPr sz="2800" b="1">
                <a:solidFill>
                  <a:srgbClr val="FFFFFF"/>
                </a:solidFill>
                <a:latin typeface="Calibri"/>
              </a:rPr>
              <a:t>The ask in one slide</a:t>
            </a:r>
          </a:p>
        </p:txBody>
      </p:sp>
      <p:sp>
        <p:nvSpPr>
          <p:cNvPr id="5" name="Rounded Rectangle 4"/>
          <p:cNvSpPr/>
          <p:nvPr/>
        </p:nvSpPr>
        <p:spPr>
          <a:xfrm>
            <a:off x="548640" y="1554480"/>
            <a:ext cx="2606040" cy="2194560"/>
          </a:xfrm>
          <a:prstGeom prst="roundRect">
            <a:avLst/>
          </a:prstGeom>
          <a:solidFill>
            <a:srgbClr val="FFFFFF"/>
          </a:solidFill>
          <a:ln w="25400">
            <a:solidFill>
              <a:srgbClr val="D96D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2606040" cy="164592"/>
          </a:xfrm>
          <a:prstGeom prst="rect">
            <a:avLst/>
          </a:prstGeom>
          <a:solidFill>
            <a:srgbClr val="D96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03120"/>
            <a:ext cx="2240280" cy="914400"/>
          </a:xfrm>
          <a:prstGeom prst="rect">
            <a:avLst/>
          </a:prstGeom>
          <a:noFill/>
        </p:spPr>
        <p:txBody>
          <a:bodyPr wrap="square" lIns="0" rIns="0" tIns="0" bIns="0" anchor="t">
            <a:spAutoFit/>
          </a:bodyPr>
          <a:lstStyle/>
          <a:p>
            <a:pPr algn="ctr"/>
            <a:r>
              <a:rPr sz="4000" b="1">
                <a:solidFill>
                  <a:srgbClr val="D96D4C"/>
                </a:solidFill>
                <a:latin typeface="Calibri"/>
              </a:rPr>
              <a:t>$1,805</a:t>
            </a:r>
          </a:p>
        </p:txBody>
      </p:sp>
      <p:sp>
        <p:nvSpPr>
          <p:cNvPr id="8" name="TextBox 7"/>
          <p:cNvSpPr txBox="1"/>
          <p:nvPr/>
        </p:nvSpPr>
        <p:spPr>
          <a:xfrm>
            <a:off x="731520" y="3108960"/>
            <a:ext cx="2240280" cy="548640"/>
          </a:xfrm>
          <a:prstGeom prst="rect">
            <a:avLst/>
          </a:prstGeom>
          <a:noFill/>
        </p:spPr>
        <p:txBody>
          <a:bodyPr wrap="square" lIns="0" rIns="0" tIns="0" bIns="0" anchor="t">
            <a:spAutoFit/>
          </a:bodyPr>
          <a:lstStyle/>
          <a:p>
            <a:pPr algn="ctr"/>
            <a:r>
              <a:rPr sz="1400" b="0">
                <a:solidFill>
                  <a:srgbClr val="5D6573"/>
                </a:solidFill>
                <a:latin typeface="Calibri"/>
              </a:rPr>
              <a:t>Total requested</a:t>
            </a:r>
          </a:p>
        </p:txBody>
      </p:sp>
      <p:sp>
        <p:nvSpPr>
          <p:cNvPr id="9" name="Rounded Rectangle 8"/>
          <p:cNvSpPr/>
          <p:nvPr/>
        </p:nvSpPr>
        <p:spPr>
          <a:xfrm>
            <a:off x="3319272" y="1554480"/>
            <a:ext cx="2606040" cy="2194560"/>
          </a:xfrm>
          <a:prstGeom prst="roundRect">
            <a:avLst/>
          </a:prstGeom>
          <a:solidFill>
            <a:srgbClr val="FFFFFF"/>
          </a:solidFill>
          <a:ln w="25400">
            <a:solidFill>
              <a:srgbClr val="1D27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19272" y="1554480"/>
            <a:ext cx="2606040" cy="164592"/>
          </a:xfrm>
          <a:prstGeom prst="rect">
            <a:avLst/>
          </a:prstGeom>
          <a:solidFill>
            <a:srgbClr val="1D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02152" y="2103120"/>
            <a:ext cx="2240280" cy="914400"/>
          </a:xfrm>
          <a:prstGeom prst="rect">
            <a:avLst/>
          </a:prstGeom>
          <a:noFill/>
        </p:spPr>
        <p:txBody>
          <a:bodyPr wrap="square" lIns="0" rIns="0" tIns="0" bIns="0" anchor="t">
            <a:spAutoFit/>
          </a:bodyPr>
          <a:lstStyle/>
          <a:p>
            <a:pPr algn="ctr"/>
            <a:r>
              <a:rPr sz="4000" b="1">
                <a:solidFill>
                  <a:srgbClr val="1D2747"/>
                </a:solidFill>
                <a:latin typeface="Calibri"/>
              </a:rPr>
              <a:t>14</a:t>
            </a:r>
          </a:p>
        </p:txBody>
      </p:sp>
      <p:sp>
        <p:nvSpPr>
          <p:cNvPr id="12" name="TextBox 11"/>
          <p:cNvSpPr txBox="1"/>
          <p:nvPr/>
        </p:nvSpPr>
        <p:spPr>
          <a:xfrm>
            <a:off x="3502152" y="3108960"/>
            <a:ext cx="2240280" cy="548640"/>
          </a:xfrm>
          <a:prstGeom prst="rect">
            <a:avLst/>
          </a:prstGeom>
          <a:noFill/>
        </p:spPr>
        <p:txBody>
          <a:bodyPr wrap="square" lIns="0" rIns="0" tIns="0" bIns="0" anchor="t">
            <a:spAutoFit/>
          </a:bodyPr>
          <a:lstStyle/>
          <a:p>
            <a:pPr algn="ctr"/>
            <a:r>
              <a:rPr sz="1400" b="0">
                <a:solidFill>
                  <a:srgbClr val="5D6573"/>
                </a:solidFill>
                <a:latin typeface="Calibri"/>
              </a:rPr>
              <a:t>Active players</a:t>
            </a:r>
          </a:p>
        </p:txBody>
      </p:sp>
      <p:sp>
        <p:nvSpPr>
          <p:cNvPr id="13" name="Rounded Rectangle 12"/>
          <p:cNvSpPr/>
          <p:nvPr/>
        </p:nvSpPr>
        <p:spPr>
          <a:xfrm>
            <a:off x="6089904" y="1554480"/>
            <a:ext cx="2606040" cy="2194560"/>
          </a:xfrm>
          <a:prstGeom prst="roundRect">
            <a:avLst/>
          </a:prstGeom>
          <a:solidFill>
            <a:srgbClr val="FFFFFF"/>
          </a:solidFill>
          <a:ln w="25400">
            <a:solidFill>
              <a:srgbClr val="3D8B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89904" y="1554480"/>
            <a:ext cx="2606040" cy="164592"/>
          </a:xfrm>
          <a:prstGeom prst="rect">
            <a:avLst/>
          </a:prstGeom>
          <a:solidFill>
            <a:srgbClr val="3D8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72784" y="2103120"/>
            <a:ext cx="2240280" cy="914400"/>
          </a:xfrm>
          <a:prstGeom prst="rect">
            <a:avLst/>
          </a:prstGeom>
          <a:noFill/>
        </p:spPr>
        <p:txBody>
          <a:bodyPr wrap="square" lIns="0" rIns="0" tIns="0" bIns="0" anchor="t">
            <a:spAutoFit/>
          </a:bodyPr>
          <a:lstStyle/>
          <a:p>
            <a:pPr algn="ctr"/>
            <a:r>
              <a:rPr sz="4000" b="1">
                <a:solidFill>
                  <a:srgbClr val="3D8B75"/>
                </a:solidFill>
                <a:latin typeface="Calibri"/>
              </a:rPr>
              <a:t>9 of 12</a:t>
            </a:r>
          </a:p>
        </p:txBody>
      </p:sp>
      <p:sp>
        <p:nvSpPr>
          <p:cNvPr id="16" name="TextBox 15"/>
          <p:cNvSpPr txBox="1"/>
          <p:nvPr/>
        </p:nvSpPr>
        <p:spPr>
          <a:xfrm>
            <a:off x="6272784" y="3108960"/>
            <a:ext cx="2240280" cy="548640"/>
          </a:xfrm>
          <a:prstGeom prst="rect">
            <a:avLst/>
          </a:prstGeom>
          <a:noFill/>
        </p:spPr>
        <p:txBody>
          <a:bodyPr wrap="square" lIns="0" rIns="0" tIns="0" bIns="0" anchor="t">
            <a:spAutoFit/>
          </a:bodyPr>
          <a:lstStyle/>
          <a:p>
            <a:pPr algn="ctr"/>
            <a:r>
              <a:rPr sz="1400" b="0">
                <a:solidFill>
                  <a:srgbClr val="5D6573"/>
                </a:solidFill>
                <a:latin typeface="Calibri"/>
              </a:rPr>
              <a:t>Matches won this season</a:t>
            </a:r>
          </a:p>
        </p:txBody>
      </p:sp>
      <p:sp>
        <p:nvSpPr>
          <p:cNvPr id="17" name="Rounded Rectangle 16"/>
          <p:cNvSpPr/>
          <p:nvPr/>
        </p:nvSpPr>
        <p:spPr>
          <a:xfrm>
            <a:off x="8860536" y="1554480"/>
            <a:ext cx="2606040" cy="2194560"/>
          </a:xfrm>
          <a:prstGeom prst="roundRect">
            <a:avLst/>
          </a:prstGeom>
          <a:solidFill>
            <a:srgbClr val="FFFFFF"/>
          </a:solidFill>
          <a:ln w="25400">
            <a:solidFill>
              <a:srgbClr val="D5A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60536" y="1554480"/>
            <a:ext cx="2606040" cy="164592"/>
          </a:xfrm>
          <a:prstGeom prst="rect">
            <a:avLst/>
          </a:prstGeom>
          <a:solidFill>
            <a:srgbClr val="D5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43416" y="2103120"/>
            <a:ext cx="2240280" cy="914400"/>
          </a:xfrm>
          <a:prstGeom prst="rect">
            <a:avLst/>
          </a:prstGeom>
          <a:noFill/>
        </p:spPr>
        <p:txBody>
          <a:bodyPr wrap="square" lIns="0" rIns="0" tIns="0" bIns="0" anchor="t">
            <a:spAutoFit/>
          </a:bodyPr>
          <a:lstStyle/>
          <a:p>
            <a:pPr algn="ctr"/>
            <a:r>
              <a:rPr sz="4000" b="1">
                <a:solidFill>
                  <a:srgbClr val="D5A838"/>
                </a:solidFill>
                <a:latin typeface="Calibri"/>
              </a:rPr>
              <a:t>+9</a:t>
            </a:r>
          </a:p>
        </p:txBody>
      </p:sp>
      <p:sp>
        <p:nvSpPr>
          <p:cNvPr id="20" name="TextBox 19"/>
          <p:cNvSpPr txBox="1"/>
          <p:nvPr/>
        </p:nvSpPr>
        <p:spPr>
          <a:xfrm>
            <a:off x="9043416" y="3108960"/>
            <a:ext cx="2240280" cy="548640"/>
          </a:xfrm>
          <a:prstGeom prst="rect">
            <a:avLst/>
          </a:prstGeom>
          <a:noFill/>
        </p:spPr>
        <p:txBody>
          <a:bodyPr wrap="square" lIns="0" rIns="0" tIns="0" bIns="0" anchor="t">
            <a:spAutoFit/>
          </a:bodyPr>
          <a:lstStyle/>
          <a:p>
            <a:pPr algn="ctr"/>
            <a:r>
              <a:rPr sz="1400" b="0">
                <a:solidFill>
                  <a:srgbClr val="5D6573"/>
                </a:solidFill>
                <a:latin typeface="Calibri"/>
              </a:rPr>
              <a:t>Roster growth since 2021</a:t>
            </a:r>
          </a:p>
        </p:txBody>
      </p:sp>
      <p:sp>
        <p:nvSpPr>
          <p:cNvPr id="21" name="TextBox 20"/>
          <p:cNvSpPr txBox="1"/>
          <p:nvPr/>
        </p:nvSpPr>
        <p:spPr>
          <a:xfrm>
            <a:off x="548640" y="4206240"/>
            <a:ext cx="11064240" cy="1097280"/>
          </a:xfrm>
          <a:prstGeom prst="rect">
            <a:avLst/>
          </a:prstGeom>
          <a:noFill/>
        </p:spPr>
        <p:txBody>
          <a:bodyPr wrap="square" lIns="0" rIns="0" tIns="0" bIns="0" anchor="t">
            <a:spAutoFit/>
          </a:bodyPr>
          <a:lstStyle/>
          <a:p>
            <a:pPr algn="l"/>
            <a:r>
              <a:rPr sz="1800" b="0">
                <a:solidFill>
                  <a:srgbClr val="1D2747"/>
                </a:solidFill>
                <a:latin typeface="Calibri"/>
              </a:rPr>
              <a:t>We are asking for the same dollar amount approved last year, distributed across five categories. Every dollar is tied to a roster of 14 named players competing in the NJ State Scholastic League.</a:t>
            </a:r>
          </a:p>
        </p:txBody>
      </p:sp>
      <p:sp>
        <p:nvSpPr>
          <p:cNvPr id="22" name="TextBox 21"/>
          <p:cNvSpPr txBox="1"/>
          <p:nvPr/>
        </p:nvSpPr>
        <p:spPr>
          <a:xfrm>
            <a:off x="365760" y="6492240"/>
            <a:ext cx="7315200" cy="274320"/>
          </a:xfrm>
          <a:prstGeom prst="rect">
            <a:avLst/>
          </a:prstGeom>
          <a:noFill/>
        </p:spPr>
        <p:txBody>
          <a:bodyPr wrap="square" lIns="0" rIns="0" tIns="0" bIns="0" anchor="t">
            <a:spAutoFit/>
          </a:bodyPr>
          <a:lstStyle/>
          <a:p>
            <a:pPr algn="l"/>
            <a:r>
              <a:rPr sz="1000" b="0">
                <a:solidFill>
                  <a:srgbClr val="5D6573"/>
                </a:solidFill>
                <a:latin typeface="Calibri"/>
              </a:rPr>
              <a:t>Eastwick Knights Chess Program - Coach Hari Mooney</a:t>
            </a:r>
          </a:p>
        </p:txBody>
      </p:sp>
      <p:sp>
        <p:nvSpPr>
          <p:cNvPr id="23" name="TextBox 22"/>
          <p:cNvSpPr txBox="1"/>
          <p:nvPr/>
        </p:nvSpPr>
        <p:spPr>
          <a:xfrm>
            <a:off x="11368735" y="6492240"/>
            <a:ext cx="457200" cy="274320"/>
          </a:xfrm>
          <a:prstGeom prst="rect">
            <a:avLst/>
          </a:prstGeom>
          <a:noFill/>
        </p:spPr>
        <p:txBody>
          <a:bodyPr wrap="square" lIns="0" rIns="0" tIns="0" bIns="0" anchor="t">
            <a:spAutoFit/>
          </a:bodyPr>
          <a:lstStyle/>
          <a:p>
            <a:pPr algn="r"/>
            <a:r>
              <a:rPr sz="1000" b="0">
                <a:solidFill>
                  <a:srgbClr val="5D6573"/>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D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548640"/>
          </a:xfrm>
          <a:prstGeom prst="rect">
            <a:avLst/>
          </a:prstGeom>
          <a:noFill/>
        </p:spPr>
        <p:txBody>
          <a:bodyPr wrap="square" lIns="0" rIns="0" tIns="0" bIns="0" anchor="t">
            <a:spAutoFit/>
          </a:bodyPr>
          <a:lstStyle/>
          <a:p>
            <a:pPr algn="l"/>
            <a:r>
              <a:rPr sz="2800" b="1">
                <a:solidFill>
                  <a:srgbClr val="FFFFFF"/>
                </a:solidFill>
                <a:latin typeface="Calibri"/>
              </a:rPr>
              <a:t>Where the dollars go</a:t>
            </a:r>
          </a:p>
        </p:txBody>
      </p:sp>
      <p:graphicFrame>
        <p:nvGraphicFramePr>
          <p:cNvPr id="5" name="Chart 4"/>
          <p:cNvGraphicFramePr>
            <a:graphicFrameLocks noGrp="1"/>
          </p:cNvGraphicFramePr>
          <p:nvPr/>
        </p:nvGraphicFramePr>
        <p:xfrm>
          <a:off x="457200" y="1097280"/>
          <a:ext cx="5943600" cy="4937760"/>
        </p:xfrm>
        <a:graphic>
          <a:graphicData uri="http://schemas.openxmlformats.org/drawingml/2006/chart">
            <c:chart xmlns:c="http://schemas.openxmlformats.org/drawingml/2006/chart" r:id="rId2"/>
          </a:graphicData>
        </a:graphic>
      </p:graphicFrame>
      <p:sp>
        <p:nvSpPr>
          <p:cNvPr id="6" name="TextBox 5"/>
          <p:cNvSpPr txBox="1"/>
          <p:nvPr/>
        </p:nvSpPr>
        <p:spPr>
          <a:xfrm>
            <a:off x="6675120" y="1188720"/>
            <a:ext cx="5029200" cy="457200"/>
          </a:xfrm>
          <a:prstGeom prst="rect">
            <a:avLst/>
          </a:prstGeom>
          <a:noFill/>
        </p:spPr>
        <p:txBody>
          <a:bodyPr wrap="square" lIns="0" rIns="0" tIns="0" bIns="0" anchor="t">
            <a:spAutoFit/>
          </a:bodyPr>
          <a:lstStyle/>
          <a:p>
            <a:pPr algn="l"/>
            <a:r>
              <a:rPr sz="1800" b="1">
                <a:solidFill>
                  <a:srgbClr val="D96D4C"/>
                </a:solidFill>
                <a:latin typeface="Calibri"/>
              </a:rPr>
              <a:t>Three observations</a:t>
            </a:r>
          </a:p>
        </p:txBody>
      </p:sp>
      <p:sp>
        <p:nvSpPr>
          <p:cNvPr id="7" name="TextBox 6"/>
          <p:cNvSpPr txBox="1"/>
          <p:nvPr/>
        </p:nvSpPr>
        <p:spPr>
          <a:xfrm>
            <a:off x="6675120" y="1828800"/>
            <a:ext cx="5120640" cy="1097280"/>
          </a:xfrm>
          <a:prstGeom prst="rect">
            <a:avLst/>
          </a:prstGeom>
          <a:noFill/>
        </p:spPr>
        <p:txBody>
          <a:bodyPr wrap="square" lIns="0" rIns="0" tIns="0" bIns="0" anchor="t">
            <a:spAutoFit/>
          </a:bodyPr>
          <a:lstStyle/>
          <a:p>
            <a:pPr algn="l"/>
            <a:r>
              <a:rPr sz="1400" b="0">
                <a:solidFill>
                  <a:srgbClr val="1D2747"/>
                </a:solidFill>
                <a:latin typeface="Calibri"/>
              </a:rPr>
              <a:t>- Transportation is the single largest line. Last year we paid for two separate charters that could have been combined.</a:t>
            </a:r>
          </a:p>
        </p:txBody>
      </p:sp>
      <p:sp>
        <p:nvSpPr>
          <p:cNvPr id="8" name="TextBox 7"/>
          <p:cNvSpPr txBox="1"/>
          <p:nvPr/>
        </p:nvSpPr>
        <p:spPr>
          <a:xfrm>
            <a:off x="6675120" y="3017520"/>
            <a:ext cx="5120640" cy="1097280"/>
          </a:xfrm>
          <a:prstGeom prst="rect">
            <a:avLst/>
          </a:prstGeom>
          <a:noFill/>
        </p:spPr>
        <p:txBody>
          <a:bodyPr wrap="square" lIns="0" rIns="0" tIns="0" bIns="0" anchor="t">
            <a:spAutoFit/>
          </a:bodyPr>
          <a:lstStyle/>
          <a:p>
            <a:pPr algn="l"/>
            <a:r>
              <a:rPr sz="1400" b="0">
                <a:solidFill>
                  <a:srgbClr val="1D2747"/>
                </a:solidFill>
                <a:latin typeface="Calibri"/>
              </a:rPr>
              <a:t>- Equipment is a one-time cost. Six DGT North American chess clocks last roughly five seasons.</a:t>
            </a:r>
          </a:p>
        </p:txBody>
      </p:sp>
      <p:sp>
        <p:nvSpPr>
          <p:cNvPr id="9" name="TextBox 8"/>
          <p:cNvSpPr txBox="1"/>
          <p:nvPr/>
        </p:nvSpPr>
        <p:spPr>
          <a:xfrm>
            <a:off x="6675120" y="4206240"/>
            <a:ext cx="5120640" cy="1097280"/>
          </a:xfrm>
          <a:prstGeom prst="rect">
            <a:avLst/>
          </a:prstGeom>
          <a:noFill/>
        </p:spPr>
        <p:txBody>
          <a:bodyPr wrap="square" lIns="0" rIns="0" tIns="0" bIns="0" anchor="t">
            <a:spAutoFit/>
          </a:bodyPr>
          <a:lstStyle/>
          <a:p>
            <a:pPr algn="l"/>
            <a:r>
              <a:rPr sz="1400" b="0">
                <a:solidFill>
                  <a:srgbClr val="1D2747"/>
                </a:solidFill>
                <a:latin typeface="Calibri"/>
              </a:rPr>
              <a:t>- Uniform spend is identical to the CustomInk invoice on file (Order CI-994210, $225).</a:t>
            </a:r>
          </a:p>
        </p:txBody>
      </p:sp>
      <p:sp>
        <p:nvSpPr>
          <p:cNvPr id="10" name="TextBox 9"/>
          <p:cNvSpPr txBox="1"/>
          <p:nvPr/>
        </p:nvSpPr>
        <p:spPr>
          <a:xfrm>
            <a:off x="365760" y="6492240"/>
            <a:ext cx="7315200" cy="274320"/>
          </a:xfrm>
          <a:prstGeom prst="rect">
            <a:avLst/>
          </a:prstGeom>
          <a:noFill/>
        </p:spPr>
        <p:txBody>
          <a:bodyPr wrap="square" lIns="0" rIns="0" tIns="0" bIns="0" anchor="t">
            <a:spAutoFit/>
          </a:bodyPr>
          <a:lstStyle/>
          <a:p>
            <a:pPr algn="l"/>
            <a:r>
              <a:rPr sz="1000" b="0">
                <a:solidFill>
                  <a:srgbClr val="5D6573"/>
                </a:solidFill>
                <a:latin typeface="Calibri"/>
              </a:rPr>
              <a:t>Eastwick Knights Chess Program - Coach Hari Mooney</a:t>
            </a:r>
          </a:p>
        </p:txBody>
      </p:sp>
      <p:sp>
        <p:nvSpPr>
          <p:cNvPr id="11" name="TextBox 10"/>
          <p:cNvSpPr txBox="1"/>
          <p:nvPr/>
        </p:nvSpPr>
        <p:spPr>
          <a:xfrm>
            <a:off x="11368735" y="6492240"/>
            <a:ext cx="457200" cy="274320"/>
          </a:xfrm>
          <a:prstGeom prst="rect">
            <a:avLst/>
          </a:prstGeom>
          <a:noFill/>
        </p:spPr>
        <p:txBody>
          <a:bodyPr wrap="square" lIns="0" rIns="0" tIns="0" bIns="0" anchor="t">
            <a:spAutoFit/>
          </a:bodyPr>
          <a:lstStyle/>
          <a:p>
            <a:pPr algn="r"/>
            <a:r>
              <a:rPr sz="1000" b="0">
                <a:solidFill>
                  <a:srgbClr val="5D6573"/>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D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548640"/>
          </a:xfrm>
          <a:prstGeom prst="rect">
            <a:avLst/>
          </a:prstGeom>
          <a:noFill/>
        </p:spPr>
        <p:txBody>
          <a:bodyPr wrap="square" lIns="0" rIns="0" tIns="0" bIns="0" anchor="t">
            <a:spAutoFit/>
          </a:bodyPr>
          <a:lstStyle/>
          <a:p>
            <a:pPr algn="l"/>
            <a:r>
              <a:rPr sz="2800" b="1">
                <a:solidFill>
                  <a:srgbClr val="FFFFFF"/>
                </a:solidFill>
                <a:latin typeface="Calibri"/>
              </a:rPr>
              <a:t>Roster growth, four seasons</a:t>
            </a:r>
          </a:p>
        </p:txBody>
      </p:sp>
      <p:graphicFrame>
        <p:nvGraphicFramePr>
          <p:cNvPr id="5" name="Chart 4"/>
          <p:cNvGraphicFramePr>
            <a:graphicFrameLocks noGrp="1"/>
          </p:cNvGraphicFramePr>
          <p:nvPr/>
        </p:nvGraphicFramePr>
        <p:xfrm>
          <a:off x="457200" y="1097280"/>
          <a:ext cx="7772400" cy="4937760"/>
        </p:xfrm>
        <a:graphic>
          <a:graphicData uri="http://schemas.openxmlformats.org/drawingml/2006/chart">
            <c:chart xmlns:c="http://schemas.openxmlformats.org/drawingml/2006/chart" r:id="rId2"/>
          </a:graphicData>
        </a:graphic>
      </p:graphicFrame>
      <p:sp>
        <p:nvSpPr>
          <p:cNvPr id="6" name="TextBox 5"/>
          <p:cNvSpPr txBox="1"/>
          <p:nvPr/>
        </p:nvSpPr>
        <p:spPr>
          <a:xfrm>
            <a:off x="8412480" y="1280160"/>
            <a:ext cx="3383280" cy="457200"/>
          </a:xfrm>
          <a:prstGeom prst="rect">
            <a:avLst/>
          </a:prstGeom>
          <a:noFill/>
        </p:spPr>
        <p:txBody>
          <a:bodyPr wrap="square" lIns="0" rIns="0" tIns="0" bIns="0" anchor="t">
            <a:spAutoFit/>
          </a:bodyPr>
          <a:lstStyle/>
          <a:p>
            <a:pPr algn="l"/>
            <a:r>
              <a:rPr sz="1800" b="1">
                <a:solidFill>
                  <a:srgbClr val="D96D4C"/>
                </a:solidFill>
                <a:latin typeface="Calibri"/>
              </a:rPr>
              <a:t>What changed?</a:t>
            </a:r>
          </a:p>
        </p:txBody>
      </p:sp>
      <p:sp>
        <p:nvSpPr>
          <p:cNvPr id="7" name="TextBox 6"/>
          <p:cNvSpPr txBox="1"/>
          <p:nvPr/>
        </p:nvSpPr>
        <p:spPr>
          <a:xfrm>
            <a:off x="8412480" y="1783080"/>
            <a:ext cx="3383280" cy="4114800"/>
          </a:xfrm>
          <a:prstGeom prst="rect">
            <a:avLst/>
          </a:prstGeom>
          <a:noFill/>
        </p:spPr>
        <p:txBody>
          <a:bodyPr wrap="square" lIns="0" rIns="0" tIns="0" bIns="0" anchor="t">
            <a:spAutoFit/>
          </a:bodyPr>
          <a:lstStyle/>
          <a:p>
            <a:pPr algn="l"/>
            <a:r>
              <a:rPr sz="1400" b="0">
                <a:solidFill>
                  <a:srgbClr val="1D2747"/>
                </a:solidFill>
                <a:latin typeface="Calibri"/>
              </a:rPr>
              <a:t>1. Tuesday morning math help became chess help every other Thursday.
2. Brightpath tutoring referrals brought four new players in 2023.
3. Marcus Thompson's scholarship to Whitfield was the recruiting moment for the current Sophomore class.</a:t>
            </a:r>
          </a:p>
        </p:txBody>
      </p:sp>
      <p:sp>
        <p:nvSpPr>
          <p:cNvPr id="8" name="TextBox 7"/>
          <p:cNvSpPr txBox="1"/>
          <p:nvPr/>
        </p:nvSpPr>
        <p:spPr>
          <a:xfrm>
            <a:off x="365760" y="6492240"/>
            <a:ext cx="7315200" cy="274320"/>
          </a:xfrm>
          <a:prstGeom prst="rect">
            <a:avLst/>
          </a:prstGeom>
          <a:noFill/>
        </p:spPr>
        <p:txBody>
          <a:bodyPr wrap="square" lIns="0" rIns="0" tIns="0" bIns="0" anchor="t">
            <a:spAutoFit/>
          </a:bodyPr>
          <a:lstStyle/>
          <a:p>
            <a:pPr algn="l"/>
            <a:r>
              <a:rPr sz="1000" b="0">
                <a:solidFill>
                  <a:srgbClr val="5D6573"/>
                </a:solidFill>
                <a:latin typeface="Calibri"/>
              </a:rPr>
              <a:t>Eastwick Knights Chess Program - Coach Hari Mooney</a:t>
            </a:r>
          </a:p>
        </p:txBody>
      </p:sp>
      <p:sp>
        <p:nvSpPr>
          <p:cNvPr id="9" name="TextBox 8"/>
          <p:cNvSpPr txBox="1"/>
          <p:nvPr/>
        </p:nvSpPr>
        <p:spPr>
          <a:xfrm>
            <a:off x="11368735" y="6492240"/>
            <a:ext cx="457200" cy="274320"/>
          </a:xfrm>
          <a:prstGeom prst="rect">
            <a:avLst/>
          </a:prstGeom>
          <a:noFill/>
        </p:spPr>
        <p:txBody>
          <a:bodyPr wrap="square" lIns="0" rIns="0" tIns="0" bIns="0" anchor="t">
            <a:spAutoFit/>
          </a:bodyPr>
          <a:lstStyle/>
          <a:p>
            <a:pPr algn="r"/>
            <a:r>
              <a:rPr sz="1000" b="0">
                <a:solidFill>
                  <a:srgbClr val="5D6573"/>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D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548640"/>
          </a:xfrm>
          <a:prstGeom prst="rect">
            <a:avLst/>
          </a:prstGeom>
          <a:noFill/>
        </p:spPr>
        <p:txBody>
          <a:bodyPr wrap="square" lIns="0" rIns="0" tIns="0" bIns="0" anchor="t">
            <a:spAutoFit/>
          </a:bodyPr>
          <a:lstStyle/>
          <a:p>
            <a:pPr algn="l"/>
            <a:r>
              <a:rPr sz="2600" b="1">
                <a:solidFill>
                  <a:srgbClr val="FFFFFF"/>
                </a:solidFill>
                <a:latin typeface="Calibri"/>
              </a:rPr>
              <a:t>Year over year - same budget, more players</a:t>
            </a:r>
          </a:p>
        </p:txBody>
      </p:sp>
      <p:graphicFrame>
        <p:nvGraphicFramePr>
          <p:cNvPr id="5" name="Chart 4"/>
          <p:cNvGraphicFramePr>
            <a:graphicFrameLocks noGrp="1"/>
          </p:cNvGraphicFramePr>
          <p:nvPr/>
        </p:nvGraphicFramePr>
        <p:xfrm>
          <a:off x="457200" y="1097280"/>
          <a:ext cx="7772400" cy="4937760"/>
        </p:xfrm>
        <a:graphic>
          <a:graphicData uri="http://schemas.openxmlformats.org/drawingml/2006/chart">
            <c:chart xmlns:c="http://schemas.openxmlformats.org/drawingml/2006/chart" r:id="rId2"/>
          </a:graphicData>
        </a:graphic>
      </p:graphicFrame>
      <p:sp>
        <p:nvSpPr>
          <p:cNvPr id="6" name="TextBox 5"/>
          <p:cNvSpPr txBox="1"/>
          <p:nvPr/>
        </p:nvSpPr>
        <p:spPr>
          <a:xfrm>
            <a:off x="8412480" y="1280160"/>
            <a:ext cx="3383280" cy="457200"/>
          </a:xfrm>
          <a:prstGeom prst="rect">
            <a:avLst/>
          </a:prstGeom>
          <a:noFill/>
        </p:spPr>
        <p:txBody>
          <a:bodyPr wrap="square" lIns="0" rIns="0" tIns="0" bIns="0" anchor="t">
            <a:spAutoFit/>
          </a:bodyPr>
          <a:lstStyle/>
          <a:p>
            <a:pPr algn="l"/>
            <a:r>
              <a:rPr sz="1800" b="1">
                <a:solidFill>
                  <a:srgbClr val="D96D4C"/>
                </a:solidFill>
                <a:latin typeface="Calibri"/>
              </a:rPr>
              <a:t>Per-player cost</a:t>
            </a:r>
          </a:p>
        </p:txBody>
      </p:sp>
      <p:sp>
        <p:nvSpPr>
          <p:cNvPr id="7" name="TextBox 6"/>
          <p:cNvSpPr txBox="1"/>
          <p:nvPr/>
        </p:nvSpPr>
        <p:spPr>
          <a:xfrm>
            <a:off x="8412480" y="1783080"/>
            <a:ext cx="3383280" cy="2743200"/>
          </a:xfrm>
          <a:prstGeom prst="rect">
            <a:avLst/>
          </a:prstGeom>
          <a:noFill/>
        </p:spPr>
        <p:txBody>
          <a:bodyPr wrap="square" lIns="0" rIns="0" tIns="0" bIns="0" anchor="t">
            <a:spAutoFit/>
          </a:bodyPr>
          <a:lstStyle/>
          <a:p>
            <a:pPr algn="l"/>
            <a:r>
              <a:rPr sz="1500" b="0">
                <a:solidFill>
                  <a:srgbClr val="1D2747"/>
                </a:solidFill>
                <a:latin typeface="Calibri"/>
              </a:rPr>
              <a:t>$128.92 per player
(down from $138.75 last year)
A 7 percent reduction even as the roster grew.</a:t>
            </a:r>
          </a:p>
        </p:txBody>
      </p:sp>
      <p:sp>
        <p:nvSpPr>
          <p:cNvPr id="8" name="TextBox 7"/>
          <p:cNvSpPr txBox="1"/>
          <p:nvPr/>
        </p:nvSpPr>
        <p:spPr>
          <a:xfrm>
            <a:off x="365760" y="6492240"/>
            <a:ext cx="7315200" cy="274320"/>
          </a:xfrm>
          <a:prstGeom prst="rect">
            <a:avLst/>
          </a:prstGeom>
          <a:noFill/>
        </p:spPr>
        <p:txBody>
          <a:bodyPr wrap="square" lIns="0" rIns="0" tIns="0" bIns="0" anchor="t">
            <a:spAutoFit/>
          </a:bodyPr>
          <a:lstStyle/>
          <a:p>
            <a:pPr algn="l"/>
            <a:r>
              <a:rPr sz="1000" b="0">
                <a:solidFill>
                  <a:srgbClr val="5D6573"/>
                </a:solidFill>
                <a:latin typeface="Calibri"/>
              </a:rPr>
              <a:t>Eastwick Knights Chess Program - Coach Hari Mooney</a:t>
            </a:r>
          </a:p>
        </p:txBody>
      </p:sp>
      <p:sp>
        <p:nvSpPr>
          <p:cNvPr id="9" name="TextBox 8"/>
          <p:cNvSpPr txBox="1"/>
          <p:nvPr/>
        </p:nvSpPr>
        <p:spPr>
          <a:xfrm>
            <a:off x="11368735" y="6492240"/>
            <a:ext cx="457200" cy="274320"/>
          </a:xfrm>
          <a:prstGeom prst="rect">
            <a:avLst/>
          </a:prstGeom>
          <a:noFill/>
        </p:spPr>
        <p:txBody>
          <a:bodyPr wrap="square" lIns="0" rIns="0" tIns="0" bIns="0" anchor="t">
            <a:spAutoFit/>
          </a:bodyPr>
          <a:lstStyle/>
          <a:p>
            <a:pPr algn="r"/>
            <a:r>
              <a:rPr sz="1000" b="0">
                <a:solidFill>
                  <a:srgbClr val="5D6573"/>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D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548640"/>
          </a:xfrm>
          <a:prstGeom prst="rect">
            <a:avLst/>
          </a:prstGeom>
          <a:noFill/>
        </p:spPr>
        <p:txBody>
          <a:bodyPr wrap="square" lIns="0" rIns="0" tIns="0" bIns="0" anchor="t">
            <a:spAutoFit/>
          </a:bodyPr>
          <a:lstStyle/>
          <a:p>
            <a:pPr algn="l"/>
            <a:r>
              <a:rPr sz="2800" b="1">
                <a:solidFill>
                  <a:srgbClr val="FFFFFF"/>
                </a:solidFill>
                <a:latin typeface="Calibri"/>
              </a:rPr>
              <a:t>Team rating, last eight months</a:t>
            </a:r>
          </a:p>
        </p:txBody>
      </p:sp>
      <p:graphicFrame>
        <p:nvGraphicFramePr>
          <p:cNvPr id="5" name="Chart 4"/>
          <p:cNvGraphicFramePr>
            <a:graphicFrameLocks noGrp="1"/>
          </p:cNvGraphicFramePr>
          <p:nvPr/>
        </p:nvGraphicFramePr>
        <p:xfrm>
          <a:off x="457200" y="1097280"/>
          <a:ext cx="11247120" cy="4937760"/>
        </p:xfrm>
        <a:graphic>
          <a:graphicData uri="http://schemas.openxmlformats.org/drawingml/2006/chart">
            <c:chart xmlns:c="http://schemas.openxmlformats.org/drawingml/2006/chart" r:id="rId2"/>
          </a:graphicData>
        </a:graphic>
      </p:graphicFrame>
      <p:sp>
        <p:nvSpPr>
          <p:cNvPr id="6" name="TextBox 5"/>
          <p:cNvSpPr txBox="1"/>
          <p:nvPr/>
        </p:nvSpPr>
        <p:spPr>
          <a:xfrm>
            <a:off x="365760" y="6492240"/>
            <a:ext cx="7315200" cy="274320"/>
          </a:xfrm>
          <a:prstGeom prst="rect">
            <a:avLst/>
          </a:prstGeom>
          <a:noFill/>
        </p:spPr>
        <p:txBody>
          <a:bodyPr wrap="square" lIns="0" rIns="0" tIns="0" bIns="0" anchor="t">
            <a:spAutoFit/>
          </a:bodyPr>
          <a:lstStyle/>
          <a:p>
            <a:pPr algn="l"/>
            <a:r>
              <a:rPr sz="1000" b="0">
                <a:solidFill>
                  <a:srgbClr val="5D6573"/>
                </a:solidFill>
                <a:latin typeface="Calibri"/>
              </a:rPr>
              <a:t>Eastwick Knights Chess Program - Coach Hari Mooney</a:t>
            </a:r>
          </a:p>
        </p:txBody>
      </p:sp>
      <p:sp>
        <p:nvSpPr>
          <p:cNvPr id="7" name="TextBox 6"/>
          <p:cNvSpPr txBox="1"/>
          <p:nvPr/>
        </p:nvSpPr>
        <p:spPr>
          <a:xfrm>
            <a:off x="11368735" y="6492240"/>
            <a:ext cx="457200" cy="274320"/>
          </a:xfrm>
          <a:prstGeom prst="rect">
            <a:avLst/>
          </a:prstGeom>
          <a:noFill/>
        </p:spPr>
        <p:txBody>
          <a:bodyPr wrap="square" lIns="0" rIns="0" tIns="0" bIns="0" anchor="t">
            <a:spAutoFit/>
          </a:bodyPr>
          <a:lstStyle/>
          <a:p>
            <a:pPr algn="r"/>
            <a:r>
              <a:rPr sz="1000" b="0">
                <a:solidFill>
                  <a:srgbClr val="5D6573"/>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D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548640"/>
          </a:xfrm>
          <a:prstGeom prst="rect">
            <a:avLst/>
          </a:prstGeom>
          <a:noFill/>
        </p:spPr>
        <p:txBody>
          <a:bodyPr wrap="square" lIns="0" rIns="0" tIns="0" bIns="0" anchor="t">
            <a:spAutoFit/>
          </a:bodyPr>
          <a:lstStyle/>
          <a:p>
            <a:pPr algn="l"/>
            <a:r>
              <a:rPr sz="2800" b="1">
                <a:solidFill>
                  <a:srgbClr val="FFFFFF"/>
                </a:solidFill>
                <a:latin typeface="Calibri"/>
              </a:rPr>
              <a:t>Line-item budget</a:t>
            </a:r>
          </a:p>
        </p:txBody>
      </p:sp>
      <p:graphicFrame>
        <p:nvGraphicFramePr>
          <p:cNvPr id="5" name="Table 4"/>
          <p:cNvGraphicFramePr>
            <a:graphicFrameLocks noGrp="1"/>
          </p:cNvGraphicFramePr>
          <p:nvPr/>
        </p:nvGraphicFramePr>
        <p:xfrm>
          <a:off x="548640" y="1280160"/>
          <a:ext cx="11064240" cy="4206240"/>
        </p:xfrm>
        <a:graphic>
          <a:graphicData uri="http://schemas.openxmlformats.org/drawingml/2006/table">
            <a:tbl>
              <a:tblPr firstRow="1" bandRow="1">
                <a:tableStyleId>{5C22544A-7EE6-4342-B048-85BDC9FD1C3A}</a:tableStyleId>
              </a:tblPr>
              <a:tblGrid>
                <a:gridCol w="2926080"/>
                <a:gridCol w="5943600"/>
                <a:gridCol w="2194560"/>
              </a:tblGrid>
              <a:tr h="600891">
                <a:tc>
                  <a:txBody>
                    <a:bodyPr lIns="109728" tIns="54864"/>
                    <a:lstStyle/>
                    <a:p>
                      <a:r>
                        <a:rPr sz="1400" b="1">
                          <a:solidFill>
                            <a:srgbClr val="FFFFFF"/>
                          </a:solidFill>
                          <a:latin typeface="Calibri"/>
                        </a:rPr>
                        <a:t>Category</a:t>
                      </a:r>
                    </a:p>
                  </a:txBody>
                  <a:tcPr>
                    <a:solidFill>
                      <a:srgbClr val="1D2747"/>
                    </a:solidFill>
                  </a:tcPr>
                </a:tc>
                <a:tc>
                  <a:txBody>
                    <a:bodyPr lIns="109728" tIns="54864"/>
                    <a:lstStyle/>
                    <a:p>
                      <a:r>
                        <a:rPr sz="1400" b="1">
                          <a:solidFill>
                            <a:srgbClr val="FFFFFF"/>
                          </a:solidFill>
                          <a:latin typeface="Calibri"/>
                        </a:rPr>
                        <a:t>Details</a:t>
                      </a:r>
                    </a:p>
                  </a:txBody>
                  <a:tcPr>
                    <a:solidFill>
                      <a:srgbClr val="1D2747"/>
                    </a:solidFill>
                  </a:tcPr>
                </a:tc>
                <a:tc>
                  <a:txBody>
                    <a:bodyPr lIns="109728" tIns="54864"/>
                    <a:lstStyle/>
                    <a:p>
                      <a:r>
                        <a:rPr sz="1400" b="1">
                          <a:solidFill>
                            <a:srgbClr val="FFFFFF"/>
                          </a:solidFill>
                          <a:latin typeface="Calibri"/>
                        </a:rPr>
                        <a:t>Requested</a:t>
                      </a:r>
                    </a:p>
                  </a:txBody>
                  <a:tcPr>
                    <a:solidFill>
                      <a:srgbClr val="1D2747"/>
                    </a:solidFill>
                  </a:tcPr>
                </a:tc>
              </a:tr>
              <a:tr h="600891">
                <a:tc>
                  <a:txBody>
                    <a:bodyPr lIns="109728" tIns="54864"/>
                    <a:lstStyle/>
                    <a:p>
                      <a:r>
                        <a:rPr sz="1400">
                          <a:solidFill>
                            <a:srgbClr val="1D2747"/>
                          </a:solidFill>
                          <a:latin typeface="Calibri"/>
                        </a:rPr>
                        <a:t>Tournament Entry Fees</a:t>
                      </a:r>
                    </a:p>
                  </a:txBody>
                  <a:tcPr>
                    <a:solidFill>
                      <a:srgbClr val="FFFFFF"/>
                    </a:solidFill>
                  </a:tcPr>
                </a:tc>
                <a:tc>
                  <a:txBody>
                    <a:bodyPr lIns="109728" tIns="54864"/>
                    <a:lstStyle/>
                    <a:p>
                      <a:r>
                        <a:rPr sz="1400">
                          <a:solidFill>
                            <a:srgbClr val="1D2747"/>
                          </a:solidFill>
                          <a:latin typeface="Calibri"/>
                        </a:rPr>
                        <a:t>NJ State Scholastic League matches and state finals</a:t>
                      </a:r>
                    </a:p>
                  </a:txBody>
                  <a:tcPr>
                    <a:solidFill>
                      <a:srgbClr val="FFFFFF"/>
                    </a:solidFill>
                  </a:tcPr>
                </a:tc>
                <a:tc>
                  <a:txBody>
                    <a:bodyPr lIns="109728" tIns="54864"/>
                    <a:lstStyle/>
                    <a:p>
                      <a:r>
                        <a:rPr sz="1400">
                          <a:solidFill>
                            <a:srgbClr val="1D2747"/>
                          </a:solidFill>
                          <a:latin typeface="Calibri"/>
                        </a:rPr>
                        <a:t>$450</a:t>
                      </a:r>
                    </a:p>
                  </a:txBody>
                  <a:tcPr>
                    <a:solidFill>
                      <a:srgbClr val="FFFFFF"/>
                    </a:solidFill>
                  </a:tcPr>
                </a:tc>
              </a:tr>
              <a:tr h="600891">
                <a:tc>
                  <a:txBody>
                    <a:bodyPr lIns="109728" tIns="54864"/>
                    <a:lstStyle/>
                    <a:p>
                      <a:r>
                        <a:rPr sz="1400">
                          <a:solidFill>
                            <a:srgbClr val="1D2747"/>
                          </a:solidFill>
                          <a:latin typeface="Calibri"/>
                        </a:rPr>
                        <a:t>Equipment</a:t>
                      </a:r>
                    </a:p>
                  </a:txBody>
                  <a:tcPr>
                    <a:solidFill>
                      <a:srgbClr val="FFFFFF"/>
                    </a:solidFill>
                  </a:tcPr>
                </a:tc>
                <a:tc>
                  <a:txBody>
                    <a:bodyPr lIns="109728" tIns="54864"/>
                    <a:lstStyle/>
                    <a:p>
                      <a:r>
                        <a:rPr sz="1400">
                          <a:solidFill>
                            <a:srgbClr val="1D2747"/>
                          </a:solidFill>
                          <a:latin typeface="Calibri"/>
                        </a:rPr>
                        <a:t>6 DGT North American chess clocks</a:t>
                      </a:r>
                    </a:p>
                  </a:txBody>
                  <a:tcPr>
                    <a:solidFill>
                      <a:srgbClr val="FFFFFF"/>
                    </a:solidFill>
                  </a:tcPr>
                </a:tc>
                <a:tc>
                  <a:txBody>
                    <a:bodyPr lIns="109728" tIns="54864"/>
                    <a:lstStyle/>
                    <a:p>
                      <a:r>
                        <a:rPr sz="1400">
                          <a:solidFill>
                            <a:srgbClr val="1D2747"/>
                          </a:solidFill>
                          <a:latin typeface="Calibri"/>
                        </a:rPr>
                        <a:t>$300</a:t>
                      </a:r>
                    </a:p>
                  </a:txBody>
                  <a:tcPr>
                    <a:solidFill>
                      <a:srgbClr val="FFFFFF"/>
                    </a:solidFill>
                  </a:tcPr>
                </a:tc>
              </a:tr>
              <a:tr h="600891">
                <a:tc>
                  <a:txBody>
                    <a:bodyPr lIns="109728" tIns="54864"/>
                    <a:lstStyle/>
                    <a:p>
                      <a:r>
                        <a:rPr sz="1400">
                          <a:solidFill>
                            <a:srgbClr val="1D2747"/>
                          </a:solidFill>
                          <a:latin typeface="Calibri"/>
                        </a:rPr>
                        <a:t>Transportation</a:t>
                      </a:r>
                    </a:p>
                  </a:txBody>
                  <a:tcPr>
                    <a:solidFill>
                      <a:srgbClr val="FFFFFF"/>
                    </a:solidFill>
                  </a:tcPr>
                </a:tc>
                <a:tc>
                  <a:txBody>
                    <a:bodyPr lIns="109728" tIns="54864"/>
                    <a:lstStyle/>
                    <a:p>
                      <a:r>
                        <a:rPr sz="1400">
                          <a:solidFill>
                            <a:srgbClr val="1D2747"/>
                          </a:solidFill>
                          <a:latin typeface="Calibri"/>
                        </a:rPr>
                        <a:t>School bus service to away tournaments</a:t>
                      </a:r>
                    </a:p>
                  </a:txBody>
                  <a:tcPr>
                    <a:solidFill>
                      <a:srgbClr val="FFFFFF"/>
                    </a:solidFill>
                  </a:tcPr>
                </a:tc>
                <a:tc>
                  <a:txBody>
                    <a:bodyPr lIns="109728" tIns="54864"/>
                    <a:lstStyle/>
                    <a:p>
                      <a:r>
                        <a:rPr sz="1400">
                          <a:solidFill>
                            <a:srgbClr val="1D2747"/>
                          </a:solidFill>
                          <a:latin typeface="Calibri"/>
                        </a:rPr>
                        <a:t>$550</a:t>
                      </a:r>
                    </a:p>
                  </a:txBody>
                  <a:tcPr>
                    <a:solidFill>
                      <a:srgbClr val="FFFFFF"/>
                    </a:solidFill>
                  </a:tcPr>
                </a:tc>
              </a:tr>
              <a:tr h="600891">
                <a:tc>
                  <a:txBody>
                    <a:bodyPr lIns="109728" tIns="54864"/>
                    <a:lstStyle/>
                    <a:p>
                      <a:r>
                        <a:rPr sz="1400">
                          <a:solidFill>
                            <a:srgbClr val="1D2747"/>
                          </a:solidFill>
                          <a:latin typeface="Calibri"/>
                        </a:rPr>
                        <a:t>Team Uniforms</a:t>
                      </a:r>
                    </a:p>
                  </a:txBody>
                  <a:tcPr>
                    <a:solidFill>
                      <a:srgbClr val="FFFFFF"/>
                    </a:solidFill>
                  </a:tcPr>
                </a:tc>
                <a:tc>
                  <a:txBody>
                    <a:bodyPr lIns="109728" tIns="54864"/>
                    <a:lstStyle/>
                    <a:p>
                      <a:r>
                        <a:rPr sz="1400">
                          <a:solidFill>
                            <a:srgbClr val="1D2747"/>
                          </a:solidFill>
                          <a:latin typeface="Calibri"/>
                        </a:rPr>
                        <a:t>15 Navy Blue Eastwick Knights Hoodies</a:t>
                      </a:r>
                    </a:p>
                  </a:txBody>
                  <a:tcPr>
                    <a:solidFill>
                      <a:srgbClr val="FFFFFF"/>
                    </a:solidFill>
                  </a:tcPr>
                </a:tc>
                <a:tc>
                  <a:txBody>
                    <a:bodyPr lIns="109728" tIns="54864"/>
                    <a:lstStyle/>
                    <a:p>
                      <a:r>
                        <a:rPr sz="1400">
                          <a:solidFill>
                            <a:srgbClr val="1D2747"/>
                          </a:solidFill>
                          <a:latin typeface="Calibri"/>
                        </a:rPr>
                        <a:t>$225</a:t>
                      </a:r>
                    </a:p>
                  </a:txBody>
                  <a:tcPr>
                    <a:solidFill>
                      <a:srgbClr val="FFFFFF"/>
                    </a:solidFill>
                  </a:tcPr>
                </a:tc>
              </a:tr>
              <a:tr h="600891">
                <a:tc>
                  <a:txBody>
                    <a:bodyPr lIns="109728" tIns="54864"/>
                    <a:lstStyle/>
                    <a:p>
                      <a:r>
                        <a:rPr sz="1400">
                          <a:solidFill>
                            <a:srgbClr val="1D2747"/>
                          </a:solidFill>
                          <a:latin typeface="Calibri"/>
                        </a:rPr>
                        <a:t>USCF Registrations</a:t>
                      </a:r>
                    </a:p>
                  </a:txBody>
                  <a:tcPr>
                    <a:solidFill>
                      <a:srgbClr val="FFFFFF"/>
                    </a:solidFill>
                  </a:tcPr>
                </a:tc>
                <a:tc>
                  <a:txBody>
                    <a:bodyPr lIns="109728" tIns="54864"/>
                    <a:lstStyle/>
                    <a:p>
                      <a:r>
                        <a:rPr sz="1400">
                          <a:solidFill>
                            <a:srgbClr val="1D2747"/>
                          </a:solidFill>
                          <a:latin typeface="Calibri"/>
                        </a:rPr>
                        <a:t>Annual player memberships for 14 active players</a:t>
                      </a:r>
                    </a:p>
                  </a:txBody>
                  <a:tcPr>
                    <a:solidFill>
                      <a:srgbClr val="FFFFFF"/>
                    </a:solidFill>
                  </a:tcPr>
                </a:tc>
                <a:tc>
                  <a:txBody>
                    <a:bodyPr lIns="109728" tIns="54864"/>
                    <a:lstStyle/>
                    <a:p>
                      <a:r>
                        <a:rPr sz="1400">
                          <a:solidFill>
                            <a:srgbClr val="1D2747"/>
                          </a:solidFill>
                          <a:latin typeface="Calibri"/>
                        </a:rPr>
                        <a:t>$280</a:t>
                      </a:r>
                    </a:p>
                  </a:txBody>
                  <a:tcPr>
                    <a:solidFill>
                      <a:srgbClr val="FFFFFF"/>
                    </a:solidFill>
                  </a:tcPr>
                </a:tc>
              </a:tr>
              <a:tr h="600894">
                <a:tc>
                  <a:txBody>
                    <a:bodyPr lIns="109728" tIns="54864"/>
                    <a:lstStyle/>
                    <a:p>
                      <a:r>
                        <a:rPr sz="1400" b="1">
                          <a:solidFill>
                            <a:srgbClr val="FFFFFF"/>
                          </a:solidFill>
                          <a:latin typeface="Calibri"/>
                        </a:rPr>
                        <a:t>Total Requested</a:t>
                      </a:r>
                    </a:p>
                  </a:txBody>
                  <a:tcPr>
                    <a:solidFill>
                      <a:srgbClr val="D96D4C"/>
                    </a:solidFill>
                  </a:tcPr>
                </a:tc>
                <a:tc>
                  <a:txBody>
                    <a:bodyPr lIns="109728" tIns="54864"/>
                    <a:lstStyle/>
                    <a:p>
                      <a:r>
                        <a:rPr sz="1400" b="1">
                          <a:solidFill>
                            <a:srgbClr val="FFFFFF"/>
                          </a:solidFill>
                          <a:latin typeface="Calibri"/>
                        </a:rPr>
                        <a:t/>
                      </a:r>
                    </a:p>
                  </a:txBody>
                  <a:tcPr>
                    <a:solidFill>
                      <a:srgbClr val="D96D4C"/>
                    </a:solidFill>
                  </a:tcPr>
                </a:tc>
                <a:tc>
                  <a:txBody>
                    <a:bodyPr lIns="109728" tIns="54864"/>
                    <a:lstStyle/>
                    <a:p>
                      <a:r>
                        <a:rPr sz="1400" b="1">
                          <a:solidFill>
                            <a:srgbClr val="FFFFFF"/>
                          </a:solidFill>
                          <a:latin typeface="Calibri"/>
                        </a:rPr>
                        <a:t>$1,805</a:t>
                      </a:r>
                    </a:p>
                  </a:txBody>
                  <a:tcPr>
                    <a:solidFill>
                      <a:srgbClr val="D96D4C"/>
                    </a:solidFill>
                  </a:tcPr>
                </a:tc>
              </a:tr>
            </a:tbl>
          </a:graphicData>
        </a:graphic>
      </p:graphicFrame>
      <p:sp>
        <p:nvSpPr>
          <p:cNvPr id="6" name="TextBox 5"/>
          <p:cNvSpPr txBox="1"/>
          <p:nvPr/>
        </p:nvSpPr>
        <p:spPr>
          <a:xfrm>
            <a:off x="548640" y="5669280"/>
            <a:ext cx="11064240" cy="457200"/>
          </a:xfrm>
          <a:prstGeom prst="rect">
            <a:avLst/>
          </a:prstGeom>
          <a:noFill/>
        </p:spPr>
        <p:txBody>
          <a:bodyPr wrap="square" lIns="0" rIns="0" tIns="0" bIns="0" anchor="t">
            <a:spAutoFit/>
          </a:bodyPr>
          <a:lstStyle/>
          <a:p>
            <a:pPr algn="l"/>
            <a:r>
              <a:rPr sz="1400" b="0">
                <a:solidFill>
                  <a:srgbClr val="5D6573"/>
                </a:solidFill>
                <a:latin typeface="Calibri"/>
              </a:rPr>
              <a:t>Status: pending review by Principal Reyes.</a:t>
            </a:r>
          </a:p>
        </p:txBody>
      </p:sp>
      <p:sp>
        <p:nvSpPr>
          <p:cNvPr id="7" name="TextBox 6"/>
          <p:cNvSpPr txBox="1"/>
          <p:nvPr/>
        </p:nvSpPr>
        <p:spPr>
          <a:xfrm>
            <a:off x="365760" y="6492240"/>
            <a:ext cx="7315200" cy="274320"/>
          </a:xfrm>
          <a:prstGeom prst="rect">
            <a:avLst/>
          </a:prstGeom>
          <a:noFill/>
        </p:spPr>
        <p:txBody>
          <a:bodyPr wrap="square" lIns="0" rIns="0" tIns="0" bIns="0" anchor="t">
            <a:spAutoFit/>
          </a:bodyPr>
          <a:lstStyle/>
          <a:p>
            <a:pPr algn="l"/>
            <a:r>
              <a:rPr sz="1000" b="0">
                <a:solidFill>
                  <a:srgbClr val="5D6573"/>
                </a:solidFill>
                <a:latin typeface="Calibri"/>
              </a:rPr>
              <a:t>Eastwick Knights Chess Program - Coach Hari Mooney</a:t>
            </a:r>
          </a:p>
        </p:txBody>
      </p:sp>
      <p:sp>
        <p:nvSpPr>
          <p:cNvPr id="8" name="TextBox 7"/>
          <p:cNvSpPr txBox="1"/>
          <p:nvPr/>
        </p:nvSpPr>
        <p:spPr>
          <a:xfrm>
            <a:off x="11368735" y="6492240"/>
            <a:ext cx="457200" cy="274320"/>
          </a:xfrm>
          <a:prstGeom prst="rect">
            <a:avLst/>
          </a:prstGeom>
          <a:noFill/>
        </p:spPr>
        <p:txBody>
          <a:bodyPr wrap="square" lIns="0" rIns="0" tIns="0" bIns="0" anchor="t">
            <a:spAutoFit/>
          </a:bodyPr>
          <a:lstStyle/>
          <a:p>
            <a:pPr algn="r"/>
            <a:r>
              <a:rPr sz="1000" b="0">
                <a:solidFill>
                  <a:srgbClr val="5D6573"/>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D27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28600"/>
          </a:xfrm>
          <a:prstGeom prst="rect">
            <a:avLst/>
          </a:prstGeom>
          <a:solidFill>
            <a:srgbClr val="D96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1">
                <a:solidFill>
                  <a:srgbClr val="D5A838"/>
                </a:solidFill>
                <a:latin typeface="Calibri"/>
              </a:rPr>
              <a:t>NEXT STEPS</a:t>
            </a:r>
          </a:p>
        </p:txBody>
      </p:sp>
      <p:sp>
        <p:nvSpPr>
          <p:cNvPr id="5" name="TextBox 4"/>
          <p:cNvSpPr txBox="1"/>
          <p:nvPr/>
        </p:nvSpPr>
        <p:spPr>
          <a:xfrm>
            <a:off x="548640" y="1280160"/>
            <a:ext cx="10972800" cy="1280160"/>
          </a:xfrm>
          <a:prstGeom prst="rect">
            <a:avLst/>
          </a:prstGeom>
          <a:noFill/>
        </p:spPr>
        <p:txBody>
          <a:bodyPr wrap="square" lIns="0" rIns="0" tIns="0" bIns="0" anchor="t">
            <a:spAutoFit/>
          </a:bodyPr>
          <a:lstStyle/>
          <a:p>
            <a:pPr algn="l"/>
            <a:r>
              <a:rPr sz="5400" b="1">
                <a:solidFill>
                  <a:srgbClr val="FFFFFF"/>
                </a:solidFill>
                <a:latin typeface="Calibri"/>
              </a:rPr>
              <a:t>Approve, fund, and win.</a:t>
            </a:r>
          </a:p>
        </p:txBody>
      </p:sp>
      <p:sp>
        <p:nvSpPr>
          <p:cNvPr id="6" name="Oval 5"/>
          <p:cNvSpPr/>
          <p:nvPr/>
        </p:nvSpPr>
        <p:spPr>
          <a:xfrm>
            <a:off x="548640" y="3108960"/>
            <a:ext cx="228600" cy="228600"/>
          </a:xfrm>
          <a:prstGeom prst="ellipse">
            <a:avLst/>
          </a:prstGeom>
          <a:solidFill>
            <a:srgbClr val="D5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017520"/>
            <a:ext cx="1828800" cy="457200"/>
          </a:xfrm>
          <a:prstGeom prst="rect">
            <a:avLst/>
          </a:prstGeom>
          <a:noFill/>
        </p:spPr>
        <p:txBody>
          <a:bodyPr wrap="square" lIns="0" rIns="0" tIns="0" bIns="0" anchor="t">
            <a:spAutoFit/>
          </a:bodyPr>
          <a:lstStyle/>
          <a:p>
            <a:pPr algn="l"/>
            <a:r>
              <a:rPr sz="1600" b="1">
                <a:solidFill>
                  <a:srgbClr val="D5A838"/>
                </a:solidFill>
                <a:latin typeface="Calibri"/>
              </a:rPr>
              <a:t>Oct 8</a:t>
            </a:r>
          </a:p>
        </p:txBody>
      </p:sp>
      <p:sp>
        <p:nvSpPr>
          <p:cNvPr id="8" name="TextBox 7"/>
          <p:cNvSpPr txBox="1"/>
          <p:nvPr/>
        </p:nvSpPr>
        <p:spPr>
          <a:xfrm>
            <a:off x="2560320" y="3017520"/>
            <a:ext cx="8686800" cy="457200"/>
          </a:xfrm>
          <a:prstGeom prst="rect">
            <a:avLst/>
          </a:prstGeom>
          <a:noFill/>
        </p:spPr>
        <p:txBody>
          <a:bodyPr wrap="square" lIns="0" rIns="0" tIns="0" bIns="0" anchor="t">
            <a:spAutoFit/>
          </a:bodyPr>
          <a:lstStyle/>
          <a:p>
            <a:pPr algn="l"/>
            <a:r>
              <a:rPr sz="1600" b="0">
                <a:solidFill>
                  <a:srgbClr val="FFFFFF"/>
                </a:solidFill>
                <a:latin typeface="Calibri"/>
              </a:rPr>
              <a:t>Principal review meeting</a:t>
            </a:r>
          </a:p>
        </p:txBody>
      </p:sp>
      <p:sp>
        <p:nvSpPr>
          <p:cNvPr id="9" name="Oval 8"/>
          <p:cNvSpPr/>
          <p:nvPr/>
        </p:nvSpPr>
        <p:spPr>
          <a:xfrm>
            <a:off x="548640" y="3657600"/>
            <a:ext cx="228600" cy="228600"/>
          </a:xfrm>
          <a:prstGeom prst="ellipse">
            <a:avLst/>
          </a:prstGeom>
          <a:solidFill>
            <a:srgbClr val="D5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1828800" cy="457200"/>
          </a:xfrm>
          <a:prstGeom prst="rect">
            <a:avLst/>
          </a:prstGeom>
          <a:noFill/>
        </p:spPr>
        <p:txBody>
          <a:bodyPr wrap="square" lIns="0" rIns="0" tIns="0" bIns="0" anchor="t">
            <a:spAutoFit/>
          </a:bodyPr>
          <a:lstStyle/>
          <a:p>
            <a:pPr algn="l"/>
            <a:r>
              <a:rPr sz="1600" b="1">
                <a:solidFill>
                  <a:srgbClr val="D5A838"/>
                </a:solidFill>
                <a:latin typeface="Calibri"/>
              </a:rPr>
              <a:t>Oct 15</a:t>
            </a:r>
          </a:p>
        </p:txBody>
      </p:sp>
      <p:sp>
        <p:nvSpPr>
          <p:cNvPr id="11" name="TextBox 10"/>
          <p:cNvSpPr txBox="1"/>
          <p:nvPr/>
        </p:nvSpPr>
        <p:spPr>
          <a:xfrm>
            <a:off x="2560320" y="3566160"/>
            <a:ext cx="8686800" cy="457200"/>
          </a:xfrm>
          <a:prstGeom prst="rect">
            <a:avLst/>
          </a:prstGeom>
          <a:noFill/>
        </p:spPr>
        <p:txBody>
          <a:bodyPr wrap="square" lIns="0" rIns="0" tIns="0" bIns="0" anchor="t">
            <a:spAutoFit/>
          </a:bodyPr>
          <a:lstStyle/>
          <a:p>
            <a:pPr algn="l"/>
            <a:r>
              <a:rPr sz="1600" b="0">
                <a:solidFill>
                  <a:srgbClr val="FFFFFF"/>
                </a:solidFill>
                <a:latin typeface="Calibri"/>
              </a:rPr>
              <a:t>Funds released to chess program account</a:t>
            </a:r>
          </a:p>
        </p:txBody>
      </p:sp>
      <p:sp>
        <p:nvSpPr>
          <p:cNvPr id="12" name="Oval 11"/>
          <p:cNvSpPr/>
          <p:nvPr/>
        </p:nvSpPr>
        <p:spPr>
          <a:xfrm>
            <a:off x="548640" y="4206240"/>
            <a:ext cx="228600" cy="228600"/>
          </a:xfrm>
          <a:prstGeom prst="ellipse">
            <a:avLst/>
          </a:prstGeom>
          <a:solidFill>
            <a:srgbClr val="D5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14800"/>
            <a:ext cx="1828800" cy="457200"/>
          </a:xfrm>
          <a:prstGeom prst="rect">
            <a:avLst/>
          </a:prstGeom>
          <a:noFill/>
        </p:spPr>
        <p:txBody>
          <a:bodyPr wrap="square" lIns="0" rIns="0" tIns="0" bIns="0" anchor="t">
            <a:spAutoFit/>
          </a:bodyPr>
          <a:lstStyle/>
          <a:p>
            <a:pPr algn="l"/>
            <a:r>
              <a:rPr sz="1600" b="1">
                <a:solidFill>
                  <a:srgbClr val="D5A838"/>
                </a:solidFill>
                <a:latin typeface="Calibri"/>
              </a:rPr>
              <a:t>Oct 28</a:t>
            </a:r>
          </a:p>
        </p:txBody>
      </p:sp>
      <p:sp>
        <p:nvSpPr>
          <p:cNvPr id="14" name="TextBox 13"/>
          <p:cNvSpPr txBox="1"/>
          <p:nvPr/>
        </p:nvSpPr>
        <p:spPr>
          <a:xfrm>
            <a:off x="2560320" y="4114800"/>
            <a:ext cx="8686800" cy="457200"/>
          </a:xfrm>
          <a:prstGeom prst="rect">
            <a:avLst/>
          </a:prstGeom>
          <a:noFill/>
        </p:spPr>
        <p:txBody>
          <a:bodyPr wrap="square" lIns="0" rIns="0" tIns="0" bIns="0" anchor="t">
            <a:spAutoFit/>
          </a:bodyPr>
          <a:lstStyle/>
          <a:p>
            <a:pPr algn="l"/>
            <a:r>
              <a:rPr sz="1600" b="0">
                <a:solidFill>
                  <a:srgbClr val="FFFFFF"/>
                </a:solidFill>
                <a:latin typeface="Calibri"/>
              </a:rPr>
              <a:t>CustomInk hoodies delivered (Order CI-994210)</a:t>
            </a:r>
          </a:p>
        </p:txBody>
      </p:sp>
      <p:sp>
        <p:nvSpPr>
          <p:cNvPr id="15" name="Oval 14"/>
          <p:cNvSpPr/>
          <p:nvPr/>
        </p:nvSpPr>
        <p:spPr>
          <a:xfrm>
            <a:off x="548640" y="4754880"/>
            <a:ext cx="228600" cy="228600"/>
          </a:xfrm>
          <a:prstGeom prst="ellipse">
            <a:avLst/>
          </a:prstGeom>
          <a:solidFill>
            <a:srgbClr val="D5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663440"/>
            <a:ext cx="1828800" cy="457200"/>
          </a:xfrm>
          <a:prstGeom prst="rect">
            <a:avLst/>
          </a:prstGeom>
          <a:noFill/>
        </p:spPr>
        <p:txBody>
          <a:bodyPr wrap="square" lIns="0" rIns="0" tIns="0" bIns="0" anchor="t">
            <a:spAutoFit/>
          </a:bodyPr>
          <a:lstStyle/>
          <a:p>
            <a:pPr algn="l"/>
            <a:r>
              <a:rPr sz="1600" b="1">
                <a:solidFill>
                  <a:srgbClr val="D5A838"/>
                </a:solidFill>
                <a:latin typeface="Calibri"/>
              </a:rPr>
              <a:t>Nov 14</a:t>
            </a:r>
          </a:p>
        </p:txBody>
      </p:sp>
      <p:sp>
        <p:nvSpPr>
          <p:cNvPr id="17" name="TextBox 16"/>
          <p:cNvSpPr txBox="1"/>
          <p:nvPr/>
        </p:nvSpPr>
        <p:spPr>
          <a:xfrm>
            <a:off x="2560320" y="4663440"/>
            <a:ext cx="8686800" cy="457200"/>
          </a:xfrm>
          <a:prstGeom prst="rect">
            <a:avLst/>
          </a:prstGeom>
          <a:noFill/>
        </p:spPr>
        <p:txBody>
          <a:bodyPr wrap="square" lIns="0" rIns="0" tIns="0" bIns="0" anchor="t">
            <a:spAutoFit/>
          </a:bodyPr>
          <a:lstStyle/>
          <a:p>
            <a:pPr algn="l"/>
            <a:r>
              <a:rPr sz="1600" b="0">
                <a:solidFill>
                  <a:srgbClr val="FFFFFF"/>
                </a:solidFill>
                <a:latin typeface="Calibri"/>
              </a:rPr>
              <a:t>First league match vs. North Jersey Academy</a:t>
            </a:r>
          </a:p>
        </p:txBody>
      </p:sp>
      <p:sp>
        <p:nvSpPr>
          <p:cNvPr id="18" name="Oval 17"/>
          <p:cNvSpPr/>
          <p:nvPr/>
        </p:nvSpPr>
        <p:spPr>
          <a:xfrm>
            <a:off x="548640" y="5303519"/>
            <a:ext cx="228600" cy="228600"/>
          </a:xfrm>
          <a:prstGeom prst="ellipse">
            <a:avLst/>
          </a:prstGeom>
          <a:solidFill>
            <a:srgbClr val="D5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212079"/>
            <a:ext cx="1828800" cy="457200"/>
          </a:xfrm>
          <a:prstGeom prst="rect">
            <a:avLst/>
          </a:prstGeom>
          <a:noFill/>
        </p:spPr>
        <p:txBody>
          <a:bodyPr wrap="square" lIns="0" rIns="0" tIns="0" bIns="0" anchor="t">
            <a:spAutoFit/>
          </a:bodyPr>
          <a:lstStyle/>
          <a:p>
            <a:pPr algn="l"/>
            <a:r>
              <a:rPr sz="1600" b="1">
                <a:solidFill>
                  <a:srgbClr val="D5A838"/>
                </a:solidFill>
                <a:latin typeface="Calibri"/>
              </a:rPr>
              <a:t>Nov 21</a:t>
            </a:r>
          </a:p>
        </p:txBody>
      </p:sp>
      <p:sp>
        <p:nvSpPr>
          <p:cNvPr id="20" name="TextBox 19"/>
          <p:cNvSpPr txBox="1"/>
          <p:nvPr/>
        </p:nvSpPr>
        <p:spPr>
          <a:xfrm>
            <a:off x="2560320" y="5212079"/>
            <a:ext cx="8686800" cy="457200"/>
          </a:xfrm>
          <a:prstGeom prst="rect">
            <a:avLst/>
          </a:prstGeom>
          <a:noFill/>
        </p:spPr>
        <p:txBody>
          <a:bodyPr wrap="square" lIns="0" rIns="0" tIns="0" bIns="0" anchor="t">
            <a:spAutoFit/>
          </a:bodyPr>
          <a:lstStyle/>
          <a:p>
            <a:pPr algn="l"/>
            <a:r>
              <a:rPr sz="1600" b="0">
                <a:solidFill>
                  <a:srgbClr val="FFFFFF"/>
                </a:solidFill>
                <a:latin typeface="Calibri"/>
              </a:rPr>
              <a:t>NJ State Quarterfinals, Trenton</a:t>
            </a:r>
          </a:p>
        </p:txBody>
      </p:sp>
      <p:sp>
        <p:nvSpPr>
          <p:cNvPr id="21" name="TextBox 20"/>
          <p:cNvSpPr txBox="1"/>
          <p:nvPr/>
        </p:nvSpPr>
        <p:spPr>
          <a:xfrm>
            <a:off x="548640" y="6309360"/>
            <a:ext cx="10972800" cy="365760"/>
          </a:xfrm>
          <a:prstGeom prst="rect">
            <a:avLst/>
          </a:prstGeom>
          <a:noFill/>
        </p:spPr>
        <p:txBody>
          <a:bodyPr wrap="square" lIns="0" rIns="0" tIns="0" bIns="0" anchor="t">
            <a:spAutoFit/>
          </a:bodyPr>
          <a:lstStyle/>
          <a:p>
            <a:pPr algn="l"/>
            <a:r>
              <a:rPr sz="1200" b="0">
                <a:solidFill>
                  <a:srgbClr val="D5A838"/>
                </a:solidFill>
                <a:latin typeface="Calibri"/>
              </a:rPr>
              <a:t>Coach Hari Mooney  -  hmooney@eastwickprep.k12.nj.us  -  Newark, NJ</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