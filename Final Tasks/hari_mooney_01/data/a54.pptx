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lsx" ContentType="application/vnd.openxmlformats-officedocument.spreadsheetml.sheet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charts/chart1.xml" ContentType="application/vnd.openxmlformats-officedocument.drawingml.chart+xml"/>
  <Override PartName="/ppt/charts/chart2.xml" ContentType="application/vnd.openxmlformats-officedocument.drawingml.chart+xml"/>
  <Override PartName="/ppt/charts/chart3.xml" ContentType="application/vnd.openxmlformats-officedocument.drawingml.chart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/Relationships>
</file>

<file path=ppt/charts/_rels/chart1.xml.rels><?xml version='1.0' encoding='UTF-8' standalone='yes'?>
<Relationships xmlns="http://schemas.openxmlformats.org/package/2006/relationships"><Relationship Id="rId1" Type="http://schemas.openxmlformats.org/officeDocument/2006/relationships/package" Target="../embeddings/Microsoft_Excel_Sheet1.xlsx"/></Relationships>
</file>

<file path=ppt/charts/_rels/chart2.xml.rels><?xml version='1.0' encoding='UTF-8' standalone='yes'?>
<Relationships xmlns="http://schemas.openxmlformats.org/package/2006/relationships"><Relationship Id="rId1" Type="http://schemas.openxmlformats.org/officeDocument/2006/relationships/package" Target="../embeddings/Microsoft_Excel_Sheet2.xlsx"/></Relationships>
</file>

<file path=ppt/charts/_rels/chart3.xml.rels><?xml version='1.0' encoding='UTF-8' standalone='yes'?>
<Relationships xmlns="http://schemas.openxmlformats.org/package/2006/relationships"><Relationship Id="rId1" Type="http://schemas.openxmlformats.org/officeDocument/2006/relationships/package" Target="../embeddings/Microsoft_Excel_Sheet3.xlsx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chart>
    <c:autoTitleDeleted val="1"/>
    <c:plotArea>
      <c:barChart>
        <c:barDir val="col"/>
        <c:grouping val="clustered"/>
        <c:ser>
          <c:idx val="0"/>
          <c:order val="0"/>
          <c:tx>
            <c:strRef>
              <c:f>Sheet1!$B$1</c:f>
              <c:strCache>
                <c:ptCount val="1"/>
                <c:pt idx="0">
                  <c:v>Pass rate (score 3+)</c:v>
                </c:pt>
              </c:strCache>
            </c:strRef>
          </c:tx>
          <c:spPr>
            <a:solidFill>
              <a:srgbClr val="3D8B75"/>
            </a:solidFill>
          </c:spPr>
          <c:cat>
            <c:strRef>
              <c:f>Sheet1!$A$2:$A$6</c:f>
              <c:strCache>
                <c:ptCount val="5"/>
                <c:pt idx="0">
                  <c:v>2021</c:v>
                </c:pt>
                <c:pt idx="1">
                  <c:v>2022</c:v>
                </c:pt>
                <c:pt idx="2">
                  <c:v>2023</c:v>
                </c:pt>
                <c:pt idx="3">
                  <c:v>2024</c:v>
                </c:pt>
                <c:pt idx="4">
                  <c:v>2025</c:v>
                </c:pt>
              </c:strCache>
            </c:strRef>
          </c:cat>
          <c:val>
            <c:numRef>
              <c:f>Sheet1!$B$2:$B$6</c:f>
              <c:numCache>
                <c:formatCode>General</c:formatCode>
                <c:ptCount val="5"/>
                <c:pt idx="0">
                  <c:v>62</c:v>
                </c:pt>
                <c:pt idx="1">
                  <c:v>68</c:v>
                </c:pt>
                <c:pt idx="2">
                  <c:v>74</c:v>
                </c:pt>
                <c:pt idx="3">
                  <c:v>78</c:v>
                </c:pt>
                <c:pt idx="4">
                  <c:v>84</c:v>
                </c:pt>
              </c:numCache>
            </c:numRef>
          </c:val>
        </c:ser>
        <c:dLbls>
          <c:txPr>
            <a:bodyPr/>
            <a:lstStyle/>
            <a:p>
              <a:pPr>
                <a:defRPr sz="1300" b="1"/>
              </a:pPr>
            </a:p>
          </c:txPr>
          <c:dLblPos val="outEnd"/>
          <c:showLegendKey val="0"/>
          <c:showVal val="1"/>
          <c:showCatName val="0"/>
          <c:showSerName val="0"/>
          <c:showPercent val="0"/>
          <c:showBubbleSize val="0"/>
          <c:showLeaderLines val="1"/>
        </c:dLbls>
        <c:axId val="-2068027336"/>
        <c:axId val="-2113994440"/>
      </c:barChart>
      <c:catAx>
        <c:axId val="-2068027336"/>
        <c:scaling>
          <c:orientation val="minMax"/>
        </c:scaling>
        <c:delete val="0"/>
        <c:axPos val="b"/>
        <c:majorTickMark val="out"/>
        <c:minorTickMark val="none"/>
        <c:tickLblPos val="nextTo"/>
        <c:crossAx val="-2113994440"/>
        <c:crosses val="autoZero"/>
        <c:auto val="1"/>
        <c:lblAlgn val="ctr"/>
        <c:lblOffset val="100"/>
        <c:noMultiLvlLbl val="0"/>
      </c:catAx>
      <c:valAx>
        <c:axId val="-2113994440"/>
        <c:scaling/>
        <c:delete val="0"/>
        <c:axPos val="l"/>
        <c:majorGridlines/>
        <c:majorTickMark val="out"/>
        <c:minorTickMark val="none"/>
        <c:tickLblPos val="nextTo"/>
        <c:crossAx val="-2068027336"/>
        <c:crosses val="autoZero"/>
      </c:valAx>
    </c:plotArea>
    <c:dispBlanksAs val="gap"/>
  </c:chart>
  <c:txPr>
    <a:bodyPr/>
    <a:lstStyle/>
    <a:p>
      <a:pPr>
        <a:defRPr sz="1800"/>
      </a:pPr>
      <a:endParaRPr lang="en-US"/>
    </a:p>
  </c:txPr>
  <c:externalData r:id="rId1">
    <c:autoUpdate val="0"/>
  </c:externalData>
</c:chartSpace>
</file>

<file path=ppt/charts/chart2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chart>
    <c:autoTitleDeleted val="1"/>
    <c:plotArea>
      <c:lineChart>
        <c:grouping val="standar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Active players</c:v>
                </c:pt>
              </c:strCache>
            </c:strRef>
          </c:tx>
          <c:spPr>
            <a:ln w="38100">
              <a:solidFill>
                <a:srgbClr val="3565A3"/>
              </a:solidFill>
            </a:ln>
          </c:spPr>
          <c:cat>
            <c:strRef>
              <c:f>Sheet1!$A$2:$A$7</c:f>
              <c:strCache>
                <c:ptCount val="6"/>
                <c:pt idx="0">
                  <c:v>2021-22</c:v>
                </c:pt>
                <c:pt idx="1">
                  <c:v>2022-23</c:v>
                </c:pt>
                <c:pt idx="2">
                  <c:v>2023-24</c:v>
                </c:pt>
                <c:pt idx="3">
                  <c:v>2024-25</c:v>
                </c:pt>
                <c:pt idx="4">
                  <c:v>2025-26</c:v>
                </c:pt>
                <c:pt idx="5">
                  <c:v>2026-27</c:v>
                </c:pt>
              </c:strCache>
            </c:strRef>
          </c:cat>
          <c:val>
            <c:numRef>
              <c:f>Sheet1!$B$2:$B$7</c:f>
              <c:numCache>
                <c:formatCode>General</c:formatCode>
                <c:ptCount val="6"/>
                <c:pt idx="0">
                  <c:v>5</c:v>
                </c:pt>
                <c:pt idx="1">
                  <c:v>5</c:v>
                </c:pt>
                <c:pt idx="2">
                  <c:v>7</c:v>
                </c:pt>
                <c:pt idx="3">
                  <c:v>9</c:v>
                </c:pt>
                <c:pt idx="4">
                  <c:v>12</c:v>
                </c:pt>
                <c:pt idx="5">
                  <c:v>14</c:v>
                </c:pt>
              </c:numCache>
            </c:numRef>
          </c:val>
          <c:smooth val="0"/>
        </c:ser>
        <c:dLbls>
          <c:txPr>
            <a:bodyPr/>
            <a:lstStyle/>
            <a:p>
              <a:pPr>
                <a:defRPr sz="1300" b="1"/>
              </a:pPr>
            </a:p>
          </c:txPr>
          <c:dLblPos val="t"/>
          <c:showLegendKey val="0"/>
          <c:showVal val="1"/>
          <c:showCatName val="0"/>
          <c:showSerName val="0"/>
          <c:showPercent val="0"/>
          <c:showBubbleSize val="0"/>
          <c:showLeaderLines val="1"/>
        </c:dLbls>
        <c:marker val="1"/>
        <c:smooth val="0"/>
        <c:axId val="2118791784"/>
        <c:axId val="2140495176"/>
      </c:lineChart>
      <c:catAx>
        <c:axId val="2118791784"/>
        <c:scaling>
          <c:orientation val="minMax"/>
        </c:scaling>
        <c:delete val="0"/>
        <c:axPos val="b"/>
        <c:majorTickMark val="out"/>
        <c:minorTickMark val="none"/>
        <c:tickLblPos val="nextTo"/>
        <c:crossAx val="2140495176"/>
        <c:crosses val="autoZero"/>
        <c:auto val="1"/>
        <c:lblAlgn val="ctr"/>
        <c:lblOffset val="100"/>
        <c:noMultiLvlLbl val="0"/>
      </c:catAx>
      <c:valAx>
        <c:axId val="2140495176"/>
        <c:scaling/>
        <c:delete val="0"/>
        <c:axPos val="l"/>
        <c:majorGridlines/>
        <c:majorTickMark val="out"/>
        <c:minorTickMark val="none"/>
        <c:tickLblPos val="nextTo"/>
        <c:crossAx val="2118791784"/>
        <c:crosses val="autoZero"/>
      </c:valAx>
    </c:plotArea>
    <c:plotVisOnly val="1"/>
    <c:dispBlanksAs val="gap"/>
    <c:showDLblsOverMax val="0"/>
  </c:chart>
  <c:txPr>
    <a:bodyPr/>
    <a:lstStyle/>
    <a:p>
      <a:pPr>
        <a:defRPr sz="1800"/>
      </a:pPr>
      <a:endParaRPr lang="en-US"/>
    </a:p>
  </c:txPr>
  <c:externalData r:id="rId1">
    <c:autoUpdate val="0"/>
  </c:externalData>
</c:chartSpace>
</file>

<file path=ppt/charts/chart3.xml><?xml version="1.0" encoding="utf-8"?>
<c:chartSpace xmlns:c="http://schemas.openxmlformats.org/drawingml/2006/chart" xmlns:a="http://schemas.openxmlformats.org/drawingml/2006/main" xmlns:r="http://schemas.openxmlformats.org/officeDocument/2006/relationships">
  <c:chart>
    <c:autoTitleDeleted val="1"/>
    <c:plotArea>
      <c:pieChart>
        <c:varyColors val="1"/>
        <c:ser>
          <c:idx val="0"/>
          <c:order val="0"/>
          <c:tx>
            <c:strRef>
              <c:f>Sheet1!$B$1</c:f>
              <c:strCache>
                <c:ptCount val="1"/>
                <c:pt idx="0">
                  <c:v>Hours per week</c:v>
                </c:pt>
              </c:strCache>
            </c:strRef>
          </c:tx>
          <c:cat>
            <c:strRef>
              <c:f>Sheet1!$A$2:$A$6</c:f>
              <c:strCache>
                <c:ptCount val="5"/>
                <c:pt idx="0">
                  <c:v>Opening drills</c:v>
                </c:pt>
                <c:pt idx="1">
                  <c:v>Tactical puzzles</c:v>
                </c:pt>
                <c:pt idx="2">
                  <c:v>Rated games</c:v>
                </c:pt>
                <c:pt idx="3">
                  <c:v>Endgame study</c:v>
                </c:pt>
                <c:pt idx="4">
                  <c:v>Free play / analysis</c:v>
                </c:pt>
              </c:strCache>
            </c:strRef>
          </c:cat>
          <c:val>
            <c:numRef>
              <c:f>Sheet1!$B$2:$B$6</c:f>
              <c:numCache>
                <c:formatCode>General</c:formatCode>
                <c:ptCount val="5"/>
                <c:pt idx="0">
                  <c:v>1.5</c:v>
                </c:pt>
                <c:pt idx="1">
                  <c:v>2.5</c:v>
                </c:pt>
                <c:pt idx="2">
                  <c:v>3.0</c:v>
                </c:pt>
                <c:pt idx="3">
                  <c:v>1.0</c:v>
                </c:pt>
                <c:pt idx="4">
                  <c:v>1.0</c:v>
                </c:pt>
              </c:numCache>
            </c:numRef>
          </c:val>
        </c:ser>
        <c:dLbls>
          <c:txPr>
            <a:bodyPr/>
            <a:lstStyle/>
            <a:p>
              <a:pPr>
                <a:defRPr sz="1100" b="1"/>
              </a:pPr>
            </a:p>
          </c:txPr>
          <c:showLegendKey val="0"/>
          <c:showVal val="1"/>
          <c:showCatName val="0"/>
          <c:showSerName val="0"/>
          <c:showPercent val="1"/>
          <c:showBubbleSize val="0"/>
          <c:showLeaderLines val="1"/>
        </c:dLbls>
      </c:pieChart>
    </c:plotArea>
    <c:legend>
      <c:legendPos val="b"/>
    </c:legend>
    <c:dispBlanksAs val="gap"/>
  </c:chart>
  <c:txPr>
    <a:bodyPr/>
    <a:lstStyle/>
    <a:p>
      <a:pPr>
        <a:defRPr sz="1800"/>
      </a:pPr>
      <a:endParaRPr lang="en-US"/>
    </a:p>
  </c:txPr>
  <c:externalData r:id="rId1">
    <c:autoUpdate val="0"/>
  </c:externalData>
</c:chartSpace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chart" Target="../charts/chart1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chart" Target="../charts/chart2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chart" Target="../charts/chart3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64592"/>
          </a:xfrm>
          <a:prstGeom prst="rect">
            <a:avLst/>
          </a:prstGeom>
          <a:solidFill>
            <a:srgbClr val="3D8B7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40080" y="640080"/>
            <a:ext cx="731520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400" b="1">
                <a:solidFill>
                  <a:srgbClr val="3D8B75"/>
                </a:solidFill>
                <a:latin typeface="Calibri"/>
              </a:rPr>
              <a:t>PARENT TEACHER ASSOCIATION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40080" y="1097280"/>
            <a:ext cx="10058400" cy="1371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4400" b="1">
                <a:solidFill>
                  <a:srgbClr val="152A3A"/>
                </a:solidFill>
                <a:latin typeface="Calibri"/>
              </a:rPr>
              <a:t>Mathematics and Chess at
Eastwick Preparatory Academy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3200400"/>
            <a:ext cx="10058400" cy="5486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2000" b="0">
                <a:solidFill>
                  <a:srgbClr val="7A8694"/>
                </a:solidFill>
                <a:latin typeface="Calibri"/>
              </a:rPr>
              <a:t>Academic enrichment and extracurricular success in 2026 - 2027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40080" y="5486400"/>
            <a:ext cx="1005840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800" b="1">
                <a:solidFill>
                  <a:srgbClr val="152A3A"/>
                </a:solidFill>
                <a:latin typeface="Calibri"/>
              </a:rPr>
              <a:t>Mr. Hari Mooney  -  Math Teacher &amp; Chess Coach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40080" y="5943600"/>
            <a:ext cx="1005840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400" b="0">
                <a:solidFill>
                  <a:srgbClr val="7A8694"/>
                </a:solidFill>
                <a:latin typeface="Calibri"/>
              </a:rPr>
              <a:t>Presentation date: October 29, 2026</a:t>
            </a:r>
          </a:p>
        </p:txBody>
      </p:sp>
      <p:sp>
        <p:nvSpPr>
          <p:cNvPr id="9" name="Rectangle 8"/>
          <p:cNvSpPr/>
          <p:nvPr/>
        </p:nvSpPr>
        <p:spPr>
          <a:xfrm>
            <a:off x="10515600" y="548640"/>
            <a:ext cx="1188720" cy="1188720"/>
          </a:xfrm>
          <a:prstGeom prst="rect">
            <a:avLst/>
          </a:prstGeom>
          <a:solidFill>
            <a:srgbClr val="E9C66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10515600" y="1828800"/>
            <a:ext cx="1188720" cy="1188720"/>
          </a:xfrm>
          <a:prstGeom prst="rect">
            <a:avLst/>
          </a:prstGeom>
          <a:solidFill>
            <a:srgbClr val="3565A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10515600" y="3108960"/>
            <a:ext cx="1188720" cy="1188720"/>
          </a:xfrm>
          <a:prstGeom prst="rect">
            <a:avLst/>
          </a:prstGeom>
          <a:solidFill>
            <a:srgbClr val="3D8B7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548640"/>
            <a:ext cx="1097280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200" b="1">
                <a:solidFill>
                  <a:srgbClr val="3D8B75"/>
                </a:solidFill>
                <a:latin typeface="Calibri"/>
              </a:rPr>
              <a:t>AGENDA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914400"/>
            <a:ext cx="10972800" cy="7315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3200" b="1">
                <a:solidFill>
                  <a:srgbClr val="152A3A"/>
                </a:solidFill>
                <a:latin typeface="Calibri"/>
              </a:rPr>
              <a:t>What we will cover in the next 25 minutes</a:t>
            </a:r>
          </a:p>
        </p:txBody>
      </p:sp>
      <p:sp>
        <p:nvSpPr>
          <p:cNvPr id="5" name="Oval 4"/>
          <p:cNvSpPr/>
          <p:nvPr/>
        </p:nvSpPr>
        <p:spPr>
          <a:xfrm>
            <a:off x="822960" y="2377440"/>
            <a:ext cx="594360" cy="594360"/>
          </a:xfrm>
          <a:prstGeom prst="ellipse">
            <a:avLst/>
          </a:prstGeom>
          <a:solidFill>
            <a:srgbClr val="3D8B7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2200" b="1">
                <a:solidFill>
                  <a:srgbClr val="FFFFFF"/>
                </a:solidFill>
                <a:latin typeface="Calibri"/>
              </a:rPr>
              <a:t>1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737360" y="2423160"/>
            <a:ext cx="9144000" cy="5486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2200" b="0">
                <a:solidFill>
                  <a:srgbClr val="152A3A"/>
                </a:solidFill>
                <a:latin typeface="Calibri"/>
              </a:rPr>
              <a:t>Who I am and what I teach</a:t>
            </a:r>
          </a:p>
        </p:txBody>
      </p:sp>
      <p:sp>
        <p:nvSpPr>
          <p:cNvPr id="7" name="Oval 6"/>
          <p:cNvSpPr/>
          <p:nvPr/>
        </p:nvSpPr>
        <p:spPr>
          <a:xfrm>
            <a:off x="822960" y="3154680"/>
            <a:ext cx="594360" cy="594360"/>
          </a:xfrm>
          <a:prstGeom prst="ellipse">
            <a:avLst/>
          </a:prstGeom>
          <a:solidFill>
            <a:srgbClr val="3D8B7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2200" b="1">
                <a:solidFill>
                  <a:srgbClr val="FFFFFF"/>
                </a:solidFill>
                <a:latin typeface="Calibri"/>
              </a:rPr>
              <a:t>2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737360" y="3200400"/>
            <a:ext cx="9144000" cy="5486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2200" b="0">
                <a:solidFill>
                  <a:srgbClr val="152A3A"/>
                </a:solidFill>
                <a:latin typeface="Calibri"/>
              </a:rPr>
              <a:t>AP Calculus progress and morning help</a:t>
            </a:r>
          </a:p>
        </p:txBody>
      </p:sp>
      <p:sp>
        <p:nvSpPr>
          <p:cNvPr id="9" name="Oval 8"/>
          <p:cNvSpPr/>
          <p:nvPr/>
        </p:nvSpPr>
        <p:spPr>
          <a:xfrm>
            <a:off x="822960" y="3931920"/>
            <a:ext cx="594360" cy="594360"/>
          </a:xfrm>
          <a:prstGeom prst="ellipse">
            <a:avLst/>
          </a:prstGeom>
          <a:solidFill>
            <a:srgbClr val="3D8B7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2200" b="1">
                <a:solidFill>
                  <a:srgbClr val="FFFFFF"/>
                </a:solidFill>
                <a:latin typeface="Calibri"/>
              </a:rPr>
              <a:t>3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737360" y="3977640"/>
            <a:ext cx="9144000" cy="5486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2200" b="0">
                <a:solidFill>
                  <a:srgbClr val="152A3A"/>
                </a:solidFill>
                <a:latin typeface="Calibri"/>
              </a:rPr>
              <a:t>The Eastwick Knights chess program</a:t>
            </a:r>
          </a:p>
        </p:txBody>
      </p:sp>
      <p:sp>
        <p:nvSpPr>
          <p:cNvPr id="11" name="Oval 10"/>
          <p:cNvSpPr/>
          <p:nvPr/>
        </p:nvSpPr>
        <p:spPr>
          <a:xfrm>
            <a:off x="822960" y="4709160"/>
            <a:ext cx="594360" cy="594360"/>
          </a:xfrm>
          <a:prstGeom prst="ellipse">
            <a:avLst/>
          </a:prstGeom>
          <a:solidFill>
            <a:srgbClr val="3D8B7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2200" b="1">
                <a:solidFill>
                  <a:srgbClr val="FFFFFF"/>
                </a:solidFill>
                <a:latin typeface="Calibri"/>
              </a:rPr>
              <a:t>4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737360" y="4754880"/>
            <a:ext cx="9144000" cy="5486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2200" b="0">
                <a:solidFill>
                  <a:srgbClr val="152A3A"/>
                </a:solidFill>
                <a:latin typeface="Calibri"/>
              </a:rPr>
              <a:t>Summer learning and tutoring</a:t>
            </a:r>
          </a:p>
        </p:txBody>
      </p:sp>
      <p:sp>
        <p:nvSpPr>
          <p:cNvPr id="13" name="Oval 12"/>
          <p:cNvSpPr/>
          <p:nvPr/>
        </p:nvSpPr>
        <p:spPr>
          <a:xfrm>
            <a:off x="822960" y="5486400"/>
            <a:ext cx="594360" cy="594360"/>
          </a:xfrm>
          <a:prstGeom prst="ellipse">
            <a:avLst/>
          </a:prstGeom>
          <a:solidFill>
            <a:srgbClr val="3D8B7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2200" b="1">
                <a:solidFill>
                  <a:srgbClr val="FFFFFF"/>
                </a:solidFill>
                <a:latin typeface="Calibri"/>
              </a:rPr>
              <a:t>5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737360" y="5532120"/>
            <a:ext cx="9144000" cy="5486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2200" b="0">
                <a:solidFill>
                  <a:srgbClr val="152A3A"/>
                </a:solidFill>
                <a:latin typeface="Calibri"/>
              </a:rPr>
              <a:t>How parents can support at home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365760" y="6492240"/>
            <a:ext cx="73152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000" b="0">
                <a:solidFill>
                  <a:srgbClr val="7A8694"/>
                </a:solidFill>
                <a:latin typeface="Calibri"/>
              </a:rPr>
              <a:t>PTA Presentation - Eastwick Preparatory Academy - October 29, 2026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1368735" y="6492240"/>
            <a:ext cx="4572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1000" b="0">
                <a:solidFill>
                  <a:srgbClr val="7A8694"/>
                </a:solidFill>
                <a:latin typeface="Calibri"/>
              </a:rPr>
              <a:t>2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548640"/>
            <a:ext cx="1097280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200" b="1">
                <a:solidFill>
                  <a:srgbClr val="3D8B75"/>
                </a:solidFill>
                <a:latin typeface="Calibri"/>
              </a:rPr>
              <a:t>WHO I AM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914400"/>
            <a:ext cx="10972800" cy="7315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3200" b="1">
                <a:solidFill>
                  <a:srgbClr val="152A3A"/>
                </a:solidFill>
                <a:latin typeface="Calibri"/>
              </a:rPr>
              <a:t>Nine years at Eastwick, three roles</a:t>
            </a:r>
          </a:p>
        </p:txBody>
      </p:sp>
      <p:sp>
        <p:nvSpPr>
          <p:cNvPr id="5" name="Oval 4"/>
          <p:cNvSpPr/>
          <p:nvPr/>
        </p:nvSpPr>
        <p:spPr>
          <a:xfrm>
            <a:off x="731520" y="2377440"/>
            <a:ext cx="2743200" cy="2743200"/>
          </a:xfrm>
          <a:prstGeom prst="ellipse">
            <a:avLst/>
          </a:prstGeom>
          <a:solidFill>
            <a:srgbClr val="152A3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731520" y="3474720"/>
            <a:ext cx="2743200" cy="5486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6000" b="1">
                <a:solidFill>
                  <a:srgbClr val="FFFFFF"/>
                </a:solidFill>
                <a:latin typeface="Calibri"/>
              </a:rPr>
              <a:t>HM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114800" y="2468880"/>
            <a:ext cx="109728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800" b="1">
                <a:solidFill>
                  <a:srgbClr val="3D8B75"/>
                </a:solidFill>
                <a:latin typeface="Calibri"/>
              </a:rPr>
              <a:t>2018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303520" y="2468880"/>
            <a:ext cx="640080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600" b="0">
                <a:solidFill>
                  <a:srgbClr val="152A3A"/>
                </a:solidFill>
                <a:latin typeface="Calibri"/>
              </a:rPr>
              <a:t>M.Ed., Halford State University - GPA 3.85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114800" y="3154680"/>
            <a:ext cx="109728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800" b="1">
                <a:solidFill>
                  <a:srgbClr val="3D8B75"/>
                </a:solidFill>
                <a:latin typeface="Calibri"/>
              </a:rPr>
              <a:t>2018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5303520" y="3154680"/>
            <a:ext cx="640080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600" b="0">
                <a:solidFill>
                  <a:srgbClr val="152A3A"/>
                </a:solidFill>
                <a:latin typeface="Calibri"/>
              </a:rPr>
              <a:t>NJ Standard Certificate, Math 7-12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114800" y="3840480"/>
            <a:ext cx="109728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800" b="1">
                <a:solidFill>
                  <a:srgbClr val="3D8B75"/>
                </a:solidFill>
                <a:latin typeface="Calibri"/>
              </a:rPr>
              <a:t>2018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5303520" y="3840480"/>
            <a:ext cx="640080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600" b="0">
                <a:solidFill>
                  <a:srgbClr val="152A3A"/>
                </a:solidFill>
                <a:latin typeface="Calibri"/>
              </a:rPr>
              <a:t>Joined Eastwick Prep - Algebra II and AP Calc AB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4114800" y="4526280"/>
            <a:ext cx="109728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800" b="1">
                <a:solidFill>
                  <a:srgbClr val="3D8B75"/>
                </a:solidFill>
                <a:latin typeface="Calibri"/>
              </a:rPr>
              <a:t>2021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5303520" y="4526280"/>
            <a:ext cx="640080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600" b="0">
                <a:solidFill>
                  <a:srgbClr val="152A3A"/>
                </a:solidFill>
                <a:latin typeface="Calibri"/>
              </a:rPr>
              <a:t>Took over Eastwick Knights chess program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4114800" y="5212080"/>
            <a:ext cx="109728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800" b="1">
                <a:solidFill>
                  <a:srgbClr val="3D8B75"/>
                </a:solidFill>
                <a:latin typeface="Calibri"/>
              </a:rPr>
              <a:t>2025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5303520" y="5212080"/>
            <a:ext cx="640080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600" b="0">
                <a:solidFill>
                  <a:srgbClr val="152A3A"/>
                </a:solidFill>
                <a:latin typeface="Calibri"/>
              </a:rPr>
              <a:t>TPAF vested - 8 years of service credit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365760" y="6492240"/>
            <a:ext cx="73152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000" b="0">
                <a:solidFill>
                  <a:srgbClr val="7A8694"/>
                </a:solidFill>
                <a:latin typeface="Calibri"/>
              </a:rPr>
              <a:t>PTA Presentation - Eastwick Preparatory Academy - October 29, 2026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11368735" y="6492240"/>
            <a:ext cx="4572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1000" b="0">
                <a:solidFill>
                  <a:srgbClr val="7A8694"/>
                </a:solidFill>
                <a:latin typeface="Calibri"/>
              </a:rPr>
              <a:t>3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548640"/>
            <a:ext cx="1097280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200" b="1">
                <a:solidFill>
                  <a:srgbClr val="3D8B75"/>
                </a:solidFill>
                <a:latin typeface="Calibri"/>
              </a:rPr>
              <a:t>AP CALCULUS RESULTS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914400"/>
            <a:ext cx="10972800" cy="7315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3200" b="1">
                <a:solidFill>
                  <a:srgbClr val="152A3A"/>
                </a:solidFill>
                <a:latin typeface="Calibri"/>
              </a:rPr>
              <a:t>AP exam pass rate - past five years</a:t>
            </a:r>
          </a:p>
        </p:txBody>
      </p:sp>
      <p:graphicFrame>
        <p:nvGraphicFramePr>
          <p:cNvPr id="5" name="Chart 4"/>
          <p:cNvGraphicFramePr>
            <a:graphicFrameLocks noGrp="1"/>
          </p:cNvGraphicFramePr>
          <p:nvPr/>
        </p:nvGraphicFramePr>
        <p:xfrm>
          <a:off x="640080" y="1920240"/>
          <a:ext cx="7315200" cy="4572000"/>
        </p:xfrm>
        <a:graphic>
          <a:graphicData uri="http://schemas.openxmlformats.org/drawingml/2006/chart">
            <c:chart xmlns:c="http://schemas.openxmlformats.org/drawingml/2006/chart" r:id="rId2"/>
          </a:graphicData>
        </a:graphic>
      </p:graphicFrame>
      <p:sp>
        <p:nvSpPr>
          <p:cNvPr id="6" name="TextBox 5"/>
          <p:cNvSpPr txBox="1"/>
          <p:nvPr/>
        </p:nvSpPr>
        <p:spPr>
          <a:xfrm>
            <a:off x="8412480" y="1920240"/>
            <a:ext cx="338328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800" b="1">
                <a:solidFill>
                  <a:srgbClr val="3D8B75"/>
                </a:solidFill>
                <a:latin typeface="Calibri"/>
              </a:rPr>
              <a:t>What works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412480" y="2377440"/>
            <a:ext cx="3383280" cy="41148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400" b="0">
                <a:solidFill>
                  <a:srgbClr val="152A3A"/>
                </a:solidFill>
                <a:latin typeface="Calibri"/>
              </a:rPr>
              <a:t>- Morning help Tue/Thu 7:00 to 7:30 AM, Room 204
- Practice free response packet every other Friday
- Worked problem of the week posted to harimooney.org
- Optional Brightpath tutoring for stretch students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365760" y="6492240"/>
            <a:ext cx="73152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000" b="0">
                <a:solidFill>
                  <a:srgbClr val="7A8694"/>
                </a:solidFill>
                <a:latin typeface="Calibri"/>
              </a:rPr>
              <a:t>PTA Presentation - Eastwick Preparatory Academy - October 29, 2026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1368735" y="6492240"/>
            <a:ext cx="4572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1000" b="0">
                <a:solidFill>
                  <a:srgbClr val="7A8694"/>
                </a:solidFill>
                <a:latin typeface="Calibri"/>
              </a:rPr>
              <a:t>4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548640"/>
            <a:ext cx="1097280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200" b="1">
                <a:solidFill>
                  <a:srgbClr val="3D8B75"/>
                </a:solidFill>
                <a:latin typeface="Calibri"/>
              </a:rPr>
              <a:t>EASTWICK KNIGHTS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914400"/>
            <a:ext cx="10972800" cy="7315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3000" b="1">
                <a:solidFill>
                  <a:srgbClr val="152A3A"/>
                </a:solidFill>
                <a:latin typeface="Calibri"/>
              </a:rPr>
              <a:t>From 5 players in 2021 to 14 active competitors</a:t>
            </a:r>
          </a:p>
        </p:txBody>
      </p:sp>
      <p:graphicFrame>
        <p:nvGraphicFramePr>
          <p:cNvPr id="5" name="Chart 4"/>
          <p:cNvGraphicFramePr>
            <a:graphicFrameLocks noGrp="1"/>
          </p:cNvGraphicFramePr>
          <p:nvPr/>
        </p:nvGraphicFramePr>
        <p:xfrm>
          <a:off x="640080" y="1920240"/>
          <a:ext cx="7315200" cy="4572000"/>
        </p:xfrm>
        <a:graphic>
          <a:graphicData uri="http://schemas.openxmlformats.org/drawingml/2006/chart">
            <c:chart xmlns:c="http://schemas.openxmlformats.org/drawingml/2006/chart" r:id="rId2"/>
          </a:graphicData>
        </a:graphic>
      </p:graphicFrame>
      <p:sp>
        <p:nvSpPr>
          <p:cNvPr id="6" name="Rounded Rectangle 5"/>
          <p:cNvSpPr/>
          <p:nvPr/>
        </p:nvSpPr>
        <p:spPr>
          <a:xfrm>
            <a:off x="8412480" y="1920240"/>
            <a:ext cx="3383280" cy="1280160"/>
          </a:xfrm>
          <a:prstGeom prst="roundRect">
            <a:avLst/>
          </a:prstGeom>
          <a:solidFill>
            <a:srgbClr val="E9C66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8503920" y="2011680"/>
            <a:ext cx="3200400" cy="5486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2400" b="1">
                <a:solidFill>
                  <a:srgbClr val="152A3A"/>
                </a:solidFill>
                <a:latin typeface="Calibri"/>
              </a:rPr>
              <a:t>14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8503920" y="2606040"/>
            <a:ext cx="3200400" cy="5486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100" b="0">
                <a:solidFill>
                  <a:srgbClr val="152A3A"/>
                </a:solidFill>
                <a:latin typeface="Calibri"/>
              </a:rPr>
              <a:t>Players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8412480" y="3383280"/>
            <a:ext cx="3383280" cy="1280160"/>
          </a:xfrm>
          <a:prstGeom prst="roundRect">
            <a:avLst/>
          </a:prstGeom>
          <a:solidFill>
            <a:srgbClr val="3565A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8503920" y="3474720"/>
            <a:ext cx="3200400" cy="5486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2400" b="1">
                <a:solidFill>
                  <a:srgbClr val="FFFFFF"/>
                </a:solidFill>
                <a:latin typeface="Calibri"/>
              </a:rPr>
              <a:t>$15,000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8503920" y="4069080"/>
            <a:ext cx="3200400" cy="5486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100" b="0">
                <a:solidFill>
                  <a:srgbClr val="FFFFFF"/>
                </a:solidFill>
                <a:latin typeface="Calibri"/>
              </a:rPr>
              <a:t>Annual Whitfield scholarship awarded to Marcus Thompson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8412480" y="4846320"/>
            <a:ext cx="3383280" cy="1280160"/>
          </a:xfrm>
          <a:prstGeom prst="roundRect">
            <a:avLst/>
          </a:prstGeom>
          <a:solidFill>
            <a:srgbClr val="E9C66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8503920" y="4937760"/>
            <a:ext cx="3200400" cy="5486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2400" b="1">
                <a:solidFill>
                  <a:srgbClr val="152A3A"/>
                </a:solidFill>
                <a:latin typeface="Calibri"/>
              </a:rPr>
              <a:t>1,654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8503920" y="5532120"/>
            <a:ext cx="3200400" cy="5486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100" b="0">
                <a:solidFill>
                  <a:srgbClr val="152A3A"/>
                </a:solidFill>
                <a:latin typeface="Calibri"/>
              </a:rPr>
              <a:t>Team average USCF rating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365760" y="6492240"/>
            <a:ext cx="73152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000" b="0">
                <a:solidFill>
                  <a:srgbClr val="7A8694"/>
                </a:solidFill>
                <a:latin typeface="Calibri"/>
              </a:rPr>
              <a:t>PTA Presentation - Eastwick Preparatory Academy - October 29, 2026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1368735" y="6492240"/>
            <a:ext cx="4572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1000" b="0">
                <a:solidFill>
                  <a:srgbClr val="7A8694"/>
                </a:solidFill>
                <a:latin typeface="Calibri"/>
              </a:rPr>
              <a:t>5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548640"/>
            <a:ext cx="1097280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200" b="1">
                <a:solidFill>
                  <a:srgbClr val="3D8B75"/>
                </a:solidFill>
                <a:latin typeface="Calibri"/>
              </a:rPr>
              <a:t>PROGRAM TIME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914400"/>
            <a:ext cx="10972800" cy="7315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3000" b="1">
                <a:solidFill>
                  <a:srgbClr val="152A3A"/>
                </a:solidFill>
                <a:latin typeface="Calibri"/>
              </a:rPr>
              <a:t>How a week in the Knights actually looks</a:t>
            </a:r>
          </a:p>
        </p:txBody>
      </p:sp>
      <p:graphicFrame>
        <p:nvGraphicFramePr>
          <p:cNvPr id="5" name="Chart 4"/>
          <p:cNvGraphicFramePr>
            <a:graphicFrameLocks noGrp="1"/>
          </p:cNvGraphicFramePr>
          <p:nvPr/>
        </p:nvGraphicFramePr>
        <p:xfrm>
          <a:off x="640080" y="1828800"/>
          <a:ext cx="5943600" cy="4572000"/>
        </p:xfrm>
        <a:graphic>
          <a:graphicData uri="http://schemas.openxmlformats.org/drawingml/2006/chart">
            <c:chart xmlns:c="http://schemas.openxmlformats.org/drawingml/2006/chart" r:id="rId2"/>
          </a:graphicData>
        </a:graphic>
      </p:graphicFrame>
      <p:sp>
        <p:nvSpPr>
          <p:cNvPr id="6" name="TextBox 5"/>
          <p:cNvSpPr txBox="1"/>
          <p:nvPr/>
        </p:nvSpPr>
        <p:spPr>
          <a:xfrm>
            <a:off x="6949440" y="1828800"/>
            <a:ext cx="502920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800" b="1">
                <a:solidFill>
                  <a:srgbClr val="3565A3"/>
                </a:solidFill>
                <a:latin typeface="Calibri"/>
              </a:rPr>
              <a:t>Weekly schedule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949440" y="2377440"/>
            <a:ext cx="73152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800" b="1">
                <a:solidFill>
                  <a:srgbClr val="3D8B75"/>
                </a:solidFill>
                <a:latin typeface="Calibri"/>
              </a:rPr>
              <a:t>Tue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680960" y="2377440"/>
            <a:ext cx="182880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300" b="0">
                <a:solidFill>
                  <a:srgbClr val="7A8694"/>
                </a:solidFill>
                <a:latin typeface="Calibri"/>
              </a:rPr>
              <a:t>3:30 - 5:00 PM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949440" y="2743200"/>
            <a:ext cx="502920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300" b="0">
                <a:solidFill>
                  <a:srgbClr val="152A3A"/>
                </a:solidFill>
                <a:latin typeface="Calibri"/>
              </a:rPr>
              <a:t>Eastwick Knights chess practice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949440" y="3291840"/>
            <a:ext cx="73152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800" b="1">
                <a:solidFill>
                  <a:srgbClr val="3D8B75"/>
                </a:solidFill>
                <a:latin typeface="Calibri"/>
              </a:rPr>
              <a:t>Thu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7680960" y="3291840"/>
            <a:ext cx="182880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300" b="0">
                <a:solidFill>
                  <a:srgbClr val="7A8694"/>
                </a:solidFill>
                <a:latin typeface="Calibri"/>
              </a:rPr>
              <a:t>3:30 - 5:00 PM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949440" y="3657600"/>
            <a:ext cx="502920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300" b="0">
                <a:solidFill>
                  <a:srgbClr val="152A3A"/>
                </a:solidFill>
                <a:latin typeface="Calibri"/>
              </a:rPr>
              <a:t>Eastwick Knights chess practice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949440" y="4206240"/>
            <a:ext cx="73152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800" b="1">
                <a:solidFill>
                  <a:srgbClr val="3D8B75"/>
                </a:solidFill>
                <a:latin typeface="Calibri"/>
              </a:rPr>
              <a:t>Wed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7680960" y="4206240"/>
            <a:ext cx="182880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300" b="0">
                <a:solidFill>
                  <a:srgbClr val="7A8694"/>
                </a:solidFill>
                <a:latin typeface="Calibri"/>
              </a:rPr>
              <a:t>8:00 PM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949440" y="4572000"/>
            <a:ext cx="502920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300" b="0">
                <a:solidFill>
                  <a:srgbClr val="152A3A"/>
                </a:solidFill>
                <a:latin typeface="Calibri"/>
              </a:rPr>
              <a:t>Online chess with my brother on Lichess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949440" y="5120640"/>
            <a:ext cx="73152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800" b="1">
                <a:solidFill>
                  <a:srgbClr val="3D8B75"/>
                </a:solidFill>
                <a:latin typeface="Calibri"/>
              </a:rPr>
              <a:t>Sat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7680960" y="5120640"/>
            <a:ext cx="182880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300" b="0">
                <a:solidFill>
                  <a:srgbClr val="7A8694"/>
                </a:solidFill>
                <a:latin typeface="Calibri"/>
              </a:rPr>
              <a:t>9:00 - 11:00 AM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6949440" y="5486400"/>
            <a:ext cx="502920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300" b="0">
                <a:solidFill>
                  <a:srgbClr val="152A3A"/>
                </a:solidFill>
                <a:latin typeface="Calibri"/>
              </a:rPr>
              <a:t>Pickup basketball at Vailsburg Park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365760" y="6492240"/>
            <a:ext cx="73152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000" b="0">
                <a:solidFill>
                  <a:srgbClr val="7A8694"/>
                </a:solidFill>
                <a:latin typeface="Calibri"/>
              </a:rPr>
              <a:t>PTA Presentation - Eastwick Preparatory Academy - October 29, 2026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11368735" y="6492240"/>
            <a:ext cx="4572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1000" b="0">
                <a:solidFill>
                  <a:srgbClr val="7A8694"/>
                </a:solidFill>
                <a:latin typeface="Calibri"/>
              </a:rPr>
              <a:t>6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548640"/>
            <a:ext cx="1097280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200" b="1">
                <a:solidFill>
                  <a:srgbClr val="3D8B75"/>
                </a:solidFill>
                <a:latin typeface="Calibri"/>
              </a:rPr>
              <a:t>PARENT PARTNERSHIP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914400"/>
            <a:ext cx="10972800" cy="7315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3000" b="1">
                <a:solidFill>
                  <a:srgbClr val="152A3A"/>
                </a:solidFill>
                <a:latin typeface="Calibri"/>
              </a:rPr>
              <a:t>Four things you can do this week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640080" y="1920240"/>
            <a:ext cx="5212080" cy="2103120"/>
          </a:xfrm>
          <a:prstGeom prst="roundRect">
            <a:avLst/>
          </a:prstGeom>
          <a:solidFill>
            <a:srgbClr val="3D8B7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868680" y="2103120"/>
            <a:ext cx="4754880" cy="5486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2000" b="1">
                <a:solidFill>
                  <a:srgbClr val="FFFFFF"/>
                </a:solidFill>
                <a:latin typeface="Calibri"/>
              </a:rPr>
              <a:t>Set a daily window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68680" y="2788920"/>
            <a:ext cx="4754880" cy="12801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400" b="0">
                <a:solidFill>
                  <a:srgbClr val="FFFFFF"/>
                </a:solidFill>
                <a:latin typeface="Calibri"/>
              </a:rPr>
              <a:t>30 minutes of homework, screens off, at the same time each evening.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035040" y="1920240"/>
            <a:ext cx="5212080" cy="2103120"/>
          </a:xfrm>
          <a:prstGeom prst="roundRect">
            <a:avLst/>
          </a:prstGeom>
          <a:solidFill>
            <a:srgbClr val="3565A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6263640" y="2103120"/>
            <a:ext cx="4754880" cy="5486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2000" b="1">
                <a:solidFill>
                  <a:srgbClr val="FFFFFF"/>
                </a:solidFill>
                <a:latin typeface="Calibri"/>
              </a:rPr>
              <a:t>Sign up for the blog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263640" y="2788920"/>
            <a:ext cx="4754880" cy="12801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400" b="0">
                <a:solidFill>
                  <a:srgbClr val="FFFFFF"/>
                </a:solidFill>
                <a:latin typeface="Calibri"/>
              </a:rPr>
              <a:t>harimooney.org sends one worked problem a week. Sit and do it with your student.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640080" y="4206240"/>
            <a:ext cx="5212080" cy="2103120"/>
          </a:xfrm>
          <a:prstGeom prst="roundRect">
            <a:avLst/>
          </a:prstGeom>
          <a:solidFill>
            <a:srgbClr val="E9C66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868680" y="4389120"/>
            <a:ext cx="4754880" cy="5486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2000" b="1">
                <a:solidFill>
                  <a:srgbClr val="FFFFFF"/>
                </a:solidFill>
                <a:latin typeface="Calibri"/>
              </a:rPr>
              <a:t>Send them to morning help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868680" y="5074920"/>
            <a:ext cx="4754880" cy="12801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400" b="0">
                <a:solidFill>
                  <a:srgbClr val="FFFFFF"/>
                </a:solidFill>
                <a:latin typeface="Calibri"/>
              </a:rPr>
              <a:t>Tuesdays and Thursdays, 7:00 to 7:30 AM, Room 204. It is the single biggest grade lever.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6035040" y="4206240"/>
            <a:ext cx="5212080" cy="2103120"/>
          </a:xfrm>
          <a:prstGeom prst="roundRect">
            <a:avLst/>
          </a:prstGeom>
          <a:solidFill>
            <a:srgbClr val="152A3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6263640" y="4389120"/>
            <a:ext cx="4754880" cy="5486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2000" b="1">
                <a:solidFill>
                  <a:srgbClr val="FFFFFF"/>
                </a:solidFill>
                <a:latin typeface="Calibri"/>
              </a:rPr>
              <a:t>Volunteer for a tournament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263640" y="5074920"/>
            <a:ext cx="4754880" cy="12801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400" b="0">
                <a:solidFill>
                  <a:srgbClr val="FFFFFF"/>
                </a:solidFill>
                <a:latin typeface="Calibri"/>
              </a:rPr>
              <a:t>Drivers and snack coordinators needed for every Saturday meet.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365760" y="6492240"/>
            <a:ext cx="73152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000" b="0">
                <a:solidFill>
                  <a:srgbClr val="7A8694"/>
                </a:solidFill>
                <a:latin typeface="Calibri"/>
              </a:rPr>
              <a:t>PTA Presentation - Eastwick Preparatory Academy - October 29, 2026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11368735" y="6492240"/>
            <a:ext cx="4572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1000" b="0">
                <a:solidFill>
                  <a:srgbClr val="7A8694"/>
                </a:solidFill>
                <a:latin typeface="Calibri"/>
              </a:rPr>
              <a:t>7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152A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64592"/>
          </a:xfrm>
          <a:prstGeom prst="rect">
            <a:avLst/>
          </a:prstGeom>
          <a:solidFill>
            <a:srgbClr val="3D8B7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40080" y="1371600"/>
            <a:ext cx="10972800" cy="914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7200" b="1">
                <a:solidFill>
                  <a:srgbClr val="FFFFFF"/>
                </a:solidFill>
                <a:latin typeface="Calibri"/>
              </a:rPr>
              <a:t>Questions?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40080" y="2743200"/>
            <a:ext cx="10972800" cy="5486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2000" b="0">
                <a:solidFill>
                  <a:srgbClr val="E9C66B"/>
                </a:solidFill>
                <a:latin typeface="Calibri"/>
              </a:rPr>
              <a:t>Two ways to reach me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3383280"/>
            <a:ext cx="10972800" cy="5486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2200" b="0">
                <a:solidFill>
                  <a:srgbClr val="FFFFFF"/>
                </a:solidFill>
                <a:latin typeface="Calibri"/>
              </a:rPr>
              <a:t>School: hmooney@eastwickprep.k12.nj.us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40080" y="4023360"/>
            <a:ext cx="10972800" cy="5486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2200" b="0">
                <a:solidFill>
                  <a:srgbClr val="FFFFFF"/>
                </a:solidFill>
                <a:latin typeface="Calibri"/>
              </a:rPr>
              <a:t>Morning help: Tuesdays and Thursdays, 7:00 - 7:30 AM, Room 204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40080" y="4663440"/>
            <a:ext cx="10972800" cy="5486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2200" b="0">
                <a:solidFill>
                  <a:srgbClr val="FFFFFF"/>
                </a:solidFill>
                <a:latin typeface="Calibri"/>
              </a:rPr>
              <a:t>Blog: harimooney.org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40080" y="6217920"/>
            <a:ext cx="1097280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400" b="0">
                <a:solidFill>
                  <a:srgbClr val="E9C66B"/>
                </a:solidFill>
                <a:latin typeface="Calibri"/>
              </a:rPr>
              <a:t>Thank you for being here tonight.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