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4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0" y="0"/>
            <a:ext cx="5029200" cy="6858000"/>
          </a:xfrm>
          <a:prstGeom prst="rect">
            <a:avLst/>
          </a:prstGeom>
          <a:solidFill>
            <a:srgbClr val="1F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0"/>
            <a:ext cx="9144000" cy="73152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852160"/>
            <a:ext cx="9144000" cy="73152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54864" cy="411480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NURSING CAREER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0D080"/>
                </a:solidFill>
                <a:latin typeface="Calibri"/>
              </a:rPr>
              <a:t>PATH 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0D0B0"/>
                </a:solidFill>
                <a:latin typeface="Calibri"/>
              </a:rPr>
              <a:t>Pre-Nursing to RN and Beyond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0B090"/>
                </a:solidFill>
                <a:latin typeface="Calibri"/>
              </a:rPr>
              <a:t>Cedarbrook University  |  Department of Nursing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572000"/>
            <a:ext cx="2743200" cy="777240"/>
          </a:xfrm>
          <a:prstGeom prst="rect">
            <a:avLst/>
          </a:prstGeom>
          <a:solidFill>
            <a:srgbClr val="1F5C38"/>
          </a:solidFill>
          <a:ln w="12700">
            <a:solidFill>
              <a:srgbClr val="C8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4636008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0D080"/>
                </a:solidFill>
                <a:latin typeface="Calibri"/>
              </a:rPr>
              <a:t>Hassan Blanchard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98348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Pre-Nursing, Class of 2028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4406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7060"/>
                </a:solidFill>
                <a:latin typeface="Calibri"/>
              </a:rPr>
              <a:t>Student ID 100482237  |  Academic Year 2025-2026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4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Nursing Career Landscape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43000"/>
            <a:ext cx="8412480" cy="54864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4D2E"/>
                </a:solidFill>
                <a:latin typeface="Calibri"/>
              </a:rPr>
              <a:t>Why Nursing - The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47088"/>
            <a:ext cx="256032" cy="256032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79552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A1F12"/>
                </a:solidFill>
                <a:latin typeface="Calibri"/>
              </a:rPr>
              <a:t>U.S. Bureau of Labor Statistics projects 6% RN growth 2022-2032 - 177,400 new positions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86000"/>
            <a:ext cx="256032" cy="256032"/>
          </a:xfrm>
          <a:prstGeom prst="rect">
            <a:avLst/>
          </a:prstGeom>
          <a:solidFill>
            <a:srgbClr val="2D7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76272"/>
            <a:ext cx="79552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A1F12"/>
                </a:solidFill>
                <a:latin typeface="Calibri"/>
              </a:rPr>
              <a:t>Median RN salary $81,220/year nationally; $72,000-85,000 in Atlanta metro market (2024)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724912"/>
            <a:ext cx="256032" cy="256032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615184"/>
            <a:ext cx="79552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A1F12"/>
                </a:solidFill>
                <a:latin typeface="Calibri"/>
              </a:rPr>
              <a:t>Critical shortage in community health, geriatrics, and mental health nursing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163824"/>
            <a:ext cx="256032" cy="256032"/>
          </a:xfrm>
          <a:prstGeom prst="rect">
            <a:avLst/>
          </a:prstGeom>
          <a:solidFill>
            <a:srgbClr val="2D7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054096"/>
            <a:ext cx="79552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A1F12"/>
                </a:solidFill>
                <a:latin typeface="Calibri"/>
              </a:rPr>
              <a:t>BSN-preferred hiring across major hospital systems including Emory, Piedmont, Grady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611880"/>
            <a:ext cx="8412480" cy="54864"/>
          </a:xfrm>
          <a:prstGeom prst="rect">
            <a:avLst/>
          </a:prstGeom>
          <a:solidFill>
            <a:srgbClr val="2D7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749039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4D2E"/>
                </a:solidFill>
                <a:latin typeface="Calibri"/>
              </a:rPr>
              <a:t>Nursing Specialization Options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206240"/>
            <a:ext cx="4114800" cy="685800"/>
          </a:xfrm>
          <a:prstGeom prst="rect">
            <a:avLst/>
          </a:prstGeom>
          <a:solidFill>
            <a:srgbClr val="E8F5EE"/>
          </a:solidFill>
          <a:ln w="12700">
            <a:solidFill>
              <a:srgbClr val="2D7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242816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7A50"/>
                </a:solidFill>
                <a:latin typeface="Calibri"/>
              </a:rPr>
              <a:t>Community Health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4242816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A1F12"/>
                </a:solidFill>
                <a:latin typeface="Calibri"/>
              </a:rPr>
              <a:t>Serves underserved populations, public health initiatives, HEP-aligned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63440" y="4206240"/>
            <a:ext cx="4114800" cy="685800"/>
          </a:xfrm>
          <a:prstGeom prst="rect">
            <a:avLst/>
          </a:prstGeom>
          <a:solidFill>
            <a:srgbClr val="E8F5EE"/>
          </a:solidFill>
          <a:ln w="12700">
            <a:solidFill>
              <a:srgbClr val="52B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0" y="4242816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2B37A"/>
                </a:solidFill>
                <a:latin typeface="Calibri"/>
              </a:rPr>
              <a:t>Medical-Surgical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242816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A1F12"/>
                </a:solidFill>
                <a:latin typeface="Calibri"/>
              </a:rPr>
              <a:t>Broad generalist foundation, hospital entry point, procedural skills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983479"/>
            <a:ext cx="4114800" cy="685800"/>
          </a:xfrm>
          <a:prstGeom prst="rect">
            <a:avLst/>
          </a:prstGeom>
          <a:solidFill>
            <a:srgbClr val="E8F5EE"/>
          </a:solidFill>
          <a:ln w="12700">
            <a:solidFill>
              <a:srgbClr val="C8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020055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8A84B"/>
                </a:solidFill>
                <a:latin typeface="Calibri"/>
              </a:rPr>
              <a:t>Geriatrics / Gerontology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57400" y="5020055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A1F12"/>
                </a:solidFill>
                <a:latin typeface="Calibri"/>
              </a:rPr>
              <a:t>High demand, elder care specialization, relevant to family (Grandma Mabel)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63440" y="4983479"/>
            <a:ext cx="4114800" cy="685800"/>
          </a:xfrm>
          <a:prstGeom prst="rect">
            <a:avLst/>
          </a:prstGeom>
          <a:solidFill>
            <a:srgbClr val="E8F5EE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0" y="5020055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392B"/>
                </a:solidFill>
                <a:latin typeface="Calibri"/>
              </a:rPr>
              <a:t>Emergency / ICU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5020055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A1F12"/>
                </a:solidFill>
                <a:latin typeface="Calibri"/>
              </a:rPr>
              <a:t>High acuity, competitive, requires strong A&amp;P and pharmacology base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0" y="5760720"/>
            <a:ext cx="4572000" cy="685800"/>
          </a:xfrm>
          <a:prstGeom prst="rect">
            <a:avLst/>
          </a:prstGeom>
          <a:solidFill>
            <a:srgbClr val="E8F5EE"/>
          </a:solidFill>
          <a:ln w="12700">
            <a:solidFill>
              <a:srgbClr val="2D7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77440" y="5797296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7A50"/>
                </a:solidFill>
                <a:latin typeface="Calibri"/>
              </a:rPr>
              <a:t>Community / Outpatient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77640" y="5797296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A1F12"/>
                </a:solidFill>
                <a:latin typeface="Calibri"/>
              </a:rPr>
              <a:t>Clinics and home health, lower intensity, work-life flexibility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4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Educational Path - Step by Step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8595360" cy="1600200"/>
          </a:xfrm>
          <a:prstGeom prst="rect">
            <a:avLst/>
          </a:prstGeom>
          <a:solidFill>
            <a:srgbClr val="E8F5EE"/>
          </a:solidFill>
          <a:ln w="12700">
            <a:solidFill>
              <a:srgbClr val="2D7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1234440" cy="1600200"/>
          </a:xfrm>
          <a:prstGeom prst="rect">
            <a:avLst/>
          </a:prstGeom>
          <a:solidFill>
            <a:srgbClr val="2D7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2608" y="137160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Phase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" y="1828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D0F0E0"/>
                </a:solidFill>
                <a:latin typeface="Calibri"/>
              </a:rPr>
              <a:t>2025-2027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243584"/>
            <a:ext cx="7086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4D2E"/>
                </a:solidFill>
                <a:latin typeface="Calibri"/>
              </a:rPr>
              <a:t>Pre-Nursing Prerequisites (Current)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664208"/>
            <a:ext cx="7086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A1F12"/>
                </a:solidFill>
                <a:latin typeface="Calibri"/>
              </a:rPr>
              <a:t>- A&amp;P I and II (Okafor) - GPA foundation required minimum 2.5 for nursing admission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002536"/>
            <a:ext cx="7086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A1F12"/>
                </a:solidFill>
                <a:latin typeface="Calibri"/>
              </a:rPr>
              <a:t>- Pharmacology NURS 2300 - drug classification and clinical 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340864"/>
            <a:ext cx="7086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A1F12"/>
                </a:solidFill>
                <a:latin typeface="Calibri"/>
              </a:rPr>
              <a:t>- Health Assessment NURS 2250 - physical examination and documentation skills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926080"/>
            <a:ext cx="8595360" cy="1600200"/>
          </a:xfrm>
          <a:prstGeom prst="rect">
            <a:avLst/>
          </a:prstGeom>
          <a:solidFill>
            <a:srgbClr val="E8F5EE"/>
          </a:solidFill>
          <a:ln w="12700">
            <a:solidFill>
              <a:srgbClr val="52B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926080"/>
            <a:ext cx="1234440" cy="1600200"/>
          </a:xfrm>
          <a:prstGeom prst="rect">
            <a:avLst/>
          </a:prstGeom>
          <a:solidFill>
            <a:srgbClr val="52B3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" y="310896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Phase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" y="35661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D0F0E0"/>
                </a:solidFill>
                <a:latin typeface="Calibri"/>
              </a:rPr>
              <a:t>2027-2028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980944"/>
            <a:ext cx="7086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4D2E"/>
                </a:solidFill>
                <a:latin typeface="Calibri"/>
              </a:rPr>
              <a:t>Nursing Program Admission and First Year (BSN)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401568"/>
            <a:ext cx="7086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A1F12"/>
                </a:solidFill>
                <a:latin typeface="Calibri"/>
              </a:rPr>
              <a:t>- Apply to Cedarbrook BSN program spring 2027 - GPA 3.0+ competitive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3739896"/>
            <a:ext cx="7086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A1F12"/>
                </a:solidFill>
                <a:latin typeface="Calibri"/>
              </a:rPr>
              <a:t>- Fundamentals of Nursing - clinical labs begin, skill competency testing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4078224"/>
            <a:ext cx="7086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A1F12"/>
                </a:solidFill>
                <a:latin typeface="Calibri"/>
              </a:rPr>
              <a:t>- Pathophysiology and advanced pharmacology - builds on NURS 2300 base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663440"/>
            <a:ext cx="8595360" cy="1600200"/>
          </a:xfrm>
          <a:prstGeom prst="rect">
            <a:avLst/>
          </a:prstGeom>
          <a:solidFill>
            <a:srgbClr val="E8F5EE"/>
          </a:solidFill>
          <a:ln w="12700">
            <a:solidFill>
              <a:srgbClr val="C8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4663440"/>
            <a:ext cx="1234440" cy="160020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2608" y="484632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Phase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" y="53035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D0F0E0"/>
                </a:solidFill>
                <a:latin typeface="Calibri"/>
              </a:rPr>
              <a:t>2028-2029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4718304"/>
            <a:ext cx="7086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4D2E"/>
                </a:solidFill>
                <a:latin typeface="Calibri"/>
              </a:rPr>
              <a:t>Advanced Nursing and Specialization Track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5138928"/>
            <a:ext cx="7086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A1F12"/>
                </a:solidFill>
                <a:latin typeface="Calibri"/>
              </a:rPr>
              <a:t>- Medical-surgical clinical rotations at Emory or Grady Memorial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00200" y="5477256"/>
            <a:ext cx="7086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A1F12"/>
                </a:solidFill>
                <a:latin typeface="Calibri"/>
              </a:rPr>
              <a:t>- Specialty track selection: community health, geriatrics, or med-surg general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5815584"/>
            <a:ext cx="7086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A1F12"/>
                </a:solidFill>
                <a:latin typeface="Calibri"/>
              </a:rPr>
              <a:t>- Preceptorship - extended placement 120+ hours with supervising nurse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4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NCLEX-RN Preparation Strategy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4114800" cy="5394960"/>
          </a:xfrm>
          <a:prstGeom prst="rect">
            <a:avLst/>
          </a:prstGeom>
          <a:solidFill>
            <a:srgbClr val="E8F5EE"/>
          </a:solidFill>
          <a:ln w="12700">
            <a:solidFill>
              <a:srgbClr val="2D7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63440" y="1097280"/>
            <a:ext cx="411480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4114800" cy="384048"/>
          </a:xfrm>
          <a:prstGeom prst="rect">
            <a:avLst/>
          </a:prstGeom>
          <a:solidFill>
            <a:srgbClr val="2D7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15568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NCLEX-RN Format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D7A50"/>
                </a:solidFill>
                <a:latin typeface="Calibri"/>
              </a:rPr>
              <a:t>Format: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554480"/>
            <a:ext cx="2697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A1F12"/>
                </a:solidFill>
                <a:latin typeface="Calibri"/>
              </a:rPr>
              <a:t>Computer Adaptive Testing (CAT)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67128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D7A50"/>
                </a:solidFill>
                <a:latin typeface="Calibri"/>
              </a:rPr>
              <a:t>Questions: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167128"/>
            <a:ext cx="2697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A1F12"/>
                </a:solidFill>
                <a:latin typeface="Calibri"/>
              </a:rPr>
              <a:t>85 to 145 questions (passes when competency demonstrated)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79776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D7A50"/>
                </a:solidFill>
                <a:latin typeface="Calibri"/>
              </a:rPr>
              <a:t>Time Limit: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779776"/>
            <a:ext cx="2697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A1F12"/>
                </a:solidFill>
                <a:latin typeface="Calibri"/>
              </a:rPr>
              <a:t>5 hours maximum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392424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D7A50"/>
                </a:solidFill>
                <a:latin typeface="Calibri"/>
              </a:rPr>
              <a:t>Types: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392424"/>
            <a:ext cx="2697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A1F12"/>
                </a:solidFill>
                <a:latin typeface="Calibri"/>
              </a:rPr>
              <a:t>Multiple choice, select all, drag-and-drop, priority ordering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005072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D7A50"/>
                </a:solidFill>
                <a:latin typeface="Calibri"/>
              </a:rPr>
              <a:t>Content: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4005072"/>
            <a:ext cx="2697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A1F12"/>
                </a:solidFill>
                <a:latin typeface="Calibri"/>
              </a:rPr>
              <a:t>Safe care: 17-23%, Health promotion: 6-12%, Psych: 6-12%, Pharm: 12-18%, Reduction of risk: 9-15%, Physiological: 38-44%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617720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D7A50"/>
                </a:solidFill>
                <a:latin typeface="Calibri"/>
              </a:rPr>
              <a:t>Pass Rate: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617720"/>
            <a:ext cx="2697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A1F12"/>
                </a:solidFill>
                <a:latin typeface="Calibri"/>
              </a:rPr>
              <a:t>National 85-90% for BSN graduates on first attempt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230368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D7A50"/>
                </a:solidFill>
                <a:latin typeface="Calibri"/>
              </a:rPr>
              <a:t>Eligibility: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5230368"/>
            <a:ext cx="2697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A1F12"/>
                </a:solidFill>
                <a:latin typeface="Calibri"/>
              </a:rPr>
              <a:t>Apply through Georgia Board of Nursing after graduation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63440" y="1097280"/>
            <a:ext cx="4114800" cy="384048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0" y="1115568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A1F12"/>
                </a:solidFill>
                <a:latin typeface="Calibri"/>
              </a:rPr>
              <a:t>Study Strategy for Hassan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63440" y="1554480"/>
            <a:ext cx="4114800" cy="713232"/>
          </a:xfrm>
          <a:prstGeom prst="rect">
            <a:avLst/>
          </a:prstGeom>
          <a:solidFill>
            <a:srgbClr val="F8F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0" y="1609344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4D2E"/>
                </a:solidFill>
                <a:latin typeface="Calibri"/>
              </a:rPr>
              <a:t>Build from prereqs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192024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A1F12"/>
                </a:solidFill>
                <a:latin typeface="Calibri"/>
              </a:rPr>
              <a:t>Strong pharmacology base = NCLEX advantage. NURS 2300 content directly maps to 12-18% of exam.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63440" y="2331720"/>
            <a:ext cx="41148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54880" y="2386584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4D2E"/>
                </a:solidFill>
                <a:latin typeface="Calibri"/>
              </a:rPr>
              <a:t>UWorld question banks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269748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A1F12"/>
                </a:solidFill>
                <a:latin typeface="Calibri"/>
              </a:rPr>
              <a:t>1,000+ questions before exam. Rationale review is as important as answer selection.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63440" y="3108960"/>
            <a:ext cx="4114800" cy="713232"/>
          </a:xfrm>
          <a:prstGeom prst="rect">
            <a:avLst/>
          </a:prstGeom>
          <a:solidFill>
            <a:srgbClr val="F8F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0" y="3163824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4D2E"/>
                </a:solidFill>
                <a:latin typeface="Calibri"/>
              </a:rPr>
              <a:t>NCLEX-PN first (optional)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347472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A1F12"/>
                </a:solidFill>
                <a:latin typeface="Calibri"/>
              </a:rPr>
              <a:t>Some students sit for PN exam after clinical rotations as diagnostic baseline.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63440" y="3886200"/>
            <a:ext cx="41148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54880" y="3941064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4D2E"/>
                </a:solidFill>
                <a:latin typeface="Calibri"/>
              </a:rPr>
              <a:t>Kaplan or ATI prep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80" y="425196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A1F12"/>
                </a:solidFill>
                <a:latin typeface="Calibri"/>
              </a:rPr>
              <a:t>Cedarbrook integrates ATI into nursing curriculum - use all test banks during coursework.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63440" y="4663440"/>
            <a:ext cx="4114800" cy="713232"/>
          </a:xfrm>
          <a:prstGeom prst="rect">
            <a:avLst/>
          </a:prstGeom>
          <a:solidFill>
            <a:srgbClr val="F8F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54880" y="4718304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4D2E"/>
                </a:solidFill>
                <a:latin typeface="Calibri"/>
              </a:rPr>
              <a:t>Content review focus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0" y="502920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A1F12"/>
                </a:solidFill>
                <a:latin typeface="Calibri"/>
              </a:rPr>
              <a:t>Prioritize: cardiac medications, fluid and electrolyte balance, priority setting, safety.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4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Financial Planning - Nursing School Costs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4D2E"/>
                </a:solidFill>
                <a:latin typeface="Calibri"/>
              </a:rPr>
              <a:t>Cedarbrook Annual Cost Breakdown (Estimated 2026-2027)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00200"/>
            <a:ext cx="8412480" cy="384048"/>
          </a:xfrm>
          <a:prstGeom prst="rect">
            <a:avLst/>
          </a:prstGeom>
          <a:solidFill>
            <a:srgbClr val="1A4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1848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Category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0" y="161848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Est. Cost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7720" y="1618488"/>
            <a:ext cx="4069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Notes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984248"/>
            <a:ext cx="8412480" cy="521207"/>
          </a:xfrm>
          <a:prstGeom prst="rect">
            <a:avLst/>
          </a:prstGeom>
          <a:solidFill>
            <a:srgbClr val="E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048256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A1F12"/>
                </a:solidFill>
                <a:latin typeface="Calibri"/>
              </a:rPr>
              <a:t>Tuition (BSN program)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048256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A1F12"/>
                </a:solidFill>
                <a:latin typeface="Calibri"/>
              </a:rPr>
              <a:t>$12,800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048256"/>
            <a:ext cx="4069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A1F12"/>
                </a:solidFill>
                <a:latin typeface="Calibri"/>
              </a:rPr>
              <a:t>30% higher than pre-nursing due to clinical lab fees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551176"/>
            <a:ext cx="8412480" cy="5212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615184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A1F12"/>
                </a:solidFill>
                <a:latin typeface="Calibri"/>
              </a:rPr>
              <a:t>Room and Board (Maynard Hall)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615184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A1F12"/>
                </a:solidFill>
                <a:latin typeface="Calibri"/>
              </a:rPr>
              <a:t>$7,400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615184"/>
            <a:ext cx="4069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A1F12"/>
                </a:solidFill>
                <a:latin typeface="Calibri"/>
              </a:rPr>
              <a:t>Standard double room; meal plan required for first two years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118104"/>
            <a:ext cx="8412480" cy="521207"/>
          </a:xfrm>
          <a:prstGeom prst="rect">
            <a:avLst/>
          </a:prstGeom>
          <a:solidFill>
            <a:srgbClr val="E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18211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A1F12"/>
                </a:solidFill>
                <a:latin typeface="Calibri"/>
              </a:rPr>
              <a:t>Books and Nursing Supplies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3182112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A1F12"/>
                </a:solidFill>
                <a:latin typeface="Calibri"/>
              </a:rPr>
              <a:t>$1,200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3182112"/>
            <a:ext cx="4069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A1F12"/>
                </a:solidFill>
                <a:latin typeface="Calibri"/>
              </a:rPr>
              <a:t>Stethoscope, blood pressure cuff, clinical uniforms, ATI subscription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685031"/>
            <a:ext cx="8412480" cy="5212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749039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A1F12"/>
                </a:solidFill>
                <a:latin typeface="Calibri"/>
              </a:rPr>
              <a:t>Clinical Site Transportation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3749039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A1F12"/>
                </a:solidFill>
                <a:latin typeface="Calibri"/>
              </a:rPr>
              <a:t>$420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3749039"/>
            <a:ext cx="4069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A1F12"/>
                </a:solidFill>
                <a:latin typeface="Calibri"/>
              </a:rPr>
              <a:t>MARTA Breeze reloads for off-campus rotations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251960"/>
            <a:ext cx="8412480" cy="521207"/>
          </a:xfrm>
          <a:prstGeom prst="rect">
            <a:avLst/>
          </a:prstGeom>
          <a:solidFill>
            <a:srgbClr val="E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315968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A1F12"/>
                </a:solidFill>
                <a:latin typeface="Calibri"/>
              </a:rPr>
              <a:t>Personal/Misc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4315968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A1F12"/>
                </a:solidFill>
                <a:latin typeface="Calibri"/>
              </a:rPr>
              <a:t>$2,400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4315968"/>
            <a:ext cx="4069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A1F12"/>
                </a:solidFill>
                <a:latin typeface="Calibri"/>
              </a:rPr>
              <a:t>Haircuts, dining out, personal care, entertainment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818888"/>
            <a:ext cx="8412480" cy="521207"/>
          </a:xfrm>
          <a:prstGeom prst="rect">
            <a:avLst/>
          </a:prstGeom>
          <a:solidFill>
            <a:srgbClr val="E0F5E8"/>
          </a:solidFill>
          <a:ln w="12700">
            <a:solidFill>
              <a:srgbClr val="52B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882896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4D2E"/>
                </a:solidFill>
                <a:latin typeface="Calibri"/>
              </a:rPr>
              <a:t>TOTAL Annual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9000" y="4882896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D7A50"/>
                </a:solidFill>
                <a:latin typeface="Calibri"/>
              </a:rPr>
              <a:t>$24,220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720" y="4882896"/>
            <a:ext cx="4069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A1F12"/>
                </a:solidFill>
                <a:latin typeface="Calibri"/>
              </a:rPr>
              <a:t>Before financial aid application and scholarship offsets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55955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4D2E"/>
                </a:solidFill>
                <a:latin typeface="Calibri"/>
              </a:rPr>
              <a:t>Aid and Income Offsets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943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A1F12"/>
                </a:solidFill>
                <a:latin typeface="Calibri"/>
              </a:rPr>
              <a:t>Pell Grant (expected)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0" y="59436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2D7A50"/>
                </a:solidFill>
                <a:latin typeface="Calibri"/>
              </a:rPr>
              <a:t>-$7,395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943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A1F12"/>
                </a:solidFill>
                <a:latin typeface="Calibri"/>
              </a:rPr>
              <a:t>Cedarbrook Institutional Aid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59436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2D7A50"/>
                </a:solidFill>
                <a:latin typeface="Calibri"/>
              </a:rPr>
              <a:t>-$4,200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5943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A1F12"/>
                </a:solidFill>
                <a:latin typeface="Calibri"/>
              </a:rPr>
              <a:t>HEP Scholarship (if 40 hrs by May)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0" y="59436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2D7A50"/>
                </a:solidFill>
                <a:latin typeface="Calibri"/>
              </a:rPr>
              <a:t>-$1,500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943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A1F12"/>
                </a:solidFill>
                <a:latin typeface="Calibri"/>
              </a:rPr>
              <a:t>Dining Hall Wages (~12 hrs/week)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0" y="59436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2D7A50"/>
                </a:solidFill>
                <a:latin typeface="Calibri"/>
              </a:rPr>
              <a:t>-$3,600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5943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D7A50"/>
                </a:solidFill>
                <a:latin typeface="Calibri"/>
              </a:rPr>
              <a:t>NET ESTIMATED GAP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0" y="59436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C0392B"/>
                </a:solidFill>
                <a:latin typeface="Calibri"/>
              </a:rPr>
              <a:t>$7,525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4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Skills Assessment - Current vs Required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4D2E"/>
                </a:solidFill>
                <a:latin typeface="Calibri"/>
              </a:rPr>
              <a:t>Skill Area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114300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4D2E"/>
                </a:solidFill>
                <a:latin typeface="Calibri"/>
              </a:rPr>
              <a:t>Current Level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14300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8A84B"/>
                </a:solidFill>
                <a:latin typeface="Calibri"/>
              </a:rPr>
              <a:t>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114300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4D2E"/>
                </a:solidFill>
                <a:latin typeface="Calibri"/>
              </a:rPr>
              <a:t>Focus Note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43000"/>
            <a:ext cx="8412480" cy="36576"/>
          </a:xfrm>
          <a:prstGeom prst="rect">
            <a:avLst/>
          </a:prstGeom>
          <a:solidFill>
            <a:srgbClr val="2D7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554480"/>
            <a:ext cx="8412480" cy="658368"/>
          </a:xfrm>
          <a:prstGeom prst="rect">
            <a:avLst/>
          </a:prstGeom>
          <a:solidFill>
            <a:srgbClr val="E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64208"/>
            <a:ext cx="2788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A1F12"/>
                </a:solidFill>
                <a:latin typeface="Calibri"/>
              </a:rPr>
              <a:t>Anatomy and Physiology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737360"/>
            <a:ext cx="1280160" cy="301752"/>
          </a:xfrm>
          <a:prstGeom prst="rect">
            <a:avLst/>
          </a:prstGeom>
          <a:solidFill>
            <a:srgbClr val="D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737360"/>
            <a:ext cx="921715" cy="301752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2057400"/>
            <a:ext cx="12801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A7060"/>
                </a:solidFill>
                <a:latin typeface="Calibri"/>
              </a:rPr>
              <a:t>72%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1664208"/>
            <a:ext cx="914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8A84B"/>
                </a:solidFill>
                <a:latin typeface="Calibri"/>
              </a:rPr>
              <a:t>85%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1627632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A1F12"/>
                </a:solidFill>
                <a:latin typeface="Calibri"/>
              </a:rPr>
              <a:t>Fall 2026 A&amp;P II in progress - building on strong lab performance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267712"/>
            <a:ext cx="84124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377440"/>
            <a:ext cx="2788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A1F12"/>
                </a:solidFill>
                <a:latin typeface="Calibri"/>
              </a:rPr>
              <a:t>Pharmacology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91840" y="2450592"/>
            <a:ext cx="1280160" cy="301752"/>
          </a:xfrm>
          <a:prstGeom prst="rect">
            <a:avLst/>
          </a:prstGeom>
          <a:solidFill>
            <a:srgbClr val="D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91840" y="2450592"/>
            <a:ext cx="793699" cy="3017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91840" y="2770632"/>
            <a:ext cx="12801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A7060"/>
                </a:solidFill>
                <a:latin typeface="Calibri"/>
              </a:rPr>
              <a:t>62%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2377440"/>
            <a:ext cx="914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8A84B"/>
                </a:solidFill>
                <a:latin typeface="Calibri"/>
              </a:rPr>
              <a:t>80%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2340864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A1F12"/>
                </a:solidFill>
                <a:latin typeface="Calibri"/>
              </a:rPr>
              <a:t>81% on Fall 2025 midterm; cardiovascular drugs are weak area identified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980944"/>
            <a:ext cx="8412480" cy="658368"/>
          </a:xfrm>
          <a:prstGeom prst="rect">
            <a:avLst/>
          </a:prstGeom>
          <a:solidFill>
            <a:srgbClr val="E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090672"/>
            <a:ext cx="2788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A1F12"/>
                </a:solidFill>
                <a:latin typeface="Calibri"/>
              </a:rPr>
              <a:t>Dosage Calculation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91840" y="3163824"/>
            <a:ext cx="1280160" cy="301752"/>
          </a:xfrm>
          <a:prstGeom prst="rect">
            <a:avLst/>
          </a:prstGeom>
          <a:solidFill>
            <a:srgbClr val="D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91840" y="3163824"/>
            <a:ext cx="1126540" cy="301752"/>
          </a:xfrm>
          <a:prstGeom prst="rect">
            <a:avLst/>
          </a:prstGeom>
          <a:solidFill>
            <a:srgbClr val="2D7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91840" y="3483864"/>
            <a:ext cx="12801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A7060"/>
                </a:solidFill>
                <a:latin typeface="Calibri"/>
              </a:rPr>
              <a:t>88%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3090672"/>
            <a:ext cx="914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D7A50"/>
                </a:solidFill>
                <a:latin typeface="Calibri"/>
              </a:rPr>
              <a:t>90%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3054096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A1F12"/>
                </a:solidFill>
                <a:latin typeface="Calibri"/>
              </a:rPr>
              <a:t>Strongest area from prior assessment - maintain practice daily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694176"/>
            <a:ext cx="84124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803904"/>
            <a:ext cx="2788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A1F12"/>
                </a:solidFill>
                <a:latin typeface="Calibri"/>
              </a:rPr>
              <a:t>Patient Communication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91840" y="3877056"/>
            <a:ext cx="1280160" cy="301752"/>
          </a:xfrm>
          <a:prstGeom prst="rect">
            <a:avLst/>
          </a:prstGeom>
          <a:solidFill>
            <a:srgbClr val="D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91840" y="3877056"/>
            <a:ext cx="960120" cy="301752"/>
          </a:xfrm>
          <a:prstGeom prst="rect">
            <a:avLst/>
          </a:prstGeom>
          <a:solidFill>
            <a:srgbClr val="2D7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91840" y="4197096"/>
            <a:ext cx="12801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A7060"/>
                </a:solidFill>
                <a:latin typeface="Calibri"/>
              </a:rPr>
              <a:t>75%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80" y="3803904"/>
            <a:ext cx="914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8A84B"/>
                </a:solidFill>
                <a:latin typeface="Calibri"/>
              </a:rPr>
              <a:t>85%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52160" y="3767328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A1F12"/>
                </a:solidFill>
                <a:latin typeface="Calibri"/>
              </a:rPr>
              <a:t>HEP event experience significantly improving this skill set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4407408"/>
            <a:ext cx="8412480" cy="658368"/>
          </a:xfrm>
          <a:prstGeom prst="rect">
            <a:avLst/>
          </a:prstGeom>
          <a:solidFill>
            <a:srgbClr val="E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4517136"/>
            <a:ext cx="2788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A1F12"/>
                </a:solidFill>
                <a:latin typeface="Calibri"/>
              </a:rPr>
              <a:t>Physical Assessment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91840" y="4590288"/>
            <a:ext cx="1280160" cy="301752"/>
          </a:xfrm>
          <a:prstGeom prst="rect">
            <a:avLst/>
          </a:prstGeom>
          <a:solidFill>
            <a:srgbClr val="D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291840" y="4590288"/>
            <a:ext cx="768096" cy="3017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91840" y="4910328"/>
            <a:ext cx="12801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A7060"/>
                </a:solidFill>
                <a:latin typeface="Calibri"/>
              </a:rPr>
              <a:t>60%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54880" y="4517136"/>
            <a:ext cx="914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8A84B"/>
                </a:solidFill>
                <a:latin typeface="Calibri"/>
              </a:rPr>
              <a:t>85%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52160" y="448056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A1F12"/>
                </a:solidFill>
                <a:latin typeface="Calibri"/>
              </a:rPr>
              <a:t>Health Assessment course directly addresses gap - Oct-Dec 2026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5120640"/>
            <a:ext cx="84124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5230368"/>
            <a:ext cx="2788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A1F12"/>
                </a:solidFill>
                <a:latin typeface="Calibri"/>
              </a:rPr>
              <a:t>Documentation/Charting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91840" y="5303520"/>
            <a:ext cx="1280160" cy="301752"/>
          </a:xfrm>
          <a:prstGeom prst="rect">
            <a:avLst/>
          </a:prstGeom>
          <a:solidFill>
            <a:srgbClr val="D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291840" y="5303520"/>
            <a:ext cx="704088" cy="3017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91840" y="5623560"/>
            <a:ext cx="12801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A7060"/>
                </a:solidFill>
                <a:latin typeface="Calibri"/>
              </a:rPr>
              <a:t>55%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54880" y="5230368"/>
            <a:ext cx="914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8A84B"/>
                </a:solidFill>
                <a:latin typeface="Calibri"/>
              </a:rPr>
              <a:t>80%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52160" y="5193792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A1F12"/>
                </a:solidFill>
                <a:latin typeface="Calibri"/>
              </a:rPr>
              <a:t>Developing via advising forms and clinical preparation exercises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5760" y="5833872"/>
            <a:ext cx="8412480" cy="658368"/>
          </a:xfrm>
          <a:prstGeom prst="rect">
            <a:avLst/>
          </a:prstGeom>
          <a:solidFill>
            <a:srgbClr val="E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" y="5943600"/>
            <a:ext cx="2788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A1F12"/>
                </a:solidFill>
                <a:latin typeface="Calibri"/>
              </a:rPr>
              <a:t>Critical Thinking/Priority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91840" y="6016752"/>
            <a:ext cx="1280160" cy="301752"/>
          </a:xfrm>
          <a:prstGeom prst="rect">
            <a:avLst/>
          </a:prstGeom>
          <a:solidFill>
            <a:srgbClr val="D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291840" y="6016752"/>
            <a:ext cx="832104" cy="301752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91840" y="6336792"/>
            <a:ext cx="12801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A7060"/>
                </a:solidFill>
                <a:latin typeface="Calibri"/>
              </a:rPr>
              <a:t>65%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754880" y="5943600"/>
            <a:ext cx="914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8A84B"/>
                </a:solidFill>
                <a:latin typeface="Calibri"/>
              </a:rPr>
              <a:t>85%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52160" y="5907024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A1F12"/>
                </a:solidFill>
                <a:latin typeface="Calibri"/>
              </a:rPr>
              <a:t>NCLEX-style question practice needed; improving through coursework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4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Specialization Spotlight - Community Health Nursing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4114800" cy="5394960"/>
          </a:xfrm>
          <a:prstGeom prst="rect">
            <a:avLst/>
          </a:prstGeom>
          <a:solidFill>
            <a:srgbClr val="E8F5EE"/>
          </a:solidFill>
          <a:ln w="12700">
            <a:solidFill>
              <a:srgbClr val="2D7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63440" y="1097280"/>
            <a:ext cx="411480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4114800" cy="384048"/>
          </a:xfrm>
          <a:prstGeom prst="rect">
            <a:avLst/>
          </a:prstGeom>
          <a:solidFill>
            <a:srgbClr val="1A4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15568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What Community Health Nurses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3931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0A1F12"/>
                </a:solidFill>
                <a:latin typeface="Calibri"/>
              </a:rPr>
              <a:t>- Conduct home visits for patients with chronic conditions (diabetes, CHF, hypertension)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03120"/>
            <a:ext cx="3931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0A1F12"/>
                </a:solidFill>
                <a:latin typeface="Calibri"/>
              </a:rPr>
              <a:t>- Provide disease prevention education in community settings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33472"/>
            <a:ext cx="3931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0A1F12"/>
                </a:solidFill>
                <a:latin typeface="Calibri"/>
              </a:rPr>
              <a:t>- Coordinate care between primary care, specialists, and social services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163824"/>
            <a:ext cx="3931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0A1F12"/>
                </a:solidFill>
                <a:latin typeface="Calibri"/>
              </a:rPr>
              <a:t>- Run and staff community health fairs and free screening events (direct HEP parallel)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694176"/>
            <a:ext cx="3931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0A1F12"/>
                </a:solidFill>
                <a:latin typeface="Calibri"/>
              </a:rPr>
              <a:t>- Advocate for public health policy and environmental health access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224528"/>
            <a:ext cx="3931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0A1F12"/>
                </a:solidFill>
                <a:latin typeface="Calibri"/>
              </a:rPr>
              <a:t>- Work in school health, occupational health, and correctional facilities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754879"/>
            <a:ext cx="3931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0A1F12"/>
                </a:solidFill>
                <a:latin typeface="Calibri"/>
              </a:rPr>
              <a:t>- Collaborative with social workers on food security and housing health connections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1097280"/>
            <a:ext cx="4114800" cy="384048"/>
          </a:xfrm>
          <a:prstGeom prst="rect">
            <a:avLst/>
          </a:prstGeom>
          <a:solidFill>
            <a:srgbClr val="2D7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1115568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Why This Fits Hassan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1572768"/>
            <a:ext cx="4114800" cy="731520"/>
          </a:xfrm>
          <a:prstGeom prst="rect">
            <a:avLst/>
          </a:prstGeom>
          <a:solidFill>
            <a:srgbClr val="F0F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0" y="1609344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7A50"/>
                </a:solidFill>
                <a:latin typeface="Calibri"/>
              </a:rPr>
              <a:t>HEP alignment: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1938528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A1F12"/>
                </a:solidFill>
                <a:latin typeface="Calibri"/>
              </a:rPr>
              <a:t>3 HEP events directly simulate community nursing workflows - BP screening, health ed, intake registration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63440" y="2377440"/>
            <a:ext cx="41148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0" y="2414016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7A50"/>
                </a:solidFill>
                <a:latin typeface="Calibri"/>
              </a:rPr>
              <a:t>Grandma Mabel context: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274320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A1F12"/>
                </a:solidFill>
                <a:latin typeface="Calibri"/>
              </a:rPr>
              <a:t>Diabetes and CHF management experience within family builds personal investment in these patient populations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63440" y="3182112"/>
            <a:ext cx="4114800" cy="731520"/>
          </a:xfrm>
          <a:prstGeom prst="rect">
            <a:avLst/>
          </a:prstGeom>
          <a:solidFill>
            <a:srgbClr val="F0F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0" y="3218688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7A50"/>
                </a:solidFill>
                <a:latin typeface="Calibri"/>
              </a:rPr>
              <a:t>Atlanta context: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3547872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A1F12"/>
                </a:solidFill>
                <a:latin typeface="Calibri"/>
              </a:rPr>
              <a:t>Westview, SW Atlanta, and surrounding neighborhoods have documented gaps in CHF and diabetes management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3986784"/>
            <a:ext cx="41148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0" y="4023360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7A50"/>
                </a:solidFill>
                <a:latin typeface="Calibri"/>
              </a:rPr>
              <a:t>Schedule flexibility: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4352544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A1F12"/>
                </a:solidFill>
                <a:latin typeface="Calibri"/>
              </a:rPr>
              <a:t>Community health often offers non-traditional hours - relevant if dining hall work continues into BSN years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63440" y="4791456"/>
            <a:ext cx="4114800" cy="731520"/>
          </a:xfrm>
          <a:prstGeom prst="rect">
            <a:avLst/>
          </a:prstGeom>
          <a:solidFill>
            <a:srgbClr val="F0F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80" y="4828032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7A50"/>
                </a:solidFill>
                <a:latin typeface="Calibri"/>
              </a:rPr>
              <a:t>Financial alignment: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5157216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A1F12"/>
                </a:solidFill>
                <a:latin typeface="Calibri"/>
              </a:rPr>
              <a:t>Community health nurse salaries range $65k-78k Atlanta; less differential than ICU but strong growth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4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90-Day Action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2834640" cy="5303520"/>
          </a:xfrm>
          <a:prstGeom prst="rect">
            <a:avLst/>
          </a:prstGeom>
          <a:solidFill>
            <a:srgbClr val="E8F5EE"/>
          </a:solidFill>
          <a:ln w="12700">
            <a:solidFill>
              <a:srgbClr val="C8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2834640" cy="41148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1161288"/>
            <a:ext cx="268833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A1F12"/>
                </a:solidFill>
                <a:latin typeface="Calibri"/>
              </a:rPr>
              <a:t>Immediate (Now - Oct 7)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645920"/>
            <a:ext cx="25603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0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709928"/>
            <a:ext cx="24231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A1F12"/>
                </a:solidFill>
                <a:latin typeface="Calibri"/>
              </a:rPr>
              <a:t>Attend Okafor office hours Tue before pharmacology midterm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651760"/>
            <a:ext cx="25603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0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2715768"/>
            <a:ext cx="24231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A1F12"/>
                </a:solidFill>
                <a:latin typeface="Calibri"/>
              </a:rPr>
              <a:t>Complete 4-hr HEP health fair Oct 18 - bring service log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3657600"/>
            <a:ext cx="25603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0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3721608"/>
            <a:ext cx="24231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A1F12"/>
                </a:solidFill>
                <a:latin typeface="Calibri"/>
              </a:rPr>
              <a:t>Finalize financial aid renewal by Oct 15 deadline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4663440"/>
            <a:ext cx="25603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0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4727448"/>
            <a:ext cx="24231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A1F12"/>
                </a:solidFill>
                <a:latin typeface="Calibri"/>
              </a:rPr>
              <a:t>Review beta blockers and diuretics this week (identified weak area)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1143000"/>
            <a:ext cx="2834640" cy="5303520"/>
          </a:xfrm>
          <a:prstGeom prst="rect">
            <a:avLst/>
          </a:prstGeom>
          <a:solidFill>
            <a:srgbClr val="E8F5EE"/>
          </a:solidFill>
          <a:ln w="12700">
            <a:solidFill>
              <a:srgbClr val="2D7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0" y="1143000"/>
            <a:ext cx="2834640" cy="411480"/>
          </a:xfrm>
          <a:prstGeom prst="rect">
            <a:avLst/>
          </a:prstGeom>
          <a:solidFill>
            <a:srgbClr val="2D7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73552" y="1161288"/>
            <a:ext cx="268833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Short Term (Oct - Dec 2026)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37560" y="1645920"/>
            <a:ext cx="25603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0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01568" y="1709928"/>
            <a:ext cx="24231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A1F12"/>
                </a:solidFill>
                <a:latin typeface="Calibri"/>
              </a:rPr>
              <a:t>Target 3.0+ GPA this semester - need A- in at least 2 courses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37560" y="2651760"/>
            <a:ext cx="25603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0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01568" y="2715768"/>
            <a:ext cx="24231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A1F12"/>
                </a:solidFill>
                <a:latin typeface="Calibri"/>
              </a:rPr>
              <a:t>Attend HEP Nov 15 and Dec 6 events - reach 24 service hrs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37560" y="3657600"/>
            <a:ext cx="25603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0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01568" y="3721608"/>
            <a:ext cx="24231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A1F12"/>
                </a:solidFill>
                <a:latin typeface="Calibri"/>
              </a:rPr>
              <a:t>Health Assessment practical Nov 13 - practice assessments weekly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37560" y="4663440"/>
            <a:ext cx="25603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0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01568" y="4727448"/>
            <a:ext cx="24231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A1F12"/>
                </a:solidFill>
                <a:latin typeface="Calibri"/>
              </a:rPr>
              <a:t>Begin saving monthly toward HEP scholarship 40-hr threshold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1143000"/>
            <a:ext cx="2834640" cy="5303520"/>
          </a:xfrm>
          <a:prstGeom prst="rect">
            <a:avLst/>
          </a:prstGeom>
          <a:solidFill>
            <a:srgbClr val="E8F5EE"/>
          </a:solidFill>
          <a:ln w="12700">
            <a:solidFill>
              <a:srgbClr val="52B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26480" y="1143000"/>
            <a:ext cx="2834640" cy="411480"/>
          </a:xfrm>
          <a:prstGeom prst="rect">
            <a:avLst/>
          </a:prstGeom>
          <a:solidFill>
            <a:srgbClr val="52B3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99632" y="1161288"/>
            <a:ext cx="268833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Medium Term (Jan - May 2027)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1645920"/>
            <a:ext cx="25603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0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27648" y="1709928"/>
            <a:ext cx="24231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A1F12"/>
                </a:solidFill>
                <a:latin typeface="Calibri"/>
              </a:rPr>
              <a:t>Complete nursing program application by March 2027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2651760"/>
            <a:ext cx="25603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0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27648" y="2715768"/>
            <a:ext cx="24231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A1F12"/>
                </a:solidFill>
                <a:latin typeface="Calibri"/>
              </a:rPr>
              <a:t>Request letters from Okafor and HEP faculty supervisor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3657600"/>
            <a:ext cx="25603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0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27648" y="3721608"/>
            <a:ext cx="24231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A1F12"/>
                </a:solidFill>
                <a:latin typeface="Calibri"/>
              </a:rPr>
              <a:t>Reach 40 HEP service hours before May 2027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4663440"/>
            <a:ext cx="25603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0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27648" y="4727448"/>
            <a:ext cx="24231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A1F12"/>
                </a:solidFill>
                <a:latin typeface="Calibri"/>
              </a:rPr>
              <a:t>Identify summer 2027 CNA certification program (resume builder)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4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Support Network and Key Contacts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4206240" cy="2194560"/>
          </a:xfrm>
          <a:prstGeom prst="rect">
            <a:avLst/>
          </a:prstGeom>
          <a:solidFill>
            <a:srgbClr val="E8F5EE"/>
          </a:solidFill>
          <a:ln w="12700">
            <a:solidFill>
              <a:srgbClr val="2D7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4206240" cy="384048"/>
          </a:xfrm>
          <a:prstGeom prst="rect">
            <a:avLst/>
          </a:prstGeom>
          <a:solidFill>
            <a:srgbClr val="2D7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Prof. L. Okafor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7A50"/>
                </a:solidFill>
                <a:latin typeface="Calibri"/>
              </a:rPr>
              <a:t>Pharmacology &amp; A&amp;P II Instructor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93392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7060"/>
                </a:solidFill>
                <a:latin typeface="Calibri"/>
              </a:rPr>
              <a:t>Nursing 201 | Tue office hrs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59152"/>
            <a:ext cx="4023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A1F12"/>
                </a:solidFill>
                <a:latin typeface="Calibri"/>
              </a:rPr>
              <a:t>Primary faculty contact for clinical rec letter; build relationship via office hours attendance and engaged coursework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1188720"/>
            <a:ext cx="4206240" cy="2194560"/>
          </a:xfrm>
          <a:prstGeom prst="rect">
            <a:avLst/>
          </a:prstGeom>
          <a:solidFill>
            <a:srgbClr val="E8F5EE"/>
          </a:solidFill>
          <a:ln w="12700">
            <a:solidFill>
              <a:srgbClr val="52B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846320" y="1188720"/>
            <a:ext cx="4206240" cy="384048"/>
          </a:xfrm>
          <a:prstGeom prst="rect">
            <a:avLst/>
          </a:prstGeom>
          <a:solidFill>
            <a:srgbClr val="52B3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0" y="123444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Tanya Williams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164592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2B37A"/>
                </a:solidFill>
                <a:latin typeface="Calibri"/>
              </a:rPr>
              <a:t>Academic Advisor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1993392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7060"/>
                </a:solidFill>
                <a:latin typeface="Calibri"/>
              </a:rPr>
              <a:t>Advising Center | Appt-based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2359152"/>
            <a:ext cx="4023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A1F12"/>
                </a:solidFill>
                <a:latin typeface="Calibri"/>
              </a:rPr>
              <a:t>Advised Feb 6 2026 on course sequencing and GPA tracking; schedule follow-up visit spring semester for nursing program application guidance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566160"/>
            <a:ext cx="4206240" cy="2194560"/>
          </a:xfrm>
          <a:prstGeom prst="rect">
            <a:avLst/>
          </a:prstGeom>
          <a:solidFill>
            <a:srgbClr val="E8F5EE"/>
          </a:solidFill>
          <a:ln w="12700">
            <a:solidFill>
              <a:srgbClr val="C8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566160"/>
            <a:ext cx="4206240" cy="384048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61188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A1F12"/>
                </a:solidFill>
                <a:latin typeface="Calibri"/>
              </a:rPr>
              <a:t>HEP Faculty Coord.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02336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8A84B"/>
                </a:solidFill>
                <a:latin typeface="Calibri"/>
              </a:rPr>
              <a:t>Health Equity Program Supervisor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370832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7060"/>
                </a:solidFill>
                <a:latin typeface="Calibri"/>
              </a:rPr>
              <a:t>hep@cedarbrook.edu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736592"/>
            <a:ext cx="4023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A1F12"/>
                </a:solidFill>
                <a:latin typeface="Calibri"/>
              </a:rPr>
              <a:t>Service hours verifier and program recommendation writer; attending 3+ events this year establishes track record with coordinator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6320" y="3566160"/>
            <a:ext cx="4206240" cy="2194560"/>
          </a:xfrm>
          <a:prstGeom prst="rect">
            <a:avLst/>
          </a:prstGeom>
          <a:solidFill>
            <a:srgbClr val="E8F5EE"/>
          </a:solidFill>
          <a:ln w="12700">
            <a:solidFill>
              <a:srgbClr val="5A7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46320" y="3566160"/>
            <a:ext cx="4206240" cy="384048"/>
          </a:xfrm>
          <a:prstGeom prst="rect">
            <a:avLst/>
          </a:prstGeom>
          <a:solidFill>
            <a:srgbClr val="5A7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37760" y="361188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Marcus Thompson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402336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A7060"/>
                </a:solidFill>
                <a:latin typeface="Calibri"/>
              </a:rPr>
              <a:t>Roommate, Maynard Hall 318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4370832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7060"/>
                </a:solidFill>
                <a:latin typeface="Calibri"/>
              </a:rPr>
              <a:t>Personal support network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0" y="4736592"/>
            <a:ext cx="4023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A1F12"/>
                </a:solidFill>
                <a:latin typeface="Calibri"/>
              </a:rPr>
              <a:t>Peer accountability on study schedule; non-academic support resource but important for managing work-life balance in demanding semester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4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731520"/>
            <a:ext cx="7315200" cy="5303520"/>
          </a:xfrm>
          <a:prstGeom prst="rect">
            <a:avLst/>
          </a:prstGeom>
          <a:solidFill>
            <a:srgbClr val="1F5C38"/>
          </a:solidFill>
          <a:ln w="25400">
            <a:solidFill>
              <a:srgbClr val="C8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914400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0D080"/>
                </a:solidFill>
                <a:latin typeface="Calibri"/>
              </a:rPr>
              <a:t>CAREER 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463040"/>
            <a:ext cx="6949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"My goal is to become a community health RN serving Atlanta neighborhoods"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606040"/>
            <a:ext cx="6583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D0B0"/>
                </a:solidFill>
                <a:latin typeface="Calibri"/>
              </a:rPr>
              <a:t>  ▶  Complete BSN at Cedarbrook University, May 2029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154680"/>
            <a:ext cx="6583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D0B0"/>
                </a:solidFill>
                <a:latin typeface="Calibri"/>
              </a:rPr>
              <a:t>  ▶  First NCLEX-RN attempt within 60 days of graduation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703320"/>
            <a:ext cx="6583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D0B0"/>
                </a:solidFill>
                <a:latin typeface="Calibri"/>
              </a:rPr>
              <a:t>  ▶  Entry position at community health clinic or Grady Memorial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251960"/>
            <a:ext cx="6583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D0B0"/>
                </a:solidFill>
                <a:latin typeface="Calibri"/>
              </a:rPr>
              <a:t>  ▶  Specialize in geriatric/chronic disease management - relevant to elder care at home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4800600"/>
            <a:ext cx="6583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D0B0"/>
                </a:solidFill>
                <a:latin typeface="Calibri"/>
              </a:rPr>
              <a:t>  ▶  Long-term: community health coordinator bridging nursing and social services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394960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8A84B"/>
                </a:solidFill>
                <a:latin typeface="Calibri"/>
              </a:rPr>
              <a:t>Hassan J. Blanchard  |  Cedarbrook University Pre-Nursing  |  Class of 2028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