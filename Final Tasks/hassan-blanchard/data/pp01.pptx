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C9A227"/>
                </a:solidFill>
                <a:latin typeface="Calibri"/>
              </a:rPr>
              <a:t>ACADEMIC RECOVERY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Hassan Jerome Blanchard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DC8E8"/>
                </a:solidFill>
                <a:latin typeface="Calibri"/>
              </a:rPr>
              <a:t>Cedarbrook University  -  Pre-Nursing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99AA"/>
                </a:solidFill>
                <a:latin typeface="Calibri"/>
              </a:rPr>
              <a:t>Fall 2026 through Spring 2027  |  Student ID: 100482237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99AA"/>
                </a:solidFill>
                <a:latin typeface="Calibri"/>
              </a:rPr>
              <a:t>Prepared with Academic Advisor Tanya Williams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9A227"/>
                </a:solidFill>
                <a:latin typeface="Calibri"/>
              </a:rPr>
              <a:t>Current Academic 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840480" cy="2011680"/>
          </a:xfrm>
          <a:prstGeom prst="rect">
            <a:avLst/>
          </a:prstGeom>
          <a:solidFill>
            <a:srgbClr val="152238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C9A227"/>
                </a:solidFill>
                <a:latin typeface="Calibri"/>
              </a:rPr>
              <a:t>2.80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DC8E8"/>
                </a:solidFill>
                <a:latin typeface="Calibri"/>
              </a:rPr>
              <a:t>CURRENT CUMULATIVE GPA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188720"/>
            <a:ext cx="3840480" cy="2011680"/>
          </a:xfrm>
          <a:prstGeom prst="rect">
            <a:avLst/>
          </a:prstGeom>
          <a:solidFill>
            <a:srgbClr val="152238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3258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4ECF88"/>
                </a:solidFill>
                <a:latin typeface="Calibri"/>
              </a:rPr>
              <a:t>3.00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DC8E8"/>
                </a:solidFill>
                <a:latin typeface="Calibri"/>
              </a:rPr>
              <a:t>CLINICAL PHASE REQUIREMENT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0FF"/>
                </a:solidFill>
                <a:latin typeface="Calibri"/>
              </a:rPr>
              <a:t>  -  First year closed at 2.80 - financial aid minimum (2.50) is secure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587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0FF"/>
                </a:solidFill>
                <a:latin typeface="Calibri"/>
              </a:rPr>
              <a:t>  -  Closing a 0.20-point gap over approximately two semesters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34256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0FF"/>
                </a:solidFill>
                <a:latin typeface="Calibri"/>
              </a:rPr>
              <a:t>  -  Strongest areas: dosage calculation and Health Assessment practicals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09744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0FF"/>
                </a:solidFill>
                <a:latin typeface="Calibri"/>
              </a:rPr>
              <a:t>  -  Focus area: cardiovascular pharmacology - beta blockers and diuretics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852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0FF"/>
                </a:solidFill>
                <a:latin typeface="Calibri"/>
              </a:rPr>
              <a:t>  -  Biweekly advising sessions with Tanya Williams are standing appointments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9A227"/>
                </a:solidFill>
                <a:latin typeface="Calibri"/>
              </a:rPr>
              <a:t>Fall 2026 Courses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8412480" cy="43891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155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E35"/>
                </a:solidFill>
                <a:latin typeface="Calibri"/>
              </a:rPr>
              <a:t>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1155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E35"/>
                </a:solidFill>
                <a:latin typeface="Calibri"/>
              </a:rPr>
              <a:t>Instructor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1155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E35"/>
                </a:solidFill>
                <a:latin typeface="Calibri"/>
              </a:rPr>
              <a:t>Credits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1155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E35"/>
                </a:solidFill>
                <a:latin typeface="Calibri"/>
              </a:rPr>
              <a:t>Grade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36192"/>
            <a:ext cx="8412480" cy="484632"/>
          </a:xfrm>
          <a:prstGeom prst="rect">
            <a:avLst/>
          </a:prstGeom>
          <a:solidFill>
            <a:srgbClr val="1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Pharmacology (NURS 2300)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60934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C8E8"/>
                </a:solidFill>
                <a:latin typeface="Calibri"/>
              </a:rPr>
              <a:t>L. Okafor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6093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99AA"/>
                </a:solidFill>
                <a:latin typeface="Calibri"/>
              </a:rPr>
              <a:t>3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60934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9A227"/>
                </a:solidFill>
                <a:latin typeface="Calibri"/>
              </a:rPr>
              <a:t>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57400"/>
            <a:ext cx="8412480" cy="48463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1305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Health Assessment (NURS 2250)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1305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C8E8"/>
                </a:solidFill>
                <a:latin typeface="Calibri"/>
              </a:rPr>
              <a:t>J. Reyes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1305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99AA"/>
                </a:solidFill>
                <a:latin typeface="Calibri"/>
              </a:rPr>
              <a:t>3 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1305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ECF88"/>
                </a:solidFill>
                <a:latin typeface="Calibri"/>
              </a:rPr>
              <a:t>A-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578608"/>
            <a:ext cx="8412480" cy="484632"/>
          </a:xfrm>
          <a:prstGeom prst="rect">
            <a:avLst/>
          </a:prstGeom>
          <a:solidFill>
            <a:srgbClr val="1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6517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A&amp;P II (BIOL 2120)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6517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C8E8"/>
                </a:solidFill>
                <a:latin typeface="Calibri"/>
              </a:rPr>
              <a:t>L. Okafor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6517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99AA"/>
                </a:solidFill>
                <a:latin typeface="Calibri"/>
              </a:rPr>
              <a:t>4 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6517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90D9"/>
                </a:solidFill>
                <a:latin typeface="Calibri"/>
              </a:rPr>
              <a:t>B+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099815"/>
            <a:ext cx="8412480" cy="48463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172967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Statistics (MATH 2050)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17296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C8E8"/>
                </a:solidFill>
                <a:latin typeface="Calibri"/>
              </a:rPr>
              <a:t>B. Lin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3172967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99AA"/>
                </a:solidFill>
                <a:latin typeface="Calibri"/>
              </a:rPr>
              <a:t>3 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172967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9A227"/>
                </a:solidFill>
                <a:latin typeface="Calibri"/>
              </a:rP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D080"/>
                </a:solidFill>
                <a:latin typeface="Calibri"/>
              </a:rPr>
              <a:t>Target: B or above in every course. Semester GPA goal: 3.20 or higher.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Calibri"/>
              </a:rPr>
              <a:t>Total credits: 13  |  L. Okafor is instructor for both Pharmacology and A&amp;P 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9A227"/>
                </a:solidFill>
                <a:latin typeface="Calibri"/>
              </a:rPr>
              <a:t>Weekly Schedule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" y="1097280"/>
            <a:ext cx="1161288" cy="3840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115568"/>
            <a:ext cx="1161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E35"/>
                </a:solidFill>
                <a:latin typeface="Calibri"/>
              </a:rPr>
              <a:t>Mon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481328"/>
            <a:ext cx="1161288" cy="4937760"/>
          </a:xfrm>
          <a:prstGeom prst="rect">
            <a:avLst/>
          </a:prstGeom>
          <a:solidFill>
            <a:srgbClr val="1A2E4A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572768"/>
            <a:ext cx="108813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C8E8"/>
                </a:solidFill>
                <a:latin typeface="Calibri"/>
              </a:rPr>
              <a:t>8 AM
classes
Library
after 9 PM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097280"/>
            <a:ext cx="1161288" cy="3840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115568"/>
            <a:ext cx="1161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E35"/>
                </a:solidFill>
                <a:latin typeface="Calibri"/>
              </a:rPr>
              <a:t>Tue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481328"/>
            <a:ext cx="1161288" cy="4937760"/>
          </a:xfrm>
          <a:prstGeom prst="rect">
            <a:avLst/>
          </a:prstGeom>
          <a:solidFill>
            <a:srgbClr val="13233A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9616" y="1572768"/>
            <a:ext cx="108813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C8E8"/>
                </a:solidFill>
                <a:latin typeface="Calibri"/>
              </a:rPr>
              <a:t>Classes
9:30-2 PM
Dining
4:30-8:30
Pharm
study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0048" y="1097280"/>
            <a:ext cx="1161288" cy="3840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0048" y="1115568"/>
            <a:ext cx="1161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E35"/>
                </a:solidFill>
                <a:latin typeface="Calibri"/>
              </a:rPr>
              <a:t>Wed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1481328"/>
            <a:ext cx="1161288" cy="4937760"/>
          </a:xfrm>
          <a:prstGeom prst="rect">
            <a:avLst/>
          </a:prstGeom>
          <a:solidFill>
            <a:srgbClr val="1A2E4A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06624" y="1572768"/>
            <a:ext cx="108813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C8E8"/>
                </a:solidFill>
                <a:latin typeface="Calibri"/>
              </a:rPr>
              <a:t>8 AM
classes
Advisor
biweekly
Library
night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77056" y="1097280"/>
            <a:ext cx="1161288" cy="3840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77056" y="1115568"/>
            <a:ext cx="1161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E35"/>
                </a:solidFill>
                <a:latin typeface="Calibri"/>
              </a:rPr>
              <a:t>Thu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77056" y="1481328"/>
            <a:ext cx="1161288" cy="4937760"/>
          </a:xfrm>
          <a:prstGeom prst="rect">
            <a:avLst/>
          </a:prstGeom>
          <a:solidFill>
            <a:srgbClr val="13233A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1572768"/>
            <a:ext cx="108813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C8E8"/>
                </a:solidFill>
                <a:latin typeface="Calibri"/>
              </a:rPr>
              <a:t>Classes
9:30-2 PM
Dining shift
or
Basketball
6:30 PM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4064" y="1097280"/>
            <a:ext cx="1161288" cy="3840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4064" y="1115568"/>
            <a:ext cx="1161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E35"/>
                </a:solidFill>
                <a:latin typeface="Calibri"/>
              </a:rPr>
              <a:t>Fri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84064" y="1481328"/>
            <a:ext cx="1161288" cy="4937760"/>
          </a:xfrm>
          <a:prstGeom prst="rect">
            <a:avLst/>
          </a:prstGeom>
          <a:solidFill>
            <a:srgbClr val="1A2E4A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1572768"/>
            <a:ext cx="108813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C8E8"/>
                </a:solidFill>
                <a:latin typeface="Calibri"/>
              </a:rPr>
              <a:t>8 AM
classes
Budget
check
Library
PM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91072" y="1097280"/>
            <a:ext cx="1161288" cy="3840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1115568"/>
            <a:ext cx="1161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E35"/>
                </a:solidFill>
                <a:latin typeface="Calibri"/>
              </a:rPr>
              <a:t>Sat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91072" y="1481328"/>
            <a:ext cx="1161288" cy="4937760"/>
          </a:xfrm>
          <a:prstGeom prst="rect">
            <a:avLst/>
          </a:prstGeom>
          <a:solidFill>
            <a:srgbClr val="13233A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1572768"/>
            <a:ext cx="108813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C8E8"/>
                </a:solidFill>
                <a:latin typeface="Calibri"/>
              </a:rPr>
              <a:t>Dining
7-11 AM
Meal
prep PM
Study
afternoon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1097280"/>
            <a:ext cx="1161288" cy="3840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1115568"/>
            <a:ext cx="1161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E35"/>
                </a:solidFill>
                <a:latin typeface="Calibri"/>
              </a:rPr>
              <a:t>Sun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1481328"/>
            <a:ext cx="1161288" cy="4937760"/>
          </a:xfrm>
          <a:prstGeom prst="rect">
            <a:avLst/>
          </a:prstGeom>
          <a:solidFill>
            <a:srgbClr val="1A2E4A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34655" y="1572768"/>
            <a:ext cx="108813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C8E8"/>
                </a:solidFill>
                <a:latin typeface="Calibri"/>
              </a:rPr>
              <a:t>Mabel
call 2 PM
Meal prep
Laundry
Light
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9A227"/>
                </a:solidFill>
                <a:latin typeface="Calibri"/>
              </a:rPr>
              <a:t>Work vs. Study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D080"/>
                </a:solidFill>
                <a:latin typeface="Calibri"/>
              </a:rPr>
              <a:t>Rule: Cap dining hall hours at 14 per week during exam periods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91440" cy="5029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B57"/>
                </a:solidFill>
                <a:latin typeface="Calibri"/>
              </a:rPr>
              <a:t>Current Schedule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737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0FF"/>
                </a:solidFill>
                <a:latin typeface="Calibri"/>
              </a:rPr>
              <a:t>12 hrs/week  -  Tue/Thu evenings + Sat morning shifts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87752"/>
            <a:ext cx="91440" cy="502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420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Calibri"/>
              </a:rPr>
              <a:t>Exam Mode Cap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54203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0FF"/>
                </a:solidFill>
                <a:latin typeface="Calibri"/>
              </a:rPr>
              <a:t>Under 14 hrs/week  -  decline extra Saturday requests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92424"/>
            <a:ext cx="9144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34670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Hard Limit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34670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0FF"/>
                </a:solidFill>
                <a:latin typeface="Calibri"/>
              </a:rPr>
              <a:t>Never exceed 20 hrs during finals block (Dec 11+)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97096"/>
            <a:ext cx="91440" cy="502920"/>
          </a:xfrm>
          <a:prstGeom prst="rect">
            <a:avLst/>
          </a:prstGeom>
          <a:solidFill>
            <a:srgbClr val="AD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5137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DC8E8"/>
                </a:solidFill>
                <a:latin typeface="Calibri"/>
              </a:rPr>
              <a:t>Income Trade-off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15137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0FF"/>
                </a:solidFill>
                <a:latin typeface="Calibri"/>
              </a:rPr>
              <a:t>$11.50/hr  -  each skipped shift costs $34.50 in income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001768"/>
            <a:ext cx="91440" cy="502920"/>
          </a:xfrm>
          <a:prstGeom prst="rect">
            <a:avLst/>
          </a:prstGeom>
          <a:solidFill>
            <a:srgbClr val="4EC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9560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ECF88"/>
                </a:solidFill>
                <a:latin typeface="Calibri"/>
              </a:rPr>
              <a:t>Free Meal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9560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0FF"/>
                </a:solidFill>
                <a:latin typeface="Calibri"/>
              </a:rPr>
              <a:t>One free meal per shift saves $40-50/week on groceries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9A227"/>
                </a:solidFill>
                <a:latin typeface="Calibri"/>
              </a:rPr>
              <a:t>Community Service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Calibri"/>
              </a:rPr>
              <a:t>40 hours required per semester  -  aid renewal and Health Equity Program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822960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2468880" cy="5943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007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12 hrs done  (30%)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00784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899AA"/>
                </a:solidFill>
                <a:latin typeface="Calibri"/>
              </a:rPr>
              <a:t>28 hrs remaining  (70%)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Calibri"/>
              </a:rPr>
              <a:t>Completed - Fall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1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9864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227"/>
                </a:solidFill>
                <a:latin typeface="Calibri"/>
              </a:rPr>
              <a:t>Sep 13,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89864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West End Screening Clinic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89864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DC8E8"/>
                </a:solidFill>
                <a:latin typeface="Calibri"/>
              </a:rPr>
              <a:t>BP checks and intake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898648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ECF88"/>
                </a:solidFill>
                <a:latin typeface="Calibri"/>
              </a:rPr>
              <a:t>4.0 hrs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46704"/>
            <a:ext cx="8229600" cy="4572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1071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227"/>
                </a:solidFill>
                <a:latin typeface="Calibri"/>
              </a:rPr>
              <a:t>Oct 11,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41071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Mobile BP Event, SW Atlanta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41071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DC8E8"/>
                </a:solidFill>
                <a:latin typeface="Calibri"/>
              </a:rPr>
              <a:t>Patient guidance and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410712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ECF88"/>
                </a:solidFill>
                <a:latin typeface="Calibri"/>
              </a:rPr>
              <a:t>4.0 hrs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58768"/>
            <a:ext cx="8229600" cy="457200"/>
          </a:xfrm>
          <a:prstGeom prst="rect">
            <a:avLst/>
          </a:prstGeom>
          <a:solidFill>
            <a:srgbClr val="1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2277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227"/>
                </a:solidFill>
                <a:latin typeface="Calibri"/>
              </a:rPr>
              <a:t>Nov 8,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9227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SW Atlanta Health Screening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92277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DC8E8"/>
                </a:solidFill>
                <a:latin typeface="Calibri"/>
              </a:rPr>
              <a:t>Intake and translation help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922776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ECF88"/>
                </a:solidFill>
                <a:latin typeface="Calibri"/>
              </a:rPr>
              <a:t>4.0 hrs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D080"/>
                </a:solidFill>
                <a:latin typeface="Calibri"/>
              </a:rPr>
              <a:t>Planned: Oct 18 (4 hrs) + Nov 15 (4 hrs) + Dec 6 (6 hrs) = 14 additional hrs, reaching 26 total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9A227"/>
                </a:solidFill>
                <a:latin typeface="Calibri"/>
              </a:rPr>
              <a:t>Financial Aid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DEADLINE: Spring 2027 Aid Renewal Application Due October 15,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solidFill>
            <a:srgbClr val="1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4708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Cumulative GPA minimum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84708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C8E8"/>
                </a:solidFill>
                <a:latin typeface="Calibri"/>
              </a:rPr>
              <a:t>2.50 minimum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84708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8B57"/>
                </a:solidFill>
                <a:latin typeface="Calibri"/>
              </a:rPr>
              <a:t>Current: 2.80 - PROTECTED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700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Academic scholarship renewal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67004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C8E8"/>
                </a:solidFill>
                <a:latin typeface="Calibri"/>
              </a:rPr>
              <a:t>3.00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67004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227"/>
                </a:solidFill>
                <a:latin typeface="Calibri"/>
              </a:rPr>
              <a:t>Current: 2.80 - NEEDS IMPROVEMENT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solidFill>
            <a:srgbClr val="1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49300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Community service 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49300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C8E8"/>
                </a:solidFill>
                <a:latin typeface="Calibri"/>
              </a:rPr>
              <a:t>40 hrs/semester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4930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227"/>
                </a:solidFill>
                <a:latin typeface="Calibri"/>
              </a:rPr>
              <a:t>Current: 12 completed - IN PROGRESS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3159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Satisfactory Academic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31596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C8E8"/>
                </a:solidFill>
                <a:latin typeface="Calibri"/>
              </a:rPr>
              <a:t>Required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3159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8B57"/>
                </a:solidFill>
                <a:latin typeface="Calibri"/>
              </a:rPr>
              <a:t>On track - no incomplete grades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29200"/>
            <a:ext cx="8229600" cy="731520"/>
          </a:xfrm>
          <a:prstGeom prst="rect">
            <a:avLst/>
          </a:prstGeom>
          <a:solidFill>
            <a:srgbClr val="1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1389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Enrollment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513892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C8E8"/>
                </a:solidFill>
                <a:latin typeface="Calibri"/>
              </a:rPr>
              <a:t>12+ credits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13892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8B57"/>
                </a:solidFill>
                <a:latin typeface="Calibri"/>
              </a:rPr>
              <a:t>Enrolled 13 credits - MET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9A227"/>
                </a:solidFill>
                <a:latin typeface="Calibri"/>
              </a:rPr>
              <a:t>Action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57200" cy="5943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E35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07008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Attend Okafor office hours every Tuesday without exception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36192"/>
            <a:ext cx="7680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Calibri"/>
              </a:rPr>
              <a:t>Standing block - even in manageable weeks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75104"/>
            <a:ext cx="457200" cy="5943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2082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E35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93392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Submit financial aid renewal by October 15,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322576"/>
            <a:ext cx="7680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Calibri"/>
              </a:rPr>
              <a:t>Spring 2027 application - do not miss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61488"/>
            <a:ext cx="457200" cy="5943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0720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E35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779776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Register for October 18 health screening clinic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108960"/>
            <a:ext cx="7680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Calibri"/>
              </a:rPr>
              <a:t>Brings service hours total to 16 of 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47872"/>
            <a:ext cx="457200" cy="5943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9359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E35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66160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Build weekly study log to catch weak subjects early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895344"/>
            <a:ext cx="7680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Calibri"/>
              </a:rPr>
              <a:t>Catch problems at week 2, not at midterm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34256"/>
            <a:ext cx="457200" cy="5943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37997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E35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352544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Cap dining shifts at 14 hrs during October exam block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681728"/>
            <a:ext cx="7680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Calibri"/>
              </a:rPr>
              <a:t>Pharmacology midterm Oct 7 - protect study 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20640"/>
            <a:ext cx="457200" cy="5943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1663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E35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138928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Sunday meal prep every week without exception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468112"/>
            <a:ext cx="7680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AA"/>
                </a:solidFill>
                <a:latin typeface="Calibri"/>
              </a:rPr>
              <a:t>Saves $15-20/week and anchors the schedule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9A227"/>
                </a:solidFill>
                <a:latin typeface="Calibri"/>
              </a:rPr>
              <a:t>Key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651760"/>
            <a:ext cx="82296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487168"/>
            <a:ext cx="164592" cy="3474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9A227"/>
                </a:solidFill>
                <a:latin typeface="Calibri"/>
              </a:rPr>
              <a:t>OCT 7
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346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DC8E8"/>
                </a:solidFill>
                <a:latin typeface="Calibri"/>
              </a:rPr>
              <a:t>Pharmacology
Midterm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487168"/>
            <a:ext cx="164592" cy="3474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4630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9A227"/>
                </a:solidFill>
                <a:latin typeface="Calibri"/>
              </a:rPr>
              <a:t>OCT 15
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346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DC8E8"/>
                </a:solidFill>
                <a:latin typeface="Calibri"/>
              </a:rPr>
              <a:t>Aid Renewal
Deadline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2487168"/>
            <a:ext cx="164592" cy="3474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4630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9A227"/>
                </a:solidFill>
                <a:latin typeface="Calibri"/>
              </a:rPr>
              <a:t>NOV 13
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8346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DC8E8"/>
                </a:solidFill>
                <a:latin typeface="Calibri"/>
              </a:rPr>
              <a:t>Health Assess.
Practical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2487168"/>
            <a:ext cx="164592" cy="3474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4630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9A227"/>
                </a:solidFill>
                <a:latin typeface="Calibri"/>
              </a:rPr>
              <a:t>DEC 11
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8346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DC8E8"/>
                </a:solidFill>
                <a:latin typeface="Calibri"/>
              </a:rPr>
              <a:t>Final Exams
Begin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487168"/>
            <a:ext cx="164592" cy="3474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4630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9A227"/>
                </a:solidFill>
                <a:latin typeface="Calibri"/>
              </a:rPr>
              <a:t>JAN 12
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8346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DC8E8"/>
                </a:solidFill>
                <a:latin typeface="Calibri"/>
              </a:rPr>
              <a:t>Spring 2027
Begins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9A227"/>
                </a:solidFill>
                <a:latin typeface="Calibri"/>
              </a:rPr>
              <a:t>Path to the Clinical Phase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737360"/>
            <a:ext cx="1965960" cy="3840480"/>
          </a:xfrm>
          <a:prstGeom prst="rect">
            <a:avLst/>
          </a:prstGeom>
          <a:solidFill>
            <a:srgbClr val="13233A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1965960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755648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E35"/>
                </a:solidFill>
                <a:latin typeface="Calibri"/>
              </a:rPr>
              <a:t>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783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DC8E8"/>
                </a:solidFill>
                <a:latin typeface="Calibri"/>
              </a:rPr>
              <a:t>Pharmacology + Health
Assessment + A&amp;P II
Target: 3.20 semester GPA</a:t>
            </a:r>
          </a:p>
        </p:txBody>
      </p:sp>
      <p:sp>
        <p:nvSpPr>
          <p:cNvPr id="8" name="Rectangle 7"/>
          <p:cNvSpPr/>
          <p:nvPr/>
        </p:nvSpPr>
        <p:spPr>
          <a:xfrm>
            <a:off x="2578608" y="1737360"/>
            <a:ext cx="1965960" cy="3840480"/>
          </a:xfrm>
          <a:prstGeom prst="rect">
            <a:avLst/>
          </a:prstGeom>
          <a:solidFill>
            <a:srgbClr val="13233A"/>
          </a:solidFill>
          <a:ln w="12700">
            <a:solidFill>
              <a:srgbClr val="ADC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78608" y="1737360"/>
            <a:ext cx="1965960" cy="365760"/>
          </a:xfrm>
          <a:prstGeom prst="rect">
            <a:avLst/>
          </a:prstGeom>
          <a:solidFill>
            <a:srgbClr val="AD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1755648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E35"/>
                </a:solidFill>
                <a:latin typeface="Calibri"/>
              </a:rPr>
              <a:t>Spring 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2194560"/>
            <a:ext cx="1783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DC8E8"/>
                </a:solidFill>
                <a:latin typeface="Calibri"/>
              </a:rPr>
              <a:t>Continue prerequisites
Cumulative GPA target:
2.95 to 3.00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1456" y="1737360"/>
            <a:ext cx="1965960" cy="3840480"/>
          </a:xfrm>
          <a:prstGeom prst="rect">
            <a:avLst/>
          </a:prstGeom>
          <a:solidFill>
            <a:srgbClr val="13233A"/>
          </a:solidFill>
          <a:ln w="12700">
            <a:solidFill>
              <a:srgbClr val="4EC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91456" y="1737360"/>
            <a:ext cx="1965960" cy="365760"/>
          </a:xfrm>
          <a:prstGeom prst="rect">
            <a:avLst/>
          </a:prstGeom>
          <a:solidFill>
            <a:srgbClr val="4EC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1456" y="1755648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E35"/>
                </a:solidFill>
                <a:latin typeface="Calibri"/>
              </a:rPr>
              <a:t>Fall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2896" y="2194560"/>
            <a:ext cx="1783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DC8E8"/>
                </a:solidFill>
                <a:latin typeface="Calibri"/>
              </a:rPr>
              <a:t>Clinical phase eligibility
review - 3.0 GPA required
Application to clinical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04304" y="1737360"/>
            <a:ext cx="1965960" cy="3840480"/>
          </a:xfrm>
          <a:prstGeom prst="rect">
            <a:avLst/>
          </a:prstGeom>
          <a:solidFill>
            <a:srgbClr val="13233A"/>
          </a:solidFill>
          <a:ln w="12700">
            <a:solidFill>
              <a:srgbClr val="A0D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04304" y="1737360"/>
            <a:ext cx="1965960" cy="365760"/>
          </a:xfrm>
          <a:prstGeom prst="rect">
            <a:avLst/>
          </a:prstGeom>
          <a:solidFill>
            <a:srgbClr val="A0D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04304" y="1755648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E35"/>
                </a:solidFill>
                <a:latin typeface="Calibri"/>
              </a:rPr>
              <a:t>2028-2029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2194560"/>
            <a:ext cx="1783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DC8E8"/>
                </a:solidFill>
                <a:latin typeface="Calibri"/>
              </a:rPr>
              <a:t>Clinical rotations and
patient care settings
RN licensure prep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0D080"/>
                </a:solidFill>
                <a:latin typeface="Calibri"/>
              </a:rPr>
              <a:t>Expected graduation: May 2029.  Intended practice: Southwest Atlanta community health.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9A227"/>
                </a:solidFill>
                <a:latin typeface="Calibri"/>
              </a:rPr>
              <a:t>Monthly Budget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1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Dining Hall Income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2801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9A227"/>
                </a:solidFill>
                <a:latin typeface="Calibri"/>
              </a:rPr>
              <a:t>~$651/mo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2801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Calibri"/>
              </a:rPr>
              <a:t>12 hrs/wk at $11.50 + free meal per shift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65376"/>
            <a:ext cx="8229600" cy="5943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5681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Phone Bill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95681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$80/mo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956816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Calibri"/>
              </a:rPr>
              <a:t>Family plan share to Denise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42032"/>
            <a:ext cx="8229600" cy="594360"/>
          </a:xfrm>
          <a:prstGeom prst="rect">
            <a:avLst/>
          </a:prstGeom>
          <a:solidFill>
            <a:srgbClr val="1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334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Groceries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3347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~$55/mo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63347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Calibri"/>
              </a:rPr>
              <a:t>Beyond the dining hall meal plan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18687"/>
            <a:ext cx="8229600" cy="5943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310127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MARTA 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310127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$30/mo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310127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Calibri"/>
              </a:rPr>
              <a:t>Breeze reload for campus-to-home trips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95344"/>
            <a:ext cx="8229600" cy="594360"/>
          </a:xfrm>
          <a:prstGeom prst="rect">
            <a:avLst/>
          </a:prstGeom>
          <a:solidFill>
            <a:srgbClr val="1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98678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Supplies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98678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~$50/mo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986784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Calibri"/>
              </a:rPr>
              <a:t>Toiletries and personal items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8229600" cy="5943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663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Aunt Keisha Transfer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6634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ECF88"/>
                </a:solidFill>
                <a:latin typeface="Calibri"/>
              </a:rPr>
              <a:t>$50-75/mo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6634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Calibri"/>
              </a:rPr>
              <a:t>For Grandmother Mabel's care expenses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48655"/>
            <a:ext cx="8229600" cy="594360"/>
          </a:xfrm>
          <a:prstGeom prst="rect">
            <a:avLst/>
          </a:prstGeom>
          <a:solidFill>
            <a:srgbClr val="1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340095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Savings Goal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5340095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DC8E8"/>
                </a:solidFill>
                <a:latin typeface="Calibri"/>
              </a:rPr>
              <a:t>$75/mo target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340095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Calibri"/>
              </a:rPr>
              <a:t>Emergency fund building toward $1,000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680960" cy="4663440"/>
          </a:xfrm>
          <a:prstGeom prst="rect">
            <a:avLst/>
          </a:prstGeom>
          <a:solidFill>
            <a:srgbClr val="1A2E4A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680960" cy="502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33856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E35"/>
                </a:solidFill>
                <a:latin typeface="Calibri"/>
              </a:rPr>
              <a:t>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9A227"/>
                </a:solidFill>
                <a:latin typeface="Calibri"/>
              </a:rPr>
              <a:t>Next Advising Meeting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October 9,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DC8E8"/>
                </a:solidFill>
                <a:latin typeface="Calibri"/>
              </a:rPr>
              <a:t>Tanya Williams  |  tanya.williams@cedarbrook.edu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99AA"/>
                </a:solidFill>
                <a:latin typeface="Calibri"/>
              </a:rPr>
              <a:t>Hassan Jerome Blanchard  |  100482237  |  hassan.blanchard@cedarbrook.edu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