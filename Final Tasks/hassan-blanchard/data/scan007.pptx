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7315200" cy="393192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80E0E0"/>
                </a:solidFill>
                <a:latin typeface="Calibri"/>
              </a:rPr>
              <a:t>PHARMACOLOGY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Drug Classifications and Clinical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D0D0"/>
                </a:solidFill>
                <a:latin typeface="Calibri"/>
              </a:rPr>
              <a:t>NURS 2300 - Self-Study Reference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7070"/>
                </a:solidFill>
                <a:latin typeface="Calibri"/>
              </a:rPr>
              <a:t>Professor L. Okafor  |  Focus: Cardiovascular, Analgesics, Antibiotics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8080"/>
                </a:solidFill>
                <a:latin typeface="Calibri"/>
              </a:rPr>
              <a:t>Hassan Blanchard  |  Fall 2026  |  Midterm Oct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Drug Classification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114800" cy="1371600"/>
          </a:xfrm>
          <a:prstGeom prst="rect">
            <a:avLst/>
          </a:prstGeom>
          <a:solidFill>
            <a:srgbClr val="F0F8F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Cardiovascular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ACE inhibitors, beta blockers, diuretics, calcium channel blockers, statins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4114800" cy="1371600"/>
          </a:xfrm>
          <a:prstGeom prst="rect">
            <a:avLst/>
          </a:prstGeom>
          <a:solidFill>
            <a:srgbClr val="F0F8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188720"/>
            <a:ext cx="41148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252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Analgesics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0020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NSAIDs, opioids, non-opioid analgesics, COX-2 inhibitors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F0F8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41148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797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Antibiotics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Penicillins, cephalosporins, fluoroquinolones, macrolides, tetracyclines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43200"/>
            <a:ext cx="4114800" cy="1371600"/>
          </a:xfrm>
          <a:prstGeom prst="rect">
            <a:avLst/>
          </a:prstGeom>
          <a:solidFill>
            <a:srgbClr val="F0F8F8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43200"/>
            <a:ext cx="41148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7797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CNS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546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Antidepressants, antianxiety, antipsychotics, sedative-hypnotics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4114800" cy="1371600"/>
          </a:xfrm>
          <a:prstGeom prst="rect">
            <a:avLst/>
          </a:prstGeom>
          <a:solidFill>
            <a:srgbClr val="F0F8F8"/>
          </a:solidFill>
          <a:ln w="12700">
            <a:solidFill>
              <a:srgbClr val="25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4114800" cy="347472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342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Endocrine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Insulin, oral hypoglycemics, thyroid agents, corticosteroids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297680"/>
            <a:ext cx="4114800" cy="1371600"/>
          </a:xfrm>
          <a:prstGeom prst="rect">
            <a:avLst/>
          </a:prstGeom>
          <a:solidFill>
            <a:srgbClr val="F0F8F8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297680"/>
            <a:ext cx="411480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43342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Respiratory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70916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Bronchodilators, corticosteroids, antihistamines, decongestants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Cardiovascular - Beta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F1F"/>
                </a:solidFill>
                <a:latin typeface="Calibri"/>
              </a:rPr>
              <a:t>Mechanism: Block beta-1 and beta-2 adrenergic receptors, reducing heart rate and cardiac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1965960" cy="4846320"/>
          </a:xfrm>
          <a:prstGeom prst="rect">
            <a:avLst/>
          </a:prstGeom>
          <a:solidFill>
            <a:srgbClr val="FEF0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965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0992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Common Drugs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Metoprolol (selective)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624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Atenolol (selective)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0998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Carvedilol (non-selective)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5753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Propranolol (non-selective)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0507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Labetalol (combined)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691640"/>
            <a:ext cx="1965960" cy="4846320"/>
          </a:xfrm>
          <a:prstGeom prst="rect">
            <a:avLst/>
          </a:prstGeom>
          <a:solidFill>
            <a:srgbClr val="FE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691640"/>
            <a:ext cx="19659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70992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Indications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Hypertension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624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Angina pectoris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30998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Heart failure (chronic)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35753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Arrhythmias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40507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Post-MI cardioprotection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691640"/>
            <a:ext cx="1965960" cy="4846320"/>
          </a:xfrm>
          <a:prstGeom prst="rect">
            <a:avLst/>
          </a:prstGeom>
          <a:solidFill>
            <a:srgbClr val="FEF0F0"/>
          </a:solidFill>
          <a:ln w="12700">
            <a:solidFill>
              <a:srgbClr val="922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691640"/>
            <a:ext cx="1965960" cy="365760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70992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Side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Bradycardia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624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Fatigue and dizziness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0998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Bronchospasm (beta-2)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5753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Hypoglycemia masking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0507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Cold extremities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691640"/>
            <a:ext cx="1965960" cy="4846320"/>
          </a:xfrm>
          <a:prstGeom prst="rect">
            <a:avLst/>
          </a:prstGeom>
          <a:solidFill>
            <a:srgbClr val="FEF0F0"/>
          </a:solidFill>
          <a:ln w="12700">
            <a:solidFill>
              <a:srgbClr val="7B2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1691640"/>
            <a:ext cx="1965960" cy="36576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170992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Nursing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Monitor BP and HR before giving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2624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Do not stop abruptly (rebound)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30998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Caution in asthma/COPD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35753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Teach: rise slowly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40507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- Cardioselective = safer in lung disease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Cardiovascular - Diuretics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85039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115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1155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15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Indication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15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Key Side Effects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81328"/>
            <a:ext cx="8503920" cy="146304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822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Thiazide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5448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Hydrochlorothiazide
Chlorothiazide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55448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Loop of Henle / distal
tubule - sodium excretion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1st line hypertension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55448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Hypokalemia, hyperglycemia,
hyperuricemia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90088"/>
            <a:ext cx="8503920" cy="146304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063240"/>
            <a:ext cx="822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632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Furosemide
Bumetanide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6324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Ascending loop -
high efficacy sodium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0632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CHF, pulmonary edema,
edema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06324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Severe hypokalemia, ototoxicity,
dehydration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98848"/>
            <a:ext cx="8503920" cy="146304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72000"/>
            <a:ext cx="822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K-Sparing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7200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Spironolactone
Amiloride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7200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Collecting duct -
potassium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57200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CHF adjunct,
hyperaldosteronism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57200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Hyperkalemia, gynecomastia
(spironolactone)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0807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NURSING PRIORITY: Always check potassium levels before and after giving diuretics. Loop diuretics cause the most K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ACE Inhibitors and ARBs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114800" cy="5303520"/>
          </a:xfrm>
          <a:prstGeom prst="rect">
            <a:avLst/>
          </a:prstGeom>
          <a:solidFill>
            <a:srgbClr val="FEF0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4114800" cy="530352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ACE INHIBITORS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155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ANGIOTENSIN RECEPTOR BLOCKERS (ARBs)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002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Lisinopril, Enalapril, Ramipril, Captopril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Mechanism: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Block conversion of angiotensin I to angiotensin II - reduces vasoconstriction and aldosterone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Indications: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9718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Hypertension, CHF, diabetic nephropathy, post-MI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Key Side Effect: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57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DRY COUGH (bradykinin accumulation) - most common reason patients switch to ARBs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Contraindications: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43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Pregnancy, bilateral renal artery stenosis, hyperkalemia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Nursing: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292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Monitor potassium, renal function, BP. Teach: report swelling of throat (angioedema - emergency)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6002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Examples: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6002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Losartan, Valsartan, Irbesartan, Candesartan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2860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Mechanism: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2860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Block angiotensin II at AT1 receptor directly - same blood pressure effect, no bradykinin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9718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Indications: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9718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Same as ACE inhibitors - preferred when ACE cough is intolerable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576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Key Advantage: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6576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NO DRY COUGH - angioedema still possible but rarer. Common switch from ACE inhibitor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3434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Contraindications: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3434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Pregnancy (teratogenic), bilateral renal artery stenosis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02920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Nursing: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0292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Same potassium and renal monitoring as ACE inhibitors. May be combined with diuretics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Analgesics - Pain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850392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15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115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Key Side Effects and Risks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8503920" cy="150876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5448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NSAIDs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Ibuprofen, Naproxen, Ketorolac, Aspirin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Inhibit COX-1 and COX-2 enzymes, reduce prostaglandins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GI bleeding, renal impairment, platelet dysfunction, cardiovascular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35808"/>
            <a:ext cx="8503920" cy="15087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0896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Opioids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Morphine, Oxycodone, Codeine, Hydrocodone, Fentanyl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Bind mu, kappa, delta receptors in CNS and periphery - reduce pain perception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Respiratory depression, constipation, sedation, tolerance, dependence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90288"/>
            <a:ext cx="8503920" cy="150876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66344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Non-Opioid / 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Acetaminophen, Tramadol, Gabapentin, Duloxetine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663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Various - central inhibition, serotonin-norepinephrine, calcium channel alpha-2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634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Hepatotoxicity (acetaminophen), seizure risk (tramadol), CNS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126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5400"/>
                </a:solidFill>
                <a:latin typeface="Calibri"/>
              </a:rPr>
              <a:t>CRITICAL: Opioid respiratory depression - always have naloxone (reversal agent) available. Assess respiratory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Antibiotic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85953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1155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15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115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Key Side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115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Key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81328"/>
            <a:ext cx="8595360" cy="841248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45336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Penicillins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545336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Amoxicillin, Ampicillin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54533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Cell wall synthesis inhibitor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4533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Allergy - rash, anaphylaxis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54533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Most common - broad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77440"/>
            <a:ext cx="8595360" cy="841248"/>
          </a:xfrm>
          <a:prstGeom prst="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441448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Cephalosporins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441448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Cephalexin, Ceftriaxone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44144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Cell wall synthesis (beta-lactam)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4144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Cross-allergy with PCN (5-10%)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441448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Generations 1-5 with increasing gram-neg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2"/>
            <a:ext cx="8595360" cy="841248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3375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Fluoroquinolones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375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Ciprofloxacin, Levofloxacin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Inhibit DNA gyrase/topoisomerase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Tendon rupture, QT prolongation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37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Avoid in children - cartilage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69664"/>
            <a:ext cx="8595360" cy="841248"/>
          </a:xfrm>
          <a:prstGeom prst="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233672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Macrolides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233672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Azithromycin, Clarithromycin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23367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50S ribosome inhibitor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23367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GI upset, QT prolongation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2336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Atypical coverage: Legionella, Mycoplasma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65776"/>
            <a:ext cx="8595360" cy="841248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129784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Tetracyclines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129784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Doxycycline, Minocycline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12978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30S ribosome inhibitor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512978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Photosensitivity, teeth discoloration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12978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Avoid in pregnancy and children under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172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NURSING: Always ask about allergies before giving. Culture before starting antibiotics when possible. Complete the full course.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Dosage Calculation - Key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206240" cy="2194560"/>
          </a:xfrm>
          <a:prstGeom prst="rect">
            <a:avLst/>
          </a:prstGeom>
          <a:solidFill>
            <a:srgbClr val="E0F5F5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206240" cy="3657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Basic Dose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Dose ordered / Dose available x Volume = Amount to give
Example: Ordered 250mg, have 500mg/5mL
250/500 x 5 = 2.5 mL to give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4206240" cy="2194560"/>
          </a:xfrm>
          <a:prstGeom prst="rect">
            <a:avLst/>
          </a:prstGeom>
          <a:solidFill>
            <a:srgbClr val="E0F5F5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188720"/>
            <a:ext cx="4206240" cy="3657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25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IV Drip Rate (drops/min)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Volume (mL) x Drop factor / Time (minutes) = Drops/min
Example: 500 mL over 4 hours, 15 gtts/mL
500 x 15 / 240 = 31 drops/min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4206240" cy="2194560"/>
          </a:xfrm>
          <a:prstGeom prst="rect">
            <a:avLst/>
          </a:prstGeom>
          <a:solidFill>
            <a:srgbClr val="E0F5F5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4206240" cy="3657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0273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Weight-Based Dosing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Ordered dose (mg/kg) x Weight (kg) = Total dose in mg
Example: 10 mg/kg for 70 kg patient
10 x 70 = 700 mg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566160"/>
            <a:ext cx="4206240" cy="2194560"/>
          </a:xfrm>
          <a:prstGeom prst="rect">
            <a:avLst/>
          </a:prstGeom>
          <a:solidFill>
            <a:srgbClr val="E0F5F5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566160"/>
            <a:ext cx="4206240" cy="3657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60273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Creatinine Clearance (Cockroft-Gault)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02336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CrCl = (140 - age) x weight / (72 x serum creatinine)
Multiply x 0.85 for females
Used to adjust renal drug dosing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Practice Case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664208"/>
          </a:xfrm>
          <a:prstGeom prst="rect">
            <a:avLst/>
          </a:prstGeom>
          <a:solidFill>
            <a:srgbClr val="F0FAFA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166420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828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Case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F1F"/>
                </a:solidFill>
                <a:latin typeface="Calibri"/>
              </a:rPr>
              <a:t>Q: Patient has hypertension and developed a dry persistent cough after starting lisinopril for 3 weeks. BP is now controlled. What is the most appropriate next step?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4040"/>
                </a:solidFill>
                <a:latin typeface="Calibri"/>
              </a:rPr>
              <a:t>A: Switch to an ARB (losartan). ACE inhibitor cough is a common adverse effect caused by bradykinin accumulation. ARBs provide the same blood pressure benefit without triggering this response.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44368"/>
            <a:ext cx="8412480" cy="1664208"/>
          </a:xfrm>
          <a:prstGeom prst="rect">
            <a:avLst/>
          </a:prstGeom>
          <a:solidFill>
            <a:srgbClr val="F0FAFA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44368"/>
            <a:ext cx="502920" cy="166420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3584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Case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F1F"/>
                </a:solidFill>
                <a:latin typeface="Calibri"/>
              </a:rPr>
              <a:t>Q: Nurse is to give furosemide 40mg IV. Patient's most recent potassium is 3.1 mEq/L. What should the nurse do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21608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4040"/>
                </a:solidFill>
                <a:latin typeface="Calibri"/>
              </a:rPr>
              <a:t>A: Hold the medication and notify the prescriber. A potassium of 3.1 is below normal (3.5-5.0). Loop diuretics cause significant potassium loss, and administering furosemide with existing hypokalemia creates serious risk of cardiac arrhythmia.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0016"/>
            <a:ext cx="8412480" cy="1664208"/>
          </a:xfrm>
          <a:prstGeom prst="rect">
            <a:avLst/>
          </a:prstGeom>
          <a:solidFill>
            <a:srgbClr val="F0FAFA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700016"/>
            <a:ext cx="502920" cy="166420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53400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Case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7316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F1F"/>
                </a:solidFill>
                <a:latin typeface="Calibri"/>
              </a:rPr>
              <a:t>Q: Patient prescribed ciprofloxacin reports new onset right Achilles tendon pain beginning 2 days after starting the medication. What action is indicated?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77256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4040"/>
                </a:solidFill>
                <a:latin typeface="Calibri"/>
              </a:rPr>
              <a:t>A: Hold the medication and report immediately. Fluoroquinolones are associated with tendon rupture, particularly Achilles tendon. This is a serious adverse effect requiring discontinuation and evaluation by the provider.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Study Strategy - Pharmacology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F0FAFA"/>
          </a:solidFill>
          <a:ln w="12700">
            <a:solidFill>
              <a:srgbClr val="C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  Organize by drug class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4533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     Learn the class mechanism once, then names are just examples. Knowing how beta blockers work applies to all of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84248"/>
            <a:ext cx="8229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08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  Nursing implications last, not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408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     Mechanism -&gt; Indication -&gt; Side effect -&gt; Nursing action. The sequence makes the nursing step make sense rather than memorizing it in isolation.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79776"/>
            <a:ext cx="8229600" cy="713232"/>
          </a:xfrm>
          <a:prstGeom prst="rect">
            <a:avLst/>
          </a:prstGeom>
          <a:solidFill>
            <a:srgbClr val="F0FAFA"/>
          </a:solidFill>
          <a:ln w="12700">
            <a:solidFill>
              <a:srgbClr val="C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  High-yield side effects for 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36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     ACE inhibitor cough, opioid respiratory depression, loop diuretic hypokalemia, fluoroquinolone tendon rupture - these appear repeatedly on exams.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75304"/>
            <a:ext cx="8229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  Cardiovascular drugs by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     Think of blood pressure control in layers: renin-angiotensin (ACE/ARB), heart rate (beta blockers), fluid volume (diuretics), vessel tone (calcium channel blockers).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70832"/>
            <a:ext cx="8229600" cy="713232"/>
          </a:xfrm>
          <a:prstGeom prst="rect">
            <a:avLst/>
          </a:prstGeom>
          <a:solidFill>
            <a:srgbClr val="F0FAFA"/>
          </a:solidFill>
          <a:ln w="12700">
            <a:solidFill>
              <a:srgbClr val="CC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074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  Use the office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27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     Professor Okafor holds Tuesday hours - go with specific missed items, not general review. Ask about the cardiovascular material if the midterm showed gaps there.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59"/>
            <a:ext cx="8229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0293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E6E"/>
                </a:solidFill>
                <a:latin typeface="Calibri"/>
              </a:rPr>
              <a:t>  Dosage practice 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2297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F1F"/>
                </a:solidFill>
                <a:latin typeface="Calibri"/>
              </a:rPr>
              <a:t>     10 minutes of calculation practice daily is more effective than 2 hours the night before. The dosage set was the strongest score - keep that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Critical Values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8412480" cy="676656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E0E0"/>
                </a:solidFill>
                <a:latin typeface="Calibri"/>
              </a:rPr>
              <a:t>Potassium normal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2161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F60"/>
                </a:solidFill>
                <a:latin typeface="Calibri"/>
              </a:rPr>
              <a:t>3.5 to 5.0 mEq/L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1615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D0D0"/>
                </a:solidFill>
                <a:latin typeface="Calibri"/>
              </a:rPr>
              <a:t>Below 3.5 = hypokalemia (dangerous with diuretics)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92807"/>
            <a:ext cx="8412480" cy="676656"/>
          </a:xfrm>
          <a:prstGeom prst="rect">
            <a:avLst/>
          </a:prstGeom>
          <a:solidFill>
            <a:srgbClr val="0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5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E0E0"/>
                </a:solidFill>
                <a:latin typeface="Calibri"/>
              </a:rPr>
              <a:t>Therapeutic INR (anticoagulation)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96595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F60"/>
                </a:solidFill>
                <a:latin typeface="Calibri"/>
              </a:rPr>
              <a:t>2.0 to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6595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D0D0"/>
                </a:solidFill>
                <a:latin typeface="Calibri"/>
              </a:rPr>
              <a:t>Above 3.5 = bleeding risk; below 2.0 = clot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42615"/>
            <a:ext cx="8412480" cy="676656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E0E0"/>
                </a:solidFill>
                <a:latin typeface="Calibri"/>
              </a:rPr>
              <a:t>Digoxin therapeutic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1576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F60"/>
                </a:solidFill>
                <a:latin typeface="Calibri"/>
              </a:rPr>
              <a:t>0.5 to 2.0 ng/mL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15767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D0D0"/>
                </a:solidFill>
                <a:latin typeface="Calibri"/>
              </a:rPr>
              <a:t>Narrow therapeutic window - toxicity signs: bradycardia, visual changes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92424"/>
            <a:ext cx="8412480" cy="676656"/>
          </a:xfrm>
          <a:prstGeom prst="rect">
            <a:avLst/>
          </a:prstGeom>
          <a:solidFill>
            <a:srgbClr val="0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E0E0"/>
                </a:solidFill>
                <a:latin typeface="Calibri"/>
              </a:rPr>
              <a:t>Lithium therapeutic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F60"/>
                </a:solidFill>
                <a:latin typeface="Calibri"/>
              </a:rPr>
              <a:t>0.6 to 1.2 mEq/L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6557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D0D0"/>
                </a:solidFill>
                <a:latin typeface="Calibri"/>
              </a:rPr>
              <a:t>Narrow window - toxicity: tremors, confusion, polyuria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42231"/>
            <a:ext cx="8412480" cy="676656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1538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E0E0"/>
                </a:solidFill>
                <a:latin typeface="Calibri"/>
              </a:rPr>
              <a:t>Tylenol (acetaminophen) max dose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215383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F60"/>
                </a:solidFill>
                <a:latin typeface="Calibri"/>
              </a:rPr>
              <a:t>4,000 mg/day (adults)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15383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D0D0"/>
                </a:solidFill>
                <a:latin typeface="Calibri"/>
              </a:rPr>
              <a:t>Hepatotoxicity risk above this - 2,000 mg/day for liver disease or alcohol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92040"/>
            <a:ext cx="8412480" cy="676656"/>
          </a:xfrm>
          <a:prstGeom prst="rect">
            <a:avLst/>
          </a:prstGeom>
          <a:solidFill>
            <a:srgbClr val="0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65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E0E0"/>
                </a:solidFill>
                <a:latin typeface="Calibri"/>
              </a:rPr>
              <a:t>Opioid reversal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9651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F60"/>
                </a:solidFill>
                <a:latin typeface="Calibri"/>
              </a:rPr>
              <a:t>Naloxone (Narcan)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65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D0D0"/>
                </a:solidFill>
                <a:latin typeface="Calibri"/>
              </a:rPr>
              <a:t>0.4 to 2.0 mg IV/IM/IN - repeat every 2-3 minutes if no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7315200" cy="5394960"/>
          </a:xfrm>
          <a:prstGeom prst="rect">
            <a:avLst/>
          </a:prstGeom>
          <a:solidFill>
            <a:srgbClr val="0D5050"/>
          </a:solidFill>
          <a:ln w="1270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7315200" cy="50292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6809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84040"/>
                </a:solidFill>
                <a:latin typeface="Calibri"/>
              </a:rPr>
              <a:t>MIDTERM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0E0E0"/>
                </a:solidFill>
                <a:latin typeface="Calibri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→  Cardiovascular drugs: beta blockers and diuretics (acknowledged weak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62072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→  ACE inhibitor vs. ARB - mechanism, side effects, nursing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83864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→  Dosage calculation set - maintain the strong accuracy from fall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0565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→  Critical values: potassium, INR, narrow therapeutic window drugs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2744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→  Attend office hours Tuesday before October 7 - Professor Okafor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8080"/>
                </a:solidFill>
                <a:latin typeface="Calibri"/>
              </a:rPr>
              <a:t>NURS 2300 - Fall 2026 - L. Okafor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