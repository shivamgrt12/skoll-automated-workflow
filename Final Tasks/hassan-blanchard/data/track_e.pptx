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4A1A6B"/>
        </a:solidFill>
        <a:effectLst/>
      </p:bgPr>
    </p:bg>
    <p:spTree>
      <p:nvGrpSpPr>
        <p:cNvPr id="1" name=""/>
        <p:cNvGrpSpPr/>
        <p:nvPr/>
      </p:nvGrpSpPr>
      <p:grpSpPr/>
      <p:sp>
        <p:nvSpPr>
          <p:cNvPr id="2" name="Rectangle 1"/>
          <p:cNvSpPr/>
          <p:nvPr/>
        </p:nvSpPr>
        <p:spPr>
          <a:xfrm>
            <a:off x="0" y="4114800"/>
            <a:ext cx="9144000" cy="274320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17920"/>
            <a:ext cx="9144000" cy="640080"/>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71600"/>
            <a:ext cx="7772400" cy="1097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8229600" cy="822960"/>
          </a:xfrm>
          <a:prstGeom prst="rect">
            <a:avLst/>
          </a:prstGeom>
          <a:noFill/>
        </p:spPr>
        <p:txBody>
          <a:bodyPr wrap="square">
            <a:spAutoFit/>
          </a:bodyPr>
          <a:lstStyle/>
          <a:p>
            <a:pPr algn="l"/>
            <a:r>
              <a:rPr sz="3800" b="1">
                <a:solidFill>
                  <a:srgbClr val="FFFFFF"/>
                </a:solidFill>
                <a:latin typeface="Calibri"/>
              </a:rPr>
              <a:t>Health Equity Program</a:t>
            </a:r>
          </a:p>
        </p:txBody>
      </p:sp>
      <p:sp>
        <p:nvSpPr>
          <p:cNvPr id="7" name="TextBox 6"/>
          <p:cNvSpPr txBox="1"/>
          <p:nvPr/>
        </p:nvSpPr>
        <p:spPr>
          <a:xfrm>
            <a:off x="640080" y="1188720"/>
            <a:ext cx="8229600" cy="411480"/>
          </a:xfrm>
          <a:prstGeom prst="rect">
            <a:avLst/>
          </a:prstGeom>
          <a:noFill/>
        </p:spPr>
        <p:txBody>
          <a:bodyPr wrap="square">
            <a:spAutoFit/>
          </a:bodyPr>
          <a:lstStyle/>
          <a:p>
            <a:pPr algn="l"/>
            <a:r>
              <a:rPr sz="1200" b="1">
                <a:solidFill>
                  <a:srgbClr val="F59E0B"/>
                </a:solidFill>
                <a:latin typeface="Calibri"/>
              </a:rPr>
              <a:t>CEDARBROOK UNIVERSITY</a:t>
            </a:r>
          </a:p>
        </p:txBody>
      </p:sp>
      <p:sp>
        <p:nvSpPr>
          <p:cNvPr id="8" name="TextBox 7"/>
          <p:cNvSpPr txBox="1"/>
          <p:nvPr/>
        </p:nvSpPr>
        <p:spPr>
          <a:xfrm>
            <a:off x="640080" y="2468880"/>
            <a:ext cx="8229600" cy="502920"/>
          </a:xfrm>
          <a:prstGeom prst="rect">
            <a:avLst/>
          </a:prstGeom>
          <a:noFill/>
        </p:spPr>
        <p:txBody>
          <a:bodyPr wrap="square">
            <a:spAutoFit/>
          </a:bodyPr>
          <a:lstStyle/>
          <a:p>
            <a:pPr algn="l"/>
            <a:r>
              <a:rPr sz="1800" b="0">
                <a:solidFill>
                  <a:srgbClr val="D4B0F0"/>
                </a:solidFill>
                <a:latin typeface="Calibri"/>
              </a:rPr>
              <a:t>Volunteer Program Overview and Impact Report</a:t>
            </a:r>
          </a:p>
        </p:txBody>
      </p:sp>
      <p:sp>
        <p:nvSpPr>
          <p:cNvPr id="9" name="TextBox 8"/>
          <p:cNvSpPr txBox="1"/>
          <p:nvPr/>
        </p:nvSpPr>
        <p:spPr>
          <a:xfrm>
            <a:off x="640080" y="3108960"/>
            <a:ext cx="8229600" cy="411480"/>
          </a:xfrm>
          <a:prstGeom prst="rect">
            <a:avLst/>
          </a:prstGeom>
          <a:noFill/>
        </p:spPr>
        <p:txBody>
          <a:bodyPr wrap="square">
            <a:spAutoFit/>
          </a:bodyPr>
          <a:lstStyle/>
          <a:p>
            <a:pPr algn="l"/>
            <a:r>
              <a:rPr sz="1200" b="0">
                <a:solidFill>
                  <a:srgbClr val="F59E0B"/>
                </a:solidFill>
                <a:latin typeface="Calibri"/>
              </a:rPr>
              <a:t>Community Health Outreach  |  Free Clinic Collaboration  |  Education Access</a:t>
            </a:r>
          </a:p>
        </p:txBody>
      </p:sp>
      <p:sp>
        <p:nvSpPr>
          <p:cNvPr id="10" name="Rectangle 9"/>
          <p:cNvSpPr/>
          <p:nvPr/>
        </p:nvSpPr>
        <p:spPr>
          <a:xfrm>
            <a:off x="640080" y="3931920"/>
            <a:ext cx="2286000" cy="1097280"/>
          </a:xfrm>
          <a:prstGeom prst="rect">
            <a:avLst/>
          </a:prstGeom>
          <a:solidFill>
            <a:srgbClr val="5A2280"/>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977639"/>
            <a:ext cx="2194560" cy="502920"/>
          </a:xfrm>
          <a:prstGeom prst="rect">
            <a:avLst/>
          </a:prstGeom>
          <a:noFill/>
        </p:spPr>
        <p:txBody>
          <a:bodyPr wrap="square">
            <a:spAutoFit/>
          </a:bodyPr>
          <a:lstStyle/>
          <a:p>
            <a:pPr algn="ctr"/>
            <a:r>
              <a:rPr sz="2400" b="1">
                <a:solidFill>
                  <a:srgbClr val="F59E0B"/>
                </a:solidFill>
                <a:latin typeface="Calibri"/>
              </a:rPr>
              <a:t>40 hrs</a:t>
            </a:r>
          </a:p>
        </p:txBody>
      </p:sp>
      <p:sp>
        <p:nvSpPr>
          <p:cNvPr id="12" name="TextBox 11"/>
          <p:cNvSpPr txBox="1"/>
          <p:nvPr/>
        </p:nvSpPr>
        <p:spPr>
          <a:xfrm>
            <a:off x="685800" y="4480560"/>
            <a:ext cx="2194560" cy="365760"/>
          </a:xfrm>
          <a:prstGeom prst="rect">
            <a:avLst/>
          </a:prstGeom>
          <a:noFill/>
        </p:spPr>
        <p:txBody>
          <a:bodyPr wrap="square">
            <a:spAutoFit/>
          </a:bodyPr>
          <a:lstStyle/>
          <a:p>
            <a:pPr algn="ctr"/>
            <a:r>
              <a:rPr sz="1100" b="0">
                <a:solidFill>
                  <a:srgbClr val="FFFFFF"/>
                </a:solidFill>
                <a:latin typeface="Calibri"/>
              </a:rPr>
              <a:t>Annual Goal</a:t>
            </a:r>
          </a:p>
        </p:txBody>
      </p:sp>
      <p:sp>
        <p:nvSpPr>
          <p:cNvPr id="13" name="Rectangle 12"/>
          <p:cNvSpPr/>
          <p:nvPr/>
        </p:nvSpPr>
        <p:spPr>
          <a:xfrm>
            <a:off x="3200400" y="3931920"/>
            <a:ext cx="2286000" cy="1097280"/>
          </a:xfrm>
          <a:prstGeom prst="rect">
            <a:avLst/>
          </a:prstGeom>
          <a:solidFill>
            <a:srgbClr val="5A2280"/>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46120" y="3977639"/>
            <a:ext cx="2194560" cy="502920"/>
          </a:xfrm>
          <a:prstGeom prst="rect">
            <a:avLst/>
          </a:prstGeom>
          <a:noFill/>
        </p:spPr>
        <p:txBody>
          <a:bodyPr wrap="square">
            <a:spAutoFit/>
          </a:bodyPr>
          <a:lstStyle/>
          <a:p>
            <a:pPr algn="ctr"/>
            <a:r>
              <a:rPr sz="2400" b="1">
                <a:solidFill>
                  <a:srgbClr val="80F0C0"/>
                </a:solidFill>
                <a:latin typeface="Calibri"/>
              </a:rPr>
              <a:t>12 hrs</a:t>
            </a:r>
          </a:p>
        </p:txBody>
      </p:sp>
      <p:sp>
        <p:nvSpPr>
          <p:cNvPr id="15" name="TextBox 14"/>
          <p:cNvSpPr txBox="1"/>
          <p:nvPr/>
        </p:nvSpPr>
        <p:spPr>
          <a:xfrm>
            <a:off x="3246120" y="4480560"/>
            <a:ext cx="2194560" cy="365760"/>
          </a:xfrm>
          <a:prstGeom prst="rect">
            <a:avLst/>
          </a:prstGeom>
          <a:noFill/>
        </p:spPr>
        <p:txBody>
          <a:bodyPr wrap="square">
            <a:spAutoFit/>
          </a:bodyPr>
          <a:lstStyle/>
          <a:p>
            <a:pPr algn="ctr"/>
            <a:r>
              <a:rPr sz="1100" b="0">
                <a:solidFill>
                  <a:srgbClr val="FFFFFF"/>
                </a:solidFill>
                <a:latin typeface="Calibri"/>
              </a:rPr>
              <a:t>Completed</a:t>
            </a:r>
          </a:p>
        </p:txBody>
      </p:sp>
      <p:sp>
        <p:nvSpPr>
          <p:cNvPr id="16" name="Rectangle 15"/>
          <p:cNvSpPr/>
          <p:nvPr/>
        </p:nvSpPr>
        <p:spPr>
          <a:xfrm>
            <a:off x="5760720" y="3931920"/>
            <a:ext cx="2286000" cy="1097280"/>
          </a:xfrm>
          <a:prstGeom prst="rect">
            <a:avLst/>
          </a:prstGeom>
          <a:solidFill>
            <a:srgbClr val="5A2280"/>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06440" y="3977639"/>
            <a:ext cx="2194560" cy="502920"/>
          </a:xfrm>
          <a:prstGeom prst="rect">
            <a:avLst/>
          </a:prstGeom>
          <a:noFill/>
        </p:spPr>
        <p:txBody>
          <a:bodyPr wrap="square">
            <a:spAutoFit/>
          </a:bodyPr>
          <a:lstStyle/>
          <a:p>
            <a:pPr algn="ctr"/>
            <a:r>
              <a:rPr sz="2400" b="1">
                <a:solidFill>
                  <a:srgbClr val="F59E0B"/>
                </a:solidFill>
                <a:latin typeface="Calibri"/>
              </a:rPr>
              <a:t>3</a:t>
            </a:r>
          </a:p>
        </p:txBody>
      </p:sp>
      <p:sp>
        <p:nvSpPr>
          <p:cNvPr id="18" name="TextBox 17"/>
          <p:cNvSpPr txBox="1"/>
          <p:nvPr/>
        </p:nvSpPr>
        <p:spPr>
          <a:xfrm>
            <a:off x="5806440" y="4480560"/>
            <a:ext cx="2194560" cy="365760"/>
          </a:xfrm>
          <a:prstGeom prst="rect">
            <a:avLst/>
          </a:prstGeom>
          <a:noFill/>
        </p:spPr>
        <p:txBody>
          <a:bodyPr wrap="square">
            <a:spAutoFit/>
          </a:bodyPr>
          <a:lstStyle/>
          <a:p>
            <a:pPr algn="ctr"/>
            <a:r>
              <a:rPr sz="1100" b="0">
                <a:solidFill>
                  <a:srgbClr val="FFFFFF"/>
                </a:solidFill>
                <a:latin typeface="Calibri"/>
              </a:rPr>
              <a:t>Events Attended</a:t>
            </a:r>
          </a:p>
        </p:txBody>
      </p:sp>
      <p:sp>
        <p:nvSpPr>
          <p:cNvPr id="19" name="TextBox 18"/>
          <p:cNvSpPr txBox="1"/>
          <p:nvPr/>
        </p:nvSpPr>
        <p:spPr>
          <a:xfrm>
            <a:off x="640080" y="5303520"/>
            <a:ext cx="8229600" cy="365760"/>
          </a:xfrm>
          <a:prstGeom prst="rect">
            <a:avLst/>
          </a:prstGeom>
          <a:noFill/>
        </p:spPr>
        <p:txBody>
          <a:bodyPr wrap="square">
            <a:spAutoFit/>
          </a:bodyPr>
          <a:lstStyle/>
          <a:p>
            <a:pPr algn="l"/>
            <a:r>
              <a:rPr sz="1000" b="0">
                <a:solidFill>
                  <a:srgbClr val="9060B8"/>
                </a:solidFill>
                <a:latin typeface="Calibri"/>
              </a:rPr>
              <a:t>Hassan Blanchard  |  Cedarbrook Pre-Nursing  |  Academic Year 2025-2026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AFF"/>
        </a:solidFill>
        <a:effectLst/>
      </p:bgPr>
    </p:bg>
    <p:spTree>
      <p:nvGrpSpPr>
        <p:cNvPr id="1" name=""/>
        <p:cNvGrpSpPr/>
        <p:nvPr/>
      </p:nvGrpSpPr>
      <p:grpSpPr/>
      <p:sp>
        <p:nvSpPr>
          <p:cNvPr id="2" name="Rectangle 1"/>
          <p:cNvSpPr/>
          <p:nvPr/>
        </p:nvSpPr>
        <p:spPr>
          <a:xfrm>
            <a:off x="0" y="0"/>
            <a:ext cx="9144000" cy="100584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8229600" cy="594360"/>
          </a:xfrm>
          <a:prstGeom prst="rect">
            <a:avLst/>
          </a:prstGeom>
          <a:noFill/>
        </p:spPr>
        <p:txBody>
          <a:bodyPr wrap="square">
            <a:spAutoFit/>
          </a:bodyPr>
          <a:lstStyle/>
          <a:p>
            <a:pPr algn="l"/>
            <a:r>
              <a:rPr sz="2600" b="1">
                <a:solidFill>
                  <a:srgbClr val="FFFFFF"/>
                </a:solidFill>
                <a:latin typeface="Calibri"/>
              </a:rPr>
              <a:t>What is the Health Equity Program?</a:t>
            </a:r>
          </a:p>
        </p:txBody>
      </p:sp>
      <p:sp>
        <p:nvSpPr>
          <p:cNvPr id="5" name="Rectangle 4"/>
          <p:cNvSpPr/>
          <p:nvPr/>
        </p:nvSpPr>
        <p:spPr>
          <a:xfrm>
            <a:off x="365760" y="1143000"/>
            <a:ext cx="8412480" cy="1371600"/>
          </a:xfrm>
          <a:prstGeom prst="rect">
            <a:avLst/>
          </a:prstGeom>
          <a:solidFill>
            <a:srgbClr val="F3E6FD"/>
          </a:solidFill>
          <a:ln w="12700">
            <a:solidFill>
              <a:srgbClr val="B06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07008"/>
            <a:ext cx="8138160" cy="1234440"/>
          </a:xfrm>
          <a:prstGeom prst="rect">
            <a:avLst/>
          </a:prstGeom>
          <a:noFill/>
        </p:spPr>
        <p:txBody>
          <a:bodyPr wrap="square">
            <a:spAutoFit/>
          </a:bodyPr>
          <a:lstStyle/>
          <a:p>
            <a:pPr algn="l"/>
            <a:r>
              <a:rPr sz="1200" b="0">
                <a:solidFill>
                  <a:srgbClr val="1A0A2E"/>
                </a:solidFill>
                <a:latin typeface="Calibri"/>
              </a:rPr>
              <a:t>The Health Equity Program (HEP) is Cedarbrook University's community health outreach initiative. Pre-nursing and health sciences students volunteer alongside faculty advisors and community health workers to bring preventive care education and health screenings to underserved neighborhoods in the Atlanta metro area.</a:t>
            </a:r>
          </a:p>
        </p:txBody>
      </p:sp>
      <p:sp>
        <p:nvSpPr>
          <p:cNvPr id="7" name="Rectangle 6"/>
          <p:cNvSpPr/>
          <p:nvPr/>
        </p:nvSpPr>
        <p:spPr>
          <a:xfrm>
            <a:off x="365760" y="2697480"/>
            <a:ext cx="8412480" cy="1097280"/>
          </a:xfrm>
          <a:prstGeom prst="rect">
            <a:avLst/>
          </a:prstGeom>
          <a:solidFill>
            <a:srgbClr val="FAF5FF"/>
          </a:solidFill>
          <a:ln w="12700">
            <a:solidFill>
              <a:srgbClr val="7B2D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2697480"/>
            <a:ext cx="109728" cy="109728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752344"/>
            <a:ext cx="1828800" cy="365760"/>
          </a:xfrm>
          <a:prstGeom prst="rect">
            <a:avLst/>
          </a:prstGeom>
          <a:noFill/>
        </p:spPr>
        <p:txBody>
          <a:bodyPr wrap="square">
            <a:spAutoFit/>
          </a:bodyPr>
          <a:lstStyle/>
          <a:p>
            <a:pPr algn="l"/>
            <a:r>
              <a:rPr sz="1300" b="1">
                <a:solidFill>
                  <a:srgbClr val="7B2D9E"/>
                </a:solidFill>
                <a:latin typeface="Calibri"/>
              </a:rPr>
              <a:t>Free Clinics</a:t>
            </a:r>
          </a:p>
        </p:txBody>
      </p:sp>
      <p:sp>
        <p:nvSpPr>
          <p:cNvPr id="10" name="TextBox 9"/>
          <p:cNvSpPr txBox="1"/>
          <p:nvPr/>
        </p:nvSpPr>
        <p:spPr>
          <a:xfrm>
            <a:off x="594360" y="3154680"/>
            <a:ext cx="7955279" cy="594360"/>
          </a:xfrm>
          <a:prstGeom prst="rect">
            <a:avLst/>
          </a:prstGeom>
          <a:noFill/>
        </p:spPr>
        <p:txBody>
          <a:bodyPr wrap="square">
            <a:spAutoFit/>
          </a:bodyPr>
          <a:lstStyle/>
          <a:p>
            <a:pPr algn="l"/>
            <a:r>
              <a:rPr sz="1100" b="0">
                <a:solidFill>
                  <a:srgbClr val="1A0A2E"/>
                </a:solidFill>
                <a:latin typeface="Calibri"/>
              </a:rPr>
              <a:t>Monthly free health screening events at community centers and churches in the Westview corridor. Services include blood pressure screening, diabetes risk assessment, and basic vision checks.</a:t>
            </a:r>
          </a:p>
        </p:txBody>
      </p:sp>
      <p:sp>
        <p:nvSpPr>
          <p:cNvPr id="11" name="Rectangle 10"/>
          <p:cNvSpPr/>
          <p:nvPr/>
        </p:nvSpPr>
        <p:spPr>
          <a:xfrm>
            <a:off x="365760" y="3931920"/>
            <a:ext cx="8412480" cy="1097280"/>
          </a:xfrm>
          <a:prstGeom prst="rect">
            <a:avLst/>
          </a:prstGeom>
          <a:solidFill>
            <a:srgbClr val="FFF8F0"/>
          </a:solidFill>
          <a:ln w="12700">
            <a:solidFill>
              <a:srgbClr val="D4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3931920"/>
            <a:ext cx="109728" cy="1097280"/>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986784"/>
            <a:ext cx="1828800" cy="365760"/>
          </a:xfrm>
          <a:prstGeom prst="rect">
            <a:avLst/>
          </a:prstGeom>
          <a:noFill/>
        </p:spPr>
        <p:txBody>
          <a:bodyPr wrap="square">
            <a:spAutoFit/>
          </a:bodyPr>
          <a:lstStyle/>
          <a:p>
            <a:pPr algn="l"/>
            <a:r>
              <a:rPr sz="1300" b="1">
                <a:solidFill>
                  <a:srgbClr val="D46B00"/>
                </a:solidFill>
                <a:latin typeface="Calibri"/>
              </a:rPr>
              <a:t>Education Outreach</a:t>
            </a:r>
          </a:p>
        </p:txBody>
      </p:sp>
      <p:sp>
        <p:nvSpPr>
          <p:cNvPr id="14" name="TextBox 13"/>
          <p:cNvSpPr txBox="1"/>
          <p:nvPr/>
        </p:nvSpPr>
        <p:spPr>
          <a:xfrm>
            <a:off x="594360" y="4389120"/>
            <a:ext cx="7955279" cy="594360"/>
          </a:xfrm>
          <a:prstGeom prst="rect">
            <a:avLst/>
          </a:prstGeom>
          <a:noFill/>
        </p:spPr>
        <p:txBody>
          <a:bodyPr wrap="square">
            <a:spAutoFit/>
          </a:bodyPr>
          <a:lstStyle/>
          <a:p>
            <a:pPr algn="l"/>
            <a:r>
              <a:rPr sz="1100" b="0">
                <a:solidFill>
                  <a:srgbClr val="1A0A2E"/>
                </a:solidFill>
                <a:latin typeface="Calibri"/>
              </a:rPr>
              <a:t>Health literacy workshops covering medication management, nutrition basics, and preventive care. Volunteers teach in accessible, jargon-free language appropriate for the community.</a:t>
            </a:r>
          </a:p>
        </p:txBody>
      </p:sp>
      <p:sp>
        <p:nvSpPr>
          <p:cNvPr id="15" name="Rectangle 14"/>
          <p:cNvSpPr/>
          <p:nvPr/>
        </p:nvSpPr>
        <p:spPr>
          <a:xfrm>
            <a:off x="365760" y="5166360"/>
            <a:ext cx="8412480" cy="1097280"/>
          </a:xfrm>
          <a:prstGeom prst="rect">
            <a:avLst/>
          </a:prstGeom>
          <a:solidFill>
            <a:srgbClr val="FAF5FF"/>
          </a:solidFill>
          <a:ln w="12700">
            <a:solidFill>
              <a:srgbClr val="2D8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5166360"/>
            <a:ext cx="109728" cy="1097280"/>
          </a:xfrm>
          <a:prstGeom prst="rect">
            <a:avLst/>
          </a:prstGeom>
          <a:solidFill>
            <a:srgbClr val="2D8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5221224"/>
            <a:ext cx="1828800" cy="365760"/>
          </a:xfrm>
          <a:prstGeom prst="rect">
            <a:avLst/>
          </a:prstGeom>
          <a:noFill/>
        </p:spPr>
        <p:txBody>
          <a:bodyPr wrap="square">
            <a:spAutoFit/>
          </a:bodyPr>
          <a:lstStyle/>
          <a:p>
            <a:pPr algn="l"/>
            <a:r>
              <a:rPr sz="1300" b="1">
                <a:solidFill>
                  <a:srgbClr val="2D8F5E"/>
                </a:solidFill>
                <a:latin typeface="Calibri"/>
              </a:rPr>
              <a:t>Student Development</a:t>
            </a:r>
          </a:p>
        </p:txBody>
      </p:sp>
      <p:sp>
        <p:nvSpPr>
          <p:cNvPr id="18" name="TextBox 17"/>
          <p:cNvSpPr txBox="1"/>
          <p:nvPr/>
        </p:nvSpPr>
        <p:spPr>
          <a:xfrm>
            <a:off x="594360" y="5623560"/>
            <a:ext cx="7955279" cy="594360"/>
          </a:xfrm>
          <a:prstGeom prst="rect">
            <a:avLst/>
          </a:prstGeom>
          <a:noFill/>
        </p:spPr>
        <p:txBody>
          <a:bodyPr wrap="square">
            <a:spAutoFit/>
          </a:bodyPr>
          <a:lstStyle/>
          <a:p>
            <a:pPr algn="l"/>
            <a:r>
              <a:rPr sz="1100" b="0">
                <a:solidFill>
                  <a:srgbClr val="1A0A2E"/>
                </a:solidFill>
                <a:latin typeface="Calibri"/>
              </a:rPr>
              <a:t>HEP hours count toward nursing prerequisite community service requirements and strengthen clinical applications. Students work alongside licensed nurses and community health workers.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AFF"/>
        </a:solidFill>
        <a:effectLst/>
      </p:bgPr>
    </p:bg>
    <p:spTree>
      <p:nvGrpSpPr>
        <p:cNvPr id="1" name=""/>
        <p:cNvGrpSpPr/>
        <p:nvPr/>
      </p:nvGrpSpPr>
      <p:grpSpPr/>
      <p:sp>
        <p:nvSpPr>
          <p:cNvPr id="2" name="Rectangle 1"/>
          <p:cNvSpPr/>
          <p:nvPr/>
        </p:nvSpPr>
        <p:spPr>
          <a:xfrm>
            <a:off x="0" y="0"/>
            <a:ext cx="9144000" cy="100584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8229600" cy="594360"/>
          </a:xfrm>
          <a:prstGeom prst="rect">
            <a:avLst/>
          </a:prstGeom>
          <a:noFill/>
        </p:spPr>
        <p:txBody>
          <a:bodyPr wrap="square">
            <a:spAutoFit/>
          </a:bodyPr>
          <a:lstStyle/>
          <a:p>
            <a:pPr algn="l"/>
            <a:r>
              <a:rPr sz="2600" b="1">
                <a:solidFill>
                  <a:srgbClr val="FFFFFF"/>
                </a:solidFill>
                <a:latin typeface="Calibri"/>
              </a:rPr>
              <a:t>Volunteer Roles and Responsibilities</a:t>
            </a:r>
          </a:p>
        </p:txBody>
      </p:sp>
      <p:sp>
        <p:nvSpPr>
          <p:cNvPr id="5" name="Rectangle 4"/>
          <p:cNvSpPr/>
          <p:nvPr/>
        </p:nvSpPr>
        <p:spPr>
          <a:xfrm>
            <a:off x="365760" y="1188720"/>
            <a:ext cx="4206240" cy="2286000"/>
          </a:xfrm>
          <a:prstGeom prst="rect">
            <a:avLst/>
          </a:prstGeom>
          <a:solidFill>
            <a:srgbClr val="F3E6FD"/>
          </a:solidFill>
          <a:ln w="12700">
            <a:solidFill>
              <a:srgbClr val="7B2D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4206240" cy="41148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243584"/>
            <a:ext cx="4023360" cy="320040"/>
          </a:xfrm>
          <a:prstGeom prst="rect">
            <a:avLst/>
          </a:prstGeom>
          <a:noFill/>
        </p:spPr>
        <p:txBody>
          <a:bodyPr wrap="square">
            <a:spAutoFit/>
          </a:bodyPr>
          <a:lstStyle/>
          <a:p>
            <a:pPr algn="l"/>
            <a:r>
              <a:rPr sz="1200" b="1">
                <a:solidFill>
                  <a:srgbClr val="FFFFFF"/>
                </a:solidFill>
                <a:latin typeface="Calibri"/>
              </a:rPr>
              <a:t>1. Intake and Registration</a:t>
            </a:r>
          </a:p>
        </p:txBody>
      </p:sp>
      <p:sp>
        <p:nvSpPr>
          <p:cNvPr id="8" name="TextBox 7"/>
          <p:cNvSpPr txBox="1"/>
          <p:nvPr/>
        </p:nvSpPr>
        <p:spPr>
          <a:xfrm>
            <a:off x="475488" y="1691640"/>
            <a:ext cx="3977639" cy="1691640"/>
          </a:xfrm>
          <a:prstGeom prst="rect">
            <a:avLst/>
          </a:prstGeom>
          <a:noFill/>
        </p:spPr>
        <p:txBody>
          <a:bodyPr wrap="square">
            <a:spAutoFit/>
          </a:bodyPr>
          <a:lstStyle/>
          <a:p>
            <a:pPr algn="l"/>
            <a:r>
              <a:rPr sz="1000" b="0">
                <a:solidFill>
                  <a:srgbClr val="1A0A2E"/>
                </a:solidFill>
                <a:latin typeface="Calibri"/>
              </a:rPr>
              <a:t>First point of contact for community members at clinic events. Collect basic demographic information, record reasons for visit, and explain services available. Maintain confidentiality per HIPAA guidelines covered in volunteer orientation.</a:t>
            </a:r>
          </a:p>
        </p:txBody>
      </p:sp>
      <p:sp>
        <p:nvSpPr>
          <p:cNvPr id="9" name="Rectangle 8"/>
          <p:cNvSpPr/>
          <p:nvPr/>
        </p:nvSpPr>
        <p:spPr>
          <a:xfrm>
            <a:off x="4754880" y="1188720"/>
            <a:ext cx="4206240" cy="2286000"/>
          </a:xfrm>
          <a:prstGeom prst="rect">
            <a:avLst/>
          </a:prstGeom>
          <a:solidFill>
            <a:srgbClr val="F3E6FD"/>
          </a:solidFill>
          <a:ln w="12700">
            <a:solidFill>
              <a:srgbClr val="7B2D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54880" y="1188720"/>
            <a:ext cx="4206240" cy="41148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243584"/>
            <a:ext cx="4023360" cy="320040"/>
          </a:xfrm>
          <a:prstGeom prst="rect">
            <a:avLst/>
          </a:prstGeom>
          <a:noFill/>
        </p:spPr>
        <p:txBody>
          <a:bodyPr wrap="square">
            <a:spAutoFit/>
          </a:bodyPr>
          <a:lstStyle/>
          <a:p>
            <a:pPr algn="l"/>
            <a:r>
              <a:rPr sz="1200" b="1">
                <a:solidFill>
                  <a:srgbClr val="FFFFFF"/>
                </a:solidFill>
                <a:latin typeface="Calibri"/>
              </a:rPr>
              <a:t>2. Blood Pressure Screening Station</a:t>
            </a:r>
          </a:p>
        </p:txBody>
      </p:sp>
      <p:sp>
        <p:nvSpPr>
          <p:cNvPr id="12" name="TextBox 11"/>
          <p:cNvSpPr txBox="1"/>
          <p:nvPr/>
        </p:nvSpPr>
        <p:spPr>
          <a:xfrm>
            <a:off x="4864608" y="1691640"/>
            <a:ext cx="3977639" cy="1691640"/>
          </a:xfrm>
          <a:prstGeom prst="rect">
            <a:avLst/>
          </a:prstGeom>
          <a:noFill/>
        </p:spPr>
        <p:txBody>
          <a:bodyPr wrap="square">
            <a:spAutoFit/>
          </a:bodyPr>
          <a:lstStyle/>
          <a:p>
            <a:pPr algn="l"/>
            <a:r>
              <a:rPr sz="1000" b="0">
                <a:solidFill>
                  <a:srgbClr val="1A0A2E"/>
                </a:solidFill>
                <a:latin typeface="Calibri"/>
              </a:rPr>
              <a:t>Perform manual BP readings using calibrated equipment. Record readings, flag values above 140/90 for nurse follow-up, and provide basic education on hypertension risk factors. This skill directly supports A&amp;P II and future clinical work.</a:t>
            </a:r>
          </a:p>
        </p:txBody>
      </p:sp>
      <p:sp>
        <p:nvSpPr>
          <p:cNvPr id="13" name="Rectangle 12"/>
          <p:cNvSpPr/>
          <p:nvPr/>
        </p:nvSpPr>
        <p:spPr>
          <a:xfrm>
            <a:off x="365760" y="3611880"/>
            <a:ext cx="4206240" cy="2286000"/>
          </a:xfrm>
          <a:prstGeom prst="rect">
            <a:avLst/>
          </a:prstGeom>
          <a:solidFill>
            <a:srgbClr val="F3E6FD"/>
          </a:solidFill>
          <a:ln w="12700">
            <a:solidFill>
              <a:srgbClr val="7B2D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3611880"/>
            <a:ext cx="4206240" cy="41148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3666744"/>
            <a:ext cx="4023360" cy="320040"/>
          </a:xfrm>
          <a:prstGeom prst="rect">
            <a:avLst/>
          </a:prstGeom>
          <a:noFill/>
        </p:spPr>
        <p:txBody>
          <a:bodyPr wrap="square">
            <a:spAutoFit/>
          </a:bodyPr>
          <a:lstStyle/>
          <a:p>
            <a:pPr algn="l"/>
            <a:r>
              <a:rPr sz="1200" b="1">
                <a:solidFill>
                  <a:srgbClr val="FFFFFF"/>
                </a:solidFill>
                <a:latin typeface="Calibri"/>
              </a:rPr>
              <a:t>3. Health Education Distribution</a:t>
            </a:r>
          </a:p>
        </p:txBody>
      </p:sp>
      <p:sp>
        <p:nvSpPr>
          <p:cNvPr id="16" name="TextBox 15"/>
          <p:cNvSpPr txBox="1"/>
          <p:nvPr/>
        </p:nvSpPr>
        <p:spPr>
          <a:xfrm>
            <a:off x="475488" y="4114800"/>
            <a:ext cx="3977639" cy="1691640"/>
          </a:xfrm>
          <a:prstGeom prst="rect">
            <a:avLst/>
          </a:prstGeom>
          <a:noFill/>
        </p:spPr>
        <p:txBody>
          <a:bodyPr wrap="square">
            <a:spAutoFit/>
          </a:bodyPr>
          <a:lstStyle/>
          <a:p>
            <a:pPr algn="l"/>
            <a:r>
              <a:rPr sz="1000" b="0">
                <a:solidFill>
                  <a:srgbClr val="1A0A2E"/>
                </a:solidFill>
                <a:latin typeface="Calibri"/>
              </a:rPr>
              <a:t>Distribute and explain health education materials on diabetes prevention, heart disease, and nutrition. Materials available in English and Spanish. Volunteers coordinate with faculty to ensure accuracy of information shared.</a:t>
            </a:r>
          </a:p>
        </p:txBody>
      </p:sp>
      <p:sp>
        <p:nvSpPr>
          <p:cNvPr id="17" name="Rectangle 16"/>
          <p:cNvSpPr/>
          <p:nvPr/>
        </p:nvSpPr>
        <p:spPr>
          <a:xfrm>
            <a:off x="4754880" y="3611880"/>
            <a:ext cx="4206240" cy="2286000"/>
          </a:xfrm>
          <a:prstGeom prst="rect">
            <a:avLst/>
          </a:prstGeom>
          <a:solidFill>
            <a:srgbClr val="F3E6FD"/>
          </a:solidFill>
          <a:ln w="12700">
            <a:solidFill>
              <a:srgbClr val="7B2D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754880" y="3611880"/>
            <a:ext cx="4206240" cy="41148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0" y="3666744"/>
            <a:ext cx="4023360" cy="320040"/>
          </a:xfrm>
          <a:prstGeom prst="rect">
            <a:avLst/>
          </a:prstGeom>
          <a:noFill/>
        </p:spPr>
        <p:txBody>
          <a:bodyPr wrap="square">
            <a:spAutoFit/>
          </a:bodyPr>
          <a:lstStyle/>
          <a:p>
            <a:pPr algn="l"/>
            <a:r>
              <a:rPr sz="1200" b="1">
                <a:solidFill>
                  <a:srgbClr val="FFFFFF"/>
                </a:solidFill>
                <a:latin typeface="Calibri"/>
              </a:rPr>
              <a:t>4. Data Recording and Log Submission</a:t>
            </a:r>
          </a:p>
        </p:txBody>
      </p:sp>
      <p:sp>
        <p:nvSpPr>
          <p:cNvPr id="20" name="TextBox 19"/>
          <p:cNvSpPr txBox="1"/>
          <p:nvPr/>
        </p:nvSpPr>
        <p:spPr>
          <a:xfrm>
            <a:off x="4864608" y="4114800"/>
            <a:ext cx="3977639" cy="1691640"/>
          </a:xfrm>
          <a:prstGeom prst="rect">
            <a:avLst/>
          </a:prstGeom>
          <a:noFill/>
        </p:spPr>
        <p:txBody>
          <a:bodyPr wrap="square">
            <a:spAutoFit/>
          </a:bodyPr>
          <a:lstStyle/>
          <a:p>
            <a:pPr algn="l"/>
            <a:r>
              <a:rPr sz="1000" b="0">
                <a:solidFill>
                  <a:srgbClr val="1A0A2E"/>
                </a:solidFill>
                <a:latin typeface="Calibri"/>
              </a:rPr>
              <a:t>Complete participant encounter forms accurately and submit to the supervising faculty coordinator. Data is de-identified and used in program reports and grant applications. Hassan's service log submitted per semester.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AFF"/>
        </a:solidFill>
        <a:effectLst/>
      </p:bgPr>
    </p:bg>
    <p:spTree>
      <p:nvGrpSpPr>
        <p:cNvPr id="1" name=""/>
        <p:cNvGrpSpPr/>
        <p:nvPr/>
      </p:nvGrpSpPr>
      <p:grpSpPr/>
      <p:sp>
        <p:nvSpPr>
          <p:cNvPr id="2" name="Rectangle 1"/>
          <p:cNvSpPr/>
          <p:nvPr/>
        </p:nvSpPr>
        <p:spPr>
          <a:xfrm>
            <a:off x="0" y="0"/>
            <a:ext cx="9144000" cy="1005840"/>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8229600" cy="594360"/>
          </a:xfrm>
          <a:prstGeom prst="rect">
            <a:avLst/>
          </a:prstGeom>
          <a:noFill/>
        </p:spPr>
        <p:txBody>
          <a:bodyPr wrap="square">
            <a:spAutoFit/>
          </a:bodyPr>
          <a:lstStyle/>
          <a:p>
            <a:pPr algn="l"/>
            <a:r>
              <a:rPr sz="2400" b="1">
                <a:solidFill>
                  <a:srgbClr val="FFFFFF"/>
                </a:solidFill>
                <a:latin typeface="Calibri"/>
              </a:rPr>
              <a:t>Personal Service Log - Hassan Blanchard</a:t>
            </a:r>
          </a:p>
        </p:txBody>
      </p:sp>
      <p:sp>
        <p:nvSpPr>
          <p:cNvPr id="5" name="Rectangle 4"/>
          <p:cNvSpPr/>
          <p:nvPr/>
        </p:nvSpPr>
        <p:spPr>
          <a:xfrm>
            <a:off x="365760" y="1143000"/>
            <a:ext cx="8412480" cy="384048"/>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161288"/>
            <a:ext cx="1097280" cy="347472"/>
          </a:xfrm>
          <a:prstGeom prst="rect">
            <a:avLst/>
          </a:prstGeom>
          <a:noFill/>
        </p:spPr>
        <p:txBody>
          <a:bodyPr wrap="square">
            <a:spAutoFit/>
          </a:bodyPr>
          <a:lstStyle/>
          <a:p>
            <a:pPr algn="l"/>
            <a:r>
              <a:rPr sz="1100" b="1">
                <a:solidFill>
                  <a:srgbClr val="FFFFFF"/>
                </a:solidFill>
                <a:latin typeface="Calibri"/>
              </a:rPr>
              <a:t>Date</a:t>
            </a:r>
          </a:p>
        </p:txBody>
      </p:sp>
      <p:sp>
        <p:nvSpPr>
          <p:cNvPr id="7" name="TextBox 6"/>
          <p:cNvSpPr txBox="1"/>
          <p:nvPr/>
        </p:nvSpPr>
        <p:spPr>
          <a:xfrm>
            <a:off x="1508760" y="1161288"/>
            <a:ext cx="2834640" cy="347472"/>
          </a:xfrm>
          <a:prstGeom prst="rect">
            <a:avLst/>
          </a:prstGeom>
          <a:noFill/>
        </p:spPr>
        <p:txBody>
          <a:bodyPr wrap="square">
            <a:spAutoFit/>
          </a:bodyPr>
          <a:lstStyle/>
          <a:p>
            <a:pPr algn="l"/>
            <a:r>
              <a:rPr sz="1100" b="1">
                <a:solidFill>
                  <a:srgbClr val="FFFFFF"/>
                </a:solidFill>
                <a:latin typeface="Calibri"/>
              </a:rPr>
              <a:t>Event / Location</a:t>
            </a:r>
          </a:p>
        </p:txBody>
      </p:sp>
      <p:sp>
        <p:nvSpPr>
          <p:cNvPr id="8" name="TextBox 7"/>
          <p:cNvSpPr txBox="1"/>
          <p:nvPr/>
        </p:nvSpPr>
        <p:spPr>
          <a:xfrm>
            <a:off x="4389120" y="1161288"/>
            <a:ext cx="1828800" cy="347472"/>
          </a:xfrm>
          <a:prstGeom prst="rect">
            <a:avLst/>
          </a:prstGeom>
          <a:noFill/>
        </p:spPr>
        <p:txBody>
          <a:bodyPr wrap="square">
            <a:spAutoFit/>
          </a:bodyPr>
          <a:lstStyle/>
          <a:p>
            <a:pPr algn="l"/>
            <a:r>
              <a:rPr sz="1100" b="1">
                <a:solidFill>
                  <a:srgbClr val="FFFFFF"/>
                </a:solidFill>
                <a:latin typeface="Calibri"/>
              </a:rPr>
              <a:t>Role</a:t>
            </a:r>
          </a:p>
        </p:txBody>
      </p:sp>
      <p:sp>
        <p:nvSpPr>
          <p:cNvPr id="9" name="TextBox 8"/>
          <p:cNvSpPr txBox="1"/>
          <p:nvPr/>
        </p:nvSpPr>
        <p:spPr>
          <a:xfrm>
            <a:off x="6263640" y="1161288"/>
            <a:ext cx="731520" cy="347472"/>
          </a:xfrm>
          <a:prstGeom prst="rect">
            <a:avLst/>
          </a:prstGeom>
          <a:noFill/>
        </p:spPr>
        <p:txBody>
          <a:bodyPr wrap="square">
            <a:spAutoFit/>
          </a:bodyPr>
          <a:lstStyle/>
          <a:p>
            <a:pPr algn="l"/>
            <a:r>
              <a:rPr sz="1100" b="1">
                <a:solidFill>
                  <a:srgbClr val="FFFFFF"/>
                </a:solidFill>
                <a:latin typeface="Calibri"/>
              </a:rPr>
              <a:t>Hours</a:t>
            </a:r>
          </a:p>
        </p:txBody>
      </p:sp>
      <p:sp>
        <p:nvSpPr>
          <p:cNvPr id="10" name="TextBox 9"/>
          <p:cNvSpPr txBox="1"/>
          <p:nvPr/>
        </p:nvSpPr>
        <p:spPr>
          <a:xfrm>
            <a:off x="7040880" y="1161288"/>
            <a:ext cx="1645920" cy="347472"/>
          </a:xfrm>
          <a:prstGeom prst="rect">
            <a:avLst/>
          </a:prstGeom>
          <a:noFill/>
        </p:spPr>
        <p:txBody>
          <a:bodyPr wrap="square">
            <a:spAutoFit/>
          </a:bodyPr>
          <a:lstStyle/>
          <a:p>
            <a:pPr algn="l"/>
            <a:r>
              <a:rPr sz="1100" b="1">
                <a:solidFill>
                  <a:srgbClr val="FFFFFF"/>
                </a:solidFill>
                <a:latin typeface="Calibri"/>
              </a:rPr>
              <a:t>Supervisor Verified</a:t>
            </a:r>
          </a:p>
        </p:txBody>
      </p:sp>
      <p:sp>
        <p:nvSpPr>
          <p:cNvPr id="11" name="Rectangle 10"/>
          <p:cNvSpPr/>
          <p:nvPr/>
        </p:nvSpPr>
        <p:spPr>
          <a:xfrm>
            <a:off x="365760" y="1527048"/>
            <a:ext cx="8412480" cy="594360"/>
          </a:xfrm>
          <a:prstGeom prst="rect">
            <a:avLst/>
          </a:prstGeom>
          <a:solidFill>
            <a:srgbClr val="FA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618488"/>
            <a:ext cx="1097280" cy="457200"/>
          </a:xfrm>
          <a:prstGeom prst="rect">
            <a:avLst/>
          </a:prstGeom>
          <a:noFill/>
        </p:spPr>
        <p:txBody>
          <a:bodyPr wrap="square">
            <a:spAutoFit/>
          </a:bodyPr>
          <a:lstStyle/>
          <a:p>
            <a:pPr algn="l"/>
            <a:r>
              <a:rPr sz="1000" b="0">
                <a:solidFill>
                  <a:srgbClr val="1A0A2E"/>
                </a:solidFill>
                <a:latin typeface="Calibri"/>
              </a:rPr>
              <a:t>Nov 8, 2025</a:t>
            </a:r>
          </a:p>
        </p:txBody>
      </p:sp>
      <p:sp>
        <p:nvSpPr>
          <p:cNvPr id="13" name="TextBox 12"/>
          <p:cNvSpPr txBox="1"/>
          <p:nvPr/>
        </p:nvSpPr>
        <p:spPr>
          <a:xfrm>
            <a:off x="1508760" y="1618488"/>
            <a:ext cx="2834640" cy="457200"/>
          </a:xfrm>
          <a:prstGeom prst="rect">
            <a:avLst/>
          </a:prstGeom>
          <a:noFill/>
        </p:spPr>
        <p:txBody>
          <a:bodyPr wrap="square">
            <a:spAutoFit/>
          </a:bodyPr>
          <a:lstStyle/>
          <a:p>
            <a:pPr algn="l"/>
            <a:r>
              <a:rPr sz="1000" b="0">
                <a:solidFill>
                  <a:srgbClr val="1A0A2E"/>
                </a:solidFill>
                <a:latin typeface="Calibri"/>
              </a:rPr>
              <a:t>HEP Community Health Fair - West End Community Center</a:t>
            </a:r>
          </a:p>
        </p:txBody>
      </p:sp>
      <p:sp>
        <p:nvSpPr>
          <p:cNvPr id="14" name="TextBox 13"/>
          <p:cNvSpPr txBox="1"/>
          <p:nvPr/>
        </p:nvSpPr>
        <p:spPr>
          <a:xfrm>
            <a:off x="4389120" y="1618488"/>
            <a:ext cx="1828800" cy="457200"/>
          </a:xfrm>
          <a:prstGeom prst="rect">
            <a:avLst/>
          </a:prstGeom>
          <a:noFill/>
        </p:spPr>
        <p:txBody>
          <a:bodyPr wrap="square">
            <a:spAutoFit/>
          </a:bodyPr>
          <a:lstStyle/>
          <a:p>
            <a:pPr algn="l"/>
            <a:r>
              <a:rPr sz="1000" b="0">
                <a:solidFill>
                  <a:srgbClr val="1A0A2E"/>
                </a:solidFill>
                <a:latin typeface="Calibri"/>
              </a:rPr>
              <a:t>Intake and Registration</a:t>
            </a:r>
          </a:p>
        </p:txBody>
      </p:sp>
      <p:sp>
        <p:nvSpPr>
          <p:cNvPr id="15" name="TextBox 14"/>
          <p:cNvSpPr txBox="1"/>
          <p:nvPr/>
        </p:nvSpPr>
        <p:spPr>
          <a:xfrm>
            <a:off x="6263640" y="1618488"/>
            <a:ext cx="731520" cy="457200"/>
          </a:xfrm>
          <a:prstGeom prst="rect">
            <a:avLst/>
          </a:prstGeom>
          <a:noFill/>
        </p:spPr>
        <p:txBody>
          <a:bodyPr wrap="square">
            <a:spAutoFit/>
          </a:bodyPr>
          <a:lstStyle/>
          <a:p>
            <a:pPr algn="l"/>
            <a:r>
              <a:rPr sz="1000" b="0">
                <a:solidFill>
                  <a:srgbClr val="1A0A2E"/>
                </a:solidFill>
                <a:latin typeface="Calibri"/>
              </a:rPr>
              <a:t>4 hrs</a:t>
            </a:r>
          </a:p>
        </p:txBody>
      </p:sp>
      <p:sp>
        <p:nvSpPr>
          <p:cNvPr id="16" name="Rectangle 15"/>
          <p:cNvSpPr/>
          <p:nvPr/>
        </p:nvSpPr>
        <p:spPr>
          <a:xfrm>
            <a:off x="7040880" y="1636776"/>
            <a:ext cx="1371600" cy="365760"/>
          </a:xfrm>
          <a:prstGeom prst="rect">
            <a:avLst/>
          </a:prstGeom>
          <a:solidFill>
            <a:srgbClr val="E8F8F0"/>
          </a:solidFill>
          <a:ln w="12700">
            <a:solidFill>
              <a:srgbClr val="2D8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59168" y="1636776"/>
            <a:ext cx="1335024" cy="365760"/>
          </a:xfrm>
          <a:prstGeom prst="rect">
            <a:avLst/>
          </a:prstGeom>
          <a:noFill/>
        </p:spPr>
        <p:txBody>
          <a:bodyPr wrap="square">
            <a:spAutoFit/>
          </a:bodyPr>
          <a:lstStyle/>
          <a:p>
            <a:pPr algn="ctr"/>
            <a:r>
              <a:rPr sz="1000" b="1">
                <a:solidFill>
                  <a:srgbClr val="2D8F5E"/>
                </a:solidFill>
                <a:latin typeface="Calibri"/>
              </a:rPr>
              <a:t>Verified</a:t>
            </a:r>
          </a:p>
        </p:txBody>
      </p:sp>
      <p:sp>
        <p:nvSpPr>
          <p:cNvPr id="18" name="Rectangle 17"/>
          <p:cNvSpPr/>
          <p:nvPr/>
        </p:nvSpPr>
        <p:spPr>
          <a:xfrm>
            <a:off x="365760" y="2176272"/>
            <a:ext cx="8412480" cy="594360"/>
          </a:xfrm>
          <a:prstGeom prst="rect">
            <a:avLst/>
          </a:prstGeom>
          <a:solidFill>
            <a:srgbClr val="F3E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2267712"/>
            <a:ext cx="1097280" cy="457200"/>
          </a:xfrm>
          <a:prstGeom prst="rect">
            <a:avLst/>
          </a:prstGeom>
          <a:noFill/>
        </p:spPr>
        <p:txBody>
          <a:bodyPr wrap="square">
            <a:spAutoFit/>
          </a:bodyPr>
          <a:lstStyle/>
          <a:p>
            <a:pPr algn="l"/>
            <a:r>
              <a:rPr sz="1000" b="0">
                <a:solidFill>
                  <a:srgbClr val="1A0A2E"/>
                </a:solidFill>
                <a:latin typeface="Calibri"/>
              </a:rPr>
              <a:t>Jan 17, 2026</a:t>
            </a:r>
          </a:p>
        </p:txBody>
      </p:sp>
      <p:sp>
        <p:nvSpPr>
          <p:cNvPr id="20" name="TextBox 19"/>
          <p:cNvSpPr txBox="1"/>
          <p:nvPr/>
        </p:nvSpPr>
        <p:spPr>
          <a:xfrm>
            <a:off x="1508760" y="2267712"/>
            <a:ext cx="2834640" cy="457200"/>
          </a:xfrm>
          <a:prstGeom prst="rect">
            <a:avLst/>
          </a:prstGeom>
          <a:noFill/>
        </p:spPr>
        <p:txBody>
          <a:bodyPr wrap="square">
            <a:spAutoFit/>
          </a:bodyPr>
          <a:lstStyle/>
          <a:p>
            <a:pPr algn="l"/>
            <a:r>
              <a:rPr sz="1000" b="0">
                <a:solidFill>
                  <a:srgbClr val="1A0A2E"/>
                </a:solidFill>
                <a:latin typeface="Calibri"/>
              </a:rPr>
              <a:t>Free Clinic - Westview Baptist Fellowship</a:t>
            </a:r>
          </a:p>
        </p:txBody>
      </p:sp>
      <p:sp>
        <p:nvSpPr>
          <p:cNvPr id="21" name="TextBox 20"/>
          <p:cNvSpPr txBox="1"/>
          <p:nvPr/>
        </p:nvSpPr>
        <p:spPr>
          <a:xfrm>
            <a:off x="4389120" y="2267712"/>
            <a:ext cx="1828800" cy="457200"/>
          </a:xfrm>
          <a:prstGeom prst="rect">
            <a:avLst/>
          </a:prstGeom>
          <a:noFill/>
        </p:spPr>
        <p:txBody>
          <a:bodyPr wrap="square">
            <a:spAutoFit/>
          </a:bodyPr>
          <a:lstStyle/>
          <a:p>
            <a:pPr algn="l"/>
            <a:r>
              <a:rPr sz="1000" b="0">
                <a:solidFill>
                  <a:srgbClr val="1A0A2E"/>
                </a:solidFill>
                <a:latin typeface="Calibri"/>
              </a:rPr>
              <a:t>BP Screening Station</a:t>
            </a:r>
          </a:p>
        </p:txBody>
      </p:sp>
      <p:sp>
        <p:nvSpPr>
          <p:cNvPr id="22" name="TextBox 21"/>
          <p:cNvSpPr txBox="1"/>
          <p:nvPr/>
        </p:nvSpPr>
        <p:spPr>
          <a:xfrm>
            <a:off x="6263640" y="2267712"/>
            <a:ext cx="731520" cy="457200"/>
          </a:xfrm>
          <a:prstGeom prst="rect">
            <a:avLst/>
          </a:prstGeom>
          <a:noFill/>
        </p:spPr>
        <p:txBody>
          <a:bodyPr wrap="square">
            <a:spAutoFit/>
          </a:bodyPr>
          <a:lstStyle/>
          <a:p>
            <a:pPr algn="l"/>
            <a:r>
              <a:rPr sz="1000" b="0">
                <a:solidFill>
                  <a:srgbClr val="1A0A2E"/>
                </a:solidFill>
                <a:latin typeface="Calibri"/>
              </a:rPr>
              <a:t>4 hrs</a:t>
            </a:r>
          </a:p>
        </p:txBody>
      </p:sp>
      <p:sp>
        <p:nvSpPr>
          <p:cNvPr id="23" name="Rectangle 22"/>
          <p:cNvSpPr/>
          <p:nvPr/>
        </p:nvSpPr>
        <p:spPr>
          <a:xfrm>
            <a:off x="7040880" y="2286000"/>
            <a:ext cx="1371600" cy="365760"/>
          </a:xfrm>
          <a:prstGeom prst="rect">
            <a:avLst/>
          </a:prstGeom>
          <a:solidFill>
            <a:srgbClr val="E8F8F0"/>
          </a:solidFill>
          <a:ln w="12700">
            <a:solidFill>
              <a:srgbClr val="2D8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059168" y="2286000"/>
            <a:ext cx="1335024" cy="365760"/>
          </a:xfrm>
          <a:prstGeom prst="rect">
            <a:avLst/>
          </a:prstGeom>
          <a:noFill/>
        </p:spPr>
        <p:txBody>
          <a:bodyPr wrap="square">
            <a:spAutoFit/>
          </a:bodyPr>
          <a:lstStyle/>
          <a:p>
            <a:pPr algn="ctr"/>
            <a:r>
              <a:rPr sz="1000" b="1">
                <a:solidFill>
                  <a:srgbClr val="2D8F5E"/>
                </a:solidFill>
                <a:latin typeface="Calibri"/>
              </a:rPr>
              <a:t>Verified</a:t>
            </a:r>
          </a:p>
        </p:txBody>
      </p:sp>
      <p:sp>
        <p:nvSpPr>
          <p:cNvPr id="25" name="Rectangle 24"/>
          <p:cNvSpPr/>
          <p:nvPr/>
        </p:nvSpPr>
        <p:spPr>
          <a:xfrm>
            <a:off x="365760" y="2825496"/>
            <a:ext cx="8412480" cy="594360"/>
          </a:xfrm>
          <a:prstGeom prst="rect">
            <a:avLst/>
          </a:prstGeom>
          <a:solidFill>
            <a:srgbClr val="FA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5760" y="2916936"/>
            <a:ext cx="1097280" cy="457200"/>
          </a:xfrm>
          <a:prstGeom prst="rect">
            <a:avLst/>
          </a:prstGeom>
          <a:noFill/>
        </p:spPr>
        <p:txBody>
          <a:bodyPr wrap="square">
            <a:spAutoFit/>
          </a:bodyPr>
          <a:lstStyle/>
          <a:p>
            <a:pPr algn="l"/>
            <a:r>
              <a:rPr sz="1000" b="0">
                <a:solidFill>
                  <a:srgbClr val="1A0A2E"/>
                </a:solidFill>
                <a:latin typeface="Calibri"/>
              </a:rPr>
              <a:t>Feb 28, 2026</a:t>
            </a:r>
          </a:p>
        </p:txBody>
      </p:sp>
      <p:sp>
        <p:nvSpPr>
          <p:cNvPr id="27" name="TextBox 26"/>
          <p:cNvSpPr txBox="1"/>
          <p:nvPr/>
        </p:nvSpPr>
        <p:spPr>
          <a:xfrm>
            <a:off x="1508760" y="2916936"/>
            <a:ext cx="2834640" cy="457200"/>
          </a:xfrm>
          <a:prstGeom prst="rect">
            <a:avLst/>
          </a:prstGeom>
          <a:noFill/>
        </p:spPr>
        <p:txBody>
          <a:bodyPr wrap="square">
            <a:spAutoFit/>
          </a:bodyPr>
          <a:lstStyle/>
          <a:p>
            <a:pPr algn="l"/>
            <a:r>
              <a:rPr sz="1000" b="0">
                <a:solidFill>
                  <a:srgbClr val="1A0A2E"/>
                </a:solidFill>
                <a:latin typeface="Calibri"/>
              </a:rPr>
              <a:t>Diabetes Awareness Workshop - MLK Recreation Center</a:t>
            </a:r>
          </a:p>
        </p:txBody>
      </p:sp>
      <p:sp>
        <p:nvSpPr>
          <p:cNvPr id="28" name="TextBox 27"/>
          <p:cNvSpPr txBox="1"/>
          <p:nvPr/>
        </p:nvSpPr>
        <p:spPr>
          <a:xfrm>
            <a:off x="4389120" y="2916936"/>
            <a:ext cx="1828800" cy="457200"/>
          </a:xfrm>
          <a:prstGeom prst="rect">
            <a:avLst/>
          </a:prstGeom>
          <a:noFill/>
        </p:spPr>
        <p:txBody>
          <a:bodyPr wrap="square">
            <a:spAutoFit/>
          </a:bodyPr>
          <a:lstStyle/>
          <a:p>
            <a:pPr algn="l"/>
            <a:r>
              <a:rPr sz="1000" b="0">
                <a:solidFill>
                  <a:srgbClr val="1A0A2E"/>
                </a:solidFill>
                <a:latin typeface="Calibri"/>
              </a:rPr>
              <a:t>Health Ed Distributor</a:t>
            </a:r>
          </a:p>
        </p:txBody>
      </p:sp>
      <p:sp>
        <p:nvSpPr>
          <p:cNvPr id="29" name="TextBox 28"/>
          <p:cNvSpPr txBox="1"/>
          <p:nvPr/>
        </p:nvSpPr>
        <p:spPr>
          <a:xfrm>
            <a:off x="6263640" y="2916936"/>
            <a:ext cx="731520" cy="457200"/>
          </a:xfrm>
          <a:prstGeom prst="rect">
            <a:avLst/>
          </a:prstGeom>
          <a:noFill/>
        </p:spPr>
        <p:txBody>
          <a:bodyPr wrap="square">
            <a:spAutoFit/>
          </a:bodyPr>
          <a:lstStyle/>
          <a:p>
            <a:pPr algn="l"/>
            <a:r>
              <a:rPr sz="1000" b="0">
                <a:solidFill>
                  <a:srgbClr val="1A0A2E"/>
                </a:solidFill>
                <a:latin typeface="Calibri"/>
              </a:rPr>
              <a:t>4 hrs</a:t>
            </a:r>
          </a:p>
        </p:txBody>
      </p:sp>
      <p:sp>
        <p:nvSpPr>
          <p:cNvPr id="30" name="Rectangle 29"/>
          <p:cNvSpPr/>
          <p:nvPr/>
        </p:nvSpPr>
        <p:spPr>
          <a:xfrm>
            <a:off x="7040880" y="2935224"/>
            <a:ext cx="1371600" cy="365760"/>
          </a:xfrm>
          <a:prstGeom prst="rect">
            <a:avLst/>
          </a:prstGeom>
          <a:solidFill>
            <a:srgbClr val="E8F8F0"/>
          </a:solidFill>
          <a:ln w="12700">
            <a:solidFill>
              <a:srgbClr val="2D8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59168" y="2935224"/>
            <a:ext cx="1335024" cy="365760"/>
          </a:xfrm>
          <a:prstGeom prst="rect">
            <a:avLst/>
          </a:prstGeom>
          <a:noFill/>
        </p:spPr>
        <p:txBody>
          <a:bodyPr wrap="square">
            <a:spAutoFit/>
          </a:bodyPr>
          <a:lstStyle/>
          <a:p>
            <a:pPr algn="ctr"/>
            <a:r>
              <a:rPr sz="1000" b="1">
                <a:solidFill>
                  <a:srgbClr val="2D8F5E"/>
                </a:solidFill>
                <a:latin typeface="Calibri"/>
              </a:rPr>
              <a:t>Verified</a:t>
            </a:r>
          </a:p>
        </p:txBody>
      </p:sp>
      <p:sp>
        <p:nvSpPr>
          <p:cNvPr id="32" name="Rectangle 31"/>
          <p:cNvSpPr/>
          <p:nvPr/>
        </p:nvSpPr>
        <p:spPr>
          <a:xfrm>
            <a:off x="365760" y="3474720"/>
            <a:ext cx="8412480" cy="594360"/>
          </a:xfrm>
          <a:prstGeom prst="rect">
            <a:avLst/>
          </a:prstGeom>
          <a:solidFill>
            <a:srgbClr val="F3E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3566160"/>
            <a:ext cx="1097280" cy="457200"/>
          </a:xfrm>
          <a:prstGeom prst="rect">
            <a:avLst/>
          </a:prstGeom>
          <a:noFill/>
        </p:spPr>
        <p:txBody>
          <a:bodyPr wrap="square">
            <a:spAutoFit/>
          </a:bodyPr>
          <a:lstStyle/>
          <a:p>
            <a:pPr algn="l"/>
            <a:r>
              <a:rPr sz="1000" b="0">
                <a:solidFill>
                  <a:srgbClr val="1A0A2E"/>
                </a:solidFill>
                <a:latin typeface="Calibri"/>
              </a:rPr>
              <a:t>Oct 18, 2026</a:t>
            </a:r>
          </a:p>
        </p:txBody>
      </p:sp>
      <p:sp>
        <p:nvSpPr>
          <p:cNvPr id="34" name="TextBox 33"/>
          <p:cNvSpPr txBox="1"/>
          <p:nvPr/>
        </p:nvSpPr>
        <p:spPr>
          <a:xfrm>
            <a:off x="1508760" y="3566160"/>
            <a:ext cx="2834640" cy="457200"/>
          </a:xfrm>
          <a:prstGeom prst="rect">
            <a:avLst/>
          </a:prstGeom>
          <a:noFill/>
        </p:spPr>
        <p:txBody>
          <a:bodyPr wrap="square">
            <a:spAutoFit/>
          </a:bodyPr>
          <a:lstStyle/>
          <a:p>
            <a:pPr algn="l"/>
            <a:r>
              <a:rPr sz="1000" b="0">
                <a:solidFill>
                  <a:srgbClr val="1A0A2E"/>
                </a:solidFill>
                <a:latin typeface="Calibri"/>
              </a:rPr>
              <a:t>Fall Community Health Fair</a:t>
            </a:r>
          </a:p>
        </p:txBody>
      </p:sp>
      <p:sp>
        <p:nvSpPr>
          <p:cNvPr id="35" name="TextBox 34"/>
          <p:cNvSpPr txBox="1"/>
          <p:nvPr/>
        </p:nvSpPr>
        <p:spPr>
          <a:xfrm>
            <a:off x="4389120" y="3566160"/>
            <a:ext cx="1828800" cy="457200"/>
          </a:xfrm>
          <a:prstGeom prst="rect">
            <a:avLst/>
          </a:prstGeom>
          <a:noFill/>
        </p:spPr>
        <p:txBody>
          <a:bodyPr wrap="square">
            <a:spAutoFit/>
          </a:bodyPr>
          <a:lstStyle/>
          <a:p>
            <a:pPr algn="l"/>
            <a:r>
              <a:rPr sz="1000" b="0">
                <a:solidFill>
                  <a:srgbClr val="1A0A2E"/>
                </a:solidFill>
                <a:latin typeface="Calibri"/>
              </a:rPr>
              <a:t>BP Screening Station</a:t>
            </a:r>
          </a:p>
        </p:txBody>
      </p:sp>
      <p:sp>
        <p:nvSpPr>
          <p:cNvPr id="36" name="TextBox 35"/>
          <p:cNvSpPr txBox="1"/>
          <p:nvPr/>
        </p:nvSpPr>
        <p:spPr>
          <a:xfrm>
            <a:off x="6263640" y="3566160"/>
            <a:ext cx="731520" cy="457200"/>
          </a:xfrm>
          <a:prstGeom prst="rect">
            <a:avLst/>
          </a:prstGeom>
          <a:noFill/>
        </p:spPr>
        <p:txBody>
          <a:bodyPr wrap="square">
            <a:spAutoFit/>
          </a:bodyPr>
          <a:lstStyle/>
          <a:p>
            <a:pPr algn="l"/>
            <a:r>
              <a:rPr sz="1000" b="0">
                <a:solidFill>
                  <a:srgbClr val="1A0A2E"/>
                </a:solidFill>
                <a:latin typeface="Calibri"/>
              </a:rPr>
              <a:t>4 hrs</a:t>
            </a:r>
          </a:p>
        </p:txBody>
      </p:sp>
      <p:sp>
        <p:nvSpPr>
          <p:cNvPr id="37" name="Rectangle 36"/>
          <p:cNvSpPr/>
          <p:nvPr/>
        </p:nvSpPr>
        <p:spPr>
          <a:xfrm>
            <a:off x="7040880" y="3584448"/>
            <a:ext cx="1371600" cy="365760"/>
          </a:xfrm>
          <a:prstGeom prst="rect">
            <a:avLst/>
          </a:prstGeom>
          <a:solidFill>
            <a:srgbClr val="FFF8E1"/>
          </a:solidFill>
          <a:ln w="12700">
            <a:solidFill>
              <a:srgbClr val="D4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59168" y="3584448"/>
            <a:ext cx="1335024" cy="365760"/>
          </a:xfrm>
          <a:prstGeom prst="rect">
            <a:avLst/>
          </a:prstGeom>
          <a:noFill/>
        </p:spPr>
        <p:txBody>
          <a:bodyPr wrap="square">
            <a:spAutoFit/>
          </a:bodyPr>
          <a:lstStyle/>
          <a:p>
            <a:pPr algn="ctr"/>
            <a:r>
              <a:rPr sz="1000" b="1">
                <a:solidFill>
                  <a:srgbClr val="D46B00"/>
                </a:solidFill>
                <a:latin typeface="Calibri"/>
              </a:rPr>
              <a:t>Scheduled</a:t>
            </a:r>
          </a:p>
        </p:txBody>
      </p:sp>
      <p:sp>
        <p:nvSpPr>
          <p:cNvPr id="39" name="Rectangle 38"/>
          <p:cNvSpPr/>
          <p:nvPr/>
        </p:nvSpPr>
        <p:spPr>
          <a:xfrm>
            <a:off x="365760" y="4123944"/>
            <a:ext cx="8412480" cy="594360"/>
          </a:xfrm>
          <a:prstGeom prst="rect">
            <a:avLst/>
          </a:prstGeom>
          <a:solidFill>
            <a:srgbClr val="FAF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4215384"/>
            <a:ext cx="1097280" cy="457200"/>
          </a:xfrm>
          <a:prstGeom prst="rect">
            <a:avLst/>
          </a:prstGeom>
          <a:noFill/>
        </p:spPr>
        <p:txBody>
          <a:bodyPr wrap="square">
            <a:spAutoFit/>
          </a:bodyPr>
          <a:lstStyle/>
          <a:p>
            <a:pPr algn="l"/>
            <a:r>
              <a:rPr sz="1000" b="0">
                <a:solidFill>
                  <a:srgbClr val="1A0A2E"/>
                </a:solidFill>
                <a:latin typeface="Calibri"/>
              </a:rPr>
              <a:t>Nov 15, 2026</a:t>
            </a:r>
          </a:p>
        </p:txBody>
      </p:sp>
      <p:sp>
        <p:nvSpPr>
          <p:cNvPr id="41" name="TextBox 40"/>
          <p:cNvSpPr txBox="1"/>
          <p:nvPr/>
        </p:nvSpPr>
        <p:spPr>
          <a:xfrm>
            <a:off x="1508760" y="4215384"/>
            <a:ext cx="2834640" cy="457200"/>
          </a:xfrm>
          <a:prstGeom prst="rect">
            <a:avLst/>
          </a:prstGeom>
          <a:noFill/>
        </p:spPr>
        <p:txBody>
          <a:bodyPr wrap="square">
            <a:spAutoFit/>
          </a:bodyPr>
          <a:lstStyle/>
          <a:p>
            <a:pPr algn="l"/>
            <a:r>
              <a:rPr sz="1000" b="0">
                <a:solidFill>
                  <a:srgbClr val="1A0A2E"/>
                </a:solidFill>
                <a:latin typeface="Calibri"/>
              </a:rPr>
              <a:t>Free Clinic - Westview Baptist</a:t>
            </a:r>
          </a:p>
        </p:txBody>
      </p:sp>
      <p:sp>
        <p:nvSpPr>
          <p:cNvPr id="42" name="TextBox 41"/>
          <p:cNvSpPr txBox="1"/>
          <p:nvPr/>
        </p:nvSpPr>
        <p:spPr>
          <a:xfrm>
            <a:off x="4389120" y="4215384"/>
            <a:ext cx="1828800" cy="457200"/>
          </a:xfrm>
          <a:prstGeom prst="rect">
            <a:avLst/>
          </a:prstGeom>
          <a:noFill/>
        </p:spPr>
        <p:txBody>
          <a:bodyPr wrap="square">
            <a:spAutoFit/>
          </a:bodyPr>
          <a:lstStyle/>
          <a:p>
            <a:pPr algn="l"/>
            <a:r>
              <a:rPr sz="1000" b="0">
                <a:solidFill>
                  <a:srgbClr val="1A0A2E"/>
                </a:solidFill>
                <a:latin typeface="Calibri"/>
              </a:rPr>
              <a:t>Intake and Registration</a:t>
            </a:r>
          </a:p>
        </p:txBody>
      </p:sp>
      <p:sp>
        <p:nvSpPr>
          <p:cNvPr id="43" name="TextBox 42"/>
          <p:cNvSpPr txBox="1"/>
          <p:nvPr/>
        </p:nvSpPr>
        <p:spPr>
          <a:xfrm>
            <a:off x="6263640" y="4215384"/>
            <a:ext cx="731520" cy="457200"/>
          </a:xfrm>
          <a:prstGeom prst="rect">
            <a:avLst/>
          </a:prstGeom>
          <a:noFill/>
        </p:spPr>
        <p:txBody>
          <a:bodyPr wrap="square">
            <a:spAutoFit/>
          </a:bodyPr>
          <a:lstStyle/>
          <a:p>
            <a:pPr algn="l"/>
            <a:r>
              <a:rPr sz="1000" b="0">
                <a:solidFill>
                  <a:srgbClr val="1A0A2E"/>
                </a:solidFill>
                <a:latin typeface="Calibri"/>
              </a:rPr>
              <a:t>4 hrs</a:t>
            </a:r>
          </a:p>
        </p:txBody>
      </p:sp>
      <p:sp>
        <p:nvSpPr>
          <p:cNvPr id="44" name="Rectangle 43"/>
          <p:cNvSpPr/>
          <p:nvPr/>
        </p:nvSpPr>
        <p:spPr>
          <a:xfrm>
            <a:off x="7040880" y="4233672"/>
            <a:ext cx="1371600" cy="365760"/>
          </a:xfrm>
          <a:prstGeom prst="rect">
            <a:avLst/>
          </a:prstGeom>
          <a:solidFill>
            <a:srgbClr val="FFF8E1"/>
          </a:solidFill>
          <a:ln w="12700">
            <a:solidFill>
              <a:srgbClr val="D4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059168" y="4233672"/>
            <a:ext cx="1335024" cy="365760"/>
          </a:xfrm>
          <a:prstGeom prst="rect">
            <a:avLst/>
          </a:prstGeom>
          <a:noFill/>
        </p:spPr>
        <p:txBody>
          <a:bodyPr wrap="square">
            <a:spAutoFit/>
          </a:bodyPr>
          <a:lstStyle/>
          <a:p>
            <a:pPr algn="ctr"/>
            <a:r>
              <a:rPr sz="1000" b="1">
                <a:solidFill>
                  <a:srgbClr val="D46B00"/>
                </a:solidFill>
                <a:latin typeface="Calibri"/>
              </a:rPr>
              <a:t>Scheduled</a:t>
            </a:r>
          </a:p>
        </p:txBody>
      </p:sp>
      <p:sp>
        <p:nvSpPr>
          <p:cNvPr id="46" name="Rectangle 45"/>
          <p:cNvSpPr/>
          <p:nvPr/>
        </p:nvSpPr>
        <p:spPr>
          <a:xfrm>
            <a:off x="365760" y="4773168"/>
            <a:ext cx="8412480" cy="594360"/>
          </a:xfrm>
          <a:prstGeom prst="rect">
            <a:avLst/>
          </a:prstGeom>
          <a:solidFill>
            <a:srgbClr val="F3E6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5760" y="4864608"/>
            <a:ext cx="1097280" cy="457200"/>
          </a:xfrm>
          <a:prstGeom prst="rect">
            <a:avLst/>
          </a:prstGeom>
          <a:noFill/>
        </p:spPr>
        <p:txBody>
          <a:bodyPr wrap="square">
            <a:spAutoFit/>
          </a:bodyPr>
          <a:lstStyle/>
          <a:p>
            <a:pPr algn="l"/>
            <a:r>
              <a:rPr sz="1000" b="0">
                <a:solidFill>
                  <a:srgbClr val="1A0A2E"/>
                </a:solidFill>
                <a:latin typeface="Calibri"/>
              </a:rPr>
              <a:t>Dec 6, 2026</a:t>
            </a:r>
          </a:p>
        </p:txBody>
      </p:sp>
      <p:sp>
        <p:nvSpPr>
          <p:cNvPr id="48" name="TextBox 47"/>
          <p:cNvSpPr txBox="1"/>
          <p:nvPr/>
        </p:nvSpPr>
        <p:spPr>
          <a:xfrm>
            <a:off x="1508760" y="4864608"/>
            <a:ext cx="2834640" cy="457200"/>
          </a:xfrm>
          <a:prstGeom prst="rect">
            <a:avLst/>
          </a:prstGeom>
          <a:noFill/>
        </p:spPr>
        <p:txBody>
          <a:bodyPr wrap="square">
            <a:spAutoFit/>
          </a:bodyPr>
          <a:lstStyle/>
          <a:p>
            <a:pPr algn="l"/>
            <a:r>
              <a:rPr sz="1000" b="0">
                <a:solidFill>
                  <a:srgbClr val="1A0A2E"/>
                </a:solidFill>
                <a:latin typeface="Calibri"/>
              </a:rPr>
              <a:t>End of Semester Outreach Event</a:t>
            </a:r>
          </a:p>
        </p:txBody>
      </p:sp>
      <p:sp>
        <p:nvSpPr>
          <p:cNvPr id="49" name="TextBox 48"/>
          <p:cNvSpPr txBox="1"/>
          <p:nvPr/>
        </p:nvSpPr>
        <p:spPr>
          <a:xfrm>
            <a:off x="4389120" y="4864608"/>
            <a:ext cx="1828800" cy="457200"/>
          </a:xfrm>
          <a:prstGeom prst="rect">
            <a:avLst/>
          </a:prstGeom>
          <a:noFill/>
        </p:spPr>
        <p:txBody>
          <a:bodyPr wrap="square">
            <a:spAutoFit/>
          </a:bodyPr>
          <a:lstStyle/>
          <a:p>
            <a:pPr algn="l"/>
            <a:r>
              <a:rPr sz="1000" b="0">
                <a:solidFill>
                  <a:srgbClr val="1A0A2E"/>
                </a:solidFill>
                <a:latin typeface="Calibri"/>
              </a:rPr>
              <a:t>Health Ed Distributor</a:t>
            </a:r>
          </a:p>
        </p:txBody>
      </p:sp>
      <p:sp>
        <p:nvSpPr>
          <p:cNvPr id="50" name="TextBox 49"/>
          <p:cNvSpPr txBox="1"/>
          <p:nvPr/>
        </p:nvSpPr>
        <p:spPr>
          <a:xfrm>
            <a:off x="6263640" y="4864608"/>
            <a:ext cx="731520" cy="457200"/>
          </a:xfrm>
          <a:prstGeom prst="rect">
            <a:avLst/>
          </a:prstGeom>
          <a:noFill/>
        </p:spPr>
        <p:txBody>
          <a:bodyPr wrap="square">
            <a:spAutoFit/>
          </a:bodyPr>
          <a:lstStyle/>
          <a:p>
            <a:pPr algn="l"/>
            <a:r>
              <a:rPr sz="1000" b="0">
                <a:solidFill>
                  <a:srgbClr val="1A0A2E"/>
                </a:solidFill>
                <a:latin typeface="Calibri"/>
              </a:rPr>
              <a:t>4 hrs</a:t>
            </a:r>
          </a:p>
        </p:txBody>
      </p:sp>
      <p:sp>
        <p:nvSpPr>
          <p:cNvPr id="51" name="Rectangle 50"/>
          <p:cNvSpPr/>
          <p:nvPr/>
        </p:nvSpPr>
        <p:spPr>
          <a:xfrm>
            <a:off x="7040880" y="4882896"/>
            <a:ext cx="1371600" cy="365760"/>
          </a:xfrm>
          <a:prstGeom prst="rect">
            <a:avLst/>
          </a:prstGeom>
          <a:solidFill>
            <a:srgbClr val="FFF8E1"/>
          </a:solidFill>
          <a:ln w="12700">
            <a:solidFill>
              <a:srgbClr val="D4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059168" y="4882896"/>
            <a:ext cx="1335024" cy="365760"/>
          </a:xfrm>
          <a:prstGeom prst="rect">
            <a:avLst/>
          </a:prstGeom>
          <a:noFill/>
        </p:spPr>
        <p:txBody>
          <a:bodyPr wrap="square">
            <a:spAutoFit/>
          </a:bodyPr>
          <a:lstStyle/>
          <a:p>
            <a:pPr algn="ctr"/>
            <a:r>
              <a:rPr sz="1000" b="1">
                <a:solidFill>
                  <a:srgbClr val="D46B00"/>
                </a:solidFill>
                <a:latin typeface="Calibri"/>
              </a:rPr>
              <a:t>Scheduled</a:t>
            </a:r>
          </a:p>
        </p:txBody>
      </p:sp>
      <p:sp>
        <p:nvSpPr>
          <p:cNvPr id="53" name="Rectangle 52"/>
          <p:cNvSpPr/>
          <p:nvPr/>
        </p:nvSpPr>
        <p:spPr>
          <a:xfrm>
            <a:off x="365760" y="6035040"/>
            <a:ext cx="8412480" cy="548640"/>
          </a:xfrm>
          <a:prstGeom prst="rect">
            <a:avLst/>
          </a:prstGeom>
          <a:solidFill>
            <a:srgbClr val="FFF8E1"/>
          </a:solidFill>
          <a:ln w="12700">
            <a:solidFill>
              <a:srgbClr val="D4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57200" y="6080760"/>
            <a:ext cx="8229600" cy="457200"/>
          </a:xfrm>
          <a:prstGeom prst="rect">
            <a:avLst/>
          </a:prstGeom>
          <a:noFill/>
        </p:spPr>
        <p:txBody>
          <a:bodyPr wrap="square">
            <a:spAutoFit/>
          </a:bodyPr>
          <a:lstStyle/>
          <a:p>
            <a:pPr algn="l"/>
            <a:r>
              <a:rPr sz="1100" b="1">
                <a:solidFill>
                  <a:srgbClr val="D46B00"/>
                </a:solidFill>
                <a:latin typeface="Calibri"/>
              </a:rPr>
              <a:t>PROGRESS: 12 / 40 hours completed (30%) - 28 hours remaining. 3 scheduled events = 12 more hours. Need 16 more hours after December.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DFAFF"/>
        </a:solidFill>
        <a:effectLst/>
      </p:bgPr>
    </p:bg>
    <p:spTree>
      <p:nvGrpSpPr>
        <p:cNvPr id="1" name=""/>
        <p:cNvGrpSpPr/>
        <p:nvPr/>
      </p:nvGrpSpPr>
      <p:grpSpPr/>
      <p:sp>
        <p:nvSpPr>
          <p:cNvPr id="2" name="Rectangle 1"/>
          <p:cNvSpPr/>
          <p:nvPr/>
        </p:nvSpPr>
        <p:spPr>
          <a:xfrm>
            <a:off x="0" y="0"/>
            <a:ext cx="9144000" cy="100584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8229600" cy="594360"/>
          </a:xfrm>
          <a:prstGeom prst="rect">
            <a:avLst/>
          </a:prstGeom>
          <a:noFill/>
        </p:spPr>
        <p:txBody>
          <a:bodyPr wrap="square">
            <a:spAutoFit/>
          </a:bodyPr>
          <a:lstStyle/>
          <a:p>
            <a:pPr algn="l"/>
            <a:r>
              <a:rPr sz="2600" b="1">
                <a:solidFill>
                  <a:srgbClr val="FFFFFF"/>
                </a:solidFill>
                <a:latin typeface="Calibri"/>
              </a:rPr>
              <a:t>Community Impact - 2025-2026</a:t>
            </a:r>
          </a:p>
        </p:txBody>
      </p:sp>
      <p:sp>
        <p:nvSpPr>
          <p:cNvPr id="5" name="Rectangle 4"/>
          <p:cNvSpPr/>
          <p:nvPr/>
        </p:nvSpPr>
        <p:spPr>
          <a:xfrm>
            <a:off x="457200" y="1280160"/>
            <a:ext cx="1920240" cy="1737360"/>
          </a:xfrm>
          <a:prstGeom prst="rect">
            <a:avLst/>
          </a:prstGeom>
          <a:solidFill>
            <a:srgbClr val="F3E6FD"/>
          </a:solidFill>
          <a:ln w="25400">
            <a:solidFill>
              <a:srgbClr val="7B2D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17320"/>
            <a:ext cx="1920240" cy="822960"/>
          </a:xfrm>
          <a:prstGeom prst="rect">
            <a:avLst/>
          </a:prstGeom>
          <a:noFill/>
        </p:spPr>
        <p:txBody>
          <a:bodyPr wrap="square">
            <a:spAutoFit/>
          </a:bodyPr>
          <a:lstStyle/>
          <a:p>
            <a:pPr algn="ctr"/>
            <a:r>
              <a:rPr sz="3800" b="1">
                <a:solidFill>
                  <a:srgbClr val="7B2D9E"/>
                </a:solidFill>
                <a:latin typeface="Calibri"/>
              </a:rPr>
              <a:t>384</a:t>
            </a:r>
          </a:p>
        </p:txBody>
      </p:sp>
      <p:sp>
        <p:nvSpPr>
          <p:cNvPr id="7" name="TextBox 6"/>
          <p:cNvSpPr txBox="1"/>
          <p:nvPr/>
        </p:nvSpPr>
        <p:spPr>
          <a:xfrm>
            <a:off x="457200" y="2240280"/>
            <a:ext cx="1920240" cy="640080"/>
          </a:xfrm>
          <a:prstGeom prst="rect">
            <a:avLst/>
          </a:prstGeom>
          <a:noFill/>
        </p:spPr>
        <p:txBody>
          <a:bodyPr wrap="square">
            <a:spAutoFit/>
          </a:bodyPr>
          <a:lstStyle/>
          <a:p>
            <a:pPr algn="ctr"/>
            <a:r>
              <a:rPr sz="1000" b="0">
                <a:solidFill>
                  <a:srgbClr val="1A0A2E"/>
                </a:solidFill>
                <a:latin typeface="Calibri"/>
              </a:rPr>
              <a:t>Community members
served at HEP events</a:t>
            </a:r>
          </a:p>
        </p:txBody>
      </p:sp>
      <p:sp>
        <p:nvSpPr>
          <p:cNvPr id="8" name="Rectangle 7"/>
          <p:cNvSpPr/>
          <p:nvPr/>
        </p:nvSpPr>
        <p:spPr>
          <a:xfrm>
            <a:off x="2560320" y="1280160"/>
            <a:ext cx="1920240" cy="1737360"/>
          </a:xfrm>
          <a:prstGeom prst="rect">
            <a:avLst/>
          </a:prstGeom>
          <a:solidFill>
            <a:srgbClr val="F3E6FD"/>
          </a:solidFill>
          <a:ln w="25400">
            <a:solidFill>
              <a:srgbClr val="D4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60320" y="1417320"/>
            <a:ext cx="1920240" cy="822960"/>
          </a:xfrm>
          <a:prstGeom prst="rect">
            <a:avLst/>
          </a:prstGeom>
          <a:noFill/>
        </p:spPr>
        <p:txBody>
          <a:bodyPr wrap="square">
            <a:spAutoFit/>
          </a:bodyPr>
          <a:lstStyle/>
          <a:p>
            <a:pPr algn="ctr"/>
            <a:r>
              <a:rPr sz="3800" b="1">
                <a:solidFill>
                  <a:srgbClr val="D46B00"/>
                </a:solidFill>
                <a:latin typeface="Calibri"/>
              </a:rPr>
              <a:t>92</a:t>
            </a:r>
          </a:p>
        </p:txBody>
      </p:sp>
      <p:sp>
        <p:nvSpPr>
          <p:cNvPr id="10" name="TextBox 9"/>
          <p:cNvSpPr txBox="1"/>
          <p:nvPr/>
        </p:nvSpPr>
        <p:spPr>
          <a:xfrm>
            <a:off x="2560320" y="2240280"/>
            <a:ext cx="1920240" cy="640080"/>
          </a:xfrm>
          <a:prstGeom prst="rect">
            <a:avLst/>
          </a:prstGeom>
          <a:noFill/>
        </p:spPr>
        <p:txBody>
          <a:bodyPr wrap="square">
            <a:spAutoFit/>
          </a:bodyPr>
          <a:lstStyle/>
          <a:p>
            <a:pPr algn="ctr"/>
            <a:r>
              <a:rPr sz="1000" b="0">
                <a:solidFill>
                  <a:srgbClr val="1A0A2E"/>
                </a:solidFill>
                <a:latin typeface="Calibri"/>
              </a:rPr>
              <a:t>Free blood pressure
screenings completed</a:t>
            </a:r>
          </a:p>
        </p:txBody>
      </p:sp>
      <p:sp>
        <p:nvSpPr>
          <p:cNvPr id="11" name="Rectangle 10"/>
          <p:cNvSpPr/>
          <p:nvPr/>
        </p:nvSpPr>
        <p:spPr>
          <a:xfrm>
            <a:off x="4663440" y="1280160"/>
            <a:ext cx="1920240" cy="1737360"/>
          </a:xfrm>
          <a:prstGeom prst="rect">
            <a:avLst/>
          </a:prstGeom>
          <a:solidFill>
            <a:srgbClr val="F3E6FD"/>
          </a:solidFill>
          <a:ln w="25400">
            <a:solidFill>
              <a:srgbClr val="2D8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1417320"/>
            <a:ext cx="1920240" cy="822960"/>
          </a:xfrm>
          <a:prstGeom prst="rect">
            <a:avLst/>
          </a:prstGeom>
          <a:noFill/>
        </p:spPr>
        <p:txBody>
          <a:bodyPr wrap="square">
            <a:spAutoFit/>
          </a:bodyPr>
          <a:lstStyle/>
          <a:p>
            <a:pPr algn="ctr"/>
            <a:r>
              <a:rPr sz="3800" b="1">
                <a:solidFill>
                  <a:srgbClr val="2D8F5E"/>
                </a:solidFill>
                <a:latin typeface="Calibri"/>
              </a:rPr>
              <a:t>47</a:t>
            </a:r>
          </a:p>
        </p:txBody>
      </p:sp>
      <p:sp>
        <p:nvSpPr>
          <p:cNvPr id="13" name="TextBox 12"/>
          <p:cNvSpPr txBox="1"/>
          <p:nvPr/>
        </p:nvSpPr>
        <p:spPr>
          <a:xfrm>
            <a:off x="4663440" y="2240280"/>
            <a:ext cx="1920240" cy="640080"/>
          </a:xfrm>
          <a:prstGeom prst="rect">
            <a:avLst/>
          </a:prstGeom>
          <a:noFill/>
        </p:spPr>
        <p:txBody>
          <a:bodyPr wrap="square">
            <a:spAutoFit/>
          </a:bodyPr>
          <a:lstStyle/>
          <a:p>
            <a:pPr algn="ctr"/>
            <a:r>
              <a:rPr sz="1000" b="0">
                <a:solidFill>
                  <a:srgbClr val="1A0A2E"/>
                </a:solidFill>
                <a:latin typeface="Calibri"/>
              </a:rPr>
              <a:t>Referrals made to
primary care</a:t>
            </a:r>
          </a:p>
        </p:txBody>
      </p:sp>
      <p:sp>
        <p:nvSpPr>
          <p:cNvPr id="14" name="Rectangle 13"/>
          <p:cNvSpPr/>
          <p:nvPr/>
        </p:nvSpPr>
        <p:spPr>
          <a:xfrm>
            <a:off x="6766559" y="1280160"/>
            <a:ext cx="1920240" cy="1737360"/>
          </a:xfrm>
          <a:prstGeom prst="rect">
            <a:avLst/>
          </a:prstGeom>
          <a:solidFill>
            <a:srgbClr val="F3E6FD"/>
          </a:solidFill>
          <a:ln w="25400">
            <a:solidFill>
              <a:srgbClr val="2563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59" y="1417320"/>
            <a:ext cx="1920240" cy="822960"/>
          </a:xfrm>
          <a:prstGeom prst="rect">
            <a:avLst/>
          </a:prstGeom>
          <a:noFill/>
        </p:spPr>
        <p:txBody>
          <a:bodyPr wrap="square">
            <a:spAutoFit/>
          </a:bodyPr>
          <a:lstStyle/>
          <a:p>
            <a:pPr algn="ctr"/>
            <a:r>
              <a:rPr sz="3800" b="1">
                <a:solidFill>
                  <a:srgbClr val="2563A8"/>
                </a:solidFill>
                <a:latin typeface="Calibri"/>
              </a:rPr>
              <a:t>12</a:t>
            </a:r>
          </a:p>
        </p:txBody>
      </p:sp>
      <p:sp>
        <p:nvSpPr>
          <p:cNvPr id="16" name="TextBox 15"/>
          <p:cNvSpPr txBox="1"/>
          <p:nvPr/>
        </p:nvSpPr>
        <p:spPr>
          <a:xfrm>
            <a:off x="6766559" y="2240280"/>
            <a:ext cx="1920240" cy="640080"/>
          </a:xfrm>
          <a:prstGeom prst="rect">
            <a:avLst/>
          </a:prstGeom>
          <a:noFill/>
        </p:spPr>
        <p:txBody>
          <a:bodyPr wrap="square">
            <a:spAutoFit/>
          </a:bodyPr>
          <a:lstStyle/>
          <a:p>
            <a:pPr algn="ctr"/>
            <a:r>
              <a:rPr sz="1000" b="0">
                <a:solidFill>
                  <a:srgbClr val="1A0A2E"/>
                </a:solidFill>
                <a:latin typeface="Calibri"/>
              </a:rPr>
              <a:t>Active student
volunteers this year</a:t>
            </a:r>
          </a:p>
        </p:txBody>
      </p:sp>
      <p:sp>
        <p:nvSpPr>
          <p:cNvPr id="17" name="Rectangle 16"/>
          <p:cNvSpPr/>
          <p:nvPr/>
        </p:nvSpPr>
        <p:spPr>
          <a:xfrm>
            <a:off x="457200" y="3291840"/>
            <a:ext cx="8229600" cy="1325880"/>
          </a:xfrm>
          <a:prstGeom prst="rect">
            <a:avLst/>
          </a:prstGeom>
          <a:solidFill>
            <a:srgbClr val="F8F0FF"/>
          </a:solidFill>
          <a:ln w="12700">
            <a:solidFill>
              <a:srgbClr val="B06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291840"/>
            <a:ext cx="137160" cy="132588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3364992"/>
            <a:ext cx="7863840" cy="822960"/>
          </a:xfrm>
          <a:prstGeom prst="rect">
            <a:avLst/>
          </a:prstGeom>
          <a:noFill/>
        </p:spPr>
        <p:txBody>
          <a:bodyPr wrap="square">
            <a:spAutoFit/>
          </a:bodyPr>
          <a:lstStyle/>
          <a:p>
            <a:pPr algn="l"/>
            <a:r>
              <a:rPr sz="1100" b="0">
                <a:solidFill>
                  <a:srgbClr val="1A0A2E"/>
                </a:solidFill>
                <a:latin typeface="Calibri"/>
              </a:rPr>
              <a:t>"The students from Cedarbrook are always so respectful and patient. They make people feel comfortable asking questions about their health."</a:t>
            </a:r>
          </a:p>
        </p:txBody>
      </p:sp>
      <p:sp>
        <p:nvSpPr>
          <p:cNvPr id="20" name="TextBox 19"/>
          <p:cNvSpPr txBox="1"/>
          <p:nvPr/>
        </p:nvSpPr>
        <p:spPr>
          <a:xfrm>
            <a:off x="731520" y="4224528"/>
            <a:ext cx="7863840" cy="320040"/>
          </a:xfrm>
          <a:prstGeom prst="rect">
            <a:avLst/>
          </a:prstGeom>
          <a:noFill/>
        </p:spPr>
        <p:txBody>
          <a:bodyPr wrap="square">
            <a:spAutoFit/>
          </a:bodyPr>
          <a:lstStyle/>
          <a:p>
            <a:pPr algn="l"/>
            <a:r>
              <a:rPr sz="1000" b="1">
                <a:solidFill>
                  <a:srgbClr val="6B5E7E"/>
                </a:solidFill>
                <a:latin typeface="Calibri"/>
              </a:rPr>
              <a:t>  - Westview Baptist Fellowship event participant, January 2026</a:t>
            </a:r>
          </a:p>
        </p:txBody>
      </p:sp>
      <p:sp>
        <p:nvSpPr>
          <p:cNvPr id="21" name="Rectangle 20"/>
          <p:cNvSpPr/>
          <p:nvPr/>
        </p:nvSpPr>
        <p:spPr>
          <a:xfrm>
            <a:off x="457200" y="4800600"/>
            <a:ext cx="8229600" cy="1325880"/>
          </a:xfrm>
          <a:prstGeom prst="rect">
            <a:avLst/>
          </a:prstGeom>
          <a:solidFill>
            <a:srgbClr val="FFFBF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7200" y="4800600"/>
            <a:ext cx="137160" cy="1325880"/>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873752"/>
            <a:ext cx="7863840" cy="822960"/>
          </a:xfrm>
          <a:prstGeom prst="rect">
            <a:avLst/>
          </a:prstGeom>
          <a:noFill/>
        </p:spPr>
        <p:txBody>
          <a:bodyPr wrap="square">
            <a:spAutoFit/>
          </a:bodyPr>
          <a:lstStyle/>
          <a:p>
            <a:pPr algn="l"/>
            <a:r>
              <a:rPr sz="1100" b="0">
                <a:solidFill>
                  <a:srgbClr val="1A0A2E"/>
                </a:solidFill>
                <a:latin typeface="Calibri"/>
              </a:rPr>
              <a:t>"This program let me put my classroom knowledge to real use. Watching community members learn about blood pressure management — that's why I'm going into nursing."</a:t>
            </a:r>
          </a:p>
        </p:txBody>
      </p:sp>
      <p:sp>
        <p:nvSpPr>
          <p:cNvPr id="24" name="TextBox 23"/>
          <p:cNvSpPr txBox="1"/>
          <p:nvPr/>
        </p:nvSpPr>
        <p:spPr>
          <a:xfrm>
            <a:off x="731520" y="5733288"/>
            <a:ext cx="7863840" cy="320040"/>
          </a:xfrm>
          <a:prstGeom prst="rect">
            <a:avLst/>
          </a:prstGeom>
          <a:noFill/>
        </p:spPr>
        <p:txBody>
          <a:bodyPr wrap="square">
            <a:spAutoFit/>
          </a:bodyPr>
          <a:lstStyle/>
          <a:p>
            <a:pPr algn="l"/>
            <a:r>
              <a:rPr sz="1000" b="1">
                <a:solidFill>
                  <a:srgbClr val="6B5E7E"/>
                </a:solidFill>
                <a:latin typeface="Calibri"/>
              </a:rPr>
              <a:t>  - HEP student volunteer, Spring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DFAFF"/>
        </a:solidFill>
        <a:effectLst/>
      </p:bgPr>
    </p:bg>
    <p:spTree>
      <p:nvGrpSpPr>
        <p:cNvPr id="1" name=""/>
        <p:cNvGrpSpPr/>
        <p:nvPr/>
      </p:nvGrpSpPr>
      <p:grpSpPr/>
      <p:sp>
        <p:nvSpPr>
          <p:cNvPr id="2" name="Rectangle 1"/>
          <p:cNvSpPr/>
          <p:nvPr/>
        </p:nvSpPr>
        <p:spPr>
          <a:xfrm>
            <a:off x="0" y="0"/>
            <a:ext cx="9144000" cy="100584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8229600" cy="594360"/>
          </a:xfrm>
          <a:prstGeom prst="rect">
            <a:avLst/>
          </a:prstGeom>
          <a:noFill/>
        </p:spPr>
        <p:txBody>
          <a:bodyPr wrap="square">
            <a:spAutoFit/>
          </a:bodyPr>
          <a:lstStyle/>
          <a:p>
            <a:pPr algn="l"/>
            <a:r>
              <a:rPr sz="2400" b="1">
                <a:solidFill>
                  <a:srgbClr val="FFFFFF"/>
                </a:solidFill>
                <a:latin typeface="Calibri"/>
              </a:rPr>
              <a:t>Why HEP Matters for Pre-Nursing Students</a:t>
            </a:r>
          </a:p>
        </p:txBody>
      </p:sp>
      <p:sp>
        <p:nvSpPr>
          <p:cNvPr id="5" name="Rectangle 4"/>
          <p:cNvSpPr/>
          <p:nvPr/>
        </p:nvSpPr>
        <p:spPr>
          <a:xfrm>
            <a:off x="365760" y="1188720"/>
            <a:ext cx="8412480" cy="960120"/>
          </a:xfrm>
          <a:prstGeom prst="rect">
            <a:avLst/>
          </a:prstGeom>
          <a:solidFill>
            <a:srgbClr val="F3E6FD"/>
          </a:solidFill>
          <a:ln w="12700">
            <a:solidFill>
              <a:srgbClr val="7B2D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91440" cy="96012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225296"/>
            <a:ext cx="2743200" cy="347472"/>
          </a:xfrm>
          <a:prstGeom prst="rect">
            <a:avLst/>
          </a:prstGeom>
          <a:noFill/>
        </p:spPr>
        <p:txBody>
          <a:bodyPr wrap="square">
            <a:spAutoFit/>
          </a:bodyPr>
          <a:lstStyle/>
          <a:p>
            <a:pPr algn="l"/>
            <a:r>
              <a:rPr sz="1200" b="1">
                <a:solidFill>
                  <a:srgbClr val="7B2D9E"/>
                </a:solidFill>
                <a:latin typeface="Calibri"/>
              </a:rPr>
              <a:t>1. Clinical Application</a:t>
            </a:r>
          </a:p>
        </p:txBody>
      </p:sp>
      <p:sp>
        <p:nvSpPr>
          <p:cNvPr id="8" name="TextBox 7"/>
          <p:cNvSpPr txBox="1"/>
          <p:nvPr/>
        </p:nvSpPr>
        <p:spPr>
          <a:xfrm>
            <a:off x="566928" y="1600200"/>
            <a:ext cx="8138160" cy="502920"/>
          </a:xfrm>
          <a:prstGeom prst="rect">
            <a:avLst/>
          </a:prstGeom>
          <a:noFill/>
        </p:spPr>
        <p:txBody>
          <a:bodyPr wrap="square">
            <a:spAutoFit/>
          </a:bodyPr>
          <a:lstStyle/>
          <a:p>
            <a:pPr algn="l"/>
            <a:r>
              <a:rPr sz="1000" b="0">
                <a:solidFill>
                  <a:srgbClr val="1A0A2E"/>
                </a:solidFill>
                <a:latin typeface="Calibri"/>
              </a:rPr>
              <a:t>HEP events give direct practice in skills covered in Health Assessment (NURS 2250). Vital sign measurement, patient communication, and documentation at real events builds clinical confidence before formal practicum begins.</a:t>
            </a:r>
          </a:p>
        </p:txBody>
      </p:sp>
      <p:sp>
        <p:nvSpPr>
          <p:cNvPr id="9" name="Rectangle 8"/>
          <p:cNvSpPr/>
          <p:nvPr/>
        </p:nvSpPr>
        <p:spPr>
          <a:xfrm>
            <a:off x="365760" y="2240280"/>
            <a:ext cx="8412480" cy="960120"/>
          </a:xfrm>
          <a:prstGeom prst="rect">
            <a:avLst/>
          </a:prstGeom>
          <a:solidFill>
            <a:srgbClr val="FFFFFF"/>
          </a:solidFill>
          <a:ln w="12700">
            <a:solidFill>
              <a:srgbClr val="7B2D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240280"/>
            <a:ext cx="91440" cy="960120"/>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2276856"/>
            <a:ext cx="2743200" cy="347472"/>
          </a:xfrm>
          <a:prstGeom prst="rect">
            <a:avLst/>
          </a:prstGeom>
          <a:noFill/>
        </p:spPr>
        <p:txBody>
          <a:bodyPr wrap="square">
            <a:spAutoFit/>
          </a:bodyPr>
          <a:lstStyle/>
          <a:p>
            <a:pPr algn="l"/>
            <a:r>
              <a:rPr sz="1200" b="1">
                <a:solidFill>
                  <a:srgbClr val="7B2D9E"/>
                </a:solidFill>
                <a:latin typeface="Calibri"/>
              </a:rPr>
              <a:t>2. Nursing Application Requirement</a:t>
            </a:r>
          </a:p>
        </p:txBody>
      </p:sp>
      <p:sp>
        <p:nvSpPr>
          <p:cNvPr id="12" name="TextBox 11"/>
          <p:cNvSpPr txBox="1"/>
          <p:nvPr/>
        </p:nvSpPr>
        <p:spPr>
          <a:xfrm>
            <a:off x="566928" y="2651760"/>
            <a:ext cx="8138160" cy="502920"/>
          </a:xfrm>
          <a:prstGeom prst="rect">
            <a:avLst/>
          </a:prstGeom>
          <a:noFill/>
        </p:spPr>
        <p:txBody>
          <a:bodyPr wrap="square">
            <a:spAutoFit/>
          </a:bodyPr>
          <a:lstStyle/>
          <a:p>
            <a:pPr algn="l"/>
            <a:r>
              <a:rPr sz="1000" b="0">
                <a:solidFill>
                  <a:srgbClr val="1A0A2E"/>
                </a:solidFill>
                <a:latin typeface="Calibri"/>
              </a:rPr>
              <a:t>Most nursing program applications require documented community or clinical service hours. HEP certificates and supervisor sign-off letters count toward these requirements. Hassan's Nov 2025 certificate covers 4 hours of verified service.</a:t>
            </a:r>
          </a:p>
        </p:txBody>
      </p:sp>
      <p:sp>
        <p:nvSpPr>
          <p:cNvPr id="13" name="Rectangle 12"/>
          <p:cNvSpPr/>
          <p:nvPr/>
        </p:nvSpPr>
        <p:spPr>
          <a:xfrm>
            <a:off x="365760" y="3291839"/>
            <a:ext cx="8412480" cy="960120"/>
          </a:xfrm>
          <a:prstGeom prst="rect">
            <a:avLst/>
          </a:prstGeom>
          <a:solidFill>
            <a:srgbClr val="F3E6FD"/>
          </a:solidFill>
          <a:ln w="12700">
            <a:solidFill>
              <a:srgbClr val="7B2D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3291839"/>
            <a:ext cx="91440" cy="96012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3328415"/>
            <a:ext cx="2743200" cy="347472"/>
          </a:xfrm>
          <a:prstGeom prst="rect">
            <a:avLst/>
          </a:prstGeom>
          <a:noFill/>
        </p:spPr>
        <p:txBody>
          <a:bodyPr wrap="square">
            <a:spAutoFit/>
          </a:bodyPr>
          <a:lstStyle/>
          <a:p>
            <a:pPr algn="l"/>
            <a:r>
              <a:rPr sz="1200" b="1">
                <a:solidFill>
                  <a:srgbClr val="7B2D9E"/>
                </a:solidFill>
                <a:latin typeface="Calibri"/>
              </a:rPr>
              <a:t>3. Professional Network</a:t>
            </a:r>
          </a:p>
        </p:txBody>
      </p:sp>
      <p:sp>
        <p:nvSpPr>
          <p:cNvPr id="16" name="TextBox 15"/>
          <p:cNvSpPr txBox="1"/>
          <p:nvPr/>
        </p:nvSpPr>
        <p:spPr>
          <a:xfrm>
            <a:off x="566928" y="3703319"/>
            <a:ext cx="8138160" cy="502920"/>
          </a:xfrm>
          <a:prstGeom prst="rect">
            <a:avLst/>
          </a:prstGeom>
          <a:noFill/>
        </p:spPr>
        <p:txBody>
          <a:bodyPr wrap="square">
            <a:spAutoFit/>
          </a:bodyPr>
          <a:lstStyle/>
          <a:p>
            <a:pPr algn="l"/>
            <a:r>
              <a:rPr sz="1000" b="0">
                <a:solidFill>
                  <a:srgbClr val="1A0A2E"/>
                </a:solidFill>
                <a:latin typeface="Calibri"/>
              </a:rPr>
              <a:t>Students work directly alongside Cedarbrook nursing faculty and community health workers from partner organizations. Faculty who supervise HEP events often write clinical practicum letters of recommendation.</a:t>
            </a:r>
          </a:p>
        </p:txBody>
      </p:sp>
      <p:sp>
        <p:nvSpPr>
          <p:cNvPr id="17" name="Rectangle 16"/>
          <p:cNvSpPr/>
          <p:nvPr/>
        </p:nvSpPr>
        <p:spPr>
          <a:xfrm>
            <a:off x="365760" y="4343400"/>
            <a:ext cx="8412480" cy="960120"/>
          </a:xfrm>
          <a:prstGeom prst="rect">
            <a:avLst/>
          </a:prstGeom>
          <a:solidFill>
            <a:srgbClr val="FFFFFF"/>
          </a:solidFill>
          <a:ln w="12700">
            <a:solidFill>
              <a:srgbClr val="7B2D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4343400"/>
            <a:ext cx="91440" cy="960120"/>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4379976"/>
            <a:ext cx="2743200" cy="347472"/>
          </a:xfrm>
          <a:prstGeom prst="rect">
            <a:avLst/>
          </a:prstGeom>
          <a:noFill/>
        </p:spPr>
        <p:txBody>
          <a:bodyPr wrap="square">
            <a:spAutoFit/>
          </a:bodyPr>
          <a:lstStyle/>
          <a:p>
            <a:pPr algn="l"/>
            <a:r>
              <a:rPr sz="1200" b="1">
                <a:solidFill>
                  <a:srgbClr val="7B2D9E"/>
                </a:solidFill>
                <a:latin typeface="Calibri"/>
              </a:rPr>
              <a:t>4. Understanding Social Determinants</a:t>
            </a:r>
          </a:p>
        </p:txBody>
      </p:sp>
      <p:sp>
        <p:nvSpPr>
          <p:cNvPr id="20" name="TextBox 19"/>
          <p:cNvSpPr txBox="1"/>
          <p:nvPr/>
        </p:nvSpPr>
        <p:spPr>
          <a:xfrm>
            <a:off x="566928" y="4754880"/>
            <a:ext cx="8138160" cy="502920"/>
          </a:xfrm>
          <a:prstGeom prst="rect">
            <a:avLst/>
          </a:prstGeom>
          <a:noFill/>
        </p:spPr>
        <p:txBody>
          <a:bodyPr wrap="square">
            <a:spAutoFit/>
          </a:bodyPr>
          <a:lstStyle/>
          <a:p>
            <a:pPr algn="l"/>
            <a:r>
              <a:rPr sz="1000" b="0">
                <a:solidFill>
                  <a:srgbClr val="1A0A2E"/>
                </a:solidFill>
                <a:latin typeface="Calibri"/>
              </a:rPr>
              <a:t>Pre-nursing students see firsthand how housing, income, and access affect health outcomes. Working in Westview corridor communities directly illustrates health equity concepts covered in nursing coursework.</a:t>
            </a:r>
          </a:p>
        </p:txBody>
      </p:sp>
      <p:sp>
        <p:nvSpPr>
          <p:cNvPr id="21" name="Rectangle 20"/>
          <p:cNvSpPr/>
          <p:nvPr/>
        </p:nvSpPr>
        <p:spPr>
          <a:xfrm>
            <a:off x="365760" y="5394959"/>
            <a:ext cx="8412480" cy="960120"/>
          </a:xfrm>
          <a:prstGeom prst="rect">
            <a:avLst/>
          </a:prstGeom>
          <a:solidFill>
            <a:srgbClr val="F3E6FD"/>
          </a:solidFill>
          <a:ln w="12700">
            <a:solidFill>
              <a:srgbClr val="7B2D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5394959"/>
            <a:ext cx="91440" cy="96012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5431535"/>
            <a:ext cx="2743200" cy="347472"/>
          </a:xfrm>
          <a:prstGeom prst="rect">
            <a:avLst/>
          </a:prstGeom>
          <a:noFill/>
        </p:spPr>
        <p:txBody>
          <a:bodyPr wrap="square">
            <a:spAutoFit/>
          </a:bodyPr>
          <a:lstStyle/>
          <a:p>
            <a:pPr algn="l"/>
            <a:r>
              <a:rPr sz="1200" b="1">
                <a:solidFill>
                  <a:srgbClr val="7B2D9E"/>
                </a:solidFill>
                <a:latin typeface="Calibri"/>
              </a:rPr>
              <a:t>5. Resume and Portfolio</a:t>
            </a:r>
          </a:p>
        </p:txBody>
      </p:sp>
      <p:sp>
        <p:nvSpPr>
          <p:cNvPr id="24" name="TextBox 23"/>
          <p:cNvSpPr txBox="1"/>
          <p:nvPr/>
        </p:nvSpPr>
        <p:spPr>
          <a:xfrm>
            <a:off x="566928" y="5806439"/>
            <a:ext cx="8138160" cy="502920"/>
          </a:xfrm>
          <a:prstGeom prst="rect">
            <a:avLst/>
          </a:prstGeom>
          <a:noFill/>
        </p:spPr>
        <p:txBody>
          <a:bodyPr wrap="square">
            <a:spAutoFit/>
          </a:bodyPr>
          <a:lstStyle/>
          <a:p>
            <a:pPr algn="l"/>
            <a:r>
              <a:rPr sz="1000" b="0">
                <a:solidFill>
                  <a:srgbClr val="1A0A2E"/>
                </a:solidFill>
                <a:latin typeface="Calibri"/>
              </a:rPr>
              <a:t>HEP experience is valued on pre-nursing applications. Specific roles (BP screening, health education) demonstrate hands-on skills. Certificate numbers and supervisor contacts provide verifiable credibility.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DFAFF"/>
        </a:solidFill>
        <a:effectLst/>
      </p:bgPr>
    </p:bg>
    <p:spTree>
      <p:nvGrpSpPr>
        <p:cNvPr id="1" name=""/>
        <p:cNvGrpSpPr/>
        <p:nvPr/>
      </p:nvGrpSpPr>
      <p:grpSpPr/>
      <p:sp>
        <p:nvSpPr>
          <p:cNvPr id="2" name="Rectangle 1"/>
          <p:cNvSpPr/>
          <p:nvPr/>
        </p:nvSpPr>
        <p:spPr>
          <a:xfrm>
            <a:off x="0" y="0"/>
            <a:ext cx="9144000" cy="1005840"/>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8229600" cy="594360"/>
          </a:xfrm>
          <a:prstGeom prst="rect">
            <a:avLst/>
          </a:prstGeom>
          <a:noFill/>
        </p:spPr>
        <p:txBody>
          <a:bodyPr wrap="square">
            <a:spAutoFit/>
          </a:bodyPr>
          <a:lstStyle/>
          <a:p>
            <a:pPr algn="l"/>
            <a:r>
              <a:rPr sz="2600" b="1">
                <a:solidFill>
                  <a:srgbClr val="FFFFFF"/>
                </a:solidFill>
                <a:latin typeface="Calibri"/>
              </a:rPr>
              <a:t>Upcoming Events - Fall 2026</a:t>
            </a:r>
          </a:p>
        </p:txBody>
      </p:sp>
      <p:sp>
        <p:nvSpPr>
          <p:cNvPr id="5" name="Rectangle 4"/>
          <p:cNvSpPr/>
          <p:nvPr/>
        </p:nvSpPr>
        <p:spPr>
          <a:xfrm>
            <a:off x="365760" y="1234440"/>
            <a:ext cx="8412480" cy="1554480"/>
          </a:xfrm>
          <a:prstGeom prst="rect">
            <a:avLst/>
          </a:prstGeom>
          <a:solidFill>
            <a:srgbClr val="F8F0FF"/>
          </a:solidFill>
          <a:ln w="25400">
            <a:solidFill>
              <a:srgbClr val="7B2D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234440"/>
            <a:ext cx="1280160" cy="155448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463040"/>
            <a:ext cx="1261872" cy="502920"/>
          </a:xfrm>
          <a:prstGeom prst="rect">
            <a:avLst/>
          </a:prstGeom>
          <a:noFill/>
        </p:spPr>
        <p:txBody>
          <a:bodyPr wrap="square">
            <a:spAutoFit/>
          </a:bodyPr>
          <a:lstStyle/>
          <a:p>
            <a:pPr algn="ctr"/>
            <a:r>
              <a:rPr sz="1300" b="1">
                <a:solidFill>
                  <a:srgbClr val="FFFFFF"/>
                </a:solidFill>
                <a:latin typeface="Calibri"/>
              </a:rPr>
              <a:t>Oct 18, 2026</a:t>
            </a:r>
          </a:p>
        </p:txBody>
      </p:sp>
      <p:sp>
        <p:nvSpPr>
          <p:cNvPr id="8" name="TextBox 7"/>
          <p:cNvSpPr txBox="1"/>
          <p:nvPr/>
        </p:nvSpPr>
        <p:spPr>
          <a:xfrm>
            <a:off x="384048" y="2011680"/>
            <a:ext cx="1261872" cy="365760"/>
          </a:xfrm>
          <a:prstGeom prst="rect">
            <a:avLst/>
          </a:prstGeom>
          <a:noFill/>
        </p:spPr>
        <p:txBody>
          <a:bodyPr wrap="square">
            <a:spAutoFit/>
          </a:bodyPr>
          <a:lstStyle/>
          <a:p>
            <a:pPr algn="ctr"/>
            <a:r>
              <a:rPr sz="1000" b="0">
                <a:solidFill>
                  <a:srgbClr val="D0C0F0"/>
                </a:solidFill>
                <a:latin typeface="Calibri"/>
              </a:rPr>
              <a:t>Sunday</a:t>
            </a:r>
          </a:p>
        </p:txBody>
      </p:sp>
      <p:sp>
        <p:nvSpPr>
          <p:cNvPr id="9" name="TextBox 8"/>
          <p:cNvSpPr txBox="1"/>
          <p:nvPr/>
        </p:nvSpPr>
        <p:spPr>
          <a:xfrm>
            <a:off x="1828800" y="1325880"/>
            <a:ext cx="6766560" cy="411480"/>
          </a:xfrm>
          <a:prstGeom prst="rect">
            <a:avLst/>
          </a:prstGeom>
          <a:noFill/>
        </p:spPr>
        <p:txBody>
          <a:bodyPr wrap="square">
            <a:spAutoFit/>
          </a:bodyPr>
          <a:lstStyle/>
          <a:p>
            <a:pPr algn="l"/>
            <a:r>
              <a:rPr sz="1400" b="1">
                <a:solidFill>
                  <a:srgbClr val="1A0A2E"/>
                </a:solidFill>
                <a:latin typeface="Calibri"/>
              </a:rPr>
              <a:t>Fall Community Health Fair</a:t>
            </a:r>
          </a:p>
        </p:txBody>
      </p:sp>
      <p:sp>
        <p:nvSpPr>
          <p:cNvPr id="10" name="TextBox 9"/>
          <p:cNvSpPr txBox="1"/>
          <p:nvPr/>
        </p:nvSpPr>
        <p:spPr>
          <a:xfrm>
            <a:off x="1828800" y="1737360"/>
            <a:ext cx="6766560" cy="347472"/>
          </a:xfrm>
          <a:prstGeom prst="rect">
            <a:avLst/>
          </a:prstGeom>
          <a:noFill/>
        </p:spPr>
        <p:txBody>
          <a:bodyPr wrap="square">
            <a:spAutoFit/>
          </a:bodyPr>
          <a:lstStyle/>
          <a:p>
            <a:pPr algn="l"/>
            <a:r>
              <a:rPr sz="1100" b="0">
                <a:solidFill>
                  <a:srgbClr val="6B5E7E"/>
                </a:solidFill>
                <a:latin typeface="Calibri"/>
              </a:rPr>
              <a:t>Westview Community Center, 8:00 AM - 2:00 PM</a:t>
            </a:r>
          </a:p>
        </p:txBody>
      </p:sp>
      <p:sp>
        <p:nvSpPr>
          <p:cNvPr id="11" name="TextBox 10"/>
          <p:cNvSpPr txBox="1"/>
          <p:nvPr/>
        </p:nvSpPr>
        <p:spPr>
          <a:xfrm>
            <a:off x="1828800" y="2103120"/>
            <a:ext cx="4114800" cy="320040"/>
          </a:xfrm>
          <a:prstGeom prst="rect">
            <a:avLst/>
          </a:prstGeom>
          <a:noFill/>
        </p:spPr>
        <p:txBody>
          <a:bodyPr wrap="square">
            <a:spAutoFit/>
          </a:bodyPr>
          <a:lstStyle/>
          <a:p>
            <a:pPr algn="l"/>
            <a:r>
              <a:rPr sz="1100" b="1">
                <a:solidFill>
                  <a:srgbClr val="7B2D9E"/>
                </a:solidFill>
                <a:latin typeface="Calibri"/>
              </a:rPr>
              <a:t>Role: BP Screening Station (Hassan)</a:t>
            </a:r>
          </a:p>
        </p:txBody>
      </p:sp>
      <p:sp>
        <p:nvSpPr>
          <p:cNvPr id="12" name="TextBox 11"/>
          <p:cNvSpPr txBox="1"/>
          <p:nvPr/>
        </p:nvSpPr>
        <p:spPr>
          <a:xfrm>
            <a:off x="6035040" y="2103120"/>
            <a:ext cx="2606040" cy="320040"/>
          </a:xfrm>
          <a:prstGeom prst="rect">
            <a:avLst/>
          </a:prstGeom>
          <a:noFill/>
        </p:spPr>
        <p:txBody>
          <a:bodyPr wrap="square">
            <a:spAutoFit/>
          </a:bodyPr>
          <a:lstStyle/>
          <a:p>
            <a:pPr algn="r"/>
            <a:r>
              <a:rPr sz="1100" b="1">
                <a:solidFill>
                  <a:srgbClr val="2D8F5E"/>
                </a:solidFill>
                <a:latin typeface="Calibri"/>
              </a:rPr>
              <a:t>Hassan scheduled - 4 hours</a:t>
            </a:r>
          </a:p>
        </p:txBody>
      </p:sp>
      <p:sp>
        <p:nvSpPr>
          <p:cNvPr id="13" name="Rectangle 12"/>
          <p:cNvSpPr/>
          <p:nvPr/>
        </p:nvSpPr>
        <p:spPr>
          <a:xfrm>
            <a:off x="365760" y="2926080"/>
            <a:ext cx="8412480" cy="1554480"/>
          </a:xfrm>
          <a:prstGeom prst="rect">
            <a:avLst/>
          </a:prstGeom>
          <a:solidFill>
            <a:srgbClr val="FFF8F0"/>
          </a:solidFill>
          <a:ln w="25400">
            <a:solidFill>
              <a:srgbClr val="D46B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2926080"/>
            <a:ext cx="1280160" cy="1554480"/>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4048" y="3154680"/>
            <a:ext cx="1261872" cy="502920"/>
          </a:xfrm>
          <a:prstGeom prst="rect">
            <a:avLst/>
          </a:prstGeom>
          <a:noFill/>
        </p:spPr>
        <p:txBody>
          <a:bodyPr wrap="square">
            <a:spAutoFit/>
          </a:bodyPr>
          <a:lstStyle/>
          <a:p>
            <a:pPr algn="ctr"/>
            <a:r>
              <a:rPr sz="1300" b="1">
                <a:solidFill>
                  <a:srgbClr val="FFFFFF"/>
                </a:solidFill>
                <a:latin typeface="Calibri"/>
              </a:rPr>
              <a:t>Nov 15, 2026</a:t>
            </a:r>
          </a:p>
        </p:txBody>
      </p:sp>
      <p:sp>
        <p:nvSpPr>
          <p:cNvPr id="16" name="TextBox 15"/>
          <p:cNvSpPr txBox="1"/>
          <p:nvPr/>
        </p:nvSpPr>
        <p:spPr>
          <a:xfrm>
            <a:off x="384048" y="3703320"/>
            <a:ext cx="1261872" cy="365760"/>
          </a:xfrm>
          <a:prstGeom prst="rect">
            <a:avLst/>
          </a:prstGeom>
          <a:noFill/>
        </p:spPr>
        <p:txBody>
          <a:bodyPr wrap="square">
            <a:spAutoFit/>
          </a:bodyPr>
          <a:lstStyle/>
          <a:p>
            <a:pPr algn="ctr"/>
            <a:r>
              <a:rPr sz="1000" b="0">
                <a:solidFill>
                  <a:srgbClr val="FFE0B0"/>
                </a:solidFill>
                <a:latin typeface="Calibri"/>
              </a:rPr>
              <a:t>Sunday</a:t>
            </a:r>
          </a:p>
        </p:txBody>
      </p:sp>
      <p:sp>
        <p:nvSpPr>
          <p:cNvPr id="17" name="TextBox 16"/>
          <p:cNvSpPr txBox="1"/>
          <p:nvPr/>
        </p:nvSpPr>
        <p:spPr>
          <a:xfrm>
            <a:off x="1828800" y="3017520"/>
            <a:ext cx="6766560" cy="411480"/>
          </a:xfrm>
          <a:prstGeom prst="rect">
            <a:avLst/>
          </a:prstGeom>
          <a:noFill/>
        </p:spPr>
        <p:txBody>
          <a:bodyPr wrap="square">
            <a:spAutoFit/>
          </a:bodyPr>
          <a:lstStyle/>
          <a:p>
            <a:pPr algn="l"/>
            <a:r>
              <a:rPr sz="1400" b="1">
                <a:solidFill>
                  <a:srgbClr val="1A0A2E"/>
                </a:solidFill>
                <a:latin typeface="Calibri"/>
              </a:rPr>
              <a:t>Free Clinic Day</a:t>
            </a:r>
          </a:p>
        </p:txBody>
      </p:sp>
      <p:sp>
        <p:nvSpPr>
          <p:cNvPr id="18" name="TextBox 17"/>
          <p:cNvSpPr txBox="1"/>
          <p:nvPr/>
        </p:nvSpPr>
        <p:spPr>
          <a:xfrm>
            <a:off x="1828800" y="3429000"/>
            <a:ext cx="6766560" cy="347472"/>
          </a:xfrm>
          <a:prstGeom prst="rect">
            <a:avLst/>
          </a:prstGeom>
          <a:noFill/>
        </p:spPr>
        <p:txBody>
          <a:bodyPr wrap="square">
            <a:spAutoFit/>
          </a:bodyPr>
          <a:lstStyle/>
          <a:p>
            <a:pPr algn="l"/>
            <a:r>
              <a:rPr sz="1100" b="0">
                <a:solidFill>
                  <a:srgbClr val="6B5E7E"/>
                </a:solidFill>
                <a:latin typeface="Calibri"/>
              </a:rPr>
              <a:t>Westview Baptist Fellowship, 9:00 AM - 1:00 PM</a:t>
            </a:r>
          </a:p>
        </p:txBody>
      </p:sp>
      <p:sp>
        <p:nvSpPr>
          <p:cNvPr id="19" name="TextBox 18"/>
          <p:cNvSpPr txBox="1"/>
          <p:nvPr/>
        </p:nvSpPr>
        <p:spPr>
          <a:xfrm>
            <a:off x="1828800" y="3794760"/>
            <a:ext cx="4114800" cy="320040"/>
          </a:xfrm>
          <a:prstGeom prst="rect">
            <a:avLst/>
          </a:prstGeom>
          <a:noFill/>
        </p:spPr>
        <p:txBody>
          <a:bodyPr wrap="square">
            <a:spAutoFit/>
          </a:bodyPr>
          <a:lstStyle/>
          <a:p>
            <a:pPr algn="l"/>
            <a:r>
              <a:rPr sz="1100" b="1">
                <a:solidFill>
                  <a:srgbClr val="D46B00"/>
                </a:solidFill>
                <a:latin typeface="Calibri"/>
              </a:rPr>
              <a:t>Role: Intake and Registration</a:t>
            </a:r>
          </a:p>
        </p:txBody>
      </p:sp>
      <p:sp>
        <p:nvSpPr>
          <p:cNvPr id="20" name="TextBox 19"/>
          <p:cNvSpPr txBox="1"/>
          <p:nvPr/>
        </p:nvSpPr>
        <p:spPr>
          <a:xfrm>
            <a:off x="6035040" y="3794760"/>
            <a:ext cx="2606040" cy="320040"/>
          </a:xfrm>
          <a:prstGeom prst="rect">
            <a:avLst/>
          </a:prstGeom>
          <a:noFill/>
        </p:spPr>
        <p:txBody>
          <a:bodyPr wrap="square">
            <a:spAutoFit/>
          </a:bodyPr>
          <a:lstStyle/>
          <a:p>
            <a:pPr algn="r"/>
            <a:r>
              <a:rPr sz="1100" b="1">
                <a:solidFill>
                  <a:srgbClr val="D46B00"/>
                </a:solidFill>
                <a:latin typeface="Calibri"/>
              </a:rPr>
              <a:t>Open slot available</a:t>
            </a:r>
          </a:p>
        </p:txBody>
      </p:sp>
      <p:sp>
        <p:nvSpPr>
          <p:cNvPr id="21" name="Rectangle 20"/>
          <p:cNvSpPr/>
          <p:nvPr/>
        </p:nvSpPr>
        <p:spPr>
          <a:xfrm>
            <a:off x="365760" y="4617720"/>
            <a:ext cx="8412480" cy="1554480"/>
          </a:xfrm>
          <a:prstGeom prst="rect">
            <a:avLst/>
          </a:prstGeom>
          <a:solidFill>
            <a:srgbClr val="F8F0FF"/>
          </a:solidFill>
          <a:ln w="25400">
            <a:solidFill>
              <a:srgbClr val="2D8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4617720"/>
            <a:ext cx="1280160" cy="1554480"/>
          </a:xfrm>
          <a:prstGeom prst="rect">
            <a:avLst/>
          </a:prstGeom>
          <a:solidFill>
            <a:srgbClr val="2D8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4846320"/>
            <a:ext cx="1261872" cy="502920"/>
          </a:xfrm>
          <a:prstGeom prst="rect">
            <a:avLst/>
          </a:prstGeom>
          <a:noFill/>
        </p:spPr>
        <p:txBody>
          <a:bodyPr wrap="square">
            <a:spAutoFit/>
          </a:bodyPr>
          <a:lstStyle/>
          <a:p>
            <a:pPr algn="ctr"/>
            <a:r>
              <a:rPr sz="1300" b="1">
                <a:solidFill>
                  <a:srgbClr val="FFFFFF"/>
                </a:solidFill>
                <a:latin typeface="Calibri"/>
              </a:rPr>
              <a:t>Dec 6, 2026</a:t>
            </a:r>
          </a:p>
        </p:txBody>
      </p:sp>
      <p:sp>
        <p:nvSpPr>
          <p:cNvPr id="24" name="TextBox 23"/>
          <p:cNvSpPr txBox="1"/>
          <p:nvPr/>
        </p:nvSpPr>
        <p:spPr>
          <a:xfrm>
            <a:off x="384048" y="5394960"/>
            <a:ext cx="1261872" cy="365760"/>
          </a:xfrm>
          <a:prstGeom prst="rect">
            <a:avLst/>
          </a:prstGeom>
          <a:noFill/>
        </p:spPr>
        <p:txBody>
          <a:bodyPr wrap="square">
            <a:spAutoFit/>
          </a:bodyPr>
          <a:lstStyle/>
          <a:p>
            <a:pPr algn="ctr"/>
            <a:r>
              <a:rPr sz="1000" b="0">
                <a:solidFill>
                  <a:srgbClr val="FFE0B0"/>
                </a:solidFill>
                <a:latin typeface="Calibri"/>
              </a:rPr>
              <a:t>Sunday</a:t>
            </a:r>
          </a:p>
        </p:txBody>
      </p:sp>
      <p:sp>
        <p:nvSpPr>
          <p:cNvPr id="25" name="TextBox 24"/>
          <p:cNvSpPr txBox="1"/>
          <p:nvPr/>
        </p:nvSpPr>
        <p:spPr>
          <a:xfrm>
            <a:off x="1828800" y="4709160"/>
            <a:ext cx="6766560" cy="411480"/>
          </a:xfrm>
          <a:prstGeom prst="rect">
            <a:avLst/>
          </a:prstGeom>
          <a:noFill/>
        </p:spPr>
        <p:txBody>
          <a:bodyPr wrap="square">
            <a:spAutoFit/>
          </a:bodyPr>
          <a:lstStyle/>
          <a:p>
            <a:pPr algn="l"/>
            <a:r>
              <a:rPr sz="1400" b="1">
                <a:solidFill>
                  <a:srgbClr val="1A0A2E"/>
                </a:solidFill>
                <a:latin typeface="Calibri"/>
              </a:rPr>
              <a:t>End of Semester Outreach</a:t>
            </a:r>
          </a:p>
        </p:txBody>
      </p:sp>
      <p:sp>
        <p:nvSpPr>
          <p:cNvPr id="26" name="TextBox 25"/>
          <p:cNvSpPr txBox="1"/>
          <p:nvPr/>
        </p:nvSpPr>
        <p:spPr>
          <a:xfrm>
            <a:off x="1828800" y="5120640"/>
            <a:ext cx="6766560" cy="347472"/>
          </a:xfrm>
          <a:prstGeom prst="rect">
            <a:avLst/>
          </a:prstGeom>
          <a:noFill/>
        </p:spPr>
        <p:txBody>
          <a:bodyPr wrap="square">
            <a:spAutoFit/>
          </a:bodyPr>
          <a:lstStyle/>
          <a:p>
            <a:pPr algn="l"/>
            <a:r>
              <a:rPr sz="1100" b="0">
                <a:solidFill>
                  <a:srgbClr val="6B5E7E"/>
                </a:solidFill>
                <a:latin typeface="Calibri"/>
              </a:rPr>
              <a:t>MLK Recreation Center, 10:00 AM - 2:00 PM</a:t>
            </a:r>
          </a:p>
        </p:txBody>
      </p:sp>
      <p:sp>
        <p:nvSpPr>
          <p:cNvPr id="27" name="TextBox 26"/>
          <p:cNvSpPr txBox="1"/>
          <p:nvPr/>
        </p:nvSpPr>
        <p:spPr>
          <a:xfrm>
            <a:off x="1828800" y="5486400"/>
            <a:ext cx="4114800" cy="320040"/>
          </a:xfrm>
          <a:prstGeom prst="rect">
            <a:avLst/>
          </a:prstGeom>
          <a:noFill/>
        </p:spPr>
        <p:txBody>
          <a:bodyPr wrap="square">
            <a:spAutoFit/>
          </a:bodyPr>
          <a:lstStyle/>
          <a:p>
            <a:pPr algn="l"/>
            <a:r>
              <a:rPr sz="1100" b="1">
                <a:solidFill>
                  <a:srgbClr val="2D8F5E"/>
                </a:solidFill>
                <a:latin typeface="Calibri"/>
              </a:rPr>
              <a:t>Role: Health Education Distribution</a:t>
            </a:r>
          </a:p>
        </p:txBody>
      </p:sp>
      <p:sp>
        <p:nvSpPr>
          <p:cNvPr id="28" name="TextBox 27"/>
          <p:cNvSpPr txBox="1"/>
          <p:nvPr/>
        </p:nvSpPr>
        <p:spPr>
          <a:xfrm>
            <a:off x="6035040" y="5486400"/>
            <a:ext cx="2606040" cy="320040"/>
          </a:xfrm>
          <a:prstGeom prst="rect">
            <a:avLst/>
          </a:prstGeom>
          <a:noFill/>
        </p:spPr>
        <p:txBody>
          <a:bodyPr wrap="square">
            <a:spAutoFit/>
          </a:bodyPr>
          <a:lstStyle/>
          <a:p>
            <a:pPr algn="r"/>
            <a:r>
              <a:rPr sz="1100" b="1">
                <a:solidFill>
                  <a:srgbClr val="2D8F5E"/>
                </a:solidFill>
                <a:latin typeface="Calibri"/>
              </a:rPr>
              <a:t>Hassan scheduled - 4 hours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4A1A6B"/>
        </a:solidFill>
        <a:effectLst/>
      </p:bgPr>
    </p:bg>
    <p:spTree>
      <p:nvGrpSpPr>
        <p:cNvPr id="1" name=""/>
        <p:cNvGrpSpPr/>
        <p:nvPr/>
      </p:nvGrpSpPr>
      <p:grpSpPr/>
      <p:sp>
        <p:nvSpPr>
          <p:cNvPr id="2" name="Rectangle 1"/>
          <p:cNvSpPr/>
          <p:nvPr/>
        </p:nvSpPr>
        <p:spPr>
          <a:xfrm>
            <a:off x="0" y="0"/>
            <a:ext cx="9144000" cy="100584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17920"/>
            <a:ext cx="9144000" cy="640080"/>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8229600" cy="594360"/>
          </a:xfrm>
          <a:prstGeom prst="rect">
            <a:avLst/>
          </a:prstGeom>
          <a:noFill/>
        </p:spPr>
        <p:txBody>
          <a:bodyPr wrap="square">
            <a:spAutoFit/>
          </a:bodyPr>
          <a:lstStyle/>
          <a:p>
            <a:pPr algn="l"/>
            <a:r>
              <a:rPr sz="2400" b="1">
                <a:solidFill>
                  <a:srgbClr val="FFFFFF"/>
                </a:solidFill>
                <a:latin typeface="Calibri"/>
              </a:rPr>
              <a:t>Reflection - Hassan Blanchard</a:t>
            </a:r>
          </a:p>
        </p:txBody>
      </p:sp>
      <p:sp>
        <p:nvSpPr>
          <p:cNvPr id="5" name="Rectangle 4"/>
          <p:cNvSpPr/>
          <p:nvPr/>
        </p:nvSpPr>
        <p:spPr>
          <a:xfrm>
            <a:off x="640080" y="1234440"/>
            <a:ext cx="7863840" cy="3657600"/>
          </a:xfrm>
          <a:prstGeom prst="rect">
            <a:avLst/>
          </a:prstGeom>
          <a:solidFill>
            <a:srgbClr val="5A2280"/>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234440"/>
            <a:ext cx="137160" cy="36576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371600"/>
            <a:ext cx="7315200" cy="3291840"/>
          </a:xfrm>
          <a:prstGeom prst="rect">
            <a:avLst/>
          </a:prstGeom>
          <a:noFill/>
        </p:spPr>
        <p:txBody>
          <a:bodyPr wrap="square">
            <a:spAutoFit/>
          </a:bodyPr>
          <a:lstStyle/>
          <a:p>
            <a:pPr algn="l"/>
            <a:r>
              <a:rPr sz="1100" b="0">
                <a:solidFill>
                  <a:srgbClr val="E0D0F0"/>
                </a:solidFill>
                <a:latin typeface="Calibri"/>
              </a:rPr>
              <a:t>"Volunteering with HEP has been different from what I expected. I thought it would be like shadowing - mostly watching. But you are actually doing things from the first event. The BP screening shifts especially have been useful because you have to explain the numbers to the person right there and then, in plain terms. That is harder than it sounds when you are used to thinking about mmHg and systolic vs diastolic in class terminology.
The Westview community is close to campus but the health access gap is real. People are coming in who have not had a blood pressure check in years because they do not have a primary care doctor or the cost is too high. That is why the pre-nursing track makes sense to me - not just learning clinical skills but understanding where care is actually needed and why.
By the spring semester I want to have 24 or more hours in - that means picking up at least one more event between December and March."</a:t>
            </a:r>
          </a:p>
        </p:txBody>
      </p:sp>
      <p:sp>
        <p:nvSpPr>
          <p:cNvPr id="8" name="TextBox 7"/>
          <p:cNvSpPr txBox="1"/>
          <p:nvPr/>
        </p:nvSpPr>
        <p:spPr>
          <a:xfrm>
            <a:off x="640080" y="5074920"/>
            <a:ext cx="7863840" cy="365760"/>
          </a:xfrm>
          <a:prstGeom prst="rect">
            <a:avLst/>
          </a:prstGeom>
          <a:noFill/>
        </p:spPr>
        <p:txBody>
          <a:bodyPr wrap="square">
            <a:spAutoFit/>
          </a:bodyPr>
          <a:lstStyle/>
          <a:p>
            <a:pPr algn="ctr"/>
            <a:r>
              <a:rPr sz="1000" b="0">
                <a:solidFill>
                  <a:srgbClr val="F59E0B"/>
                </a:solidFill>
                <a:latin typeface="Calibri"/>
              </a:rPr>
              <a:t>Hassan Blanchard  |  HEP Volunteer Journal  |  Submitted November 2025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DFAFF"/>
        </a:solidFill>
        <a:effectLst/>
      </p:bgPr>
    </p:bg>
    <p:spTree>
      <p:nvGrpSpPr>
        <p:cNvPr id="1" name=""/>
        <p:cNvGrpSpPr/>
        <p:nvPr/>
      </p:nvGrpSpPr>
      <p:grpSpPr/>
      <p:sp>
        <p:nvSpPr>
          <p:cNvPr id="2" name="Rectangle 1"/>
          <p:cNvSpPr/>
          <p:nvPr/>
        </p:nvSpPr>
        <p:spPr>
          <a:xfrm>
            <a:off x="0" y="0"/>
            <a:ext cx="9144000" cy="100584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 cy="6858000"/>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01168"/>
            <a:ext cx="8229600" cy="594360"/>
          </a:xfrm>
          <a:prstGeom prst="rect">
            <a:avLst/>
          </a:prstGeom>
          <a:noFill/>
        </p:spPr>
        <p:txBody>
          <a:bodyPr wrap="square">
            <a:spAutoFit/>
          </a:bodyPr>
          <a:lstStyle/>
          <a:p>
            <a:pPr algn="l"/>
            <a:r>
              <a:rPr sz="2600" b="1">
                <a:solidFill>
                  <a:srgbClr val="FFFFFF"/>
                </a:solidFill>
                <a:latin typeface="Calibri"/>
              </a:rPr>
              <a:t>Goals and Path Forward</a:t>
            </a:r>
          </a:p>
        </p:txBody>
      </p:sp>
      <p:sp>
        <p:nvSpPr>
          <p:cNvPr id="5" name="Rectangle 4"/>
          <p:cNvSpPr/>
          <p:nvPr/>
        </p:nvSpPr>
        <p:spPr>
          <a:xfrm>
            <a:off x="365760" y="1188720"/>
            <a:ext cx="8412480" cy="914400"/>
          </a:xfrm>
          <a:prstGeom prst="rect">
            <a:avLst/>
          </a:prstGeom>
          <a:solidFill>
            <a:srgbClr val="F3E6FD"/>
          </a:solidFill>
          <a:ln w="12700">
            <a:solidFill>
              <a:srgbClr val="B06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188720"/>
            <a:ext cx="2011680" cy="91440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444752"/>
            <a:ext cx="1920240" cy="411480"/>
          </a:xfrm>
          <a:prstGeom prst="rect">
            <a:avLst/>
          </a:prstGeom>
          <a:noFill/>
        </p:spPr>
        <p:txBody>
          <a:bodyPr wrap="square">
            <a:spAutoFit/>
          </a:bodyPr>
          <a:lstStyle/>
          <a:p>
            <a:pPr algn="ctr"/>
            <a:r>
              <a:rPr sz="1100" b="1">
                <a:solidFill>
                  <a:srgbClr val="FFFFFF"/>
                </a:solidFill>
                <a:latin typeface="Calibri"/>
              </a:rPr>
              <a:t>Now - Oct 2026</a:t>
            </a:r>
          </a:p>
        </p:txBody>
      </p:sp>
      <p:sp>
        <p:nvSpPr>
          <p:cNvPr id="8" name="TextBox 7"/>
          <p:cNvSpPr txBox="1"/>
          <p:nvPr/>
        </p:nvSpPr>
        <p:spPr>
          <a:xfrm>
            <a:off x="2514600" y="1325880"/>
            <a:ext cx="6172200" cy="640080"/>
          </a:xfrm>
          <a:prstGeom prst="rect">
            <a:avLst/>
          </a:prstGeom>
          <a:noFill/>
        </p:spPr>
        <p:txBody>
          <a:bodyPr wrap="square">
            <a:spAutoFit/>
          </a:bodyPr>
          <a:lstStyle/>
          <a:p>
            <a:pPr algn="l"/>
            <a:r>
              <a:rPr sz="1100" b="0">
                <a:solidFill>
                  <a:srgbClr val="1A0A2E"/>
                </a:solidFill>
                <a:latin typeface="Calibri"/>
              </a:rPr>
              <a:t>Complete Fall midterms. Attend Oct 18 health fair (4 hrs, BP station). Total: 16 hrs.</a:t>
            </a:r>
          </a:p>
        </p:txBody>
      </p:sp>
      <p:sp>
        <p:nvSpPr>
          <p:cNvPr id="9" name="Rectangle 8"/>
          <p:cNvSpPr/>
          <p:nvPr/>
        </p:nvSpPr>
        <p:spPr>
          <a:xfrm>
            <a:off x="365760" y="2212848"/>
            <a:ext cx="8412480" cy="914400"/>
          </a:xfrm>
          <a:prstGeom prst="rect">
            <a:avLst/>
          </a:prstGeom>
          <a:solidFill>
            <a:srgbClr val="FFFFFF"/>
          </a:solidFill>
          <a:ln w="12700">
            <a:solidFill>
              <a:srgbClr val="B06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2212848"/>
            <a:ext cx="2011680" cy="91440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2468880"/>
            <a:ext cx="1920240" cy="411480"/>
          </a:xfrm>
          <a:prstGeom prst="rect">
            <a:avLst/>
          </a:prstGeom>
          <a:noFill/>
        </p:spPr>
        <p:txBody>
          <a:bodyPr wrap="square">
            <a:spAutoFit/>
          </a:bodyPr>
          <a:lstStyle/>
          <a:p>
            <a:pPr algn="ctr"/>
            <a:r>
              <a:rPr sz="1100" b="1">
                <a:solidFill>
                  <a:srgbClr val="FFFFFF"/>
                </a:solidFill>
                <a:latin typeface="Calibri"/>
              </a:rPr>
              <a:t>Nov - Dec 2026</a:t>
            </a:r>
          </a:p>
        </p:txBody>
      </p:sp>
      <p:sp>
        <p:nvSpPr>
          <p:cNvPr id="12" name="TextBox 11"/>
          <p:cNvSpPr txBox="1"/>
          <p:nvPr/>
        </p:nvSpPr>
        <p:spPr>
          <a:xfrm>
            <a:off x="2514600" y="2350008"/>
            <a:ext cx="6172200" cy="640080"/>
          </a:xfrm>
          <a:prstGeom prst="rect">
            <a:avLst/>
          </a:prstGeom>
          <a:noFill/>
        </p:spPr>
        <p:txBody>
          <a:bodyPr wrap="square">
            <a:spAutoFit/>
          </a:bodyPr>
          <a:lstStyle/>
          <a:p>
            <a:pPr algn="l"/>
            <a:r>
              <a:rPr sz="1100" b="0">
                <a:solidFill>
                  <a:srgbClr val="1A0A2E"/>
                </a:solidFill>
                <a:latin typeface="Calibri"/>
              </a:rPr>
              <a:t>Nov 15 clinic (4 hrs) + Dec 6 outreach (4 hrs) = 8 additional hours. Total: 24 hrs by December.</a:t>
            </a:r>
          </a:p>
        </p:txBody>
      </p:sp>
      <p:sp>
        <p:nvSpPr>
          <p:cNvPr id="13" name="Rectangle 12"/>
          <p:cNvSpPr/>
          <p:nvPr/>
        </p:nvSpPr>
        <p:spPr>
          <a:xfrm>
            <a:off x="365760" y="3236976"/>
            <a:ext cx="8412480" cy="914400"/>
          </a:xfrm>
          <a:prstGeom prst="rect">
            <a:avLst/>
          </a:prstGeom>
          <a:solidFill>
            <a:srgbClr val="F3E6FD"/>
          </a:solidFill>
          <a:ln w="12700">
            <a:solidFill>
              <a:srgbClr val="B06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3236976"/>
            <a:ext cx="2011680" cy="914400"/>
          </a:xfrm>
          <a:prstGeom prst="rect">
            <a:avLst/>
          </a:prstGeom>
          <a:solidFill>
            <a:srgbClr val="7B2D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3493008"/>
            <a:ext cx="1920240" cy="411480"/>
          </a:xfrm>
          <a:prstGeom prst="rect">
            <a:avLst/>
          </a:prstGeom>
          <a:noFill/>
        </p:spPr>
        <p:txBody>
          <a:bodyPr wrap="square">
            <a:spAutoFit/>
          </a:bodyPr>
          <a:lstStyle/>
          <a:p>
            <a:pPr algn="ctr"/>
            <a:r>
              <a:rPr sz="1100" b="1">
                <a:solidFill>
                  <a:srgbClr val="FFFFFF"/>
                </a:solidFill>
                <a:latin typeface="Calibri"/>
              </a:rPr>
              <a:t>Jan - Mar 2027</a:t>
            </a:r>
          </a:p>
        </p:txBody>
      </p:sp>
      <p:sp>
        <p:nvSpPr>
          <p:cNvPr id="16" name="TextBox 15"/>
          <p:cNvSpPr txBox="1"/>
          <p:nvPr/>
        </p:nvSpPr>
        <p:spPr>
          <a:xfrm>
            <a:off x="2514600" y="3374136"/>
            <a:ext cx="6172200" cy="640080"/>
          </a:xfrm>
          <a:prstGeom prst="rect">
            <a:avLst/>
          </a:prstGeom>
          <a:noFill/>
        </p:spPr>
        <p:txBody>
          <a:bodyPr wrap="square">
            <a:spAutoFit/>
          </a:bodyPr>
          <a:lstStyle/>
          <a:p>
            <a:pPr algn="l"/>
            <a:r>
              <a:rPr sz="1100" b="0">
                <a:solidFill>
                  <a:srgbClr val="1A0A2E"/>
                </a:solidFill>
                <a:latin typeface="Calibri"/>
              </a:rPr>
              <a:t>Resume regular schedule after finals recovery. Target 2 events per month to reach 32 hrs.</a:t>
            </a:r>
          </a:p>
        </p:txBody>
      </p:sp>
      <p:sp>
        <p:nvSpPr>
          <p:cNvPr id="17" name="Rectangle 16"/>
          <p:cNvSpPr/>
          <p:nvPr/>
        </p:nvSpPr>
        <p:spPr>
          <a:xfrm>
            <a:off x="365760" y="4261104"/>
            <a:ext cx="8412480" cy="914400"/>
          </a:xfrm>
          <a:prstGeom prst="rect">
            <a:avLst/>
          </a:prstGeom>
          <a:solidFill>
            <a:srgbClr val="FFFFFF"/>
          </a:solidFill>
          <a:ln w="12700">
            <a:solidFill>
              <a:srgbClr val="B06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4261104"/>
            <a:ext cx="2011680" cy="914400"/>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4517136"/>
            <a:ext cx="1920240" cy="411480"/>
          </a:xfrm>
          <a:prstGeom prst="rect">
            <a:avLst/>
          </a:prstGeom>
          <a:noFill/>
        </p:spPr>
        <p:txBody>
          <a:bodyPr wrap="square">
            <a:spAutoFit/>
          </a:bodyPr>
          <a:lstStyle/>
          <a:p>
            <a:pPr algn="ctr"/>
            <a:r>
              <a:rPr sz="1100" b="1">
                <a:solidFill>
                  <a:srgbClr val="FFFFFF"/>
                </a:solidFill>
                <a:latin typeface="Calibri"/>
              </a:rPr>
              <a:t>Apr - May 2027</a:t>
            </a:r>
          </a:p>
        </p:txBody>
      </p:sp>
      <p:sp>
        <p:nvSpPr>
          <p:cNvPr id="20" name="TextBox 19"/>
          <p:cNvSpPr txBox="1"/>
          <p:nvPr/>
        </p:nvSpPr>
        <p:spPr>
          <a:xfrm>
            <a:off x="2514600" y="4398264"/>
            <a:ext cx="6172200" cy="640080"/>
          </a:xfrm>
          <a:prstGeom prst="rect">
            <a:avLst/>
          </a:prstGeom>
          <a:noFill/>
        </p:spPr>
        <p:txBody>
          <a:bodyPr wrap="square">
            <a:spAutoFit/>
          </a:bodyPr>
          <a:lstStyle/>
          <a:p>
            <a:pPr algn="l"/>
            <a:r>
              <a:rPr sz="1100" b="0">
                <a:solidFill>
                  <a:srgbClr val="1A0A2E"/>
                </a:solidFill>
                <a:latin typeface="Calibri"/>
              </a:rPr>
              <a:t>Final push to 40 hrs. Request HEP faculty recommendation letter for nursing program application.</a:t>
            </a:r>
          </a:p>
        </p:txBody>
      </p:sp>
      <p:sp>
        <p:nvSpPr>
          <p:cNvPr id="21" name="Rectangle 20"/>
          <p:cNvSpPr/>
          <p:nvPr/>
        </p:nvSpPr>
        <p:spPr>
          <a:xfrm>
            <a:off x="365760" y="5285232"/>
            <a:ext cx="8412480" cy="914400"/>
          </a:xfrm>
          <a:prstGeom prst="rect">
            <a:avLst/>
          </a:prstGeom>
          <a:solidFill>
            <a:srgbClr val="F3E6FD"/>
          </a:solidFill>
          <a:ln w="12700">
            <a:solidFill>
              <a:srgbClr val="B065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5760" y="5285232"/>
            <a:ext cx="2011680" cy="914400"/>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5541264"/>
            <a:ext cx="1920240" cy="411480"/>
          </a:xfrm>
          <a:prstGeom prst="rect">
            <a:avLst/>
          </a:prstGeom>
          <a:noFill/>
        </p:spPr>
        <p:txBody>
          <a:bodyPr wrap="square">
            <a:spAutoFit/>
          </a:bodyPr>
          <a:lstStyle/>
          <a:p>
            <a:pPr algn="ctr"/>
            <a:r>
              <a:rPr sz="1100" b="1">
                <a:solidFill>
                  <a:srgbClr val="FFFFFF"/>
                </a:solidFill>
                <a:latin typeface="Calibri"/>
              </a:rPr>
              <a:t>May 2027 and beyond</a:t>
            </a:r>
          </a:p>
        </p:txBody>
      </p:sp>
      <p:sp>
        <p:nvSpPr>
          <p:cNvPr id="24" name="TextBox 23"/>
          <p:cNvSpPr txBox="1"/>
          <p:nvPr/>
        </p:nvSpPr>
        <p:spPr>
          <a:xfrm>
            <a:off x="2514600" y="5422392"/>
            <a:ext cx="6172200" cy="640080"/>
          </a:xfrm>
          <a:prstGeom prst="rect">
            <a:avLst/>
          </a:prstGeom>
          <a:noFill/>
        </p:spPr>
        <p:txBody>
          <a:bodyPr wrap="square">
            <a:spAutoFit/>
          </a:bodyPr>
          <a:lstStyle/>
          <a:p>
            <a:pPr algn="l"/>
            <a:r>
              <a:rPr sz="1100" b="0">
                <a:solidFill>
                  <a:srgbClr val="1A0A2E"/>
                </a:solidFill>
                <a:latin typeface="Calibri"/>
              </a:rPr>
              <a:t>Submit nursing program application with HEP certificate, service log, and faculty letter of support.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4A1A6B"/>
        </a:solidFill>
        <a:effectLst/>
      </p:bgPr>
    </p:bg>
    <p:spTree>
      <p:nvGrpSpPr>
        <p:cNvPr id="1" name=""/>
        <p:cNvGrpSpPr/>
        <p:nvPr/>
      </p:nvGrpSpPr>
      <p:grpSpPr/>
      <p:sp>
        <p:nvSpPr>
          <p:cNvPr id="2" name="Rectangle 1"/>
          <p:cNvSpPr/>
          <p:nvPr/>
        </p:nvSpPr>
        <p:spPr>
          <a:xfrm>
            <a:off x="0" y="5029200"/>
            <a:ext cx="9144000" cy="1828800"/>
          </a:xfrm>
          <a:prstGeom prst="rect">
            <a:avLst/>
          </a:prstGeom>
          <a:solidFill>
            <a:srgbClr val="D4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914400"/>
            <a:ext cx="7315200" cy="4754880"/>
          </a:xfrm>
          <a:prstGeom prst="rect">
            <a:avLst/>
          </a:prstGeom>
          <a:solidFill>
            <a:srgbClr val="5A2280"/>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188720"/>
            <a:ext cx="6949440" cy="457200"/>
          </a:xfrm>
          <a:prstGeom prst="rect">
            <a:avLst/>
          </a:prstGeom>
          <a:noFill/>
        </p:spPr>
        <p:txBody>
          <a:bodyPr wrap="square">
            <a:spAutoFit/>
          </a:bodyPr>
          <a:lstStyle/>
          <a:p>
            <a:pPr algn="ctr"/>
            <a:r>
              <a:rPr sz="1300" b="1">
                <a:solidFill>
                  <a:srgbClr val="F59E0B"/>
                </a:solidFill>
                <a:latin typeface="Calibri"/>
              </a:rPr>
              <a:t>HEALTH EQUITY PROGRAM</a:t>
            </a:r>
          </a:p>
        </p:txBody>
      </p:sp>
      <p:sp>
        <p:nvSpPr>
          <p:cNvPr id="5" name="TextBox 4"/>
          <p:cNvSpPr txBox="1"/>
          <p:nvPr/>
        </p:nvSpPr>
        <p:spPr>
          <a:xfrm>
            <a:off x="1097280" y="1828800"/>
            <a:ext cx="6949440" cy="914400"/>
          </a:xfrm>
          <a:prstGeom prst="rect">
            <a:avLst/>
          </a:prstGeom>
          <a:noFill/>
        </p:spPr>
        <p:txBody>
          <a:bodyPr wrap="square">
            <a:spAutoFit/>
          </a:bodyPr>
          <a:lstStyle/>
          <a:p>
            <a:pPr algn="ctr"/>
            <a:r>
              <a:rPr sz="4600" b="1">
                <a:solidFill>
                  <a:srgbClr val="FFFFFF"/>
                </a:solidFill>
                <a:latin typeface="Calibri"/>
              </a:rPr>
              <a:t>Thank You</a:t>
            </a:r>
          </a:p>
        </p:txBody>
      </p:sp>
      <p:sp>
        <p:nvSpPr>
          <p:cNvPr id="6" name="TextBox 5"/>
          <p:cNvSpPr txBox="1"/>
          <p:nvPr/>
        </p:nvSpPr>
        <p:spPr>
          <a:xfrm>
            <a:off x="1097280" y="2834640"/>
            <a:ext cx="6949440" cy="502920"/>
          </a:xfrm>
          <a:prstGeom prst="rect">
            <a:avLst/>
          </a:prstGeom>
          <a:noFill/>
        </p:spPr>
        <p:txBody>
          <a:bodyPr wrap="square">
            <a:spAutoFit/>
          </a:bodyPr>
          <a:lstStyle/>
          <a:p>
            <a:pPr algn="ctr"/>
            <a:r>
              <a:rPr sz="1800" b="0">
                <a:solidFill>
                  <a:srgbClr val="C090E0"/>
                </a:solidFill>
                <a:latin typeface="Calibri"/>
              </a:rPr>
              <a:t>Questions? Let us know.</a:t>
            </a:r>
          </a:p>
        </p:txBody>
      </p:sp>
      <p:sp>
        <p:nvSpPr>
          <p:cNvPr id="7" name="TextBox 6"/>
          <p:cNvSpPr txBox="1"/>
          <p:nvPr/>
        </p:nvSpPr>
        <p:spPr>
          <a:xfrm>
            <a:off x="1097280" y="3566160"/>
            <a:ext cx="6949440" cy="411480"/>
          </a:xfrm>
          <a:prstGeom prst="rect">
            <a:avLst/>
          </a:prstGeom>
          <a:noFill/>
        </p:spPr>
        <p:txBody>
          <a:bodyPr wrap="square">
            <a:spAutoFit/>
          </a:bodyPr>
          <a:lstStyle/>
          <a:p>
            <a:pPr algn="ctr"/>
            <a:r>
              <a:rPr sz="1200" b="0">
                <a:solidFill>
                  <a:srgbClr val="D4B0F0"/>
                </a:solidFill>
                <a:latin typeface="Calibri"/>
              </a:rPr>
              <a:t>HEP Coordinator:  hep@cedarbrook.edu</a:t>
            </a:r>
          </a:p>
        </p:txBody>
      </p:sp>
      <p:sp>
        <p:nvSpPr>
          <p:cNvPr id="8" name="TextBox 7"/>
          <p:cNvSpPr txBox="1"/>
          <p:nvPr/>
        </p:nvSpPr>
        <p:spPr>
          <a:xfrm>
            <a:off x="1097280" y="4023360"/>
            <a:ext cx="6949440" cy="411480"/>
          </a:xfrm>
          <a:prstGeom prst="rect">
            <a:avLst/>
          </a:prstGeom>
          <a:noFill/>
        </p:spPr>
        <p:txBody>
          <a:bodyPr wrap="square">
            <a:spAutoFit/>
          </a:bodyPr>
          <a:lstStyle/>
          <a:p>
            <a:pPr algn="ctr"/>
            <a:r>
              <a:rPr sz="1200" b="0">
                <a:solidFill>
                  <a:srgbClr val="D4B0F0"/>
                </a:solidFill>
                <a:latin typeface="Calibri"/>
              </a:rPr>
              <a:t>Sign-up for Spring 2027 events: cedarbrook.edu/hep/volunteer</a:t>
            </a:r>
          </a:p>
        </p:txBody>
      </p:sp>
      <p:sp>
        <p:nvSpPr>
          <p:cNvPr id="9" name="TextBox 8"/>
          <p:cNvSpPr txBox="1"/>
          <p:nvPr/>
        </p:nvSpPr>
        <p:spPr>
          <a:xfrm>
            <a:off x="1097280" y="5212080"/>
            <a:ext cx="6949440" cy="365760"/>
          </a:xfrm>
          <a:prstGeom prst="rect">
            <a:avLst/>
          </a:prstGeom>
          <a:noFill/>
        </p:spPr>
        <p:txBody>
          <a:bodyPr wrap="square">
            <a:spAutoFit/>
          </a:bodyPr>
          <a:lstStyle/>
          <a:p>
            <a:pPr algn="ctr"/>
            <a:r>
              <a:rPr sz="1000" b="0">
                <a:solidFill>
                  <a:srgbClr val="F0C060"/>
                </a:solidFill>
                <a:latin typeface="Calibri"/>
              </a:rPr>
              <a:t>Cedarbrook University  |  Health Equity Program  |  Academic Year 2025-2026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