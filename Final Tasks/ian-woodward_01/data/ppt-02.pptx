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USD</c:v>
                </c:pt>
              </c:strCache>
            </c:strRef>
          </c:tx>
          <c:dPt>
            <c:idx val="0"/>
            <c:spPr>
              <a:solidFill>
                <a:srgbClr val="6E1F2A"/>
              </a:solidFill>
            </c:spPr>
          </c:dPt>
          <c:dPt>
            <c:idx val="1"/>
            <c:spPr>
              <a:solidFill>
                <a:srgbClr val="B8893B"/>
              </a:solidFill>
            </c:spPr>
          </c:dPt>
          <c:dPt>
            <c:idx val="2"/>
            <c:spPr>
              <a:solidFill>
                <a:srgbClr val="9C5B34"/>
              </a:solidFill>
            </c:spPr>
          </c:dPt>
          <c:dPt>
            <c:idx val="3"/>
            <c:spPr>
              <a:solidFill>
                <a:srgbClr val="C9A35B"/>
              </a:solidFill>
            </c:spPr>
          </c:dPt>
          <c:dPt>
            <c:idx val="4"/>
            <c:spPr>
              <a:solidFill>
                <a:srgbClr val="7A6A5A"/>
              </a:solidFill>
            </c:spPr>
          </c:dPt>
          <c:cat>
            <c:strRef>
              <c:f>Sheet1!$A$2:$A$6</c:f>
              <c:strCache>
                <c:ptCount val="5"/>
                <c:pt idx="0">
                  <c:v>Online giving</c:v>
                </c:pt>
                <c:pt idx="1">
                  <c:v>Cash and envelopes</c:v>
                </c:pt>
                <c:pt idx="2">
                  <c:v>PayPal</c:v>
                </c:pt>
                <c:pt idx="3">
                  <c:v>Bake sale</c:v>
                </c:pt>
                <c:pt idx="4">
                  <c:v>Crypto gift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1784.9</c:v>
                </c:pt>
                <c:pt idx="1">
                  <c:v>915.0</c:v>
                </c:pt>
                <c:pt idx="2">
                  <c:v>602.64</c:v>
                </c:pt>
                <c:pt idx="3">
                  <c:v>376.75</c:v>
                </c:pt>
                <c:pt idx="4">
                  <c:v>147.75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USD</c:v>
                </c:pt>
              </c:strCache>
            </c:strRef>
          </c:tx>
          <c:spPr>
            <a:solidFill>
              <a:srgbClr val="B8893B"/>
            </a:solidFill>
          </c:spPr>
          <c:cat>
            <c:strRef>
              <c:f>Sheet1!$A$2:$A$4</c:f>
              <c:strCache>
                <c:ptCount val="3"/>
                <c:pt idx="0">
                  <c:v>Hall supplies and decor</c:v>
                </c:pt>
                <c:pt idx="1">
                  <c:v>Beverages and paper goods</c:v>
                </c:pt>
                <c:pt idx="2">
                  <c:v>Printing and flyers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</c:v>
                </c:pt>
                <c:pt idx="1">
                  <c:v>140</c:v>
                </c:pt>
                <c:pt idx="2">
                  <c:v>85</c:v>
                </c:pt>
              </c:numCache>
            </c:numRef>
          </c:val>
        </c:ser>
        <c:dLbls>
          <c:numFmt formatCode="$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194560" cy="91440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Heritage Month at St. Camillus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E7D6C2"/>
                </a:solidFill>
                <a:latin typeface="Georgia"/>
              </a:rPr>
              <a:t>Event Report and Reconciliation,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8893B"/>
                </a:solidFill>
                <a:latin typeface="Calibri"/>
              </a:rPr>
              <a:t>Volunteer coordinator: Ian Woodward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7D6C2"/>
                </a:solidFill>
                <a:latin typeface="Calibri"/>
              </a:rPr>
              <a:t>Committee lead: Father Michael Donovan   |   Music: Rosa Hamilton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9B49E"/>
                </a:solidFill>
                <a:latin typeface="Calibri"/>
              </a:rPr>
              <a:t>Parish hall and church, Silver Spring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8893B"/>
                </a:solidFill>
                <a:latin typeface="Calibri"/>
              </a:rPr>
              <a:t>THE EVENING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Program and People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27432" marB="27432">
                    <a:solidFill>
                      <a:srgbClr val="6E1F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73152" marT="27432" marB="27432">
                    <a:solidFill>
                      <a:srgbClr val="6E1F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 marL="73152" marT="27432" marB="27432">
                    <a:solidFill>
                      <a:srgbClr val="6E1F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5:00 PM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Welcome and blessing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Father Michael Donovan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5:20 PM</a:t>
                      </a:r>
                    </a:p>
                  </a:txBody>
                  <a:tcPr marL="73152" marT="27432" marB="27432">
                    <a:solidFill>
                      <a:srgbClr val="EFE3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Choir performance, four pieces</a:t>
                      </a:r>
                    </a:p>
                  </a:txBody>
                  <a:tcPr marL="73152" marT="27432" marB="27432">
                    <a:solidFill>
                      <a:srgbClr val="EFE3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Rosa Hamilton</a:t>
                      </a:r>
                    </a:p>
                  </a:txBody>
                  <a:tcPr marL="73152" marT="27432" marB="27432">
                    <a:solidFill>
                      <a:srgbClr val="EFE3D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5:45 PM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Community potluck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Volunteer team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6:30 PM</a:t>
                      </a:r>
                    </a:p>
                  </a:txBody>
                  <a:tcPr marL="73152" marT="27432" marB="27432">
                    <a:solidFill>
                      <a:srgbClr val="EFE3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Children's art display</a:t>
                      </a:r>
                    </a:p>
                  </a:txBody>
                  <a:tcPr marL="73152" marT="27432" marB="27432">
                    <a:solidFill>
                      <a:srgbClr val="EFE3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Lucy and choir parents</a:t>
                      </a:r>
                    </a:p>
                  </a:txBody>
                  <a:tcPr marL="73152" marT="27432" marB="27432">
                    <a:solidFill>
                      <a:srgbClr val="EFE3D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7:15 PM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Closing remarks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271F"/>
                          </a:solidFill>
                          <a:latin typeface="Calibri"/>
                        </a:rPr>
                        <a:t>Father Michael Donovan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E1F2A"/>
                </a:solidFill>
                <a:latin typeface="Georgia"/>
              </a:rPr>
              <a:t>Volunteer teams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61772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A2B12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T="27432" marB="27432">
                    <a:solidFill>
                      <a:srgbClr val="B88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A2B12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 marL="73152" marT="27432" marB="27432">
                    <a:solidFill>
                      <a:srgbClr val="B88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A2B12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73152" marT="27432" marB="27432">
                    <a:solidFill>
                      <a:srgbClr val="B88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Setup and teardown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Carl Marsden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Hall staging and cleanup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Music</a:t>
                      </a:r>
                    </a:p>
                  </a:txBody>
                  <a:tcPr marL="73152" marT="27432" marB="27432">
                    <a:solidFill>
                      <a:srgbClr val="F6E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Rosa Hamilton</a:t>
                      </a:r>
                    </a:p>
                  </a:txBody>
                  <a:tcPr marL="73152" marT="27432" marB="27432">
                    <a:solidFill>
                      <a:srgbClr val="F6E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Four pieces in harmony</a:t>
                      </a:r>
                    </a:p>
                  </a:txBody>
                  <a:tcPr marL="73152" marT="27432" marB="27432">
                    <a:solidFill>
                      <a:srgbClr val="F6ECD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Children's program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Choir parents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Art display and ornaments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Coordination</a:t>
                      </a:r>
                    </a:p>
                  </a:txBody>
                  <a:tcPr marL="73152" marT="27432" marB="27432">
                    <a:solidFill>
                      <a:srgbClr val="F6E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Ian Woodward</a:t>
                      </a:r>
                    </a:p>
                  </a:txBody>
                  <a:tcPr marL="73152" marT="27432" marB="27432">
                    <a:solidFill>
                      <a:srgbClr val="F6E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271F"/>
                          </a:solidFill>
                          <a:latin typeface="Calibri"/>
                        </a:rPr>
                        <a:t>Scheduling and reconciliation</a:t>
                      </a:r>
                    </a:p>
                  </a:txBody>
                  <a:tcPr marL="73152" marT="27432" marB="27432">
                    <a:solidFill>
                      <a:srgbClr val="F6EC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8893B"/>
                </a:solidFill>
                <a:latin typeface="Calibri"/>
              </a:rPr>
              <a:t>GENEROSITY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Where the Giving Came From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60350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0" y="1737360"/>
            <a:ext cx="4663440" cy="1371600"/>
          </a:xfrm>
          <a:prstGeom prst="roundRect">
            <a:avLst>
              <a:gd name="adj" fmla="val 6000"/>
            </a:avLst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74519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8893B"/>
                </a:solidFill>
                <a:latin typeface="Calibri"/>
              </a:rPr>
              <a:t>Total net to parish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$3,827.04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8328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33271F"/>
                </a:solidFill>
                <a:latin typeface="Georgia"/>
              </a:rPr>
              <a:t>Crypto pricing was cross-checked across three venues with variance under one percent before posting.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33271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E1F2A"/>
                </a:solidFill>
                <a:latin typeface="Calibri"/>
              </a:rPr>
              <a:t>All figures approved at the monthly committee close.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8893B"/>
                </a:solidFill>
                <a:latin typeface="Calibri"/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From Donations to Ministries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64592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40880" y="1737360"/>
            <a:ext cx="4480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0" y="1737360"/>
            <a:ext cx="118872" cy="1325880"/>
          </a:xfrm>
          <a:prstGeom prst="rect">
            <a:avLst/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88366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A6A5A"/>
                </a:solidFill>
                <a:latin typeface="Calibri"/>
              </a:rPr>
              <a:t>Total net donations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4028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6E1F2A"/>
                </a:solidFill>
                <a:latin typeface="Georgia"/>
              </a:rPr>
              <a:t>$3,827.04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218688"/>
            <a:ext cx="4480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3218688"/>
            <a:ext cx="118872" cy="1325880"/>
          </a:xfrm>
          <a:prstGeom prst="rect">
            <a:avLst/>
          </a:prstGeom>
          <a:solidFill>
            <a:srgbClr val="9C5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36499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A6A5A"/>
                </a:solidFill>
                <a:latin typeface="Calibri"/>
              </a:rPr>
              <a:t>Less expenses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721608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9C5B34"/>
                </a:solidFill>
                <a:latin typeface="Georgia"/>
              </a:rPr>
              <a:t>$435.00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4700016"/>
            <a:ext cx="4480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4700016"/>
            <a:ext cx="118872" cy="1325880"/>
          </a:xfrm>
          <a:prstGeom prst="rect">
            <a:avLst/>
          </a:prstGeom>
          <a:solidFill>
            <a:srgbClr val="4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846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A6A5A"/>
                </a:solidFill>
                <a:latin typeface="Calibri"/>
              </a:rPr>
              <a:t>Net to ministries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202936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4E6B3A"/>
                </a:solidFill>
                <a:latin typeface="Georgia"/>
              </a:rPr>
              <a:t>$3,392.04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4127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7315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8893B"/>
                </a:solidFill>
                <a:latin typeface="Calibri"/>
              </a:rPr>
              <a:t>WHY WE DO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18872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More Family Than Hobby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46888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E2CE"/>
                </a:solidFill>
                <a:latin typeface="Georgia"/>
              </a:rPr>
              <a:t>Setup and teardown, the kitchen, the choir loft, the children's art table. Every part of the evening was carried by people who showed up for one another.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E2CE"/>
                </a:solidFill>
                <a:latin typeface="Georgia"/>
              </a:rPr>
              <a:t>None of us could do this alone. We do it because other people showed up for our families first, and we pay it back the same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8893B"/>
                </a:solidFill>
                <a:latin typeface="Calibri"/>
              </a:rPr>
              <a:t>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Carrying the Roster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33271F"/>
                </a:solidFill>
                <a:latin typeface="Calibri"/>
              </a:rPr>
              <a:t>•  Carry the volunteer roster forward to the Christmas concert on 2026-12-15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33271F"/>
                </a:solidFill>
                <a:latin typeface="Calibri"/>
              </a:rPr>
              <a:t>•  Refresh the parish gift shop stock for the Advent season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33271F"/>
                </a:solidFill>
                <a:latin typeface="Calibri"/>
              </a:rPr>
              <a:t>•  Send thank-you notes through the parish newsletter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33271F"/>
                </a:solidFill>
                <a:latin typeface="Calibri"/>
              </a:rPr>
              <a:t>•  Start volunteer signups two weeks earlier next year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33271F"/>
                </a:solidFill>
                <a:latin typeface="Calibri"/>
              </a:rPr>
              <a:t>•  Pre-order paper goods to reduce day-of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1463040"/>
          </a:xfrm>
          <a:prstGeom prst="roundRect">
            <a:avLst>
              <a:gd name="adj" fmla="val 6000"/>
            </a:avLst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8893B"/>
                </a:solidFill>
                <a:latin typeface="Georgia"/>
              </a:rPr>
              <a:t>We prepare the best we can, and then we pray.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Georgia"/>
              </a:rPr>
              <a:t>With gratitude, the Heritage Month Planning Committee looks forward to the Advent season and the annual Christmas concert.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