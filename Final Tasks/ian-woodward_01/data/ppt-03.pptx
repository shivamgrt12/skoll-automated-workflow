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14505A"/>
              </a:solidFill>
            </c:spPr>
          </c:dPt>
          <c:dPt>
            <c:idx val="1"/>
            <c:spPr>
              <a:solidFill>
                <a:srgbClr val="E08A3C"/>
              </a:solidFill>
            </c:spPr>
          </c:dPt>
          <c:dPt>
            <c:idx val="2"/>
            <c:spPr>
              <a:solidFill>
                <a:srgbClr val="3E7D5A"/>
              </a:solidFill>
            </c:spPr>
          </c:dPt>
          <c:cat>
            <c:strRef>
              <c:f>Sheet1!$A$2:$A$4</c:f>
              <c:strCache>
                <c:ptCount val="3"/>
                <c:pt idx="0">
                  <c:v>Lionsgate Partners net</c:v>
                </c:pt>
                <c:pt idx="1">
                  <c:v>Montgomery College adjunct</c:v>
                </c:pt>
                <c:pt idx="2">
                  <c:v>Child support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3050</c:v>
                </c:pt>
                <c:pt idx="1">
                  <c:v>750</c:v>
                </c:pt>
                <c:pt idx="2">
                  <c:v>500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14505A"/>
            </a:solidFill>
          </c:spPr>
          <c:cat>
            <c:strRef>
              <c:f>Sheet1!$A$2:$A$11</c:f>
              <c:strCache>
                <c:ptCount val="10"/>
                <c:pt idx="0">
                  <c:v>Rent</c:v>
                </c:pt>
                <c:pt idx="1">
                  <c:v>Groceries</c:v>
                </c:pt>
                <c:pt idx="2">
                  <c:v>Health insurance</c:v>
                </c:pt>
                <c:pt idx="3">
                  <c:v>Student loan</c:v>
                </c:pt>
                <c:pt idx="4">
                  <c:v>Utilities</c:v>
                </c:pt>
                <c:pt idx="5">
                  <c:v>Car insurance</c:v>
                </c:pt>
                <c:pt idx="6">
                  <c:v>Gas</c:v>
                </c:pt>
                <c:pt idx="7">
                  <c:v>Tithe</c:v>
                </c:pt>
                <c:pt idx="8">
                  <c:v>Phones</c:v>
                </c:pt>
                <c:pt idx="9">
                  <c:v>Everything else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1800</c:v>
                </c:pt>
                <c:pt idx="1">
                  <c:v>500</c:v>
                </c:pt>
                <c:pt idx="2">
                  <c:v>280</c:v>
                </c:pt>
                <c:pt idx="3">
                  <c:v>195</c:v>
                </c:pt>
                <c:pt idx="4">
                  <c:v>180</c:v>
                </c:pt>
                <c:pt idx="5">
                  <c:v>135</c:v>
                </c:pt>
                <c:pt idx="6">
                  <c:v>120</c:v>
                </c:pt>
                <c:pt idx="7">
                  <c:v>100</c:v>
                </c:pt>
                <c:pt idx="8">
                  <c:v>95</c:v>
                </c:pt>
                <c:pt idx="9">
                  <c:v>195.49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fund (USD)</c:v>
                </c:pt>
              </c:strCache>
            </c:strRef>
          </c:tx>
          <c:spPr>
            <a:ln w="38100">
              <a:solidFill>
                <a:srgbClr val="E08A3C"/>
              </a:solidFill>
            </a:ln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Oct</c:v>
                </c:pt>
                <c:pt idx="3">
                  <c:v>Nov (proj)</c:v>
                </c:pt>
                <c:pt idx="4">
                  <c:v>Dec (proj)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1900</c:v>
                </c:pt>
                <c:pt idx="1">
                  <c:v>2100</c:v>
                </c:pt>
                <c:pt idx="2">
                  <c:v>2800</c:v>
                </c:pt>
                <c:pt idx="3">
                  <c:v>3000</c:v>
                </c:pt>
                <c:pt idx="4">
                  <c:v>3200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600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08A3C"/>
                </a:solidFill>
                <a:latin typeface="Calibri"/>
              </a:rPr>
              <a:t>HOUSEHOLD BUDGET AND RESILIENCE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Making $64,000 Hold a Family of Four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BCD2D6"/>
                </a:solidFill>
                <a:latin typeface="Calibri"/>
              </a:rPr>
              <a:t>Woodward household, Silver Spring, Maryland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918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291840"/>
            <a:ext cx="2606040" cy="9144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CD2D6"/>
                </a:solidFill>
                <a:latin typeface="Calibri"/>
              </a:rPr>
              <a:t>Monthly take-home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8620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E08A3C"/>
                </a:solidFill>
                <a:latin typeface="Calibri"/>
              </a:rPr>
              <a:t>$4,300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32918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47872" y="3291840"/>
            <a:ext cx="26060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CD2D6"/>
                </a:solidFill>
                <a:latin typeface="Calibri"/>
              </a:rPr>
              <a:t>Monthly expenses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388620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$3,600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2918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3291840"/>
            <a:ext cx="2606040" cy="91440"/>
          </a:xfrm>
          <a:prstGeom prst="rect">
            <a:avLst/>
          </a:prstGeom>
          <a:solidFill>
            <a:srgbClr val="8FD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CD2D6"/>
                </a:solidFill>
                <a:latin typeface="Calibri"/>
              </a:rPr>
              <a:t>To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88620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8FD6A6"/>
                </a:solidFill>
                <a:latin typeface="Calibri"/>
              </a:rPr>
              <a:t>$699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2918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97696" y="3291840"/>
            <a:ext cx="26060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CD2D6"/>
                </a:solidFill>
                <a:latin typeface="Calibri"/>
              </a:rPr>
              <a:t>Emergency fund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88620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$2,800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CD2D6"/>
                </a:solidFill>
                <a:latin typeface="Calibri"/>
              </a:rPr>
              <a:t>Rent at 42 percent of take-home. The kids do not feel it, and that is the 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8A3C"/>
                </a:solidFill>
                <a:latin typeface="Calibri"/>
              </a:rPr>
              <a:t>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505A"/>
                </a:solidFill>
                <a:latin typeface="Calibri"/>
              </a:rPr>
              <a:t>What Comes In Each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58521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66560" y="1737360"/>
            <a:ext cx="4754880" cy="1280160"/>
          </a:xfrm>
          <a:prstGeom prst="roundRect">
            <a:avLst>
              <a:gd name="adj" fmla="val 6000"/>
            </a:avLst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74519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CD2D6"/>
                </a:solidFill>
                <a:latin typeface="Calibri"/>
              </a:rPr>
              <a:t>Total monthly income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$4,300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66560" y="329184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T="27432" marB="27432">
                    <a:solidFill>
                      <a:srgbClr val="1450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Annual (USD)</a:t>
                      </a:r>
                    </a:p>
                  </a:txBody>
                  <a:tcPr marL="73152" marT="27432" marB="27432">
                    <a:solidFill>
                      <a:srgbClr val="145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Lionsgate Partners (gross)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52,000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Montgomery College (gross)</a:t>
                      </a:r>
                    </a:p>
                  </a:txBody>
                  <a:tcPr marL="73152" marT="27432" marB="27432">
                    <a:solidFill>
                      <a:srgbClr val="DC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73152" marT="27432" marB="27432">
                    <a:solidFill>
                      <a:srgbClr val="DCE7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Combined gross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Child support (avg)</a:t>
                      </a:r>
                    </a:p>
                  </a:txBody>
                  <a:tcPr marL="73152" marT="27432" marB="27432">
                    <a:solidFill>
                      <a:srgbClr val="DC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2E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73152" marT="27432" marB="27432">
                    <a:solidFill>
                      <a:srgbClr val="DCE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8A3C"/>
                </a:solidFill>
                <a:latin typeface="Calibri"/>
              </a:rPr>
              <a:t>OUTFLOW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505A"/>
                </a:solidFill>
                <a:latin typeface="Calibri"/>
              </a:rPr>
              <a:t>Where Every Dollar Goes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73736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BEFE0"/>
          </a:solidFill>
          <a:ln w="15875">
            <a:solidFill>
              <a:srgbClr val="E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874519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E7076"/>
                </a:solidFill>
                <a:latin typeface="Calibri"/>
              </a:rPr>
              <a:t>Total monthly expense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B0492F"/>
                </a:solidFill>
                <a:latin typeface="Calibri"/>
              </a:rPr>
              <a:t>$3,600.49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E2A2E"/>
                </a:solidFill>
                <a:latin typeface="Calibri"/>
              </a:rPr>
              <a:t>Leaves $699.51 for tires, copays, kids shoes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49039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8862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08A3C"/>
                </a:solidFill>
                <a:latin typeface="Calibri"/>
              </a:rPr>
              <a:t>Heads up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Rent steps up to $1,900 in December 2026, pushing the plan tighter. Groceries and gas are the flexible lines we manage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8A3C"/>
                </a:solidFill>
                <a:latin typeface="Calibri"/>
              </a:rPr>
              <a:t>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505A"/>
                </a:solidFill>
                <a:latin typeface="Calibri"/>
              </a:rPr>
              <a:t>Rebuilding the Cushion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645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4505A"/>
                </a:solidFill>
                <a:latin typeface="Calibri"/>
              </a:rPr>
              <a:t>The plan holds because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9456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>
                <a:solidFill>
                  <a:srgbClr val="1E2A2E"/>
                </a:solidFill>
                <a:latin typeface="Calibri"/>
              </a:rPr>
              <a:t>•  403(b) at 3 percent, just enough for the full match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>
                <a:solidFill>
                  <a:srgbClr val="1E2A2E"/>
                </a:solidFill>
                <a:latin typeface="Calibri"/>
              </a:rPr>
              <a:t>•  Student loan on income-driven repayment, tracking PSLF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>
                <a:solidFill>
                  <a:srgbClr val="1E2A2E"/>
                </a:solidFill>
                <a:latin typeface="Calibri"/>
              </a:rPr>
              <a:t>•  One credit card, paid in full monthly, no debt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>
                <a:solidFill>
                  <a:srgbClr val="1E2A2E"/>
                </a:solidFill>
                <a:latin typeface="Calibri"/>
              </a:rPr>
              <a:t>•  A little to savings every month, surprises do not sink 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6583680" cy="39363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Five Hundred Dollars, Four People, One Kitchen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CD2D6"/>
                </a:solidFill>
                <a:latin typeface="Calibri"/>
              </a:rPr>
              <a:t>The Sunday cook is half the grocery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371600"/>
            <a:ext cx="5608015" cy="548640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>
                <a:solidFill>
                  <a:srgbClr val="1E2A2E"/>
                </a:solidFill>
                <a:latin typeface="Calibri"/>
              </a:rPr>
              <a:t>•  One big Sunday cook feeds the family forward into the week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>
                <a:solidFill>
                  <a:srgbClr val="1E2A2E"/>
                </a:solidFill>
                <a:latin typeface="Calibri"/>
              </a:rPr>
              <a:t>•  Cook once, eat twice; leftovers carry the teaching nights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>
                <a:solidFill>
                  <a:srgbClr val="1E2A2E"/>
                </a:solidFill>
                <a:latin typeface="Calibri"/>
              </a:rPr>
              <a:t>•  Mostly the Long Branch Giant, a Costco run once a month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>
                <a:solidFill>
                  <a:srgbClr val="1E2A2E"/>
                </a:solidFill>
                <a:latin typeface="Calibri"/>
              </a:rPr>
              <a:t>•  Instacart only when a heavy case week buries the calendar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>
                <a:solidFill>
                  <a:srgbClr val="1E2A2E"/>
                </a:solidFill>
                <a:latin typeface="Calibri"/>
              </a:rPr>
              <a:t>•  Plain food, good ingredients, no fuss, and no waste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2377440" cy="9144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Snug, but not in trouble.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BCD2D6"/>
                </a:solidFill>
                <a:latin typeface="Calibri"/>
              </a:rPr>
              <a:t>The budget is tight and honest. We keep the cushion growing, the loans on track, and a small fund for Michael, one steady month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