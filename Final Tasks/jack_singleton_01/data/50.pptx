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Spend (USD)</c:v>
                </c:pt>
              </c:strCache>
            </c:strRef>
          </c:tx>
          <c:spPr>
            <a:solidFill>
              <a:srgbClr val="D98A1E"/>
            </a:solidFill>
          </c:spPr>
          <c:cat>
            <c:strRef>
              <c:f>Sheet1!$A$2:$A$5</c:f>
              <c:strCache>
                <c:ptCount val="4"/>
                <c:pt idx="0">
                  <c:v>December</c:v>
                </c:pt>
                <c:pt idx="1">
                  <c:v>January</c:v>
                </c:pt>
                <c:pt idx="2">
                  <c:v>February</c:v>
                </c:pt>
                <c:pt idx="3">
                  <c:v>March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1321</c:v>
                </c:pt>
                <c:pt idx="1">
                  <c:v>857</c:v>
                </c:pt>
                <c:pt idx="2">
                  <c:v>416</c:v>
                </c:pt>
                <c:pt idx="3">
                  <c:v>362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100">
                  <a:solidFill>
                    <a:srgbClr val="F2F4F5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A9B6B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A9B6B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D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solidFill>
            <a:srgbClr val="D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D98A1E"/>
                </a:solidFill>
                <a:latin typeface="Calibri"/>
              </a:rPr>
              <a:t>F/V BAY RUNNER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2F4F5"/>
                </a:solidFill>
                <a:latin typeface="Calibri"/>
              </a:rPr>
              <a:t>Off-Season Operations and Maintenance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9748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9B6BF"/>
                </a:solidFill>
                <a:latin typeface="Calibri"/>
              </a:rPr>
              <a:t>December to March  |  Annapolis City Marina, Slip 47  |  Owner-operator John W. Singleton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B7A8C"/>
                </a:solidFill>
                <a:latin typeface="Calibri"/>
              </a:rPr>
              <a:t>The season is for fishing. The off-season is for getting the boat right.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5"/>
                </a:solidFill>
                <a:latin typeface="Calibri"/>
              </a:rPr>
              <a:t>Four Months, Four Jobs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103120" cy="45720"/>
          </a:xfrm>
          <a:prstGeom prst="rect">
            <a:avLst/>
          </a:prstGeom>
          <a:solidFill>
            <a:srgbClr val="D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2697480" cy="4206240"/>
          </a:xfrm>
          <a:prstGeom prst="rect">
            <a:avLst/>
          </a:prstGeom>
          <a:solidFill>
            <a:srgbClr val="26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697480" cy="109728"/>
          </a:xfrm>
          <a:prstGeom prst="rect">
            <a:avLst/>
          </a:prstGeom>
          <a:solidFill>
            <a:srgbClr val="D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D98A1E"/>
                </a:solidFill>
                <a:latin typeface="Calibri"/>
              </a:rPr>
              <a:t>December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23317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2F4F5"/>
                </a:solidFill>
                <a:latin typeface="Calibri"/>
              </a:rPr>
              <a:t>Haul-out at Marshwood Partners. Bottom wash, zincs, paint, condition survey MW-2025-0418.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7288" y="1554480"/>
            <a:ext cx="2697480" cy="4206240"/>
          </a:xfrm>
          <a:prstGeom prst="rect">
            <a:avLst/>
          </a:prstGeom>
          <a:solidFill>
            <a:srgbClr val="26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47288" y="1554480"/>
            <a:ext cx="2697480" cy="109728"/>
          </a:xfrm>
          <a:prstGeom prst="rect">
            <a:avLst/>
          </a:prstGeom>
          <a:solidFill>
            <a:srgbClr val="D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82880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D98A1E"/>
                </a:solidFill>
                <a:latin typeface="Calibri"/>
              </a:rPr>
              <a:t>January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560320"/>
            <a:ext cx="23317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2F4F5"/>
                </a:solidFill>
                <a:latin typeface="Calibri"/>
              </a:rPr>
              <a:t>Both Cummins QSB 6.7 diesels serviced. Hydraulic puller seal and hose rebuild in the shed.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554480"/>
            <a:ext cx="2697480" cy="4206240"/>
          </a:xfrm>
          <a:prstGeom prst="rect">
            <a:avLst/>
          </a:prstGeom>
          <a:solidFill>
            <a:srgbClr val="26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1554480"/>
            <a:ext cx="2697480" cy="109728"/>
          </a:xfrm>
          <a:prstGeom prst="rect">
            <a:avLst/>
          </a:prstGeom>
          <a:solidFill>
            <a:srgbClr val="D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82880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D98A1E"/>
                </a:solidFill>
                <a:latin typeface="Calibri"/>
              </a:rPr>
              <a:t>February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560320"/>
            <a:ext cx="23317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2F4F5"/>
                </a:solidFill>
                <a:latin typeface="Calibri"/>
              </a:rPr>
              <a:t>Nine hundred registered pots rebuilt in strings. Safety gear checked, EPIRB battery replaced.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61704" y="1554480"/>
            <a:ext cx="2697480" cy="4206240"/>
          </a:xfrm>
          <a:prstGeom prst="rect">
            <a:avLst/>
          </a:prstGeom>
          <a:solidFill>
            <a:srgbClr val="26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1704" y="1554480"/>
            <a:ext cx="2697480" cy="109728"/>
          </a:xfrm>
          <a:prstGeom prst="rect">
            <a:avLst/>
          </a:prstGeom>
          <a:solidFill>
            <a:srgbClr val="D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4584" y="182880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D98A1E"/>
                </a:solidFill>
                <a:latin typeface="Calibri"/>
              </a:rPr>
              <a:t>March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2560320"/>
            <a:ext cx="23317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2F4F5"/>
                </a:solidFill>
                <a:latin typeface="Calibri"/>
              </a:rPr>
              <a:t>Relaunch, electronics and radar test, sea trial with Tommy before the first string goes over.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A9B6BF"/>
                </a:solidFill>
                <a:latin typeface="Calibri"/>
              </a:rPr>
              <a:t>Big items paced across three months so the cash and the back both hold. Totals roll up in the maintenance workbook.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2F4F5"/>
                </a:solidFill>
                <a:latin typeface="Calibri"/>
              </a:rPr>
              <a:t>Where the Off-Season Money Goes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2103120" cy="45720"/>
          </a:xfrm>
          <a:prstGeom prst="rect">
            <a:avLst/>
          </a:prstGeom>
          <a:solidFill>
            <a:srgbClr val="D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63040"/>
          <a:ext cx="658368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498079" y="1463040"/>
            <a:ext cx="4023360" cy="4846320"/>
          </a:xfrm>
          <a:prstGeom prst="rect">
            <a:avLst/>
          </a:prstGeom>
          <a:solidFill>
            <a:srgbClr val="26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399" y="16916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D98A1E"/>
                </a:solidFill>
                <a:latin typeface="Calibri"/>
              </a:rPr>
              <a:t>By the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399" y="233172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9B6BF"/>
                </a:solidFill>
                <a:latin typeface="Calibri"/>
              </a:rPr>
              <a:t>Engine hours at haul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9" y="2331720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F2F4F5"/>
                </a:solidFill>
                <a:latin typeface="Calibri"/>
              </a:rPr>
              <a:t>4,820 hrs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9" y="2935224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9B6BF"/>
                </a:solidFill>
                <a:latin typeface="Calibri"/>
              </a:rPr>
              <a:t>Yard invoice, December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9" y="2935224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F2F4F5"/>
                </a:solidFill>
                <a:latin typeface="Calibri"/>
              </a:rPr>
              <a:t>$1,321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9" y="3538728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9B6BF"/>
                </a:solidFill>
                <a:latin typeface="Calibri"/>
              </a:rPr>
              <a:t>Pots rebuilt in strings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9" y="3538728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F2F4F5"/>
                </a:solidFill>
                <a:latin typeface="Calibri"/>
              </a:rPr>
              <a:t>900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399" y="4142232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9B6BF"/>
                </a:solidFill>
                <a:latin typeface="Calibri"/>
              </a:rPr>
              <a:t>Heaviest mesh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9" y="4142232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F2F4F5"/>
                </a:solidFill>
                <a:latin typeface="Calibri"/>
              </a:rPr>
              <a:t>String 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399" y="4745736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9B6BF"/>
                </a:solidFill>
                <a:latin typeface="Calibri"/>
              </a:rPr>
              <a:t>EPIRB battery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59" y="4745736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F2F4F5"/>
                </a:solidFill>
                <a:latin typeface="Calibri"/>
              </a:rPr>
              <a:t>Replaced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399" y="534924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9B6BF"/>
                </a:solidFill>
                <a:latin typeface="Calibri"/>
              </a:rPr>
              <a:t>Total off-season spend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59" y="5349240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F2F4F5"/>
                </a:solidFill>
                <a:latin typeface="Calibri"/>
              </a:rPr>
              <a:t>$2,956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2F4F5"/>
                </a:solidFill>
                <a:latin typeface="Calibri"/>
              </a:rPr>
              <a:t>System Checklist Before April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103120" cy="45720"/>
          </a:xfrm>
          <a:prstGeom prst="rect">
            <a:avLst/>
          </a:prstGeom>
          <a:solidFill>
            <a:srgbClr val="D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2468880"/>
                <a:gridCol w="2011680"/>
              </a:tblGrid>
              <a:tr h="62701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42B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anchor="ctr" marT="38100" marB="38100">
                    <a:solidFill>
                      <a:srgbClr val="D98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42B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anchor="ctr" marT="38100" marB="38100">
                    <a:solidFill>
                      <a:srgbClr val="D98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42B"/>
                          </a:solidFill>
                          <a:latin typeface="Calibri"/>
                        </a:rPr>
                        <a:t>Vendor</a:t>
                      </a:r>
                    </a:p>
                  </a:txBody>
                  <a:tcPr anchor="ctr" marT="38100" marB="38100">
                    <a:solidFill>
                      <a:srgbClr val="D98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42B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anchor="ctr" marT="38100" marB="38100">
                    <a:solidFill>
                      <a:srgbClr val="D98A1E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Twin Cummins diesels</a:t>
                      </a:r>
                    </a:p>
                  </a:txBody>
                  <a:tcPr anchor="ctr" marT="38100" marB="38100">
                    <a:solidFill>
                      <a:srgbClr val="26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Oil, filters, coolant, belts</a:t>
                      </a:r>
                    </a:p>
                  </a:txBody>
                  <a:tcPr anchor="ctr" marT="38100" marB="38100">
                    <a:solidFill>
                      <a:srgbClr val="26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Self, marina shed</a:t>
                      </a:r>
                    </a:p>
                  </a:txBody>
                  <a:tcPr anchor="ctr" marT="38100" marB="38100">
                    <a:solidFill>
                      <a:srgbClr val="26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January</a:t>
                      </a:r>
                    </a:p>
                  </a:txBody>
                  <a:tcPr anchor="ctr" marT="38100" marB="38100">
                    <a:solidFill>
                      <a:srgbClr val="2631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Hydraulic puller</a:t>
                      </a:r>
                    </a:p>
                  </a:txBody>
                  <a:tcPr anchor="ctr" marT="38100" marB="38100">
                    <a:solidFill>
                      <a:srgbClr val="2E3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Seal and hose rebuild, load test</a:t>
                      </a:r>
                    </a:p>
                  </a:txBody>
                  <a:tcPr anchor="ctr" marT="38100" marB="38100">
                    <a:solidFill>
                      <a:srgbClr val="2E3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Self, marina shed</a:t>
                      </a:r>
                    </a:p>
                  </a:txBody>
                  <a:tcPr anchor="ctr" marT="38100" marB="38100">
                    <a:solidFill>
                      <a:srgbClr val="2E3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January</a:t>
                      </a:r>
                    </a:p>
                  </a:txBody>
                  <a:tcPr anchor="ctr" marT="38100" marB="38100">
                    <a:solidFill>
                      <a:srgbClr val="2E3B4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Hull and running gear</a:t>
                      </a:r>
                    </a:p>
                  </a:txBody>
                  <a:tcPr anchor="ctr" marT="38100" marB="38100">
                    <a:solidFill>
                      <a:srgbClr val="26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Bottom paint, zincs, prop dress</a:t>
                      </a:r>
                    </a:p>
                  </a:txBody>
                  <a:tcPr anchor="ctr" marT="38100" marB="38100">
                    <a:solidFill>
                      <a:srgbClr val="26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Marshwood Partners</a:t>
                      </a:r>
                    </a:p>
                  </a:txBody>
                  <a:tcPr anchor="ctr" marT="38100" marB="38100">
                    <a:solidFill>
                      <a:srgbClr val="26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December</a:t>
                      </a:r>
                    </a:p>
                  </a:txBody>
                  <a:tcPr anchor="ctr" marT="38100" marB="38100">
                    <a:solidFill>
                      <a:srgbClr val="2631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Safety gear</a:t>
                      </a:r>
                    </a:p>
                  </a:txBody>
                  <a:tcPr anchor="ctr" marT="38100" marB="38100">
                    <a:solidFill>
                      <a:srgbClr val="2E3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Flares, PFDs, EPIRB, extinguishers</a:t>
                      </a:r>
                    </a:p>
                  </a:txBody>
                  <a:tcPr anchor="ctr" marT="38100" marB="38100">
                    <a:solidFill>
                      <a:srgbClr val="2E3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West Marine</a:t>
                      </a:r>
                    </a:p>
                  </a:txBody>
                  <a:tcPr anchor="ctr" marT="38100" marB="38100">
                    <a:solidFill>
                      <a:srgbClr val="2E3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February</a:t>
                      </a:r>
                    </a:p>
                  </a:txBody>
                  <a:tcPr anchor="ctr" marT="38100" marB="38100">
                    <a:solidFill>
                      <a:srgbClr val="2E3B4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Electronics</a:t>
                      </a:r>
                    </a:p>
                  </a:txBody>
                  <a:tcPr anchor="ctr" marT="38100" marB="38100">
                    <a:solidFill>
                      <a:srgbClr val="26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Chartplotter and radar power test</a:t>
                      </a:r>
                    </a:p>
                  </a:txBody>
                  <a:tcPr anchor="ctr" marT="38100" marB="38100">
                    <a:solidFill>
                      <a:srgbClr val="26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Self</a:t>
                      </a:r>
                    </a:p>
                  </a:txBody>
                  <a:tcPr anchor="ctr" marT="38100" marB="38100">
                    <a:solidFill>
                      <a:srgbClr val="26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March</a:t>
                      </a:r>
                    </a:p>
                  </a:txBody>
                  <a:tcPr anchor="ctr" marT="38100" marB="38100">
                    <a:solidFill>
                      <a:srgbClr val="26313A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Pots, strings A to F</a:t>
                      </a:r>
                    </a:p>
                  </a:txBody>
                  <a:tcPr anchor="ctr" marT="38100" marB="38100">
                    <a:solidFill>
                      <a:srgbClr val="2E3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Mesh, cull rings, escape panels</a:t>
                      </a:r>
                    </a:p>
                  </a:txBody>
                  <a:tcPr anchor="ctr" marT="38100" marB="38100">
                    <a:solidFill>
                      <a:srgbClr val="2E3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Self, Tommy</a:t>
                      </a:r>
                    </a:p>
                  </a:txBody>
                  <a:tcPr anchor="ctr" marT="38100" marB="38100">
                    <a:solidFill>
                      <a:srgbClr val="2E3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F2F4F5"/>
                          </a:solidFill>
                          <a:latin typeface="Calibri"/>
                        </a:rPr>
                        <a:t>February</a:t>
                      </a:r>
                    </a:p>
                  </a:txBody>
                  <a:tcPr anchor="ctr" marT="38100" marB="38100">
                    <a:solidFill>
                      <a:srgbClr val="2E3B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862927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C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98A1E"/>
                </a:solidFill>
                <a:latin typeface="Calibri"/>
              </a:rPr>
              <a:t>The Whole Argument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3035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2F4F5"/>
                </a:solidFill>
                <a:latin typeface="Calibri"/>
              </a:rPr>
              <a:t>A real haul-out in January beats a cracked hose off Tolly Point in June with a charter aboard.</a:t>
            </a:r>
          </a:p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2F4F5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50" b="0" i="1">
                <a:solidFill>
                  <a:srgbClr val="A9B6BF"/>
                </a:solidFill>
                <a:latin typeface="Calibri"/>
              </a:rPr>
              <a:t>The reward for a good winter of work is a spring where the boat just runs, and I can keep my head on the crabs and the weather instead of the bilge.</a:t>
            </a:r>
          </a:p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2F4F5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5B7A8C"/>
                </a:solidFill>
                <a:latin typeface="Calibri"/>
              </a:rPr>
              <a:t>By April 1 we are dropping pots, not fixing problems.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Jack Singleton</dc:creator>
  <cp:lastModifiedBy>Jack Singleton</cp:lastModifiedBy>
  <dcterms:created xsi:type="dcterms:W3CDTF">2026-02-20T08:00:00Z</dcterms:created>
  <dcterms:modified xsi:type="dcterms:W3CDTF">2026-02-22T08:00:00Z</dcterms:modified>
</cp:coreProperties>
</file>