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Trip value (USD)</c:v>
                </c:pt>
              </c:strCache>
            </c:strRef>
          </c:tx>
          <c:spPr>
            <a:solidFill>
              <a:srgbClr val="0E3A53"/>
            </a:solidFill>
          </c:spPr>
          <c:cat>
            <c:strRef>
              <c:f>Sheet1!$A$2:$A$7</c:f>
              <c:strCache>
                <c:ptCount val="6"/>
                <c:pt idx="0">
                  <c:v>Oct 04 2026</c:v>
                </c:pt>
                <c:pt idx="1">
                  <c:v>Oct 18 2026</c:v>
                </c:pt>
                <c:pt idx="2">
                  <c:v>Jun 12 2027</c:v>
                </c:pt>
                <c:pt idx="3">
                  <c:v>Jun 26 2027</c:v>
                </c:pt>
                <c:pt idx="4">
                  <c:v>Jul 10 2027</c:v>
                </c:pt>
                <c:pt idx="5">
                  <c:v>Jul 24 2027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650</c:v>
                </c:pt>
                <c:pt idx="1">
                  <c:v>1150</c:v>
                </c:pt>
                <c:pt idx="2">
                  <c:v>1150</c:v>
                </c:pt>
                <c:pt idx="3">
                  <c:v>1150</c:v>
                </c:pt>
                <c:pt idx="4">
                  <c:v>675</c:v>
                </c:pt>
                <c:pt idx="5">
                  <c:v>1150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Deposit held (USD)</c:v>
                </c:pt>
              </c:strCache>
            </c:strRef>
          </c:tx>
          <c:spPr>
            <a:solidFill>
              <a:srgbClr val="E86A3A"/>
            </a:solidFill>
          </c:spPr>
          <c:cat>
            <c:strRef>
              <c:f>Sheet1!$A$2:$A$7</c:f>
              <c:strCache>
                <c:ptCount val="6"/>
                <c:pt idx="0">
                  <c:v>Oct 04 2026</c:v>
                </c:pt>
                <c:pt idx="1">
                  <c:v>Oct 18 2026</c:v>
                </c:pt>
                <c:pt idx="2">
                  <c:v>Jun 12 2027</c:v>
                </c:pt>
                <c:pt idx="3">
                  <c:v>Jun 26 2027</c:v>
                </c:pt>
                <c:pt idx="4">
                  <c:v>Jul 10 2027</c:v>
                </c:pt>
                <c:pt idx="5">
                  <c:v>Jul 24 2027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200</c:v>
                </c:pt>
                <c:pt idx="1">
                  <c:v>350</c:v>
                </c:pt>
                <c:pt idx="2">
                  <c:v>350</c:v>
                </c:pt>
                <c:pt idx="3">
                  <c:v>400</c:v>
                </c:pt>
                <c:pt idx="4">
                  <c:v>200</c:v>
                </c:pt>
                <c:pt idx="5">
                  <c:v>350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5D6B7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solidFill>
                <a:srgbClr val="0E3A5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Trip focus</c:v>
                </c:pt>
              </c:strCache>
            </c:strRef>
          </c:tx>
          <c:dPt>
            <c:idx val="0"/>
            <c:spPr>
              <a:solidFill>
                <a:srgbClr val="0E3A53"/>
              </a:solidFill>
            </c:spPr>
          </c:dPt>
          <c:dPt>
            <c:idx val="1"/>
            <c:spPr>
              <a:solidFill>
                <a:srgbClr val="129B9B"/>
              </a:solidFill>
            </c:spPr>
          </c:dPt>
          <c:dPt>
            <c:idx val="2"/>
            <c:spPr>
              <a:solidFill>
                <a:srgbClr val="E86A3A"/>
              </a:solidFill>
            </c:spPr>
          </c:dPt>
          <c:dPt>
            <c:idx val="3"/>
            <c:spPr>
              <a:solidFill>
                <a:srgbClr val="6B8E9E"/>
              </a:solidFill>
            </c:spPr>
          </c:dPt>
          <c:cat>
            <c:strRef>
              <c:f>Sheet1!$A$2:$A$5</c:f>
              <c:strCache>
                <c:ptCount val="4"/>
                <c:pt idx="0">
                  <c:v>Rockfish</c:v>
                </c:pt>
                <c:pt idx="1">
                  <c:v>Bluefish</c:v>
                </c:pt>
                <c:pt idx="2">
                  <c:v>Flounder</c:v>
                </c:pt>
                <c:pt idx="3">
                  <c:v>Mixed bag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22</c:v>
                </c:pt>
                <c:pt idx="2">
                  <c:v>12</c:v>
                </c:pt>
                <c:pt idx="3">
                  <c:v>11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>
                  <a:solidFill>
                    <a:srgbClr val="0E3A5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0E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91695" cy="82296"/>
          </a:xfrm>
          <a:prstGeom prst="rect">
            <a:avLst/>
          </a:prstGeom>
          <a:solidFill>
            <a:srgbClr val="12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FD0D0"/>
                </a:solidFill>
                <a:latin typeface="Calibri"/>
              </a:rPr>
              <a:t>BAY RUNNER CHARTERS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2027 Charter Season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E3A53"/>
                </a:solidFill>
                <a:latin typeface="Calibri"/>
              </a:rPr>
              <a:t>Working draft for Pete Andersen, Chesapeake Charter Connection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33832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749039"/>
            <a:ext cx="3383280" cy="118872"/>
          </a:xfrm>
          <a:prstGeom prst="rect">
            <a:avLst/>
          </a:prstGeom>
          <a:solidFill>
            <a:srgbClr val="12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86A3A"/>
                </a:solidFill>
                <a:latin typeface="Calibri"/>
              </a:rPr>
              <a:t>$48,000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D6B73"/>
                </a:solidFill>
                <a:latin typeface="Calibri"/>
              </a:rPr>
              <a:t>Net target after the broker cut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3749039"/>
            <a:ext cx="33832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3749039"/>
            <a:ext cx="3383280" cy="118872"/>
          </a:xfrm>
          <a:prstGeom prst="rect">
            <a:avLst/>
          </a:prstGeom>
          <a:solidFill>
            <a:srgbClr val="12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06908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86A3A"/>
                </a:solidFill>
                <a:latin typeface="Calibri"/>
              </a:rPr>
              <a:t>3 to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50292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D6B73"/>
                </a:solidFill>
                <a:latin typeface="Calibri"/>
              </a:rPr>
              <a:t>Charters per week, June to August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3749039"/>
            <a:ext cx="33832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3749039"/>
            <a:ext cx="3383280" cy="118872"/>
          </a:xfrm>
          <a:prstGeom prst="rect">
            <a:avLst/>
          </a:prstGeom>
          <a:solidFill>
            <a:srgbClr val="12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406908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86A3A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0292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D6B73"/>
                </a:solidFill>
                <a:latin typeface="Calibri"/>
              </a:rPr>
              <a:t>October fall rockfish windows held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3A53"/>
                </a:solidFill>
                <a:latin typeface="Calibri"/>
              </a:rPr>
              <a:t>Goals for the Season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011680" cy="54864"/>
          </a:xfrm>
          <a:prstGeom prst="rect">
            <a:avLst/>
          </a:prstGeom>
          <a:solidFill>
            <a:srgbClr val="12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457200" cy="960120"/>
          </a:xfrm>
          <a:prstGeom prst="rect">
            <a:avLst/>
          </a:prstGeom>
          <a:solidFill>
            <a:srgbClr val="0E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365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463040"/>
            <a:ext cx="10241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55448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9B9B"/>
                </a:solidFill>
                <a:latin typeface="Calibri"/>
              </a:rPr>
              <a:t>Fill the slate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D6B73"/>
                </a:solidFill>
                <a:latin typeface="Calibri"/>
              </a:rPr>
              <a:t>Book June through August to roughly $48,000 net after Pete's 15 percent cut.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78608"/>
            <a:ext cx="457200" cy="960120"/>
          </a:xfrm>
          <a:prstGeom prst="rect">
            <a:avLst/>
          </a:prstGeom>
          <a:solidFill>
            <a:srgbClr val="0E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61488"/>
            <a:ext cx="365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2578608"/>
            <a:ext cx="10241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67004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9B9B"/>
                </a:solidFill>
                <a:latin typeface="Calibri"/>
              </a:rPr>
              <a:t>Protect the crew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54096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D6B73"/>
                </a:solidFill>
                <a:latin typeface="Calibri"/>
              </a:rPr>
              <a:t>Three to four trips a week without flipping Tommy and the boat between commercial and charter all day.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94176"/>
            <a:ext cx="457200" cy="960120"/>
          </a:xfrm>
          <a:prstGeom prst="rect">
            <a:avLst/>
          </a:prstGeom>
          <a:solidFill>
            <a:srgbClr val="0E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77056"/>
            <a:ext cx="365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3694176"/>
            <a:ext cx="10241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785616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9B9B"/>
                </a:solidFill>
                <a:latin typeface="Calibri"/>
              </a:rPr>
              <a:t>Hold the fall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69664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D6B73"/>
                </a:solidFill>
                <a:latin typeface="Calibri"/>
              </a:rPr>
              <a:t>Block two October rockfish windows in advance. Two requests got turned away last year, money left on the table.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09744"/>
            <a:ext cx="457200" cy="960120"/>
          </a:xfrm>
          <a:prstGeom prst="rect">
            <a:avLst/>
          </a:prstGeom>
          <a:solidFill>
            <a:srgbClr val="0E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92624"/>
            <a:ext cx="365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4809744"/>
            <a:ext cx="10241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901184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9B9B"/>
                </a:solidFill>
                <a:latin typeface="Calibri"/>
              </a:rPr>
              <a:t>Hold the family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285232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D6B73"/>
                </a:solidFill>
                <a:latin typeface="Calibri"/>
              </a:rPr>
              <a:t>One weekend a month with no bookings. Quality days over volume, protect the reputation.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E3A53"/>
                </a:solidFill>
                <a:latin typeface="Calibri"/>
              </a:rPr>
              <a:t>Confirmed and Held Bookings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011680" cy="54864"/>
          </a:xfrm>
          <a:prstGeom prst="rect">
            <a:avLst/>
          </a:prstGeom>
          <a:solidFill>
            <a:srgbClr val="12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463040"/>
          <a:ext cx="1069848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3A53"/>
                </a:solidFill>
                <a:latin typeface="Calibri"/>
              </a:rPr>
              <a:t>Pricing 2027:  </a:t>
            </a:r>
            <a:r>
              <a:rPr sz="1400" b="0" i="0">
                <a:solidFill>
                  <a:srgbClr val="5D6B73"/>
                </a:solidFill>
                <a:latin typeface="Calibri"/>
              </a:rPr>
              <a:t>Half day $675   |   Full day $1,150   |   Deposit 30 percent to hold   |   Booked through Pete Andersen, 15 percent broker cut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D6B73"/>
                </a:solidFill>
                <a:latin typeface="Calibri"/>
              </a:rPr>
              <a:t>August 14 is an internal family hold, no charter. Rate card maintained in the season deck; deposits tracked in the household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E3A53"/>
                </a:solidFill>
                <a:latin typeface="Calibri"/>
              </a:rPr>
              <a:t>What We Target, and When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011680" cy="54864"/>
          </a:xfrm>
          <a:prstGeom prst="rect">
            <a:avLst/>
          </a:prstGeom>
          <a:solidFill>
            <a:srgbClr val="12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63040"/>
          <a:ext cx="51206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6" name="Picture 5" descr="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54480"/>
            <a:ext cx="5394960" cy="36685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544068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D6B73"/>
                </a:solidFill>
                <a:latin typeface="Calibri"/>
              </a:rPr>
              <a:t>June trolls and live lines for rockfish. Late summer is fast bluefish for the kids. October is fat rockfish on the structure, the best eating fish of the season.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Calendar Risks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011680" cy="54864"/>
          </a:xfrm>
          <a:prstGeom prst="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09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FD0D0"/>
                </a:solidFill>
                <a:latin typeface="Calibri"/>
              </a:rPr>
              <a:t>Watch the calendar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47548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Keep mornings open in late July, heat and low oxygen move the fish.</a:t>
            </a:r>
          </a:p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Do not book against DNR pot inspection prep before April 15.</a:t>
            </a:r>
          </a:p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Pace charter and commercial days to manage the back, use the puller.</a:t>
            </a:r>
          </a:p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Confirm the fall rockfish windows with Pete early.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09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86A3A"/>
                </a:solidFill>
                <a:latin typeface="Calibri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548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Pete sends the June and July referral list.</a:t>
            </a:r>
          </a:p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Confirm deposits and update the booking workbook.</a:t>
            </a:r>
          </a:p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Lock the two October fall windows by November.</a:t>
            </a:r>
          </a:p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Review the certificate of insurance with Tidewater Marine.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Jack Singleton</dc:creator>
  <cp:lastModifiedBy>Jack Singleton</cp:lastModifiedBy>
  <dcterms:created xsi:type="dcterms:W3CDTF">2026-02-20T08:00:00Z</dcterms:created>
  <dcterms:modified xsi:type="dcterms:W3CDTF">2026-02-22T08:00:00Z</dcterms:modified>
</cp:coreProperties>
</file>