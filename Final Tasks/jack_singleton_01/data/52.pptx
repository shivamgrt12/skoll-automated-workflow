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No.1 bushels</c:v>
                </c:pt>
              </c:strCache>
            </c:strRef>
          </c:tx>
          <c:spPr>
            <a:solidFill>
              <a:srgbClr val="B32C2C"/>
            </a:solidFill>
          </c:spPr>
          <c:cat>
            <c:strRef>
              <c:f>Sheet1!$A$2:$A$10</c:f>
              <c:strCache>
                <c:ptCount val="9"/>
                <c:pt idx="0">
                  <c:v>Apr 08</c:v>
                </c:pt>
                <c:pt idx="1">
                  <c:v>Apr 15</c:v>
                </c:pt>
                <c:pt idx="2">
                  <c:v>May 06</c:v>
                </c:pt>
                <c:pt idx="3">
                  <c:v>Jun 03</c:v>
                </c:pt>
                <c:pt idx="4">
                  <c:v>Jul 22</c:v>
                </c:pt>
                <c:pt idx="5">
                  <c:v>Aug 19</c:v>
                </c:pt>
                <c:pt idx="6">
                  <c:v>Sep 16</c:v>
                </c:pt>
                <c:pt idx="7">
                  <c:v>Oct 14</c:v>
                </c:pt>
                <c:pt idx="8">
                  <c:v>Nov 18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9.5</c:v>
                </c:pt>
                <c:pt idx="1">
                  <c:v>11.0</c:v>
                </c:pt>
                <c:pt idx="2">
                  <c:v>14.5</c:v>
                </c:pt>
                <c:pt idx="3">
                  <c:v>16.0</c:v>
                </c:pt>
                <c:pt idx="4">
                  <c:v>15.5</c:v>
                </c:pt>
                <c:pt idx="5">
                  <c:v>13.0</c:v>
                </c:pt>
                <c:pt idx="6">
                  <c:v>12.5</c:v>
                </c:pt>
                <c:pt idx="7">
                  <c:v>10.0</c:v>
                </c:pt>
                <c:pt idx="8">
                  <c:v>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No.2 bushels</c:v>
                </c:pt>
              </c:strCache>
            </c:strRef>
          </c:tx>
          <c:spPr>
            <a:solidFill>
              <a:srgbClr val="C88A2C"/>
            </a:solidFill>
          </c:spPr>
          <c:cat>
            <c:strRef>
              <c:f>Sheet1!$A$2:$A$10</c:f>
              <c:strCache>
                <c:ptCount val="9"/>
                <c:pt idx="0">
                  <c:v>Apr 08</c:v>
                </c:pt>
                <c:pt idx="1">
                  <c:v>Apr 15</c:v>
                </c:pt>
                <c:pt idx="2">
                  <c:v>May 06</c:v>
                </c:pt>
                <c:pt idx="3">
                  <c:v>Jun 03</c:v>
                </c:pt>
                <c:pt idx="4">
                  <c:v>Jul 22</c:v>
                </c:pt>
                <c:pt idx="5">
                  <c:v>Aug 19</c:v>
                </c:pt>
                <c:pt idx="6">
                  <c:v>Sep 16</c:v>
                </c:pt>
                <c:pt idx="7">
                  <c:v>Oct 14</c:v>
                </c:pt>
                <c:pt idx="8">
                  <c:v>Nov 18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4.0</c:v>
                </c:pt>
                <c:pt idx="1">
                  <c:v>5.5</c:v>
                </c:pt>
                <c:pt idx="2">
                  <c:v>6.0</c:v>
                </c:pt>
                <c:pt idx="3">
                  <c:v>7.5</c:v>
                </c:pt>
                <c:pt idx="4">
                  <c:v>8.0</c:v>
                </c:pt>
                <c:pt idx="5">
                  <c:v>6.5</c:v>
                </c:pt>
                <c:pt idx="6">
                  <c:v>6.0</c:v>
                </c:pt>
                <c:pt idx="7">
                  <c:v>5.0</c:v>
                </c:pt>
                <c:pt idx="8">
                  <c:v>3.0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5A606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20242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per bushel (USD)</c:v>
                </c:pt>
              </c:strCache>
            </c:strRef>
          </c:tx>
          <c:spPr>
            <a:ln w="31750">
              <a:solidFill>
                <a:srgbClr val="3F553A"/>
              </a:solidFill>
            </a:ln>
          </c:spPr>
          <c:cat>
            <c:strRef>
              <c:f>Sheet1!$A$2:$A$10</c:f>
              <c:strCache>
                <c:ptCount val="9"/>
                <c:pt idx="0">
                  <c:v>Apr 08</c:v>
                </c:pt>
                <c:pt idx="1">
                  <c:v>Apr 15</c:v>
                </c:pt>
                <c:pt idx="2">
                  <c:v>May 06</c:v>
                </c:pt>
                <c:pt idx="3">
                  <c:v>Jun 03</c:v>
                </c:pt>
                <c:pt idx="4">
                  <c:v>Jul 22</c:v>
                </c:pt>
                <c:pt idx="5">
                  <c:v>Aug 19</c:v>
                </c:pt>
                <c:pt idx="6">
                  <c:v>Sep 16</c:v>
                </c:pt>
                <c:pt idx="7">
                  <c:v>Oct 14</c:v>
                </c:pt>
                <c:pt idx="8">
                  <c:v>Nov 18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235</c:v>
                </c:pt>
                <c:pt idx="1">
                  <c:v>228</c:v>
                </c:pt>
                <c:pt idx="2">
                  <c:v>205</c:v>
                </c:pt>
                <c:pt idx="3">
                  <c:v>190</c:v>
                </c:pt>
                <c:pt idx="4">
                  <c:v>182</c:v>
                </c:pt>
                <c:pt idx="5">
                  <c:v>195</c:v>
                </c:pt>
                <c:pt idx="6">
                  <c:v>215</c:v>
                </c:pt>
                <c:pt idx="7">
                  <c:v>245</c:v>
                </c:pt>
                <c:pt idx="8">
                  <c:v>268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>
                <a:solidFill>
                  <a:srgbClr val="5A6066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202428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sales</c:v>
                </c:pt>
              </c:strCache>
            </c:strRef>
          </c:tx>
          <c:dPt>
            <c:idx val="0"/>
            <c:spPr>
              <a:solidFill>
                <a:srgbClr val="B32C2C"/>
              </a:solidFill>
            </c:spPr>
          </c:dPt>
          <c:dPt>
            <c:idx val="1"/>
            <c:spPr>
              <a:solidFill>
                <a:srgbClr val="C88A2C"/>
              </a:solidFill>
            </c:spPr>
          </c:dPt>
          <c:dPt>
            <c:idx val="2"/>
            <c:spPr>
              <a:solidFill>
                <a:srgbClr val="3F553A"/>
              </a:solidFill>
            </c:spPr>
          </c:dPt>
          <c:cat>
            <c:strRef>
              <c:f>Sheet1!$A$2:$A$4</c:f>
              <c:strCache>
                <c:ptCount val="3"/>
                <c:pt idx="0">
                  <c:v>Wye River Seafood</c:v>
                </c:pt>
                <c:pt idx="1">
                  <c:v>Annapolis Crab Pickers</c:v>
                </c:pt>
                <c:pt idx="2">
                  <c:v>Dockside walk-up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32C2C"/>
                </a:solidFill>
                <a:latin typeface="Calibri"/>
              </a:rPr>
              <a:t>F/V BAY RUNNER  |  COMMERCIAL BLUE CRAB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6070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202428"/>
                </a:solidFill>
                <a:latin typeface="Calibri"/>
              </a:rPr>
              <a:t>2025 Crab Season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202428"/>
                </a:solidFill>
                <a:latin typeface="Calibri"/>
              </a:rPr>
              <a:t>Performance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5A6066"/>
                </a:solidFill>
                <a:latin typeface="Calibri"/>
              </a:rPr>
              <a:t>April 1 to November 30  |  900 registered pots  |  Strings A through F on the upper Bay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3F553A"/>
                </a:solidFill>
                <a:latin typeface="Calibri"/>
              </a:rPr>
              <a:t>The money is in the cull. Sort clean, grade honest, protect the price.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02428"/>
                </a:solidFill>
                <a:latin typeface="Calibri"/>
              </a:rPr>
              <a:t>The Season in Four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188720"/>
            <a:ext cx="2011680" cy="54864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2606040" cy="118872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32C2C"/>
                </a:solidFill>
                <a:latin typeface="Calibri"/>
              </a:rPr>
              <a:t>108.5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066"/>
                </a:solidFill>
                <a:latin typeface="Calibri"/>
              </a:rPr>
              <a:t>Bushels of No.1 jimmies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584448" y="164592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84448" y="1645920"/>
            <a:ext cx="2606040" cy="118872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7328" y="196596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32C2C"/>
                </a:solidFill>
                <a:latin typeface="Calibri"/>
              </a:rPr>
              <a:t>51.5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7328" y="29718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066"/>
                </a:solidFill>
                <a:latin typeface="Calibri"/>
              </a:rPr>
              <a:t>Bushels of No.2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5936" y="164592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45936" y="1645920"/>
            <a:ext cx="2606040" cy="118872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196596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32C2C"/>
                </a:solidFill>
                <a:latin typeface="Calibri"/>
              </a:rPr>
              <a:t>$33,880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29718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066"/>
                </a:solidFill>
                <a:latin typeface="Calibri"/>
              </a:rPr>
              <a:t>Gross from sampled trips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07424" y="164592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07424" y="1645920"/>
            <a:ext cx="2606040" cy="118872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965960"/>
            <a:ext cx="2240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B32C2C"/>
                </a:solidFill>
                <a:latin typeface="Calibri"/>
              </a:rPr>
              <a:t>$268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2971800"/>
            <a:ext cx="2240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066"/>
                </a:solidFill>
                <a:latin typeface="Calibri"/>
              </a:rPr>
              <a:t>Best fall price per bushel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2976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5A6066"/>
                </a:solidFill>
                <a:latin typeface="Calibri"/>
              </a:rPr>
              <a:t>Peak bushels came in June, the best price came in the fall. Effort held steady at 300 pots a trip.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428"/>
                </a:solidFill>
                <a:latin typeface="Calibri"/>
              </a:rPr>
              <a:t>Bushels Up Front, Price in the Fall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011680" cy="54864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371600"/>
          <a:ext cx="1051560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3931920"/>
          <a:ext cx="10515600" cy="2377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202428"/>
                </a:solidFill>
                <a:latin typeface="Calibri"/>
              </a:rPr>
              <a:t>Where the Catch Was Sold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011680" cy="54864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463040"/>
          <a:ext cx="51206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6" name="Picture 5" descr="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554480"/>
            <a:ext cx="5394960" cy="39638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26480" y="5029200"/>
            <a:ext cx="5394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5A6066"/>
                </a:solidFill>
                <a:latin typeface="Calibri"/>
              </a:rPr>
              <a:t>Wholesale to Wye River and Annapolis Crab Pickers carries the volume on a weekly check. Dockside walk-ups at Slip 47 hold the best price for cash. Our price holds because the product is clean.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02428"/>
                </a:solidFill>
                <a:latin typeface="Calibri"/>
              </a:rPr>
              <a:t>The Crew That Ran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2011680" cy="54864"/>
          </a:xfrm>
          <a:prstGeom prst="rect">
            <a:avLst/>
          </a:prstGeom>
          <a:solidFill>
            <a:srgbClr val="B3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173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572000"/>
                <a:gridCol w="1737360"/>
                <a:gridCol w="1371600"/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Crew</a:t>
                      </a:r>
                    </a:p>
                  </a:txBody>
                  <a:tcPr anchor="ctr">
                    <a:solidFill>
                      <a:srgbClr val="B32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anchor="ctr">
                    <a:solidFill>
                      <a:srgbClr val="B32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Seasons</a:t>
                      </a:r>
                    </a:p>
                  </a:txBody>
                  <a:tcPr anchor="ctr">
                    <a:solidFill>
                      <a:srgbClr val="B32C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Day rate</a:t>
                      </a:r>
                    </a:p>
                  </a:txBody>
                  <a:tcPr anchor="ctr">
                    <a:solidFill>
                      <a:srgbClr val="B32C2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Tommy Novak</a:t>
                      </a:r>
                    </a:p>
                  </a:txBody>
                  <a:tcPr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First mate, runs deck and culls</a:t>
                      </a:r>
                    </a:p>
                  </a:txBody>
                  <a:tcPr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$220</a:t>
                      </a:r>
                    </a:p>
                  </a:txBody>
                  <a:tcPr anchor="ctr">
                    <a:solidFill>
                      <a:srgbClr val="F3F1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D.J. Johnson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Deckhand, sets and baits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$175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Mike Rawlings</a:t>
                      </a:r>
                    </a:p>
                  </a:txBody>
                  <a:tcPr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Deckhand, culls and dockside</a:t>
                      </a:r>
                    </a:p>
                  </a:txBody>
                  <a:tcPr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3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$160</a:t>
                      </a:r>
                    </a:p>
                  </a:txBody>
                  <a:tcPr anchor="ctr">
                    <a:solidFill>
                      <a:srgbClr val="F3F1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Patrick Singleton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Summer deckhand, learning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Seasonal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02428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48056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3F553A"/>
                </a:solidFill>
                <a:latin typeface="Calibri"/>
              </a:rPr>
              <a:t>What carries into next season</a:t>
            </a:r>
          </a:p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5A6066"/>
                </a:solidFill>
                <a:latin typeface="Calibri"/>
              </a:rPr>
              <a:t>Hold effort at 300 pots a trip. String E needs the most mesh work. Keep the fall windows for the firm October and November price. Crew loyalty buys decades, and a clean cull protects the price for all of 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Jack Singleton</dc:creator>
  <cp:lastModifiedBy>Jack Singleton</cp:lastModifiedBy>
  <dcterms:created xsi:type="dcterms:W3CDTF">2026-02-20T08:00:00Z</dcterms:created>
  <dcterms:modified xsi:type="dcterms:W3CDTF">2026-02-22T08:00:00Z</dcterms:modified>
</cp:coreProperties>
</file>