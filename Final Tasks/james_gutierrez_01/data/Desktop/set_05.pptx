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July 2025 Baseline</c:v>
                </c:pt>
              </c:strCache>
            </c:strRef>
          </c:tx>
          <c:spPr>
            <a:solidFill>
              <a:srgbClr val="2E3A46"/>
            </a:solidFill>
          </c:spPr>
          <c:cat>
            <c:strRef>
              <c:f>Sheet1!$A$2:$A$7</c:f>
              <c:strCache>
                <c:ptCount val="6"/>
                <c:pt idx="0">
                  <c:v>Fades</c:v>
                </c:pt>
                <c:pt idx="1">
                  <c:v>Lineups</c:v>
                </c:pt>
                <c:pt idx="2">
                  <c:v>Beard Work</c:v>
                </c:pt>
                <c:pt idx="3">
                  <c:v>Hot-Towel Shave</c:v>
                </c:pt>
                <c:pt idx="4">
                  <c:v>Client Flow</c:v>
                </c:pt>
                <c:pt idx="5">
                  <c:v>Sanitation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December 2026 Current</c:v>
                </c:pt>
              </c:strCache>
            </c:strRef>
          </c:tx>
          <c:spPr>
            <a:solidFill>
              <a:srgbClr val="D6A04A"/>
            </a:solidFill>
          </c:spPr>
          <c:cat>
            <c:strRef>
              <c:f>Sheet1!$A$2:$A$7</c:f>
              <c:strCache>
                <c:ptCount val="6"/>
                <c:pt idx="0">
                  <c:v>Fades</c:v>
                </c:pt>
                <c:pt idx="1">
                  <c:v>Lineups</c:v>
                </c:pt>
                <c:pt idx="2">
                  <c:v>Beard Work</c:v>
                </c:pt>
                <c:pt idx="3">
                  <c:v>Hot-Towel Shave</c:v>
                </c:pt>
                <c:pt idx="4">
                  <c:v>Client Flow</c:v>
                </c:pt>
                <c:pt idx="5">
                  <c:v>Sanitation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7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6A04A"/>
                </a:solidFill>
                <a:latin typeface="Calibri"/>
              </a:rPr>
              <a:t>APPRENTICESHIP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4EFE6"/>
                </a:solidFill>
                <a:latin typeface="Calibri"/>
              </a:rPr>
              <a:t>Ty Jackson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9B4BF"/>
                </a:solidFill>
                <a:latin typeface="Calibri"/>
              </a:rPr>
              <a:t>Seventeen-Month Checkpoint  ·  December 12,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7A86"/>
                </a:solidFill>
                <a:latin typeface="Calibri"/>
              </a:rPr>
              <a:t>Sharp Line Cuts  ·  Prepared by James Gutierrez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73152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b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57200"/>
            <a:ext cx="27432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A04A"/>
                </a:solidFill>
                <a:latin typeface="Calibri"/>
              </a:rPr>
              <a:t>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4BF"/>
                </a:solidFill>
                <a:latin typeface="Calibri"/>
              </a:rPr>
              <a:t>Where Ty stands at seventeen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4EFE6"/>
                </a:solidFill>
                <a:latin typeface="Calibri"/>
              </a:rPr>
              <a:t>17 mo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In apprenticeship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28016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4EFE6"/>
                </a:solidFill>
                <a:latin typeface="Calibri"/>
              </a:rPr>
              <a:t>21 yrs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F4EFE6"/>
                </a:solidFill>
                <a:latin typeface="Calibri"/>
              </a:rPr>
              <a:t>3 blks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From the shop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280160"/>
            <a:ext cx="2560320" cy="128016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1C232B"/>
                </a:solidFill>
                <a:latin typeface="Calibri"/>
              </a:rPr>
              <a:t>On track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1C232B"/>
                </a:solidFill>
                <a:latin typeface="Calibri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EFE6"/>
                </a:solidFill>
                <a:latin typeface="Calibri"/>
              </a:rPr>
              <a:t>Jul 7, 2025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Start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83464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EFE6"/>
                </a:solidFill>
                <a:latin typeface="Calibri"/>
              </a:rPr>
              <a:t>Dec 12, 2026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Checkpoint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83464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EFE6"/>
                </a:solidFill>
                <a:latin typeface="Calibri"/>
              </a:rPr>
              <a:t>2027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Target: chair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2834640"/>
            <a:ext cx="2560320" cy="128016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4EFE6"/>
                </a:solidFill>
                <a:latin typeface="Calibri"/>
              </a:rPr>
              <a:t>McNichols</a:t>
            </a:r>
          </a:p>
          <a:p>
            <a:pPr algn="ctr">
              <a:spcBef>
                <a:spcPts val="0"/>
              </a:spcBef>
            </a:pPr>
            <a:r>
              <a:rPr sz="1100" b="0">
                <a:solidFill>
                  <a:srgbClr val="F4EFE6"/>
                </a:solidFill>
                <a:latin typeface="Calibri"/>
              </a:rPr>
              <a:t>Target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4BF"/>
                </a:solidFill>
                <a:latin typeface="Calibri"/>
              </a:rPr>
              <a:t>Ty joined from the neighborhood, three blocks away. Quiet, focused, learning fast. James is invested in his path to a licensed chair.</a:t>
            </a:r>
          </a:p>
        </p:txBody>
      </p:sp>
      <p:pic>
        <p:nvPicPr>
          <p:cNvPr id="14" name="Picture 13" descr="fil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389120"/>
            <a:ext cx="1371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A04A"/>
                </a:solidFill>
                <a:latin typeface="Calibri"/>
              </a:rPr>
              <a:t>Skills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9B4BF"/>
                </a:solidFill>
                <a:latin typeface="Calibri"/>
              </a:rPr>
              <a:t>Score out of 10 | July 2025 baseline vs December 2026 current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280160"/>
          <a:ext cx="77724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1280160"/>
            <a:ext cx="3474720" cy="5212080"/>
          </a:xfrm>
          <a:prstGeom prst="rect">
            <a:avLst/>
          </a:prstGeom>
          <a:solidFill>
            <a:srgbClr val="2E3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D6A04A"/>
                </a:solidFill>
                <a:latin typeface="Calibri"/>
              </a:rPr>
              <a:t>Key Observations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Fades improved 4 pts to an 8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Lineups at 9 ,  near professional grade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Hot-towel shave fastest growth area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Sanitation reached a 10 ,  consistent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Client flow at 8, shows confidence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F4EFE6"/>
                </a:solidFill>
                <a:latin typeface="Calibri"/>
              </a:rPr>
              <a:t>● Beard work still developing, on 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A04A"/>
                </a:solidFill>
                <a:latin typeface="Calibri"/>
              </a:rPr>
              <a:t>Path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32B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FE6"/>
                </a:solidFill>
                <a:latin typeface="Calibri"/>
              </a:rPr>
              <a:t>Michigan barber license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813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4BF"/>
                </a:solidFill>
                <a:latin typeface="Calibri"/>
              </a:rPr>
              <a:t>Target Q1 2027; review sessions starting January 2027.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502920" cy="50292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32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FE6"/>
                </a:solidFill>
                <a:latin typeface="Calibri"/>
              </a:rPr>
              <a:t>Advanced fade curriculum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4BF"/>
                </a:solidFill>
                <a:latin typeface="Calibri"/>
              </a:rPr>
              <a:t>Weeks 18-24: skin-fade precision and natural hair textures.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32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FE6"/>
                </a:solidFill>
                <a:latin typeface="Calibri"/>
              </a:rPr>
              <a:t>Client chair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9300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4BF"/>
                </a:solidFill>
                <a:latin typeface="Calibri"/>
              </a:rPr>
              <a:t>Begin supervised client work January 2027 at the Livernois shop.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32B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FE6"/>
                </a:solidFill>
                <a:latin typeface="Calibri"/>
              </a:rPr>
              <a:t>McNichols chair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9884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4BF"/>
                </a:solidFill>
                <a:latin typeface="Calibri"/>
              </a:rPr>
              <a:t>Licensed and ready for a chair at the March 27, 2027 soft opening.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12080"/>
            <a:ext cx="502920" cy="502920"/>
          </a:xfrm>
          <a:prstGeom prst="rect">
            <a:avLst/>
          </a:prstGeom>
          <a:solidFill>
            <a:srgbClr val="D6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32B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EFE6"/>
                </a:solidFill>
                <a:latin typeface="Calibri"/>
              </a:rPr>
              <a:t>Mentorship continuation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50468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4BF"/>
                </a:solidFill>
                <a:latin typeface="Calibri"/>
              </a:rPr>
              <a:t>James's open-door policy stays in place through the transition.</a:t>
            </a:r>
          </a:p>
        </p:txBody>
      </p:sp>
      <p:pic>
        <p:nvPicPr>
          <p:cNvPr id="19" name="Picture 18" descr="note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005840"/>
            <a:ext cx="347472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