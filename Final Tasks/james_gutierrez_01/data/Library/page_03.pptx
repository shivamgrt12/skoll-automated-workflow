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54C0-4CE5-8039-CCD2BE25F65C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54C0-4CE5-8039-CCD2BE25F65C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54C0-4CE5-8039-CCD2BE25F65C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4-54C0-4CE5-8039-CCD2BE25F65C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54C0-4CE5-8039-CCD2BE25F65C}"/>
                </c:ext>
              </c:extLst>
            </c:dLbl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Demolition/Framing</c:v>
                </c:pt>
                <c:pt idx="1">
                  <c:v>Plumbing/Electrical</c:v>
                </c:pt>
                <c:pt idx="2">
                  <c:v>Fixtures (Option A)</c:v>
                </c:pt>
                <c:pt idx="3">
                  <c:v>Signage/Branding</c:v>
                </c:pt>
                <c:pt idx="4">
                  <c:v>Final/Misc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9800</c:v>
                </c:pt>
                <c:pt idx="1">
                  <c:v>12200</c:v>
                </c:pt>
                <c:pt idx="2">
                  <c:v>13950</c:v>
                </c:pt>
                <c:pt idx="3">
                  <c:v>5500</c:v>
                </c:pt>
                <c:pt idx="4">
                  <c:v>3550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C0-4CE5-8039-CCD2BE25F65C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Costs ($)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4200</c:v>
                </c:pt>
                <c:pt idx="1">
                  <c:v>4200</c:v>
                </c:pt>
                <c:pt idx="2">
                  <c:v>4200</c:v>
                </c:pt>
                <c:pt idx="3">
                  <c:v>4200</c:v>
                </c:pt>
                <c:pt idx="4">
                  <c:v>4200</c:v>
                </c:pt>
                <c:pt idx="5">
                  <c:v>4200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A0-4437-B8D3-AB82AE0ED2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Revenue ($)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  <c:pt idx="5">
                  <c:v>Month 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3500</c:v>
                </c:pt>
                <c:pt idx="1">
                  <c:v>5200</c:v>
                </c:pt>
                <c:pt idx="2">
                  <c:v>6800</c:v>
                </c:pt>
                <c:pt idx="3">
                  <c:v>7800</c:v>
                </c:pt>
                <c:pt idx="4">
                  <c:v>8200</c:v>
                </c:pt>
                <c:pt idx="5">
                  <c:v>8500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A0-4437-B8D3-AB82AE0ED2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B8C4"/>
                </a:solidFill>
                <a:latin typeface="Calibri"/>
              </a:rPr>
              <a:t>CONSTRUCTION LOAN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EF2EC"/>
                </a:solidFill>
                <a:latin typeface="Calibri"/>
              </a:rPr>
              <a:t>Sharp Line Cuts
McNichols Rd, Second 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AE"/>
                </a:solidFill>
                <a:latin typeface="Calibri"/>
              </a:rPr>
              <a:t>Prepared by James A. Gutierrez  ·  January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A9CAE"/>
                </a:solidFill>
                <a:latin typeface="Calibri"/>
              </a:rPr>
              <a:t>(313) 555-0217  ·  james.gutierrez@Greenridertech.co</a:t>
            </a:r>
          </a:p>
        </p:txBody>
      </p:sp>
      <p:pic>
        <p:nvPicPr>
          <p:cNvPr id="7" name="Picture 6" descr="list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37160"/>
            <a:ext cx="3657600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B8C4"/>
                </a:solidFill>
                <a:latin typeface="Calibri"/>
              </a:rPr>
              <a:t>Business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AE"/>
                </a:solidFill>
                <a:latin typeface="Calibri"/>
              </a:rPr>
              <a:t>Sharp Line Cuts ,  twelve years on Livernois 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7269" y="1280160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dirty="0">
                <a:solidFill>
                  <a:srgbClr val="EEF2EC"/>
                </a:solidFill>
                <a:latin typeface="Calibri"/>
              </a:rPr>
              <a:t>12 years</a:t>
            </a:r>
          </a:p>
          <a:p>
            <a:pPr algn="ctr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alibri"/>
              </a:rPr>
              <a:t>In operation (since Feb 2014)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3806" y="1316736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dirty="0">
                <a:solidFill>
                  <a:srgbClr val="EEF2EC"/>
                </a:solidFill>
                <a:latin typeface="Calibri"/>
              </a:rPr>
              <a:t>4 staff</a:t>
            </a:r>
          </a:p>
          <a:p>
            <a:pPr algn="ctr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alibri"/>
              </a:rPr>
              <a:t>James + Darius + Andre + 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10343" y="1280160"/>
            <a:ext cx="2560320" cy="1280160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0D2137"/>
                </a:solidFill>
                <a:latin typeface="Calibri"/>
              </a:rPr>
              <a:t>$82k/yr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0D2137"/>
                </a:solidFill>
                <a:latin typeface="Calibri"/>
              </a:rPr>
              <a:t>James net personal income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1280160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dirty="0">
                <a:solidFill>
                  <a:srgbClr val="EEF2EC"/>
                </a:solidFill>
                <a:latin typeface="Calibri"/>
              </a:rPr>
              <a:t>$22k</a:t>
            </a:r>
          </a:p>
          <a:p>
            <a:pPr algn="ctr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alibri"/>
              </a:rPr>
              <a:t>Second-location fund saved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4DB8C4"/>
                </a:solidFill>
                <a:latin typeface="Calibri"/>
              </a:rPr>
              <a:t>Business Model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Chair rental: Darius Webb and Andre Coleman each pay $275/week, totaling $28,600/year base income.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James retains his own client revenue, currently ~$58,000/year in barbering services.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Apprenticeship pipeline: Ty Jackson (17 months) targeting the McNichols chair at soft opening.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Strong community presence on Livernois and Russell Woods corridors for twelve consecutive years.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Target 1,200 sq ft at McNichols Rd ,  same chair-rental model, expanded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B8C4"/>
                </a:solidFill>
                <a:latin typeface="Calibri"/>
              </a:rPr>
              <a:t>McNichols Corridor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AE"/>
                </a:solidFill>
                <a:latin typeface="Calibri"/>
              </a:rPr>
              <a:t>Underserved market one mile north of the Livernois flagship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EEF2EC"/>
                </a:solidFill>
                <a:latin typeface="Calibri"/>
              </a:rPr>
              <a:t>+18%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EEF2EC"/>
                </a:solidFill>
                <a:latin typeface="Calibri"/>
              </a:rPr>
              <a:t>Corridor foot traffic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280160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EEF2EC"/>
                </a:solidFill>
                <a:latin typeface="Calibri"/>
              </a:rPr>
              <a:t>18-55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EEF2EC"/>
                </a:solidFill>
                <a:latin typeface="Calibri"/>
              </a:rPr>
              <a:t>Primary demographic age range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280160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EEF2EC"/>
                </a:solidFill>
                <a:latin typeface="Calibri"/>
              </a:rPr>
              <a:t>3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EEF2EC"/>
                </a:solidFill>
                <a:latin typeface="Calibri"/>
              </a:rPr>
              <a:t>New barber stations planned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0" y="1280160"/>
            <a:ext cx="2560320" cy="1280160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0D2137"/>
                </a:solidFill>
                <a:latin typeface="Calibri"/>
              </a:rPr>
              <a:t>Mar 27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0D2137"/>
                </a:solidFill>
                <a:latin typeface="Calibri"/>
              </a:rPr>
              <a:t>2027 soft opening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7772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4DB8C4"/>
                </a:solidFill>
                <a:latin typeface="Calibri"/>
              </a:rPr>
              <a:t>Why McNichols Works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Same neighborhood network ,  referrals already coming from the corridor.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No direct comparable competition within a half-mile radius.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Ty Jackson will be licensed and ready for a third rental chair at opening.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Five-year lease term with two renewal options negotiated and signed.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•  Build-out already in progress ,  framing and demo complete as of January 2027.</a:t>
            </a:r>
          </a:p>
        </p:txBody>
      </p:sp>
      <p:pic>
        <p:nvPicPr>
          <p:cNvPr id="10" name="Picture 9" descr="list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743200"/>
            <a:ext cx="35661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B8C4"/>
                </a:solidFill>
                <a:latin typeface="Calibri"/>
              </a:rPr>
              <a:t>Build-Out Investment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554664"/>
              </p:ext>
            </p:extLst>
          </p:nvPr>
        </p:nvGraphicFramePr>
        <p:xfrm>
          <a:off x="274320" y="1005840"/>
          <a:ext cx="59436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0058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800" b="1">
                <a:solidFill>
                  <a:srgbClr val="4DB8C4"/>
                </a:solidFill>
                <a:latin typeface="Calibri"/>
              </a:rPr>
              <a:t>Funding Plan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Working budget:  ........... $45,000 to $55,000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Second-location fund:  ..... $22,000 (Motor City Commerce Bank ****3592)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Construction loan request:   $23,000 to $33,000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Option A fixtures:  ........ $13,950 (saves $2,610 vs Option B)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Fund raised since:  ........ 2022 at $500/month</a:t>
            </a:r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4DB8C4"/>
                </a:solidFill>
                <a:latin typeface="Calibri"/>
              </a:rPr>
              <a:t>
Projected break-even: Month 4 of operations.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EF2EC"/>
                </a:solidFill>
                <a:latin typeface="Calibri"/>
              </a:rPr>
              <a:t>Projected Month-6 revenue: $8,500+/month.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B8C4"/>
                </a:solidFill>
                <a:latin typeface="Calibri"/>
              </a:rPr>
              <a:t>Fixture Sourcing: Option A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A9CAE"/>
                </a:solidFill>
                <a:latin typeface="Calibri"/>
              </a:rPr>
              <a:t>Based on cost comparison across ten fixture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200" b="1" dirty="0">
                <a:solidFill>
                  <a:srgbClr val="4DB8C4"/>
                </a:solidFill>
                <a:latin typeface="Courier New"/>
              </a:rPr>
              <a:t>Category                               Option A   Option B</a:t>
            </a:r>
          </a:p>
          <a:p>
            <a:pPr algn="l">
              <a:spcBef>
                <a:spcPts val="0"/>
              </a:spcBef>
            </a:pPr>
            <a:r>
              <a:rPr sz="1000" b="0" dirty="0">
                <a:solidFill>
                  <a:srgbClr val="3A4651"/>
                </a:solidFill>
                <a:latin typeface="Courier New"/>
              </a:rPr>
              <a:t>----------------------------------------------------------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Barber chairs (3-station)                $5,000     $6,720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Reception seating (4-seat)               $3,560     $4,200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Waiting area benches                       $840       $700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Retail shelving unit                       $780     $1,100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Work-station mirrors (3)                 $1,300     $1,440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Anti-fatigue floor mats                    $510       $660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Storage cabinets                         $1,160       $760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Ceiling lighting package                   $220       $300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Hot-lather station                         $340       $280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EEF2EC"/>
                </a:solidFill>
                <a:latin typeface="Courier New"/>
              </a:rPr>
              <a:t>Breakroom/</a:t>
            </a:r>
            <a:r>
              <a:rPr sz="1100" b="0" dirty="0" err="1">
                <a:solidFill>
                  <a:srgbClr val="EEF2EC"/>
                </a:solidFill>
                <a:latin typeface="Courier New"/>
              </a:rPr>
              <a:t>misc</a:t>
            </a:r>
            <a:r>
              <a:rPr sz="1100" b="0" dirty="0">
                <a:solidFill>
                  <a:srgbClr val="EEF2EC"/>
                </a:solidFill>
                <a:latin typeface="Courier New"/>
              </a:rPr>
              <a:t> furnishings                 $240       $400</a:t>
            </a:r>
          </a:p>
          <a:p>
            <a:pPr algn="l">
              <a:spcBef>
                <a:spcPts val="0"/>
              </a:spcBef>
            </a:pPr>
            <a:r>
              <a:rPr sz="1100" b="1" dirty="0">
                <a:solidFill>
                  <a:srgbClr val="4DB8C4"/>
                </a:solidFill>
                <a:latin typeface="Courier New"/>
              </a:rPr>
              <a:t>TOTAL                                   $13,950    $16,560</a:t>
            </a:r>
          </a:p>
          <a:p>
            <a:pPr algn="l">
              <a:spcBef>
                <a:spcPts val="0"/>
              </a:spcBef>
            </a:pPr>
            <a:r>
              <a:rPr sz="1300" b="1" dirty="0">
                <a:solidFill>
                  <a:srgbClr val="4DB8C4"/>
                </a:solidFill>
                <a:latin typeface="Calibri"/>
              </a:rPr>
              <a:t>
→ Option A saves $2,610 over Option B. Option A selected.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B8C4"/>
                </a:solidFill>
                <a:latin typeface="Calibri"/>
              </a:rPr>
              <a:t>Operating Model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173534"/>
              </p:ext>
            </p:extLst>
          </p:nvPr>
        </p:nvGraphicFramePr>
        <p:xfrm>
          <a:off x="365760" y="1097280"/>
          <a:ext cx="6858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09728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4DB8C4"/>
                </a:solidFill>
                <a:latin typeface="Calibri"/>
              </a:rPr>
              <a:t>Monthly Cost Structure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Commercial rent  ......... $2,400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Utilities  ............... $400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Supplies  ................ $500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Business insurance  ...... $250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Marketing  ............... $200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EEF2EC"/>
                </a:solidFill>
                <a:latin typeface="Courier New"/>
              </a:rPr>
              <a:t>  Miscellaneous  ........... $450</a:t>
            </a:r>
          </a:p>
          <a:p>
            <a:pPr algn="l">
              <a:spcBef>
                <a:spcPts val="400"/>
              </a:spcBef>
            </a:pPr>
            <a:r>
              <a:rPr sz="1200" b="1">
                <a:solidFill>
                  <a:srgbClr val="4DB8C4"/>
                </a:solidFill>
                <a:latin typeface="Courier New"/>
              </a:rPr>
              <a:t>  TOTAL MONTHLY COSTS  ..... $4,200</a:t>
            </a:r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4DB8C4"/>
                </a:solidFill>
                <a:latin typeface="Calibri"/>
              </a:rPr>
              <a:t>
Break-even: Month 4.</a:t>
            </a:r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EEF2EC"/>
                </a:solidFill>
                <a:latin typeface="Calibri"/>
              </a:rPr>
              <a:t>Month 6 target: $8,500/mo.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7A9CAE"/>
                </a:solidFill>
                <a:latin typeface="Calibri"/>
              </a:rPr>
              <a:t>Revenue = chair rental + James barbering.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B8C4"/>
                </a:solidFill>
                <a:latin typeface="Calibri"/>
              </a:rPr>
              <a:t>Build-Out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1371600"/>
            <a:ext cx="45720" cy="457200"/>
          </a:xfrm>
          <a:prstGeom prst="rect">
            <a:avLst/>
          </a:prstGeom>
          <a:solidFill>
            <a:srgbClr val="3A4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71600" y="1143000"/>
            <a:ext cx="365760" cy="365760"/>
          </a:xfrm>
          <a:prstGeom prst="ellipse">
            <a:avLst/>
          </a:prstGeom>
          <a:solidFill>
            <a:srgbClr val="142E4A"/>
          </a:solidFill>
          <a:ln>
            <a:solidFill>
              <a:srgbClr val="4D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B8C4"/>
                </a:solidFill>
                <a:latin typeface="Calibri"/>
              </a:rPr>
              <a:t>Oct 12,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0972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F2EC"/>
                </a:solidFill>
                <a:latin typeface="Calibri"/>
              </a:rPr>
              <a:t>Lease walk-through with commercial realtor. Punch list delivered to contractor.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39696"/>
            <a:ext cx="45720" cy="457200"/>
          </a:xfrm>
          <a:prstGeom prst="rect">
            <a:avLst/>
          </a:prstGeom>
          <a:solidFill>
            <a:srgbClr val="3A4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71600" y="1911095"/>
            <a:ext cx="365760" cy="365760"/>
          </a:xfrm>
          <a:prstGeom prst="ellipse">
            <a:avLst/>
          </a:prstGeom>
          <a:solidFill>
            <a:srgbClr val="142E4A"/>
          </a:solidFill>
          <a:ln>
            <a:solidFill>
              <a:srgbClr val="4D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865375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B8C4"/>
                </a:solidFill>
                <a:latin typeface="Calibri"/>
              </a:rPr>
              <a:t>Oct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65375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F2EC"/>
                </a:solidFill>
                <a:latin typeface="Calibri"/>
              </a:rPr>
              <a:t>Five-year lease signed. Two renewal options.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907792"/>
            <a:ext cx="45720" cy="457200"/>
          </a:xfrm>
          <a:prstGeom prst="rect">
            <a:avLst/>
          </a:prstGeom>
          <a:solidFill>
            <a:srgbClr val="3A4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71600" y="2679192"/>
            <a:ext cx="365760" cy="365760"/>
          </a:xfrm>
          <a:prstGeom prst="ellipse">
            <a:avLst/>
          </a:prstGeom>
          <a:solidFill>
            <a:srgbClr val="142E4A"/>
          </a:solidFill>
          <a:ln>
            <a:solidFill>
              <a:srgbClr val="4D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263347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B8C4"/>
                </a:solidFill>
                <a:latin typeface="Calibri"/>
              </a:rPr>
              <a:t>Nov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33472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F2EC"/>
                </a:solidFill>
                <a:latin typeface="Calibri"/>
              </a:rPr>
              <a:t>Demolition and framing begin. Plumbing rough-in completed.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3675887"/>
            <a:ext cx="45720" cy="457200"/>
          </a:xfrm>
          <a:prstGeom prst="rect">
            <a:avLst/>
          </a:prstGeom>
          <a:solidFill>
            <a:srgbClr val="3A4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71600" y="3447288"/>
            <a:ext cx="365760" cy="365760"/>
          </a:xfrm>
          <a:prstGeom prst="ellipse">
            <a:avLst/>
          </a:prstGeom>
          <a:solidFill>
            <a:srgbClr val="142E4A"/>
          </a:solidFill>
          <a:ln>
            <a:solidFill>
              <a:srgbClr val="4D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4015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B8C4"/>
                </a:solidFill>
                <a:latin typeface="Calibri"/>
              </a:rPr>
              <a:t>Jan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4015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F2EC"/>
                </a:solidFill>
                <a:latin typeface="Calibri"/>
              </a:rPr>
              <a:t>Electrical rough-in. Fixture Order A placed with Premier Chair Co.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443983"/>
            <a:ext cx="45720" cy="457200"/>
          </a:xfrm>
          <a:prstGeom prst="rect">
            <a:avLst/>
          </a:prstGeom>
          <a:solidFill>
            <a:srgbClr val="3A4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371600" y="4215383"/>
            <a:ext cx="365760" cy="365760"/>
          </a:xfrm>
          <a:prstGeom prst="ellipse">
            <a:avLst/>
          </a:prstGeom>
          <a:solidFill>
            <a:srgbClr val="142E4A"/>
          </a:solidFill>
          <a:ln>
            <a:solidFill>
              <a:srgbClr val="4D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169663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B8C4"/>
                </a:solidFill>
                <a:latin typeface="Calibri"/>
              </a:rPr>
              <a:t>Feb 18,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169663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F2EC"/>
                </a:solidFill>
                <a:latin typeface="Calibri"/>
              </a:rPr>
              <a:t>Contractor sign-off walk-through. Punch list closeout.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5212079"/>
            <a:ext cx="45720" cy="457200"/>
          </a:xfrm>
          <a:prstGeom prst="rect">
            <a:avLst/>
          </a:prstGeom>
          <a:solidFill>
            <a:srgbClr val="3A4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71600" y="4983479"/>
            <a:ext cx="365760" cy="365760"/>
          </a:xfrm>
          <a:prstGeom prst="ellipse">
            <a:avLst/>
          </a:prstGeom>
          <a:solidFill>
            <a:srgbClr val="142E4A"/>
          </a:solidFill>
          <a:ln>
            <a:solidFill>
              <a:srgbClr val="4D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4937759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B8C4"/>
                </a:solidFill>
                <a:latin typeface="Calibri"/>
              </a:rPr>
              <a:t>Mar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93775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F2EC"/>
                </a:solidFill>
                <a:latin typeface="Calibri"/>
              </a:rPr>
              <a:t>Final inspections. Signage installed. Staff training at the Livernois shop.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5980175"/>
            <a:ext cx="45720" cy="0"/>
          </a:xfrm>
          <a:prstGeom prst="rect">
            <a:avLst/>
          </a:prstGeom>
          <a:solidFill>
            <a:srgbClr val="3A4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71600" y="5751575"/>
            <a:ext cx="365760" cy="365760"/>
          </a:xfrm>
          <a:prstGeom prst="ellipse">
            <a:avLst/>
          </a:prstGeom>
          <a:solidFill>
            <a:srgbClr val="4DB8C4"/>
          </a:solidFill>
          <a:ln>
            <a:solidFill>
              <a:srgbClr val="4D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5705855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4DB8C4"/>
                </a:solidFill>
                <a:latin typeface="Calibri"/>
              </a:rPr>
              <a:t>Mar 27,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705855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F2EC"/>
                </a:solidFill>
                <a:latin typeface="Calibri"/>
              </a:rPr>
              <a:t>Invite-only soft opening. Staff family, long-time clients, mentee alumni.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DB8C4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800" b="1">
                <a:solidFill>
                  <a:srgbClr val="EEF2EC"/>
                </a:solidFill>
                <a:latin typeface="Calibri"/>
              </a:rPr>
              <a:t>Construction Loan Request</a:t>
            </a:r>
          </a:p>
          <a:p>
            <a:pPr algn="l">
              <a:spcBef>
                <a:spcPts val="10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Amount:  $25,000 to $33,000 (gap between fund and total budget)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Use:  Build-out completion, fixtures, signage, first-month float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Repayment:  Begin Month 3 from chair-rental base income</a:t>
            </a:r>
          </a:p>
          <a:p>
            <a:pPr algn="l">
              <a:spcBef>
                <a:spcPts val="500"/>
              </a:spcBef>
            </a:pPr>
            <a:r>
              <a:rPr sz="1300" b="0">
                <a:solidFill>
                  <a:srgbClr val="EEF2EC"/>
                </a:solidFill>
                <a:latin typeface="Calibri"/>
              </a:rPr>
              <a:t>Security:  Twelve-year operating history at 18247 Livernois Ave</a:t>
            </a:r>
          </a:p>
          <a:p>
            <a:pPr algn="l">
              <a:spcBef>
                <a:spcPts val="1200"/>
              </a:spcBef>
            </a:pPr>
            <a:r>
              <a:rPr sz="1600" b="1">
                <a:solidFill>
                  <a:srgbClr val="4DB8C4"/>
                </a:solidFill>
                <a:latin typeface="Calibri"/>
              </a:rPr>
              <a:t>
Why James Gutierrez?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EF2EC"/>
                </a:solidFill>
                <a:latin typeface="Calibri"/>
              </a:rPr>
              <a:t>•  Twelve years of unbroken operations ,  zero delinquencies on record.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EF2EC"/>
                </a:solidFill>
                <a:latin typeface="Calibri"/>
              </a:rPr>
              <a:t>•  Proven chair-rental model: $28,600/year in fixed rental income regardless of James's own volume.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EF2EC"/>
                </a:solidFill>
                <a:latin typeface="Calibri"/>
              </a:rPr>
              <a:t>•  Darius Webb (eight years, trusted) manages the Livernois floor during any transition.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EF2EC"/>
                </a:solidFill>
                <a:latin typeface="Calibri"/>
              </a:rPr>
              <a:t>•  Ty Jackson licensed and ready for a revenue chair at McNichols opening ,  third income stream.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EEF2EC"/>
                </a:solidFill>
                <a:latin typeface="Calibri"/>
              </a:rPr>
              <a:t>•  Second-location fund ($22,000) demonstrates twelve months of disciplined forward planning.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280160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>
                <a:solidFill>
                  <a:srgbClr val="EEF2EC"/>
                </a:solidFill>
                <a:latin typeface="Calibri"/>
              </a:rPr>
              <a:t>$22k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EEF2EC"/>
                </a:solidFill>
                <a:latin typeface="Calibri"/>
              </a:rPr>
              <a:t>Saved (fund)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2834640"/>
            <a:ext cx="2560320" cy="1280160"/>
          </a:xfrm>
          <a:prstGeom prst="rect">
            <a:avLst/>
          </a:prstGeom>
          <a:solidFill>
            <a:srgbClr val="4DB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0D2137"/>
                </a:solidFill>
                <a:latin typeface="Calibri"/>
              </a:rPr>
              <a:t>Month 4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0D2137"/>
                </a:solidFill>
                <a:latin typeface="Calibri"/>
              </a:rPr>
              <a:t>Break-even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4389120"/>
            <a:ext cx="2560320" cy="1280160"/>
          </a:xfrm>
          <a:prstGeom prst="rect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EEF2EC"/>
                </a:solidFill>
                <a:latin typeface="Calibri"/>
              </a:rPr>
              <a:t>Mar 27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EEF2EC"/>
                </a:solidFill>
                <a:latin typeface="Calibri"/>
              </a:rPr>
              <a:t>2027 opening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781</Words>
  <Application>Microsoft Office PowerPoint</Application>
  <PresentationFormat>Widescreen</PresentationFormat>
  <Paragraphs>112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 Bhushan</cp:lastModifiedBy>
  <cp:revision>2</cp:revision>
  <dcterms:created xsi:type="dcterms:W3CDTF">2013-01-27T09:14:16Z</dcterms:created>
  <dcterms:modified xsi:type="dcterms:W3CDTF">2026-06-30T10:41:40Z</dcterms:modified>
  <cp:category/>
</cp:coreProperties>
</file>