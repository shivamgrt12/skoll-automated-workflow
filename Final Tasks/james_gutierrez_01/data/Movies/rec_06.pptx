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Annual ($)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DB8C4"/>
              </a:solidFill>
            </c:spPr>
            <c:extLst>
              <c:ext xmlns:c16="http://schemas.microsoft.com/office/drawing/2014/chart" uri="{C3380CC4-5D6E-409C-BE32-E72D297353CC}">
                <c16:uniqueId val="{00000001-7FC7-454B-8C9E-91CDB6D7EAEF}"/>
              </c:ext>
            </c:extLst>
          </c:dPt>
          <c:dPt>
            <c:idx val="1"/>
            <c:invertIfNegative val="1"/>
            <c:bubble3D val="0"/>
            <c:spPr>
              <a:solidFill>
                <a:srgbClr val="2E6B4F"/>
              </a:solidFill>
            </c:spPr>
            <c:extLst>
              <c:ext xmlns:c16="http://schemas.microsoft.com/office/drawing/2014/chart" uri="{C3380CC4-5D6E-409C-BE32-E72D297353CC}">
                <c16:uniqueId val="{00000003-7FC7-454B-8C9E-91CDB6D7EAEF}"/>
              </c:ext>
            </c:extLst>
          </c:dPt>
          <c:dPt>
            <c:idx val="2"/>
            <c:invertIfNegative val="1"/>
            <c:bubble3D val="0"/>
            <c:spPr>
              <a:solidFill>
                <a:srgbClr val="C25B4E"/>
              </a:solidFill>
            </c:spPr>
            <c:extLst>
              <c:ext xmlns:c16="http://schemas.microsoft.com/office/drawing/2014/chart" uri="{C3380CC4-5D6E-409C-BE32-E72D297353CC}">
                <c16:uniqueId val="{00000005-7FC7-454B-8C9E-91CDB6D7EAEF}"/>
              </c:ext>
            </c:extLst>
          </c:dPt>
          <c:dPt>
            <c:idx val="3"/>
            <c:invertIfNegative val="1"/>
            <c:bubble3D val="0"/>
            <c:spPr>
              <a:solidFill>
                <a:srgbClr val="2E6B4F"/>
              </a:solidFill>
            </c:spPr>
            <c:extLst>
              <c:ext xmlns:c16="http://schemas.microsoft.com/office/drawing/2014/chart" uri="{C3380CC4-5D6E-409C-BE32-E72D297353CC}">
                <c16:uniqueId val="{00000007-7FC7-454B-8C9E-91CDB6D7EAEF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Barbering Services</c:v>
                </c:pt>
                <c:pt idx="1">
                  <c:v>Chair Rental Income</c:v>
                </c:pt>
                <c:pt idx="2">
                  <c:v>Less: Business Expenses</c:v>
                </c:pt>
                <c:pt idx="3">
                  <c:v>Net Personal Income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58000</c:v>
                </c:pt>
                <c:pt idx="1">
                  <c:v>28600</c:v>
                </c:pt>
                <c:pt idx="2">
                  <c:v>-4600</c:v>
                </c:pt>
                <c:pt idx="3">
                  <c:v>82000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FC7-454B-8C9E-91CDB6D7EA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F2EC"/>
                </a:solidFill>
                <a:latin typeface="Calibri"/>
              </a:rPr>
              <a:t>REGIONAL BARBER OWNERS MEETUP  ·  FALL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00"/>
          </a:xfrm>
          <a:prstGeom prst="rect">
            <a:avLst/>
          </a:prstGeom>
          <a:solidFill>
            <a:srgbClr val="1A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Chair Rental Economics
That 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CA9"/>
                </a:solidFill>
                <a:latin typeface="Calibri"/>
              </a:rPr>
              <a:t>James Gutierrez  ·  Sharp Line Cuts  ·  18247 Livernois Ave, Detroit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61"/>
                </a:solidFill>
                <a:latin typeface="Calibri"/>
              </a:rPr>
              <a:t>How to build a base income that doesn't depend on you being in the chair every 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22"/>
                </a:solidFill>
                <a:latin typeface="Calibri"/>
              </a:rPr>
              <a:t>The Chair Rental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61"/>
                </a:solidFill>
                <a:latin typeface="Calibri"/>
              </a:rPr>
              <a:t>Two chairs. Two barbers. $275/week each. Simple.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1280160"/>
          </a:xfrm>
          <a:prstGeom prst="rect">
            <a:avLst/>
          </a:prstGeom>
          <a:solidFill>
            <a:srgbClr val="E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1A2E22"/>
                </a:solidFill>
                <a:latin typeface="Calibri"/>
              </a:rPr>
              <a:t>2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1A2E22"/>
                </a:solidFill>
                <a:latin typeface="Calibri"/>
              </a:rPr>
              <a:t>Rental chairs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371600"/>
            <a:ext cx="2560320" cy="128016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$275/wk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Per chair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371600"/>
            <a:ext cx="2560320" cy="1280160"/>
          </a:xfrm>
          <a:prstGeom prst="rect">
            <a:avLst/>
          </a:prstGeom>
          <a:solidFill>
            <a:srgbClr val="E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1A2E22"/>
                </a:solidFill>
                <a:latin typeface="Calibri"/>
              </a:rPr>
              <a:t>$28,600/yr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1A2E22"/>
                </a:solidFill>
                <a:latin typeface="Calibri"/>
              </a:rPr>
              <a:t>Annual rental income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9760" y="1371600"/>
            <a:ext cx="2560320" cy="1280160"/>
          </a:xfrm>
          <a:prstGeom prst="rect">
            <a:avLst/>
          </a:prstGeom>
          <a:solidFill>
            <a:srgbClr val="E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A2E22"/>
                </a:solidFill>
                <a:latin typeface="Calibri"/>
              </a:rPr>
              <a:t>Feb 2014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1A2E22"/>
                </a:solidFill>
                <a:latin typeface="Calibri"/>
              </a:rPr>
              <a:t>Rental model in place since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7315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>
                <a:solidFill>
                  <a:srgbClr val="1A2E22"/>
                </a:solidFill>
                <a:latin typeface="Calibri"/>
              </a:rPr>
              <a:t>Why Chair Rental Works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•  Fixed income whether James cuts 30 or 20 clients that week.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•  Barbers keep their own clients and build their own book.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•  No payroll, no benefits, no scheduling headaches.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•  Month to month ,  easier to scale than adding employees.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333333"/>
                </a:solidFill>
                <a:latin typeface="Calibri"/>
              </a:rPr>
              <a:t>•  $275/week × 52 weeks = $14,300/year per chair. Two chairs = $28,600.</a:t>
            </a:r>
          </a:p>
        </p:txBody>
      </p:sp>
      <p:pic>
        <p:nvPicPr>
          <p:cNvPr id="15" name="Picture 14" descr="draft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880360"/>
            <a:ext cx="3109943" cy="34554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22"/>
                </a:solidFill>
                <a:latin typeface="Calibri"/>
              </a:rPr>
              <a:t>Owner Income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61"/>
                </a:solidFill>
                <a:latin typeface="Calibri"/>
              </a:rPr>
              <a:t>How the numbers stack up at year 12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97280"/>
          <a:ext cx="685800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09728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800" b="1">
                <a:solidFill>
                  <a:srgbClr val="1A2E22"/>
                </a:solidFill>
                <a:latin typeface="Calibri"/>
              </a:rPr>
              <a:t>The Math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E22"/>
                </a:solidFill>
                <a:latin typeface="Courier New"/>
              </a:rPr>
              <a:t>  Barbering revenue  ....... +$58,000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E22"/>
                </a:solidFill>
                <a:latin typeface="Courier New"/>
              </a:rPr>
              <a:t>  Chair rental (2 × $275 × 52)   +$28,600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2E22"/>
                </a:solidFill>
                <a:latin typeface="Courier New"/>
              </a:rPr>
              <a:t>  Business expenses (net)  . -$4,600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2E6B4F"/>
                </a:solidFill>
                <a:latin typeface="Courier New"/>
              </a:rPr>
              <a:t>  Net personal income  ..... = $82,000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2E6B4F"/>
                </a:solidFill>
                <a:latin typeface="Calibri"/>
              </a:rPr>
              <a:t>
"The rental base means a slow week
doesn't become a bad month."</a:t>
            </a:r>
          </a:p>
        </p:txBody>
      </p:sp>
      <p:pic>
        <p:nvPicPr>
          <p:cNvPr id="7" name="Picture 6" descr="fil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4389120"/>
            <a:ext cx="22860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22"/>
                </a:solidFill>
                <a:latin typeface="Calibri"/>
              </a:rPr>
              <a:t>Three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914400" cy="9144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188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E22"/>
                </a:solidFill>
                <a:latin typeface="Calibri"/>
              </a:rPr>
              <a:t>Protect the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61"/>
                </a:solidFill>
                <a:latin typeface="Calibri"/>
              </a:rPr>
              <a:t>The rental income is the floor. Build your personal book on top of it, not instead of it. Never rent a chair to someone who disrupts the floor culture.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E0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880360"/>
            <a:ext cx="914400" cy="9144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880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E22"/>
                </a:solidFill>
                <a:latin typeface="Calibri"/>
              </a:rPr>
              <a:t>Train your bench.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3832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61"/>
                </a:solidFill>
                <a:latin typeface="Calibri"/>
              </a:rPr>
              <a:t>Ty Jackson starts as a $0 apprentice. In 2027 he becomes a third rental chair ,  another $14,300/year. The pipeline IS the business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0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914400" cy="9144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572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E22"/>
                </a:solidFill>
                <a:latin typeface="Calibri"/>
              </a:rPr>
              <a:t>Plan in ten-year arcs.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074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61"/>
                </a:solidFill>
                <a:latin typeface="Calibri"/>
              </a:rPr>
              <a:t>Sharp Line Cuts turns thirteen next February. The McNichols location opens March 27, 2027. Twelve years of showing up is why that is possible.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333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 Bhushan</cp:lastModifiedBy>
  <cp:revision>2</cp:revision>
  <dcterms:created xsi:type="dcterms:W3CDTF">2013-01-27T09:14:16Z</dcterms:created>
  <dcterms:modified xsi:type="dcterms:W3CDTF">2026-06-30T10:42:28Z</dcterms:modified>
  <cp:category/>
</cp:coreProperties>
</file>