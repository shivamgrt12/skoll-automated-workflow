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88952" cy="73152"/>
          </a:xfrm>
          <a:prstGeom prst="rect">
            <a:avLst/>
          </a:prstGeom>
          <a:solidFill>
            <a:srgbClr val="4A6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8686800" cy="1645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4800" b="1" i="0">
                <a:solidFill>
                  <a:srgbClr val="E4ECF4"/>
                </a:solidFill>
                <a:latin typeface="Calibri"/>
              </a:rPr>
              <a:t>Glaze Chemistry and Surface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73152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 i="1">
                <a:solidFill>
                  <a:srgbClr val="788C9E"/>
                </a:solidFill>
                <a:latin typeface="Calibri"/>
              </a:rPr>
              <a:t>An introduction for studio ceramics students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063240"/>
            <a:ext cx="73152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B8A872"/>
                </a:solidFill>
                <a:latin typeface="Calibri"/>
              </a:rPr>
              <a:t>ENG-225 Ceramics Studio I   |   University of Charleston   |   James A. Wilson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4A6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908792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 i="0">
                <a:solidFill>
                  <a:srgbClr val="E4ECF4"/>
                </a:solidFill>
                <a:latin typeface="Calibri"/>
              </a:rPr>
              <a:t>Why Does Glaze Chemistry Matter?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10908792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1">
                <a:solidFill>
                  <a:srgbClr val="788C9E"/>
                </a:solidFill>
                <a:latin typeface="Calibri"/>
              </a:rPr>
              <a:t>Understanding glaze lets you solve problems and create intentionally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11247120" cy="5120640"/>
          </a:xfrm>
          <a:prstGeom prst="rect">
            <a:avLst/>
          </a:prstGeom>
          <a:solidFill>
            <a:srgbClr val="242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881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600">
                <a:solidFill>
                  <a:srgbClr val="E4ECF4"/>
                </a:solidFill>
                <a:latin typeface="Calibri"/>
              </a:rPr>
              <a:t>  A glaze that crawls, pinholes, or runs is not bad luck - it is chemistry you can diagnose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E4ECF4"/>
                </a:solidFill>
                <a:latin typeface="Calibri"/>
              </a:rPr>
              <a:t>  Understanding the formula lets you modify an existing recipe rather than starting over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E4ECF4"/>
                </a:solidFill>
                <a:latin typeface="Calibri"/>
              </a:rPr>
              <a:t>  Every glaze you use was designed by someone who understood the triaxial - now you will too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E4ECF4"/>
                </a:solidFill>
                <a:latin typeface="Calibri"/>
              </a:rPr>
              <a:t>  Cone 6 electric has specific chemistry requirements that differ from cone 10 or raku - knowing why matters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E4ECF4"/>
                </a:solidFill>
                <a:latin typeface="Calibri"/>
              </a:rPr>
              <a:t>  Once you understand the structure, you can begin to predict what a recipe will do before you fire 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4A6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908792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 i="0">
                <a:solidFill>
                  <a:srgbClr val="E4ECF4"/>
                </a:solidFill>
                <a:latin typeface="Calibri"/>
              </a:rPr>
              <a:t>The Three Glaze Component Families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10908792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1">
                <a:solidFill>
                  <a:srgbClr val="788C9E"/>
                </a:solidFill>
                <a:latin typeface="Calibri"/>
              </a:rPr>
              <a:t>Every ingredient in every glaze fits one of three roles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3657600" cy="5029200"/>
          </a:xfrm>
          <a:prstGeom prst="rect">
            <a:avLst/>
          </a:prstGeom>
          <a:solidFill>
            <a:srgbClr val="242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3657600" cy="73152"/>
          </a:xfrm>
          <a:prstGeom prst="rect">
            <a:avLst/>
          </a:prstGeom>
          <a:solidFill>
            <a:srgbClr val="4A6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80160"/>
            <a:ext cx="329184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 i="0">
                <a:solidFill>
                  <a:srgbClr val="4A6E9A"/>
                </a:solidFill>
                <a:latin typeface="Calibri"/>
              </a:rPr>
              <a:t>Glass Formers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965960"/>
            <a:ext cx="3291840" cy="4023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E4ECF4"/>
                </a:solidFill>
                <a:latin typeface="Calibri"/>
              </a:rPr>
              <a:t>Create the glass matrix. Silicon dioxide (silica) is the primary glass former. Boron is a secondary glass former used in lower-fire glazes.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79392" y="1188720"/>
            <a:ext cx="3657600" cy="5029200"/>
          </a:xfrm>
          <a:prstGeom prst="rect">
            <a:avLst/>
          </a:prstGeom>
          <a:solidFill>
            <a:srgbClr val="242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79392" y="1188720"/>
            <a:ext cx="3657600" cy="73152"/>
          </a:xfrm>
          <a:prstGeom prst="rect">
            <a:avLst/>
          </a:prstGeom>
          <a:solidFill>
            <a:srgbClr val="B8A8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62272" y="1280160"/>
            <a:ext cx="329184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 i="0">
                <a:solidFill>
                  <a:srgbClr val="B8A872"/>
                </a:solidFill>
                <a:latin typeface="Calibri"/>
              </a:rPr>
              <a:t>Fluxes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62272" y="1965960"/>
            <a:ext cx="3291840" cy="4023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E4ECF4"/>
                </a:solidFill>
                <a:latin typeface="Calibri"/>
              </a:rPr>
              <a:t>Lower the melting temperature. Without flux, most glazes would not melt at any achievable kiln temperature. Common fluxes at cone 6: calcium (whiting), magnesium (talc), sodium, potassium, lithium, zinc.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93024" y="1188720"/>
            <a:ext cx="3657600" cy="5029200"/>
          </a:xfrm>
          <a:prstGeom prst="rect">
            <a:avLst/>
          </a:prstGeom>
          <a:solidFill>
            <a:srgbClr val="242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93024" y="1188720"/>
            <a:ext cx="3657600" cy="73152"/>
          </a:xfrm>
          <a:prstGeom prst="rect">
            <a:avLst/>
          </a:prstGeom>
          <a:solidFill>
            <a:srgbClr val="788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75904" y="1280160"/>
            <a:ext cx="329184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 i="0">
                <a:solidFill>
                  <a:srgbClr val="788C9E"/>
                </a:solidFill>
                <a:latin typeface="Calibri"/>
              </a:rPr>
              <a:t>Stabilizers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75904" y="1965960"/>
            <a:ext cx="3291840" cy="4023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E4ECF4"/>
                </a:solidFill>
                <a:latin typeface="Calibri"/>
              </a:rPr>
              <a:t>Prevent the glaze from running and hold the texture in suspension. Alumina (Al2O3) is the primary stabilizer - introduced through kaolin or feldspar.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4A6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908792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 i="0">
                <a:solidFill>
                  <a:srgbClr val="E4ECF4"/>
                </a:solidFill>
                <a:latin typeface="Calibri"/>
              </a:rPr>
              <a:t>Common Glaze Materials at Cone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10908792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1">
                <a:solidFill>
                  <a:srgbClr val="788C9E"/>
                </a:solidFill>
                <a:latin typeface="Calibri"/>
              </a:rPr>
              <a:t>What you will find in most studio glaze recipes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188720"/>
          <a:ext cx="1124712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48213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Material</a:t>
                      </a:r>
                    </a:p>
                  </a:txBody>
                  <a:tcPr>
                    <a:solidFill>
                      <a:srgbClr val="4A6E9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Role</a:t>
                      </a:r>
                    </a:p>
                  </a:txBody>
                  <a:tcPr>
                    <a:solidFill>
                      <a:srgbClr val="4A6E9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Notes</a:t>
                      </a:r>
                    </a:p>
                  </a:txBody>
                  <a:tcPr>
                    <a:solidFill>
                      <a:srgbClr val="4A6E9A"/>
                    </a:solidFill>
                  </a:tcPr>
                </a:tc>
              </a:tr>
              <a:tr h="48213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4ECF4"/>
                          </a:solidFill>
                          <a:latin typeface="Calibri"/>
                        </a:rPr>
                        <a:t>Custer Feldspar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4ECF4"/>
                          </a:solidFill>
                          <a:latin typeface="Calibri"/>
                        </a:rPr>
                        <a:t>Flux + silica + alumina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4ECF4"/>
                          </a:solidFill>
                          <a:latin typeface="Calibri"/>
                        </a:rPr>
                        <a:t>Most common feldspar in cone 6 glazes; introduces multiple oxides</a:t>
                      </a:r>
                    </a:p>
                  </a:txBody>
                  <a:tcPr/>
                </a:tc>
              </a:tr>
              <a:tr h="48213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4ECF4"/>
                          </a:solidFill>
                          <a:latin typeface="Calibri"/>
                        </a:rPr>
                        <a:t>Silica (325 mesh)</a:t>
                      </a:r>
                    </a:p>
                  </a:txBody>
                  <a:tcPr>
                    <a:solidFill>
                      <a:srgbClr val="242C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4ECF4"/>
                          </a:solidFill>
                          <a:latin typeface="Calibri"/>
                        </a:rPr>
                        <a:t>Glass former</a:t>
                      </a:r>
                    </a:p>
                  </a:txBody>
                  <a:tcPr>
                    <a:solidFill>
                      <a:srgbClr val="242C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4ECF4"/>
                          </a:solidFill>
                          <a:latin typeface="Calibri"/>
                        </a:rPr>
                        <a:t>Pure SiO2; tightest control of glaze glass</a:t>
                      </a:r>
                    </a:p>
                  </a:txBody>
                  <a:tcPr>
                    <a:solidFill>
                      <a:srgbClr val="242C38"/>
                    </a:solidFill>
                  </a:tcPr>
                </a:tc>
              </a:tr>
              <a:tr h="48213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4ECF4"/>
                          </a:solidFill>
                          <a:latin typeface="Calibri"/>
                        </a:rPr>
                        <a:t>Whiting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4ECF4"/>
                          </a:solidFill>
                          <a:latin typeface="Calibri"/>
                        </a:rPr>
                        <a:t>Flux (calcium)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4ECF4"/>
                          </a:solidFill>
                          <a:latin typeface="Calibri"/>
                        </a:rPr>
                        <a:t>Calcium carbonate; burns off CO2 in firing</a:t>
                      </a:r>
                    </a:p>
                  </a:txBody>
                  <a:tcPr/>
                </a:tc>
              </a:tr>
              <a:tr h="48213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4ECF4"/>
                          </a:solidFill>
                          <a:latin typeface="Calibri"/>
                        </a:rPr>
                        <a:t>EPK Kaolin</a:t>
                      </a:r>
                    </a:p>
                  </a:txBody>
                  <a:tcPr>
                    <a:solidFill>
                      <a:srgbClr val="242C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4ECF4"/>
                          </a:solidFill>
                          <a:latin typeface="Calibri"/>
                        </a:rPr>
                        <a:t>Stabilizer + alumina</a:t>
                      </a:r>
                    </a:p>
                  </a:txBody>
                  <a:tcPr>
                    <a:solidFill>
                      <a:srgbClr val="242C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4ECF4"/>
                          </a:solidFill>
                          <a:latin typeface="Calibri"/>
                        </a:rPr>
                        <a:t>Also adds suspension in wet glaze</a:t>
                      </a:r>
                    </a:p>
                  </a:txBody>
                  <a:tcPr>
                    <a:solidFill>
                      <a:srgbClr val="242C38"/>
                    </a:solidFill>
                  </a:tcPr>
                </a:tc>
              </a:tr>
              <a:tr h="48213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4ECF4"/>
                          </a:solidFill>
                          <a:latin typeface="Calibri"/>
                        </a:rPr>
                        <a:t>Talc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4ECF4"/>
                          </a:solidFill>
                          <a:latin typeface="Calibri"/>
                        </a:rPr>
                        <a:t>Flux (magnesium)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4ECF4"/>
                          </a:solidFill>
                          <a:latin typeface="Calibri"/>
                        </a:rPr>
                        <a:t>Small amounts smooth the glaze surface</a:t>
                      </a:r>
                    </a:p>
                  </a:txBody>
                  <a:tcPr/>
                </a:tc>
              </a:tr>
              <a:tr h="48213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4ECF4"/>
                          </a:solidFill>
                          <a:latin typeface="Calibri"/>
                        </a:rPr>
                        <a:t>Zinc Oxide</a:t>
                      </a:r>
                    </a:p>
                  </a:txBody>
                  <a:tcPr>
                    <a:solidFill>
                      <a:srgbClr val="242C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4ECF4"/>
                          </a:solidFill>
                          <a:latin typeface="Calibri"/>
                        </a:rPr>
                        <a:t>Flux</a:t>
                      </a:r>
                    </a:p>
                  </a:txBody>
                  <a:tcPr>
                    <a:solidFill>
                      <a:srgbClr val="242C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4ECF4"/>
                          </a:solidFill>
                          <a:latin typeface="Calibri"/>
                        </a:rPr>
                        <a:t>Promotes matte surface at moderate amounts</a:t>
                      </a:r>
                    </a:p>
                  </a:txBody>
                  <a:tcPr>
                    <a:solidFill>
                      <a:srgbClr val="242C38"/>
                    </a:solidFill>
                  </a:tcPr>
                </a:tc>
              </a:tr>
              <a:tr h="48213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4ECF4"/>
                          </a:solidFill>
                          <a:latin typeface="Calibri"/>
                        </a:rPr>
                        <a:t>Red Iron Oxide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4ECF4"/>
                          </a:solidFill>
                          <a:latin typeface="Calibri"/>
                        </a:rPr>
                        <a:t>Colorant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4ECF4"/>
                          </a:solidFill>
                          <a:latin typeface="Calibri"/>
                        </a:rPr>
                        <a:t>Warm tans to browns to blacks depending on amount and atmosphere</a:t>
                      </a:r>
                    </a:p>
                  </a:txBody>
                  <a:tcPr/>
                </a:tc>
              </a:tr>
              <a:tr h="48213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4ECF4"/>
                          </a:solidFill>
                          <a:latin typeface="Calibri"/>
                        </a:rPr>
                        <a:t>Cobalt Carbonate</a:t>
                      </a:r>
                    </a:p>
                  </a:txBody>
                  <a:tcPr>
                    <a:solidFill>
                      <a:srgbClr val="242C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4ECF4"/>
                          </a:solidFill>
                          <a:latin typeface="Calibri"/>
                        </a:rPr>
                        <a:t>Colorant</a:t>
                      </a:r>
                    </a:p>
                  </a:txBody>
                  <a:tcPr>
                    <a:solidFill>
                      <a:srgbClr val="242C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4ECF4"/>
                          </a:solidFill>
                          <a:latin typeface="Calibri"/>
                        </a:rPr>
                        <a:t>Strong blue; use 0.5-2% only - very powerful</a:t>
                      </a:r>
                    </a:p>
                  </a:txBody>
                  <a:tcPr>
                    <a:solidFill>
                      <a:srgbClr val="242C38"/>
                    </a:solidFill>
                  </a:tcPr>
                </a:tc>
              </a:tr>
              <a:tr h="48213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4ECF4"/>
                          </a:solidFill>
                          <a:latin typeface="Calibri"/>
                        </a:rPr>
                        <a:t>Copper Carbonate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4ECF4"/>
                          </a:solidFill>
                          <a:latin typeface="Calibri"/>
                        </a:rPr>
                        <a:t>Colorant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4ECF4"/>
                          </a:solidFill>
                          <a:latin typeface="Calibri"/>
                        </a:rPr>
                        <a:t>Greens in oxidation; powerful, fugitive</a:t>
                      </a:r>
                    </a:p>
                  </a:txBody>
                  <a:tcPr/>
                </a:tc>
              </a:tr>
              <a:tr h="48214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4ECF4"/>
                          </a:solidFill>
                          <a:latin typeface="Calibri"/>
                        </a:rPr>
                        <a:t>Titanium Dioxide</a:t>
                      </a:r>
                    </a:p>
                  </a:txBody>
                  <a:tcPr>
                    <a:solidFill>
                      <a:srgbClr val="242C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4ECF4"/>
                          </a:solidFill>
                          <a:latin typeface="Calibri"/>
                        </a:rPr>
                        <a:t>Opacity + texture</a:t>
                      </a:r>
                    </a:p>
                  </a:txBody>
                  <a:tcPr>
                    <a:solidFill>
                      <a:srgbClr val="242C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E4ECF4"/>
                          </a:solidFill>
                          <a:latin typeface="Calibri"/>
                        </a:rPr>
                        <a:t>Small amounts create matte and visual texture</a:t>
                      </a:r>
                    </a:p>
                  </a:txBody>
                  <a:tcPr>
                    <a:solidFill>
                      <a:srgbClr val="242C3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4A6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908792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 i="0">
                <a:solidFill>
                  <a:srgbClr val="E4ECF4"/>
                </a:solidFill>
                <a:latin typeface="Calibri"/>
              </a:rPr>
              <a:t>Glaze Surface Types at Cone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10908792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1">
                <a:solidFill>
                  <a:srgbClr val="788C9E"/>
                </a:solidFill>
                <a:latin typeface="Calibri"/>
              </a:rPr>
              <a:t>The glaze surface is a design choice, not a default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5577840" cy="2377440"/>
          </a:xfrm>
          <a:prstGeom prst="rect">
            <a:avLst/>
          </a:prstGeom>
          <a:solidFill>
            <a:srgbClr val="242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5577840" cy="73152"/>
          </a:xfrm>
          <a:prstGeom prst="rect">
            <a:avLst/>
          </a:prstGeom>
          <a:solidFill>
            <a:srgbClr val="4A6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53312"/>
            <a:ext cx="51206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 i="0">
                <a:solidFill>
                  <a:srgbClr val="4A6E9A"/>
                </a:solidFill>
                <a:latin typeface="Calibri"/>
              </a:rPr>
              <a:t>Gloss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901952"/>
            <a:ext cx="5120640" cy="1463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E4ECF4"/>
                </a:solidFill>
                <a:latin typeface="Calibri"/>
              </a:rPr>
              <a:t>High silica, adequate flux, low alumina. Fluid surface. Shows movement and pooling. Best: bowls, interior surfaces.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188720"/>
            <a:ext cx="5577840" cy="2377440"/>
          </a:xfrm>
          <a:prstGeom prst="rect">
            <a:avLst/>
          </a:prstGeom>
          <a:solidFill>
            <a:srgbClr val="242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188720"/>
            <a:ext cx="5577840" cy="73152"/>
          </a:xfrm>
          <a:prstGeom prst="rect">
            <a:avLst/>
          </a:prstGeom>
          <a:solidFill>
            <a:srgbClr val="B8A8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353312"/>
            <a:ext cx="51206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 i="0">
                <a:solidFill>
                  <a:srgbClr val="B8A872"/>
                </a:solidFill>
                <a:latin typeface="Calibri"/>
              </a:rPr>
              <a:t>Satin Matte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901952"/>
            <a:ext cx="5120640" cy="1463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E4ECF4"/>
                </a:solidFill>
                <a:latin typeface="Calibri"/>
              </a:rPr>
              <a:t>Balanced silica/alumina, moderate zinc or calcium. Smooth, low sheen. Consistent piece to piece. Best: functional ware, plates.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794760"/>
            <a:ext cx="5577840" cy="2377440"/>
          </a:xfrm>
          <a:prstGeom prst="rect">
            <a:avLst/>
          </a:prstGeom>
          <a:solidFill>
            <a:srgbClr val="242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3794760"/>
            <a:ext cx="5577840" cy="73152"/>
          </a:xfrm>
          <a:prstGeom prst="rect">
            <a:avLst/>
          </a:prstGeom>
          <a:solidFill>
            <a:srgbClr val="788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959352"/>
            <a:ext cx="51206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 i="0">
                <a:solidFill>
                  <a:srgbClr val="788C9E"/>
                </a:solidFill>
                <a:latin typeface="Calibri"/>
              </a:rPr>
              <a:t>Dry Matte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507992"/>
            <a:ext cx="5120640" cy="1463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E4ECF4"/>
                </a:solidFill>
                <a:latin typeface="Calibri"/>
              </a:rPr>
              <a:t>High alumina or magnesium, lower silica. Can be dusty or crawl if too thin. Best: textured surfaces, hand-building.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640" y="3794760"/>
            <a:ext cx="5577840" cy="2377440"/>
          </a:xfrm>
          <a:prstGeom prst="rect">
            <a:avLst/>
          </a:prstGeom>
          <a:solidFill>
            <a:srgbClr val="242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63640" y="3794760"/>
            <a:ext cx="5577840" cy="73152"/>
          </a:xfrm>
          <a:prstGeom prst="rect">
            <a:avLst/>
          </a:prstGeom>
          <a:solidFill>
            <a:srgbClr val="4A8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3959352"/>
            <a:ext cx="51206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 i="0">
                <a:solidFill>
                  <a:srgbClr val="4A8860"/>
                </a:solidFill>
                <a:latin typeface="Calibri"/>
              </a:rPr>
              <a:t>Crystalline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4507992"/>
            <a:ext cx="5120640" cy="1463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E4ECF4"/>
                </a:solidFill>
                <a:latin typeface="Calibri"/>
              </a:rPr>
              <a:t>High zinc, special firing schedule. Grows visible crystals during slow cooling. Complex, not for beginners.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4A6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908792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 i="0">
                <a:solidFill>
                  <a:srgbClr val="E4ECF4"/>
                </a:solidFill>
                <a:latin typeface="Calibri"/>
              </a:rPr>
              <a:t>Reading a Glaze Recipe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10908792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1">
                <a:solidFill>
                  <a:srgbClr val="788C9E"/>
                </a:solidFill>
                <a:latin typeface="Calibri"/>
              </a:rPr>
              <a:t>Linen Satin Matte (LSM-01) - Wilson Ceramics production glaze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5029200" cy="5029200"/>
          </a:xfrm>
          <a:prstGeom prst="rect">
            <a:avLst/>
          </a:prstGeom>
          <a:solidFill>
            <a:srgbClr val="242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280160"/>
            <a:ext cx="46634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B8A872"/>
                </a:solidFill>
                <a:latin typeface="Calibri"/>
              </a:rPr>
              <a:t>Recipe (5000g batch)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28800"/>
            <a:ext cx="25603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E4ECF4"/>
                </a:solidFill>
                <a:latin typeface="Calibri"/>
              </a:rPr>
              <a:t>Custer Feldspar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1828800"/>
            <a:ext cx="822960" cy="5029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200" b="0" i="0">
                <a:solidFill>
                  <a:srgbClr val="E4ECF4"/>
                </a:solidFill>
                <a:latin typeface="Calibri"/>
              </a:rPr>
              <a:t>1500 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1828800"/>
            <a:ext cx="822960" cy="5029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200" b="0" i="0">
                <a:solidFill>
                  <a:srgbClr val="E4ECF4"/>
                </a:solidFill>
                <a:latin typeface="Calibri"/>
              </a:rPr>
              <a:t>30.0%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377440"/>
            <a:ext cx="25603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E4ECF4"/>
                </a:solidFill>
                <a:latin typeface="Calibri"/>
              </a:rPr>
              <a:t>Silica 325 mesh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377440"/>
            <a:ext cx="822960" cy="5029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200" b="0" i="0">
                <a:solidFill>
                  <a:srgbClr val="E4ECF4"/>
                </a:solidFill>
                <a:latin typeface="Calibri"/>
              </a:rPr>
              <a:t>900 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2377440"/>
            <a:ext cx="822960" cy="5029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200" b="0" i="0">
                <a:solidFill>
                  <a:srgbClr val="E4ECF4"/>
                </a:solidFill>
                <a:latin typeface="Calibri"/>
              </a:rPr>
              <a:t>18.0%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926080"/>
            <a:ext cx="25603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E4ECF4"/>
                </a:solidFill>
                <a:latin typeface="Calibri"/>
              </a:rPr>
              <a:t>Whiting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2926080"/>
            <a:ext cx="822960" cy="5029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200" b="0" i="0">
                <a:solidFill>
                  <a:srgbClr val="E4ECF4"/>
                </a:solidFill>
                <a:latin typeface="Calibri"/>
              </a:rPr>
              <a:t>700 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2926080"/>
            <a:ext cx="822960" cy="5029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200" b="0" i="0">
                <a:solidFill>
                  <a:srgbClr val="E4ECF4"/>
                </a:solidFill>
                <a:latin typeface="Calibri"/>
              </a:rPr>
              <a:t>14.0%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474720"/>
            <a:ext cx="25603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E4ECF4"/>
                </a:solidFill>
                <a:latin typeface="Calibri"/>
              </a:rPr>
              <a:t>EPK Kaolin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3474720"/>
            <a:ext cx="822960" cy="5029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200" b="0" i="0">
                <a:solidFill>
                  <a:srgbClr val="E4ECF4"/>
                </a:solidFill>
                <a:latin typeface="Calibri"/>
              </a:rPr>
              <a:t>500 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3474720"/>
            <a:ext cx="822960" cy="5029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200" b="0" i="0">
                <a:solidFill>
                  <a:srgbClr val="E4ECF4"/>
                </a:solidFill>
                <a:latin typeface="Calibri"/>
              </a:rPr>
              <a:t>10.0%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4023360"/>
            <a:ext cx="25603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E4ECF4"/>
                </a:solidFill>
                <a:latin typeface="Calibri"/>
              </a:rPr>
              <a:t>Talc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4023360"/>
            <a:ext cx="822960" cy="5029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200" b="0" i="0">
                <a:solidFill>
                  <a:srgbClr val="E4ECF4"/>
                </a:solidFill>
                <a:latin typeface="Calibri"/>
              </a:rPr>
              <a:t>250 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0" y="4023360"/>
            <a:ext cx="822960" cy="5029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200" b="0" i="0">
                <a:solidFill>
                  <a:srgbClr val="E4ECF4"/>
                </a:solidFill>
                <a:latin typeface="Calibri"/>
              </a:rPr>
              <a:t> 5.0%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4572000"/>
            <a:ext cx="25603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E4ECF4"/>
                </a:solidFill>
                <a:latin typeface="Calibri"/>
              </a:rPr>
              <a:t>Zinc Oxide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4572000"/>
            <a:ext cx="822960" cy="5029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200" b="0" i="0">
                <a:solidFill>
                  <a:srgbClr val="E4ECF4"/>
                </a:solidFill>
                <a:latin typeface="Calibri"/>
              </a:rPr>
              <a:t>150 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0" y="4572000"/>
            <a:ext cx="822960" cy="5029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200" b="0" i="0">
                <a:solidFill>
                  <a:srgbClr val="E4ECF4"/>
                </a:solidFill>
                <a:latin typeface="Calibri"/>
              </a:rPr>
              <a:t> 3.0%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5120640"/>
            <a:ext cx="25603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B8A872"/>
                </a:solidFill>
                <a:latin typeface="Calibri"/>
              </a:rPr>
              <a:t>TOTAL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0" y="5120640"/>
            <a:ext cx="822960" cy="5029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200" b="1" i="0">
                <a:solidFill>
                  <a:srgbClr val="B8A872"/>
                </a:solidFill>
                <a:latin typeface="Calibri"/>
              </a:rPr>
              <a:t>4000 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0" y="5120640"/>
            <a:ext cx="822960" cy="5029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200" b="1" i="0">
                <a:solidFill>
                  <a:srgbClr val="B8A872"/>
                </a:solidFill>
                <a:latin typeface="Calibri"/>
              </a:rPr>
              <a:t>80.0%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760720" y="1188720"/>
            <a:ext cx="5943600" cy="5029200"/>
          </a:xfrm>
          <a:prstGeom prst="rect">
            <a:avLst/>
          </a:prstGeom>
          <a:solidFill>
            <a:srgbClr val="242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897880" y="1280160"/>
            <a:ext cx="5486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B8A872"/>
                </a:solidFill>
                <a:latin typeface="Calibri"/>
              </a:rPr>
              <a:t>What the Recipe Tells Us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97880" y="1828800"/>
            <a:ext cx="1645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788C9E"/>
                </a:solidFill>
                <a:latin typeface="Calibri"/>
              </a:rPr>
              <a:t>Glass formers: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97880" y="2157984"/>
            <a:ext cx="5303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E4ECF4"/>
                </a:solidFill>
                <a:latin typeface="Calibri"/>
              </a:rPr>
              <a:t>Silica (SiO2)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97880" y="2542032"/>
            <a:ext cx="1645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788C9E"/>
                </a:solidFill>
                <a:latin typeface="Calibri"/>
              </a:rPr>
              <a:t>Primary flux: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97880" y="2871216"/>
            <a:ext cx="5303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E4ECF4"/>
                </a:solidFill>
                <a:latin typeface="Calibri"/>
              </a:rPr>
              <a:t>Calcium (whiting) + potassium/sodium (feldspar)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97880" y="3255264"/>
            <a:ext cx="1645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788C9E"/>
                </a:solidFill>
                <a:latin typeface="Calibri"/>
              </a:rPr>
              <a:t>Secondary flux: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97880" y="3584448"/>
            <a:ext cx="5303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E4ECF4"/>
                </a:solidFill>
                <a:latin typeface="Calibri"/>
              </a:rPr>
              <a:t>Magnesium (talc) + zinc oxide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97880" y="3968496"/>
            <a:ext cx="1645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788C9E"/>
                </a:solidFill>
                <a:latin typeface="Calibri"/>
              </a:rPr>
              <a:t>Stabilizer: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97880" y="4297680"/>
            <a:ext cx="5303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E4ECF4"/>
                </a:solidFill>
                <a:latin typeface="Calibri"/>
              </a:rPr>
              <a:t>Alumina (EPK + feldspar)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97880" y="4681728"/>
            <a:ext cx="1645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788C9E"/>
                </a:solidFill>
                <a:latin typeface="Calibri"/>
              </a:rPr>
              <a:t>Colorants: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97880" y="5010912"/>
            <a:ext cx="5303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E4ECF4"/>
                </a:solidFill>
                <a:latin typeface="Calibri"/>
              </a:rPr>
              <a:t>None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97880" y="5394960"/>
            <a:ext cx="1645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788C9E"/>
                </a:solidFill>
                <a:latin typeface="Calibri"/>
              </a:rPr>
              <a:t>Surface prediction: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97880" y="5724144"/>
            <a:ext cx="5303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E4ECF4"/>
                </a:solidFill>
                <a:latin typeface="Calibri"/>
              </a:rPr>
              <a:t>Satin matte, warm off-white, low movement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4A6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908792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 i="0">
                <a:solidFill>
                  <a:srgbClr val="E4ECF4"/>
                </a:solidFill>
                <a:latin typeface="Calibri"/>
              </a:rPr>
              <a:t>Glaze Problem Diagnosis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10908792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1">
                <a:solidFill>
                  <a:srgbClr val="788C9E"/>
                </a:solidFill>
                <a:latin typeface="Calibri"/>
              </a:rPr>
              <a:t>Failures are data - read them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188720"/>
          <a:ext cx="1124712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883920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Problem</a:t>
                      </a:r>
                    </a:p>
                  </a:txBody>
                  <a:tcPr>
                    <a:solidFill>
                      <a:srgbClr val="4A6E9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Symptom</a:t>
                      </a:r>
                    </a:p>
                  </a:txBody>
                  <a:tcPr>
                    <a:solidFill>
                      <a:srgbClr val="4A6E9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Likely Cause and Fix</a:t>
                      </a:r>
                    </a:p>
                  </a:txBody>
                  <a:tcPr>
                    <a:solidFill>
                      <a:srgbClr val="4A6E9A"/>
                    </a:solidFill>
                  </a:tcPr>
                </a:tc>
              </a:tr>
              <a:tr h="8839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4ECF4"/>
                          </a:solidFill>
                          <a:latin typeface="Calibri"/>
                        </a:rPr>
                        <a:t>Crawling</a:t>
                      </a:r>
                    </a:p>
                  </a:txBody>
                  <a:tcPr>
                    <a:solidFill>
                      <a:srgbClr val="242C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4ECF4"/>
                          </a:solidFill>
                          <a:latin typeface="Calibri"/>
                        </a:rPr>
                        <a:t>Glaze pulls away from surface in lumps during firing</a:t>
                      </a:r>
                    </a:p>
                  </a:txBody>
                  <a:tcPr>
                    <a:solidFill>
                      <a:srgbClr val="242C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4ECF4"/>
                          </a:solidFill>
                          <a:latin typeface="Calibri"/>
                        </a:rPr>
                        <a:t>Too thick application, dusty bisqueware, or high clay content shrinking glaze</a:t>
                      </a:r>
                    </a:p>
                  </a:txBody>
                  <a:tcPr>
                    <a:solidFill>
                      <a:srgbClr val="242C38"/>
                    </a:solidFill>
                  </a:tcPr>
                </a:tc>
              </a:tr>
              <a:tr h="8839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4ECF4"/>
                          </a:solidFill>
                          <a:latin typeface="Calibri"/>
                        </a:rPr>
                        <a:t>Pinholing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4ECF4"/>
                          </a:solidFill>
                          <a:latin typeface="Calibri"/>
                        </a:rPr>
                        <a:t>Small holes remain in fired glaze surface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4ECF4"/>
                          </a:solidFill>
                          <a:latin typeface="Calibri"/>
                        </a:rPr>
                        <a:t>Outgassing from clay body or contamination; try slower hold at peak temperature</a:t>
                      </a:r>
                    </a:p>
                  </a:txBody>
                  <a:tcPr/>
                </a:tc>
              </a:tr>
              <a:tr h="8839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4ECF4"/>
                          </a:solidFill>
                          <a:latin typeface="Calibri"/>
                        </a:rPr>
                        <a:t>Running</a:t>
                      </a:r>
                    </a:p>
                  </a:txBody>
                  <a:tcPr>
                    <a:solidFill>
                      <a:srgbClr val="242C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4ECF4"/>
                          </a:solidFill>
                          <a:latin typeface="Calibri"/>
                        </a:rPr>
                        <a:t>Glaze flows down sides, pools on shelf</a:t>
                      </a:r>
                    </a:p>
                  </a:txBody>
                  <a:tcPr>
                    <a:solidFill>
                      <a:srgbClr val="242C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4ECF4"/>
                          </a:solidFill>
                          <a:latin typeface="Calibri"/>
                        </a:rPr>
                        <a:t>Too much flux, too thick, or fired too high. Adjust flux, reduce application, or fire lower</a:t>
                      </a:r>
                    </a:p>
                  </a:txBody>
                  <a:tcPr>
                    <a:solidFill>
                      <a:srgbClr val="242C38"/>
                    </a:solidFill>
                  </a:tcPr>
                </a:tc>
              </a:tr>
              <a:tr h="8839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4ECF4"/>
                          </a:solidFill>
                          <a:latin typeface="Calibri"/>
                        </a:rPr>
                        <a:t>Crawling on edges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4ECF4"/>
                          </a:solidFill>
                          <a:latin typeface="Calibri"/>
                        </a:rPr>
                        <a:t>Glaze flakes off sharp edges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4ECF4"/>
                          </a:solidFill>
                          <a:latin typeface="Calibri"/>
                        </a:rPr>
                        <a:t>Sharp edges do not hold glaze; soften edges before glazing</a:t>
                      </a:r>
                    </a:p>
                  </a:txBody>
                  <a:tcPr/>
                </a:tc>
              </a:tr>
              <a:tr h="8839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4ECF4"/>
                          </a:solidFill>
                          <a:latin typeface="Calibri"/>
                        </a:rPr>
                        <a:t>Color not as expected</a:t>
                      </a:r>
                    </a:p>
                  </a:txBody>
                  <a:tcPr>
                    <a:solidFill>
                      <a:srgbClr val="242C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4ECF4"/>
                          </a:solidFill>
                          <a:latin typeface="Calibri"/>
                        </a:rPr>
                        <a:t>Fired color differs from recipe</a:t>
                      </a:r>
                    </a:p>
                  </a:txBody>
                  <a:tcPr>
                    <a:solidFill>
                      <a:srgbClr val="242C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4ECF4"/>
                          </a:solidFill>
                          <a:latin typeface="Calibri"/>
                        </a:rPr>
                        <a:t>Different supplier batch, SG wrong, application too thin or thick, kiln position difference</a:t>
                      </a:r>
                    </a:p>
                  </a:txBody>
                  <a:tcPr>
                    <a:solidFill>
                      <a:srgbClr val="242C3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4A6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7315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 i="0">
                <a:solidFill>
                  <a:srgbClr val="E4ECF4"/>
                </a:solidFill>
                <a:latin typeface="Calibri"/>
              </a:rPr>
              <a:t>This Week's Lab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1247120" cy="5212080"/>
          </a:xfrm>
          <a:prstGeom prst="rect">
            <a:avLst/>
          </a:prstGeom>
          <a:solidFill>
            <a:srgbClr val="242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B8A872"/>
                </a:solidFill>
                <a:latin typeface="Calibri"/>
              </a:rPr>
              <a:t>Assignment: Mix, Apply, and Test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E4ECF4"/>
                </a:solidFill>
                <a:latin typeface="Calibri"/>
              </a:rPr>
              <a:t>  Mix a batch of Linen Satin Matte (LSM-01) at 500g using the recipe on your handout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E4ECF4"/>
                </a:solidFill>
                <a:latin typeface="Calibri"/>
              </a:rPr>
              <a:t>  Apply it to two test tiles at two different thicknesses - label both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E4ECF4"/>
                </a:solidFill>
                <a:latin typeface="Calibri"/>
              </a:rPr>
              <a:t>  Glaze one cylinder from Project 2 with LSM-01 using the dipping method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E4ECF4"/>
                </a:solidFill>
                <a:latin typeface="Calibri"/>
              </a:rPr>
              <a:t>  Fire the test tiles and cylinder together in the next bisque/glaze cycle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E4ECF4"/>
                </a:solidFill>
                <a:latin typeface="Calibri"/>
              </a:rPr>
              <a:t>  Document your SG measurement and application method on your glaze notes sheet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09360"/>
            <a:ext cx="10058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1">
                <a:solidFill>
                  <a:srgbClr val="788C9E"/>
                </a:solidFill>
                <a:latin typeface="Calibri"/>
              </a:rPr>
              <a:t>Questions? Office hours by appointment - james.wilson@ucharleston.edu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