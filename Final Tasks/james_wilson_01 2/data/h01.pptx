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2560320"/>
            <a:ext cx="12115800" cy="36576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EDE0CC"/>
                </a:solidFill>
                <a:latin typeface="Calibri"/>
              </a:rPr>
              <a:t>Selling Handmade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1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 dirty="0">
                <a:solidFill>
                  <a:srgbClr val="9A8770"/>
                </a:solidFill>
                <a:latin typeface="Calibri"/>
              </a:rPr>
              <a:t>A practical workshop for studio artists and craft makers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1"/>
            <a:ext cx="7315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9A862"/>
                </a:solidFill>
                <a:latin typeface="Calibri"/>
              </a:rPr>
              <a:t>James Wilson - Wilson Ceramics
Vera Simmons - Vera's Fiber Studio
Charleston Public Library  |  October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087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9A8770"/>
                </a:solidFill>
                <a:latin typeface="Calibri"/>
              </a:rPr>
              <a:t>A two-hour workshop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57200" cy="621792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251C14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25296"/>
            <a:ext cx="5486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E0CC"/>
                </a:solidFill>
                <a:latin typeface="Calibri"/>
              </a:rPr>
              <a:t>Is an online shop right for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A8770"/>
                </a:solidFill>
                <a:latin typeface="Calibri"/>
              </a:rPr>
              <a:t>Honest questions before you 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75104"/>
            <a:ext cx="457200" cy="621792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6654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251C14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5486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E0CC"/>
                </a:solidFill>
                <a:latin typeface="Calibri"/>
              </a:rPr>
              <a:t>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40864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A8770"/>
                </a:solidFill>
                <a:latin typeface="Calibri"/>
              </a:rPr>
              <a:t>Etsy, your own site, Instagram Shop, local markets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61488"/>
            <a:ext cx="457200" cy="621792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852928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251C14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98064"/>
            <a:ext cx="5486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E0CC"/>
                </a:solidFill>
                <a:latin typeface="Calibri"/>
              </a:rPr>
              <a:t>Photography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27248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A8770"/>
                </a:solidFill>
                <a:latin typeface="Calibri"/>
              </a:rPr>
              <a:t>The most important skill you will develop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47872"/>
            <a:ext cx="457200" cy="621792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3931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251C14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84448"/>
            <a:ext cx="5486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E0CC"/>
                </a:solidFill>
                <a:latin typeface="Calibri"/>
              </a:rPr>
              <a:t>Pricing your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1363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A8770"/>
                </a:solidFill>
                <a:latin typeface="Calibri"/>
              </a:rPr>
              <a:t>Materials + labour + overhead - the full formula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34256"/>
            <a:ext cx="457200" cy="621792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425696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251C14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370832"/>
            <a:ext cx="5486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E0CC"/>
                </a:solidFill>
                <a:latin typeface="Calibri"/>
              </a:rPr>
              <a:t>Shipping handmade ceramics and fiber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70001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A8770"/>
                </a:solidFill>
                <a:latin typeface="Calibri"/>
              </a:rPr>
              <a:t>Packaging, insurance, free shipping traps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457200" cy="621792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251C14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57216"/>
            <a:ext cx="5486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DE0CC"/>
                </a:solidFill>
                <a:latin typeface="Calibri"/>
              </a:rPr>
              <a:t>Customer service and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864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A8770"/>
                </a:solidFill>
                <a:latin typeface="Calibri"/>
              </a:rPr>
              <a:t>Response time, when things go wrong, review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Before You Open a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087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9A8770"/>
                </a:solidFill>
                <a:latin typeface="Calibri"/>
              </a:rPr>
              <a:t>Three questions worth sitting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Before You Open a 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8368"/>
            <a:ext cx="109087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9A8770"/>
                </a:solidFill>
                <a:latin typeface="Calibri"/>
              </a:rPr>
              <a:t>Three questions worth sitting with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188720"/>
            <a:ext cx="3566160" cy="438912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188720"/>
            <a:ext cx="3566160" cy="54864"/>
          </a:xfrm>
          <a:prstGeom prst="rect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41732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C9A862"/>
                </a:solidFill>
                <a:latin typeface="Calibri"/>
              </a:rPr>
              <a:t>Can you make consistently?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94560"/>
            <a:ext cx="32918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E0CC"/>
                </a:solidFill>
                <a:latin typeface="Calibri"/>
              </a:rPr>
              <a:t>Platforms reward regular listing. Seasonal or burst makers face different dynamics.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3566160" cy="438912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1188720"/>
            <a:ext cx="3566160" cy="54864"/>
          </a:xfrm>
          <a:prstGeom prst="rect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7992" y="141732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C9A862"/>
                </a:solidFill>
                <a:latin typeface="Calibri"/>
              </a:rPr>
              <a:t>Is your work photogenic?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194560"/>
            <a:ext cx="32918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E0CC"/>
                </a:solidFill>
                <a:latin typeface="Calibri"/>
              </a:rPr>
              <a:t>Online buyers buy photographs. Your photograph is the piece, as far as they are concerned.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1188720"/>
            <a:ext cx="3566160" cy="438912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84464" y="1188720"/>
            <a:ext cx="3566160" cy="54864"/>
          </a:xfrm>
          <a:prstGeom prst="rect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21624" y="141732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C9A862"/>
                </a:solidFill>
                <a:latin typeface="Calibri"/>
              </a:rPr>
              <a:t>Are you ready to be a business?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2194560"/>
            <a:ext cx="32918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E0CC"/>
                </a:solidFill>
                <a:latin typeface="Calibri"/>
              </a:rPr>
              <a:t>Shipping, customer messages, returns, and reviews are part of the job - not extras.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Platform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087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9A8770"/>
                </a:solidFill>
                <a:latin typeface="Calibri"/>
              </a:rPr>
              <a:t>Choose one and do it well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24912" cy="502920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24912" cy="64008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8B6040"/>
                </a:solidFill>
                <a:latin typeface="Calibri"/>
              </a:rPr>
              <a:t>Etsy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468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9A8770"/>
                </a:solidFill>
                <a:latin typeface="Calibri"/>
              </a:rPr>
              <a:t>$0.20/listing + 6.5% transaction + 3% 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Largest audience for handmade. High competition. Best starting point for most makers.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188720"/>
            <a:ext cx="2724912" cy="502920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0128" y="1188720"/>
            <a:ext cx="2724912" cy="64008"/>
          </a:xfrm>
          <a:prstGeom prst="rect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8" y="128016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C9A862"/>
                </a:solidFill>
                <a:latin typeface="Calibri"/>
              </a:rPr>
              <a:t>Your Own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828800"/>
            <a:ext cx="2468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9A8770"/>
                </a:solidFill>
                <a:latin typeface="Calibri"/>
              </a:rPr>
              <a:t>Hosting ~$20/mo + 2.9%+30c payment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51460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Full control. No built-in traffic. Requires SEO and social to drive visitors.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188720"/>
            <a:ext cx="2724912" cy="502920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4496" y="1188720"/>
            <a:ext cx="2724912" cy="64008"/>
          </a:xfrm>
          <a:prstGeom prst="rect">
            <a:avLst/>
          </a:prstGeom>
          <a:solidFill>
            <a:srgbClr val="9A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128016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A8770"/>
                </a:solidFill>
                <a:latin typeface="Calibri"/>
              </a:rPr>
              <a:t>Instagram 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1828800"/>
            <a:ext cx="2468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9A8770"/>
                </a:solidFill>
                <a:latin typeface="Calibri"/>
              </a:rPr>
              <a:t>Facebook Checkout fees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51460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Strong supplement if you have following. Not a standalone channel.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188720"/>
            <a:ext cx="2724912" cy="502920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98864" y="1188720"/>
            <a:ext cx="2724912" cy="64008"/>
          </a:xfrm>
          <a:prstGeom prst="rect">
            <a:avLst/>
          </a:prstGeom>
          <a:solidFill>
            <a:srgbClr val="5A8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81744" y="128016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5A8245"/>
                </a:solidFill>
                <a:latin typeface="Calibri"/>
              </a:rPr>
              <a:t>Local Markets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1828800"/>
            <a:ext cx="2468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9A8770"/>
                </a:solidFill>
                <a:latin typeface="Calibri"/>
              </a:rPr>
              <a:t>Booth fee or consignment 30-40%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514600"/>
            <a:ext cx="2468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Face-to-face relationship. No shipping. Premium buyers. Tamarack, Capitol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Photography is Not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087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9A8770"/>
                </a:solidFill>
                <a:latin typeface="Calibri"/>
              </a:rPr>
              <a:t>The highest-leverage skill in online selling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132320" cy="502920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EDE0CC"/>
                </a:solidFill>
                <a:latin typeface="Calibri"/>
              </a:rPr>
              <a:t>  North light or indirect window light - almost always better than studio lights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EDE0CC"/>
                </a:solidFill>
                <a:latin typeface="Calibri"/>
              </a:rPr>
              <a:t>  Neutral background: linen cloth, white foam board, raw wood - nothing competing with the work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EDE0CC"/>
                </a:solidFill>
                <a:latin typeface="Calibri"/>
              </a:rPr>
              <a:t>  Show scale: a hand, a spoon, a familiar object next to the piece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EDE0CC"/>
                </a:solidFill>
                <a:latin typeface="Calibri"/>
              </a:rPr>
              <a:t>  Show the piece in use: coffee in the mug, fruit in the bowl, plants in the planter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EDE0CC"/>
                </a:solidFill>
                <a:latin typeface="Calibri"/>
              </a:rPr>
              <a:t>  Show the bottom and any maker's mark - buyers who care about craft want to see it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EDE0CC"/>
                </a:solidFill>
                <a:latin typeface="Calibri"/>
              </a:rPr>
              <a:t>  Edit for accuracy, not enhancement - the glaze color in the photo should match the real thing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EDE0CC"/>
                </a:solidFill>
                <a:latin typeface="Calibri"/>
              </a:rPr>
              <a:t>  Batch your shoots: one good setup, multiple listings photographed in sequence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188720"/>
            <a:ext cx="3657600" cy="502920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32588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9A862"/>
                </a:solidFill>
                <a:latin typeface="Calibri"/>
              </a:rPr>
              <a:t>Photo checklist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874519"/>
            <a:ext cx="237744" cy="23774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18288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Main shot on neutral BG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496311"/>
            <a:ext cx="237744" cy="23774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2450592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In-use lifestyle 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118103"/>
            <a:ext cx="237744" cy="23774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072384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Scale reference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739895"/>
            <a:ext cx="237744" cy="23774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3694176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Bottom / signature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4361687"/>
            <a:ext cx="237744" cy="23774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4315968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Detail / texture close-up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4983479"/>
            <a:ext cx="237744" cy="23774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4937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EDE0CC"/>
                </a:solidFill>
                <a:latin typeface="Calibri"/>
              </a:rPr>
              <a:t>All edited consistently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Pricing: The Full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087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9A8770"/>
                </a:solidFill>
                <a:latin typeface="Calibri"/>
              </a:rPr>
              <a:t>Most makers underprice because they skip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91440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0879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C9A862"/>
                </a:solidFill>
                <a:latin typeface="Calibri"/>
              </a:rPr>
              <a:t>Materials  +  (Hourly Rate x Hours)  +  Overhead Share  =  Wholesale Price   x 2-2.5  =  Retail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8E4035"/>
                </a:solidFill>
                <a:latin typeface="Calibri"/>
              </a:rPr>
              <a:t>Common Underpricing Traps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029200" cy="338328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EDE0CC"/>
                </a:solidFill>
                <a:latin typeface="Calibri"/>
              </a:rPr>
              <a:t>  Not counting your own time at all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EDE0CC"/>
                </a:solidFill>
                <a:latin typeface="Calibri"/>
              </a:rPr>
              <a:t>  Not accounting for failed pieces (15% failure = your successes must cover the cost of failures)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EDE0CC"/>
                </a:solidFill>
                <a:latin typeface="Calibri"/>
              </a:rPr>
              <a:t>  Not building in Etsy fees and shipping materials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EDE0CC"/>
                </a:solidFill>
                <a:latin typeface="Calibri"/>
              </a:rPr>
              <a:t>  Pricing based on what feels comfortable to charge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EDE0CC"/>
                </a:solidFill>
                <a:latin typeface="Calibri"/>
              </a:rPr>
              <a:t>  Comparing prices to mass-produced alternatives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5760720" cy="384048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23774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9A862"/>
                </a:solidFill>
                <a:latin typeface="Calibri"/>
              </a:rPr>
              <a:t>Example: A Ceramic Mug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9260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>
                <a:solidFill>
                  <a:srgbClr val="EDE0CC"/>
                </a:solidFill>
                <a:latin typeface="Calibri"/>
              </a:rPr>
              <a:t>Clay, glaze, materials:  $2.80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DE0CC"/>
                </a:solidFill>
                <a:latin typeface="Calibri"/>
              </a:rPr>
              <a:t>Time (throw, trim, glaze, pack): 45 min @ $28/hr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DE0CC"/>
                </a:solidFill>
                <a:latin typeface="Calibri"/>
              </a:rPr>
              <a:t>Overhead share (kiln, studio): $3.00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EDE0CC"/>
                </a:solidFill>
                <a:latin typeface="Calibri"/>
              </a:rPr>
              <a:t>Failure allocation (15%): $2.60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EDE0CC"/>
                </a:solidFill>
                <a:latin typeface="Calibri"/>
              </a:rPr>
              <a:t>Wholesale: $29.40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5A8245"/>
                </a:solidFill>
                <a:latin typeface="Calibri"/>
              </a:rPr>
              <a:t>Retail (2x): $58.80  -&gt;  List at $60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Shipping Handmade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087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9A8770"/>
                </a:solidFill>
                <a:latin typeface="Calibri"/>
              </a:rPr>
              <a:t>Packaging failures kill reviews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224028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64008" cy="2240280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8B6040"/>
                </a:solidFill>
                <a:latin typeface="Calibri"/>
              </a:rPr>
              <a:t>Double-box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120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E0CC"/>
                </a:solidFill>
                <a:latin typeface="Calibri"/>
              </a:rPr>
              <a:t>Always for pieces over 1 lb. Inner box of wrapping + outer shipping box. No exceptions.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577840" cy="224028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64008" cy="2240280"/>
          </a:xfrm>
          <a:prstGeom prst="rect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C9A862"/>
                </a:solidFill>
                <a:latin typeface="Calibri"/>
              </a:rPr>
              <a:t>Insure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E0CC"/>
                </a:solidFill>
                <a:latin typeface="Calibri"/>
              </a:rPr>
              <a:t>Declare the full value. UPS and USPS both cover declared value. The process is slow but it 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577840" cy="224028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64008" cy="2240280"/>
          </a:xfrm>
          <a:prstGeom prst="rect">
            <a:avLst/>
          </a:prstGeom>
          <a:solidFill>
            <a:srgbClr val="8E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8E4035"/>
                </a:solidFill>
                <a:latin typeface="Calibri"/>
              </a:rPr>
              <a:t>Free shipping 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5120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E0CC"/>
                </a:solidFill>
                <a:latin typeface="Calibri"/>
              </a:rPr>
              <a:t>Etsy favors free shipping in search. Build the cost into the price if you offer it. Do not absorb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5577840" cy="224028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64008" cy="2240280"/>
          </a:xfrm>
          <a:prstGeom prst="rect">
            <a:avLst/>
          </a:prstGeom>
          <a:solidFill>
            <a:srgbClr val="9A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9A8770"/>
                </a:solidFill>
                <a:latin typeface="Calibri"/>
              </a:rPr>
              <a:t>Know your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5120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DE0CC"/>
                </a:solidFill>
                <a:latin typeface="Calibri"/>
              </a:rPr>
              <a:t>Stoneware is heavy. A 14 oz mug boxes to 24+ oz. Know your piece weights before listing.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Customer Service and 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087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9A8770"/>
                </a:solidFill>
                <a:latin typeface="Calibri"/>
              </a:rPr>
              <a:t>Every message is a sales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solidFill>
            <a:srgbClr val="3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EDE0CC"/>
                </a:solidFill>
                <a:latin typeface="Calibri"/>
              </a:rPr>
              <a:t>  Respond within 24 hours on weekdays - Etsy tracks this and it affects Star Seller status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DE0CC"/>
                </a:solidFill>
                <a:latin typeface="Calibri"/>
              </a:rPr>
              <a:t>  Set realistic processing times. Most buyers will wait 2 to 4 weeks if the listing is clear about it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DE0CC"/>
                </a:solidFill>
                <a:latin typeface="Calibri"/>
              </a:rPr>
              <a:t>  When something goes wrong, respond fast with a resolution - a replaced piece earns more than a refund alone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DE0CC"/>
                </a:solidFill>
                <a:latin typeface="Calibri"/>
              </a:rPr>
              <a:t>  Reviews are social proof - a polite follow-up after delivery asking about the piece is not pushy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DE0CC"/>
                </a:solidFill>
                <a:latin typeface="Calibri"/>
              </a:rPr>
              <a:t>  Do not argue in public review responses - keep it brief, factual, and professional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EDE0CC"/>
                </a:solidFill>
                <a:latin typeface="Calibri"/>
              </a:rPr>
              <a:t>  Your repeat customer rate matters more than any single sale - make the relationship worth returning 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087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EDE0CC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66928" cy="822960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51C14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DE0CC"/>
                </a:solidFill>
                <a:latin typeface="Calibri"/>
              </a:rPr>
              <a:t>Online selling is a business layered on top of making. Both require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76855"/>
            <a:ext cx="566928" cy="822960"/>
          </a:xfrm>
          <a:prstGeom prst="rect">
            <a:avLst/>
          </a:prstGeom>
          <a:solidFill>
            <a:srgbClr val="C9A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14015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51C14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68295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DE0CC"/>
                </a:solidFill>
                <a:latin typeface="Calibri"/>
              </a:rPr>
              <a:t>Photography is the highest-leverage investment you can make.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19270"/>
            <a:ext cx="566928" cy="822960"/>
          </a:xfrm>
          <a:prstGeom prst="rect">
            <a:avLst/>
          </a:prstGeom>
          <a:solidFill>
            <a:srgbClr val="8E4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0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51C14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1071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DE0CC"/>
                </a:solidFill>
                <a:latin typeface="Calibri"/>
              </a:rPr>
              <a:t>Price for what it costs - not for what feels comfortable.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61685"/>
            <a:ext cx="566928" cy="822960"/>
          </a:xfrm>
          <a:prstGeom prst="rect">
            <a:avLst/>
          </a:prstGeom>
          <a:solidFill>
            <a:srgbClr val="5A8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498845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51C14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53125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DE0CC"/>
                </a:solidFill>
                <a:latin typeface="Calibri"/>
              </a:rPr>
              <a:t>Start with one platform, do it well, then expand.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04100"/>
            <a:ext cx="566928" cy="822960"/>
          </a:xfrm>
          <a:prstGeom prst="rect">
            <a:avLst/>
          </a:prstGeom>
          <a:solidFill>
            <a:srgbClr val="9A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541260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251C14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9554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EDE0CC"/>
                </a:solidFill>
                <a:latin typeface="Calibri"/>
              </a:rPr>
              <a:t>Build your email list from day one. You do not own your Etsy shop - you own your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EDE0CC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36576"/>
          </a:xfrm>
          <a:prstGeom prst="rect">
            <a:avLst/>
          </a:prstGeom>
          <a:solidFill>
            <a:srgbClr val="8B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9A862"/>
                </a:solidFill>
                <a:latin typeface="Calibri"/>
              </a:rPr>
              <a:t>James Wilson  |  Wilson Ceramics
208 Capitol Street, Charleston WV 25301
james.wilson.chas@gmail.com
@wilson.ceramics on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8463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9A862"/>
                </a:solidFill>
                <a:latin typeface="Calibri"/>
              </a:rPr>
              <a:t>Vera Simmons  |  Vera's Fiber Studio
Charleston WV
vera.simmons.wv@gmail.com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9A8770"/>
                </a:solidFill>
                <a:latin typeface="Calibri"/>
              </a:rPr>
              <a:t>Questions, follow-up, and one-on-one consultations welcome after the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971</Words>
  <Application>Microsoft Office PowerPoint</Application>
  <PresentationFormat>Custom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 Bhushan</cp:lastModifiedBy>
  <cp:revision>2</cp:revision>
  <dcterms:created xsi:type="dcterms:W3CDTF">2013-01-27T09:14:16Z</dcterms:created>
  <dcterms:modified xsi:type="dcterms:W3CDTF">2026-06-30T13:48:43Z</dcterms:modified>
  <cp:category/>
</cp:coreProperties>
</file>