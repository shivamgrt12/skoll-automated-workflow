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3291840"/>
            <a:ext cx="1209751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600" b="1" i="0">
                <a:solidFill>
                  <a:srgbClr val="E8F0E0"/>
                </a:solidFill>
                <a:latin typeface="Calibri"/>
              </a:rPr>
              <a:t>Holiday Glaze Collection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809678"/>
                </a:solidFill>
                <a:latin typeface="Calibri"/>
              </a:rPr>
              <a:t>Wilson Ceramics  |  Production and Market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2A46A"/>
                </a:solidFill>
                <a:latin typeface="Calibri"/>
              </a:rPr>
              <a:t>Capitol Market Holiday Fair - December 5, 2026
Tamarack Fall Showcase - October 17,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James A. Wilson   |   208 Capitol Street, Charleston WV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11831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The Seasonal Revenue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183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809678"/>
                </a:solidFill>
                <a:latin typeface="Calibri"/>
              </a:rPr>
              <a:t>December is the highest revenue month - but only if production is planned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13716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" cy="13716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25237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5A804A"/>
                </a:solidFill>
                <a:latin typeface="Calibri"/>
              </a:rPr>
              <a:t>$3,480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55648"/>
            <a:ext cx="2523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Dec 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88720"/>
            <a:ext cx="2743200" cy="13716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88720"/>
            <a:ext cx="36576" cy="1371600"/>
          </a:xfrm>
          <a:prstGeom prst="rect">
            <a:avLst/>
          </a:prstGeom>
          <a:solidFill>
            <a:srgbClr val="8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98448"/>
            <a:ext cx="25237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809678"/>
                </a:solidFill>
                <a:latin typeface="Calibri"/>
              </a:rPr>
              <a:t>$2,940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55648"/>
            <a:ext cx="2523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Oct 2025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188720"/>
            <a:ext cx="2743200" cy="13716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188720"/>
            <a:ext cx="36576" cy="1371600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98448"/>
            <a:ext cx="25237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8B6040"/>
                </a:solidFill>
                <a:latin typeface="Calibri"/>
              </a:rPr>
              <a:t>$310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55648"/>
            <a:ext cx="2523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Jan 2026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188720"/>
            <a:ext cx="2743200" cy="13716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188720"/>
            <a:ext cx="36576" cy="1371600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298448"/>
            <a:ext cx="25237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C2A46A"/>
                </a:solidFill>
                <a:latin typeface="Calibri"/>
              </a:rPr>
              <a:t>+18%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755648"/>
            <a:ext cx="2523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Dec vs Oct lift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11247120" cy="329184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260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B6040"/>
                </a:solidFill>
                <a:latin typeface="Calibri"/>
              </a:rP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832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8F0E0"/>
                </a:solidFill>
                <a:latin typeface="Calibri"/>
              </a:rPr>
              <a:t>December revenue depends on inventory made in October and November - firing cycles take 6 to 10 weeks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8F0E0"/>
                </a:solidFill>
                <a:latin typeface="Calibri"/>
              </a:rPr>
              <a:t>Without a seasonal production plan, holiday booth space is wasted on thin inventory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8F0E0"/>
                </a:solidFill>
                <a:latin typeface="Calibri"/>
              </a:rPr>
              <a:t>2025 holiday season showed strong demand for gift-sized functional pieces and curated color sets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8F0E0"/>
                </a:solidFill>
                <a:latin typeface="Calibri"/>
              </a:rPr>
              <a:t>2026 plan: defined collection, coordinated palette, production calendar with firing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11831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The 2026 Holiday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183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809678"/>
                </a:solidFill>
                <a:latin typeface="Calibri"/>
              </a:rPr>
              <a:t>Three coordinated glazes, six core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82296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A804A"/>
                </a:solidFill>
                <a:latin typeface="Calibri"/>
              </a:rPr>
              <a:t>Forest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Deep earthy green-brown, textured satin surface. Feldspar and iron with rutile break.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3657600" cy="54864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6177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09678"/>
                </a:solidFill>
                <a:latin typeface="Calibri"/>
              </a:rPr>
              <a:t>Forms: Mugs, bowls, small vases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188720"/>
            <a:ext cx="3657600" cy="50292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188720"/>
            <a:ext cx="3657600" cy="82296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9844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2A46A"/>
                </a:solidFill>
                <a:latin typeface="Calibri"/>
              </a:rPr>
              <a:t>Hearthstone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Warm amber satin. Iron and titanium give warmth and slight orange variation at rim.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4526280"/>
            <a:ext cx="3657600" cy="54864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6177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09678"/>
                </a:solidFill>
                <a:latin typeface="Calibri"/>
              </a:rPr>
              <a:t>Forms: Mugs, planters, oil bottles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188720"/>
            <a:ext cx="3657600" cy="502920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1188720"/>
            <a:ext cx="3657600" cy="82296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29844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E8F0E0"/>
                </a:solidFill>
                <a:latin typeface="Calibri"/>
              </a:rPr>
              <a:t>Snowline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96596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Clean off-white gloss. High silica, calcium flux. Crisp against dark clay body.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4" y="4526280"/>
            <a:ext cx="3657600" cy="54864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6177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09678"/>
                </a:solidFill>
                <a:latin typeface="Calibri"/>
              </a:rPr>
              <a:t>Forms: Plates, sake cups, tumblers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11831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Production Calendar: July - December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183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809678"/>
                </a:solidFill>
                <a:latin typeface="Calibri"/>
              </a:rPr>
              <a:t>Firing cycle planning to meet December inventory target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9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5A8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5A8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5A8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Pieces</a:t>
                      </a:r>
                    </a:p>
                  </a:txBody>
                  <a:tcPr>
                    <a:solidFill>
                      <a:srgbClr val="5A8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Firing</a:t>
                      </a:r>
                    </a:p>
                  </a:txBody>
                  <a:tcPr>
                    <a:solidFill>
                      <a:srgbClr val="5A80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Throwing 1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Core mug and bowl forms - all three glaze lines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60 pieces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Bisque 1: Aug 5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Throwing 2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August 2026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Vases, oil bottles, planters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40 pieces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Bisque 2: Aug 28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Glazing 1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Aug - Sep 2026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Glaze fire batch 1 - Forest Floor and Hearthstone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60 pieces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Glaze fire 1: Sep 10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Throwing 3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September 2026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Plates, tumblers, sake cups for Snowline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30 pieces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Bisque 3: Sep 30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Glazing 2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Glaze fire batch 2 - Snowline pieces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30 pieces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Glaze fire 2: Oct 10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Tamarack showcase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Oct 17 2026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First public presentation of collection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30-40 pieces booth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Etsy listing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List all collection items online with new photos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C241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Capitol Market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Dec 5 2026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Holiday fair, full booth inventory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80+ pieces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8F0E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283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11831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Revenue Projection: Holiday Collection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183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809678"/>
                </a:solidFill>
                <a:latin typeface="Calibri"/>
              </a:rPr>
              <a:t>Conservative, base, and target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56032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82296"/>
          </a:xfrm>
          <a:prstGeom prst="rect">
            <a:avLst/>
          </a:prstGeom>
          <a:solidFill>
            <a:srgbClr val="8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809678"/>
                </a:solidFill>
                <a:latin typeface="Calibri"/>
              </a:rPr>
              <a:t>Conservative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$2,200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09678"/>
                </a:solidFill>
                <a:latin typeface="Calibri"/>
              </a:rPr>
              <a:t>60 pieces sold avg $37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188720"/>
            <a:ext cx="3657600" cy="256032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188720"/>
            <a:ext cx="3657600" cy="82296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5A804A"/>
                </a:solidFill>
                <a:latin typeface="Calibri"/>
              </a:rPr>
              <a:t>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$3,600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1460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09678"/>
                </a:solidFill>
                <a:latin typeface="Calibri"/>
              </a:rPr>
              <a:t>100 pieces sold avg $36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188720"/>
            <a:ext cx="3657600" cy="256032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188720"/>
            <a:ext cx="3657600" cy="82296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28016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C2A46A"/>
                </a:solidFill>
                <a:latin typeface="Calibri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783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F0E0"/>
                </a:solidFill>
                <a:latin typeface="Calibri"/>
              </a:rPr>
              <a:t>$5,200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1460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09678"/>
                </a:solidFill>
                <a:latin typeface="Calibri"/>
              </a:rPr>
              <a:t>140 pieces sold avg $37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solidFill>
            <a:srgbClr val="28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690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2A46A"/>
                </a:solidFill>
                <a:latin typeface="Calibri"/>
              </a:rPr>
              <a:t>Key assumptions and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E8F0E0"/>
                </a:solidFill>
                <a:latin typeface="Calibri"/>
              </a:rPr>
              <a:t>Base assumes same unit prices as 2025 with 15% price increase across mugs and bowls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8F0E0"/>
                </a:solidFill>
                <a:latin typeface="Calibri"/>
              </a:rPr>
              <a:t>Target assumes 3 repeat commission inquiries generated from shows (each commission avg $400+)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8F0E0"/>
                </a:solidFill>
                <a:latin typeface="Calibri"/>
              </a:rPr>
              <a:t>Risk: kiln firing failure reduces inventory. Mitigation: 20% overshoot in production count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8F0E0"/>
                </a:solidFill>
                <a:latin typeface="Calibri"/>
              </a:rPr>
              <a:t>Tamarack sell-through rate assumes 30% of booth inventory sold at one-day event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E8F0E0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July 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097280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Begin throwing batch 1 - mugs and bowls all three glaze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83664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August 5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19072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Fire bisque 1 - 60 pieces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05456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40864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September 10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40864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Glaze fire 1 - Forest Floor and Hearthstone batch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27248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62656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October 10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62656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Glaze fire 2 - Snowline batch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40"/>
            <a:ext cx="201168" cy="201168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October 16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584448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Load van for Tamarack - Vera helping with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70832"/>
            <a:ext cx="201168" cy="201168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October 17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Tamarack Fall Showcase - booth open 10 AM to 4 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92624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28032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October 20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28032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Post collection to Etsy with new photography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14416"/>
            <a:ext cx="201168" cy="201168"/>
          </a:xfrm>
          <a:prstGeom prst="rect">
            <a:avLst/>
          </a:prstGeom>
          <a:solidFill>
            <a:srgbClr val="5A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49824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December 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449824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Pack and prep for Capitol Market load-in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236208"/>
            <a:ext cx="201168" cy="201168"/>
          </a:xfrm>
          <a:prstGeom prst="rect">
            <a:avLst/>
          </a:prstGeom>
          <a:solidFill>
            <a:srgbClr val="C2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071616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9678"/>
                </a:solidFill>
                <a:latin typeface="Calibri"/>
              </a:rPr>
              <a:t>December 5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071616"/>
            <a:ext cx="8686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F0E0"/>
                </a:solidFill>
                <a:latin typeface="Calibri"/>
              </a:rPr>
              <a:t>Capitol Market Holiday Fair - full booth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