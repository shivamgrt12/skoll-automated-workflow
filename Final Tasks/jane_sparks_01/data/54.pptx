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B2D6E"/>
              </a:solidFill>
            </c:spPr>
          </c:dPt>
          <c:dPt>
            <c:idx val="1"/>
            <c:spPr>
              <a:solidFill>
                <a:srgbClr val="4A6FB0"/>
              </a:solidFill>
            </c:spPr>
          </c:dPt>
          <c:dPt>
            <c:idx val="2"/>
            <c:spPr>
              <a:solidFill>
                <a:srgbClr val="E08A2E"/>
              </a:solidFill>
            </c:spPr>
          </c:dPt>
          <c:dPt>
            <c:idx val="3"/>
            <c:spPr>
              <a:solidFill>
                <a:srgbClr val="8A4F9C"/>
              </a:solidFill>
            </c:spPr>
          </c:dPt>
          <c:dPt>
            <c:idx val="4"/>
            <c:spPr>
              <a:solidFill>
                <a:srgbClr val="3D8F7F"/>
              </a:solidFill>
            </c:spPr>
          </c:dPt>
          <c:cat>
            <c:strRef>
              <c:f>Sheet1!$A$2:$A$6</c:f>
              <c:strCache>
                <c:ptCount val="5"/>
                <c:pt idx="0">
                  <c:v>Pleadings</c:v>
                </c:pt>
                <c:pt idx="1">
                  <c:v>Correspondence</c:v>
                </c:pt>
                <c:pt idx="2">
                  <c:v>Financials</c:v>
                </c:pt>
                <c:pt idx="3">
                  <c:v>Exhibits</c:v>
                </c:pt>
                <c:pt idx="4">
                  <c:v>Chronology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matters</c:v>
                </c:pt>
              </c:strCache>
            </c:strRef>
          </c:tx>
          <c:spPr>
            <a:solidFill>
              <a:srgbClr val="4A6FB0"/>
            </a:solidFill>
          </c:spPr>
          <c:cat>
            <c:strRef>
              <c:f>Sheet1!$A$2:$A$5</c:f>
              <c:strCache>
                <c:ptCount val="4"/>
                <c:pt idx="0">
                  <c:v>Custody</c:v>
                </c:pt>
                <c:pt idx="1">
                  <c:v>Child support</c:v>
                </c:pt>
                <c:pt idx="2">
                  <c:v>Divorce</c:v>
                </c:pt>
                <c:pt idx="3">
                  <c:v>Adoption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1.jpg"/>
          <p:cNvPicPr>
            <a:picLocks noChangeAspect="1"/>
          </p:cNvPicPr>
          <p:nvPr/>
        </p:nvPicPr>
        <p:blipFill>
          <a:blip r:embed="rId2"/>
          <a:srcRect l="12000" r="12000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2B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0840" y="0"/>
            <a:ext cx="137160" cy="6858000"/>
          </a:xfrm>
          <a:prstGeom prst="rect">
            <a:avLst/>
          </a:prstGeom>
          <a:solidFill>
            <a:srgbClr val="E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852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Custody File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Organization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411480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E08A2E"/>
                </a:solidFill>
                <a:latin typeface="Georgia"/>
              </a:rPr>
              <a:t>A working system for family law paralegals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12064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Jane Sparks, Senior Paralegal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Charlotte Paralegal Association CLE, October 24,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Workshop agenda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4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4283A"/>
                </a:solidFill>
                <a:latin typeface="Calibri"/>
              </a:rPr>
              <a:t>Why organization decides outcomes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E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4283A"/>
                </a:solidFill>
                <a:latin typeface="Calibri"/>
              </a:rPr>
              <a:t>Building the matter folder, intake to filing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4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546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4283A"/>
                </a:solidFill>
                <a:latin typeface="Calibri"/>
              </a:rPr>
              <a:t>Tracking North Carolina deadlines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E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2336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4283A"/>
                </a:solidFill>
                <a:latin typeface="Calibri"/>
              </a:rPr>
              <a:t>Exhibits, affidavits, and chronology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4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89204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4283A"/>
                </a:solidFill>
                <a:latin typeface="Calibri"/>
              </a:rPr>
              <a:t>Mentoring the junior team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D6E"/>
                </a:solidFill>
                <a:latin typeface="Calibri"/>
              </a:rPr>
              <a:t>What lives in the matter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A728C"/>
                </a:solidFill>
                <a:latin typeface="Calibri"/>
              </a:rPr>
              <a:t>A consistent skeleton so any document is found in seconds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5486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371600"/>
          <a:ext cx="548640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A728C"/>
                </a:solidFill>
                <a:latin typeface="Calibri"/>
              </a:rPr>
              <a:t>Current quarter, six open matters across four 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2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CLE day and prep status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67665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394960"/>
              </a:tblGrid>
              <a:tr h="613954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anchor="ctr" marL="73152" marR="73152" marT="27432" marB="27432">
                    <a:solidFill>
                      <a:srgbClr val="2B2D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anchor="ctr" marL="73152" marR="73152" marT="27432" marB="27432">
                    <a:solidFill>
                      <a:srgbClr val="2B2D6E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9:00</a:t>
                      </a:r>
                    </a:p>
                  </a:txBody>
                  <a:tcPr anchor="ctr" marL="73152" marR="73152" marT="27432" marB="27432"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Welcome and scope</a:t>
                      </a:r>
                    </a:p>
                  </a:txBody>
                  <a:tcPr anchor="ctr" marL="73152" marR="73152" marT="27432" marB="27432">
                    <a:solidFill>
                      <a:srgbClr val="F5F6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9:30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Building the matter folder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10:30</a:t>
                      </a:r>
                    </a:p>
                  </a:txBody>
                  <a:tcPr anchor="ctr" marL="73152" marR="73152" marT="27432" marB="27432"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Tracking North Carolina deadlines</a:t>
                      </a:r>
                    </a:p>
                  </a:txBody>
                  <a:tcPr anchor="ctr" marL="73152" marR="73152" marT="27432" marB="27432">
                    <a:solidFill>
                      <a:srgbClr val="F5F6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11:30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Exhibits, affidavits, chronologies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1:00</a:t>
                      </a:r>
                    </a:p>
                  </a:txBody>
                  <a:tcPr anchor="ctr" marL="73152" marR="73152" marT="27432" marB="27432"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Adoption documentation crossover</a:t>
                      </a:r>
                    </a:p>
                  </a:txBody>
                  <a:tcPr anchor="ctr" marL="73152" marR="73152" marT="27432" marB="27432">
                    <a:solidFill>
                      <a:srgbClr val="F5F6FC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2:00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83A"/>
                          </a:solidFill>
                          <a:latin typeface="Calibri"/>
                        </a:rPr>
                        <a:t>Senior paralegal panel and Q and 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463040"/>
            <a:ext cx="38404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6916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D6E"/>
                </a:solidFill>
                <a:latin typeface="Calibri"/>
              </a:rPr>
              <a:t>Run-through readiness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651760"/>
            <a:ext cx="3383280" cy="274320"/>
          </a:xfrm>
          <a:prstGeom prst="roundRect">
            <a:avLst>
              <a:gd name="adj" fmla="val 50000"/>
            </a:avLst>
          </a:prstGeom>
          <a:solidFill>
            <a:srgbClr val="E2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2651760"/>
            <a:ext cx="2706624" cy="274320"/>
          </a:xfrm>
          <a:prstGeom prst="roundRect">
            <a:avLst>
              <a:gd name="adj" fmla="val 50000"/>
            </a:avLst>
          </a:prstGeom>
          <a:solidFill>
            <a:srgbClr val="E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34086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4283A"/>
                </a:solidFill>
                <a:latin typeface="Calibri"/>
              </a:rPr>
              <a:t>Slides and handout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651760"/>
            <a:ext cx="3273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749039"/>
            <a:ext cx="3383280" cy="274320"/>
          </a:xfrm>
          <a:prstGeom prst="roundRect">
            <a:avLst>
              <a:gd name="adj" fmla="val 50000"/>
            </a:avLst>
          </a:prstGeom>
          <a:solidFill>
            <a:srgbClr val="E2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01000" y="3749039"/>
            <a:ext cx="2808122" cy="274320"/>
          </a:xfrm>
          <a:prstGeom prst="roundRect">
            <a:avLst>
              <a:gd name="adj" fmla="val 50000"/>
            </a:avLst>
          </a:prstGeom>
          <a:solidFill>
            <a:srgbClr val="4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438143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4283A"/>
                </a:solidFill>
                <a:latin typeface="Calibri"/>
              </a:rPr>
              <a:t>Files complete, 5 of 6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749039"/>
            <a:ext cx="3273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57200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28C"/>
                </a:solidFill>
                <a:latin typeface="Calibri"/>
              </a:rPr>
              <a:t>Final run-through with Trish on the Thursday before.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E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The unglamorous work wins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474720"/>
            <a:ext cx="8869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D7DCEE"/>
                </a:solidFill>
                <a:latin typeface="Calibri"/>
              </a:rPr>
              <a:t>A clean file is the difference between a calm hearing and a scramble.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Custody File Organization</dc:title>
  <dc:subject/>
  <dc:creator>Jane Sparks</dc:creator>
  <cp:keywords/>
  <dc:description/>
  <cp:lastModifiedBy>Jane Sparks</cp:lastModifiedBy>
  <cp:revision>1</cp:revision>
  <dcterms:created xsi:type="dcterms:W3CDTF">2026-02-16T10:30:00Z</dcterms:created>
  <dcterms:modified xsi:type="dcterms:W3CDTF">2026-02-16T10:30:00Z</dcterms:modified>
  <cp:category/>
</cp:coreProperties>
</file>