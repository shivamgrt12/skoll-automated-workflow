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Families helped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Sheet1!$A$2:$A$5</c:f>
              <c:strCache>
                <c:ptCount val="4"/>
                <c:pt idx="0">
                  <c:v>First quarter</c:v>
                </c:pt>
                <c:pt idx="1">
                  <c:v>Second quarter</c:v>
                </c:pt>
                <c:pt idx="2">
                  <c:v>Third quarter</c:v>
                </c:pt>
                <c:pt idx="3">
                  <c:v>Fourth quarter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82</c:v>
                </c:pt>
                <c:pt idx="2">
                  <c:v>90</c:v>
                </c:pt>
                <c:pt idx="3">
                  <c:v>76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7B2D3B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dPt>
            <c:idx val="2"/>
            <c:spPr>
              <a:solidFill>
                <a:srgbClr val="2F7D57"/>
              </a:solidFill>
            </c:spPr>
          </c:dPt>
          <c:dPt>
            <c:idx val="3"/>
            <c:spPr>
              <a:solidFill>
                <a:srgbClr val="B5475A"/>
              </a:solidFill>
            </c:spPr>
          </c:dPt>
          <c:cat>
            <c:strRef>
              <c:f>Sheet1!$A$2:$A$5</c:f>
              <c:strCache>
                <c:ptCount val="4"/>
                <c:pt idx="0">
                  <c:v>Intake clinics</c:v>
                </c:pt>
                <c:pt idx="1">
                  <c:v>Filing fee help</c:v>
                </c:pt>
                <c:pt idx="2">
                  <c:v>Volunteer training</c:v>
                </c:pt>
                <c:pt idx="3">
                  <c:v>Outreach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5E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1695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AF4E6"/>
                </a:solidFill>
                <a:latin typeface="Georgia"/>
              </a:rPr>
              <a:t>An Evening for Families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3492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9A227"/>
                </a:solidFill>
                <a:latin typeface="Georgia"/>
              </a:rPr>
              <a:t>Pro Bono Family Law Clinic, fall fundraiser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AF4E6"/>
                </a:solidFill>
                <a:latin typeface="Calibri"/>
              </a:rPr>
              <a:t>November 14, 2026  |  Westside Community Center, Charlotte  |  6:30 PM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B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AF4E6"/>
                </a:solidFill>
                <a:latin typeface="Calibri"/>
              </a:rPr>
              <a:t>This evening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2F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AF4E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A2A2A"/>
                </a:solidFill>
                <a:latin typeface="Calibri"/>
              </a:rPr>
              <a:t>The need we are meeting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AF4E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A2A2A"/>
                </a:solidFill>
                <a:latin typeface="Calibri"/>
              </a:rPr>
              <a:t>Who we have helped this year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2F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AF4E6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546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A2A2A"/>
                </a:solidFill>
                <a:latin typeface="Calibri"/>
              </a:rPr>
              <a:t>Where the money goes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AF4E6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02336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A2A2A"/>
                </a:solidFill>
                <a:latin typeface="Calibri"/>
              </a:rPr>
              <a:t>Ways to partner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2F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AF4E6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89204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3A2A2A"/>
                </a:solidFill>
                <a:latin typeface="Calibri"/>
              </a:rPr>
              <a:t>How to join the night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7B2D3B"/>
                </a:solidFill>
                <a:latin typeface="Calibri"/>
              </a:rPr>
              <a:t>The year in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66160" cy="1554480"/>
          </a:xfrm>
          <a:prstGeom prst="round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566160" cy="146304"/>
          </a:xfrm>
          <a:prstGeom prst="roundRect">
            <a:avLst/>
          </a:prstGeom>
          <a:solidFill>
            <a:srgbClr val="7B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7B2D3B"/>
                </a:solidFill>
                <a:latin typeface="Calibri"/>
              </a:rPr>
              <a:t>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A5A5A"/>
                </a:solidFill>
                <a:latin typeface="Calibri"/>
              </a:rPr>
              <a:t>families helped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88720"/>
            <a:ext cx="3566160" cy="1554480"/>
          </a:xfrm>
          <a:prstGeom prst="round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79" y="1188720"/>
            <a:ext cx="3566160" cy="146304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41732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7B2D3B"/>
                </a:solidFill>
                <a:latin typeface="Calibri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1945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A5A5A"/>
                </a:solidFill>
                <a:latin typeface="Calibri"/>
              </a:rPr>
              <a:t>volunteer paralegals and attorneys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188720"/>
            <a:ext cx="3566160" cy="1554480"/>
          </a:xfrm>
          <a:prstGeom prst="round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8" y="1188720"/>
            <a:ext cx="3566160" cy="146304"/>
          </a:xfrm>
          <a:prstGeom prst="roundRect">
            <a:avLst/>
          </a:prstGeom>
          <a:solidFill>
            <a:srgbClr val="2F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8" y="141732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7B2D3B"/>
                </a:solidFill>
                <a:latin typeface="Calibri"/>
              </a:rPr>
              <a:t>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1945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A5A5A"/>
                </a:solidFill>
                <a:latin typeface="Calibri"/>
              </a:rPr>
              <a:t>guests expected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57200" y="3017520"/>
          <a:ext cx="112471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E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AF4E6"/>
                </a:solidFill>
                <a:latin typeface="Calibri"/>
              </a:rPr>
              <a:t>Where the money goes, and ways to partner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48463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77840" y="1371600"/>
          <a:ext cx="6126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20624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AF4E6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anchor="ctr" marL="73152" marR="73152" marT="27432" marB="27432">
                    <a:solidFill>
                      <a:srgbClr val="7B2D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AF4E6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 marL="73152" marR="73152" marT="27432" marB="27432">
                    <a:solidFill>
                      <a:srgbClr val="7B2D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2A2A"/>
                          </a:solidFill>
                          <a:latin typeface="Calibri"/>
                        </a:rPr>
                        <a:t>Advocate</a:t>
                      </a:r>
                    </a:p>
                  </a:txBody>
                  <a:tcPr anchor="ctr" marL="73152" marR="73152" marT="27432" marB="27432">
                    <a:solidFill>
                      <a:srgbClr val="F3E9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2A2A"/>
                          </a:solidFill>
                          <a:latin typeface="Calibri"/>
                        </a:rPr>
                        <a:t>Host a table for eight guests</a:t>
                      </a:r>
                    </a:p>
                  </a:txBody>
                  <a:tcPr anchor="ctr" marL="73152" marR="73152" marT="27432" marB="27432">
                    <a:solidFill>
                      <a:srgbClr val="F3E9D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2A2A"/>
                          </a:solidFill>
                          <a:latin typeface="Calibri"/>
                        </a:rPr>
                        <a:t>Counselor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2A2A"/>
                          </a:solidFill>
                          <a:latin typeface="Calibri"/>
                        </a:rPr>
                        <a:t>Underwrite a season of clinics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2A2A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anchor="ctr" marL="73152" marR="73152" marT="27432" marB="27432">
                    <a:solidFill>
                      <a:srgbClr val="F3E9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A2A2A"/>
                          </a:solidFill>
                          <a:latin typeface="Calibri"/>
                        </a:rPr>
                        <a:t>Fund the volunteer pipeline</a:t>
                      </a:r>
                    </a:p>
                  </a:txBody>
                  <a:tcPr anchor="ctr" marL="73152" marR="73152" marT="27432" marB="27432">
                    <a:solidFill>
                      <a:srgbClr val="F3E9D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577840" y="4754880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E7D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0" y="4754880"/>
            <a:ext cx="4636008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444398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A2A2A"/>
                </a:solidFill>
                <a:latin typeface="Calibri"/>
              </a:rPr>
              <a:t>Fundraising goal for the 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754880"/>
            <a:ext cx="58338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5760720"/>
            <a:ext cx="5943600" cy="274320"/>
          </a:xfrm>
          <a:prstGeom prst="roundRect">
            <a:avLst>
              <a:gd name="adj" fmla="val 50000"/>
            </a:avLst>
          </a:prstGeom>
          <a:solidFill>
            <a:srgbClr val="E7D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77840" y="5760720"/>
            <a:ext cx="4457700" cy="274320"/>
          </a:xfrm>
          <a:prstGeom prst="roundRect">
            <a:avLst>
              <a:gd name="adj" fmla="val 50000"/>
            </a:avLst>
          </a:prstGeom>
          <a:solidFill>
            <a:srgbClr val="7B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544982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A2A2A"/>
                </a:solidFill>
                <a:latin typeface="Calibri"/>
              </a:rPr>
              <a:t>Tables sponsored, 9 of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5760720"/>
            <a:ext cx="58338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AF4E6"/>
                </a:solidFill>
                <a:latin typeface="Georgia"/>
              </a:rPr>
              <a:t>Join us on November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474720"/>
            <a:ext cx="8869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C9A227"/>
                </a:solidFill>
                <a:latin typeface="Calibri"/>
              </a:rPr>
              <a:t>Reply to the planning thread to confirm a sponsorship level.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 Bono Fall Fundraiser</dc:title>
  <dc:subject/>
  <dc:creator>Jane Sparks</dc:creator>
  <cp:keywords/>
  <dc:description/>
  <cp:lastModifiedBy>Jane Sparks</cp:lastModifiedBy>
  <cp:revision>1</cp:revision>
  <dcterms:created xsi:type="dcterms:W3CDTF">2026-02-16T10:30:00Z</dcterms:created>
  <dcterms:modified xsi:type="dcterms:W3CDTF">2026-02-16T10:30:00Z</dcterms:modified>
  <cp:category/>
</cp:coreProperties>
</file>