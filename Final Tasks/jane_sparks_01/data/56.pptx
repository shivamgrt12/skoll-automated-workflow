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cost, thousands</c:v>
                </c:pt>
              </c:strCache>
            </c:strRef>
          </c:tx>
          <c:spPr>
            <a:solidFill>
              <a:srgbClr val="126E6E"/>
            </a:solidFill>
          </c:spPr>
          <c:cat>
            <c:strRef>
              <c:f>Sheet1!$A$2:$A$5</c:f>
              <c:strCache>
                <c:ptCount val="4"/>
                <c:pt idx="0">
                  <c:v>NC Central</c:v>
                </c:pt>
                <c:pt idx="1">
                  <c:v>Charlotte hybrid</c:v>
                </c:pt>
                <c:pt idx="2">
                  <c:v>Elon</c:v>
                </c:pt>
                <c:pt idx="3">
                  <c:v>Campbell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96</c:v>
                </c:pt>
                <c:pt idx="2">
                  <c:v>138</c:v>
                </c:pt>
                <c:pt idx="3">
                  <c:v>142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E26D4F"/>
              </a:solidFill>
            </c:spPr>
          </c:dPt>
          <c:dPt>
            <c:idx val="1"/>
            <c:spPr>
              <a:solidFill>
                <a:srgbClr val="126E6E"/>
              </a:solidFill>
            </c:spPr>
          </c:dPt>
          <c:dPt>
            <c:idx val="2"/>
            <c:spPr>
              <a:solidFill>
                <a:srgbClr val="C99A2E"/>
              </a:solidFill>
            </c:spPr>
          </c:dPt>
          <c:dPt>
            <c:idx val="3"/>
            <c:spPr>
              <a:solidFill>
                <a:srgbClr val="4A9090"/>
              </a:solidFill>
            </c:spPr>
          </c:dPt>
          <c:cat>
            <c:strRef>
              <c:f>Sheet1!$A$2:$A$5</c:f>
              <c:strCache>
                <c:ptCount val="4"/>
                <c:pt idx="0">
                  <c:v>Cost concern</c:v>
                </c:pt>
                <c:pt idx="1">
                  <c:v>Time and family load</c:v>
                </c:pt>
                <c:pt idx="2">
                  <c:v>Career upside</c:v>
                </c:pt>
                <c:pt idx="3">
                  <c:v>Schedule 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2.jp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2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46520" y="0"/>
            <a:ext cx="137160" cy="6858000"/>
          </a:xfrm>
          <a:prstGeom prst="rect">
            <a:avLst/>
          </a:prstGeom>
          <a:solidFill>
            <a:srgbClr val="E2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669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The Law School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20624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FD9CC"/>
                </a:solidFill>
                <a:latin typeface="Georgia"/>
              </a:rPr>
              <a:t>A personal planning deck, spring 2027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2120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Jane Sparks  |  updated monthly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 the table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E2E2E"/>
                </a:solidFill>
                <a:latin typeface="Calibri"/>
              </a:rPr>
              <a:t>The question to settle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E2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E2E2E"/>
                </a:solidFill>
                <a:latin typeface="Calibri"/>
              </a:rPr>
              <a:t>How the costs compare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546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E2E2E"/>
                </a:solidFill>
                <a:latin typeface="Calibri"/>
              </a:rPr>
              <a:t>What weighs on the choice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E2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233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E2E2E"/>
                </a:solidFill>
                <a:latin typeface="Calibri"/>
              </a:rPr>
              <a:t>The case for and against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9204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E2E2E"/>
                </a:solidFill>
                <a:latin typeface="Calibri"/>
              </a:rPr>
              <a:t>Timeline and next 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26E6E"/>
                </a:solidFill>
                <a:latin typeface="Calibri"/>
              </a:rPr>
              <a:t>Cost and what weighs on the choice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8521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371600"/>
          <a:ext cx="53949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case, and where it stands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7315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In favor</a:t>
                      </a:r>
                    </a:p>
                  </a:txBody>
                  <a:tcPr anchor="ctr" marL="73152" marR="73152" marT="27432" marB="27432">
                    <a:solidFill>
                      <a:srgbClr val="126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Against</a:t>
                      </a:r>
                    </a:p>
                  </a:txBody>
                  <a:tcPr anchor="ctr" marL="73152" marR="73152" marT="27432" marB="27432">
                    <a:solidFill>
                      <a:srgbClr val="126E6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Senior paralegal ceiling is close</a:t>
                      </a:r>
                    </a:p>
                  </a:txBody>
                  <a:tcPr anchor="ctr" marL="73152" marR="73152" marT="27432" marB="27432"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Cost against a tight monthly margin</a:t>
                      </a:r>
                    </a:p>
                  </a:txBody>
                  <a:tcPr anchor="ctr" marL="73152" marR="73152" marT="27432" marB="27432">
                    <a:solidFill>
                      <a:srgbClr val="F3F9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Trish offers a strong reference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Three to four years of evenings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Evening and weekend formats fit work</a:t>
                      </a:r>
                    </a:p>
                  </a:txBody>
                  <a:tcPr anchor="ctr" marL="73152" marR="73152" marT="27432" marB="27432"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Family load with Linda and Kyle</a:t>
                      </a:r>
                    </a:p>
                  </a:txBody>
                  <a:tcPr anchor="ctr" marL="73152" marR="73152" marT="27432" marB="27432">
                    <a:solidFill>
                      <a:srgbClr val="F3F9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The work is already family law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E2E"/>
                          </a:solidFill>
                          <a:latin typeface="Calibri"/>
                        </a:rPr>
                        <a:t>A later cycle may be the right answer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463040"/>
            <a:ext cx="338328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6916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6E6E"/>
                </a:solidFill>
                <a:latin typeface="Calibri"/>
              </a:rPr>
              <a:t>Where I 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65176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E2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651760"/>
            <a:ext cx="1755648" cy="274320"/>
          </a:xfrm>
          <a:prstGeom prst="roundRect">
            <a:avLst>
              <a:gd name="adj" fmla="val 50000"/>
            </a:avLst>
          </a:prstGeom>
          <a:solidFill>
            <a:srgbClr val="E2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3408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E2E"/>
                </a:solidFill>
                <a:latin typeface="Calibri"/>
              </a:rPr>
              <a:t>Decision steps, 3 of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651760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749039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E2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3749039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438143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E2E"/>
                </a:solidFill>
                <a:latin typeface="Calibri"/>
              </a:rPr>
              <a:t>Law school fund, 2,400 of 6,000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49039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5720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C7070"/>
                </a:solidFill>
                <a:latin typeface="Calibri"/>
              </a:rPr>
              <a:t>Decide by the new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E2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Finalize, confirm, then choose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47472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CFE7E4"/>
                </a:solidFill>
                <a:latin typeface="Calibri"/>
              </a:rPr>
              <a:t>Lock the comparison sheet, confirm the reference timeline, and decide.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Law School Question</dc:title>
  <dc:subject/>
  <dc:creator>Jane Sparks</dc:creator>
  <cp:keywords/>
  <dc:description/>
  <cp:lastModifiedBy>Jane Sparks</cp:lastModifiedBy>
  <cp:revision>1</cp:revision>
  <dcterms:created xsi:type="dcterms:W3CDTF">2026-02-16T10:30:00Z</dcterms:created>
  <dcterms:modified xsi:type="dcterms:W3CDTF">2026-02-16T10:30:00Z</dcterms:modified>
  <cp:category/>
</cp:coreProperties>
</file>