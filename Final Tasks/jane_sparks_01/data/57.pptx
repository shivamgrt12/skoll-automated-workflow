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matters</c:v>
                </c:pt>
              </c:strCache>
            </c:strRef>
          </c:tx>
          <c:spPr>
            <a:solidFill>
              <a:srgbClr val="5E8B6A"/>
            </a:solidFill>
          </c:spPr>
          <c:cat>
            <c:strRef>
              <c:f>Sheet1!$A$2:$A$5</c:f>
              <c:strCache>
                <c:ptCount val="4"/>
                <c:pt idx="0">
                  <c:v>Jane</c:v>
                </c:pt>
                <c:pt idx="1">
                  <c:v>Kelsey</c:v>
                </c:pt>
                <c:pt idx="2">
                  <c:v>Junior two</c:v>
                </c:pt>
                <c:pt idx="3">
                  <c:v>Junior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Matters</c:v>
                </c:pt>
              </c:strCache>
            </c:strRef>
          </c:tx>
          <c:dPt>
            <c:idx val="0"/>
            <c:spPr>
              <a:solidFill>
                <a:srgbClr val="2C3338"/>
              </a:solidFill>
            </c:spPr>
          </c:dPt>
          <c:dPt>
            <c:idx val="1"/>
            <c:spPr>
              <a:solidFill>
                <a:srgbClr val="5E8B6A"/>
              </a:solidFill>
            </c:spPr>
          </c:dPt>
          <c:dPt>
            <c:idx val="2"/>
            <c:spPr>
              <a:solidFill>
                <a:srgbClr val="CE9B4A"/>
              </a:solidFill>
            </c:spPr>
          </c:dPt>
          <c:dPt>
            <c:idx val="3"/>
            <c:spPr>
              <a:solidFill>
                <a:srgbClr val="3F6B4C"/>
              </a:solidFill>
            </c:spPr>
          </c:dPt>
          <c:dPt>
            <c:idx val="4"/>
            <c:spPr>
              <a:solidFill>
                <a:srgbClr val="8A6A3A"/>
              </a:solidFill>
            </c:spPr>
          </c:dPt>
          <c:cat>
            <c:strRef>
              <c:f>Sheet1!$A$2:$A$6</c:f>
              <c:strCache>
                <c:ptCount val="5"/>
                <c:pt idx="0">
                  <c:v>Discovery</c:v>
                </c:pt>
                <c:pt idx="1">
                  <c:v>Filing</c:v>
                </c:pt>
                <c:pt idx="2">
                  <c:v>Mediation</c:v>
                </c:pt>
                <c:pt idx="3">
                  <c:v>Documentation</c:v>
                </c:pt>
                <c:pt idx="4">
                  <c:v>Hearing prep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6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2C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6520" y="0"/>
            <a:ext cx="137160" cy="6858000"/>
          </a:xfrm>
          <a:prstGeom prst="rect">
            <a:avLst/>
          </a:prstGeom>
          <a:solidFill>
            <a:srgbClr val="5E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Paralegal Team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2062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E9B4A"/>
                </a:solidFill>
                <a:latin typeface="Georgia"/>
              </a:rPr>
              <a:t>Mentoring and file standards for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212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Jane Sparks, Senior Paralegal  |  Hartwell and Greer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playbook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CE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A2E"/>
                </a:solidFill>
                <a:latin typeface="Calibri"/>
              </a:rPr>
              <a:t>How the work is shared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5E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A2E"/>
                </a:solidFill>
                <a:latin typeface="Calibri"/>
              </a:rPr>
              <a:t>File standards everyone follows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E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A2E"/>
                </a:solidFill>
                <a:latin typeface="Calibri"/>
              </a:rPr>
              <a:t>Naming and versioning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5E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233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A2E"/>
                </a:solidFill>
                <a:latin typeface="Calibri"/>
              </a:rPr>
              <a:t>Deadline discipline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CE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A2E"/>
                </a:solidFill>
                <a:latin typeface="Calibri"/>
              </a:rPr>
              <a:t>The growth path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C3338"/>
                </a:solidFill>
                <a:latin typeface="Calibri"/>
              </a:rPr>
              <a:t>How the work is shared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7074"/>
                </a:solidFill>
                <a:latin typeface="Calibri"/>
              </a:rPr>
              <a:t>Jane leads the harder files; the juniors carry steady volume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standard, and where the team 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7315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anchor="ctr" marL="73152" marR="73152" marT="27432" marB="27432">
                    <a:solidFill>
                      <a:srgbClr val="2C3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 marL="73152" marR="73152" marT="27432" marB="27432">
                    <a:solidFill>
                      <a:srgbClr val="2C33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Folder skeleton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Same sections on every matter, day one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Naming convention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One convention, used by everyone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Versioning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Date stamp drafts, never overwrite a filing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Second read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Every filing gets a second-read pass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Hand-off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A2E"/>
                          </a:solidFill>
                          <a:latin typeface="Calibri"/>
                        </a:rPr>
                        <a:t>One-line status, not a roll call</a:t>
                      </a:r>
                    </a:p>
                  </a:txBody>
                  <a:tcPr anchor="ctr" marL="73152" marR="73152" marT="27432" marB="27432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691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C3338"/>
                </a:solidFill>
                <a:latin typeface="Calibri"/>
              </a:rPr>
              <a:t>Team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65176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651760"/>
            <a:ext cx="2633472" cy="274320"/>
          </a:xfrm>
          <a:prstGeom prst="roundRect">
            <a:avLst>
              <a:gd name="adj" fmla="val 50000"/>
            </a:avLst>
          </a:prstGeom>
          <a:solidFill>
            <a:srgbClr val="5E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3408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42A2E"/>
                </a:solidFill>
                <a:latin typeface="Calibri"/>
              </a:rPr>
              <a:t>Files meeting the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651760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749039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3749039"/>
            <a:ext cx="2048256" cy="274320"/>
          </a:xfrm>
          <a:prstGeom prst="roundRect">
            <a:avLst>
              <a:gd name="adj" fmla="val 50000"/>
            </a:avLst>
          </a:prstGeom>
          <a:solidFill>
            <a:srgbClr val="CE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438143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42A2E"/>
                </a:solidFill>
                <a:latin typeface="Calibri"/>
              </a:rPr>
              <a:t>Kelsey adoption mentoring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49039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572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7074"/>
                </a:solidFill>
                <a:latin typeface="Calibri"/>
              </a:rPr>
              <a:t>Mentoring Kelsey is part of her promotion path.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5E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One team, one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CE9B4A"/>
                </a:solidFill>
                <a:latin typeface="Calibri"/>
              </a:rPr>
              <a:t>Good habits, repeated, are what scale across every matter.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Paralegal Team Playbook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