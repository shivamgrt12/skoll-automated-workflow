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dPt>
            <c:idx val="0"/>
            <c:spPr>
              <a:solidFill>
                <a:srgbClr val="22416B"/>
              </a:solidFill>
            </c:spPr>
          </c:dPt>
          <c:dPt>
            <c:idx val="1"/>
            <c:spPr>
              <a:solidFill>
                <a:srgbClr val="1F7A6D"/>
              </a:solidFill>
            </c:spPr>
          </c:dPt>
          <c:dPt>
            <c:idx val="2"/>
            <c:spPr>
              <a:solidFill>
                <a:srgbClr val="C98A2E"/>
              </a:solidFill>
            </c:spPr>
          </c:dPt>
          <c:dPt>
            <c:idx val="3"/>
            <c:spPr>
              <a:solidFill>
                <a:srgbClr val="B5475A"/>
              </a:solidFill>
            </c:spPr>
          </c:dPt>
          <c:dPt>
            <c:idx val="4"/>
            <c:spPr>
              <a:solidFill>
                <a:srgbClr val="3D8F7F"/>
              </a:solidFill>
            </c:spPr>
          </c:dPt>
          <c:dPt>
            <c:idx val="5"/>
            <c:spPr>
              <a:solidFill>
                <a:srgbClr val="5A6FAE"/>
              </a:solidFill>
            </c:spPr>
          </c:dPt>
          <c:dPt>
            <c:idx val="6"/>
            <c:spPr>
              <a:solidFill>
                <a:srgbClr val="C98A2E"/>
              </a:solidFill>
            </c:spPr>
          </c:dPt>
          <c:dPt>
            <c:idx val="7"/>
            <c:spPr>
              <a:solidFill>
                <a:srgbClr val="C2CEDE"/>
              </a:solidFill>
            </c:spPr>
          </c:dPt>
          <c:cat>
            <c:strRef>
              <c:f>Sheet1!$A$2:$A$9</c:f>
              <c:strCache>
                <c:ptCount val="8"/>
                <c:pt idx="0">
                  <c:v>Rent</c:v>
                </c:pt>
                <c:pt idx="1">
                  <c:v>Groceries</c:v>
                </c:pt>
                <c:pt idx="2">
                  <c:v>Savings</c:v>
                </c:pt>
                <c:pt idx="3">
                  <c:v>Car and insurance</c:v>
                </c:pt>
                <c:pt idx="4">
                  <c:v>Dining out</c:v>
                </c:pt>
                <c:pt idx="5">
                  <c:v>Utilities</c:v>
                </c:pt>
                <c:pt idx="6">
                  <c:v>Helping Linda</c:v>
                </c:pt>
                <c:pt idx="7">
                  <c:v>Everything else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1150</c:v>
                </c:pt>
                <c:pt idx="1">
                  <c:v>400</c:v>
                </c:pt>
                <c:pt idx="2">
                  <c:v>400</c:v>
                </c:pt>
                <c:pt idx="3">
                  <c:v>435</c:v>
                </c:pt>
                <c:pt idx="4">
                  <c:v>200</c:v>
                </c:pt>
                <c:pt idx="5">
                  <c:v>160</c:v>
                </c:pt>
                <c:pt idx="6">
                  <c:v>150</c:v>
                </c:pt>
                <c:pt idx="7">
                  <c:v>492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22416B"/>
            </a:solidFill>
          </c:spPr>
          <c:cat>
            <c:strRef>
              <c:f>Sheet1!$A$2:$A$7</c:f>
              <c:strCache>
                <c:ptCount val="6"/>
                <c:pt idx="0">
                  <c:v>Emergency</c:v>
                </c:pt>
                <c:pt idx="1">
                  <c:v>401k</c:v>
                </c:pt>
                <c:pt idx="2">
                  <c:v>Roth IRA</c:v>
                </c:pt>
                <c:pt idx="3">
                  <c:v>Bitcoin</c:v>
                </c:pt>
                <c:pt idx="4">
                  <c:v>Law school</c:v>
                </c:pt>
                <c:pt idx="5">
                  <c:v>Checking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8500</c:v>
                </c:pt>
                <c:pt idx="1">
                  <c:v>24000</c:v>
                </c:pt>
                <c:pt idx="2">
                  <c:v>5200</c:v>
                </c:pt>
                <c:pt idx="3">
                  <c:v>750</c:v>
                </c:pt>
                <c:pt idx="4">
                  <c:v>2400</c:v>
                </c:pt>
                <c:pt idx="5">
                  <c:v>1800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91440" cy="6858000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1B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2416B"/>
                </a:solidFill>
                <a:latin typeface="Georgia"/>
              </a:rPr>
              <a:t>Personal Finance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C98A2E"/>
                </a:solidFill>
                <a:latin typeface="Georgia"/>
              </a:rPr>
              <a:t>Budget, savings, and accounts for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0292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Jane Sparks    |    Monthly money review    |    February 2026</a:t>
            </a:r>
          </a:p>
        </p:txBody>
      </p:sp>
      <p:pic>
        <p:nvPicPr>
          <p:cNvPr id="9" name="Picture 8" descr="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4023360" cy="2262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review covers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9875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B38"/>
                </a:solidFill>
                <a:latin typeface="Calibri"/>
              </a:rPr>
              <a:t>Take-home and where the money goes each month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04288"/>
            <a:ext cx="566928" cy="566928"/>
          </a:xfrm>
          <a:prstGeom prst="ellipse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04288"/>
            <a:ext cx="9875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B38"/>
                </a:solidFill>
                <a:latin typeface="Calibri"/>
              </a:rPr>
              <a:t>The full budget, fixed against variable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566928" cy="566928"/>
          </a:xfrm>
          <a:prstGeom prst="ellipse">
            <a:avLst/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369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36976"/>
            <a:ext cx="9875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B38"/>
                </a:solidFill>
                <a:latin typeface="Calibri"/>
              </a:rPr>
              <a:t>Savings goals and progress to target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69664"/>
            <a:ext cx="566928" cy="566928"/>
          </a:xfrm>
          <a:prstGeom prst="ellipse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696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875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B38"/>
                </a:solidFill>
                <a:latin typeface="Calibri"/>
              </a:rPr>
              <a:t>Account balances and debt remaining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02352"/>
            <a:ext cx="566928" cy="566928"/>
          </a:xfrm>
          <a:prstGeom prst="ellipse">
            <a:avLst/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02352"/>
            <a:ext cx="9875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B38"/>
                </a:solidFill>
                <a:latin typeface="Calibri"/>
              </a:rPr>
              <a:t>One rule that guards the margin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416B"/>
                </a:solidFill>
                <a:latin typeface="Calibri"/>
              </a:rPr>
              <a:t>Where the money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A788C"/>
                </a:solidFill>
                <a:latin typeface="Calibri"/>
              </a:rPr>
              <a:t>Monthly outflow of 3,387 dollars against 3,800 take-home, leaving 413 discretionary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17320"/>
          <a:ext cx="56692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554480"/>
          <a:ext cx="5212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Rent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$1,150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$400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Savings transfer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$400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Car payment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$320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Dining out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Helping Linda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$150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544068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88C"/>
                </a:solidFill>
                <a:latin typeface="Calibri"/>
              </a:rPr>
              <a:t>Rent alone is one third of take-home. The savings transfer is treated as a fixed bill.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Savings goals, progress to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675120" cy="274320"/>
          </a:xfrm>
          <a:prstGeom prst="roundRect">
            <a:avLst>
              <a:gd name="adj" fmla="val 50000"/>
            </a:avLst>
          </a:prstGeom>
          <a:solidFill>
            <a:srgbClr val="E2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673852" cy="274320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02B38"/>
                </a:solidFill>
                <a:latin typeface="Calibri"/>
              </a:rPr>
              <a:t>Emergency fund, 8,500 of 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65653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6675120" cy="274320"/>
          </a:xfrm>
          <a:prstGeom prst="roundRect">
            <a:avLst>
              <a:gd name="adj" fmla="val 50000"/>
            </a:avLst>
          </a:prstGeom>
          <a:solidFill>
            <a:srgbClr val="E2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5340096" cy="274320"/>
          </a:xfrm>
          <a:prstGeom prst="roundRect">
            <a:avLst>
              <a:gd name="adj" fmla="val 50000"/>
            </a:avLst>
          </a:prstGeom>
          <a:solidFill>
            <a:srgbClr val="2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9514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02B38"/>
                </a:solidFill>
                <a:latin typeface="Calibri"/>
              </a:rPr>
              <a:t>Retirement 401k, 24,000 of 30,000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65653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6675120" cy="274320"/>
          </a:xfrm>
          <a:prstGeom prst="roundRect">
            <a:avLst>
              <a:gd name="adj" fmla="val 50000"/>
            </a:avLst>
          </a:prstGeom>
          <a:solidFill>
            <a:srgbClr val="E2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4939588" cy="27432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6382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02B38"/>
                </a:solidFill>
                <a:latin typeface="Calibri"/>
              </a:rPr>
              <a:t>Roth IRA at Alpaca, 5,200 of 7,000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65653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6675120" cy="274320"/>
          </a:xfrm>
          <a:prstGeom prst="roundRect">
            <a:avLst>
              <a:gd name="adj" fmla="val 50000"/>
            </a:avLst>
          </a:prstGeom>
          <a:solidFill>
            <a:srgbClr val="E2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B5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02B38"/>
                </a:solidFill>
                <a:latin typeface="Calibri"/>
              </a:rPr>
              <a:t>Law school sub-account, 2,400 of 6,000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65653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6675120" cy="274320"/>
          </a:xfrm>
          <a:prstGeom prst="roundRect">
            <a:avLst>
              <a:gd name="adj" fmla="val 50000"/>
            </a:avLst>
          </a:prstGeom>
          <a:solidFill>
            <a:srgbClr val="E2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3337560" cy="274320"/>
          </a:xfrm>
          <a:prstGeom prst="roundRect">
            <a:avLst>
              <a:gd name="adj" fmla="val 50000"/>
            </a:avLst>
          </a:prstGeom>
          <a:solidFill>
            <a:srgbClr val="3D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0118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02B38"/>
                </a:solidFill>
                <a:latin typeface="Calibri"/>
              </a:rPr>
              <a:t>Bitcoin buy at Coinbase, 750 of 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65653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pic>
        <p:nvPicPr>
          <p:cNvPr id="25" name="Picture 24" descr="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657600" cy="20565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55279" y="45720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2416B"/>
                </a:solidFill>
                <a:latin typeface="Calibri"/>
              </a:rPr>
              <a:t>The 400 dollar monthly transfer splits across the emergency top-up, the Roth, the law school fund, and a small Bitcoin buy.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416B"/>
                </a:solidFill>
                <a:latin typeface="Calibri"/>
              </a:rPr>
              <a:t>Accounts and balances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80160"/>
          <a:ext cx="58521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280160"/>
          <a:ext cx="5120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18872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3A2400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anchor="ctr" marL="73152" marR="73152" marT="27432" marB="27432">
                    <a:solidFill>
                      <a:srgbClr val="C98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3A2400"/>
                          </a:solidFill>
                          <a:latin typeface="Calibri"/>
                        </a:rPr>
                        <a:t>Institution</a:t>
                      </a:r>
                    </a:p>
                  </a:txBody>
                  <a:tcPr anchor="ctr" marL="73152" marR="73152" marT="27432" marB="27432">
                    <a:solidFill>
                      <a:srgbClr val="C98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3A2400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anchor="ctr" marL="73152" marR="73152" marT="27432" marB="27432">
                    <a:solidFill>
                      <a:srgbClr val="C98A2E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Emergency fund HYSA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First Citizens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$8,500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401k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Firm plan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$24,000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Roth IRA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Alpaca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$5,200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Bitcoin DCA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Coinbase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Law school fund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First Citizens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Checking buffer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First Citizens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02B38"/>
                          </a:solidFill>
                          <a:latin typeface="Calibri"/>
                        </a:rPr>
                        <a:t>$1,800</a:t>
                      </a:r>
                    </a:p>
                  </a:txBody>
                  <a:tcPr anchor="ctr" marL="73152" marR="73152" marT="27432" marB="27432">
                    <a:solidFill>
                      <a:srgbClr val="F6F9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$42,650</a:t>
                      </a:r>
                    </a:p>
                  </a:txBody>
                  <a:tcPr anchor="ctr" marL="73152" marR="73152" marT="27432" marB="27432">
                    <a:solidFill>
                      <a:srgbClr val="2241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57607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88C"/>
                </a:solidFill>
                <a:latin typeface="Calibri"/>
              </a:rPr>
              <a:t>Debt outside this: student loans 18,000 and the car at 12,000.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One rule guards the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38328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D9E2EE"/>
                </a:solidFill>
                <a:latin typeface="Calibri"/>
              </a:rPr>
              <a:t>Any single spend at or above 250 dollars waits for an explicit go-ahead. Everything else runs on the plan.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Review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