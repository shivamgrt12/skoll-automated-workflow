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Bakes</c:v>
                </c:pt>
              </c:strCache>
            </c:strRef>
          </c:tx>
          <c:dPt>
            <c:idx val="0"/>
            <c:spPr>
              <a:solidFill>
                <a:srgbClr val="8A5A2B"/>
              </a:solidFill>
            </c:spPr>
          </c:dPt>
          <c:dPt>
            <c:idx val="1"/>
            <c:spPr>
              <a:solidFill>
                <a:srgbClr val="E0A94A"/>
              </a:solidFill>
            </c:spPr>
          </c:dPt>
          <c:dPt>
            <c:idx val="2"/>
            <c:spPr>
              <a:solidFill>
                <a:srgbClr val="A86A3A"/>
              </a:solidFill>
            </c:spPr>
          </c:dPt>
          <c:dPt>
            <c:idx val="3"/>
            <c:spPr>
              <a:solidFill>
                <a:srgbClr val="3D2B1F"/>
              </a:solidFill>
            </c:spPr>
          </c:dPt>
          <c:dPt>
            <c:idx val="4"/>
            <c:spPr>
              <a:solidFill>
                <a:srgbClr val="C9B088"/>
              </a:solidFill>
            </c:spPr>
          </c:dPt>
          <c:cat>
            <c:strRef>
              <c:f>Sheet1!$A$2:$A$6</c:f>
              <c:strCache>
                <c:ptCount val="5"/>
                <c:pt idx="0">
                  <c:v>Cinnamon rolls</c:v>
                </c:pt>
                <c:pt idx="1">
                  <c:v>Biscuits</c:v>
                </c:pt>
                <c:pt idx="2">
                  <c:v>Pecan pie</c:v>
                </c:pt>
                <c:pt idx="3">
                  <c:v>Pound cake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 hand</c:v>
                </c:pt>
              </c:strCache>
            </c:strRef>
          </c:tx>
          <c:spPr>
            <a:solidFill>
              <a:srgbClr val="8A5A2B"/>
            </a:solidFill>
          </c:spPr>
          <c:cat>
            <c:strRef>
              <c:f>Sheet1!$A$2:$A$6</c:f>
              <c:strCache>
                <c:ptCount val="5"/>
                <c:pt idx="0">
                  <c:v>Flour</c:v>
                </c:pt>
                <c:pt idx="1">
                  <c:v>Sugar</c:v>
                </c:pt>
                <c:pt idx="2">
                  <c:v>Brown sugar</c:v>
                </c:pt>
                <c:pt idx="3">
                  <c:v>Butter</c:v>
                </c:pt>
                <c:pt idx="4">
                  <c:v>Pecans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4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at</c:v>
                </c:pt>
              </c:strCache>
            </c:strRef>
          </c:tx>
          <c:spPr>
            <a:solidFill>
              <a:srgbClr val="E0A94A"/>
            </a:solidFill>
          </c:spPr>
          <c:cat>
            <c:strRef>
              <c:f>Sheet1!$A$2:$A$6</c:f>
              <c:strCache>
                <c:ptCount val="5"/>
                <c:pt idx="0">
                  <c:v>Flour</c:v>
                </c:pt>
                <c:pt idx="1">
                  <c:v>Sugar</c:v>
                </c:pt>
                <c:pt idx="2">
                  <c:v>Brown sugar</c:v>
                </c:pt>
                <c:pt idx="3">
                  <c:v>Butter</c:v>
                </c:pt>
                <c:pt idx="4">
                  <c:v>Pecans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.jpg"/>
          <p:cNvPicPr>
            <a:picLocks noChangeAspect="1"/>
          </p:cNvPicPr>
          <p:nvPr/>
        </p:nvPicPr>
        <p:blipFill>
          <a:blip r:embed="rId2"/>
          <a:srcRect l="26000" r="26000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63640" y="0"/>
            <a:ext cx="137160" cy="685800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BF4E6"/>
                </a:solidFill>
                <a:latin typeface="Georgia"/>
              </a:rPr>
              <a:t>The Midnight</a:t>
            </a:r>
          </a:p>
          <a:p>
            <a:pPr algn="l"/>
            <a:r>
              <a:rPr sz="4600" b="1" i="0">
                <a:solidFill>
                  <a:srgbClr val="FBF4E6"/>
                </a:solidFill>
                <a:latin typeface="Georgia"/>
              </a:rPr>
              <a:t>Kitchen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9319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E0A94A"/>
                </a:solidFill>
                <a:latin typeface="Georgia"/>
              </a:rPr>
              <a:t>Baking and Sunday dinner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937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BF4E6"/>
                </a:solidFill>
                <a:latin typeface="Calibri"/>
              </a:rPr>
              <a:t>Jane Sparks    |    Southern comfort baking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BF4E6"/>
                </a:solidFill>
                <a:latin typeface="Calibri"/>
              </a:rPr>
              <a:t>On the counter this season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8686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00784"/>
            <a:ext cx="566928" cy="566928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D2B1F"/>
                </a:solidFill>
                <a:latin typeface="Calibri"/>
              </a:rPr>
              <a:t>What gets baked, and how often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881360" cy="8686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752344"/>
            <a:ext cx="566928" cy="566928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52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0604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D2B1F"/>
                </a:solidFill>
                <a:latin typeface="Calibri"/>
              </a:rPr>
              <a:t>The pantry, on hand against reorder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881360" cy="8686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803904"/>
            <a:ext cx="566928" cy="566928"/>
          </a:xfrm>
          <a:prstGeom prst="ellipse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039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5760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D2B1F"/>
                </a:solidFill>
                <a:latin typeface="Calibri"/>
              </a:rPr>
              <a:t>The holiday bake list and its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10881360" cy="868680"/>
          </a:xfrm>
          <a:prstGeom prst="round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855464"/>
            <a:ext cx="566928" cy="566928"/>
          </a:xfrm>
          <a:prstGeom prst="ellipse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554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70916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D2B1F"/>
                </a:solidFill>
                <a:latin typeface="Calibri"/>
              </a:rPr>
              <a:t>Sunday dinner, lighter for Linda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D2B1F"/>
                </a:solidFill>
                <a:latin typeface="Calibri"/>
              </a:rPr>
              <a:t>What gets baked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A5440"/>
                </a:solidFill>
                <a:latin typeface="Calibri"/>
              </a:rPr>
              <a:t>Bakes this season by type, results travel to the office Monday morning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371600"/>
          <a:ext cx="548640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BF4E6"/>
                </a:solidFill>
                <a:latin typeface="Calibri"/>
              </a:rPr>
              <a:t>Pantry and the holiday 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28016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73152" marR="73152" marT="27432" marB="27432">
                    <a:solidFill>
                      <a:srgbClr val="8A5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On hand</a:t>
                      </a:r>
                    </a:p>
                  </a:txBody>
                  <a:tcPr anchor="ctr" marL="73152" marR="73152" marT="27432" marB="27432">
                    <a:solidFill>
                      <a:srgbClr val="8A5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Reorder</a:t>
                      </a:r>
                    </a:p>
                  </a:txBody>
                  <a:tcPr anchor="ctr" marL="73152" marR="73152" marT="27432" marB="27432">
                    <a:solidFill>
                      <a:srgbClr val="8A5A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All-purpose flour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10 lb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Granulated sugar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8 lb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Unsalted butter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6 lb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Active dry yeast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6 pk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Pecan halves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3 lb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D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Cream cheese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4 bk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3D2B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3E8D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989320"/>
            <a:ext cx="5486400" cy="274320"/>
          </a:xfrm>
          <a:prstGeom prst="roundRect">
            <a:avLst>
              <a:gd name="adj" fmla="val 50000"/>
            </a:avLst>
          </a:prstGeom>
          <a:solidFill>
            <a:srgbClr val="E7D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5989320"/>
            <a:ext cx="3675888" cy="27432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784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D2B1F"/>
                </a:solidFill>
                <a:latin typeface="Calibri"/>
              </a:rPr>
              <a:t>Holiday bake list, 6 of 9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5376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67%</a:t>
            </a:r>
          </a:p>
        </p:txBody>
      </p:sp>
      <p:pic>
        <p:nvPicPr>
          <p:cNvPr id="10" name="Picture 9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212080" cy="29381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9377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3D2B1F"/>
                </a:solidFill>
                <a:latin typeface="Calibri"/>
              </a:rPr>
              <a:t>Cinnamon rolls and biscuits lead the list. Pecan pie and pound cake are saved for birthdays and holidays.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D2B1F"/>
                </a:solidFill>
                <a:latin typeface="Calibri"/>
              </a:rPr>
              <a:t>Sunday dinner, lighter for Linda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A5440"/>
                </a:solidFill>
                <a:latin typeface="Calibri"/>
              </a:rPr>
              <a:t>Watching sugar and carbs while the A1C comes down, comfort food that still feels like Sunday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949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46304" cy="713232"/>
          </a:xfrm>
          <a:prstGeom prst="roundRect">
            <a:avLst/>
          </a:prstGeom>
          <a:solidFill>
            <a:srgbClr val="6B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Roast chicken with green beans and a small side salad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6949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46304" cy="713232"/>
          </a:xfrm>
          <a:prstGeom prst="roundRect">
            <a:avLst/>
          </a:prstGeom>
          <a:solidFill>
            <a:srgbClr val="6B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Baked fish with collard greens and roasted okra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6949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146304" cy="713232"/>
          </a:xfrm>
          <a:prstGeom prst="roundRect">
            <a:avLst/>
          </a:prstGeom>
          <a:solidFill>
            <a:srgbClr val="6B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Lean pork with sauteed greens and summer squash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69494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46304" cy="713232"/>
          </a:xfrm>
          <a:prstGeom prst="roundRect">
            <a:avLst/>
          </a:prstGeom>
          <a:solidFill>
            <a:srgbClr val="6B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3D2B1F"/>
                </a:solidFill>
                <a:latin typeface="Calibri"/>
              </a:rPr>
              <a:t>Turkey and vegetable soup with one slice of cornbread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554480"/>
            <a:ext cx="3749039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7830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7F4E"/>
                </a:solidFill>
                <a:latin typeface="Calibri"/>
              </a:rPr>
              <a:t>Low-sugar dinners this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74320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7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2743200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6B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4323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D2B1F"/>
                </a:solidFill>
                <a:latin typeface="Calibri"/>
              </a:rPr>
              <a:t>3 of 4 Sundays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743200"/>
            <a:ext cx="3182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56616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D2B1F"/>
                </a:solidFill>
                <a:latin typeface="Calibri"/>
              </a:rPr>
              <a:t>Dessert is a lighter fruit option most weeks. The pound cake comes out for her birthday in November.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E0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FBF4E6"/>
                </a:solidFill>
                <a:latin typeface="Georgia"/>
              </a:rPr>
              <a:t>Oven on, week handled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E0A94A"/>
                </a:solidFill>
                <a:latin typeface="Calibri"/>
              </a:rPr>
              <a:t>A midnight batch is the tell of a hard week, and the kitchen is where it settles.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Midnight Kitchen</dc:title>
  <dc:subject/>
  <dc:creator>Jane Sparks</dc:creator>
  <cp:keywords/>
  <dc:description/>
  <cp:lastModifiedBy>Jane Sparks</cp:lastModifiedBy>
  <cp:revision>1</cp:revision>
  <dcterms:created xsi:type="dcterms:W3CDTF">2026-02-16T10:30:00Z</dcterms:created>
  <dcterms:modified xsi:type="dcterms:W3CDTF">2026-02-16T10:30:00Z</dcterms:modified>
  <cp:category/>
</cp:coreProperties>
</file>