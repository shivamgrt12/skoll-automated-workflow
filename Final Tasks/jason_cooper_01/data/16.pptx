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dPt>
            <c:idx val="0"/>
            <c:spPr>
              <a:solidFill>
                <a:srgbClr val="38414F"/>
              </a:solidFill>
            </c:spPr>
          </c:dPt>
          <c:dPt>
            <c:idx val="1"/>
            <c:spPr>
              <a:solidFill>
                <a:srgbClr val="C57B2C"/>
              </a:solidFill>
            </c:spPr>
          </c:dPt>
          <c:dPt>
            <c:idx val="2"/>
            <c:spPr>
              <a:solidFill>
                <a:srgbClr val="4B5377"/>
              </a:solidFill>
            </c:spPr>
          </c:dPt>
          <c:dPt>
            <c:idx val="3"/>
            <c:spPr>
              <a:solidFill>
                <a:srgbClr val="7E8A6B"/>
              </a:solidFill>
            </c:spPr>
          </c:dPt>
          <c:cat>
            <c:strRef>
              <c:f>Sheet1!$A$2:$A$5</c:f>
              <c:strCache>
                <c:ptCount val="4"/>
                <c:pt idx="0">
                  <c:v>I</c:v>
                </c:pt>
                <c:pt idx="1">
                  <c:v>II</c:v>
                </c:pt>
                <c:pt idx="2">
                  <c:v>III</c:v>
                </c:pt>
                <c:pt idx="3">
                  <c:v>IV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7</c:v>
                </c:pt>
                <c:pt idx="2">
                  <c:v>9</c:v>
                </c:pt>
                <c:pt idx="3">
                  <c:v>8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A2E3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dPt>
            <c:idx val="0"/>
            <c:spPr>
              <a:solidFill>
                <a:srgbClr val="38414F"/>
              </a:solidFill>
            </c:spPr>
          </c:dPt>
          <c:dPt>
            <c:idx val="1"/>
            <c:spPr>
              <a:solidFill>
                <a:srgbClr val="C57B2C"/>
              </a:solidFill>
            </c:spPr>
          </c:dPt>
          <c:dPt>
            <c:idx val="2"/>
            <c:spPr>
              <a:solidFill>
                <a:srgbClr val="4B5377"/>
              </a:solidFill>
            </c:spPr>
          </c:dPt>
          <c:dPt>
            <c:idx val="3"/>
            <c:spPr>
              <a:solidFill>
                <a:srgbClr val="7E8A6B"/>
              </a:solidFill>
            </c:spPr>
          </c:dPt>
          <c:dPt>
            <c:idx val="4"/>
            <c:spPr>
              <a:solidFill>
                <a:srgbClr val="B9924F"/>
              </a:solidFill>
            </c:spPr>
          </c:dPt>
          <c:dPt>
            <c:idx val="5"/>
            <c:spPr>
              <a:solidFill>
                <a:srgbClr val="6A7280"/>
              </a:solidFill>
            </c:spPr>
          </c:dPt>
          <c:dPt>
            <c:idx val="6"/>
            <c:spPr>
              <a:solidFill>
                <a:srgbClr val="C3BBA8"/>
              </a:solidFill>
            </c:spPr>
          </c:dPt>
          <c:cat>
            <c:strRef>
              <c:f>Sheet1!$A$2:$A$8</c:f>
              <c:strCache>
                <c:ptCount val="7"/>
                <c:pt idx="0">
                  <c:v>Fabric</c:v>
                </c:pt>
                <c:pt idx="1">
                  <c:v>Labor</c:v>
                </c:pt>
                <c:pt idx="2">
                  <c:v>Service</c:v>
                </c:pt>
                <c:pt idx="3">
                  <c:v>Menswear</c:v>
                </c:pt>
                <c:pt idx="4">
                  <c:v>Footwear</c:v>
                </c:pt>
                <c:pt idx="5">
                  <c:v>Notions</c:v>
                </c:pt>
                <c:pt idx="6">
                  <c:v>Misc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1855</c:v>
                </c:pt>
                <c:pt idx="1">
                  <c:v>680</c:v>
                </c:pt>
                <c:pt idx="2">
                  <c:v>240</c:v>
                </c:pt>
                <c:pt idx="3">
                  <c:v>210</c:v>
                </c:pt>
                <c:pt idx="4">
                  <c:v>120</c:v>
                </c:pt>
                <c:pt idx="5">
                  <c:v>170</c:v>
                </c:pt>
                <c:pt idx="6">
                  <c:v>155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900">
          <a:solidFill>
            <a:srgbClr val="2A2E36"/>
          </a:solidFill>
          <a:latin typeface="Calibri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841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5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 spc="260">
                <a:solidFill>
                  <a:srgbClr val="C57B2C"/>
                </a:solidFill>
                <a:latin typeface="Calibri"/>
              </a:rPr>
              <a:t>PARKSIDE DANCE ACADEMY, 2026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4231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 b="1" i="0">
                <a:solidFill>
                  <a:srgbClr val="F4F1E9"/>
                </a:solidFill>
                <a:latin typeface="Calibri"/>
              </a:rPr>
              <a:t>Appalachian Spring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 i="1">
                <a:solidFill>
                  <a:srgbClr val="C3C8D0"/>
                </a:solidFill>
                <a:latin typeface="Calibri"/>
              </a:rPr>
              <a:t>A production book.  Academy Theater, February 6 to 8,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AA0AB"/>
                </a:solidFill>
                <a:latin typeface="Calibri"/>
              </a:rPr>
              <a:t>Choreography by Jason Cooper  .  Rehearsal direction by Chris Reynolds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545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584916" cy="54864"/>
          </a:xfrm>
          <a:prstGeom prst="rect">
            <a:avLst/>
          </a:prstGeom>
          <a:solidFill>
            <a:srgbClr val="C5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3C8D0"/>
                </a:solidFill>
                <a:latin typeface="Calibri"/>
              </a:rPr>
              <a:t>01 / 07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60">
                <a:solidFill>
                  <a:srgbClr val="C57B2C"/>
                </a:solidFill>
                <a:latin typeface="Calibri"/>
              </a:rPr>
              <a:t>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2A2E36"/>
                </a:solidFill>
                <a:latin typeface="Calibri"/>
              </a:rPr>
              <a:t>Spareness, on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20240"/>
            <a:ext cx="100584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600"/>
              </a:spcAft>
            </a:pPr>
            <a:r>
              <a:rPr sz="2200" b="0" i="0">
                <a:solidFill>
                  <a:srgbClr val="38414F"/>
                </a:solidFill>
                <a:latin typeface="Calibri"/>
              </a:rPr>
              <a:t>Martha Graham first danced this on a bare stage in 1944. We kept that spareness on purpose. No scrim, no projection, one bench.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600"/>
              </a:spcAft>
            </a:pPr>
            <a:r>
              <a:rPr sz="1700" b="0" i="1">
                <a:solidFill>
                  <a:srgbClr val="4B5377"/>
                </a:solidFill>
                <a:latin typeface="Calibri"/>
              </a:rPr>
              <a:t>Everything you feel should come from the body and the score, which is the standard we hold every day in the studio.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DAD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3169832" cy="54864"/>
          </a:xfrm>
          <a:prstGeom prst="rect">
            <a:avLst/>
          </a:prstGeom>
          <a:solidFill>
            <a:srgbClr val="C5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C8678"/>
                </a:solidFill>
                <a:latin typeface="Calibri"/>
              </a:rPr>
              <a:t>02 / 07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60">
                <a:solidFill>
                  <a:srgbClr val="C57B2C"/>
                </a:solidFill>
                <a:latin typeface="Calibri"/>
              </a:rPr>
              <a:t>THE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2A2E36"/>
                </a:solidFill>
                <a:latin typeface="Calibri"/>
              </a:rPr>
              <a:t>Four movements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874519"/>
          <a:ext cx="60350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103120"/>
              </a:tblGrid>
              <a:tr h="58521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Movement</a:t>
                      </a:r>
                    </a:p>
                  </a:txBody>
                  <a:tcPr>
                    <a:solidFill>
                      <a:srgbClr val="3841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Forces</a:t>
                      </a:r>
                    </a:p>
                  </a:txBody>
                  <a:tcPr>
                    <a:solidFill>
                      <a:srgbClr val="38414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2E36"/>
                          </a:solidFill>
                          <a:latin typeface="Calibri"/>
                        </a:rPr>
                        <a:t>I.  Variations on a Shaker Theme</a:t>
                      </a:r>
                    </a:p>
                  </a:txBody>
                  <a:tcPr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2E36"/>
                          </a:solidFill>
                          <a:latin typeface="Calibri"/>
                        </a:rPr>
                        <a:t>Levels 5 and 6</a:t>
                      </a:r>
                    </a:p>
                  </a:txBody>
                  <a:tcPr>
                    <a:solidFill>
                      <a:srgbClr val="F4F1E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2E36"/>
                          </a:solidFill>
                          <a:latin typeface="Calibri"/>
                        </a:rPr>
                        <a:t>II.  The Bride and Her Intended</a:t>
                      </a:r>
                    </a:p>
                  </a:txBody>
                  <a:tcPr>
                    <a:solidFill>
                      <a:srgbClr val="E9E4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2E36"/>
                          </a:solidFill>
                          <a:latin typeface="Calibri"/>
                        </a:rPr>
                        <a:t>pas de deux</a:t>
                      </a:r>
                    </a:p>
                  </a:txBody>
                  <a:tcPr>
                    <a:solidFill>
                      <a:srgbClr val="E9E4D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2E36"/>
                          </a:solidFill>
                          <a:latin typeface="Calibri"/>
                        </a:rPr>
                        <a:t>III.  The Revivalist and His Flock</a:t>
                      </a:r>
                    </a:p>
                  </a:txBody>
                  <a:tcPr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2E36"/>
                          </a:solidFill>
                          <a:latin typeface="Calibri"/>
                        </a:rPr>
                        <a:t>full company</a:t>
                      </a:r>
                    </a:p>
                  </a:txBody>
                  <a:tcPr>
                    <a:solidFill>
                      <a:srgbClr val="F4F1E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2E36"/>
                          </a:solidFill>
                          <a:latin typeface="Calibri"/>
                        </a:rPr>
                        <a:t>IV.  Day's End, adagio</a:t>
                      </a:r>
                    </a:p>
                  </a:txBody>
                  <a:tcPr>
                    <a:solidFill>
                      <a:srgbClr val="E9E4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2E36"/>
                          </a:solidFill>
                          <a:latin typeface="Calibri"/>
                        </a:rPr>
                        <a:t>full company</a:t>
                      </a:r>
                    </a:p>
                  </a:txBody>
                  <a:tcPr>
                    <a:solidFill>
                      <a:srgbClr val="E9E4D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17830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180">
                <a:solidFill>
                  <a:srgbClr val="C57B2C"/>
                </a:solidFill>
                <a:latin typeface="Calibri"/>
              </a:rPr>
              <a:t>RUNTIME BY MOVEMENT, MINUTES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223760" y="2103120"/>
          <a:ext cx="429768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23760" y="48920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8C8678"/>
                </a:solidFill>
                <a:latin typeface="Calibri"/>
              </a:rPr>
              <a:t>Thirty two minutes across four movements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DAD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510528"/>
            <a:ext cx="4754749" cy="54864"/>
          </a:xfrm>
          <a:prstGeom prst="rect">
            <a:avLst/>
          </a:prstGeom>
          <a:solidFill>
            <a:srgbClr val="C5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C8678"/>
                </a:solidFill>
                <a:latin typeface="Calibri"/>
              </a:rPr>
              <a:t>03 / 07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841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60">
                <a:solidFill>
                  <a:srgbClr val="C57B2C"/>
                </a:solidFill>
                <a:latin typeface="Calibri"/>
              </a:rPr>
              <a:t>THE COMPANY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4F1E9"/>
                </a:solidFill>
                <a:latin typeface="Calibri"/>
              </a:rPr>
              <a:t>Thirty two dancers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20240"/>
            <a:ext cx="60350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D7DBE1"/>
                </a:solidFill>
                <a:latin typeface="Calibri"/>
              </a:rPr>
              <a:t>A cast of thirty two dancers, ages twelve to eighteen, across Levels 5 and 6.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 i="1">
                <a:solidFill>
                  <a:srgbClr val="AEB4BF"/>
                </a:solidFill>
                <a:latin typeface="Calibri"/>
              </a:rPr>
              <a:t>Eleven weeks of rehearsal to learn that the hardest thing a young dancer can do is wait.</a:t>
            </a:r>
          </a:p>
        </p:txBody>
      </p:sp>
      <p:pic>
        <p:nvPicPr>
          <p:cNvPr id="5" name="Picture 4" descr="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438912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50749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9AA0AB"/>
                </a:solidFill>
                <a:latin typeface="Calibri"/>
              </a:rPr>
              <a:t>Fairmount, Philadelphia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545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6339665" cy="54864"/>
          </a:xfrm>
          <a:prstGeom prst="rect">
            <a:avLst/>
          </a:prstGeom>
          <a:solidFill>
            <a:srgbClr val="C5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3C8D0"/>
                </a:solidFill>
                <a:latin typeface="Calibri"/>
              </a:rPr>
              <a:t>04 / 07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457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60">
                <a:solidFill>
                  <a:srgbClr val="C57B2C"/>
                </a:solidFill>
                <a:latin typeface="Calibri"/>
              </a:rPr>
              <a:t>PRODUCTION AND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A2E36"/>
                </a:solidFill>
                <a:latin typeface="Calibri"/>
              </a:rPr>
              <a:t>Costumes by Lisa Thompson, a $4,800 budget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554480"/>
          <a:ext cx="51206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309360" y="1828800"/>
            <a:ext cx="51206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38414F"/>
                </a:solidFill>
                <a:latin typeface="Calibri"/>
              </a:rPr>
              <a:t>Spent $3,430 of $4,800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4A4F58"/>
                </a:solidFill>
                <a:latin typeface="Calibri"/>
              </a:rPr>
              <a:t>Lighting by Dave Marshall.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4A4F58"/>
                </a:solidFill>
                <a:latin typeface="Calibri"/>
              </a:rPr>
              <a:t>Music, a licensed Aaron Copland arrangement, $1,200 paid in full.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i="1">
                <a:solidFill>
                  <a:srgbClr val="4B5377"/>
                </a:solidFill>
                <a:latin typeface="Calibri"/>
              </a:rPr>
              <a:t>Quick changes tested under ninety seconds, stage left wing.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DAD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7924582" cy="54864"/>
          </a:xfrm>
          <a:prstGeom prst="rect">
            <a:avLst/>
          </a:prstGeom>
          <a:solidFill>
            <a:srgbClr val="C5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C8678"/>
                </a:solidFill>
                <a:latin typeface="Calibri"/>
              </a:rPr>
              <a:t>05 / 07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60">
                <a:solidFill>
                  <a:srgbClr val="C57B2C"/>
                </a:solidFill>
                <a:latin typeface="Calibri"/>
              </a:rPr>
              <a:t>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2A2E36"/>
                </a:solidFill>
                <a:latin typeface="Calibri"/>
              </a:rPr>
              <a:t>The run, counted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3383280" cy="1600200"/>
          </a:xfrm>
          <a:prstGeom prst="rect">
            <a:avLst/>
          </a:prstGeom>
          <a:solidFill>
            <a:srgbClr val="E9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3383280" cy="109728"/>
          </a:xfrm>
          <a:prstGeom prst="rect">
            <a:avLst/>
          </a:prstGeom>
          <a:solidFill>
            <a:srgbClr val="C5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38414F"/>
                </a:solidFill>
                <a:latin typeface="Calibri"/>
              </a:rPr>
              <a:t>32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8C8678"/>
                </a:solidFill>
                <a:latin typeface="Calibri"/>
              </a:rPr>
              <a:t>dancers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011680"/>
            <a:ext cx="3383280" cy="1600200"/>
          </a:xfrm>
          <a:prstGeom prst="rect">
            <a:avLst/>
          </a:prstGeom>
          <a:solidFill>
            <a:srgbClr val="E9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2011680"/>
            <a:ext cx="3383280" cy="109728"/>
          </a:xfrm>
          <a:prstGeom prst="rect">
            <a:avLst/>
          </a:prstGeom>
          <a:solidFill>
            <a:srgbClr val="C5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286000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38414F"/>
                </a:solidFill>
                <a:latin typeface="Calibri"/>
              </a:rPr>
              <a:t>4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8C8678"/>
                </a:solidFill>
                <a:latin typeface="Calibri"/>
              </a:rPr>
              <a:t>movements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011680"/>
            <a:ext cx="3383280" cy="1600200"/>
          </a:xfrm>
          <a:prstGeom prst="rect">
            <a:avLst/>
          </a:prstGeom>
          <a:solidFill>
            <a:srgbClr val="E9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2011680"/>
            <a:ext cx="3383280" cy="109728"/>
          </a:xfrm>
          <a:prstGeom prst="rect">
            <a:avLst/>
          </a:prstGeom>
          <a:solidFill>
            <a:srgbClr val="C5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38414F"/>
                </a:solidFill>
                <a:latin typeface="Calibri"/>
              </a:rPr>
              <a:t>8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8C8678"/>
                </a:solidFill>
                <a:latin typeface="Calibri"/>
              </a:rPr>
              <a:t>performances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886199"/>
            <a:ext cx="3383280" cy="1600200"/>
          </a:xfrm>
          <a:prstGeom prst="rect">
            <a:avLst/>
          </a:prstGeom>
          <a:solidFill>
            <a:srgbClr val="E9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886199"/>
            <a:ext cx="3383280" cy="109728"/>
          </a:xfrm>
          <a:prstGeom prst="rect">
            <a:avLst/>
          </a:prstGeom>
          <a:solidFill>
            <a:srgbClr val="C5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160519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38414F"/>
                </a:solidFill>
                <a:latin typeface="Calibri"/>
              </a:rPr>
              <a:t>11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8C8678"/>
                </a:solidFill>
                <a:latin typeface="Calibri"/>
              </a:rPr>
              <a:t>weeks of rehearsal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3886199"/>
            <a:ext cx="3383280" cy="1600200"/>
          </a:xfrm>
          <a:prstGeom prst="rect">
            <a:avLst/>
          </a:prstGeom>
          <a:solidFill>
            <a:srgbClr val="E9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3886199"/>
            <a:ext cx="3383280" cy="109728"/>
          </a:xfrm>
          <a:prstGeom prst="rect">
            <a:avLst/>
          </a:prstGeom>
          <a:solidFill>
            <a:srgbClr val="C5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4160519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38414F"/>
                </a:solidFill>
                <a:latin typeface="Calibri"/>
              </a:rPr>
              <a:t>$4,800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8C8678"/>
                </a:solidFill>
                <a:latin typeface="Calibri"/>
              </a:rPr>
              <a:t>costume budget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886199"/>
            <a:ext cx="3383280" cy="1600200"/>
          </a:xfrm>
          <a:prstGeom prst="rect">
            <a:avLst/>
          </a:prstGeom>
          <a:solidFill>
            <a:srgbClr val="E9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3886199"/>
            <a:ext cx="3383280" cy="109728"/>
          </a:xfrm>
          <a:prstGeom prst="rect">
            <a:avLst/>
          </a:prstGeom>
          <a:solidFill>
            <a:srgbClr val="C5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160519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38414F"/>
                </a:solidFill>
                <a:latin typeface="Calibri"/>
              </a:rPr>
              <a:t>$1,200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8C8678"/>
                </a:solidFill>
                <a:latin typeface="Calibri"/>
              </a:rPr>
              <a:t>music license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DAD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6510528"/>
            <a:ext cx="9509498" cy="54864"/>
          </a:xfrm>
          <a:prstGeom prst="rect">
            <a:avLst/>
          </a:prstGeom>
          <a:solidFill>
            <a:srgbClr val="C5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C8678"/>
                </a:solidFill>
                <a:latin typeface="Calibri"/>
              </a:rPr>
              <a:t>06 / 07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841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36576"/>
          </a:xfrm>
          <a:prstGeom prst="rect">
            <a:avLst/>
          </a:prstGeom>
          <a:solidFill>
            <a:srgbClr val="C5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3000" b="1" i="0">
                <a:solidFill>
                  <a:srgbClr val="F4F1E9"/>
                </a:solidFill>
                <a:latin typeface="Calibri"/>
              </a:rPr>
              <a:t>With gratitude to the parents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1">
                <a:solidFill>
                  <a:srgbClr val="C3C8D0"/>
                </a:solidFill>
                <a:latin typeface="Calibri"/>
              </a:rPr>
              <a:t>who drove the late pickups and learned to sew a hook and eye in the dark.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545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C5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3C8D0"/>
                </a:solidFill>
                <a:latin typeface="Calibri"/>
              </a:rPr>
              <a:t>07 / 07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Jason Cooper</cp:lastModifiedBy>
  <cp:revision>1</cp:revision>
  <dcterms:created xsi:type="dcterms:W3CDTF">2013-01-27T09:14:16Z</dcterms:created>
  <dcterms:modified xsi:type="dcterms:W3CDTF">2013-01-27T09:15:58Z</dcterms:modified>
  <cp:category/>
</cp:coreProperties>
</file>