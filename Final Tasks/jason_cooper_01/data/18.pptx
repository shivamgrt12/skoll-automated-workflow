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Dancers</c:v>
                </c:pt>
              </c:strCache>
            </c:strRef>
          </c:tx>
          <c:dPt>
            <c:idx val="0"/>
            <c:spPr>
              <a:solidFill>
                <a:srgbClr val="0F5E58"/>
              </a:solidFill>
            </c:spPr>
          </c:dPt>
          <c:dPt>
            <c:idx val="1"/>
            <c:spPr>
              <a:solidFill>
                <a:srgbClr val="167F77"/>
              </a:solidFill>
            </c:spPr>
          </c:dPt>
          <c:dPt>
            <c:idx val="2"/>
            <c:spPr>
              <a:solidFill>
                <a:srgbClr val="D98A2B"/>
              </a:solidFill>
            </c:spPr>
          </c:dPt>
          <c:dPt>
            <c:idx val="3"/>
            <c:spPr>
              <a:solidFill>
                <a:srgbClr val="C77E1F"/>
              </a:solidFill>
            </c:spPr>
          </c:dPt>
          <c:cat>
            <c:strRef>
              <c:f>Sheet1!$A$2:$A$5</c:f>
              <c:strCache>
                <c:ptCount val="4"/>
                <c:pt idx="0">
                  <c:v>Level 3</c:v>
                </c:pt>
                <c:pt idx="1">
                  <c:v>Level 4</c:v>
                </c:pt>
                <c:pt idx="2">
                  <c:v>Level 5</c:v>
                </c:pt>
                <c:pt idx="3">
                  <c:v>Level 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16</c:v>
                </c:pt>
                <c:pt idx="2">
                  <c:v>14</c:v>
                </c:pt>
                <c:pt idx="3">
                  <c:v>12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2312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Dancers</c:v>
                </c:pt>
              </c:strCache>
            </c:strRef>
          </c:tx>
          <c:dPt>
            <c:idx val="0"/>
            <c:spPr>
              <a:solidFill>
                <a:srgbClr val="D98A2B"/>
              </a:solidFill>
            </c:spPr>
          </c:dPt>
          <c:dPt>
            <c:idx val="1"/>
            <c:spPr>
              <a:solidFill>
                <a:srgbClr val="7FB3AD"/>
              </a:solidFill>
            </c:spPr>
          </c:dPt>
          <c:dPt>
            <c:idx val="2"/>
            <c:spPr>
              <a:solidFill>
                <a:srgbClr val="0F5E58"/>
              </a:solidFill>
            </c:spPr>
          </c:dPt>
          <c:cat>
            <c:strRef>
              <c:f>Sheet1!$A$2:$A$4</c:f>
              <c:strCache>
                <c:ptCount val="3"/>
                <c:pt idx="0">
                  <c:v>On pointe</c:v>
                </c:pt>
                <c:pt idx="1">
                  <c:v>Testing this term</c:v>
                </c:pt>
                <c:pt idx="2">
                  <c:v>Pre pointe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6</c:v>
                </c:pt>
                <c:pt idx="2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F2F6F6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heart rate</c:v>
                </c:pt>
              </c:strCache>
            </c:strRef>
          </c:tx>
          <c:spPr>
            <a:ln>
              <a:solidFill>
                <a:srgbClr val="D98A2B"/>
              </a:solidFill>
            </a:ln>
          </c:spPr>
          <c:cat>
            <c:strRef>
              <c:f>Sheet1!$A$2:$A$6</c:f>
              <c:strCache>
                <c:ptCount val="5"/>
                <c:pt idx="0">
                  <c:v>Jan 6</c:v>
                </c:pt>
                <c:pt idx="1">
                  <c:v>Jan 8</c:v>
                </c:pt>
                <c:pt idx="2">
                  <c:v>Jan 10</c:v>
                </c:pt>
                <c:pt idx="3">
                  <c:v>Jan 15</c:v>
                </c:pt>
                <c:pt idx="4">
                  <c:v>Jan 17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</c:v>
                </c:pt>
                <c:pt idx="1">
                  <c:v>138</c:v>
                </c:pt>
                <c:pt idx="2">
                  <c:v>134</c:v>
                </c:pt>
                <c:pt idx="3">
                  <c:v>133</c:v>
                </c:pt>
                <c:pt idx="4">
                  <c:v>140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22312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640080" cy="10972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5000" b="1" i="0">
                <a:solidFill>
                  <a:srgbClr val="F2F6F6"/>
                </a:solidFill>
                <a:latin typeface="Calibri"/>
              </a:rPr>
              <a:t>Studio Year in Review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1">
                <a:solidFill>
                  <a:srgbClr val="AFC4C0"/>
                </a:solidFill>
                <a:latin typeface="Calibri"/>
              </a:rPr>
              <a:t>Teaching notes from the season, Parkside Dance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FA8A3"/>
                </a:solidFill>
                <a:latin typeface="Calibri"/>
              </a:rPr>
              <a:t>Jason Cooper, Choreographer and Senior Instructor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3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584916" cy="5486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FC4C0"/>
                </a:solidFill>
                <a:latin typeface="Calibri"/>
              </a:rPr>
              <a:t>01 / 07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0F5E58"/>
                </a:solidFill>
                <a:latin typeface="Calibri"/>
              </a:rPr>
              <a:t>THE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2312F"/>
                </a:solidFill>
                <a:latin typeface="Calibri"/>
              </a:rPr>
              <a:t>Sixty dancers, six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3C4A48"/>
                </a:solidFill>
                <a:latin typeface="Calibri"/>
              </a:rPr>
              <a:t>Parkside has 180 students enrolled. I teach about sixty directly across six levels, classes from ten to one and four to six most days, with Wednesday afternoons protected for choreography.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57600"/>
            <a:ext cx="2468880" cy="1645920"/>
          </a:xfrm>
          <a:prstGeom prst="rect">
            <a:avLst/>
          </a:prstGeom>
          <a:solidFill>
            <a:srgbClr val="E2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2468880" cy="109728"/>
          </a:xfrm>
          <a:prstGeom prst="rect">
            <a:avLst/>
          </a:prstGeom>
          <a:solidFill>
            <a:srgbClr val="0F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977640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F5E58"/>
                </a:solidFill>
                <a:latin typeface="Calibri"/>
              </a:rPr>
              <a:t>180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8480"/>
                </a:solidFill>
                <a:latin typeface="Calibri"/>
              </a:rPr>
              <a:t>enrolled at the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3657600"/>
            <a:ext cx="2468880" cy="1645920"/>
          </a:xfrm>
          <a:prstGeom prst="rect">
            <a:avLst/>
          </a:prstGeom>
          <a:solidFill>
            <a:srgbClr val="E2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40" y="3657600"/>
            <a:ext cx="2468880" cy="109728"/>
          </a:xfrm>
          <a:prstGeom prst="rect">
            <a:avLst/>
          </a:prstGeom>
          <a:solidFill>
            <a:srgbClr val="0F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977640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F5E58"/>
                </a:solidFill>
                <a:latin typeface="Calibri"/>
              </a:rPr>
              <a:t>60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8480"/>
                </a:solidFill>
                <a:latin typeface="Calibri"/>
              </a:rPr>
              <a:t>taught directly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657600"/>
            <a:ext cx="2468880" cy="1645920"/>
          </a:xfrm>
          <a:prstGeom prst="rect">
            <a:avLst/>
          </a:prstGeom>
          <a:solidFill>
            <a:srgbClr val="E2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657600"/>
            <a:ext cx="2468880" cy="109728"/>
          </a:xfrm>
          <a:prstGeom prst="rect">
            <a:avLst/>
          </a:prstGeom>
          <a:solidFill>
            <a:srgbClr val="0F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977640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F5E58"/>
                </a:solidFill>
                <a:latin typeface="Calibri"/>
              </a:rPr>
              <a:t>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8480"/>
                </a:solidFill>
                <a:latin typeface="Calibri"/>
              </a:rPr>
              <a:t>levels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3657600"/>
            <a:ext cx="2468880" cy="1645920"/>
          </a:xfrm>
          <a:prstGeom prst="rect">
            <a:avLst/>
          </a:prstGeom>
          <a:solidFill>
            <a:srgbClr val="E2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15400" y="3657600"/>
            <a:ext cx="2468880" cy="109728"/>
          </a:xfrm>
          <a:prstGeom prst="rect">
            <a:avLst/>
          </a:prstGeom>
          <a:solidFill>
            <a:srgbClr val="0F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977640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F5E58"/>
                </a:solidFill>
                <a:latin typeface="Calibri"/>
              </a:rPr>
              <a:t>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8480"/>
                </a:solidFill>
                <a:latin typeface="Calibri"/>
              </a:rPr>
              <a:t>showcases a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D2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6510528"/>
            <a:ext cx="3169832" cy="5486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8480"/>
                </a:solidFill>
                <a:latin typeface="Calibri"/>
              </a:rPr>
              <a:t>02 / 07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0F5E58"/>
                </a:solidFill>
                <a:latin typeface="Calibri"/>
              </a:rPr>
              <a:t>ENROLLMENT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2312F"/>
                </a:solidFill>
                <a:latin typeface="Calibri"/>
              </a:rPr>
              <a:t>Dancers by level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37360"/>
          <a:ext cx="65836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2103120"/>
            <a:ext cx="3657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600" b="1" i="0">
                <a:solidFill>
                  <a:srgbClr val="0F5E58"/>
                </a:solidFill>
                <a:latin typeface="Calibri"/>
              </a:rPr>
              <a:t>60 dancers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3C4A48"/>
                </a:solidFill>
                <a:latin typeface="Calibri"/>
              </a:rPr>
              <a:t>The lower levels carry the larger classes. Pointe testing begins in Level 4 and the upper corps holds steady at the most committed.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D2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4754749" cy="5486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8480"/>
                </a:solidFill>
                <a:latin typeface="Calibri"/>
              </a:rPr>
              <a:t>03 / 07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D98A2B"/>
                </a:solidFill>
                <a:latin typeface="Calibri"/>
              </a:rPr>
              <a:t>POINTE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6F6"/>
                </a:solidFill>
                <a:latin typeface="Calibri"/>
              </a:rPr>
              <a:t>Where the cohort stands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37360"/>
          <a:ext cx="49377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2103120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D98A2B"/>
                </a:solidFill>
                <a:latin typeface="Calibri"/>
              </a:rPr>
              <a:t>Pointe is earned, not aged into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C5D2CF"/>
                </a:solidFill>
                <a:latin typeface="Calibri"/>
              </a:rPr>
              <a:t>Twenty six dancers are on pointe, six are testing this term, and the rest are building the ankle strength that has to come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3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6339665" cy="5486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FC4C0"/>
                </a:solidFill>
                <a:latin typeface="Calibri"/>
              </a:rPr>
              <a:t>04 / 07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0F5E58"/>
                </a:solidFill>
                <a:latin typeface="Calibri"/>
              </a:rPr>
              <a:t>TRAINING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2312F"/>
                </a:solidFill>
                <a:latin typeface="Calibri"/>
              </a:rPr>
              <a:t>A dancer's body at thirty nine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42062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3C4A48"/>
                </a:solidFill>
                <a:latin typeface="Calibri"/>
              </a:rPr>
              <a:t>Reformer Pilates, Monday, Wednesday, and Friday at 6:30, with a forty five minute floor stretch every morning.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1">
                <a:solidFill>
                  <a:srgbClr val="0F5E58"/>
                </a:solidFill>
                <a:latin typeface="Calibri"/>
              </a:rPr>
              <a:t>Custom ankle brace on before any teaching block. The point is symmetry.</a:t>
            </a:r>
          </a:p>
        </p:txBody>
      </p:sp>
      <p:pic>
        <p:nvPicPr>
          <p:cNvPr id="5" name="Picture 4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54480"/>
            <a:ext cx="1917558" cy="2926080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55279" y="1554480"/>
          <a:ext cx="356616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45720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E8480"/>
                </a:solidFill>
                <a:latin typeface="Calibri"/>
              </a:rPr>
              <a:t>Reformer sessions, average heart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D2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7924582" cy="5486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8480"/>
                </a:solidFill>
                <a:latin typeface="Calibri"/>
              </a:rPr>
              <a:t>05 / 07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0F5E58"/>
                </a:solidFill>
                <a:latin typeface="Calibri"/>
              </a:rPr>
              <a:t>MUSIC AND REPERTOIRE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312F"/>
                </a:solidFill>
                <a:latin typeface="Calibri"/>
              </a:rPr>
              <a:t>The rehearsal cue sheet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9164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017520"/>
                <a:gridCol w="292608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0F5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Composer</a:t>
                      </a:r>
                    </a:p>
                  </a:txBody>
                  <a:tcPr>
                    <a:solidFill>
                      <a:srgbClr val="0F5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0F5E5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Appalachian Spring, Variations</a:t>
                      </a:r>
                    </a:p>
                  </a:txBody>
                  <a:tcPr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Aaron Copland</a:t>
                      </a:r>
                    </a:p>
                  </a:txBody>
                  <a:tcPr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Movement I</a:t>
                      </a:r>
                    </a:p>
                  </a:txBody>
                  <a:tcPr>
                    <a:solidFill>
                      <a:srgbClr val="F2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Rodeo, Hoe Down</a:t>
                      </a:r>
                    </a:p>
                  </a:txBody>
                  <a:tcPr>
                    <a:solidFill>
                      <a:srgbClr val="E2ED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Aaron Copland</a:t>
                      </a:r>
                    </a:p>
                  </a:txBody>
                  <a:tcPr>
                    <a:solidFill>
                      <a:srgbClr val="E2ED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Warm up energy</a:t>
                      </a:r>
                    </a:p>
                  </a:txBody>
                  <a:tcPr>
                    <a:solidFill>
                      <a:srgbClr val="E2ED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Waltz of the Flowers</a:t>
                      </a:r>
                    </a:p>
                  </a:txBody>
                  <a:tcPr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Tchaikovsky</a:t>
                      </a:r>
                    </a:p>
                  </a:txBody>
                  <a:tcPr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Winter corps</a:t>
                      </a:r>
                    </a:p>
                  </a:txBody>
                  <a:tcPr>
                    <a:solidFill>
                      <a:srgbClr val="F2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Symphonic Dances</a:t>
                      </a:r>
                    </a:p>
                  </a:txBody>
                  <a:tcPr>
                    <a:solidFill>
                      <a:srgbClr val="E2ED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Leonard Bernstein</a:t>
                      </a:r>
                    </a:p>
                  </a:txBody>
                  <a:tcPr>
                    <a:solidFill>
                      <a:srgbClr val="E2ED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Senior class</a:t>
                      </a:r>
                    </a:p>
                  </a:txBody>
                  <a:tcPr>
                    <a:solidFill>
                      <a:srgbClr val="E2ED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Nocturne in E flat</a:t>
                      </a:r>
                    </a:p>
                  </a:txBody>
                  <a:tcPr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Chopin</a:t>
                      </a:r>
                    </a:p>
                  </a:txBody>
                  <a:tcPr>
                    <a:solidFill>
                      <a:srgbClr val="F2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Adagio and stretch</a:t>
                      </a:r>
                    </a:p>
                  </a:txBody>
                  <a:tcPr>
                    <a:solidFill>
                      <a:srgbClr val="F2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Clair de Lune</a:t>
                      </a:r>
                    </a:p>
                  </a:txBody>
                  <a:tcPr>
                    <a:solidFill>
                      <a:srgbClr val="E2ED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Debussy</a:t>
                      </a:r>
                    </a:p>
                  </a:txBody>
                  <a:tcPr>
                    <a:solidFill>
                      <a:srgbClr val="E2ED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12F"/>
                          </a:solidFill>
                          <a:latin typeface="Calibri"/>
                        </a:rPr>
                        <a:t>Cool down</a:t>
                      </a:r>
                    </a:p>
                  </a:txBody>
                  <a:tcPr>
                    <a:solidFill>
                      <a:srgbClr val="E2EDE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D2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9509498" cy="5486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8480"/>
                </a:solidFill>
                <a:latin typeface="Calibri"/>
              </a:rPr>
              <a:t>06 / 07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28800"/>
            <a:ext cx="109728" cy="2011680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920240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000" b="1" i="0">
                <a:solidFill>
                  <a:srgbClr val="F2F6F6"/>
                </a:solidFill>
                <a:latin typeface="Calibri"/>
              </a:rPr>
              <a:t>Breakthroughs are earned in the boring repetitions,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1">
                <a:solidFill>
                  <a:srgbClr val="AFC4C0"/>
                </a:solidFill>
                <a:latin typeface="Calibri"/>
              </a:rPr>
              <a:t>and this group has not yet fallen in love with the boring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29768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FA8A3"/>
                </a:solidFill>
                <a:latin typeface="Calibri"/>
              </a:rPr>
              <a:t>Ahead: Dance Educators Symposium, October 17 to 18  .  Winter Showcase, December 12 to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3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FC4C0"/>
                </a:solidFill>
                <a:latin typeface="Calibri"/>
              </a:rPr>
              <a:t>07 / 07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Jason Cooper</cp:lastModifiedBy>
  <cp:revision>1</cp:revision>
  <dcterms:created xsi:type="dcterms:W3CDTF">2013-01-27T09:14:16Z</dcterms:created>
  <dcterms:modified xsi:type="dcterms:W3CDTF">2013-01-27T09:15:58Z</dcterms:modified>
  <cp:category/>
</cp:coreProperties>
</file>