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dPt>
            <c:idx val="0"/>
            <c:spPr>
              <a:solidFill>
                <a:srgbClr val="5B2A4E"/>
              </a:solidFill>
            </c:spPr>
          </c:dPt>
          <c:dPt>
            <c:idx val="1"/>
            <c:spPr>
              <a:solidFill>
                <a:srgbClr val="C8932F"/>
              </a:solidFill>
            </c:spPr>
          </c:dPt>
          <c:dPt>
            <c:idx val="2"/>
            <c:spPr>
              <a:solidFill>
                <a:srgbClr val="9C6F8E"/>
              </a:solidFill>
            </c:spPr>
          </c:dPt>
          <c:cat>
            <c:strRef>
              <c:f>Sheet1!$A$2:$A$4</c:f>
              <c:strCache>
                <c:ptCount val="3"/>
                <c:pt idx="0">
                  <c:v>Act One, Nutcracker</c:v>
                </c:pt>
                <c:pt idx="1">
                  <c:v>Intermission</c:v>
                </c:pt>
                <c:pt idx="2">
                  <c:v>Act Two, commission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15</c:v>
                </c:pt>
                <c:pt idx="2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900">
          <a:solidFill>
            <a:srgbClr val="2B2230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Planned cost</c:v>
                </c:pt>
              </c:strCache>
            </c:strRef>
          </c:tx>
          <c:dPt>
            <c:idx val="0"/>
            <c:spPr>
              <a:solidFill>
                <a:srgbClr val="C8932F"/>
              </a:solidFill>
            </c:spPr>
          </c:dPt>
          <c:dPt>
            <c:idx val="1"/>
            <c:spPr>
              <a:solidFill>
                <a:srgbClr val="C8932F"/>
              </a:solidFill>
            </c:spPr>
          </c:dPt>
          <c:dPt>
            <c:idx val="2"/>
            <c:spPr>
              <a:solidFill>
                <a:srgbClr val="C8932F"/>
              </a:solidFill>
            </c:spPr>
          </c:dPt>
          <c:dPt>
            <c:idx val="3"/>
            <c:spPr>
              <a:solidFill>
                <a:srgbClr val="C8932F"/>
              </a:solidFill>
            </c:spPr>
          </c:dPt>
          <c:dPt>
            <c:idx val="4"/>
            <c:spPr>
              <a:solidFill>
                <a:srgbClr val="C8932F"/>
              </a:solidFill>
            </c:spPr>
          </c:dPt>
          <c:cat>
            <c:strRef>
              <c:f>Sheet1!$A$2:$A$6</c:f>
              <c:strCache>
                <c:ptCount val="5"/>
                <c:pt idx="0">
                  <c:v>Costume refresh</c:v>
                </c:pt>
                <c:pt idx="1">
                  <c:v>Music</c:v>
                </c:pt>
                <c:pt idx="2">
                  <c:v>Sets and props</c:v>
                </c:pt>
                <c:pt idx="3">
                  <c:v>Lighting</c:v>
                </c:pt>
                <c:pt idx="4">
                  <c:v>Printing and misc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1400</c:v>
                </c:pt>
                <c:pt idx="1">
                  <c:v>0</c:v>
                </c:pt>
                <c:pt idx="2">
                  <c:v>900</c:v>
                </c:pt>
                <c:pt idx="3">
                  <c:v>700</c:v>
                </c:pt>
                <c:pt idx="4">
                  <c:v>400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B223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2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 spc="300">
                <a:solidFill>
                  <a:srgbClr val="C8932F"/>
                </a:solidFill>
                <a:latin typeface="Calibri"/>
              </a:rPr>
              <a:t>PARKSIDE DANCE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Winter Showcase 2026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1">
                <a:solidFill>
                  <a:srgbClr val="E8D9E4"/>
                </a:solidFill>
                <a:latin typeface="Calibri"/>
              </a:rPr>
              <a:t>Repertoire Proposal, prepared for the Director's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D9C7D3"/>
                </a:solidFill>
                <a:latin typeface="Calibri"/>
              </a:rPr>
              <a:t>Jason Cooper, Choreographer and Senior Instructor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B79FB0"/>
                </a:solidFill>
                <a:latin typeface="Calibri"/>
              </a:rPr>
              <a:t>Submitted October 1, 2026  .  Academy Theater, December 12 to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7A5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584916" cy="54864"/>
          </a:xfrm>
          <a:prstGeom prst="rect">
            <a:avLst/>
          </a:prstGeom>
          <a:solidFill>
            <a:srgbClr val="C8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D9E4"/>
                </a:solidFill>
                <a:latin typeface="Calibri"/>
              </a:rPr>
              <a:t>01 / 07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60">
                <a:solidFill>
                  <a:srgbClr val="5B2A4E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B2230"/>
                </a:solidFill>
                <a:latin typeface="Calibri"/>
              </a:rPr>
              <a:t>A two act program, anchored and contemporary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5394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4A414C"/>
                </a:solidFill>
                <a:latin typeface="Calibri"/>
              </a:rPr>
              <a:t>A two act winter program that balances a classical anchor with a contemporary commission, sized for our Level 3 to Level 6 dancers and the Academy Theater's tech limitations.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4A414C"/>
                </a:solidFill>
                <a:latin typeface="Calibri"/>
              </a:rPr>
              <a:t>Runtime target is ninety minutes including a fifteen minute intermission, December 12 and 13, 2026.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526280"/>
            <a:ext cx="2514600" cy="1051560"/>
          </a:xfrm>
          <a:prstGeom prst="rect">
            <a:avLst/>
          </a:prstGeom>
          <a:solidFill>
            <a:srgbClr val="E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4526280"/>
            <a:ext cx="91440" cy="1051560"/>
          </a:xfrm>
          <a:prstGeom prst="rect">
            <a:avLst/>
          </a:prstGeom>
          <a:solidFill>
            <a:srgbClr val="C8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4690872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5B2A4E"/>
                </a:solidFill>
                <a:latin typeface="Calibri"/>
              </a:rPr>
              <a:t>90 min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8A7E86"/>
                </a:solidFill>
                <a:latin typeface="Calibri"/>
              </a:rPr>
              <a:t>runtime 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4526280"/>
            <a:ext cx="2514600" cy="1051560"/>
          </a:xfrm>
          <a:prstGeom prst="rect">
            <a:avLst/>
          </a:prstGeom>
          <a:solidFill>
            <a:srgbClr val="E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4526280"/>
            <a:ext cx="91440" cy="1051560"/>
          </a:xfrm>
          <a:prstGeom prst="rect">
            <a:avLst/>
          </a:prstGeom>
          <a:solidFill>
            <a:srgbClr val="C8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2192" y="4690872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5B2A4E"/>
                </a:solidFill>
                <a:latin typeface="Calibri"/>
              </a:rPr>
              <a:t>Dec 12 to 13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8A7E86"/>
                </a:solidFill>
                <a:latin typeface="Calibri"/>
              </a:rPr>
              <a:t>two performances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5B2A4E"/>
                </a:solidFill>
                <a:latin typeface="Calibri"/>
              </a:rPr>
              <a:t>PROGRAM RUNTIME, MINUTES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9360" y="2057400"/>
          <a:ext cx="51206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E3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510528"/>
            <a:ext cx="3169832" cy="54864"/>
          </a:xfrm>
          <a:prstGeom prst="rect">
            <a:avLst/>
          </a:prstGeom>
          <a:solidFill>
            <a:srgbClr val="C8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A7E86"/>
                </a:solidFill>
                <a:latin typeface="Calibri"/>
              </a:rPr>
              <a:t>02 / 07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60">
                <a:solidFill>
                  <a:srgbClr val="5B2A4E"/>
                </a:solidFill>
                <a:latin typeface="Calibri"/>
              </a:rPr>
              <a:t>ACT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2B2230"/>
                </a:solidFill>
                <a:latin typeface="Calibri"/>
              </a:rPr>
              <a:t>The Nutcracker, Selected Divertissements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61264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4A414C"/>
                </a:solidFill>
                <a:latin typeface="Calibri"/>
              </a:rPr>
              <a:t>Snow Scene for the full Level 5 and 6 corps.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4A414C"/>
                </a:solidFill>
                <a:latin typeface="Calibri"/>
              </a:rPr>
              <a:t>Waltz of the Flowers reduced to twelve dancers.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4A414C"/>
                </a:solidFill>
                <a:latin typeface="Calibri"/>
              </a:rPr>
              <a:t>Spanish and Chinese variations for our advanced soloists.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1">
                <a:solidFill>
                  <a:srgbClr val="5B2A4E"/>
                </a:solidFill>
                <a:latin typeface="Calibri"/>
              </a:rPr>
              <a:t>Tchaikovsky is in the public domain, so there is no licensing fee, which protects the costume budget.</a:t>
            </a:r>
          </a:p>
        </p:txBody>
      </p:sp>
      <p:pic>
        <p:nvPicPr>
          <p:cNvPr id="5" name="Picture 4" descr="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83080"/>
            <a:ext cx="4670112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49834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8A7E86"/>
                </a:solidFill>
                <a:latin typeface="Calibri"/>
              </a:rPr>
              <a:t>Choreography studio, where the program takes shape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E3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4754749" cy="54864"/>
          </a:xfrm>
          <a:prstGeom prst="rect">
            <a:avLst/>
          </a:prstGeom>
          <a:solidFill>
            <a:srgbClr val="C8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A7E86"/>
                </a:solidFill>
                <a:latin typeface="Calibri"/>
              </a:rPr>
              <a:t>03 / 07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2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60">
                <a:solidFill>
                  <a:srgbClr val="C8932F"/>
                </a:solidFill>
                <a:latin typeface="Calibri"/>
              </a:rPr>
              <a:t>ACT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New Contemporary Commission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0" i="0">
                <a:solidFill>
                  <a:srgbClr val="EBDDE7"/>
                </a:solidFill>
                <a:latin typeface="Calibri"/>
              </a:rPr>
              <a:t>A fifteen minute ensemble piece set to a Bernstein style score, choreographed in studio across October and November.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 i="1">
                <a:solidFill>
                  <a:srgbClr val="C9B4C3"/>
                </a:solidFill>
                <a:latin typeface="Calibri"/>
              </a:rPr>
              <a:t>This gives the older students repertoire they cannot find in a syllabus, and it gives the program a reason to exist beyond the familiar.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7A5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6339665" cy="54864"/>
          </a:xfrm>
          <a:prstGeom prst="rect">
            <a:avLst/>
          </a:prstGeom>
          <a:solidFill>
            <a:srgbClr val="C8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8D9E4"/>
                </a:solidFill>
                <a:latin typeface="Calibri"/>
              </a:rPr>
              <a:t>04 / 07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60">
                <a:solidFill>
                  <a:srgbClr val="5B2A4E"/>
                </a:solidFill>
                <a:latin typeface="Calibri"/>
              </a:rPr>
              <a:t>BUDGET AND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B2230"/>
                </a:solidFill>
                <a:latin typeface="Calibri"/>
              </a:rPr>
              <a:t>Costume reuse holds the spend under thirty five hundred dollars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645920"/>
          <a:ext cx="58521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0" y="1737360"/>
          <a:ext cx="4572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>
                    <a:solidFill>
                      <a:srgbClr val="5B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5B2A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230"/>
                          </a:solidFill>
                          <a:latin typeface="Calibri"/>
                        </a:rPr>
                        <a:t>Proposal to Director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230"/>
                          </a:solidFill>
                          <a:latin typeface="Calibri"/>
                        </a:rPr>
                        <a:t>October 1, 2026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230"/>
                          </a:solidFill>
                          <a:latin typeface="Calibri"/>
                        </a:rPr>
                        <a:t>Casting auditions</a:t>
                      </a:r>
                    </a:p>
                  </a:txBody>
                  <a:tcPr>
                    <a:solidFill>
                      <a:srgbClr val="EFE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230"/>
                          </a:solidFill>
                          <a:latin typeface="Calibri"/>
                        </a:rPr>
                        <a:t>October 24, 2026</a:t>
                      </a:r>
                    </a:p>
                  </a:txBody>
                  <a:tcPr>
                    <a:solidFill>
                      <a:srgbClr val="EFE3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230"/>
                          </a:solidFill>
                          <a:latin typeface="Calibri"/>
                        </a:rPr>
                        <a:t>Casting posted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230"/>
                          </a:solidFill>
                          <a:latin typeface="Calibri"/>
                        </a:rPr>
                        <a:t>October 28, 2026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230"/>
                          </a:solidFill>
                          <a:latin typeface="Calibri"/>
                        </a:rPr>
                        <a:t>Tech week begins</a:t>
                      </a:r>
                    </a:p>
                  </a:txBody>
                  <a:tcPr>
                    <a:solidFill>
                      <a:srgbClr val="EFE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230"/>
                          </a:solidFill>
                          <a:latin typeface="Calibri"/>
                        </a:rPr>
                        <a:t>December 7, 2026</a:t>
                      </a:r>
                    </a:p>
                  </a:txBody>
                  <a:tcPr>
                    <a:solidFill>
                      <a:srgbClr val="EFE3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230"/>
                          </a:solidFill>
                          <a:latin typeface="Calibri"/>
                        </a:rPr>
                        <a:t>Performances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B2230"/>
                          </a:solidFill>
                          <a:latin typeface="Calibri"/>
                        </a:rPr>
                        <a:t>December 12 to 13, 2026</a:t>
                      </a:r>
                    </a:p>
                  </a:txBody>
                  <a:tcPr>
                    <a:solidFill>
                      <a:srgbClr val="FBF7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71500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B2A4E"/>
                </a:solidFill>
                <a:latin typeface="Calibri"/>
              </a:rPr>
              <a:t>Total planned budget, $3,400 against a $3,500 ceiling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E3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7924582" cy="54864"/>
          </a:xfrm>
          <a:prstGeom prst="rect">
            <a:avLst/>
          </a:prstGeom>
          <a:solidFill>
            <a:srgbClr val="C8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A7E86"/>
                </a:solidFill>
                <a:latin typeface="Calibri"/>
              </a:rPr>
              <a:t>05 / 07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60">
                <a:solidFill>
                  <a:srgbClr val="5B2A4E"/>
                </a:solidFill>
                <a:latin typeface="Calibri"/>
              </a:rPr>
              <a:t>OPEN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2B2230"/>
                </a:solidFill>
                <a:latin typeface="Calibri"/>
              </a:rPr>
              <a:t>Two decisions before 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10424160" cy="1371600"/>
          </a:xfrm>
          <a:prstGeom prst="rect">
            <a:avLst/>
          </a:prstGeom>
          <a:solidFill>
            <a:srgbClr val="E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109728" cy="1371600"/>
          </a:xfrm>
          <a:prstGeom prst="rect">
            <a:avLst/>
          </a:prstGeom>
          <a:solidFill>
            <a:srgbClr val="C8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12848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5B2A4E"/>
                </a:solidFill>
                <a:latin typeface="Calibri"/>
              </a:rPr>
              <a:t>1.  Orchestra pit or recorded score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4A414C"/>
                </a:solidFill>
                <a:latin typeface="Calibri"/>
              </a:rPr>
              <a:t>Confirm whether the pit can be used, or whether we run a recorded score for the Tchaikovsky.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749040"/>
            <a:ext cx="10424160" cy="1371600"/>
          </a:xfrm>
          <a:prstGeom prst="rect">
            <a:avLst/>
          </a:prstGeom>
          <a:solidFill>
            <a:srgbClr val="E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749040"/>
            <a:ext cx="109728" cy="1371600"/>
          </a:xfrm>
          <a:prstGeom prst="rect">
            <a:avLst/>
          </a:prstGeom>
          <a:solidFill>
            <a:srgbClr val="C8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950208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5B2A4E"/>
                </a:solidFill>
                <a:latin typeface="Calibri"/>
              </a:rPr>
              <a:t>2.  Two extra Saturday rehearsal blocks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4A414C"/>
                </a:solidFill>
                <a:latin typeface="Calibri"/>
              </a:rPr>
              <a:t>Whether we can secure two added Saturday blocks in November for the commission.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E3D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510528"/>
            <a:ext cx="9509498" cy="54864"/>
          </a:xfrm>
          <a:prstGeom prst="rect">
            <a:avLst/>
          </a:prstGeom>
          <a:solidFill>
            <a:srgbClr val="C8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A7E86"/>
                </a:solidFill>
                <a:latin typeface="Calibri"/>
              </a:rPr>
              <a:t>06 / 07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C8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Submitted for your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9B4C3"/>
                </a:solidFill>
                <a:latin typeface="Calibri"/>
              </a:rPr>
              <a:t>Jason Cooper  .  Parkside Dance Academy  .  pwalsh@pda-dance.org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4A41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94415" cy="54864"/>
          </a:xfrm>
          <a:prstGeom prst="rect">
            <a:avLst/>
          </a:prstGeom>
          <a:solidFill>
            <a:srgbClr val="C8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9B4C3"/>
                </a:solidFill>
                <a:latin typeface="Calibri"/>
              </a:rPr>
              <a:t>07 / 07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Jason Cooper</cp:lastModifiedBy>
  <cp:revision>1</cp:revision>
  <dcterms:created xsi:type="dcterms:W3CDTF">2013-01-27T09:14:16Z</dcterms:created>
  <dcterms:modified xsi:type="dcterms:W3CDTF">2013-01-27T09:15:58Z</dcterms:modified>
  <cp:category/>
</cp:coreProperties>
</file>