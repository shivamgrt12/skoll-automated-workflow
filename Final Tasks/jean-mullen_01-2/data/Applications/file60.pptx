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0" y="-182880"/>
            <a:ext cx="12557455" cy="722376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417320"/>
            <a:ext cx="457200" cy="109728"/>
          </a:xfrm>
          <a:prstGeom prst="rect">
            <a:avLst/>
          </a:prstGeom>
          <a:solidFill>
            <a:srgbClr val="6E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481328" y="1417320"/>
            <a:ext cx="457200" cy="109728"/>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48256" y="1417320"/>
            <a:ext cx="457200" cy="10972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15184" y="1417320"/>
            <a:ext cx="457200" cy="109728"/>
          </a:xfrm>
          <a:prstGeom prst="rect">
            <a:avLst/>
          </a:prstGeom>
          <a:solidFill>
            <a:srgbClr val="6F9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82112" y="1417320"/>
            <a:ext cx="457200" cy="109728"/>
          </a:xfrm>
          <a:prstGeom prst="rect">
            <a:avLst/>
          </a:prstGeom>
          <a:solidFill>
            <a:srgbClr val="554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10515600" cy="2011680"/>
          </a:xfrm>
          <a:prstGeom prst="rect">
            <a:avLst/>
          </a:prstGeom>
          <a:noFill/>
        </p:spPr>
        <p:txBody>
          <a:bodyPr wrap="square" anchor="t" lIns="0" rIns="0" tIns="0" bIns="0">
            <a:spAutoFit/>
          </a:bodyPr>
          <a:lstStyle/>
          <a:p>
            <a:pPr algn="l"/>
            <a:r>
              <a:rPr sz="6000" b="1" i="0">
                <a:solidFill>
                  <a:srgbClr val="F3ECDD"/>
                </a:solidFill>
                <a:latin typeface="Georgia"/>
              </a:rPr>
              <a:t>FIVE ELEMENTS</a:t>
            </a:r>
          </a:p>
          <a:p>
            <a:pPr algn="l">
              <a:spcBef>
                <a:spcPts val="600"/>
              </a:spcBef>
            </a:pPr>
            <a:r>
              <a:rPr sz="2000" b="0" i="1">
                <a:solidFill>
                  <a:srgbClr val="C9A24B"/>
                </a:solidFill>
                <a:latin typeface="Georgia"/>
              </a:rPr>
              <a:t>A full-length work in five movements for contemporary and Irish dance</a:t>
            </a:r>
          </a:p>
        </p:txBody>
      </p:sp>
      <p:sp>
        <p:nvSpPr>
          <p:cNvPr id="10" name="TextBox 9"/>
          <p:cNvSpPr txBox="1"/>
          <p:nvPr/>
        </p:nvSpPr>
        <p:spPr>
          <a:xfrm>
            <a:off x="914400" y="4572000"/>
            <a:ext cx="10515600" cy="1828800"/>
          </a:xfrm>
          <a:prstGeom prst="rect">
            <a:avLst/>
          </a:prstGeom>
          <a:noFill/>
        </p:spPr>
        <p:txBody>
          <a:bodyPr wrap="square" anchor="t" lIns="0" rIns="0" tIns="0" bIns="0">
            <a:spAutoFit/>
          </a:bodyPr>
          <a:lstStyle/>
          <a:p>
            <a:pPr algn="l"/>
            <a:r>
              <a:rPr sz="1700" b="0" i="0">
                <a:solidFill>
                  <a:srgbClr val="F3ECDD"/>
                </a:solidFill>
                <a:latin typeface="Calibri"/>
              </a:rPr>
              <a:t>Choreography and direction   Jean Mullen</a:t>
            </a:r>
          </a:p>
          <a:p>
            <a:pPr algn="l">
              <a:spcBef>
                <a:spcPts val="400"/>
              </a:spcBef>
            </a:pPr>
            <a:r>
              <a:rPr sz="1500" b="0" i="0">
                <a:solidFill>
                  <a:srgbClr val="A9B4BC"/>
                </a:solidFill>
                <a:latin typeface="Calibri"/>
              </a:rPr>
              <a:t>Ceili Mor Academy of Dance</a:t>
            </a:r>
          </a:p>
          <a:p>
            <a:pPr algn="l">
              <a:spcBef>
                <a:spcPts val="1400"/>
              </a:spcBef>
            </a:pPr>
            <a:r>
              <a:rPr sz="1400" b="0" i="0">
                <a:solidFill>
                  <a:srgbClr val="A9B4BC"/>
                </a:solidFill>
                <a:latin typeface="Calibri"/>
              </a:rPr>
              <a:t>Premiere   Chennai Arts Festival, 13 December 2026, winter season opening slot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prevCondLst>
                  <p:cond evt="onPrev" delay="0">
                    <p:tgtEl>
                      <p:sldTgt/>
                    </p:tgtEl>
                  </p:cond>
                </p:prevCondLst>
                <p:nextCondLst>
                  <p:cond evt="onNext" delay="0">
                    <p:tgtEl>
                      <p:sldTgt/>
                    </p:tgtEl>
                  </p:cond>
                </p:nextCondLst>
              </p:cTn>
            </p:seq>
          </p:childTnLst>
        </p:cTn>
      </p:par>
    </p:tnLst>
    <p:bldLst>
      <p:bldP spid="9" grpId="0"/>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0" y="-182880"/>
            <a:ext cx="12557455" cy="72237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29184"/>
            <a:ext cx="10058400" cy="731520"/>
          </a:xfrm>
          <a:prstGeom prst="rect">
            <a:avLst/>
          </a:prstGeom>
          <a:noFill/>
        </p:spPr>
        <p:txBody>
          <a:bodyPr wrap="square" anchor="t" lIns="0" rIns="0" tIns="0" bIns="0">
            <a:spAutoFit/>
          </a:bodyPr>
          <a:lstStyle/>
          <a:p>
            <a:pPr algn="l"/>
            <a:r>
              <a:rPr sz="3000" b="1" i="0">
                <a:solidFill>
                  <a:srgbClr val="C9A24B"/>
                </a:solidFill>
                <a:latin typeface="Georgia"/>
              </a:rPr>
              <a:t>Concept</a:t>
            </a:r>
          </a:p>
        </p:txBody>
      </p:sp>
      <p:sp>
        <p:nvSpPr>
          <p:cNvPr id="5" name="TextBox 4"/>
          <p:cNvSpPr txBox="1"/>
          <p:nvPr/>
        </p:nvSpPr>
        <p:spPr>
          <a:xfrm>
            <a:off x="822960" y="1645920"/>
            <a:ext cx="10607040" cy="4572000"/>
          </a:xfrm>
          <a:prstGeom prst="rect">
            <a:avLst/>
          </a:prstGeom>
          <a:noFill/>
        </p:spPr>
        <p:txBody>
          <a:bodyPr wrap="square" anchor="t" lIns="0" rIns="0" tIns="0" bIns="0">
            <a:spAutoFit/>
          </a:bodyPr>
          <a:lstStyle/>
          <a:p>
            <a:pPr algn="l"/>
            <a:r>
              <a:rPr sz="1900" b="0" i="0">
                <a:solidFill>
                  <a:srgbClr val="F3ECDD"/>
                </a:solidFill>
                <a:latin typeface="Calibri"/>
              </a:rPr>
              <a:t>Five Elements reads the body through earth, water, fire, air, and ether. The Munster line carries the footwork and the down into the floor weight. The contemporary line carries the breath and the spill of the upper body.</a:t>
            </a:r>
          </a:p>
          <a:p>
            <a:pPr algn="l">
              <a:spcBef>
                <a:spcPts val="1400"/>
              </a:spcBef>
            </a:pPr>
            <a:r>
              <a:rPr sz="1900" b="0" i="0">
                <a:solidFill>
                  <a:srgbClr val="F3ECDD"/>
                </a:solidFill>
                <a:latin typeface="Calibri"/>
              </a:rPr>
              <a:t>I am not translating one tradition into the other. I am letting them stand in the same room and answer each other.</a:t>
            </a:r>
          </a:p>
          <a:p>
            <a:pPr algn="l">
              <a:spcBef>
                <a:spcPts val="1400"/>
              </a:spcBef>
            </a:pPr>
            <a:r>
              <a:rPr sz="1900" b="0" i="0">
                <a:solidFill>
                  <a:srgbClr val="A9B4BC"/>
                </a:solidFill>
                <a:latin typeface="Calibri"/>
              </a:rPr>
              <a:t>Patrick holds the floor with the bodhran. Aoife carries the air with voice. Colm threads water through the middle three movements on fiddle.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prevCondLst>
                  <p:cond evt="onPrev" delay="0">
                    <p:tgtEl>
                      <p:sldTgt/>
                    </p:tgtEl>
                  </p:cond>
                </p:prevCondLst>
                <p:nextCondLst>
                  <p:cond evt="onNext" delay="0">
                    <p:tgtEl>
                      <p:sldTgt/>
                    </p:tgtEl>
                  </p:cond>
                </p:nextCondLst>
              </p:cTn>
            </p:seq>
          </p:childTnLst>
        </p:cTn>
      </p:par>
    </p:tnLst>
    <p:bldLst>
      <p:bldP spid="4" grpId="0"/>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0" y="-182880"/>
            <a:ext cx="12557455" cy="722376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058400" cy="822960"/>
          </a:xfrm>
          <a:prstGeom prst="rect">
            <a:avLst/>
          </a:prstGeom>
          <a:noFill/>
        </p:spPr>
        <p:txBody>
          <a:bodyPr wrap="square" anchor="t" lIns="0" rIns="0" tIns="0" bIns="0">
            <a:spAutoFit/>
          </a:bodyPr>
          <a:lstStyle/>
          <a:p>
            <a:pPr algn="l"/>
            <a:r>
              <a:rPr sz="3000" b="1" i="0">
                <a:solidFill>
                  <a:srgbClr val="C9A24B"/>
                </a:solidFill>
                <a:latin typeface="Georgia"/>
              </a:rPr>
              <a:t>The five movements</a:t>
            </a:r>
          </a:p>
        </p:txBody>
      </p:sp>
      <p:sp>
        <p:nvSpPr>
          <p:cNvPr id="4" name="Rectangle 3"/>
          <p:cNvSpPr/>
          <p:nvPr/>
        </p:nvSpPr>
        <p:spPr>
          <a:xfrm>
            <a:off x="822960" y="1554480"/>
            <a:ext cx="2148840" cy="868680"/>
          </a:xfrm>
          <a:prstGeom prst="rect">
            <a:avLst/>
          </a:prstGeom>
          <a:solidFill>
            <a:srgbClr val="6E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627632"/>
            <a:ext cx="1874520" cy="822960"/>
          </a:xfrm>
          <a:prstGeom prst="rect">
            <a:avLst/>
          </a:prstGeom>
          <a:noFill/>
        </p:spPr>
        <p:txBody>
          <a:bodyPr wrap="square" anchor="ctr" lIns="0" rIns="0" tIns="0" bIns="0">
            <a:spAutoFit/>
          </a:bodyPr>
          <a:lstStyle/>
          <a:p>
            <a:pPr algn="l"/>
            <a:r>
              <a:rPr sz="1500" b="1" i="0">
                <a:solidFill>
                  <a:srgbClr val="F3ECDD"/>
                </a:solidFill>
                <a:latin typeface="Calibri"/>
              </a:rPr>
              <a:t>I</a:t>
            </a:r>
          </a:p>
          <a:p>
            <a:pPr algn="l"/>
            <a:r>
              <a:rPr sz="2200" b="1" i="0">
                <a:solidFill>
                  <a:srgbClr val="F3ECDD"/>
                </a:solidFill>
                <a:latin typeface="Georgia"/>
              </a:rPr>
              <a:t>Earth</a:t>
            </a:r>
          </a:p>
        </p:txBody>
      </p:sp>
      <p:sp>
        <p:nvSpPr>
          <p:cNvPr id="6" name="Rectangle 5"/>
          <p:cNvSpPr/>
          <p:nvPr/>
        </p:nvSpPr>
        <p:spPr>
          <a:xfrm>
            <a:off x="822960" y="2423160"/>
            <a:ext cx="2148840" cy="31089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606040"/>
            <a:ext cx="1819656" cy="2834640"/>
          </a:xfrm>
          <a:prstGeom prst="rect">
            <a:avLst/>
          </a:prstGeom>
          <a:noFill/>
        </p:spPr>
        <p:txBody>
          <a:bodyPr wrap="square" anchor="t" lIns="0" rIns="0" tIns="0" bIns="0">
            <a:spAutoFit/>
          </a:bodyPr>
          <a:lstStyle/>
          <a:p>
            <a:pPr algn="l"/>
            <a:r>
              <a:rPr sz="1250" b="0" i="0">
                <a:solidFill>
                  <a:srgbClr val="F3ECDD"/>
                </a:solidFill>
                <a:latin typeface="Calibri"/>
              </a:rPr>
              <a:t>Hard shoe slowed to half tempo. The floor reads as ground, not display. Bodhran enters alone.</a:t>
            </a:r>
          </a:p>
        </p:txBody>
      </p:sp>
      <p:sp>
        <p:nvSpPr>
          <p:cNvPr id="8" name="Rectangle 7"/>
          <p:cNvSpPr/>
          <p:nvPr/>
        </p:nvSpPr>
        <p:spPr>
          <a:xfrm>
            <a:off x="3081528" y="1554480"/>
            <a:ext cx="2148840" cy="868680"/>
          </a:xfrm>
          <a:prstGeom prst="rect">
            <a:avLst/>
          </a:prstGeom>
          <a:solidFill>
            <a:srgbClr val="2C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627632"/>
            <a:ext cx="1874520" cy="822960"/>
          </a:xfrm>
          <a:prstGeom prst="rect">
            <a:avLst/>
          </a:prstGeom>
          <a:noFill/>
        </p:spPr>
        <p:txBody>
          <a:bodyPr wrap="square" anchor="ctr" lIns="0" rIns="0" tIns="0" bIns="0">
            <a:spAutoFit/>
          </a:bodyPr>
          <a:lstStyle/>
          <a:p>
            <a:pPr algn="l"/>
            <a:r>
              <a:rPr sz="1500" b="1" i="0">
                <a:solidFill>
                  <a:srgbClr val="F3ECDD"/>
                </a:solidFill>
                <a:latin typeface="Calibri"/>
              </a:rPr>
              <a:t>II</a:t>
            </a:r>
          </a:p>
          <a:p>
            <a:pPr algn="l"/>
            <a:r>
              <a:rPr sz="2200" b="1" i="0">
                <a:solidFill>
                  <a:srgbClr val="F3ECDD"/>
                </a:solidFill>
                <a:latin typeface="Georgia"/>
              </a:rPr>
              <a:t>Water</a:t>
            </a:r>
          </a:p>
        </p:txBody>
      </p:sp>
      <p:sp>
        <p:nvSpPr>
          <p:cNvPr id="10" name="Rectangle 9"/>
          <p:cNvSpPr/>
          <p:nvPr/>
        </p:nvSpPr>
        <p:spPr>
          <a:xfrm>
            <a:off x="3081528" y="2423160"/>
            <a:ext cx="2148840" cy="31089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2606040"/>
            <a:ext cx="1819656" cy="2834640"/>
          </a:xfrm>
          <a:prstGeom prst="rect">
            <a:avLst/>
          </a:prstGeom>
          <a:noFill/>
        </p:spPr>
        <p:txBody>
          <a:bodyPr wrap="square" anchor="t" lIns="0" rIns="0" tIns="0" bIns="0">
            <a:spAutoFit/>
          </a:bodyPr>
          <a:lstStyle/>
          <a:p>
            <a:pPr algn="l"/>
            <a:r>
              <a:rPr sz="1250" b="0" i="0">
                <a:solidFill>
                  <a:srgbClr val="F3ECDD"/>
                </a:solidFill>
                <a:latin typeface="Calibri"/>
              </a:rPr>
              <a:t>Soft shoe. Fiddle leads, bodhran drops to a heartbeat. Three dancers, then five, then eight, like a tide.</a:t>
            </a:r>
          </a:p>
        </p:txBody>
      </p:sp>
      <p:sp>
        <p:nvSpPr>
          <p:cNvPr id="12" name="Rectangle 11"/>
          <p:cNvSpPr/>
          <p:nvPr/>
        </p:nvSpPr>
        <p:spPr>
          <a:xfrm>
            <a:off x="5340096" y="1554480"/>
            <a:ext cx="2148840" cy="8686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04688" y="1627632"/>
            <a:ext cx="1874520" cy="822960"/>
          </a:xfrm>
          <a:prstGeom prst="rect">
            <a:avLst/>
          </a:prstGeom>
          <a:noFill/>
        </p:spPr>
        <p:txBody>
          <a:bodyPr wrap="square" anchor="ctr" lIns="0" rIns="0" tIns="0" bIns="0">
            <a:spAutoFit/>
          </a:bodyPr>
          <a:lstStyle/>
          <a:p>
            <a:pPr algn="l"/>
            <a:r>
              <a:rPr sz="1500" b="1" i="0">
                <a:solidFill>
                  <a:srgbClr val="F3ECDD"/>
                </a:solidFill>
                <a:latin typeface="Calibri"/>
              </a:rPr>
              <a:t>III</a:t>
            </a:r>
          </a:p>
          <a:p>
            <a:pPr algn="l"/>
            <a:r>
              <a:rPr sz="2200" b="1" i="0">
                <a:solidFill>
                  <a:srgbClr val="F3ECDD"/>
                </a:solidFill>
                <a:latin typeface="Georgia"/>
              </a:rPr>
              <a:t>Fire</a:t>
            </a:r>
          </a:p>
        </p:txBody>
      </p:sp>
      <p:sp>
        <p:nvSpPr>
          <p:cNvPr id="14" name="Rectangle 13"/>
          <p:cNvSpPr/>
          <p:nvPr/>
        </p:nvSpPr>
        <p:spPr>
          <a:xfrm>
            <a:off x="5340096" y="2423160"/>
            <a:ext cx="2148840" cy="31089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2606040"/>
            <a:ext cx="1819656" cy="2834640"/>
          </a:xfrm>
          <a:prstGeom prst="rect">
            <a:avLst/>
          </a:prstGeom>
          <a:noFill/>
        </p:spPr>
        <p:txBody>
          <a:bodyPr wrap="square" anchor="t" lIns="0" rIns="0" tIns="0" bIns="0">
            <a:spAutoFit/>
          </a:bodyPr>
          <a:lstStyle/>
          <a:p>
            <a:pPr algn="l"/>
            <a:r>
              <a:rPr sz="1250" b="0" i="0">
                <a:solidFill>
                  <a:srgbClr val="F3ECDD"/>
                </a:solidFill>
                <a:latin typeface="Calibri"/>
              </a:rPr>
              <a:t>Emma Walsh leads. Hard shoe at full tempo, the most demanding writing in the piece. Voice silent.</a:t>
            </a:r>
          </a:p>
        </p:txBody>
      </p:sp>
      <p:sp>
        <p:nvSpPr>
          <p:cNvPr id="16" name="Rectangle 15"/>
          <p:cNvSpPr/>
          <p:nvPr/>
        </p:nvSpPr>
        <p:spPr>
          <a:xfrm>
            <a:off x="7598664" y="1554480"/>
            <a:ext cx="2148840" cy="868680"/>
          </a:xfrm>
          <a:prstGeom prst="rect">
            <a:avLst/>
          </a:prstGeom>
          <a:solidFill>
            <a:srgbClr val="6F9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63256" y="1627632"/>
            <a:ext cx="1874520" cy="822960"/>
          </a:xfrm>
          <a:prstGeom prst="rect">
            <a:avLst/>
          </a:prstGeom>
          <a:noFill/>
        </p:spPr>
        <p:txBody>
          <a:bodyPr wrap="square" anchor="ctr" lIns="0" rIns="0" tIns="0" bIns="0">
            <a:spAutoFit/>
          </a:bodyPr>
          <a:lstStyle/>
          <a:p>
            <a:pPr algn="l"/>
            <a:r>
              <a:rPr sz="1500" b="1" i="0">
                <a:solidFill>
                  <a:srgbClr val="F3ECDD"/>
                </a:solidFill>
                <a:latin typeface="Calibri"/>
              </a:rPr>
              <a:t>IV</a:t>
            </a:r>
          </a:p>
          <a:p>
            <a:pPr algn="l"/>
            <a:r>
              <a:rPr sz="2200" b="1" i="0">
                <a:solidFill>
                  <a:srgbClr val="F3ECDD"/>
                </a:solidFill>
                <a:latin typeface="Georgia"/>
              </a:rPr>
              <a:t>Air</a:t>
            </a:r>
          </a:p>
        </p:txBody>
      </p:sp>
      <p:sp>
        <p:nvSpPr>
          <p:cNvPr id="18" name="Rectangle 17"/>
          <p:cNvSpPr/>
          <p:nvPr/>
        </p:nvSpPr>
        <p:spPr>
          <a:xfrm>
            <a:off x="7598664" y="2423160"/>
            <a:ext cx="2148840" cy="31089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63256" y="2606040"/>
            <a:ext cx="1819656" cy="2834640"/>
          </a:xfrm>
          <a:prstGeom prst="rect">
            <a:avLst/>
          </a:prstGeom>
          <a:noFill/>
        </p:spPr>
        <p:txBody>
          <a:bodyPr wrap="square" anchor="t" lIns="0" rIns="0" tIns="0" bIns="0">
            <a:spAutoFit/>
          </a:bodyPr>
          <a:lstStyle/>
          <a:p>
            <a:pPr algn="l"/>
            <a:r>
              <a:rPr sz="1250" b="0" i="0">
                <a:solidFill>
                  <a:srgbClr val="F3ECDD"/>
                </a:solidFill>
                <a:latin typeface="Calibri"/>
              </a:rPr>
              <a:t>Voice forward. Aoife carries an old air. Projection enters. Lift and suspension over footwork.</a:t>
            </a:r>
          </a:p>
        </p:txBody>
      </p:sp>
      <p:sp>
        <p:nvSpPr>
          <p:cNvPr id="20" name="Rectangle 19"/>
          <p:cNvSpPr/>
          <p:nvPr/>
        </p:nvSpPr>
        <p:spPr>
          <a:xfrm>
            <a:off x="9857232" y="1554480"/>
            <a:ext cx="2148840" cy="868680"/>
          </a:xfrm>
          <a:prstGeom prst="rect">
            <a:avLst/>
          </a:prstGeom>
          <a:solidFill>
            <a:srgbClr val="554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21824" y="1627632"/>
            <a:ext cx="1874520" cy="822960"/>
          </a:xfrm>
          <a:prstGeom prst="rect">
            <a:avLst/>
          </a:prstGeom>
          <a:noFill/>
        </p:spPr>
        <p:txBody>
          <a:bodyPr wrap="square" anchor="ctr" lIns="0" rIns="0" tIns="0" bIns="0">
            <a:spAutoFit/>
          </a:bodyPr>
          <a:lstStyle/>
          <a:p>
            <a:pPr algn="l"/>
            <a:r>
              <a:rPr sz="1500" b="1" i="0">
                <a:solidFill>
                  <a:srgbClr val="F3ECDD"/>
                </a:solidFill>
                <a:latin typeface="Calibri"/>
              </a:rPr>
              <a:t>V</a:t>
            </a:r>
          </a:p>
          <a:p>
            <a:pPr algn="l"/>
            <a:r>
              <a:rPr sz="2200" b="1" i="0">
                <a:solidFill>
                  <a:srgbClr val="F3ECDD"/>
                </a:solidFill>
                <a:latin typeface="Georgia"/>
              </a:rPr>
              <a:t>Ether</a:t>
            </a:r>
          </a:p>
        </p:txBody>
      </p:sp>
      <p:sp>
        <p:nvSpPr>
          <p:cNvPr id="22" name="Rectangle 21"/>
          <p:cNvSpPr/>
          <p:nvPr/>
        </p:nvSpPr>
        <p:spPr>
          <a:xfrm>
            <a:off x="9857232" y="2423160"/>
            <a:ext cx="2148840" cy="31089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21824" y="2606040"/>
            <a:ext cx="1819656" cy="2834640"/>
          </a:xfrm>
          <a:prstGeom prst="rect">
            <a:avLst/>
          </a:prstGeom>
          <a:noFill/>
        </p:spPr>
        <p:txBody>
          <a:bodyPr wrap="square" anchor="t" lIns="0" rIns="0" tIns="0" bIns="0">
            <a:spAutoFit/>
          </a:bodyPr>
          <a:lstStyle/>
          <a:p>
            <a:pPr algn="l"/>
            <a:r>
              <a:rPr sz="1250" b="0" i="0">
                <a:solidFill>
                  <a:srgbClr val="F3ECDD"/>
                </a:solidFill>
                <a:latin typeface="Calibri"/>
              </a:rPr>
              <a:t>All four elements gathered and let go. Return to the opening knot, now breathing. End on stillness.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prevCondLst>
                  <p:cond evt="onPrev" delay="0">
                    <p:tgtEl>
                      <p:sldTgt/>
                    </p:tgtEl>
                  </p:cond>
                </p:prevCondLst>
                <p:nextCondLst>
                  <p:cond evt="onNext" delay="0">
                    <p:tgtEl>
                      <p:sldTgt/>
                    </p:tgtEl>
                  </p:cond>
                </p:nextCondLst>
              </p:cTn>
            </p:seq>
          </p:childTnLst>
        </p:cTn>
      </p:par>
    </p:tnLst>
    <p:bldLst>
      <p:bldP spid="3" grpId="0"/>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0" y="-182880"/>
            <a:ext cx="12557455" cy="72237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29184"/>
            <a:ext cx="10058400" cy="731520"/>
          </a:xfrm>
          <a:prstGeom prst="rect">
            <a:avLst/>
          </a:prstGeom>
          <a:noFill/>
        </p:spPr>
        <p:txBody>
          <a:bodyPr wrap="square" anchor="t" lIns="0" rIns="0" tIns="0" bIns="0">
            <a:spAutoFit/>
          </a:bodyPr>
          <a:lstStyle/>
          <a:p>
            <a:pPr algn="l"/>
            <a:r>
              <a:rPr sz="2800" b="1" i="0">
                <a:solidFill>
                  <a:srgbClr val="C9A24B"/>
                </a:solidFill>
                <a:latin typeface="Georgia"/>
              </a:rPr>
              <a:t>The company and live ensemble</a:t>
            </a:r>
          </a:p>
        </p:txBody>
      </p:sp>
      <p:sp>
        <p:nvSpPr>
          <p:cNvPr id="5" name="Rectangle 4"/>
          <p:cNvSpPr/>
          <p:nvPr/>
        </p:nvSpPr>
        <p:spPr>
          <a:xfrm>
            <a:off x="822960" y="1645920"/>
            <a:ext cx="5212080" cy="420624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28800"/>
            <a:ext cx="4754880" cy="3931920"/>
          </a:xfrm>
          <a:prstGeom prst="rect">
            <a:avLst/>
          </a:prstGeom>
          <a:noFill/>
        </p:spPr>
        <p:txBody>
          <a:bodyPr wrap="square" anchor="t" lIns="0" rIns="0" tIns="0" bIns="0">
            <a:spAutoFit/>
          </a:bodyPr>
          <a:lstStyle/>
          <a:p>
            <a:pPr algn="l"/>
            <a:r>
              <a:rPr sz="1800" b="1" i="0">
                <a:solidFill>
                  <a:srgbClr val="C9A24B"/>
                </a:solidFill>
                <a:latin typeface="Calibri"/>
              </a:rPr>
              <a:t>Advanced troupe, eight dancers</a:t>
            </a:r>
          </a:p>
          <a:p>
            <a:pPr algn="l">
              <a:spcBef>
                <a:spcPts val="800"/>
              </a:spcBef>
            </a:pPr>
            <a:r>
              <a:rPr sz="1500" b="0" i="0">
                <a:solidFill>
                  <a:srgbClr val="F3ECDD"/>
                </a:solidFill>
                <a:latin typeface="Calibri"/>
              </a:rPr>
              <a:t>Emma Walsh leads Fire</a:t>
            </a:r>
          </a:p>
          <a:p>
            <a:pPr algn="l">
              <a:spcBef>
                <a:spcPts val="300"/>
              </a:spcBef>
            </a:pPr>
            <a:r>
              <a:rPr sz="1500" b="0" i="0">
                <a:solidFill>
                  <a:srgbClr val="F3ECDD"/>
                </a:solidFill>
                <a:latin typeface="Calibri"/>
              </a:rPr>
              <a:t>Liam Foley, Karthik Mani, Aravind Sekar</a:t>
            </a:r>
          </a:p>
          <a:p>
            <a:pPr algn="l">
              <a:spcBef>
                <a:spcPts val="300"/>
              </a:spcBef>
            </a:pPr>
            <a:r>
              <a:rPr sz="1500" b="0" i="0">
                <a:solidFill>
                  <a:srgbClr val="F3ECDD"/>
                </a:solidFill>
                <a:latin typeface="Calibri"/>
              </a:rPr>
              <a:t>Anjali Verma, Caitlin Byrne, Ria Chandran</a:t>
            </a:r>
          </a:p>
          <a:p>
            <a:pPr algn="l">
              <a:spcBef>
                <a:spcPts val="300"/>
              </a:spcBef>
            </a:pPr>
            <a:r>
              <a:rPr sz="1500" b="0" i="0">
                <a:solidFill>
                  <a:srgbClr val="F3ECDD"/>
                </a:solidFill>
                <a:latin typeface="Calibri"/>
              </a:rPr>
              <a:t>Aanya Krishnan</a:t>
            </a:r>
          </a:p>
        </p:txBody>
      </p:sp>
      <p:sp>
        <p:nvSpPr>
          <p:cNvPr id="7" name="Rectangle 6"/>
          <p:cNvSpPr/>
          <p:nvPr/>
        </p:nvSpPr>
        <p:spPr>
          <a:xfrm>
            <a:off x="6309360" y="1645920"/>
            <a:ext cx="5029200" cy="420624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28800"/>
            <a:ext cx="4572000" cy="3931920"/>
          </a:xfrm>
          <a:prstGeom prst="rect">
            <a:avLst/>
          </a:prstGeom>
          <a:noFill/>
        </p:spPr>
        <p:txBody>
          <a:bodyPr wrap="square" anchor="t" lIns="0" rIns="0" tIns="0" bIns="0">
            <a:spAutoFit/>
          </a:bodyPr>
          <a:lstStyle/>
          <a:p>
            <a:pPr algn="l"/>
            <a:r>
              <a:rPr sz="1800" b="1" i="0">
                <a:solidFill>
                  <a:srgbClr val="C9A24B"/>
                </a:solidFill>
                <a:latin typeface="Calibri"/>
              </a:rPr>
              <a:t>Live ensemble</a:t>
            </a:r>
          </a:p>
          <a:p>
            <a:pPr algn="l">
              <a:spcBef>
                <a:spcPts val="800"/>
              </a:spcBef>
            </a:pPr>
            <a:r>
              <a:rPr sz="1500" b="0" i="0">
                <a:solidFill>
                  <a:srgbClr val="F3ECDD"/>
                </a:solidFill>
                <a:latin typeface="Calibri"/>
              </a:rPr>
              <a:t>Patrick Doyle, bodhran</a:t>
            </a:r>
          </a:p>
          <a:p>
            <a:pPr algn="l">
              <a:spcBef>
                <a:spcPts val="300"/>
              </a:spcBef>
            </a:pPr>
            <a:r>
              <a:rPr sz="1500" b="0" i="0">
                <a:solidFill>
                  <a:srgbClr val="F3ECDD"/>
                </a:solidFill>
                <a:latin typeface="Calibri"/>
              </a:rPr>
              <a:t>Aoife Brennan, voice</a:t>
            </a:r>
          </a:p>
          <a:p>
            <a:pPr algn="l">
              <a:spcBef>
                <a:spcPts val="300"/>
              </a:spcBef>
            </a:pPr>
            <a:r>
              <a:rPr sz="1500" b="0" i="0">
                <a:solidFill>
                  <a:srgbClr val="F3ECDD"/>
                </a:solidFill>
                <a:latin typeface="Calibri"/>
              </a:rPr>
              <a:t>Colm Fitzgerald, fiddle, special movements, travelling from Pondicherry</a:t>
            </a:r>
          </a:p>
          <a:p>
            <a:pPr algn="l">
              <a:spcBef>
                <a:spcPts val="1000"/>
              </a:spcBef>
            </a:pPr>
            <a:r>
              <a:rPr sz="1350" b="0" i="1">
                <a:solidFill>
                  <a:srgbClr val="A9B4BC"/>
                </a:solidFill>
                <a:latin typeface="Calibri"/>
              </a:rPr>
              <a:t>Projection design integrated for Air and Ether, sharing visual language with the Metro commission.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prevCondLst>
                  <p:cond evt="onPrev" delay="0">
                    <p:tgtEl>
                      <p:sldTgt/>
                    </p:tgtEl>
                  </p:cond>
                </p:prevCondLst>
                <p:nextCondLst>
                  <p:cond evt="onNext" delay="0">
                    <p:tgtEl>
                      <p:sldTgt/>
                    </p:tgtEl>
                  </p:cond>
                </p:nextCondLst>
              </p:cTn>
            </p:seq>
          </p:childTnLst>
        </p:cTn>
      </p:par>
    </p:tnLst>
    <p:bldLst>
      <p:bldP spid="4" grpId="0"/>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0" y="-182880"/>
            <a:ext cx="12557455" cy="722376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058400" cy="822960"/>
          </a:xfrm>
          <a:prstGeom prst="rect">
            <a:avLst/>
          </a:prstGeom>
          <a:noFill/>
        </p:spPr>
        <p:txBody>
          <a:bodyPr wrap="square" anchor="t" lIns="0" rIns="0" tIns="0" bIns="0">
            <a:spAutoFit/>
          </a:bodyPr>
          <a:lstStyle/>
          <a:p>
            <a:pPr algn="l"/>
            <a:r>
              <a:rPr sz="3000" b="1" i="0">
                <a:solidFill>
                  <a:srgbClr val="C9A24B"/>
                </a:solidFill>
                <a:latin typeface="Georgia"/>
              </a:rPr>
              <a:t>Production budget</a:t>
            </a:r>
          </a:p>
        </p:txBody>
      </p:sp>
      <p:sp>
        <p:nvSpPr>
          <p:cNvPr id="4" name="Rectangle 3"/>
          <p:cNvSpPr/>
          <p:nvPr/>
        </p:nvSpPr>
        <p:spPr>
          <a:xfrm>
            <a:off x="822960" y="1737360"/>
            <a:ext cx="10515600" cy="566928"/>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5840" y="2157984"/>
            <a:ext cx="7498079" cy="109728"/>
          </a:xfrm>
          <a:prstGeom prst="roundRect">
            <a:avLst>
              <a:gd name="adj" fmla="val 50000"/>
            </a:avLst>
          </a:prstGeom>
          <a:solidFill>
            <a:srgbClr val="2A3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5840" y="2157984"/>
            <a:ext cx="7498079" cy="109728"/>
          </a:xfrm>
          <a:prstGeom prst="roundRect">
            <a:avLst>
              <a:gd name="adj" fmla="val 50000"/>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7772400" cy="566928"/>
          </a:xfrm>
          <a:prstGeom prst="rect">
            <a:avLst/>
          </a:prstGeom>
          <a:noFill/>
        </p:spPr>
        <p:txBody>
          <a:bodyPr wrap="square" anchor="ctr" lIns="0" rIns="0" tIns="0" bIns="0">
            <a:spAutoFit/>
          </a:bodyPr>
          <a:lstStyle/>
          <a:p>
            <a:pPr algn="l"/>
            <a:r>
              <a:rPr sz="1500" b="0" i="0">
                <a:solidFill>
                  <a:srgbClr val="F3ECDD"/>
                </a:solidFill>
                <a:latin typeface="Calibri"/>
              </a:rPr>
              <a:t>Costumes and footwear, eight dancers</a:t>
            </a:r>
          </a:p>
        </p:txBody>
      </p:sp>
      <p:sp>
        <p:nvSpPr>
          <p:cNvPr id="6" name="TextBox 5"/>
          <p:cNvSpPr txBox="1"/>
          <p:nvPr/>
        </p:nvSpPr>
        <p:spPr>
          <a:xfrm>
            <a:off x="8778240" y="1737360"/>
            <a:ext cx="2377440" cy="566928"/>
          </a:xfrm>
          <a:prstGeom prst="rect">
            <a:avLst/>
          </a:prstGeom>
          <a:noFill/>
        </p:spPr>
        <p:txBody>
          <a:bodyPr wrap="square" anchor="ctr" lIns="0" rIns="0" tIns="0" bIns="0">
            <a:spAutoFit/>
          </a:bodyPr>
          <a:lstStyle/>
          <a:p>
            <a:pPr algn="r"/>
            <a:r>
              <a:rPr sz="1500" b="1" i="0">
                <a:solidFill>
                  <a:srgbClr val="F3ECDD"/>
                </a:solidFill>
                <a:latin typeface="Calibri"/>
              </a:rPr>
              <a:t>Rs 2,40,000</a:t>
            </a:r>
          </a:p>
        </p:txBody>
      </p:sp>
      <p:sp>
        <p:nvSpPr>
          <p:cNvPr id="7" name="Rectangle 6"/>
          <p:cNvSpPr/>
          <p:nvPr/>
        </p:nvSpPr>
        <p:spPr>
          <a:xfrm>
            <a:off x="822960" y="2340864"/>
            <a:ext cx="10515600" cy="566928"/>
          </a:xfrm>
          <a:prstGeom prst="rect">
            <a:avLst/>
          </a:prstGeom>
          <a:solidFill>
            <a:srgbClr val="232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05840" y="2761488"/>
            <a:ext cx="7498079" cy="109728"/>
          </a:xfrm>
          <a:prstGeom prst="roundRect">
            <a:avLst>
              <a:gd name="adj" fmla="val 50000"/>
            </a:avLst>
          </a:prstGeom>
          <a:solidFill>
            <a:srgbClr val="2A3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5840" y="2761488"/>
            <a:ext cx="7185659" cy="109728"/>
          </a:xfrm>
          <a:prstGeom prst="roundRect">
            <a:avLst>
              <a:gd name="adj" fmla="val 50000"/>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40864"/>
            <a:ext cx="7772400" cy="566928"/>
          </a:xfrm>
          <a:prstGeom prst="rect">
            <a:avLst/>
          </a:prstGeom>
          <a:noFill/>
        </p:spPr>
        <p:txBody>
          <a:bodyPr wrap="square" anchor="ctr" lIns="0" rIns="0" tIns="0" bIns="0">
            <a:spAutoFit/>
          </a:bodyPr>
          <a:lstStyle/>
          <a:p>
            <a:pPr algn="l"/>
            <a:r>
              <a:rPr sz="1500" b="0" i="0">
                <a:solidFill>
                  <a:srgbClr val="F3ECDD"/>
                </a:solidFill>
                <a:latin typeface="Calibri"/>
              </a:rPr>
              <a:t>Musicians, three live players</a:t>
            </a:r>
          </a:p>
        </p:txBody>
      </p:sp>
      <p:sp>
        <p:nvSpPr>
          <p:cNvPr id="9" name="TextBox 8"/>
          <p:cNvSpPr txBox="1"/>
          <p:nvPr/>
        </p:nvSpPr>
        <p:spPr>
          <a:xfrm>
            <a:off x="8778240" y="2340864"/>
            <a:ext cx="2377440" cy="566928"/>
          </a:xfrm>
          <a:prstGeom prst="rect">
            <a:avLst/>
          </a:prstGeom>
          <a:noFill/>
        </p:spPr>
        <p:txBody>
          <a:bodyPr wrap="square" anchor="ctr" lIns="0" rIns="0" tIns="0" bIns="0">
            <a:spAutoFit/>
          </a:bodyPr>
          <a:lstStyle/>
          <a:p>
            <a:pPr algn="r"/>
            <a:r>
              <a:rPr sz="1500" b="1" i="0">
                <a:solidFill>
                  <a:srgbClr val="F3ECDD"/>
                </a:solidFill>
                <a:latin typeface="Calibri"/>
              </a:rPr>
              <a:t>Rs 2,30,000</a:t>
            </a:r>
          </a:p>
        </p:txBody>
      </p:sp>
      <p:sp>
        <p:nvSpPr>
          <p:cNvPr id="10" name="Rectangle 9"/>
          <p:cNvSpPr/>
          <p:nvPr/>
        </p:nvSpPr>
        <p:spPr>
          <a:xfrm>
            <a:off x="822960" y="2944368"/>
            <a:ext cx="10515600" cy="566928"/>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05840" y="3364992"/>
            <a:ext cx="7498079" cy="109728"/>
          </a:xfrm>
          <a:prstGeom prst="roundRect">
            <a:avLst>
              <a:gd name="adj" fmla="val 50000"/>
            </a:avLst>
          </a:prstGeom>
          <a:solidFill>
            <a:srgbClr val="2A3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05840" y="3364992"/>
            <a:ext cx="2811779" cy="109728"/>
          </a:xfrm>
          <a:prstGeom prst="roundRect">
            <a:avLst>
              <a:gd name="adj" fmla="val 50000"/>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944368"/>
            <a:ext cx="7772400" cy="566928"/>
          </a:xfrm>
          <a:prstGeom prst="rect">
            <a:avLst/>
          </a:prstGeom>
          <a:noFill/>
        </p:spPr>
        <p:txBody>
          <a:bodyPr wrap="square" anchor="ctr" lIns="0" rIns="0" tIns="0" bIns="0">
            <a:spAutoFit/>
          </a:bodyPr>
          <a:lstStyle/>
          <a:p>
            <a:pPr algn="l"/>
            <a:r>
              <a:rPr sz="1500" b="0" i="0">
                <a:solidFill>
                  <a:srgbClr val="F3ECDD"/>
                </a:solidFill>
                <a:latin typeface="Calibri"/>
              </a:rPr>
              <a:t>Projection design, Air and Ether</a:t>
            </a:r>
          </a:p>
        </p:txBody>
      </p:sp>
      <p:sp>
        <p:nvSpPr>
          <p:cNvPr id="12" name="TextBox 11"/>
          <p:cNvSpPr txBox="1"/>
          <p:nvPr/>
        </p:nvSpPr>
        <p:spPr>
          <a:xfrm>
            <a:off x="8778240" y="2944368"/>
            <a:ext cx="2377440" cy="566928"/>
          </a:xfrm>
          <a:prstGeom prst="rect">
            <a:avLst/>
          </a:prstGeom>
          <a:noFill/>
        </p:spPr>
        <p:txBody>
          <a:bodyPr wrap="square" anchor="ctr" lIns="0" rIns="0" tIns="0" bIns="0">
            <a:spAutoFit/>
          </a:bodyPr>
          <a:lstStyle/>
          <a:p>
            <a:pPr algn="r"/>
            <a:r>
              <a:rPr sz="1500" b="1" i="0">
                <a:solidFill>
                  <a:srgbClr val="F3ECDD"/>
                </a:solidFill>
                <a:latin typeface="Calibri"/>
              </a:rPr>
              <a:t>Rs 90,000</a:t>
            </a:r>
          </a:p>
        </p:txBody>
      </p:sp>
      <p:sp>
        <p:nvSpPr>
          <p:cNvPr id="13" name="Rectangle 12"/>
          <p:cNvSpPr/>
          <p:nvPr/>
        </p:nvSpPr>
        <p:spPr>
          <a:xfrm>
            <a:off x="822960" y="3547872"/>
            <a:ext cx="10515600" cy="566928"/>
          </a:xfrm>
          <a:prstGeom prst="rect">
            <a:avLst/>
          </a:prstGeom>
          <a:solidFill>
            <a:srgbClr val="232B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5840" y="3968496"/>
            <a:ext cx="7498079" cy="109728"/>
          </a:xfrm>
          <a:prstGeom prst="roundRect">
            <a:avLst>
              <a:gd name="adj" fmla="val 50000"/>
            </a:avLst>
          </a:prstGeom>
          <a:solidFill>
            <a:srgbClr val="2A3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05840" y="3968496"/>
            <a:ext cx="4998720" cy="109728"/>
          </a:xfrm>
          <a:prstGeom prst="roundRect">
            <a:avLst>
              <a:gd name="adj" fmla="val 50000"/>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47872"/>
            <a:ext cx="7772400" cy="566928"/>
          </a:xfrm>
          <a:prstGeom prst="rect">
            <a:avLst/>
          </a:prstGeom>
          <a:noFill/>
        </p:spPr>
        <p:txBody>
          <a:bodyPr wrap="square" anchor="ctr" lIns="0" rIns="0" tIns="0" bIns="0">
            <a:spAutoFit/>
          </a:bodyPr>
          <a:lstStyle/>
          <a:p>
            <a:pPr algn="l"/>
            <a:r>
              <a:rPr sz="1500" b="0" i="0">
                <a:solidFill>
                  <a:srgbClr val="F3ECDD"/>
                </a:solidFill>
                <a:latin typeface="Calibri"/>
              </a:rPr>
              <a:t>Equipment, venue tech and crew</a:t>
            </a:r>
          </a:p>
        </p:txBody>
      </p:sp>
      <p:sp>
        <p:nvSpPr>
          <p:cNvPr id="15" name="TextBox 14"/>
          <p:cNvSpPr txBox="1"/>
          <p:nvPr/>
        </p:nvSpPr>
        <p:spPr>
          <a:xfrm>
            <a:off x="8778240" y="3547872"/>
            <a:ext cx="2377440" cy="566928"/>
          </a:xfrm>
          <a:prstGeom prst="rect">
            <a:avLst/>
          </a:prstGeom>
          <a:noFill/>
        </p:spPr>
        <p:txBody>
          <a:bodyPr wrap="square" anchor="ctr" lIns="0" rIns="0" tIns="0" bIns="0">
            <a:spAutoFit/>
          </a:bodyPr>
          <a:lstStyle/>
          <a:p>
            <a:pPr algn="r"/>
            <a:r>
              <a:rPr sz="1500" b="1" i="0">
                <a:solidFill>
                  <a:srgbClr val="F3ECDD"/>
                </a:solidFill>
                <a:latin typeface="Calibri"/>
              </a:rPr>
              <a:t>Rs 1,60,000</a:t>
            </a:r>
          </a:p>
        </p:txBody>
      </p:sp>
      <p:sp>
        <p:nvSpPr>
          <p:cNvPr id="16" name="Rectangle 15"/>
          <p:cNvSpPr/>
          <p:nvPr/>
        </p:nvSpPr>
        <p:spPr>
          <a:xfrm>
            <a:off x="822960" y="4151376"/>
            <a:ext cx="10515600" cy="566928"/>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05840" y="4572000"/>
            <a:ext cx="7498079" cy="109728"/>
          </a:xfrm>
          <a:prstGeom prst="roundRect">
            <a:avLst>
              <a:gd name="adj" fmla="val 50000"/>
            </a:avLst>
          </a:prstGeom>
          <a:solidFill>
            <a:srgbClr val="2A3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5840" y="4572000"/>
            <a:ext cx="2499360" cy="109728"/>
          </a:xfrm>
          <a:prstGeom prst="roundRect">
            <a:avLst>
              <a:gd name="adj" fmla="val 50000"/>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151376"/>
            <a:ext cx="7772400" cy="566928"/>
          </a:xfrm>
          <a:prstGeom prst="rect">
            <a:avLst/>
          </a:prstGeom>
          <a:noFill/>
        </p:spPr>
        <p:txBody>
          <a:bodyPr wrap="square" anchor="ctr" lIns="0" rIns="0" tIns="0" bIns="0">
            <a:spAutoFit/>
          </a:bodyPr>
          <a:lstStyle/>
          <a:p>
            <a:pPr algn="l"/>
            <a:r>
              <a:rPr sz="1500" b="0" i="0">
                <a:solidFill>
                  <a:srgbClr val="F3ECDD"/>
                </a:solidFill>
                <a:latin typeface="Calibri"/>
              </a:rPr>
              <a:t>Marketing, documentation, contingency</a:t>
            </a:r>
          </a:p>
        </p:txBody>
      </p:sp>
      <p:sp>
        <p:nvSpPr>
          <p:cNvPr id="18" name="TextBox 17"/>
          <p:cNvSpPr txBox="1"/>
          <p:nvPr/>
        </p:nvSpPr>
        <p:spPr>
          <a:xfrm>
            <a:off x="8778240" y="4151376"/>
            <a:ext cx="2377440" cy="566928"/>
          </a:xfrm>
          <a:prstGeom prst="rect">
            <a:avLst/>
          </a:prstGeom>
          <a:noFill/>
        </p:spPr>
        <p:txBody>
          <a:bodyPr wrap="square" anchor="ctr" lIns="0" rIns="0" tIns="0" bIns="0">
            <a:spAutoFit/>
          </a:bodyPr>
          <a:lstStyle/>
          <a:p>
            <a:pPr algn="r"/>
            <a:r>
              <a:rPr sz="1500" b="1" i="0">
                <a:solidFill>
                  <a:srgbClr val="F3ECDD"/>
                </a:solidFill>
                <a:latin typeface="Calibri"/>
              </a:rPr>
              <a:t>Rs 80,000</a:t>
            </a:r>
          </a:p>
        </p:txBody>
      </p:sp>
      <p:sp>
        <p:nvSpPr>
          <p:cNvPr id="19" name="Rectangle 18"/>
          <p:cNvSpPr/>
          <p:nvPr/>
        </p:nvSpPr>
        <p:spPr>
          <a:xfrm>
            <a:off x="822960" y="4846320"/>
            <a:ext cx="10515600" cy="64008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846320"/>
            <a:ext cx="7772400" cy="640080"/>
          </a:xfrm>
          <a:prstGeom prst="rect">
            <a:avLst/>
          </a:prstGeom>
          <a:noFill/>
        </p:spPr>
        <p:txBody>
          <a:bodyPr wrap="square" anchor="ctr" lIns="0" rIns="0" tIns="0" bIns="0">
            <a:spAutoFit/>
          </a:bodyPr>
          <a:lstStyle/>
          <a:p>
            <a:pPr algn="l"/>
            <a:r>
              <a:rPr sz="1600" b="1" i="0">
                <a:solidFill>
                  <a:srgbClr val="12161A"/>
                </a:solidFill>
                <a:latin typeface="Calibri"/>
              </a:rPr>
              <a:t>Target budget</a:t>
            </a:r>
          </a:p>
        </p:txBody>
      </p:sp>
      <p:sp>
        <p:nvSpPr>
          <p:cNvPr id="21" name="TextBox 20"/>
          <p:cNvSpPr txBox="1"/>
          <p:nvPr/>
        </p:nvSpPr>
        <p:spPr>
          <a:xfrm>
            <a:off x="8778240" y="4846320"/>
            <a:ext cx="2377440" cy="640080"/>
          </a:xfrm>
          <a:prstGeom prst="rect">
            <a:avLst/>
          </a:prstGeom>
          <a:noFill/>
        </p:spPr>
        <p:txBody>
          <a:bodyPr wrap="square" anchor="ctr" lIns="0" rIns="0" tIns="0" bIns="0">
            <a:spAutoFit/>
          </a:bodyPr>
          <a:lstStyle/>
          <a:p>
            <a:pPr algn="r"/>
            <a:r>
              <a:rPr sz="1800" b="1" i="0">
                <a:solidFill>
                  <a:srgbClr val="12161A"/>
                </a:solidFill>
                <a:latin typeface="Calibri"/>
              </a:rPr>
              <a:t>Rs 8,00,000</a:t>
            </a:r>
          </a:p>
        </p:txBody>
      </p:sp>
      <p:sp>
        <p:nvSpPr>
          <p:cNvPr id="22" name="TextBox 21"/>
          <p:cNvSpPr txBox="1"/>
          <p:nvPr/>
        </p:nvSpPr>
        <p:spPr>
          <a:xfrm>
            <a:off x="1005840" y="1325880"/>
            <a:ext cx="7315200" cy="292608"/>
          </a:xfrm>
          <a:prstGeom prst="rect">
            <a:avLst/>
          </a:prstGeom>
          <a:noFill/>
        </p:spPr>
        <p:txBody>
          <a:bodyPr wrap="square">
            <a:spAutoFit/>
          </a:bodyPr>
          <a:lstStyle/>
          <a:p>
            <a:pPr algn="l"/>
            <a:r>
              <a:rPr sz="1100" i="1">
                <a:solidFill>
                  <a:srgbClr val="9A8C6A"/>
                </a:solidFill>
              </a:rPr>
              <a:t>Bar length shows each line as a share of the production budget.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prevCondLst>
                  <p:cond evt="onPrev" delay="0">
                    <p:tgtEl>
                      <p:sldTgt/>
                    </p:tgtEl>
                  </p:cond>
                </p:prevCondLst>
                <p:nextCondLst>
                  <p:cond evt="onNext" delay="0">
                    <p:tgtEl>
                      <p:sldTgt/>
                    </p:tgtEl>
                  </p:cond>
                </p:nextCondLst>
              </p:cTn>
            </p:seq>
          </p:childTnLst>
        </p:cTn>
      </p:par>
    </p:tnLst>
    <p:bldLst>
      <p:bldP spid="3" grpId="0"/>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0" y="-182880"/>
            <a:ext cx="12557455" cy="7223760"/>
          </a:xfrm>
          <a:prstGeom prst="rect">
            <a:avLst/>
          </a:prstGeom>
          <a:solidFill>
            <a:srgbClr val="1B2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29184"/>
            <a:ext cx="10058400" cy="731520"/>
          </a:xfrm>
          <a:prstGeom prst="rect">
            <a:avLst/>
          </a:prstGeom>
          <a:noFill/>
        </p:spPr>
        <p:txBody>
          <a:bodyPr wrap="square" anchor="t" lIns="0" rIns="0" tIns="0" bIns="0">
            <a:spAutoFit/>
          </a:bodyPr>
          <a:lstStyle/>
          <a:p>
            <a:pPr algn="l"/>
            <a:r>
              <a:rPr sz="2800" b="1" i="0">
                <a:solidFill>
                  <a:srgbClr val="C9A24B"/>
                </a:solidFill>
                <a:latin typeface="Georgia"/>
              </a:rPr>
              <a:t>Road to the premiere</a:t>
            </a:r>
          </a:p>
        </p:txBody>
      </p:sp>
      <p:sp>
        <p:nvSpPr>
          <p:cNvPr id="5" name="Rectangle 4"/>
          <p:cNvSpPr/>
          <p:nvPr/>
        </p:nvSpPr>
        <p:spPr>
          <a:xfrm>
            <a:off x="1143000" y="1920240"/>
            <a:ext cx="54864" cy="3566160"/>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78408" y="1938528"/>
            <a:ext cx="384048" cy="384048"/>
          </a:xfrm>
          <a:prstGeom prst="ellipse">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920240"/>
            <a:ext cx="9509760" cy="914400"/>
          </a:xfrm>
          <a:prstGeom prst="rect">
            <a:avLst/>
          </a:prstGeom>
          <a:noFill/>
        </p:spPr>
        <p:txBody>
          <a:bodyPr wrap="square" anchor="t" lIns="0" rIns="0" tIns="0" bIns="0">
            <a:spAutoFit/>
          </a:bodyPr>
          <a:lstStyle/>
          <a:p>
            <a:pPr algn="l"/>
            <a:r>
              <a:rPr sz="1600" b="1" i="0">
                <a:solidFill>
                  <a:srgbClr val="C9A24B"/>
                </a:solidFill>
                <a:latin typeface="Calibri"/>
              </a:rPr>
              <a:t>October 2026   </a:t>
            </a:r>
          </a:p>
          <a:p>
            <a:pPr algn="l">
              <a:spcBef>
                <a:spcPts val="200"/>
              </a:spcBef>
            </a:pPr>
            <a:r>
              <a:rPr sz="1400" b="0" i="0">
                <a:solidFill>
                  <a:srgbClr val="F3ECDD"/>
                </a:solidFill>
                <a:latin typeface="Calibri"/>
              </a:rPr>
              <a:t>Rehearsal block opens. Annual Day run, then Five Elements workshop showing on the 31st.</a:t>
            </a:r>
          </a:p>
        </p:txBody>
      </p:sp>
      <p:sp>
        <p:nvSpPr>
          <p:cNvPr id="8" name="Oval 7"/>
          <p:cNvSpPr/>
          <p:nvPr/>
        </p:nvSpPr>
        <p:spPr>
          <a:xfrm>
            <a:off x="978408" y="2852928"/>
            <a:ext cx="384048" cy="384048"/>
          </a:xfrm>
          <a:prstGeom prst="ellipse">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2834640"/>
            <a:ext cx="9509760" cy="914400"/>
          </a:xfrm>
          <a:prstGeom prst="rect">
            <a:avLst/>
          </a:prstGeom>
          <a:noFill/>
        </p:spPr>
        <p:txBody>
          <a:bodyPr wrap="square" anchor="t" lIns="0" rIns="0" tIns="0" bIns="0">
            <a:spAutoFit/>
          </a:bodyPr>
          <a:lstStyle/>
          <a:p>
            <a:pPr algn="l"/>
            <a:r>
              <a:rPr sz="1600" b="1" i="0">
                <a:solidFill>
                  <a:srgbClr val="C9A24B"/>
                </a:solidFill>
                <a:latin typeface="Calibri"/>
              </a:rPr>
              <a:t>November 2026   </a:t>
            </a:r>
          </a:p>
          <a:p>
            <a:pPr algn="l">
              <a:spcBef>
                <a:spcPts val="200"/>
              </a:spcBef>
            </a:pPr>
            <a:r>
              <a:rPr sz="1400" b="0" i="0">
                <a:solidFill>
                  <a:srgbClr val="F3ECDD"/>
                </a:solidFill>
                <a:latin typeface="Calibri"/>
              </a:rPr>
              <a:t>Tuesday and Friday studio blocks. Colm residency, 25 to 28. First full run, Friday 27th.</a:t>
            </a:r>
          </a:p>
        </p:txBody>
      </p:sp>
      <p:sp>
        <p:nvSpPr>
          <p:cNvPr id="10" name="Oval 9"/>
          <p:cNvSpPr/>
          <p:nvPr/>
        </p:nvSpPr>
        <p:spPr>
          <a:xfrm>
            <a:off x="978408" y="3767327"/>
            <a:ext cx="384048" cy="384048"/>
          </a:xfrm>
          <a:prstGeom prst="ellipse">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3749039"/>
            <a:ext cx="9509760" cy="914400"/>
          </a:xfrm>
          <a:prstGeom prst="rect">
            <a:avLst/>
          </a:prstGeom>
          <a:noFill/>
        </p:spPr>
        <p:txBody>
          <a:bodyPr wrap="square" anchor="t" lIns="0" rIns="0" tIns="0" bIns="0">
            <a:spAutoFit/>
          </a:bodyPr>
          <a:lstStyle/>
          <a:p>
            <a:pPr algn="l"/>
            <a:r>
              <a:rPr sz="1600" b="1" i="0">
                <a:solidFill>
                  <a:srgbClr val="C9A24B"/>
                </a:solidFill>
                <a:latin typeface="Calibri"/>
              </a:rPr>
              <a:t>12 December 2026   </a:t>
            </a:r>
          </a:p>
          <a:p>
            <a:pPr algn="l">
              <a:spcBef>
                <a:spcPts val="200"/>
              </a:spcBef>
            </a:pPr>
            <a:r>
              <a:rPr sz="1400" b="0" i="0">
                <a:solidFill>
                  <a:srgbClr val="F3ECDD"/>
                </a:solidFill>
                <a:latin typeface="Calibri"/>
              </a:rPr>
              <a:t>Technical rehearsal at Kalaivanar Auditorium, venue access from noon.</a:t>
            </a:r>
          </a:p>
        </p:txBody>
      </p:sp>
      <p:sp>
        <p:nvSpPr>
          <p:cNvPr id="12" name="Oval 11"/>
          <p:cNvSpPr/>
          <p:nvPr/>
        </p:nvSpPr>
        <p:spPr>
          <a:xfrm>
            <a:off x="978408" y="4681727"/>
            <a:ext cx="384048" cy="384048"/>
          </a:xfrm>
          <a:prstGeom prst="ellipse">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4663440"/>
            <a:ext cx="9509760" cy="914400"/>
          </a:xfrm>
          <a:prstGeom prst="rect">
            <a:avLst/>
          </a:prstGeom>
          <a:noFill/>
        </p:spPr>
        <p:txBody>
          <a:bodyPr wrap="square" anchor="t" lIns="0" rIns="0" tIns="0" bIns="0">
            <a:spAutoFit/>
          </a:bodyPr>
          <a:lstStyle/>
          <a:p>
            <a:pPr algn="l"/>
            <a:r>
              <a:rPr sz="1600" b="1" i="0">
                <a:solidFill>
                  <a:srgbClr val="C9A24B"/>
                </a:solidFill>
                <a:latin typeface="Calibri"/>
              </a:rPr>
              <a:t>13 December 2026   </a:t>
            </a:r>
          </a:p>
          <a:p>
            <a:pPr algn="l">
              <a:spcBef>
                <a:spcPts val="200"/>
              </a:spcBef>
            </a:pPr>
            <a:r>
              <a:rPr sz="1400" b="0" i="0">
                <a:solidFill>
                  <a:srgbClr val="F3ECDD"/>
                </a:solidFill>
                <a:latin typeface="Calibri"/>
              </a:rPr>
              <a:t>Premiere. Chennai Arts Festival winter season opening slot, 7:00 PM.</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prevCondLst>
                  <p:cond evt="onPrev" delay="0">
                    <p:tgtEl>
                      <p:sldTgt/>
                    </p:tgtEl>
                  </p:cond>
                </p:prevCondLst>
                <p:nextCondLst>
                  <p:cond evt="onNext" delay="0">
                    <p:tgtEl>
                      <p:sldTgt/>
                    </p:tgtEl>
                  </p:cond>
                </p:nextCondLst>
              </p:cTn>
            </p:seq>
          </p:childTnLst>
        </p:cTn>
      </p:par>
    </p:tnLst>
    <p:bldLst>
      <p:bldP spid="4"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0" y="-182880"/>
            <a:ext cx="12557455" cy="7223760"/>
          </a:xfrm>
          <a:prstGeom prst="rect">
            <a:avLst/>
          </a:prstGeom>
          <a:solidFill>
            <a:srgbClr val="12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36576"/>
          </a:xfrm>
          <a:prstGeom prst="rect">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1097280"/>
          </a:xfrm>
          <a:prstGeom prst="rect">
            <a:avLst/>
          </a:prstGeom>
          <a:noFill/>
        </p:spPr>
        <p:txBody>
          <a:bodyPr wrap="square" anchor="t" lIns="0" rIns="0" tIns="0" bIns="0">
            <a:spAutoFit/>
          </a:bodyPr>
          <a:lstStyle/>
          <a:p>
            <a:pPr algn="ctr"/>
            <a:r>
              <a:rPr sz="3000" b="0" i="1">
                <a:solidFill>
                  <a:srgbClr val="F3ECDD"/>
                </a:solidFill>
                <a:latin typeface="Georgia"/>
              </a:rPr>
              <a:t>The last image is the floor, empty,</a:t>
            </a:r>
          </a:p>
        </p:txBody>
      </p:sp>
      <p:sp>
        <p:nvSpPr>
          <p:cNvPr id="5" name="TextBox 4"/>
          <p:cNvSpPr txBox="1"/>
          <p:nvPr/>
        </p:nvSpPr>
        <p:spPr>
          <a:xfrm>
            <a:off x="914400" y="3017520"/>
            <a:ext cx="10332720" cy="914400"/>
          </a:xfrm>
          <a:prstGeom prst="rect">
            <a:avLst/>
          </a:prstGeom>
          <a:noFill/>
        </p:spPr>
        <p:txBody>
          <a:bodyPr wrap="square" anchor="t" lIns="0" rIns="0" tIns="0" bIns="0">
            <a:spAutoFit/>
          </a:bodyPr>
          <a:lstStyle/>
          <a:p>
            <a:pPr algn="ctr"/>
            <a:r>
              <a:rPr sz="2200" b="0" i="1">
                <a:solidFill>
                  <a:srgbClr val="C9A24B"/>
                </a:solidFill>
                <a:latin typeface="Georgia"/>
              </a:rPr>
              <a:t>the way the studio is at 5:30 before anyone arrives.</a:t>
            </a:r>
          </a:p>
        </p:txBody>
      </p:sp>
      <p:sp>
        <p:nvSpPr>
          <p:cNvPr id="6" name="TextBox 5"/>
          <p:cNvSpPr txBox="1"/>
          <p:nvPr/>
        </p:nvSpPr>
        <p:spPr>
          <a:xfrm>
            <a:off x="914400" y="4846320"/>
            <a:ext cx="10332720" cy="914400"/>
          </a:xfrm>
          <a:prstGeom prst="rect">
            <a:avLst/>
          </a:prstGeom>
          <a:noFill/>
        </p:spPr>
        <p:txBody>
          <a:bodyPr wrap="square" anchor="t" lIns="0" rIns="0" tIns="0" bIns="0">
            <a:spAutoFit/>
          </a:bodyPr>
          <a:lstStyle/>
          <a:p>
            <a:pPr algn="ctr"/>
            <a:r>
              <a:rPr sz="1500" b="1" i="0">
                <a:solidFill>
                  <a:srgbClr val="F3ECDD"/>
                </a:solidFill>
                <a:latin typeface="Calibri"/>
              </a:rPr>
              <a:t>Ceili Mor Academy of Dance</a:t>
            </a:r>
          </a:p>
          <a:p>
            <a:pPr algn="ctr">
              <a:spcBef>
                <a:spcPts val="300"/>
              </a:spcBef>
            </a:pPr>
            <a:r>
              <a:rPr sz="1200" b="0" i="0">
                <a:solidFill>
                  <a:srgbClr val="A9B4BC"/>
                </a:solidFill>
                <a:latin typeface="Calibri"/>
              </a:rPr>
              <a:t>Near St. Patrick's Church, Mylapore, Chennai 600004     jean.mullen@Finthesiss.ai</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prevCondLst>
                  <p:cond evt="onPrev" delay="0">
                    <p:tgtEl>
                      <p:sldTgt/>
                    </p:tgtEl>
                  </p:cond>
                </p:prevCondLst>
                <p:nextCondLst>
                  <p:cond evt="onNext" delay="0">
                    <p:tgtEl>
                      <p:sldTgt/>
                    </p:tgtEl>
                  </p:cond>
                </p:nextCondLst>
              </p:cTn>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