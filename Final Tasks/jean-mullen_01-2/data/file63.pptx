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B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Verdana"/>
              </a:rPr>
              <a:t>THRESHOLD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E69CC4"/>
                </a:solidFill>
                <a:latin typeface="Calibri"/>
              </a:rPr>
              <a:t>A site-specific dance installation for the new Mylapore Metro 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66344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Jean Mullen, Artistic Director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C9C6DA"/>
                </a:solidFill>
                <a:latin typeface="Calibri"/>
              </a:rPr>
              <a:t>Ceili Mor Academy of Dance</a:t>
            </a:r>
          </a:p>
          <a:p>
            <a:pPr algn="l">
              <a:spcBef>
                <a:spcPts val="1200"/>
              </a:spcBef>
            </a:pPr>
            <a:r>
              <a:rPr sz="1250" b="0" i="0">
                <a:solidFill>
                  <a:srgbClr val="C9C6DA"/>
                </a:solidFill>
                <a:latin typeface="Calibri"/>
              </a:rPr>
              <a:t>Submitted to Chennai Metro Rail Limited, Arts and Public Realm Committee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C9C6DA"/>
                </a:solidFill>
                <a:latin typeface="Calibri"/>
              </a:rPr>
              <a:t>Commission ref CMRL/PUBART/2025/14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PUBLIC ART
PROPOSAL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F7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B358C"/>
                </a:solidFill>
                <a:latin typeface="Verdana"/>
              </a:rPr>
              <a:t>A place of crossing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1B2E"/>
                </a:solidFill>
                <a:latin typeface="Calibri"/>
              </a:rPr>
              <a:t>The piece reads the station as a place of crossing. Between neighbourhoods. Between the old Mylapore of temple and church and the new city the line connects.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555266"/>
                </a:solidFill>
                <a:latin typeface="Calibri"/>
              </a:rPr>
              <a:t>It blends the grounded footwork of the Irish tradition I carry with the gestural vocabulary of Chennai dance, set against a digital projection that moves with the dancers across the concourse wall.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F7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B358C"/>
                </a:solidFill>
                <a:latin typeface="Verdana"/>
              </a:rPr>
              <a:t>Two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120640" cy="640080"/>
          </a:xfrm>
          <a:prstGeom prst="rect">
            <a:avLst/>
          </a:prstGeom>
          <a:solidFill>
            <a:srgbClr val="3B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663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   Live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2E"/>
                </a:solidFill>
                <a:latin typeface="Calibri"/>
              </a:rPr>
              <a:t>Eight dancers of the advanced troupe with live bodhran and fiddle. Twenty minutes, repeated twice across the inauguration event.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5074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074920" cy="64008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617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02   Projection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4617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2E"/>
                </a:solidFill>
                <a:latin typeface="Calibri"/>
              </a:rPr>
              <a:t>A looping six minute movement film mapped to the concourse wall, running during station hours for the first month, so commuters meet the work daily, not only on the opening.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3B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Verdana"/>
              </a:rPr>
              <a:t>Why this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429000" cy="3657600"/>
          </a:xfrm>
          <a:prstGeom prst="rect">
            <a:avLst/>
          </a:prstGeom>
          <a:solidFill>
            <a:srgbClr val="33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429000" cy="109728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69CC4"/>
                </a:solidFill>
                <a:latin typeface="Verdana"/>
              </a:rPr>
              <a:t>14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Building contemporary Irish dance in Chennai, a genuine cross-cultural practice.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3429000" cy="3657600"/>
          </a:xfrm>
          <a:prstGeom prst="rect">
            <a:avLst/>
          </a:prstGeom>
          <a:solidFill>
            <a:srgbClr val="33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429000" cy="109728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69CC4"/>
                </a:solidFill>
                <a:latin typeface="Verdana"/>
              </a:rPr>
              <a:t>One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83280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Projection language shared with Five Elements, the festival premiere this December.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429000" cy="3657600"/>
          </a:xfrm>
          <a:prstGeom prst="rect">
            <a:avLst/>
          </a:prstGeom>
          <a:solidFill>
            <a:srgbClr val="33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29000" cy="109728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69CC4"/>
                </a:solidFill>
                <a:latin typeface="Verdana"/>
              </a:rPr>
              <a:t>Trusted hands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same musicians and projection designer who have worked with the company for over a decade.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F7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B358C"/>
                </a:solidFill>
                <a:latin typeface="Verdana"/>
              </a:rPr>
              <a:t>Budget and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49807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2194560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E1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" y="2194560"/>
            <a:ext cx="2792185" cy="100584"/>
          </a:xfrm>
          <a:prstGeom prst="roundRect">
            <a:avLst>
              <a:gd name="adj" fmla="val 50000"/>
            </a:avLst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1B2E"/>
                </a:solidFill>
                <a:latin typeface="Calibri"/>
              </a:rPr>
              <a:t>Choreography and creative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3B358C"/>
                </a:solidFill>
                <a:latin typeface="Calibri"/>
              </a:rPr>
              <a:t>Rs 1,50,000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7498079" cy="548640"/>
          </a:xfrm>
          <a:prstGeom prst="rect">
            <a:avLst/>
          </a:prstGeom>
          <a:solidFill>
            <a:srgbClr val="EE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2779776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E1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5840" y="2779776"/>
            <a:ext cx="4095205" cy="100584"/>
          </a:xfrm>
          <a:prstGeom prst="roundRect">
            <a:avLst>
              <a:gd name="adj" fmla="val 50000"/>
            </a:avLst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68296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1B2E"/>
                </a:solidFill>
                <a:latin typeface="Calibri"/>
              </a:rPr>
              <a:t>Dancers and musicians, rehearsal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68296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3B358C"/>
                </a:solidFill>
                <a:latin typeface="Calibri"/>
              </a:rPr>
              <a:t>Rs 2,20,000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53512"/>
            <a:ext cx="749807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" y="3364992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E1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3364992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53512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1B2E"/>
                </a:solidFill>
                <a:latin typeface="Calibri"/>
              </a:rPr>
              <a:t>Projection design, filming and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53512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3B358C"/>
                </a:solidFill>
                <a:latin typeface="Calibri"/>
              </a:rPr>
              <a:t>Rs 2,80,000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38728"/>
            <a:ext cx="7498079" cy="548640"/>
          </a:xfrm>
          <a:prstGeom prst="rect">
            <a:avLst/>
          </a:prstGeom>
          <a:solidFill>
            <a:srgbClr val="EE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" y="3950208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E1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" y="3950208"/>
            <a:ext cx="2606040" cy="100584"/>
          </a:xfrm>
          <a:prstGeom prst="roundRect">
            <a:avLst>
              <a:gd name="adj" fmla="val 50000"/>
            </a:avLst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38728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1B2E"/>
                </a:solidFill>
                <a:latin typeface="Calibri"/>
              </a:rPr>
              <a:t>Equipment hire and installation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38728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3B358C"/>
                </a:solidFill>
                <a:latin typeface="Calibri"/>
              </a:rPr>
              <a:t>Rs 1,40,000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23944"/>
            <a:ext cx="749807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840" y="4535424"/>
            <a:ext cx="5212080" cy="100584"/>
          </a:xfrm>
          <a:prstGeom prst="roundRect">
            <a:avLst>
              <a:gd name="adj" fmla="val 50000"/>
            </a:avLst>
          </a:prstGeom>
          <a:solidFill>
            <a:srgbClr val="E1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5840" y="4535424"/>
            <a:ext cx="1116874" cy="100584"/>
          </a:xfrm>
          <a:prstGeom prst="roundRect">
            <a:avLst>
              <a:gd name="adj" fmla="val 50000"/>
            </a:avLst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23944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1B2E"/>
                </a:solidFill>
                <a:latin typeface="Calibri"/>
              </a:rPr>
              <a:t>Documentation and contingency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23944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3B358C"/>
                </a:solidFill>
                <a:latin typeface="Calibri"/>
              </a:rPr>
              <a:t>Rs 60,000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82312"/>
            <a:ext cx="7498079" cy="603504"/>
          </a:xfrm>
          <a:prstGeom prst="rect">
            <a:avLst/>
          </a:prstGeom>
          <a:solidFill>
            <a:srgbClr val="3B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82312"/>
            <a:ext cx="5486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Total commission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82312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Calibri"/>
              </a:rPr>
              <a:t>Rs 8,50,000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783080"/>
            <a:ext cx="2743200" cy="402336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103120"/>
            <a:ext cx="2286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Timeline</a:t>
            </a:r>
          </a:p>
          <a:p>
            <a:pPr algn="l">
              <a:spcBef>
                <a:spcPts val="1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Rehearsals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October to November 2026</a:t>
            </a:r>
          </a:p>
          <a:p>
            <a:pPr algn="l"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Install built and tested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Ahead of the November inauguration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371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6A659C"/>
                </a:solidFill>
              </a:rPr>
              <a:t>Bar length shows each line as a share of the commission cost.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C8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Verdana"/>
              </a:rPr>
              <a:t>One artistic voice across two civic moments.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69CC4"/>
                </a:solidFill>
                <a:latin typeface="Calibri"/>
              </a:rPr>
              <a:t>I would be glad to present this to the committee in person.</a:t>
            </a:r>
          </a:p>
          <a:p>
            <a:pPr algn="ctr">
              <a:spcBef>
                <a:spcPts val="1400"/>
              </a:spcBef>
            </a:pPr>
            <a:r>
              <a:rPr sz="1300" b="0" i="0">
                <a:solidFill>
                  <a:srgbClr val="C9C6DA"/>
                </a:solidFill>
                <a:latin typeface="Calibri"/>
              </a:rPr>
              <a:t>Jean Mullen     Ceili Mor Academy of Dance     jean.mullen@Finthesiss.ai     +91 80 5555 7200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