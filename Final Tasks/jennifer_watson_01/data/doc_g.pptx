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Measured</c:v>
                </c:pt>
              </c:strCache>
            </c:strRef>
          </c:tx>
          <c:spPr>
            <a:ln w="38100">
              <a:solidFill>
                <a:srgbClr val="1B5E20"/>
              </a:solidFill>
            </a:ln>
          </c:spPr>
          <c:cat>
            <c:strRef>
              <c:f>Sheet1!$A$2:$A$7</c:f>
              <c:strCache>
                <c:ptCount val="6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99.86</c:v>
                </c:pt>
                <c:pt idx="1">
                  <c:v>99.88</c:v>
                </c:pt>
                <c:pt idx="2">
                  <c:v>99.89</c:v>
                </c:pt>
                <c:pt idx="3">
                  <c:v>99.9</c:v>
                </c:pt>
                <c:pt idx="4">
                  <c:v>99.905</c:v>
                </c:pt>
                <c:pt idx="5">
                  <c:v>99.91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25400">
              <a:solidFill>
                <a:srgbClr val="E68A00"/>
              </a:solidFill>
            </a:ln>
          </c:spPr>
          <c:cat>
            <c:strRef>
              <c:f>Sheet1!$A$2:$A$7</c:f>
              <c:strCache>
                <c:ptCount val="6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99.95</c:v>
                </c:pt>
                <c:pt idx="1">
                  <c:v>99.95</c:v>
                </c:pt>
                <c:pt idx="2">
                  <c:v>99.95</c:v>
                </c:pt>
                <c:pt idx="3">
                  <c:v>99.95</c:v>
                </c:pt>
                <c:pt idx="4">
                  <c:v>99.95</c:v>
                </c:pt>
                <c:pt idx="5">
                  <c:v>99.95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B2B2A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9.98"/>
          <c:min val="99.8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B2B2A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Last two quarters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Sheet1!$A$2:$A$6</c:f>
              <c:strCache>
                <c:ptCount val="5"/>
                <c:pt idx="0">
                  <c:v>Slow downstream</c:v>
                </c:pt>
                <c:pt idx="1">
                  <c:v>Bad deploy</c:v>
                </c:pt>
                <c:pt idx="2">
                  <c:v>Kafka rebalance</c:v>
                </c:pt>
                <c:pt idx="3">
                  <c:v>Idempotency gap</c:v>
                </c:pt>
                <c:pt idx="4">
                  <c:v>Manual replay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B2B2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B2B2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4600" b="1" i="0">
                <a:solidFill>
                  <a:srgbClr val="1B2B2A"/>
                </a:solidFill>
                <a:latin typeface="Calibri"/>
              </a:rPr>
              <a:t>Platform Reliability Initiative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0896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100" b="0" i="0">
                <a:solidFill>
                  <a:srgbClr val="2E7D32"/>
                </a:solidFill>
                <a:latin typeface="Calibri"/>
              </a:rPr>
              <a:t>Closing the gap to a 99.95 percent uptime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700" b="1" i="0">
                <a:solidFill>
                  <a:srgbClr val="1B2B2A"/>
                </a:solidFill>
                <a:latin typeface="Calibri"/>
              </a:rPr>
              <a:t>Jennifer Watson, Principal Software Architect</a:t>
            </a:r>
          </a:p>
          <a:p>
            <a:pPr algn="l"/>
            <a:r>
              <a:rPr sz="1300" b="0" i="0">
                <a:solidFill>
                  <a:srgbClr val="5A6B5C"/>
                </a:solidFill>
                <a:latin typeface="Calibri"/>
              </a:rPr>
              <a:t>Platform Architecture team review  -  February 2026</a:t>
            </a: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E68A00"/>
                </a:solidFill>
                <a:latin typeface="Calibri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000" b="1" i="0">
                <a:solidFill>
                  <a:srgbClr val="1B2B2A"/>
                </a:solidFill>
                <a:latin typeface="Calibri"/>
              </a:rPr>
              <a:t>What We Are Aiming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54480"/>
            <a:ext cx="201168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011680"/>
            <a:ext cx="5120640" cy="3291840"/>
          </a:xfrm>
          <a:prstGeom prst="rect">
            <a:avLst/>
          </a:prstGeom>
          <a:solidFill>
            <a:srgbClr val="EF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6000" b="1" i="0">
                <a:solidFill>
                  <a:srgbClr val="1B5E20"/>
                </a:solidFill>
                <a:latin typeface="Calibri"/>
              </a:rPr>
              <a:t>99.95%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45720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0" i="0">
                <a:solidFill>
                  <a:srgbClr val="1B2B2A"/>
                </a:solidFill>
                <a:latin typeface="Calibri"/>
              </a:rPr>
              <a:t>Target availability across the extracted services and the legacy monolith, measured on customer-facing transaction paths.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120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6000" b="1" i="0">
                <a:solidFill>
                  <a:srgbClr val="E68A00"/>
                </a:solidFill>
                <a:latin typeface="Calibri"/>
              </a:rPr>
              <a:t>99.91%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474720"/>
            <a:ext cx="45720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0" i="0">
                <a:solidFill>
                  <a:srgbClr val="1B2B2A"/>
                </a:solidFill>
                <a:latin typeface="Calibri"/>
              </a:rPr>
              <a:t>Where we sit today. The gap is roughly 21 fewer minutes of downtime per month to close.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E68A00"/>
                </a:solidFill>
                <a:latin typeface="Calibri"/>
              </a:rPr>
              <a:t>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000" b="1" i="0">
                <a:solidFill>
                  <a:srgbClr val="1B2B2A"/>
                </a:solidFill>
                <a:latin typeface="Calibri"/>
              </a:rPr>
              <a:t>Honest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54480"/>
            <a:ext cx="201168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B2B2A"/>
                </a:solidFill>
                <a:latin typeface="Calibri"/>
              </a:rPr>
              <a:t>-  Most incidents are unglamorous: slow downstreams, bad deploys, Kafka rebalances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B2B2A"/>
                </a:solidFill>
                <a:latin typeface="Calibri"/>
              </a:rPr>
              <a:t>-  The payment domain coupling concentrates blast radius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B2B2A"/>
                </a:solidFill>
                <a:latin typeface="Calibri"/>
              </a:rPr>
              <a:t>-  Idempotency gaps let retries double-apply on three consumers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B2B2A"/>
                </a:solidFill>
                <a:latin typeface="Calibri"/>
              </a:rPr>
              <a:t>-  Reconciliation replay is still a manual, error-prone step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B2B2A"/>
                </a:solidFill>
                <a:latin typeface="Calibri"/>
              </a:rPr>
              <a:t>-  Dashboards exist but do not yet tell the whole settlement story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E68A00"/>
                </a:solidFill>
                <a:latin typeface="Calibri"/>
              </a:rPr>
              <a:t>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000" b="1" i="0">
                <a:solidFill>
                  <a:srgbClr val="1B2B2A"/>
                </a:solidFill>
                <a:latin typeface="Calibri"/>
              </a:rPr>
              <a:t>Availability Over Six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54480"/>
            <a:ext cx="201168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13232" y="1828800"/>
          <a:ext cx="106984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E68A00"/>
                </a:solidFill>
                <a:latin typeface="Calibri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000" b="1" i="0">
                <a:solidFill>
                  <a:srgbClr val="1B2B2A"/>
                </a:solidFill>
                <a:latin typeface="Calibri"/>
              </a:rPr>
              <a:t>Incidents by Root Cause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54480"/>
            <a:ext cx="201168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13232" y="1828800"/>
          <a:ext cx="106984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E68A00"/>
                </a:solidFill>
                <a:latin typeface="Calibri"/>
              </a:rPr>
              <a:t>WHAT MOVES THE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000" b="1" i="0">
                <a:solidFill>
                  <a:srgbClr val="1B2B2A"/>
                </a:solidFill>
                <a:latin typeface="Calibri"/>
              </a:rPr>
              <a:t>The Boring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54480"/>
            <a:ext cx="201168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5212080" cy="1783080"/>
          </a:xfrm>
          <a:prstGeom prst="rect">
            <a:avLst/>
          </a:prstGeom>
          <a:solidFill>
            <a:srgbClr val="EF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920240"/>
            <a:ext cx="109728" cy="178308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0312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Calibri"/>
              </a:rPr>
              <a:t>Sensible timeouts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97480"/>
            <a:ext cx="47548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0" i="0">
                <a:solidFill>
                  <a:srgbClr val="1B2B2A"/>
                </a:solidFill>
                <a:latin typeface="Calibri"/>
              </a:rPr>
              <a:t>Stop slow downstreams from cascading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920240"/>
            <a:ext cx="5212080" cy="1783080"/>
          </a:xfrm>
          <a:prstGeom prst="rect">
            <a:avLst/>
          </a:prstGeom>
          <a:solidFill>
            <a:srgbClr val="EF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1920240"/>
            <a:ext cx="109728" cy="178308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10312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Calibri"/>
              </a:rPr>
              <a:t>Idempotent consumers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697480"/>
            <a:ext cx="47548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0" i="0">
                <a:solidFill>
                  <a:srgbClr val="1B2B2A"/>
                </a:solidFill>
                <a:latin typeface="Calibri"/>
              </a:rPr>
              <a:t>Retries stop double-applying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977639"/>
            <a:ext cx="5212080" cy="1783080"/>
          </a:xfrm>
          <a:prstGeom prst="rect">
            <a:avLst/>
          </a:prstGeom>
          <a:solidFill>
            <a:srgbClr val="EF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977639"/>
            <a:ext cx="109728" cy="178308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60519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Calibri"/>
              </a:rPr>
              <a:t>Replayable reconciliation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754879"/>
            <a:ext cx="47548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0" i="0">
                <a:solidFill>
                  <a:srgbClr val="1B2B2A"/>
                </a:solidFill>
                <a:latin typeface="Calibri"/>
              </a:rPr>
              <a:t>Recover cleanly after a bad window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3977639"/>
            <a:ext cx="5212080" cy="1783080"/>
          </a:xfrm>
          <a:prstGeom prst="rect">
            <a:avLst/>
          </a:prstGeom>
          <a:solidFill>
            <a:srgbClr val="EF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3977639"/>
            <a:ext cx="109728" cy="178308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4160519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Calibri"/>
              </a:rPr>
              <a:t>Dashboards that tell the truth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754879"/>
            <a:ext cx="47548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0" i="0">
                <a:solidFill>
                  <a:srgbClr val="1B2B2A"/>
                </a:solidFill>
                <a:latin typeface="Calibri"/>
              </a:rPr>
              <a:t>See settlement lag before customers do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E68A00"/>
                </a:solidFill>
                <a:latin typeface="Calibri"/>
              </a:rPr>
              <a:t>TD-11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000" b="1" i="0">
                <a:solidFill>
                  <a:srgbClr val="1B2B2A"/>
                </a:solidFill>
                <a:latin typeface="Calibri"/>
              </a:rPr>
              <a:t>Idempotency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54480"/>
            <a:ext cx="201168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900">
                <a:solidFill>
                  <a:srgbClr val="1B2B2A"/>
                </a:solidFill>
                <a:latin typeface="Calibri"/>
              </a:rPr>
              <a:t>-  Three consumers can double-apply on redelivery: ledger, notifications, reconciliation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1B2B2A"/>
                </a:solidFill>
                <a:latin typeface="Calibri"/>
              </a:rPr>
              <a:t>-  Add idempotency keys derived from the payment aggregate id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1B2B2A"/>
                </a:solidFill>
                <a:latin typeface="Calibri"/>
              </a:rPr>
              <a:t>-  Dead-letter topic per consumer group for poison messages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1B2B2A"/>
                </a:solidFill>
                <a:latin typeface="Calibri"/>
              </a:rPr>
              <a:t>-  At-least-once delivery becomes safe to reason about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1B2B2A"/>
                </a:solidFill>
                <a:latin typeface="Calibri"/>
              </a:rPr>
              <a:t>-  Most direct single lever on the reliability target</a:t>
            </a: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E68A00"/>
                </a:solidFill>
                <a:latin typeface="Calibri"/>
              </a:rPr>
              <a:t>TD-30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000" b="1" i="0">
                <a:solidFill>
                  <a:srgbClr val="1B2B2A"/>
                </a:solidFill>
                <a:latin typeface="Calibri"/>
              </a:rPr>
              <a:t>Reconciliation Replay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54480"/>
            <a:ext cx="201168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834640"/>
            <a:ext cx="1965960" cy="12801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834640"/>
            <a:ext cx="196596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Detect settlement 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834640"/>
            <a:ext cx="1965960" cy="12801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834640"/>
            <a:ext cx="196596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Freeze affected window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38928" y="2834640"/>
            <a:ext cx="1965960" cy="12801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8928" y="2834640"/>
            <a:ext cx="196596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Replay from event 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51775" y="2834640"/>
            <a:ext cx="1965960" cy="12801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51775" y="2834640"/>
            <a:ext cx="196596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Verify against ledger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64624" y="2834640"/>
            <a:ext cx="1965960" cy="12801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64624" y="2834640"/>
            <a:ext cx="196596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Clear and resume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700" b="0" i="0">
                <a:solidFill>
                  <a:srgbClr val="1B2B2A"/>
                </a:solidFill>
                <a:latin typeface="Calibri"/>
              </a:rPr>
              <a:t>Today this is a manual, error-prone process. Automating the replay with a documented runbook removes a recurring source of payment incidents.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E68A00"/>
                </a:solidFill>
                <a:latin typeface="Calibri"/>
              </a:rPr>
              <a:t>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000" b="1" i="0">
                <a:solidFill>
                  <a:srgbClr val="1B2B2A"/>
                </a:solidFill>
                <a:latin typeface="Calibri"/>
              </a:rPr>
              <a:t>Seeing Problems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54480"/>
            <a:ext cx="201168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5212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10312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i="0">
                <a:solidFill>
                  <a:srgbClr val="1B5E20"/>
                </a:solidFill>
                <a:latin typeface="Calibri"/>
              </a:rPr>
              <a:t>SLO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51760"/>
            <a:ext cx="47548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1B2B2A"/>
                </a:solidFill>
                <a:latin typeface="Calibri"/>
              </a:rPr>
              <a:t>Availability and latency per service, error budget burn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3912" y="1920240"/>
            <a:ext cx="5212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210312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i="0">
                <a:solidFill>
                  <a:srgbClr val="1B5E20"/>
                </a:solidFill>
                <a:latin typeface="Calibri"/>
              </a:rPr>
              <a:t>Settlement 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651760"/>
            <a:ext cx="47548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1B2B2A"/>
                </a:solidFill>
                <a:latin typeface="Calibri"/>
              </a:rPr>
              <a:t>Time from payment.settled to ledger and reconciliation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977639"/>
            <a:ext cx="5212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160519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i="0">
                <a:solidFill>
                  <a:srgbClr val="1B5E20"/>
                </a:solidFill>
                <a:latin typeface="Calibri"/>
              </a:rPr>
              <a:t>Consumer lag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709159"/>
            <a:ext cx="47548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1B2B2A"/>
                </a:solidFill>
                <a:latin typeface="Calibri"/>
              </a:rPr>
              <a:t>Catch rebalancing storms before they cascade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3977639"/>
            <a:ext cx="5212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4160519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i="0">
                <a:solidFill>
                  <a:srgbClr val="1B5E20"/>
                </a:solidFill>
                <a:latin typeface="Calibri"/>
              </a:rPr>
              <a:t>Error budget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4709159"/>
            <a:ext cx="47548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1B2B2A"/>
                </a:solidFill>
                <a:latin typeface="Calibri"/>
              </a:rPr>
              <a:t>Slow releases when the budget is spent</a:t>
            </a:r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E68A00"/>
                </a:solidFill>
                <a:latin typeface="Calibri"/>
              </a:rPr>
              <a:t>ON-CALL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000" b="1" i="0">
                <a:solidFill>
                  <a:srgbClr val="1B2B2A"/>
                </a:solidFill>
                <a:latin typeface="Calibri"/>
              </a:rPr>
              <a:t>Escalation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54480"/>
            <a:ext cx="201168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900">
                <a:solidFill>
                  <a:srgbClr val="1B2B2A"/>
                </a:solidFill>
                <a:latin typeface="Calibri"/>
              </a:rPr>
              <a:t>-  Primary on-call rotates across the platform team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1B2B2A"/>
                </a:solidFill>
                <a:latin typeface="Calibri"/>
              </a:rPr>
              <a:t>-  Jennifer is the escalation point, not the first responder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1B2B2A"/>
                </a:solidFill>
                <a:latin typeface="Calibri"/>
              </a:rPr>
              <a:t>-  Runbooks front every high-severity alert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1B2B2A"/>
                </a:solidFill>
                <a:latin typeface="Calibri"/>
              </a:rPr>
              <a:t>-  Blameless review after every incident, action items tracked as debt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1B2B2A"/>
                </a:solidFill>
                <a:latin typeface="Calibri"/>
              </a:rPr>
              <a:t>-  Next shadow rotation adds Jordan after a clean root-cause writeup</a:t>
            </a: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E68A00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7899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000" b="1" i="0">
                <a:solidFill>
                  <a:srgbClr val="1B2B2A"/>
                </a:solidFill>
                <a:latin typeface="Calibri"/>
              </a:rPr>
              <a:t>Sequenced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54480"/>
            <a:ext cx="201168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011680"/>
            <a:ext cx="1069848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D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8288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011680"/>
            <a:ext cx="384048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8463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Expected outcome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880360"/>
            <a:ext cx="10698480" cy="777240"/>
          </a:xfrm>
          <a:prstGeom prst="rect">
            <a:avLst/>
          </a:prstGeom>
          <a:solidFill>
            <a:srgbClr val="EFF3EA"/>
          </a:solidFill>
          <a:ln w="12700">
            <a:solidFill>
              <a:srgbClr val="D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18288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1B2B2A"/>
                </a:solidFill>
                <a:latin typeface="Calibri"/>
              </a:rPr>
              <a:t>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80360"/>
            <a:ext cx="384048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1B2B2A"/>
                </a:solidFill>
                <a:latin typeface="Calibri"/>
              </a:rPr>
              <a:t>Idempotency, TD-11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880360"/>
            <a:ext cx="48463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1B2B2A"/>
                </a:solidFill>
                <a:latin typeface="Calibri"/>
              </a:rPr>
              <a:t>Retries safe on three consumers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749039"/>
            <a:ext cx="10698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49039"/>
            <a:ext cx="18288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1B2B2A"/>
                </a:solidFill>
                <a:latin typeface="Calibri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749039"/>
            <a:ext cx="384048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1B2B2A"/>
                </a:solidFill>
                <a:latin typeface="Calibri"/>
              </a:rPr>
              <a:t>Reconciliation replay, TD-30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749039"/>
            <a:ext cx="48463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1B2B2A"/>
                </a:solidFill>
                <a:latin typeface="Calibri"/>
              </a:rPr>
              <a:t>Automated recovery window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4617720"/>
            <a:ext cx="10698480" cy="777240"/>
          </a:xfrm>
          <a:prstGeom prst="rect">
            <a:avLst/>
          </a:prstGeom>
          <a:solidFill>
            <a:srgbClr val="EFF3EA"/>
          </a:solidFill>
          <a:ln w="12700">
            <a:solidFill>
              <a:srgbClr val="D8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18288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1B2B2A"/>
                </a:solidFill>
                <a:latin typeface="Calibri"/>
              </a:rPr>
              <a:t>Following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617720"/>
            <a:ext cx="384048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1B2B2A"/>
                </a:solidFill>
                <a:latin typeface="Calibri"/>
              </a:rPr>
              <a:t>Dashboards and error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617720"/>
            <a:ext cx="48463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1B2B2A"/>
                </a:solidFill>
                <a:latin typeface="Calibri"/>
              </a:rPr>
              <a:t>Faster detection, slower risky releases</a:t>
            </a: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0"/>
            <a:ext cx="12191695" cy="54864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Summary and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AF3EA"/>
                </a:solidFill>
                <a:latin typeface="Calibri"/>
              </a:rPr>
              <a:t>-  The gap to 99.95 percent is closed by boring, high-leverage work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F3EA"/>
                </a:solidFill>
                <a:latin typeface="Calibri"/>
              </a:rPr>
              <a:t>-  Fund TD-11 and TD-30 to completion this quarter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F3EA"/>
                </a:solidFill>
                <a:latin typeface="Calibri"/>
              </a:rPr>
              <a:t>-  Reconciliation runbook and dashboards before payment cutover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F3EA"/>
                </a:solidFill>
                <a:latin typeface="Calibri"/>
              </a:rPr>
              <a:t>-  Hold the error budget policy on releases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CFE3CF"/>
                </a:solidFill>
                <a:latin typeface="Calibri"/>
              </a:rPr>
              <a:t>Platform Architecture  -  reliability review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