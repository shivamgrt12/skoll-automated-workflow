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Services</c:v>
                </c:pt>
              </c:strCache>
            </c:strRef>
          </c:tx>
          <c:dPt>
            <c:idx val="0"/>
            <c:spPr>
              <a:solidFill>
                <a:srgbClr val="13B5B0"/>
              </a:solidFill>
            </c:spPr>
          </c:dPt>
          <c:dPt>
            <c:idx val="1"/>
            <c:spPr>
              <a:solidFill>
                <a:srgbClr val="F2A541"/>
              </a:solidFill>
            </c:spPr>
          </c:dPt>
          <c:dPt>
            <c:idx val="2"/>
            <c:spPr>
              <a:solidFill>
                <a:srgbClr val="9DB2C6"/>
              </a:solidFill>
            </c:spPr>
          </c:dPt>
          <c:cat>
            <c:strRef>
              <c:f>Sheet1!$A$2:$A$4</c:f>
              <c:strCache>
                <c:ptCount val="3"/>
                <c:pt idx="0">
                  <c:v>Extracted</c:v>
                </c:pt>
                <c:pt idx="1">
                  <c:v>In progress</c:v>
                </c:pt>
                <c:pt idx="2">
                  <c:v>Remaining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8EEF4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8EEF4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Uptime</c:v>
                </c:pt>
              </c:strCache>
            </c:strRef>
          </c:tx>
          <c:spPr>
            <a:ln w="38100">
              <a:solidFill>
                <a:srgbClr val="13B5B0"/>
              </a:solidFill>
            </a:ln>
          </c:spPr>
          <c:cat>
            <c:strRef>
              <c:f>Sheet1!$A$2:$A$7</c:f>
              <c:strCache>
                <c:ptCount val="6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99.86</c:v>
                </c:pt>
                <c:pt idx="1">
                  <c:v>99.88</c:v>
                </c:pt>
                <c:pt idx="2">
                  <c:v>99.89</c:v>
                </c:pt>
                <c:pt idx="3">
                  <c:v>99.9</c:v>
                </c:pt>
                <c:pt idx="4">
                  <c:v>99.905</c:v>
                </c:pt>
                <c:pt idx="5">
                  <c:v>99.91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25400">
              <a:solidFill>
                <a:srgbClr val="F2A541"/>
              </a:solidFill>
            </a:ln>
          </c:spPr>
          <c:cat>
            <c:strRef>
              <c:f>Sheet1!$A$2:$A$7</c:f>
              <c:strCache>
                <c:ptCount val="6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  <c:pt idx="4">
                  <c:v>Jan</c:v>
                </c:pt>
                <c:pt idx="5">
                  <c:v>Feb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99.95</c:v>
                </c:pt>
                <c:pt idx="1">
                  <c:v>99.95</c:v>
                </c:pt>
                <c:pt idx="2">
                  <c:v>99.95</c:v>
                </c:pt>
                <c:pt idx="3">
                  <c:v>99.95</c:v>
                </c:pt>
                <c:pt idx="4">
                  <c:v>99.95</c:v>
                </c:pt>
                <c:pt idx="5">
                  <c:v>99.95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8EEF4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98"/>
          <c:min val="99.8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8EEF4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AWS spend (thousands)</c:v>
                </c:pt>
              </c:strCache>
            </c:strRef>
          </c:tx>
          <c:dPt>
            <c:idx val="0"/>
            <c:spPr>
              <a:solidFill>
                <a:srgbClr val="9DB2C6"/>
              </a:solidFill>
            </c:spPr>
          </c:dPt>
          <c:dPt>
            <c:idx val="1"/>
            <c:spPr>
              <a:solidFill>
                <a:srgbClr val="F2A541"/>
              </a:solidFill>
            </c:spPr>
          </c:dPt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Projected peak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340</c:v>
                </c:pt>
                <c:pt idx="1">
                  <c:v>391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8EEF4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E8EEF4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1280160" cy="109728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Project Phoenix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200" b="0" i="0">
                <a:solidFill>
                  <a:srgbClr val="13B5B0"/>
                </a:solidFill>
                <a:latin typeface="Calibri"/>
              </a:rPr>
              <a:t>Architecture Review  -  Migration Status Toward 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E8EEF4"/>
                </a:solidFill>
                <a:latin typeface="Calibri"/>
              </a:rPr>
              <a:t>Jennifer Watson</a:t>
            </a:r>
          </a:p>
          <a:p>
            <a:pPr algn="l"/>
            <a:r>
              <a:rPr sz="1400" b="0" i="0">
                <a:solidFill>
                  <a:srgbClr val="9DB2C6"/>
                </a:solidFill>
                <a:latin typeface="Calibri"/>
              </a:rPr>
              <a:t>Principal Software Architect  -  Platform Architecture</a:t>
            </a:r>
          </a:p>
          <a:p>
            <a:pPr algn="l"/>
            <a:r>
              <a:rPr sz="1200" b="0" i="0">
                <a:solidFill>
                  <a:srgbClr val="9DB2C6"/>
                </a:solidFill>
                <a:latin typeface="Calibri"/>
              </a:rPr>
              <a:t>Reviewed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13B5B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Where the monolith started and why we are moving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04288"/>
            <a:ext cx="4572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13B5B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04288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Migration scorecard, service by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054096"/>
            <a:ext cx="4572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13B5B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54096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Event streaming and the payment bottleneck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03904"/>
            <a:ext cx="4572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03904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13B5B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03904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Reliability trend against the 99.95 percent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553712"/>
            <a:ext cx="4572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13B5B0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3712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Technical debt, infrastructure cost, and timeline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13B5B0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03520"/>
            <a:ext cx="9601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Risks and what the team needs to finish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We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A Java and Spring Boot monolith on the critical path for every transaction. Fourteen target services identified, all sharing one database and one deploy.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2468880" cy="18288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2468880" cy="109728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468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i="0">
                <a:solidFill>
                  <a:srgbClr val="13B5B0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2468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 i="0">
                <a:solidFill>
                  <a:srgbClr val="9DB2C6"/>
                </a:solidFill>
                <a:latin typeface="Calibri"/>
              </a:rPr>
              <a:t>services identified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2834640"/>
            <a:ext cx="2468880" cy="18288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2834640"/>
            <a:ext cx="2468880" cy="109728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200400"/>
            <a:ext cx="2468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i="0">
                <a:solidFill>
                  <a:srgbClr val="13B5B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114800"/>
            <a:ext cx="2468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 i="0">
                <a:solidFill>
                  <a:srgbClr val="9DB2C6"/>
                </a:solidFill>
                <a:latin typeface="Calibri"/>
              </a:rPr>
              <a:t>shared monolith 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2468880" cy="18288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834640"/>
            <a:ext cx="2468880" cy="109728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468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i="0">
                <a:solidFill>
                  <a:srgbClr val="13B5B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14800"/>
            <a:ext cx="2468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 i="0">
                <a:solidFill>
                  <a:srgbClr val="9DB2C6"/>
                </a:solidFill>
                <a:latin typeface="Calibri"/>
              </a:rPr>
              <a:t>domains coupled to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834640"/>
            <a:ext cx="2468880" cy="18288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834640"/>
            <a:ext cx="2468880" cy="109728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200400"/>
            <a:ext cx="2468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400" b="1" i="0">
                <a:solidFill>
                  <a:srgbClr val="13B5B0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114800"/>
            <a:ext cx="24688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400" b="0" i="0">
                <a:solidFill>
                  <a:srgbClr val="9DB2C6"/>
                </a:solidFill>
                <a:latin typeface="Calibri"/>
              </a:rPr>
              <a:t>months into migration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Migration Scorecard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5448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5 of 14 services extracted to Go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Each extracted service owns its PostgreSQL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3 in progress, led with Raj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Payment processing is the gating item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Remaining 6 unblock once payment decouples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ADR-031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Event Streaming on Kafka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0" i="0">
                <a:solidFill>
                  <a:srgbClr val="E8EEF4"/>
                </a:solidFill>
                <a:latin typeface="Calibri"/>
              </a:rPr>
              <a:t>Asynchronous, event-driven communication lets services deploy independently. We evaluated three platforms and standardized on Kafka.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10515600" cy="658368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Criterion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Kafka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Pulsar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468880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NATS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82112"/>
            <a:ext cx="10515600" cy="65836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Team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82112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13B5B0"/>
                </a:solidFill>
                <a:latin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82112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182112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895344"/>
            <a:ext cx="10515600" cy="658368"/>
          </a:xfrm>
          <a:prstGeom prst="rect">
            <a:avLst/>
          </a:prstGeom>
          <a:solidFill>
            <a:srgbClr val="183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95344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Operational maturity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895344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13B5B0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95344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895344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08576"/>
            <a:ext cx="10515600" cy="65836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608576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Replay and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608576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13B5B0"/>
                </a:solidFill>
                <a:latin typeface="Calibri"/>
              </a:rPr>
              <a:t>Strong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08576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608576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Configurable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321808"/>
            <a:ext cx="10515600" cy="658368"/>
          </a:xfrm>
          <a:prstGeom prst="rect">
            <a:avLst/>
          </a:prstGeom>
          <a:solidFill>
            <a:srgbClr val="1832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21808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Operational complexity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321808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1" i="0">
                <a:solidFill>
                  <a:srgbClr val="13B5B0"/>
                </a:solidFill>
                <a:latin typeface="Calibri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321808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5321808"/>
            <a:ext cx="256032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1500" b="0" i="0">
                <a:solidFill>
                  <a:srgbClr val="E8EEF4"/>
                </a:solidFill>
                <a:latin typeface="Calibri"/>
              </a:rPr>
              <a:t>Low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ADR-048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Payment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291840"/>
            <a:ext cx="2468880" cy="1097280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3291840"/>
            <a:ext cx="2468880" cy="10972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0B1F3A"/>
                </a:solidFill>
                <a:latin typeface="Calibri"/>
              </a:rPr>
              <a:t>Payment</a:t>
            </a:r>
          </a:p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737360"/>
            <a:ext cx="2194560" cy="731520"/>
          </a:xfrm>
          <a:prstGeom prst="rect">
            <a:avLst/>
          </a:prstGeom>
          <a:solidFill>
            <a:srgbClr val="13294B"/>
          </a:solidFill>
          <a:ln w="12700">
            <a:solidFill>
              <a:srgbClr val="13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737360"/>
            <a:ext cx="21945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E8EEF4"/>
                </a:solidFill>
                <a:latin typeface="Calibri"/>
              </a:rPr>
              <a:t>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2194560" cy="731520"/>
          </a:xfrm>
          <a:prstGeom prst="rect">
            <a:avLst/>
          </a:prstGeom>
          <a:solidFill>
            <a:srgbClr val="13294B"/>
          </a:solidFill>
          <a:ln w="12700">
            <a:solidFill>
              <a:srgbClr val="13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43200"/>
            <a:ext cx="21945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E8EEF4"/>
                </a:solidFill>
                <a:latin typeface="Calibri"/>
              </a:rPr>
              <a:t>Fraud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3749039"/>
            <a:ext cx="2194560" cy="731520"/>
          </a:xfrm>
          <a:prstGeom prst="rect">
            <a:avLst/>
          </a:prstGeom>
          <a:solidFill>
            <a:srgbClr val="13294B"/>
          </a:solidFill>
          <a:ln w="12700">
            <a:solidFill>
              <a:srgbClr val="13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749039"/>
            <a:ext cx="21945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E8EEF4"/>
                </a:solidFill>
                <a:latin typeface="Calibri"/>
              </a:rPr>
              <a:t>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4754880"/>
            <a:ext cx="2194560" cy="731520"/>
          </a:xfrm>
          <a:prstGeom prst="rect">
            <a:avLst/>
          </a:prstGeom>
          <a:solidFill>
            <a:srgbClr val="13294B"/>
          </a:solidFill>
          <a:ln w="12700">
            <a:solidFill>
              <a:srgbClr val="13B5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754880"/>
            <a:ext cx="219456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1400" b="1" i="0">
                <a:solidFill>
                  <a:srgbClr val="E8EEF4"/>
                </a:solidFill>
                <a:latin typeface="Calibri"/>
              </a:rPr>
              <a:t>Reconciliation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554480"/>
            <a:ext cx="384048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700" b="0" i="0">
                <a:solidFill>
                  <a:srgbClr val="E8EEF4"/>
                </a:solidFill>
                <a:latin typeface="Calibri"/>
              </a:rPr>
              <a:t>Tightly coupled to four domains through synchronous calls. That coupling keeps the monolith on the critical path and blocks independent deploys.</a:t>
            </a:r>
          </a:p>
          <a:p>
            <a:pPr algn="l"/>
            <a:r>
              <a:rPr sz="800" b="0" i="0">
                <a:solidFill>
                  <a:srgbClr val="E8EEF4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2A541"/>
                </a:solidFill>
                <a:latin typeface="Calibri"/>
              </a:rPr>
              <a:t>It is the single highest-risk item in the technical debt backlog, TD-04.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Decoupling the Payment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128016" cy="96012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459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3B5B0"/>
                </a:solidFill>
                <a:latin typeface="Calibri"/>
              </a:rPr>
              <a:t>Extract to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E8EEF4"/>
                </a:solidFill>
                <a:latin typeface="Calibri"/>
              </a:rPr>
              <a:t>Standalone service with its own PostgreSQL instance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88920"/>
            <a:ext cx="128016" cy="96012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3B5B0"/>
                </a:solidFill>
                <a:latin typeface="Calibri"/>
              </a:rPr>
              <a:t>Events over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04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E8EEF4"/>
                </a:solidFill>
                <a:latin typeface="Calibri"/>
              </a:rPr>
              <a:t>Ledger and reconciliation consume payment.settled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31920"/>
            <a:ext cx="128016" cy="96012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9319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3B5B0"/>
                </a:solidFill>
                <a:latin typeface="Calibri"/>
              </a:rPr>
              <a:t>Async fraud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E8EEF4"/>
                </a:solidFill>
                <a:latin typeface="Calibri"/>
              </a:rPr>
              <a:t>Pre-authorization with a timed fallback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74920"/>
            <a:ext cx="128016" cy="96012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0749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000" b="1" i="0">
                <a:solidFill>
                  <a:srgbClr val="13B5B0"/>
                </a:solidFill>
                <a:latin typeface="Calibri"/>
              </a:rPr>
              <a:t>Strangler facade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4864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0" i="0">
                <a:solidFill>
                  <a:srgbClr val="E8EEF4"/>
                </a:solidFill>
                <a:latin typeface="Calibri"/>
              </a:rPr>
              <a:t>Kept in the monolith for a two-release window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Uptime Toward 99.95 Percent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54480"/>
          <a:ext cx="10515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TECH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Backlog and Highest Levers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3383280" cy="15544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9DB2C6"/>
                </a:solidFill>
                <a:latin typeface="Calibr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E8EEF4"/>
                </a:solidFill>
                <a:latin typeface="Calibri"/>
              </a:rPr>
              <a:t>tracked items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3383280" cy="15544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13B5B0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4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E8EEF4"/>
                </a:solidFill>
                <a:latin typeface="Calibri"/>
              </a:rPr>
              <a:t>closed last quarter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383280" cy="15544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4000" b="1" i="0">
                <a:solidFill>
                  <a:srgbClr val="F2A541"/>
                </a:solidFill>
                <a:latin typeface="Calibr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300" b="0" i="0">
                <a:solidFill>
                  <a:srgbClr val="E8EEF4"/>
                </a:solidFill>
                <a:latin typeface="Calibri"/>
              </a:rPr>
              <a:t>sprint capacity reserved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TD-04  Payment domain synchronous coupling  -  High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TD-11  Missing idempotency on three consumers  -  High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TD-30  Manual reconciliation replay  -  Medium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Prioritizing TD-11 and TD-30 shrinks payment incident blast radius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Cost and Footprint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64592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Baseline AWS spend of 340,000 dollars per year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Expecting up to a 15 percent increase during migration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Runs on EKS with Terraform and ArgoCD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8EEF4"/>
                </a:solidFill>
                <a:latin typeface="Calibri"/>
              </a:rPr>
              <a:t>-  Cost falls back as the monolith shrinks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256032" cy="571500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1" i="0">
                <a:solidFill>
                  <a:srgbClr val="13B5B0"/>
                </a:solidFill>
                <a:latin typeface="Calibri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Timeline to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737360"/>
            <a:ext cx="54864" cy="4206240"/>
          </a:xfrm>
          <a:prstGeom prst="rect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737360"/>
            <a:ext cx="310896" cy="310896"/>
          </a:xfrm>
          <a:prstGeom prst="ellipse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E8EEF4"/>
                </a:solidFill>
                <a:latin typeface="Calibri"/>
              </a:rPr>
              <a:t>Extract payment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69164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3B5B0"/>
                </a:solidFill>
                <a:latin typeface="Calibri"/>
              </a:rPr>
              <a:t>In progress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06039"/>
            <a:ext cx="310896" cy="310896"/>
          </a:xfrm>
          <a:prstGeom prst="ellipse">
            <a:avLst/>
          </a:prstGeom>
          <a:solidFill>
            <a:srgbClr val="13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560319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E8EEF4"/>
                </a:solidFill>
                <a:latin typeface="Calibri"/>
              </a:rPr>
              <a:t>Decouple four domains via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560319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13B5B0"/>
                </a:solidFill>
                <a:latin typeface="Calibri"/>
              </a:rPr>
              <a:t>In progress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474720"/>
            <a:ext cx="310896" cy="310896"/>
          </a:xfrm>
          <a:prstGeom prst="ellipse">
            <a:avLst/>
          </a:prstGeom>
          <a:solidFill>
            <a:srgbClr val="9DB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42900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E8EEF4"/>
                </a:solidFill>
                <a:latin typeface="Calibri"/>
              </a:rPr>
              <a:t>Retire strangler facade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42900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9DB2C6"/>
                </a:solidFill>
                <a:latin typeface="Calibri"/>
              </a:rPr>
              <a:t>Planned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343400"/>
            <a:ext cx="310896" cy="310896"/>
          </a:xfrm>
          <a:prstGeom prst="ellipse">
            <a:avLst/>
          </a:prstGeom>
          <a:solidFill>
            <a:srgbClr val="9DB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80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E8EEF4"/>
                </a:solidFill>
                <a:latin typeface="Calibri"/>
              </a:rPr>
              <a:t>Final service extractions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29768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9DB2C6"/>
                </a:solidFill>
                <a:latin typeface="Calibri"/>
              </a:rPr>
              <a:t>Planned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5212079"/>
            <a:ext cx="310896" cy="310896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166359"/>
            <a:ext cx="8229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800" b="1" i="0">
                <a:solidFill>
                  <a:srgbClr val="E8EEF4"/>
                </a:solidFill>
                <a:latin typeface="Calibri"/>
              </a:rPr>
              <a:t>Q4 completion target, December 15,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5166359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400" b="1" i="0">
                <a:solidFill>
                  <a:srgbClr val="F2A541"/>
                </a:solidFill>
                <a:latin typeface="Calibri"/>
              </a:rPr>
              <a:t>Target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920240"/>
            <a:ext cx="1280160" cy="109728"/>
          </a:xfrm>
          <a:prstGeom prst="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Risks and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E8EEF4"/>
                </a:solidFill>
                <a:latin typeface="Calibri"/>
              </a:rPr>
              <a:t>-  Protect the two-release window for the strangler facade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E8EEF4"/>
                </a:solidFill>
                <a:latin typeface="Calibri"/>
              </a:rPr>
              <a:t>-  Hold 20 percent sprint capacity for TD-11 and TD-30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E8EEF4"/>
                </a:solidFill>
                <a:latin typeface="Calibri"/>
              </a:rPr>
              <a:t>-  Reconciliation dashboard and replay runbook before cutover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E8EEF4"/>
                </a:solidFill>
                <a:latin typeface="Calibri"/>
              </a:rPr>
              <a:t>-  On track for the December 15, 2026 completion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 i="0">
                <a:solidFill>
                  <a:srgbClr val="9DB2C6"/>
                </a:solidFill>
                <a:latin typeface="Calibri"/>
              </a:rPr>
              <a:t>Jennifer Watson  -  Platform Architecture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