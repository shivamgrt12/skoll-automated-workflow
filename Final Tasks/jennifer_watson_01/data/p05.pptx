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USCF</c:v>
                </c:pt>
              </c:strCache>
            </c:strRef>
          </c:tx>
          <c:spPr>
            <a:ln w="38100">
              <a:solidFill>
                <a:srgbClr val="6E1423"/>
              </a:solidFill>
            </a:ln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1932</c:v>
                </c:pt>
                <c:pt idx="1">
                  <c:v>1942</c:v>
                </c:pt>
                <c:pt idx="2">
                  <c:v>1945</c:v>
                </c:pt>
                <c:pt idx="3">
                  <c:v>1948</c:v>
                </c:pt>
                <c:pt idx="4">
                  <c:v>1950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Chess.com rapid</c:v>
                </c:pt>
              </c:strCache>
            </c:strRef>
          </c:tx>
          <c:spPr>
            <a:ln w="31750">
              <a:solidFill>
                <a:srgbClr val="B08928"/>
              </a:solidFill>
            </a:ln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1944</c:v>
                </c:pt>
                <c:pt idx="1">
                  <c:v>1947</c:v>
                </c:pt>
                <c:pt idx="2">
                  <c:v>1951</c:v>
                </c:pt>
                <c:pt idx="3">
                  <c:v>1953</c:v>
                </c:pt>
                <c:pt idx="4">
                  <c:v>1955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622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65.0"/>
          <c:min val="192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622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Georgia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Mastery percent</c:v>
                </c:pt>
              </c:strCache>
            </c:strRef>
          </c:tx>
          <c:spPr>
            <a:solidFill>
              <a:srgbClr val="6E1423"/>
            </a:solidFill>
          </c:spPr>
          <c:cat>
            <c:strRef>
              <c:f>Sheet1!$A$2:$A$5</c:f>
              <c:strCache>
                <c:ptCount val="4"/>
                <c:pt idx="0">
                  <c:v>Ruy Lopez</c:v>
                </c:pt>
                <c:pt idx="1">
                  <c:v>Caro-Kann</c:v>
                </c:pt>
                <c:pt idx="2">
                  <c:v>Nimzo-Indian</c:v>
                </c:pt>
                <c:pt idx="3">
                  <c:v>Catalan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74</c:v>
                </c:pt>
                <c:pt idx="2">
                  <c:v>68</c:v>
                </c:pt>
                <c:pt idx="3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622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622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A Chess Season 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0" i="0">
                <a:solidFill>
                  <a:srgbClr val="6E1423"/>
                </a:solidFill>
                <a:latin typeface="Georgia"/>
              </a:rPr>
              <a:t>One year of tournaments, openings, and slow, patient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23360"/>
            <a:ext cx="2468880" cy="155448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24688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800" b="1" i="0">
                <a:solidFill>
                  <a:srgbClr val="6E1423"/>
                </a:solidFill>
                <a:latin typeface="Georgia"/>
              </a:rPr>
              <a:t>1950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6A5F52"/>
                </a:solidFill>
                <a:latin typeface="Georgia"/>
              </a:rPr>
              <a:t>USCF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023360"/>
            <a:ext cx="2468880" cy="155448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4023360"/>
            <a:ext cx="24688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20624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800" b="1" i="0">
                <a:solidFill>
                  <a:srgbClr val="6E1423"/>
                </a:solidFill>
                <a:latin typeface="Georgia"/>
              </a:rPr>
              <a:t>2050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02920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6A5F52"/>
                </a:solidFill>
                <a:latin typeface="Georgia"/>
              </a:rPr>
              <a:t>Chess.com puzzles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023360"/>
            <a:ext cx="2468880" cy="155448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24688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800" b="1" i="0">
                <a:solidFill>
                  <a:srgbClr val="6E1423"/>
                </a:solidFill>
                <a:latin typeface="Georg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2920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6A5F52"/>
                </a:solidFill>
                <a:latin typeface="Georgia"/>
              </a:rPr>
              <a:t>rated games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4023360"/>
            <a:ext cx="2468880" cy="155448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4023360"/>
            <a:ext cx="24688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20624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800" b="1" i="0">
                <a:solidFill>
                  <a:srgbClr val="6E1423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02920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6A5F52"/>
                </a:solidFill>
                <a:latin typeface="Georgia"/>
              </a:rPr>
              <a:t>openings studied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6A5F52"/>
                </a:solidFill>
                <a:latin typeface="Georgia"/>
              </a:rPr>
              <a:t>Jennifer Watson  -  Austin Chess Club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The Season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Held a USCF rating of 1950 through the winter events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Studied openings nightly and worked puzzles up to 2050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Ruy Lopez as the backbone with White, Caro-Kann and Nimzo with Black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Monthly rated games at the Austin Chess Club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Coached Alexis through her own climb toward 1700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Rating Over the Season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Rated Games This Season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698480" cy="868680"/>
          </a:xfrm>
          <a:prstGeom prst="rect">
            <a:avLst/>
          </a:prstGeom>
          <a:solidFill>
            <a:srgbClr val="6E1423"/>
          </a:solidFill>
          <a:ln w="12700">
            <a:solidFill>
              <a:srgbClr val="D8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00200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00200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Opponent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00200"/>
            <a:ext cx="18288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Opening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0698480" cy="868680"/>
          </a:xfrm>
          <a:prstGeom prst="rect">
            <a:avLst/>
          </a:prstGeom>
          <a:solidFill>
            <a:srgbClr val="EADFC4"/>
          </a:solidFill>
          <a:ln w="12700">
            <a:solidFill>
              <a:srgbClr val="D8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October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1 to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60320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Delgado, Tanaka, Whitfield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6032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2 wins, 1 draw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560320"/>
            <a:ext cx="18288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Ruy, Caro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November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520440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1 to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20440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Osei, Marsh, Romero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2044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2 wins, 1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40"/>
            <a:ext cx="18288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Nimzo, Caro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10698480" cy="868680"/>
          </a:xfrm>
          <a:prstGeom prst="rect">
            <a:avLst/>
          </a:prstGeom>
          <a:solidFill>
            <a:srgbClr val="EADFC4"/>
          </a:solidFill>
          <a:ln w="12700">
            <a:solidFill>
              <a:srgbClr val="D8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8056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Winter Classic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480560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1 to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480560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Nguyen, Albrecht, Delgado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48056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2 wins, 1 draw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80560"/>
            <a:ext cx="18288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Georgia"/>
              </a:rPr>
              <a:t>Ruy, Nimzo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Games That Stayed With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28016" cy="1234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6E1423"/>
                </a:solidFill>
                <a:latin typeface="Georgia"/>
              </a:rPr>
              <a:t>Winter Classic, round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A clean Ruy Lopez against Delgado, patient buildup, no fireworks, just a slow squeeze to a won endgame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28016" cy="1234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6E1423"/>
                </a:solidFill>
                <a:latin typeface="Georgia"/>
              </a:rPr>
              <a:t>November Open, 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40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Nimzo-Indian with Black against a higher rated Osei, traded into a favorable structure and converted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26280"/>
            <a:ext cx="128016" cy="1234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6E1423"/>
                </a:solidFill>
                <a:latin typeface="Georgia"/>
              </a:rPr>
              <a:t>October Open, round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37760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A hard-fought Caro-Kann draw against Tanaka at 2012, held the balance under pressure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REPERTOIRE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Opening Mastery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Sticking to one main opening with each color built real depth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Nightly opening study compounded over the season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Playing for structure over tricks paid off in the endgame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Puzzle streaks kept tactical vision sharp between events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What To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The Catalan is the weakest link at 55 percent mastery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One loss came from a rushed middlegame plan against Marsh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Time management slips in long rated games after move 30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Need more rook endgame drills before the next Open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Study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212080" cy="182880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52120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6E1423"/>
                </a:solidFill>
                <a:latin typeface="Georgia"/>
              </a:rPr>
              <a:t>Openings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663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Lift the Catalan and shore up the Nimzo 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182880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6E1423"/>
                </a:solidFill>
                <a:latin typeface="Georgia"/>
              </a:rPr>
              <a:t>Endgames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663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Rook and minor-piece technique, twenty minutes nightly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40479"/>
            <a:ext cx="5212080" cy="182880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840479"/>
            <a:ext cx="52120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79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6E1423"/>
                </a:solidFill>
                <a:latin typeface="Georgia"/>
              </a:rPr>
              <a:t>Tactics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63439"/>
            <a:ext cx="4663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Daily puzzles, hold the rating above 2000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79"/>
            <a:ext cx="5212080" cy="1828800"/>
          </a:xfrm>
          <a:prstGeom prst="rect">
            <a:avLst/>
          </a:prstGeom>
          <a:solidFill>
            <a:srgbClr val="E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79"/>
            <a:ext cx="5212080" cy="91440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79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6E1423"/>
                </a:solidFill>
                <a:latin typeface="Georgia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39"/>
            <a:ext cx="4663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2B2622"/>
                </a:solidFill>
                <a:latin typeface="Georgia"/>
              </a:rPr>
              <a:t>Annotate every rated game the week after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Alexis's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Rated 1680 and climbing, junior at Hill Country High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Chess team practice twice a week, poised under time pressure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Sharp attacking style, learning to value quiet positional moves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Drove to one to two tournaments a month together this season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Goal is to break 1700 at the next rated event</a:t>
            </a:r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B08928"/>
                </a:solidFill>
                <a:latin typeface="Georgia"/>
              </a:rPr>
              <a:t>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Club and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Monthly rated games at the Austin Chess Club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Thursday club nights, board and clock packed and ready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Online study group and streamed games for opening ideas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B2622"/>
                </a:solidFill>
                <a:latin typeface="Georgia"/>
              </a:rPr>
              <a:t>-  Chessable courses for the Ruy Lopez and Caro-Kann repertoire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B08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Goals for Next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4ECD8"/>
                </a:solidFill>
                <a:latin typeface="Georgia"/>
              </a:rPr>
              <a:t>-  Cross 1975 USCF with a strong spring and fall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4ECD8"/>
                </a:solidFill>
                <a:latin typeface="Georgia"/>
              </a:rPr>
              <a:t>-  Bring the Catalan up to 75 percent mastery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4ECD8"/>
                </a:solidFill>
                <a:latin typeface="Georgia"/>
              </a:rPr>
              <a:t>-  Keep puzzle rating above 2050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4ECD8"/>
                </a:solidFill>
                <a:latin typeface="Georgia"/>
              </a:rPr>
              <a:t>-  Help Alexis break 1700 and enjoy the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1">
                <a:solidFill>
                  <a:srgbClr val="B08928"/>
                </a:solidFill>
                <a:latin typeface="Georgia"/>
              </a:rPr>
              <a:t>Patience, preparation, and one move at a time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