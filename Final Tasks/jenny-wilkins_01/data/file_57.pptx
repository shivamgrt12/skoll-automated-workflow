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 in a typical week</c:v>
                </c:pt>
              </c:strCache>
            </c:strRef>
          </c:tx>
          <c:spPr>
            <a:solidFill>
              <a:srgbClr val="14524B"/>
            </a:solidFill>
          </c:spPr>
          <c:cat>
            <c:strRef>
              <c:f>Sheet1!$A$2:$A$6</c:f>
              <c:strCache>
                <c:ptCount val="5"/>
                <c:pt idx="0">
                  <c:v>Directional</c:v>
                </c:pt>
                <c:pt idx="1">
                  <c:v>Ready reference</c:v>
                </c:pt>
                <c:pt idx="2">
                  <c:v>Reader's advisory</c:v>
                </c:pt>
                <c:pt idx="3">
                  <c:v>Research help</c:v>
                </c:pt>
                <c:pt idx="4">
                  <c:v>Technology help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52</c:v>
                </c:pt>
                <c:pt idx="2">
                  <c:v>29</c:v>
                </c:pt>
                <c:pt idx="3">
                  <c:v>21</c:v>
                </c:pt>
                <c:pt idx="4">
                  <c:v>34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46304" cy="24688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914400"/>
            <a:ext cx="9875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3EFE2"/>
                </a:solidFill>
                <a:latin typeface="Georgia"/>
              </a:rPr>
              <a:t>The Reference Interview</a:t>
            </a:r>
          </a:p>
          <a:p>
            <a:pPr algn="l"/>
            <a:r>
              <a:rPr sz="4600" b="1" i="0">
                <a:solidFill>
                  <a:srgbClr val="C9A227"/>
                </a:solidFill>
                <a:latin typeface="Georgia"/>
              </a:rPr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749039"/>
            <a:ext cx="9875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1">
                <a:solidFill>
                  <a:srgbClr val="CED6D2"/>
                </a:solidFill>
                <a:latin typeface="Calibri"/>
              </a:rPr>
              <a:t>Finding the question behind the question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78968C"/>
                </a:solidFill>
                <a:latin typeface="Calibri"/>
              </a:rPr>
              <a:t>Guest lecture, Library Science program, Hartford Graduate Institute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78968C"/>
                </a:solidFill>
                <a:latin typeface="Calibri"/>
              </a:rPr>
              <a:t>Jenny Wilkins, retired head librarian | January 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2801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9A227"/>
                </a:solidFill>
                <a:latin typeface="Calibri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012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600" b="0" i="0">
                <a:solidFill>
                  <a:srgbClr val="F3EFE2"/>
                </a:solidFill>
                <a:latin typeface="Georgia"/>
              </a:rPr>
              <a:t>Thirty-two years behind a reference desk taught me one thing above all others: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600" b="1" i="0">
                <a:solidFill>
                  <a:srgbClr val="F3EFE2"/>
                </a:solidFill>
                <a:latin typeface="Georgia"/>
              </a:rPr>
              <a:t>most questions have an answer somewhere, and the work is knowing which shelf to look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51206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CED6D2"/>
                </a:solidFill>
                <a:latin typeface="Calibri"/>
              </a:rPr>
              <a:t>The patron rarely asks the question they actually mean. Our job is to find the real one, gently.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3EFE2"/>
                </a:solidFill>
                <a:latin typeface="Georgia"/>
              </a:rPr>
              <a:t>What we will cover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F2D3A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E282A"/>
                </a:solidFill>
                <a:latin typeface="Calibri"/>
              </a:rPr>
              <a:t>The question behind the question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60320"/>
            <a:ext cx="685800" cy="6858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F2D3A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06039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E282A"/>
                </a:solidFill>
                <a:latin typeface="Calibri"/>
              </a:rPr>
              <a:t>The four moves of a good interview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74720"/>
            <a:ext cx="685800" cy="6858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29584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F2D3A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20439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E282A"/>
                </a:solidFill>
                <a:latin typeface="Calibri"/>
              </a:rPr>
              <a:t>Sources, in their right order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89120"/>
            <a:ext cx="685800" cy="6858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43983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F2D3A"/>
                </a:solidFill>
                <a:latin typeface="Georg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43484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E282A"/>
                </a:solidFill>
                <a:latin typeface="Calibri"/>
              </a:rPr>
              <a:t>Recognition as the work itself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303520"/>
            <a:ext cx="685800" cy="6858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58383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F2D3A"/>
                </a:solidFill>
                <a:latin typeface="Georgi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34924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E282A"/>
                </a:solidFill>
                <a:latin typeface="Calibri"/>
              </a:rPr>
              <a:t>A week at the desk, by the numbers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524B"/>
                </a:solidFill>
                <a:latin typeface="Georgia"/>
              </a:rPr>
              <a:t>The question behind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E282A"/>
                </a:solidFill>
                <a:latin typeface="Calibri"/>
              </a:rPr>
              <a:t>People ask for a fact and need a decision.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E282A"/>
                </a:solidFill>
                <a:latin typeface="Calibri"/>
              </a:rPr>
              <a:t>They ask for a book and need reassurance.</a:t>
            </a:r>
          </a:p>
          <a:p>
            <a:pPr algn="l">
              <a:spcAft>
                <a:spcPts val="1600"/>
              </a:spcAft>
            </a:pPr>
            <a:r>
              <a:rPr sz="2100" b="1" i="0">
                <a:solidFill>
                  <a:srgbClr val="0F2D3A"/>
                </a:solidFill>
                <a:latin typeface="Calibri"/>
              </a:rPr>
              <a:t>Listen for the shape of the need, not just the words.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0" i="1">
                <a:solidFill>
                  <a:srgbClr val="505A56"/>
                </a:solidFill>
                <a:latin typeface="Calibri"/>
              </a:rPr>
              <a:t>The open follow-up does more work than any database. A patron who asked for books on knots was planning to leave a marriage. The right follow-up surfaced the real need, and the real help.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3EFE2"/>
                </a:solidFill>
                <a:latin typeface="Georgia"/>
              </a:rPr>
              <a:t>The four moves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2606040" cy="32918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2606040" cy="548640"/>
          </a:xfrm>
          <a:prstGeom prst="rect">
            <a:avLst/>
          </a:prstGeom>
          <a:solidFill>
            <a:srgbClr val="14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74519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DF7"/>
                </a:solidFill>
                <a:latin typeface="Calibri"/>
              </a:rPr>
              <a:t>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60604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E282A"/>
                </a:solidFill>
                <a:latin typeface="Calibri"/>
              </a:rPr>
              <a:t>Take the question seriously and put the patron at ease.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606040" cy="32918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606040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74519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DF7"/>
                </a:solidFill>
                <a:latin typeface="Calibri"/>
              </a:rPr>
              <a:t>Restate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60604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E282A"/>
                </a:solidFill>
                <a:latin typeface="Calibri"/>
              </a:rPr>
              <a:t>Say it back to confirm you heard the real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2606040" cy="32918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2606040" cy="548640"/>
          </a:xfrm>
          <a:prstGeom prst="rect">
            <a:avLst/>
          </a:prstGeom>
          <a:solidFill>
            <a:srgbClr val="5A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874519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DF7"/>
                </a:solidFill>
                <a:latin typeface="Calibri"/>
              </a:rPr>
              <a:t>Negotiate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60604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E282A"/>
                </a:solidFill>
                <a:latin typeface="Calibri"/>
              </a:rPr>
              <a:t>Set the scope before you ever start to search.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59" y="1828800"/>
            <a:ext cx="2606040" cy="32918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59" y="1828800"/>
            <a:ext cx="2606040" cy="548640"/>
          </a:xfrm>
          <a:prstGeom prst="rect">
            <a:avLst/>
          </a:prstGeom>
          <a:solidFill>
            <a:srgbClr val="A8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1" y="1874519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DF7"/>
                </a:solidFill>
                <a:latin typeface="Calibri"/>
              </a:rPr>
              <a:t>Follow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1" y="260604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E282A"/>
                </a:solidFill>
                <a:latin typeface="Calibri"/>
              </a:rPr>
              <a:t>Make sure you actually helped, then close the loop.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C9A227"/>
                </a:solidFill>
                <a:latin typeface="Calibri"/>
              </a:rPr>
              <a:t>Skip the third move and you will answer a question no one asked.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2D3A"/>
                </a:solidFill>
                <a:latin typeface="Georgia"/>
              </a:rPr>
              <a:t>Sources, in order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47088"/>
            <a:ext cx="201168" cy="201168"/>
          </a:xfrm>
          <a:prstGeom prst="ellipse">
            <a:avLst/>
          </a:prstGeom>
          <a:solidFill>
            <a:srgbClr val="14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737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E282A"/>
                </a:solidFill>
                <a:latin typeface="Calibri"/>
              </a:rPr>
              <a:t>Start broad and reputable.  </a:t>
            </a:r>
          </a:p>
          <a:p>
            <a:pPr algn="l"/>
            <a:r>
              <a:rPr sz="1800" b="0" i="0">
                <a:solidFill>
                  <a:srgbClr val="505A56"/>
                </a:solidFill>
                <a:latin typeface="Calibri"/>
              </a:rPr>
              <a:t>Then narrow toward the specific.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07208"/>
            <a:ext cx="201168" cy="201168"/>
          </a:xfrm>
          <a:prstGeom prst="ellipse">
            <a:avLst/>
          </a:prstGeom>
          <a:solidFill>
            <a:srgbClr val="14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E282A"/>
                </a:solidFill>
                <a:latin typeface="Calibri"/>
              </a:rPr>
              <a:t>Know the collection by hand.  </a:t>
            </a:r>
          </a:p>
          <a:p>
            <a:pPr algn="l"/>
            <a:r>
              <a:rPr sz="1800" b="0" i="0">
                <a:solidFill>
                  <a:srgbClr val="505A56"/>
                </a:solidFill>
                <a:latin typeface="Calibri"/>
              </a:rPr>
              <a:t>Not just by catalog. Be a map of the building first.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67328"/>
            <a:ext cx="201168" cy="201168"/>
          </a:xfrm>
          <a:prstGeom prst="ellipse">
            <a:avLst/>
          </a:prstGeom>
          <a:solidFill>
            <a:srgbClr val="14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65760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E282A"/>
                </a:solidFill>
                <a:latin typeface="Calibri"/>
              </a:rPr>
              <a:t>Prefer the labeled source.  </a:t>
            </a:r>
          </a:p>
          <a:p>
            <a:pPr algn="l"/>
            <a:r>
              <a:rPr sz="1800" b="0" i="0">
                <a:solidFill>
                  <a:srgbClr val="505A56"/>
                </a:solidFill>
                <a:latin typeface="Calibri"/>
              </a:rPr>
              <a:t>Quote the exact dated entry, not the one nearby that only looks right.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727448"/>
            <a:ext cx="201168" cy="201168"/>
          </a:xfrm>
          <a:prstGeom prst="ellipse">
            <a:avLst/>
          </a:prstGeom>
          <a:solidFill>
            <a:srgbClr val="14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61772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E282A"/>
                </a:solidFill>
                <a:latin typeface="Calibri"/>
              </a:rPr>
              <a:t>Cite where it came from.  </a:t>
            </a:r>
          </a:p>
          <a:p>
            <a:pPr algn="l"/>
            <a:r>
              <a:rPr sz="1800" b="0" i="0">
                <a:solidFill>
                  <a:srgbClr val="505A56"/>
                </a:solidFill>
                <a:latin typeface="Calibri"/>
              </a:rPr>
              <a:t>A fact without its source is a rumor with good posture.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03120"/>
            <a:ext cx="9601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3000" b="0" i="0">
                <a:solidFill>
                  <a:srgbClr val="F3EFE2"/>
                </a:solidFill>
                <a:latin typeface="Georgia"/>
              </a:rPr>
              <a:t>Recognition is not a courtesy on top of the work.</a:t>
            </a:r>
          </a:p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C9A227"/>
                </a:solidFill>
                <a:latin typeface="Georgia"/>
              </a:rPr>
              <a:t>It is the work.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7548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ED6D2"/>
                </a:solidFill>
                <a:latin typeface="Calibri"/>
              </a:rPr>
              <a:t>Meet the patron as they are. Use the name and the words they give you for themselves.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3EFE2"/>
                </a:solidFill>
                <a:latin typeface="Georgia"/>
              </a:rPr>
              <a:t>A week at the desk, by request type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46304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188720"/>
            <a:ext cx="146304" cy="1463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18872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800" b="1" i="0">
                <a:solidFill>
                  <a:srgbClr val="F3EFE2"/>
                </a:solidFill>
                <a:latin typeface="Georgia"/>
              </a:rPr>
              <a:t>Bring the hard ones</a:t>
            </a:r>
          </a:p>
          <a:p>
            <a:pPr algn="l">
              <a:spcAft>
                <a:spcPts val="1000"/>
              </a:spcAft>
            </a:pPr>
            <a:r>
              <a:rPr sz="2000" b="0" i="1">
                <a:solidFill>
                  <a:srgbClr val="CED6D2"/>
                </a:solidFill>
                <a:latin typeface="Calibri"/>
              </a:rPr>
              <a:t>Then your questions, which are the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2062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C9A227"/>
                </a:solidFill>
                <a:latin typeface="Calibri"/>
              </a:rPr>
              <a:t>Welcome the question. Restate it. Negotiate the scope. Follow up.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CED6D2"/>
                </a:solidFill>
                <a:latin typeface="Calibri"/>
              </a:rPr>
              <a:t>Thank you. Now, what shall we look up together?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2026-02-04T13:33:00Z</dcterms:created>
  <dcterms:modified xsi:type="dcterms:W3CDTF">2026-02-04T13:33:00Z</dcterms:modified>
  <cp:category/>
</cp:coreProperties>
</file>