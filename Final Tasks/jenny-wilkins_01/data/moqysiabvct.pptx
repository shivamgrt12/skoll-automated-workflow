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Weeks of standout interest</c:v>
                </c:pt>
              </c:strCache>
            </c:strRef>
          </c:tx>
          <c:spPr>
            <a:solidFill>
              <a:srgbClr val="7FA06A"/>
            </a:solidFill>
          </c:spPr>
          <c:cat>
            <c:strRef>
              <c:f>Sheet1!$A$2:$A$6</c:f>
              <c:strCache>
                <c:ptCount val="5"/>
                <c:pt idx="0">
                  <c:v>Hellebore</c:v>
                </c:pt>
                <c:pt idx="1">
                  <c:v>Brunnera</c:v>
                </c:pt>
                <c:pt idx="2">
                  <c:v>Hosta</c:v>
                </c:pt>
                <c:pt idx="3">
                  <c:v>Fern texture</c:v>
                </c:pt>
                <c:pt idx="4">
                  <c:v>Heuchera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9</c:v>
                </c:pt>
                <c:pt idx="2">
                  <c:v>12</c:v>
                </c:pt>
                <c:pt idx="3">
                  <c:v>20</c:v>
                </c:pt>
                <c:pt idx="4">
                  <c:v>16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Cambr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468880"/>
          </a:xfrm>
          <a:prstGeom prst="rect">
            <a:avLst/>
          </a:prstGeom>
          <a:solidFill>
            <a:srgbClr val="3C5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164592"/>
          </a:xfrm>
          <a:prstGeom prst="rect">
            <a:avLst/>
          </a:prstGeom>
          <a:solidFill>
            <a:srgbClr val="B9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 i="0">
                <a:solidFill>
                  <a:srgbClr val="F7F2E7"/>
                </a:solidFill>
                <a:latin typeface="Trebuchet MS"/>
              </a:rPr>
              <a:t>Designing the Shade Border</a:t>
            </a:r>
          </a:p>
          <a:p>
            <a:pPr algn="l">
              <a:spcAft>
                <a:spcPts val="800"/>
              </a:spcAft>
            </a:pPr>
            <a:r>
              <a:rPr sz="2000" b="0" i="1">
                <a:solidFill>
                  <a:srgbClr val="E1E8D7"/>
                </a:solidFill>
                <a:latin typeface="Cambria"/>
              </a:rPr>
              <a:t>Turning the dim corner into the best bed you have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3C5A34"/>
                </a:solidFill>
                <a:latin typeface="Trebuchet MS"/>
              </a:rPr>
              <a:t>A talk for the garden club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 b="0" i="0">
                <a:solidFill>
                  <a:srgbClr val="2E3B29"/>
                </a:solidFill>
                <a:latin typeface="Cambria"/>
              </a:rPr>
              <a:t>Forty years of editing one quarter-acre garden, and the shade is where the patience pays off.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6E7864"/>
                </a:solidFill>
                <a:latin typeface="Cambria"/>
              </a:rPr>
              <a:t>Jenny Wilkins | Glastonbury Garden Club | February 2026</a:t>
            </a:r>
          </a:p>
        </p:txBody>
      </p:sp>
    </p:spTree>
  </p:cSld>
  <p:clrMapOvr>
    <a:masterClrMapping/>
  </p:clrMapOvr>
  <p:transition xmlns:p14="http://schemas.microsoft.com/office/powerpoint/2010/main" spd="med">
    <p:push dir="l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5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1371600"/>
            <a:ext cx="9784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7F2E7"/>
                </a:solidFill>
                <a:latin typeface="Trebuchet MS"/>
              </a:rPr>
              <a:t>Why bother with shade?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468880"/>
            <a:ext cx="9784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200" b="0" i="0">
                <a:solidFill>
                  <a:srgbClr val="F7F2E7"/>
                </a:solidFill>
                <a:latin typeface="Cambria"/>
              </a:rPr>
              <a:t>The dim corner under the maple is not a problem to solve. It is an opportunity most gardeners waste.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900" b="0" i="1">
                <a:solidFill>
                  <a:srgbClr val="DCE4D2"/>
                </a:solidFill>
                <a:latin typeface="Cambria"/>
              </a:rPr>
              <a:t>Shade gives you texture, calm, and a long cool season when the sunny border has burned itself out by August. You stop chasing flowers and start composing with leaves.</a:t>
            </a:r>
          </a:p>
        </p:txBody>
      </p:sp>
    </p:spTree>
  </p:cSld>
  <p:clrMapOvr>
    <a:masterClrMapping/>
  </p:clrMapOvr>
  <p:transition xmlns:p14="http://schemas.microsoft.com/office/powerpoint/2010/main"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C5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7F2E7"/>
                </a:solidFill>
                <a:latin typeface="Trebuchet MS"/>
              </a:rPr>
              <a:t>First, read the light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352044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54480"/>
            <a:ext cx="3520440" cy="914400"/>
          </a:xfrm>
          <a:prstGeom prst="rect">
            <a:avLst/>
          </a:prstGeom>
          <a:solidFill>
            <a:srgbClr val="7F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108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Trebuchet MS"/>
              </a:rPr>
              <a:t>Part shade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31089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2E3B29"/>
                </a:solidFill>
                <a:latin typeface="Cambria"/>
              </a:rPr>
              <a:t>Morning sun, afternoon rest. The widest plant list, and where most hostas are happiest.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554480"/>
            <a:ext cx="352044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554480"/>
            <a:ext cx="3520440" cy="914400"/>
          </a:xfrm>
          <a:prstGeom prst="rect">
            <a:avLst/>
          </a:prstGeom>
          <a:solidFill>
            <a:srgbClr val="3C5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600200"/>
            <a:ext cx="3108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Trebuchet MS"/>
              </a:rPr>
              <a:t>Dappled shade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97480"/>
            <a:ext cx="31089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2E3B29"/>
                </a:solidFill>
                <a:latin typeface="Cambria"/>
              </a:rPr>
              <a:t>Light filtered through high branches all day. Ferns and Brunnera glow here.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1554480"/>
            <a:ext cx="352044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554480"/>
            <a:ext cx="3520440" cy="914400"/>
          </a:xfrm>
          <a:prstGeom prst="rect">
            <a:avLst/>
          </a:prstGeom>
          <a:solidFill>
            <a:srgbClr val="B9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600200"/>
            <a:ext cx="3108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Trebuchet MS"/>
              </a:rPr>
              <a:t>Deep shade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697480"/>
            <a:ext cx="31089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2E3B29"/>
                </a:solidFill>
                <a:latin typeface="Cambria"/>
              </a:rPr>
              <a:t>Little direct light at all. Foliage, structure, and patience do the work.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9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3C5A34"/>
                </a:solidFill>
                <a:latin typeface="Trebuchet MS"/>
              </a:rPr>
              <a:t>A reliable palette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554480"/>
          <a:ext cx="105156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4846320"/>
                <a:gridCol w="2011680"/>
              </a:tblGrid>
              <a:tr h="65532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7F2E7"/>
                          </a:solidFill>
                          <a:latin typeface="Trebuchet MS"/>
                        </a:rPr>
                        <a:t>Plant</a:t>
                      </a:r>
                    </a:p>
                  </a:txBody>
                  <a:tcPr>
                    <a:solidFill>
                      <a:srgbClr val="3C5A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7F2E7"/>
                          </a:solidFill>
                          <a:latin typeface="Trebuchet MS"/>
                        </a:rPr>
                        <a:t>Role in the border</a:t>
                      </a:r>
                    </a:p>
                  </a:txBody>
                  <a:tcPr>
                    <a:solidFill>
                      <a:srgbClr val="3C5A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7F2E7"/>
                          </a:solidFill>
                          <a:latin typeface="Trebuchet MS"/>
                        </a:rPr>
                        <a:t>Light</a:t>
                      </a:r>
                    </a:p>
                  </a:txBody>
                  <a:tcPr>
                    <a:solidFill>
                      <a:srgbClr val="3C5A34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E3B29"/>
                          </a:solidFill>
                          <a:latin typeface="Cambria"/>
                        </a:rPr>
                        <a:t>Hosta (many cultivars)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E3B29"/>
                          </a:solidFill>
                          <a:latin typeface="Cambria"/>
                        </a:rPr>
                        <a:t>The spine, leaf and mass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E3B29"/>
                          </a:solidFill>
                          <a:latin typeface="Cambria"/>
                        </a:rPr>
                        <a:t>Part shade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E3B29"/>
                          </a:solidFill>
                          <a:latin typeface="Cambria"/>
                        </a:rPr>
                        <a:t>Native lady fern</a:t>
                      </a:r>
                    </a:p>
                  </a:txBody>
                  <a:tcPr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E3B29"/>
                          </a:solidFill>
                          <a:latin typeface="Cambria"/>
                        </a:rPr>
                        <a:t>Movement and soft edges</a:t>
                      </a:r>
                    </a:p>
                  </a:txBody>
                  <a:tcPr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E3B29"/>
                          </a:solidFill>
                          <a:latin typeface="Cambria"/>
                        </a:rPr>
                        <a:t>Dappled</a:t>
                      </a:r>
                    </a:p>
                  </a:txBody>
                  <a:tcPr>
                    <a:solidFill>
                      <a:srgbClr val="EEF2E7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E3B29"/>
                          </a:solidFill>
                          <a:latin typeface="Cambria"/>
                        </a:rPr>
                        <a:t>Brunnera Jack Frost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E3B29"/>
                          </a:solidFill>
                          <a:latin typeface="Cambria"/>
                        </a:rPr>
                        <a:t>Silver light in the dim corner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E3B29"/>
                          </a:solidFill>
                          <a:latin typeface="Cambria"/>
                        </a:rPr>
                        <a:t>Dappled to deep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E3B29"/>
                          </a:solidFill>
                          <a:latin typeface="Cambria"/>
                        </a:rPr>
                        <a:t>Hellebore</a:t>
                      </a:r>
                    </a:p>
                  </a:txBody>
                  <a:tcPr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E3B29"/>
                          </a:solidFill>
                          <a:latin typeface="Cambria"/>
                        </a:rPr>
                        <a:t>Late-winter bloom by the bench</a:t>
                      </a:r>
                    </a:p>
                  </a:txBody>
                  <a:tcPr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E3B29"/>
                          </a:solidFill>
                          <a:latin typeface="Cambria"/>
                        </a:rPr>
                        <a:t>Part shade</a:t>
                      </a:r>
                    </a:p>
                  </a:txBody>
                  <a:tcPr>
                    <a:solidFill>
                      <a:srgbClr val="EEF2E7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E3B29"/>
                          </a:solidFill>
                          <a:latin typeface="Cambria"/>
                        </a:rPr>
                        <a:t>Heuchera Caramel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E3B29"/>
                          </a:solidFill>
                          <a:latin typeface="Cambria"/>
                        </a:rPr>
                        <a:t>Warm contrast at the front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E3B29"/>
                          </a:solidFill>
                          <a:latin typeface="Cambria"/>
                        </a:rPr>
                        <a:t>Part shade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FA0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640080"/>
            <a:ext cx="9784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C2D18"/>
                </a:solidFill>
                <a:latin typeface="Trebuchet MS"/>
              </a:rPr>
              <a:t>Three rules of arrangement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737360"/>
            <a:ext cx="100584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847088"/>
            <a:ext cx="96012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i="0">
                <a:solidFill>
                  <a:srgbClr val="B9603F"/>
                </a:solidFill>
                <a:latin typeface="Trebuchet MS"/>
              </a:rPr>
              <a:t>Mass, do not dot.  </a:t>
            </a:r>
          </a:p>
          <a:p>
            <a:pPr algn="l"/>
            <a:r>
              <a:rPr sz="1700" b="0" i="0">
                <a:solidFill>
                  <a:srgbClr val="2E3B29"/>
                </a:solidFill>
                <a:latin typeface="Cambria"/>
              </a:rPr>
              <a:t>Plant in threes and fives. One of anything reads as a mistake, not a choice.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3063239"/>
            <a:ext cx="100584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3172968"/>
            <a:ext cx="96012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i="0">
                <a:solidFill>
                  <a:srgbClr val="B9603F"/>
                </a:solidFill>
                <a:latin typeface="Trebuchet MS"/>
              </a:rPr>
              <a:t>Contrast the leaves.  </a:t>
            </a:r>
          </a:p>
          <a:p>
            <a:pPr algn="l"/>
            <a:r>
              <a:rPr sz="1700" b="0" i="0">
                <a:solidFill>
                  <a:srgbClr val="2E3B29"/>
                </a:solidFill>
                <a:latin typeface="Cambria"/>
              </a:rPr>
              <a:t>Broad hosta against fine fern, dark against chartreuse. Foliage is the whole show.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4389120"/>
            <a:ext cx="100584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4498848"/>
            <a:ext cx="96012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i="0">
                <a:solidFill>
                  <a:srgbClr val="B9603F"/>
                </a:solidFill>
                <a:latin typeface="Trebuchet MS"/>
              </a:rPr>
              <a:t>Resist the third.  </a:t>
            </a:r>
          </a:p>
          <a:p>
            <a:pPr algn="l"/>
            <a:r>
              <a:rPr sz="1700" b="0" i="0">
                <a:solidFill>
                  <a:srgbClr val="2E3B29"/>
                </a:solidFill>
                <a:latin typeface="Cambria"/>
              </a:rPr>
              <a:t>Move what is unhappy, divide what is crowded, and resist the urge to add a third of anything.</a:t>
            </a:r>
          </a:p>
        </p:txBody>
      </p:sp>
    </p:spTree>
  </p:cSld>
  <p:clrMapOvr>
    <a:masterClrMapping/>
  </p:clrMapOvr>
  <p:transition xmlns:p14="http://schemas.microsoft.com/office/powerpoint/2010/main"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C5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7F2E7"/>
                </a:solidFill>
                <a:latin typeface="Trebuchet MS"/>
              </a:rPr>
              <a:t>Bloom and interest, week by week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371600"/>
          <a:ext cx="105156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xmlns:p14="http://schemas.microsoft.com/office/powerpoint/2010/main"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C5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3C5A34"/>
                </a:solidFill>
                <a:latin typeface="Trebuchet MS"/>
              </a:rPr>
              <a:t>Dividing, and sharing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B9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64208"/>
            <a:ext cx="548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7F2E7"/>
                </a:solidFill>
                <a:latin typeface="Trebuchet M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600200"/>
            <a:ext cx="9692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2E3B29"/>
                </a:solidFill>
                <a:latin typeface="Trebuchet MS"/>
              </a:rPr>
              <a:t>Lift in spring or fall.  </a:t>
            </a:r>
          </a:p>
          <a:p>
            <a:pPr algn="l"/>
            <a:r>
              <a:rPr sz="1700" b="0" i="0">
                <a:solidFill>
                  <a:srgbClr val="505A4C"/>
                </a:solidFill>
                <a:latin typeface="Cambria"/>
              </a:rPr>
              <a:t>Never in summer heat. Early autumn lets roots settle before the cold.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697480"/>
            <a:ext cx="548640" cy="548640"/>
          </a:xfrm>
          <a:prstGeom prst="ellipse">
            <a:avLst/>
          </a:prstGeom>
          <a:solidFill>
            <a:srgbClr val="B9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15768"/>
            <a:ext cx="548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7F2E7"/>
                </a:solidFill>
                <a:latin typeface="Trebuchet M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651760"/>
            <a:ext cx="9692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2E3B29"/>
                </a:solidFill>
                <a:latin typeface="Trebuchet MS"/>
              </a:rPr>
              <a:t>Split the crown.  </a:t>
            </a:r>
          </a:p>
          <a:p>
            <a:pPr algn="l"/>
            <a:r>
              <a:rPr sz="1700" b="0" i="0">
                <a:solidFill>
                  <a:srgbClr val="505A4C"/>
                </a:solidFill>
                <a:latin typeface="Cambria"/>
              </a:rPr>
              <a:t>Two or three buds to a piece. A clean knife beats a tired back.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749039"/>
            <a:ext cx="548640" cy="548640"/>
          </a:xfrm>
          <a:prstGeom prst="ellipse">
            <a:avLst/>
          </a:prstGeom>
          <a:solidFill>
            <a:srgbClr val="B9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767327"/>
            <a:ext cx="548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7F2E7"/>
                </a:solidFill>
                <a:latin typeface="Trebuchet M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703320"/>
            <a:ext cx="9692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2E3B29"/>
                </a:solidFill>
                <a:latin typeface="Trebuchet MS"/>
              </a:rPr>
              <a:t>Replant at the same depth.  </a:t>
            </a:r>
          </a:p>
          <a:p>
            <a:pPr algn="l"/>
            <a:r>
              <a:rPr sz="1700" b="0" i="0">
                <a:solidFill>
                  <a:srgbClr val="505A4C"/>
                </a:solidFill>
                <a:latin typeface="Cambria"/>
              </a:rPr>
              <a:t>Water it in, then leave it alone to find its feet.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800600"/>
            <a:ext cx="548640" cy="548640"/>
          </a:xfrm>
          <a:prstGeom prst="ellipse">
            <a:avLst/>
          </a:prstGeom>
          <a:solidFill>
            <a:srgbClr val="B9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818888"/>
            <a:ext cx="548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7F2E7"/>
                </a:solidFill>
                <a:latin typeface="Trebuchet M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754880"/>
            <a:ext cx="9692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2E3B29"/>
                </a:solidFill>
                <a:latin typeface="Trebuchet MS"/>
              </a:rPr>
              <a:t>Pot the extras.  </a:t>
            </a:r>
          </a:p>
          <a:p>
            <a:pPr algn="l"/>
            <a:r>
              <a:rPr sz="1700" b="0" i="0">
                <a:solidFill>
                  <a:srgbClr val="505A4C"/>
                </a:solidFill>
                <a:latin typeface="Cambria"/>
              </a:rPr>
              <a:t>Label them and bring them to the swap. Every member goes home richer.</a:t>
            </a:r>
          </a:p>
        </p:txBody>
      </p:sp>
    </p:spTree>
  </p:cSld>
  <p:clrMapOvr>
    <a:masterClrMapping/>
  </p:clrMapOvr>
  <p:transition xmlns:p14="http://schemas.microsoft.com/office/powerpoint/2010/main" spd="med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5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146304"/>
          </a:xfrm>
          <a:prstGeom prst="rect">
            <a:avLst/>
          </a:prstGeom>
          <a:solidFill>
            <a:srgbClr val="B9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463040"/>
            <a:ext cx="97840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7F2E7"/>
                </a:solidFill>
                <a:latin typeface="Trebuchet MS"/>
              </a:rPr>
              <a:t>Bring what thrives,</a:t>
            </a:r>
          </a:p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4D4B4"/>
                </a:solidFill>
                <a:latin typeface="Trebuchet MS"/>
              </a:rPr>
              <a:t>take home what is new to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840480"/>
            <a:ext cx="9784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1">
                <a:solidFill>
                  <a:srgbClr val="DCE4D2"/>
                </a:solidFill>
                <a:latin typeface="Cambria"/>
              </a:rPr>
              <a:t>The shade border is a long game, and the best gardens are the shared ones.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F4D4B4"/>
                </a:solidFill>
                <a:latin typeface="Cambria"/>
              </a:rPr>
              <a:t>Pot up your divisions now. See you at the fall swap.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2026-02-10T15:15:00Z</dcterms:created>
  <dcterms:modified xsi:type="dcterms:W3CDTF">2026-02-10T15:15:00Z</dcterms:modified>
  <cp:category/>
</cp:coreProperties>
</file>