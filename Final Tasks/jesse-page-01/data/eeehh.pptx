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D49A4E"/>
              </a:solidFill>
            </c:spPr>
          </c:dPt>
          <c:dPt>
            <c:idx val="1"/>
            <c:spPr>
              <a:solidFill>
                <a:srgbClr val="B05B36"/>
              </a:solidFill>
            </c:spPr>
          </c:dPt>
          <c:dPt>
            <c:idx val="2"/>
            <c:spPr>
              <a:solidFill>
                <a:srgbClr val="6E7355"/>
              </a:solidFill>
            </c:spPr>
          </c:dPt>
          <c:dPt>
            <c:idx val="3"/>
            <c:spPr>
              <a:solidFill>
                <a:srgbClr val="3E6A62"/>
              </a:solidFill>
            </c:spPr>
          </c:dPt>
          <c:dPt>
            <c:idx val="4"/>
            <c:spPr>
              <a:solidFill>
                <a:srgbClr val="7A4A52"/>
              </a:solidFill>
            </c:spPr>
          </c:dPt>
          <c:cat>
            <c:strRef>
              <c:f>Sheet1!$A$2:$A$6</c:f>
              <c:strCache>
                <c:ptCount val="5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41</c:v>
                </c:pt>
                <c:pt idx="2">
                  <c:v>24</c:v>
                </c:pt>
                <c:pt idx="3">
                  <c:v>11</c:v>
                </c:pt>
                <c:pt idx="4">
                  <c:v>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 b="1">
                  <a:solidFill>
                    <a:srgbClr val="28221D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DBCA"/>
            </a:solidFill>
          </a:ln>
        </c:spPr>
        <c:txPr>
          <a:bodyPr/>
          <a:lstStyle/>
          <a:p>
            <a:pPr>
              <a:defRPr sz="1000">
                <a:solidFill>
                  <a:srgbClr val="6A605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DBC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A7F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Reach</c:v>
                </c:pt>
              </c:strCache>
            </c:strRef>
          </c:tx>
          <c:spPr>
            <a:solidFill>
              <a:srgbClr val="B05B36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14200</c:v>
                </c:pt>
                <c:pt idx="1">
                  <c:v>16800</c:v>
                </c:pt>
                <c:pt idx="2">
                  <c:v>19400</c:v>
                </c:pt>
                <c:pt idx="3">
                  <c:v>22600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Saves (×10)</c:v>
                </c:pt>
              </c:strCache>
            </c:strRef>
          </c:tx>
          <c:spPr>
            <a:solidFill>
              <a:srgbClr val="D49A4E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1980</c:v>
                </c:pt>
                <c:pt idx="1">
                  <c:v>2460</c:v>
                </c:pt>
                <c:pt idx="2">
                  <c:v>2980</c:v>
                </c:pt>
                <c:pt idx="3">
                  <c:v>3540</c:v>
                </c:pt>
              </c:numCache>
            </c:numRef>
          </c:val>
        </c:ser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DBCA"/>
            </a:solidFill>
          </a:ln>
        </c:spPr>
        <c:txPr>
          <a:bodyPr/>
          <a:lstStyle/>
          <a:p>
            <a:pPr>
              <a:defRPr sz="1000">
                <a:solidFill>
                  <a:srgbClr val="6A605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5DBC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A7F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6A6055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t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0"/>
            <a:ext cx="4373575" cy="6858000"/>
          </a:xfrm>
          <a:prstGeom prst="rect">
            <a:avLst/>
          </a:prstGeom>
        </p:spPr>
      </p:pic>
      <p:pic>
        <p:nvPicPr>
          <p:cNvPr id="3" name="Picture 2" descr="cover_war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181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818120" cy="6858000"/>
          </a:xfrm>
          <a:prstGeom prst="rect">
            <a:avLst/>
          </a:prstGeom>
          <a:solidFill>
            <a:srgbClr val="28221D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0"/>
            <a:ext cx="146304" cy="6858000"/>
          </a:xfrm>
          <a:prstGeom prst="rect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64008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75895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Georgia"/>
              </a:rPr>
              <a:t>JP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67665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200">
                <a:solidFill>
                  <a:srgbClr val="F1E8D9"/>
                </a:solidFill>
                <a:latin typeface="Calibri"/>
              </a:rPr>
              <a:t>JESSE PAGE PHOTOGRAPHY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9326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8A7F70"/>
                </a:solidFill>
                <a:latin typeface="Calibri"/>
              </a:rPr>
              <a:t>@jessepagephoto · Brooklyn, 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spc="260">
                <a:solidFill>
                  <a:srgbClr val="D49A4E"/>
                </a:solidFill>
                <a:latin typeface="Calibri"/>
              </a:rPr>
              <a:t>BRAND PARTNERSHIP PROPOSAL · FY2026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43200"/>
            <a:ext cx="6766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5600" b="1" i="0">
                <a:solidFill>
                  <a:srgbClr val="F4EEE3"/>
                </a:solidFill>
                <a:latin typeface="Georgia"/>
              </a:rPr>
              <a:t>Oatly </a:t>
            </a:r>
            <a:r>
              <a:rPr sz="5600" b="1" i="0">
                <a:solidFill>
                  <a:srgbClr val="D49A4E"/>
                </a:solidFill>
                <a:latin typeface="Georgia"/>
              </a:rPr>
              <a:t>× </a:t>
            </a:r>
            <a:r>
              <a:rPr sz="5600" b="1" i="0">
                <a:solidFill>
                  <a:srgbClr val="F4EEE3"/>
                </a:solidFill>
                <a:latin typeface="Georgia"/>
              </a:rPr>
              <a:t>Jesse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0" i="1">
                <a:solidFill>
                  <a:srgbClr val="F1E8D9"/>
                </a:solidFill>
                <a:latin typeface="Georgia"/>
              </a:rPr>
              <a:t>Brand-Ambassador Renewal &amp; Content Expansion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5528" y="4709160"/>
            <a:ext cx="4572000" cy="0"/>
          </a:xfrm>
          <a:prstGeom prst="bentConnector3">
            <a:avLst/>
          </a:prstGeom>
          <a:ln w="12700">
            <a:solidFill>
              <a:srgbClr val="5A4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489204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00" b="0" i="0">
                <a:solidFill>
                  <a:srgbClr val="8A7F70"/>
                </a:solidFill>
                <a:latin typeface="Calibri"/>
              </a:rPr>
              <a:t>Prepared for </a:t>
            </a:r>
            <a:r>
              <a:rPr sz="1200" b="1" i="0">
                <a:solidFill>
                  <a:srgbClr val="F4EEE3"/>
                </a:solidFill>
                <a:latin typeface="Calibri"/>
              </a:rPr>
              <a:t>Oatly North America — Brand Marketing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00" b="0" i="0">
                <a:solidFill>
                  <a:srgbClr val="8A7F70"/>
                </a:solidFill>
                <a:latin typeface="Calibri"/>
              </a:rPr>
              <a:t>Represented by </a:t>
            </a:r>
            <a:r>
              <a:rPr sz="1200" b="1" i="0">
                <a:solidFill>
                  <a:srgbClr val="F4EEE3"/>
                </a:solidFill>
                <a:latin typeface="Calibri"/>
              </a:rPr>
              <a:t>Herrera Creative Management (Tomás Herrera)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b="0" i="0">
                <a:solidFill>
                  <a:srgbClr val="8A7F70"/>
                </a:solidFill>
                <a:latin typeface="Calibri"/>
              </a:rPr>
              <a:t>June 2026  ·  Confidential proposal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9788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598017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>
                <a:solidFill>
                  <a:srgbClr val="D49A4E"/>
                </a:solidFill>
                <a:latin typeface="Georgia"/>
              </a:rPr>
              <a:t>48.2K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" y="6336792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F1E8D9"/>
                </a:solidFill>
                <a:latin typeface="Calibri"/>
              </a:rPr>
              <a:t>followers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589788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7248" y="598017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>
                <a:solidFill>
                  <a:srgbClr val="D49A4E"/>
                </a:solidFill>
                <a:latin typeface="Georgia"/>
              </a:rPr>
              <a:t>6.1%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6336792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F1E8D9"/>
                </a:solidFill>
                <a:latin typeface="Calibri"/>
              </a:rPr>
              <a:t>eng.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589788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598017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900" b="1" i="0">
                <a:solidFill>
                  <a:srgbClr val="D49A4E"/>
                </a:solidFill>
                <a:latin typeface="Georgia"/>
              </a:rPr>
              <a:t>18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6336792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F1E8D9"/>
                </a:solidFill>
                <a:latin typeface="Calibri"/>
              </a:rPr>
              <a:t>partnership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The partnership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28221D"/>
                </a:solidFill>
                <a:latin typeface="Calibri"/>
              </a:rPr>
              <a:t>Since the retainer began in early 2025, Jesse has been Oatly's dedicated food-content creator in the New York editorial market — two in-feed posts plus a story set every month, shot in the warm, texture-forward style that performs on the brand's grid.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82296" cy="1097280"/>
          </a:xfrm>
          <a:prstGeom prst="roundRect">
            <a:avLst>
              <a:gd name="adj" fmla="val 1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496312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B05B36"/>
                </a:solidFill>
                <a:latin typeface="Georgia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26974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POSTS DELIVERED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44952"/>
            <a:ext cx="26974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across 12 months, zero misses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6616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566160"/>
            <a:ext cx="82296" cy="1097280"/>
          </a:xfrm>
          <a:prstGeom prst="roundRect">
            <a:avLst>
              <a:gd name="adj" fmla="val 1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730752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6E7355"/>
                </a:solidFill>
                <a:latin typeface="Georgia"/>
              </a:rPr>
              <a:t>11%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79392"/>
            <a:ext cx="26974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LIFT ON OATLY'S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79392"/>
            <a:ext cx="26974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engagement vs. their baseline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0060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800600"/>
            <a:ext cx="82296" cy="1097280"/>
          </a:xfrm>
          <a:prstGeom prst="roundRect">
            <a:avLst>
              <a:gd name="adj" fmla="val 1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4965192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D49A4E"/>
                </a:solidFill>
                <a:latin typeface="Georgia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513832"/>
            <a:ext cx="26974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ON-TIME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13832"/>
            <a:ext cx="26974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every monthly content drop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331720"/>
            <a:ext cx="3657600" cy="370332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5420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160">
                <a:solidFill>
                  <a:srgbClr val="B05B36"/>
                </a:solidFill>
                <a:latin typeface="Calibri"/>
              </a:rPr>
              <a:t>CURRENT SCOPE — MONTHLY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03580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971800"/>
            <a:ext cx="2926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2 in-feed posts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single-dish heroes in warm window light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74904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685032"/>
            <a:ext cx="2926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1 story set (3–5 frames)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behind-the-scenes + product moment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446227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4398264"/>
            <a:ext cx="2926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Social &amp; web usage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organic, non-paid placement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51755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5111496"/>
            <a:ext cx="2926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Caption drafts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brand-voice aligned, Jesse-signed</a:t>
            </a:r>
          </a:p>
        </p:txBody>
      </p:sp>
      <p:pic>
        <p:nvPicPr>
          <p:cNvPr id="34" name="Picture 33" descr="lat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331720"/>
            <a:ext cx="3291840" cy="37033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092440" y="4257446"/>
            <a:ext cx="3291840" cy="1777593"/>
          </a:xfrm>
          <a:prstGeom prst="rect">
            <a:avLst/>
          </a:prstGeom>
          <a:solidFill>
            <a:srgbClr val="28221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38744" y="2478024"/>
            <a:ext cx="972921" cy="274320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8744" y="2519172"/>
            <a:ext cx="97292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spc="40">
                <a:solidFill>
                  <a:srgbClr val="28221D"/>
                </a:solidFill>
                <a:latin typeface="Calibri"/>
              </a:rPr>
              <a:t>Oatly ·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5468112"/>
            <a:ext cx="29626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4EEE3"/>
                </a:solidFill>
                <a:latin typeface="Georgia"/>
              </a:rPr>
              <a:t>Oat latte, golden hour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7031" y="5742431"/>
            <a:ext cx="2962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Top light · warm crema · saved 1.4K×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Partnership review — Oatly × Jesse Page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THE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Who you reach through the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72768"/>
            <a:ext cx="82296" cy="1143000"/>
          </a:xfrm>
          <a:prstGeom prst="roundRect">
            <a:avLst>
              <a:gd name="adj" fmla="val 1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373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B05B36"/>
                </a:solidFill>
                <a:latin typeface="Georgia"/>
              </a:rPr>
              <a:t>48,200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86000"/>
            <a:ext cx="2148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FOLLOWERS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2148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+1,180 last 28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572768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40" y="1572768"/>
            <a:ext cx="82296" cy="1143000"/>
          </a:xfrm>
          <a:prstGeom prst="roundRect">
            <a:avLst>
              <a:gd name="adj" fmla="val 1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17373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6E7355"/>
                </a:solidFill>
                <a:latin typeface="Georgia"/>
              </a:rPr>
              <a:t>6.1%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286000"/>
            <a:ext cx="2148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ENGAGEMENT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331720"/>
            <a:ext cx="2148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vs 3.2% food-niche median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72768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1572768"/>
            <a:ext cx="82296" cy="1143000"/>
          </a:xfrm>
          <a:prstGeom prst="roundRect">
            <a:avLst>
              <a:gd name="adj" fmla="val 1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7373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D49A4E"/>
                </a:solidFill>
                <a:latin typeface="Georgia"/>
              </a:rPr>
              <a:t>112.4K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286000"/>
            <a:ext cx="2148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MONTHLY 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331720"/>
            <a:ext cx="2148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↑ 14% YoY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572768"/>
            <a:ext cx="2560320" cy="11430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06840" y="1572768"/>
            <a:ext cx="82296" cy="1143000"/>
          </a:xfrm>
          <a:prstGeom prst="roundRect">
            <a:avLst>
              <a:gd name="adj" fmla="val 10000"/>
            </a:avLst>
          </a:prstGeom>
          <a:solidFill>
            <a:srgbClr val="3E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17373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3E6A62"/>
                </a:solidFill>
                <a:latin typeface="Georgia"/>
              </a:rPr>
              <a:t>68%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286000"/>
            <a:ext cx="2148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US / NYC-METRO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331720"/>
            <a:ext cx="2148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core Oatly 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291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160">
                <a:solidFill>
                  <a:srgbClr val="B05B36"/>
                </a:solidFill>
                <a:latin typeface="Calibri"/>
              </a:rPr>
              <a:t>AUDIENCE BY AGE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40080" y="3611880"/>
          <a:ext cx="512064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6126480" y="3291840"/>
            <a:ext cx="5257800" cy="29718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49300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140">
                <a:solidFill>
                  <a:srgbClr val="B05B36"/>
                </a:solidFill>
                <a:latin typeface="Calibri"/>
              </a:rPr>
              <a:t>WHY THIS AUDIENCE CONVERTS FOR OATLY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95020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886200"/>
            <a:ext cx="4480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Plant-forward by disposition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Followers come for dairy-free, texture-led food — the exact mindset Oatly markets to.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79145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727448"/>
            <a:ext cx="4480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Saves over likes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3,940 saves / 28 days — recipe-intent behaviour, not passive scrolling.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6327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568696"/>
            <a:ext cx="4480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Calibri"/>
              </a:rPr>
              <a:t>Trusted editorial context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6A6055"/>
                </a:solidFill>
                <a:latin typeface="Calibri"/>
              </a:rPr>
              <a:t>Followers see Oatly beside Tangerine &amp; Estrela work, not in a paid feed.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Source: Instagram insights, trailing 28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What the content has driven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120">
                <a:solidFill>
                  <a:srgbClr val="B05B36"/>
                </a:solidFill>
                <a:latin typeface="Calibri"/>
              </a:rPr>
              <a:t>OATLY POSTS — REACH &amp; SAVES BY QUARTER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3566160"/>
          <a:ext cx="548640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0" y="3566160"/>
            <a:ext cx="2395728" cy="120700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3566160"/>
            <a:ext cx="82296" cy="1207008"/>
          </a:xfrm>
          <a:prstGeom prst="roundRect">
            <a:avLst>
              <a:gd name="adj" fmla="val 1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3730752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B05B36"/>
                </a:solidFill>
                <a:latin typeface="Georgia"/>
              </a:rPr>
              <a:t>3.6M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279392"/>
            <a:ext cx="1984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TOTAL 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389120"/>
            <a:ext cx="1984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across 24 posts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3566160"/>
            <a:ext cx="2395728" cy="120700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42832" y="3566160"/>
            <a:ext cx="82296" cy="1207008"/>
          </a:xfrm>
          <a:prstGeom prst="roundRect">
            <a:avLst>
              <a:gd name="adj" fmla="val 1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3" y="3730752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6E7355"/>
                </a:solidFill>
                <a:latin typeface="Georgia"/>
              </a:rPr>
              <a:t>+11%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279392"/>
            <a:ext cx="1984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GRID LIFT FOR OATLY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4389120"/>
            <a:ext cx="1984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engagement vs. baseline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937760"/>
            <a:ext cx="2395728" cy="120700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4937760"/>
            <a:ext cx="82296" cy="1207008"/>
          </a:xfrm>
          <a:prstGeom prst="roundRect">
            <a:avLst>
              <a:gd name="adj" fmla="val 1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5102352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D49A4E"/>
                </a:solidFill>
                <a:latin typeface="Georgia"/>
              </a:rPr>
              <a:t>9,860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650992"/>
            <a:ext cx="1984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LINK-IN-BIO CLICKS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760720"/>
            <a:ext cx="1984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to oatly.com promos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2832" y="4937760"/>
            <a:ext cx="2395728" cy="1207008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42832" y="4937760"/>
            <a:ext cx="82296" cy="1207008"/>
          </a:xfrm>
          <a:prstGeom prst="roundRect">
            <a:avLst>
              <a:gd name="adj" fmla="val 1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8863" y="5102352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7A4A52"/>
                </a:solidFill>
                <a:latin typeface="Georgia"/>
              </a:rPr>
              <a:t>4.7★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5650992"/>
            <a:ext cx="1984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spc="80">
                <a:solidFill>
                  <a:srgbClr val="28221D"/>
                </a:solidFill>
                <a:latin typeface="Calibri"/>
              </a:rPr>
              <a:t>BRAND-TEAM RATING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5760720"/>
            <a:ext cx="19842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A6055"/>
                </a:solidFill>
                <a:latin typeface="Calibri"/>
              </a:rPr>
              <a:t>internal content scorecard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Trailing 12 months · Oatly engagement window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ee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0"/>
            <a:ext cx="48307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60920" y="3566160"/>
            <a:ext cx="4830775" cy="3291839"/>
          </a:xfrm>
          <a:prstGeom prst="rect">
            <a:avLst/>
          </a:prstGeom>
          <a:solidFill>
            <a:srgbClr val="28221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23760" y="0"/>
            <a:ext cx="128016" cy="6858000"/>
          </a:xfrm>
          <a:prstGeom prst="rect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D49A4E"/>
                </a:solidFill>
                <a:latin typeface="Calibri"/>
              </a:rPr>
              <a:t>THE 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F4EEE3"/>
                </a:solidFill>
                <a:latin typeface="Georgia"/>
              </a:rPr>
              <a:t>Why the content performs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D49A4E"/>
                </a:solidFill>
                <a:latin typeface="Georgia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800" b="0" i="1">
                <a:solidFill>
                  <a:srgbClr val="F4EEE3"/>
                </a:solidFill>
                <a:latin typeface="Georgia"/>
              </a:rPr>
              <a:t>It isn't styled to look like an ad. It's shot like editorial — and that's exactly why it travels.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9300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29000"/>
            <a:ext cx="56692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1E8D9"/>
                </a:solidFill>
                <a:latin typeface="Calibri"/>
              </a:rPr>
              <a:t>Warm window light, never flat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1E8D9"/>
                </a:solidFill>
                <a:latin typeface="Calibri"/>
              </a:rPr>
              <a:t>Directional natural light gives product real texture and appetite appeal.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4281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78808"/>
            <a:ext cx="56692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1E8D9"/>
                </a:solidFill>
                <a:latin typeface="Calibri"/>
              </a:rPr>
              <a:t>Single-dish, tight crops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1E8D9"/>
                </a:solidFill>
                <a:latin typeface="Calibri"/>
              </a:rPr>
              <a:t>The frames that out-perform flat-lays 2.3× — and read instantly on mobile.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99262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928616"/>
            <a:ext cx="56692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1E8D9"/>
                </a:solidFill>
                <a:latin typeface="Calibri"/>
              </a:rPr>
              <a:t>Authentic dairy-free POV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1E8D9"/>
                </a:solidFill>
                <a:latin typeface="Calibri"/>
              </a:rPr>
              <a:t>A creator whose whole practice is dairy-free; the alignment isn't manufactured.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4243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678424"/>
            <a:ext cx="56692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1E8D9"/>
                </a:solidFill>
                <a:latin typeface="Calibri"/>
              </a:rPr>
              <a:t>Brand-safe, Jesse-signed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1E8D9"/>
                </a:solidFill>
                <a:latin typeface="Calibri"/>
              </a:rPr>
              <a:t>Every caption drafted to Oatly's voice, posted from a trusted portfolio account.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F1E8D9"/>
                </a:solidFill>
                <a:latin typeface="Calibri"/>
              </a:rPr>
              <a:t>Creative rationale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F1E8D9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THE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Expanded 2026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 i="0">
                <a:solidFill>
                  <a:srgbClr val="28221D"/>
                </a:solidFill>
                <a:latin typeface="Calibri"/>
              </a:rPr>
              <a:t>Building on what works, the 2026 renewal adds short-form video and a quarterly recipe series — the two formats the grid is now rewarding most.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2788920"/>
          <a:ext cx="10607040" cy="2935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1554480"/>
                <a:gridCol w="1188720"/>
                <a:gridCol w="2468880"/>
                <a:gridCol w="22860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2026 proposed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4EEE3"/>
                          </a:solidFill>
                          <a:latin typeface="Calibri"/>
                        </a:rPr>
                        <a:t>Usage</a:t>
                      </a:r>
                    </a:p>
                  </a:txBody>
                  <a:tcPr marL="109728" marR="73152" marT="27432" marB="27432" anchor="ctr">
                    <a:solidFill>
                      <a:srgbClr val="28221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In-feed photo posts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Social + web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Story sets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Reels (short-form video)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Social + paid boost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Seasonal recipe series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Quarterly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1 set (5 frames)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Social + web + email</a:t>
                      </a:r>
                    </a:p>
                  </a:txBody>
                  <a:tcPr marL="109728" marR="73152" marT="27432" marB="27432" anchor="ctr">
                    <a:solidFill>
                      <a:srgbClr val="FBF7E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05B36"/>
                          </a:solidFill>
                          <a:latin typeface="Calibri"/>
                        </a:rPr>
                        <a:t>Always-on photo library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Quarterly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10 stills / quarter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8221D"/>
                          </a:solidFill>
                          <a:latin typeface="Calibri"/>
                        </a:rPr>
                        <a:t>Brand-wide, 12-mo</a:t>
                      </a:r>
                    </a:p>
                  </a:txBody>
                  <a:tcPr marL="109728" marR="73152" marT="27432" marB="27432"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05B36"/>
                </a:solidFill>
                <a:latin typeface="Calibri"/>
              </a:rPr>
              <a:t>Net new in 2026:  </a:t>
            </a:r>
            <a:r>
              <a:rPr sz="1200" b="0" i="0">
                <a:solidFill>
                  <a:srgbClr val="28221D"/>
                </a:solidFill>
                <a:latin typeface="Calibri"/>
              </a:rPr>
              <a:t>24 reels, 4 recipe sets, and a refreshed always-on library — roughly 2.4× the content volume of the current retainer.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Scope subject to final agreement via Herrera Creative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2026 content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19" y="2834639"/>
            <a:ext cx="10789921" cy="0"/>
          </a:xfrm>
          <a:prstGeom prst="bentConnector3">
            <a:avLst/>
          </a:prstGeom>
          <a:ln w="27940">
            <a:solidFill>
              <a:srgbClr val="E5D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901952" y="2724911"/>
            <a:ext cx="219456" cy="219456"/>
          </a:xfrm>
          <a:prstGeom prst="ellipse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spc="100">
                <a:solidFill>
                  <a:srgbClr val="B05B36"/>
                </a:solidFill>
                <a:latin typeface="Calibri"/>
              </a:rPr>
              <a:t>Q1 · JAN–MAR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127247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27355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Georgia"/>
              </a:rPr>
              <a:t>Winter warmth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694175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6A6055"/>
                </a:solidFill>
                <a:latin typeface="Calibri"/>
              </a:rPr>
              <a:t>Hot-oat-latte hero series; first recipe set (overnight oats). Reels test.</a:t>
            </a:r>
          </a:p>
        </p:txBody>
      </p:sp>
      <p:sp>
        <p:nvSpPr>
          <p:cNvPr id="14" name="Oval 13"/>
          <p:cNvSpPr/>
          <p:nvPr/>
        </p:nvSpPr>
        <p:spPr>
          <a:xfrm>
            <a:off x="4645152" y="2724911"/>
            <a:ext cx="219456" cy="219456"/>
          </a:xfrm>
          <a:prstGeom prst="ellipse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3317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spc="100">
                <a:solidFill>
                  <a:srgbClr val="D49A4E"/>
                </a:solidFill>
                <a:latin typeface="Calibri"/>
              </a:rPr>
              <a:t>Q2 · APR–JUN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3008" y="3127247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327355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Georgia"/>
              </a:rPr>
              <a:t>Spring &amp; iced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3694175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6A6055"/>
                </a:solidFill>
                <a:latin typeface="Calibri"/>
              </a:rPr>
              <a:t>Iced barista-edition push; market-fresh pairings; library refresh.</a:t>
            </a:r>
          </a:p>
        </p:txBody>
      </p:sp>
      <p:sp>
        <p:nvSpPr>
          <p:cNvPr id="19" name="Oval 18"/>
          <p:cNvSpPr/>
          <p:nvPr/>
        </p:nvSpPr>
        <p:spPr>
          <a:xfrm>
            <a:off x="7388352" y="2724911"/>
            <a:ext cx="219456" cy="219456"/>
          </a:xfrm>
          <a:prstGeom prst="ellipse">
            <a:avLst/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19" y="23317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spc="100">
                <a:solidFill>
                  <a:srgbClr val="6E7355"/>
                </a:solidFill>
                <a:latin typeface="Calibri"/>
              </a:rPr>
              <a:t>Q3 · JUL–SEP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3127247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3" y="327355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Georgia"/>
              </a:rPr>
              <a:t>Summer texture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3" y="3694175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6A6055"/>
                </a:solidFill>
                <a:latin typeface="Calibri"/>
              </a:rPr>
              <a:t>Frozen &amp; dessert formats; collab frame with Estrela; peak reels cadence.</a:t>
            </a:r>
          </a:p>
        </p:txBody>
      </p:sp>
      <p:sp>
        <p:nvSpPr>
          <p:cNvPr id="24" name="Oval 23"/>
          <p:cNvSpPr/>
          <p:nvPr/>
        </p:nvSpPr>
        <p:spPr>
          <a:xfrm>
            <a:off x="10131552" y="2724911"/>
            <a:ext cx="219456" cy="219456"/>
          </a:xfrm>
          <a:prstGeom prst="ellipse">
            <a:avLst/>
          </a:prstGeom>
          <a:solidFill>
            <a:srgbClr val="3E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19" y="23317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spc="100">
                <a:solidFill>
                  <a:srgbClr val="3E6A62"/>
                </a:solidFill>
                <a:latin typeface="Calibri"/>
              </a:rPr>
              <a:t>Q4 · OCT–DEC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9407" y="3127247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327355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8221D"/>
                </a:solidFill>
                <a:latin typeface="Georgia"/>
              </a:rPr>
              <a:t>Holiday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3694175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6A6055"/>
                </a:solidFill>
                <a:latin typeface="Calibri"/>
              </a:rPr>
              <a:t>Holiday baking recipe set; gifting content; year-end always-on stills.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800600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983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spc="140">
                <a:solidFill>
                  <a:srgbClr val="B05B36"/>
                </a:solidFill>
                <a:latin typeface="Calibri"/>
              </a:rPr>
              <a:t>RHYTHM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3035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6A6055"/>
                </a:solidFill>
                <a:latin typeface="Calibri"/>
              </a:rPr>
              <a:t>Volume flexes with Jesse's editorial calendar — heavier in Q3–Q4 holiday content season, lighter during Q1 tax-and-reset. Posting slots stay on the established Tue/Thu 11 AM and Sat 10 AM windows. All assets drafted for brand review 5 business days ahead of go-live.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Indicative calendar · adjusts to seasonal demand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Three ways to renew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3383280" cy="109728"/>
          </a:xfrm>
          <a:prstGeom prst="roundRect">
            <a:avLst>
              <a:gd name="adj" fmla="val 6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67004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160">
                <a:solidFill>
                  <a:srgbClr val="6E7355"/>
                </a:solidFill>
                <a:latin typeface="Calibri"/>
              </a:rPr>
              <a:t>ESSENTIAL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992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28221D"/>
                </a:solidFill>
                <a:latin typeface="Georgia"/>
              </a:rPr>
              <a:t>$1,500</a:t>
            </a:r>
            <a:r>
              <a:rPr sz="1200" b="0" i="0">
                <a:solidFill>
                  <a:srgbClr val="6A6055"/>
                </a:solidFill>
                <a:latin typeface="Calibri"/>
              </a:rPr>
              <a:t>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6118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1">
                <a:solidFill>
                  <a:srgbClr val="6A6055"/>
                </a:solidFill>
                <a:latin typeface="Calibri"/>
              </a:rPr>
              <a:t>Current scope, locked for 2026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9848" y="3950208"/>
            <a:ext cx="2788920" cy="0"/>
          </a:xfrm>
          <a:prstGeom prst="bentConnector3">
            <a:avLst/>
          </a:prstGeom>
          <a:ln w="12700">
            <a:solidFill>
              <a:srgbClr val="E5D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69848" y="41605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09651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28221D"/>
                </a:solidFill>
                <a:latin typeface="Calibri"/>
              </a:rPr>
              <a:t>2 posts + 1 story set / 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9848" y="45537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48970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28221D"/>
                </a:solidFill>
                <a:latin typeface="Calibri"/>
              </a:rPr>
              <a:t>Social + web usage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9848" y="494690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88289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28221D"/>
                </a:solidFill>
                <a:latin typeface="Calibri"/>
              </a:rPr>
              <a:t>Caption drafts included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9848" y="534009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E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27608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28221D"/>
                </a:solidFill>
                <a:latin typeface="Calibri"/>
              </a:rPr>
              <a:t>48–72h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42316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332C26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2423160"/>
            <a:ext cx="3383280" cy="109728"/>
          </a:xfrm>
          <a:prstGeom prst="roundRect">
            <a:avLst>
              <a:gd name="adj" fmla="val 6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224028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28142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50" b="1" i="0" spc="50">
                <a:solidFill>
                  <a:srgbClr val="28221D"/>
                </a:solidFill>
                <a:latin typeface="Calibri"/>
              </a:rPr>
              <a:t>RECOMMENDED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267004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160">
                <a:solidFill>
                  <a:srgbClr val="D49A4E"/>
                </a:solidFill>
                <a:latin typeface="Calibri"/>
              </a:rPr>
              <a:t>SIGNATURE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9992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F4EEE3"/>
                </a:solidFill>
                <a:latin typeface="Georgia"/>
              </a:rPr>
              <a:t>$2,400</a:t>
            </a:r>
            <a:r>
              <a:rPr sz="1200" b="0" i="0">
                <a:solidFill>
                  <a:srgbClr val="F1E8D9"/>
                </a:solidFill>
                <a:latin typeface="Calibri"/>
              </a:rPr>
              <a:t> /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36118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1">
                <a:solidFill>
                  <a:srgbClr val="F1E8D9"/>
                </a:solidFill>
                <a:latin typeface="Calibri"/>
              </a:rPr>
              <a:t>Recommended — adds video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81728" y="3950208"/>
            <a:ext cx="2788920" cy="0"/>
          </a:xfrm>
          <a:prstGeom prst="bentConnector3">
            <a:avLst/>
          </a:prstGeom>
          <a:ln w="12700">
            <a:solidFill>
              <a:srgbClr val="4D4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681728" y="41605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409651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F4EEE3"/>
                </a:solidFill>
                <a:latin typeface="Calibri"/>
              </a:rPr>
              <a:t>3 posts + 2 story sets / mo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81728" y="45537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448970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F4EEE3"/>
                </a:solidFill>
                <a:latin typeface="Calibri"/>
              </a:rPr>
              <a:t>2 reels / month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81728" y="494690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488289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F4EEE3"/>
                </a:solidFill>
                <a:latin typeface="Calibri"/>
              </a:rPr>
              <a:t>Quarterly recipe 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81728" y="534009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527608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F4EEE3"/>
                </a:solidFill>
                <a:latin typeface="Calibri"/>
              </a:rPr>
              <a:t>Social + paid-boost usage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2423160"/>
            <a:ext cx="3383280" cy="36576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01000" y="2423160"/>
            <a:ext cx="3383280" cy="109728"/>
          </a:xfrm>
          <a:prstGeom prst="roundRect">
            <a:avLst>
              <a:gd name="adj" fmla="val 6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8" y="267004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160">
                <a:solidFill>
                  <a:srgbClr val="7A4A52"/>
                </a:solidFill>
                <a:latin typeface="Calibri"/>
              </a:rPr>
              <a:t>FLAGSHIP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299923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200" b="1" i="0">
                <a:solidFill>
                  <a:srgbClr val="28221D"/>
                </a:solidFill>
                <a:latin typeface="Georgia"/>
              </a:rPr>
              <a:t>$3,600</a:t>
            </a:r>
            <a:r>
              <a:rPr sz="1200" b="0" i="0">
                <a:solidFill>
                  <a:srgbClr val="6A6055"/>
                </a:solidFill>
                <a:latin typeface="Calibri"/>
              </a:rPr>
              <a:t> / month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3608" y="36118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1">
                <a:solidFill>
                  <a:srgbClr val="6A6055"/>
                </a:solidFill>
                <a:latin typeface="Calibri"/>
              </a:rPr>
              <a:t>Full brand content engine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93608" y="3950208"/>
            <a:ext cx="2788920" cy="0"/>
          </a:xfrm>
          <a:prstGeom prst="bentConnector3">
            <a:avLst/>
          </a:prstGeom>
          <a:ln w="12700">
            <a:solidFill>
              <a:srgbClr val="E5D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293608" y="41605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409651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28221D"/>
                </a:solidFill>
                <a:latin typeface="Calibri"/>
              </a:rPr>
              <a:t>Everything in Signature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93608" y="45537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4489704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28221D"/>
                </a:solidFill>
                <a:latin typeface="Calibri"/>
              </a:rPr>
              <a:t>10-still library / quarter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93608" y="494690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4882896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28221D"/>
                </a:solidFill>
                <a:latin typeface="Calibri"/>
              </a:rPr>
              <a:t>Priority booking + 48h rush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93608" y="534009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7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527608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28221D"/>
                </a:solidFill>
                <a:latin typeface="Calibri"/>
              </a:rPr>
              <a:t>12-mo brand-wide rights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Rates exclude paid-media spend · agent-sourced via Herrera Creative Management (15%)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85216"/>
            <a:ext cx="64008" cy="566928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spc="220">
                <a:solidFill>
                  <a:srgbClr val="B05B36"/>
                </a:solidFill>
                <a:latin typeface="Calibri"/>
              </a:rPr>
              <a:t>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41247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28221D"/>
                </a:solidFill>
                <a:latin typeface="Georgia"/>
              </a:rPr>
              <a:t>A Signature month, visualized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126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05B36"/>
                </a:solidFill>
                <a:latin typeface="Georgia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9509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8A7F70"/>
                </a:solidFill>
                <a:latin typeface="Calibri"/>
              </a:rPr>
              <a:t>/ 10</a:t>
            </a:r>
          </a:p>
        </p:txBody>
      </p:sp>
      <p:pic>
        <p:nvPicPr>
          <p:cNvPr id="8" name="Picture 7" descr="lat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2542032" cy="2743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3712464"/>
            <a:ext cx="2542032" cy="1316736"/>
          </a:xfrm>
          <a:prstGeom prst="rect">
            <a:avLst/>
          </a:prstGeom>
          <a:solidFill>
            <a:srgbClr val="28221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" y="2432304"/>
            <a:ext cx="643737" cy="274320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473452"/>
            <a:ext cx="64373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spc="40">
                <a:solidFill>
                  <a:srgbClr val="28221D"/>
                </a:solidFill>
                <a:latin typeface="Calibri"/>
              </a:rPr>
              <a:t>POST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46227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Hot oat latte, side light</a:t>
            </a:r>
          </a:p>
        </p:txBody>
      </p:sp>
      <p:pic>
        <p:nvPicPr>
          <p:cNvPr id="13" name="Picture 12" descr="paste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286000"/>
            <a:ext cx="2542032" cy="27432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520440" y="3712464"/>
            <a:ext cx="2542032" cy="1316736"/>
          </a:xfrm>
          <a:prstGeom prst="rect">
            <a:avLst/>
          </a:prstGeom>
          <a:solidFill>
            <a:srgbClr val="28221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66744" y="2432304"/>
            <a:ext cx="577900" cy="274320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2473452"/>
            <a:ext cx="5779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spc="40">
                <a:solidFill>
                  <a:srgbClr val="28221D"/>
                </a:solidFill>
                <a:latin typeface="Calibri"/>
              </a:rPr>
              <a:t>RECIPE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446227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Oat-custard tart, step 3</a:t>
            </a:r>
          </a:p>
        </p:txBody>
      </p:sp>
      <p:pic>
        <p:nvPicPr>
          <p:cNvPr id="18" name="Picture 17" descr="green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86000"/>
            <a:ext cx="2542032" cy="27432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263640" y="3712464"/>
            <a:ext cx="2542032" cy="1316736"/>
          </a:xfrm>
          <a:prstGeom prst="rect">
            <a:avLst/>
          </a:prstGeom>
          <a:solidFill>
            <a:srgbClr val="28221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9944" y="2432304"/>
            <a:ext cx="446227" cy="274320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2473452"/>
            <a:ext cx="4462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spc="40">
                <a:solidFill>
                  <a:srgbClr val="28221D"/>
                </a:solidFill>
                <a:latin typeface="Calibri"/>
              </a:rPr>
              <a:t>REEL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446227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30s pour + plating motion</a:t>
            </a:r>
          </a:p>
        </p:txBody>
      </p:sp>
      <p:pic>
        <p:nvPicPr>
          <p:cNvPr id="23" name="Picture 22" descr="marke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286000"/>
            <a:ext cx="2542032" cy="27432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006840" y="3712464"/>
            <a:ext cx="2542032" cy="1316736"/>
          </a:xfrm>
          <a:prstGeom prst="rect">
            <a:avLst/>
          </a:prstGeom>
          <a:solidFill>
            <a:srgbClr val="28221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53144" y="2432304"/>
            <a:ext cx="512064" cy="274320"/>
          </a:xfrm>
          <a:prstGeom prst="roundRect">
            <a:avLst>
              <a:gd name="adj" fmla="val 50000"/>
            </a:avLst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4" y="2473452"/>
            <a:ext cx="5120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spc="40">
                <a:solidFill>
                  <a:srgbClr val="28221D"/>
                </a:solidFill>
                <a:latin typeface="Calibri"/>
              </a:rPr>
              <a:t>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446227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F1E8D9"/>
                </a:solidFill>
                <a:latin typeface="Calibri"/>
              </a:rPr>
              <a:t>Market sourcing, BTS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349240"/>
            <a:ext cx="10607040" cy="7772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noFill/>
          </a:ln>
          <a:effectLst/>
          <a:effectLst>
            <a:outerShdw blurRad="90000" dist="40000" dir="5400000" rotWithShape="0">
              <a:srgbClr val="2822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504688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8221D"/>
                </a:solidFill>
                <a:latin typeface="Calibri"/>
              </a:rPr>
              <a:t>One cohesive visual language across photo, recipe, and video — </a:t>
            </a:r>
            <a:r>
              <a:rPr sz="1250" b="1" i="0">
                <a:solidFill>
                  <a:srgbClr val="B05B36"/>
                </a:solidFill>
                <a:latin typeface="Calibri"/>
              </a:rPr>
              <a:t>warm, textural, unmistakably Oatly.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Concept frames · representative of Signature-tier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8A7F70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w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21D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spc="260">
                <a:solidFill>
                  <a:srgbClr val="D49A4E"/>
                </a:solidFill>
                <a:latin typeface="Calibri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325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1" i="0">
                <a:solidFill>
                  <a:srgbClr val="F4EEE3"/>
                </a:solidFill>
                <a:latin typeface="Georgia"/>
              </a:rPr>
              <a:t>Let's lock the 2026 renewal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28221D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614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4EEE3"/>
                </a:solidFill>
                <a:latin typeface="Calibri"/>
              </a:rPr>
              <a:t>Confirm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1272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F1E8D9"/>
                </a:solidFill>
                <a:latin typeface="Calibri"/>
              </a:rPr>
              <a:t>Oatly selects a renewal tier (Signature recommended).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9475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28221D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21607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4EEE3"/>
                </a:solidFill>
                <a:latin typeface="Calibri"/>
              </a:rPr>
              <a:t>Paper the deal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87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F1E8D9"/>
                </a:solidFill>
                <a:latin typeface="Calibri"/>
              </a:rPr>
              <a:t>Herrera Creative Management issues the agreement &amp; rate schedule.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634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D4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5487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28221D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681727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4EEE3"/>
                </a:solidFill>
                <a:latin typeface="Calibri"/>
              </a:rPr>
              <a:t>Q1 kickoff shoot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047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F1E8D9"/>
                </a:solidFill>
                <a:latin typeface="Calibri"/>
              </a:rPr>
              <a:t>First content drop live by the second week of January 2026.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2743200"/>
            <a:ext cx="3886200" cy="3017520"/>
          </a:xfrm>
          <a:prstGeom prst="roundRect">
            <a:avLst>
              <a:gd name="adj" fmla="val 8000"/>
            </a:avLst>
          </a:prstGeom>
          <a:solidFill>
            <a:srgbClr val="33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18120" y="3063240"/>
            <a:ext cx="603504" cy="603504"/>
          </a:xfrm>
          <a:prstGeom prst="roundRect">
            <a:avLst>
              <a:gd name="adj" fmla="val 18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191256"/>
            <a:ext cx="6035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Georgia"/>
              </a:rPr>
              <a:t>JP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1089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4EEE3"/>
                </a:solidFill>
                <a:latin typeface="Georgia"/>
              </a:rPr>
              <a:t>Jesse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41985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8A7F70"/>
                </a:solidFill>
                <a:latin typeface="Calibri"/>
              </a:rPr>
              <a:t>Food Photographer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18120" y="3931920"/>
            <a:ext cx="3246120" cy="0"/>
          </a:xfrm>
          <a:prstGeom prst="bentConnector3">
            <a:avLst/>
          </a:prstGeom>
          <a:ln w="12700">
            <a:solidFill>
              <a:srgbClr val="4D4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18120" y="4114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spc="80">
                <a:solidFill>
                  <a:srgbClr val="D49A4E"/>
                </a:solidFill>
                <a:latin typeface="Calibri"/>
              </a:rPr>
              <a:t>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11480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F1E8D9"/>
                </a:solidFill>
                <a:latin typeface="Calibri"/>
              </a:rPr>
              <a:t>hello@jessepagephotography.com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4988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spc="80">
                <a:solidFill>
                  <a:srgbClr val="D49A4E"/>
                </a:solidFill>
                <a:latin typeface="Calibri"/>
              </a:rPr>
              <a:t>Instagram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4988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F1E8D9"/>
                </a:solidFill>
                <a:latin typeface="Calibri"/>
              </a:rPr>
              <a:t>@jessepagephoto · 48.2K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88289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spc="80">
                <a:solidFill>
                  <a:srgbClr val="D49A4E"/>
                </a:solidFill>
                <a:latin typeface="Calibri"/>
              </a:rPr>
              <a:t>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88289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F1E8D9"/>
                </a:solidFill>
                <a:latin typeface="Calibri"/>
              </a:rPr>
              <a:t>Tomás Herrera, HCM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526694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spc="80">
                <a:solidFill>
                  <a:srgbClr val="D49A4E"/>
                </a:solidFill>
                <a:latin typeface="Calibri"/>
              </a:rPr>
              <a:t>Web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26694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F1E8D9"/>
                </a:solidFill>
                <a:latin typeface="Calibri"/>
              </a:rPr>
              <a:t>jessepagephotography.com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F1E8D9"/>
                </a:solidFill>
                <a:latin typeface="Calibri"/>
              </a:rPr>
              <a:t>Thank you — we look forward to another year of warm light.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8495" y="643737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850" b="0" i="0" spc="60">
                <a:solidFill>
                  <a:srgbClr val="F1E8D9"/>
                </a:solidFill>
                <a:latin typeface="Calibri"/>
              </a:rPr>
              <a:t>Jesse Page Photography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