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28221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" cy="914400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60">
                <a:solidFill>
                  <a:srgbClr val="D49A4E"/>
                </a:solidFill>
                <a:latin typeface="Calibri"/>
              </a:rPr>
              <a:t>A PHOTO-ESSAY PROPOSAL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241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1">
                <a:solidFill>
                  <a:srgbClr val="F4EEE3"/>
                </a:solidFill>
                <a:latin typeface="Georgia"/>
              </a:rPr>
              <a:t>Edgewater Food Journal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06324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7800" b="1" i="0">
                <a:solidFill>
                  <a:srgbClr val="F4EEE3"/>
                </a:solidFill>
                <a:latin typeface="Georgia"/>
              </a:rPr>
              <a:t>Night Markets</a:t>
            </a:r>
          </a:p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7800" b="1" i="0">
                <a:solidFill>
                  <a:srgbClr val="F4EEE3"/>
                </a:solidFill>
                <a:latin typeface="Georgia"/>
              </a:rPr>
              <a:t>of New York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0" i="1">
                <a:solidFill>
                  <a:srgbClr val="F1E8D9"/>
                </a:solidFill>
                <a:latin typeface="Georgia"/>
              </a:rPr>
              <a:t>Where the city eats after dark — a seasonal photo essay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5989320"/>
            <a:ext cx="4572000" cy="0"/>
          </a:xfrm>
          <a:prstGeom prst="bentConnector3">
            <a:avLst/>
          </a:prstGeom>
          <a:ln w="12700">
            <a:solidFill>
              <a:srgbClr val="6A5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144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8A7F70"/>
                </a:solidFill>
                <a:latin typeface="Calibri"/>
              </a:rPr>
              <a:t>A pitch by </a:t>
            </a:r>
            <a:r>
              <a:rPr sz="1200" b="1" i="0">
                <a:solidFill>
                  <a:srgbClr val="F4EEE3"/>
                </a:solidFill>
                <a:latin typeface="Calibri"/>
              </a:rPr>
              <a:t>Jesse Page</a:t>
            </a:r>
            <a:r>
              <a:rPr sz="1150" b="0" i="0">
                <a:solidFill>
                  <a:srgbClr val="8A7F70"/>
                </a:solidFill>
                <a:latin typeface="Calibri"/>
              </a:rPr>
              <a:t>  ·  @jessepagephoto  ·  via Herrera Creative Management  · 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23760" y="3566160"/>
            <a:ext cx="4967935" cy="3291839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86600" y="0"/>
            <a:ext cx="128016" cy="6858000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D49A4E"/>
                </a:solidFill>
                <a:latin typeface="Calibri"/>
              </a:rPr>
              <a:t>THE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F4EEE3"/>
                </a:solidFill>
                <a:latin typeface="Georgia"/>
              </a:rPr>
              <a:t>The city eats after dark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D49A4E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943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800" b="0" i="1">
                <a:solidFill>
                  <a:srgbClr val="F4EEE3"/>
                </a:solidFill>
                <a:latin typeface="Georgia"/>
              </a:rPr>
              <a:t>After the dinner rush, a second New York wakes up — </a:t>
            </a:r>
            <a:r>
              <a:rPr sz="1800" b="0" i="1">
                <a:solidFill>
                  <a:srgbClr val="F4EEE3"/>
                </a:solidFill>
                <a:latin typeface="Georgia"/>
              </a:rPr>
              <a:t>Flushing's neon food alleys, Bushwick night bazaars, the Ramadan markets of Bay Ridge, Chinatown's late dumpling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1E8D9"/>
                </a:solidFill>
                <a:latin typeface="Calibri"/>
              </a:rPr>
              <a:t>This is a six-frame photo essay shot entirely in available night light — steam, neon, and the warm chaos of the griddle. No studio strobes, no styling tricks. Just the food as the city actually serves it, after dark.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15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56148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spc="50">
                <a:solidFill>
                  <a:srgbClr val="28221D"/>
                </a:solidFill>
                <a:latin typeface="Calibri"/>
              </a:rPr>
              <a:t>AVAILABLE LIGHT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5715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575614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spc="50">
                <a:solidFill>
                  <a:srgbClr val="FFFFFF"/>
                </a:solidFill>
                <a:latin typeface="Calibri"/>
              </a:rPr>
              <a:t>6-FRAME ESSAY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7150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756148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spc="50">
                <a:solidFill>
                  <a:srgbClr val="FFFFFF"/>
                </a:solidFill>
                <a:latin typeface="Calibri"/>
              </a:rPr>
              <a:t>DAIRY-FREE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Working title — “Night Markets of New York”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The timing is the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3383280" cy="123444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82296" cy="1234440"/>
          </a:xfrm>
          <a:prstGeom prst="roundRect">
            <a:avLst>
              <a:gd name="adj" fmla="val 1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373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05B36"/>
                </a:solidFill>
                <a:latin typeface="Georgia"/>
              </a:rPr>
              <a:t>4.2M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ANNUAL NIGHT-MARKET 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across NYC's outer-borough markets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72768"/>
            <a:ext cx="3383280" cy="123444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72768"/>
            <a:ext cx="82296" cy="1234440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7373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+38%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860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GROWTH IN LATE-NIGHT FOOD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2316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2023 → 2025, post-pandemic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572768"/>
            <a:ext cx="3383280" cy="123444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1572768"/>
            <a:ext cx="82296" cy="1234440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7373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860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DISTINCT CULTURAL MARKETS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mapped within subway reach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83280"/>
            <a:ext cx="10607040" cy="26974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58444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spc="140">
                <a:solidFill>
                  <a:srgbClr val="B05B36"/>
                </a:solidFill>
                <a:latin typeface="Calibri"/>
              </a:rPr>
              <a:t>THE OPENING NOBODY HAS SHOT WELL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233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50" b="0" i="0">
                <a:solidFill>
                  <a:srgbClr val="28221D"/>
                </a:solidFill>
                <a:latin typeface="Calibri"/>
              </a:rPr>
              <a:t>Food media has covered night markets as travel content — Bangkok, Taipei, Seoul. </a:t>
            </a:r>
            <a:r>
              <a:rPr sz="1350" b="1" i="0">
                <a:solidFill>
                  <a:srgbClr val="28221D"/>
                </a:solidFill>
                <a:latin typeface="Calibri"/>
              </a:rPr>
              <a:t>Almost no one has documented New York's own, which have quietly become some of the most vital food culture in the city. </a:t>
            </a:r>
            <a:r>
              <a:rPr sz="1350" b="0" i="0">
                <a:solidFill>
                  <a:srgbClr val="28221D"/>
                </a:solidFill>
                <a:latin typeface="Calibri"/>
              </a:rPr>
              <a:t>The markets are photogenic, underexposed editorially, and tied to communities Edgewater's readers want to understand. A photographer who already keeps a dairy-free map of this city in her head is the right person to shoot it — and the warm-light, texture-first style fits the journal's visual register exactly.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Editorial rationale · sourced from NYC EDC &amp; market organizers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Markets on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77440"/>
          <a:ext cx="7223760" cy="327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371600"/>
                <a:gridCol w="2286000"/>
                <a:gridCol w="12801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Borough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Cuisine focus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Best window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Flushing Night Market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Queens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Chinese, Taiwanese, Korean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8–11 PM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Bushwick Night Bazaar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Brooklyn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Pan-Latin, vegan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7–10 PM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Bay Ridge Ramadan Souk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Brooklyn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Levantine, North African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After iftar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Chinatown late windows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Manhattan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Cantonese, Fujianese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10 PM–1 AM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Smorgasburg After Dark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Brooklyn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New-American, fusion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6–9 PM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Jackson Heights momo row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Queens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Tibetan, Nepali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8–11 PM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dump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77440"/>
            <a:ext cx="301752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66760" y="3566160"/>
            <a:ext cx="3017520" cy="1097280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13064" y="2523744"/>
            <a:ext cx="1104595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2564892"/>
            <a:ext cx="11045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Pilot · Oct 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4096511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4EEE3"/>
                </a:solidFill>
                <a:latin typeface="Georgia"/>
              </a:rPr>
              <a:t>Flushing — the test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4370831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Available light · 8:40 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846320"/>
            <a:ext cx="3017520" cy="123444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9834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120">
                <a:solidFill>
                  <a:srgbClr val="B05B36"/>
                </a:solidFill>
                <a:latin typeface="Calibri"/>
              </a:rPr>
              <a:t>PILOT SHOOT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285232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Flushing Night Market, Oct 31 2026 — proof of concept before the full series greenlight.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Six markets · all within a MetroCard's 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D49A4E"/>
                </a:solidFill>
                <a:latin typeface="Calibri"/>
              </a:rPr>
              <a:t>THE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F4EEE3"/>
                </a:solidFill>
                <a:latin typeface="Georgia"/>
              </a:rPr>
              <a:t>Visual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D49A4E"/>
                </a:solidFill>
                <a:latin typeface="Georgia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3383280" cy="3749039"/>
          </a:xfrm>
          <a:prstGeom prst="roundRect">
            <a:avLst>
              <a:gd name="adj" fmla="val 7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3383280" cy="118872"/>
          </a:xfrm>
          <a:prstGeom prst="roundRect">
            <a:avLst>
              <a:gd name="adj" fmla="val 7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00">
                <a:solidFill>
                  <a:srgbClr val="D49A4E"/>
                </a:solidFill>
                <a:latin typeface="Calibri"/>
              </a:rPr>
              <a:t>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0779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4EEE3"/>
                </a:solidFill>
                <a:latin typeface="Georgia"/>
              </a:rPr>
              <a:t>Available only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51560" y="3520440"/>
            <a:ext cx="2834640" cy="0"/>
          </a:xfrm>
          <a:prstGeom prst="bentConnector3">
            <a:avLst/>
          </a:prstGeom>
          <a:ln w="12700">
            <a:solidFill>
              <a:srgbClr val="4D4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365760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1E8D9"/>
                </a:solidFill>
                <a:latin typeface="Calibri"/>
              </a:rPr>
              <a:t>Neon, griddle fire, string bulbs and phone-torch. No strobe — the markets light themselves; my job is to expose for the warm core and let the dark fall away.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86000"/>
            <a:ext cx="3383280" cy="3749039"/>
          </a:xfrm>
          <a:prstGeom prst="roundRect">
            <a:avLst>
              <a:gd name="adj" fmla="val 7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286000"/>
            <a:ext cx="3383280" cy="118872"/>
          </a:xfrm>
          <a:prstGeom prst="roundRect">
            <a:avLst>
              <a:gd name="adj" fmla="val 7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00">
                <a:solidFill>
                  <a:srgbClr val="B05B36"/>
                </a:solidFill>
                <a:latin typeface="Calibri"/>
              </a:rPr>
              <a:t>PALETTE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0779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4EEE3"/>
                </a:solidFill>
                <a:latin typeface="Georgia"/>
              </a:rPr>
              <a:t>Warm over cool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63440" y="3520440"/>
            <a:ext cx="2834639" cy="0"/>
          </a:xfrm>
          <a:prstGeom prst="bentConnector3">
            <a:avLst/>
          </a:prstGeom>
          <a:ln w="12700">
            <a:solidFill>
              <a:srgbClr val="4D4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65760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1E8D9"/>
                </a:solidFill>
                <a:latin typeface="Calibri"/>
              </a:rPr>
              <a:t>Amber, ember, oxblood, charcoal. The earth-tone register of my editorial work, pushed into night. Cool blues only as accent against the warm.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286000"/>
            <a:ext cx="3383280" cy="3749039"/>
          </a:xfrm>
          <a:prstGeom prst="roundRect">
            <a:avLst>
              <a:gd name="adj" fmla="val 7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2286000"/>
            <a:ext cx="3383280" cy="118872"/>
          </a:xfrm>
          <a:prstGeom prst="roundRect">
            <a:avLst>
              <a:gd name="adj" fmla="val 7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00">
                <a:solidFill>
                  <a:srgbClr val="6E7355"/>
                </a:solidFill>
                <a:latin typeface="Calibri"/>
              </a:rPr>
              <a:t>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0779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4EEE3"/>
                </a:solidFill>
                <a:latin typeface="Georgia"/>
              </a:rPr>
              <a:t>Close &amp; human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75320" y="3520440"/>
            <a:ext cx="2834640" cy="0"/>
          </a:xfrm>
          <a:prstGeom prst="bentConnector3">
            <a:avLst/>
          </a:prstGeom>
          <a:ln w="12700">
            <a:solidFill>
              <a:srgbClr val="4D4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75320" y="365760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F1E8D9"/>
                </a:solidFill>
                <a:latin typeface="Calibri"/>
              </a:rPr>
              <a:t>Tight on the food and the hands that make it. Steam as a subject. Shallow depth so a single dumpling reads against a blur of crowd and light.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A consistent visual language across all six frames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Sample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pic>
        <p:nvPicPr>
          <p:cNvPr id="8" name="Picture 7" descr="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2542032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3948379"/>
            <a:ext cx="2542032" cy="1492300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2478024"/>
            <a:ext cx="709574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519172"/>
            <a:ext cx="7095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Frame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73751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4EEE3"/>
                </a:solidFill>
                <a:latin typeface="Georgia"/>
              </a:rPr>
              <a:t>Neon &amp; steam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148071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Flushing — the griddle line</a:t>
            </a:r>
          </a:p>
        </p:txBody>
      </p:sp>
      <p:pic>
        <p:nvPicPr>
          <p:cNvPr id="14" name="Picture 13" descr="dumpl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331720"/>
            <a:ext cx="2542032" cy="31089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520440" y="3948379"/>
            <a:ext cx="2542032" cy="1492300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6744" y="2478024"/>
            <a:ext cx="709574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2519172"/>
            <a:ext cx="7095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Frame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4873751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4EEE3"/>
                </a:solidFill>
                <a:latin typeface="Georgia"/>
              </a:rPr>
              <a:t>The counter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5148071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Chinatown — late dumplings</a:t>
            </a:r>
          </a:p>
        </p:txBody>
      </p:sp>
      <p:pic>
        <p:nvPicPr>
          <p:cNvPr id="20" name="Picture 19" descr="rame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31720"/>
            <a:ext cx="2542032" cy="31089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263640" y="3948379"/>
            <a:ext cx="2542032" cy="1492300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9944" y="2478024"/>
            <a:ext cx="709574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519172"/>
            <a:ext cx="7095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Frame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873751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4EEE3"/>
                </a:solidFill>
                <a:latin typeface="Georgia"/>
              </a:rPr>
              <a:t>Broth, 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5148071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Bay Ridge — after iftar</a:t>
            </a:r>
          </a:p>
        </p:txBody>
      </p:sp>
      <p:pic>
        <p:nvPicPr>
          <p:cNvPr id="26" name="Picture 25" descr="toma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331720"/>
            <a:ext cx="2542032" cy="310896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006840" y="3948379"/>
            <a:ext cx="2542032" cy="1492300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2478024"/>
            <a:ext cx="709574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2519172"/>
            <a:ext cx="7095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Frame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4873751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4EEE3"/>
                </a:solidFill>
                <a:latin typeface="Georgia"/>
              </a:rPr>
              <a:t>Hands at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5148071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Jackson Heights — momo fold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A6055"/>
                </a:solidFill>
                <a:latin typeface="Calibri"/>
              </a:rPr>
              <a:t>Representative of the series register — </a:t>
            </a:r>
            <a:r>
              <a:rPr sz="1200" b="1" i="0">
                <a:solidFill>
                  <a:srgbClr val="28221D"/>
                </a:solidFill>
                <a:latin typeface="Calibri"/>
              </a:rPr>
              <a:t>final frames shot on location across the six markets.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Concept frames · Sony A7IV, available 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Plan &amp;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19" y="2743200"/>
            <a:ext cx="10789921" cy="0"/>
          </a:xfrm>
          <a:prstGeom prst="bentConnector3">
            <a:avLst/>
          </a:prstGeom>
          <a:ln w="2794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01952" y="2633472"/>
            <a:ext cx="219456" cy="219456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B05B36"/>
                </a:solidFill>
                <a:latin typeface="Calibri"/>
              </a:rPr>
              <a:t>OCT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35808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821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Pilot &amp; scout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02736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Flushing pilot shoot (Oct 31). Confirm market access &amp; organizer contacts.</a:t>
            </a:r>
          </a:p>
        </p:txBody>
      </p:sp>
      <p:sp>
        <p:nvSpPr>
          <p:cNvPr id="14" name="Oval 13"/>
          <p:cNvSpPr/>
          <p:nvPr/>
        </p:nvSpPr>
        <p:spPr>
          <a:xfrm>
            <a:off x="4645152" y="2633472"/>
            <a:ext cx="219456" cy="219456"/>
          </a:xfrm>
          <a:prstGeom prst="ellipse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402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D49A4E"/>
                </a:solidFill>
                <a:latin typeface="Calibri"/>
              </a:rPr>
              <a:t>NOV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3035808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31821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Principal shoots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602736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Four night shoots across the boroughs. Jess Williams assisting on two.</a:t>
            </a:r>
          </a:p>
        </p:txBody>
      </p:sp>
      <p:sp>
        <p:nvSpPr>
          <p:cNvPr id="19" name="Oval 18"/>
          <p:cNvSpPr/>
          <p:nvPr/>
        </p:nvSpPr>
        <p:spPr>
          <a:xfrm>
            <a:off x="7388352" y="2633472"/>
            <a:ext cx="219456" cy="219456"/>
          </a:xfrm>
          <a:prstGeom prst="ellipse">
            <a:avLst/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22402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6E7355"/>
                </a:solidFill>
                <a:latin typeface="Calibri"/>
              </a:rPr>
              <a:t>DEC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035808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3" y="31821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Edit &amp; 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3" y="3602736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Cull to the strongest six. Edit in Capture One; warm-night grade.</a:t>
            </a:r>
          </a:p>
        </p:txBody>
      </p:sp>
      <p:sp>
        <p:nvSpPr>
          <p:cNvPr id="24" name="Oval 23"/>
          <p:cNvSpPr/>
          <p:nvPr/>
        </p:nvSpPr>
        <p:spPr>
          <a:xfrm>
            <a:off x="10131552" y="2633472"/>
            <a:ext cx="219456" cy="219456"/>
          </a:xfrm>
          <a:prstGeom prst="ellipse">
            <a:avLst/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19" y="22402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3E6A62"/>
                </a:solidFill>
                <a:latin typeface="Calibri"/>
              </a:rPr>
              <a:t>JAN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7" y="3035808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31821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Deliver &amp; 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602736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Final files + captions to Edgewater. Target: spring print issue.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75488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919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40">
                <a:solidFill>
                  <a:srgbClr val="B05B36"/>
                </a:solidFill>
                <a:latin typeface="Calibri"/>
              </a:rPr>
              <a:t>CREW &amp; KIT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3036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Jesse Page (photographer) + Jess Williams (assistant, 2 nights). Sony A7IV, 24–70mm f/2.8 &amp; 90mm macro, fast primes for low light. No strobe. Dairy-free tasting notes throughout.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75488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919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40">
                <a:solidFill>
                  <a:srgbClr val="B05B36"/>
                </a:solidFill>
                <a:latin typeface="Calibri"/>
              </a:rPr>
              <a:t>ACCESS &amp;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3036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Organizer permissions secured ahead of each night. Vendor releases collected on site. Night shoots scheduled around transit hours; equipment kept light and mobile.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~10 weeks, pilot to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Deliverables &amp;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77440"/>
          <a:ext cx="6949440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3108960"/>
                <a:gridCol w="1371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Usage granted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Hero photo essay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6 final frames, full-res, color-graded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Print + web, first NA rights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Opener / cover option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 vertical hero for the issue cover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Cover + promo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Captions &amp; field notes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Per-frame, market context + sourcing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Editorial, with byline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Social cut-downs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4 frames formatted for @edgewater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Social, 90-day window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Archive license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Outtake set (≈20 frames)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Optional, priced separately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79" y="2377440"/>
            <a:ext cx="3429000" cy="3657600"/>
          </a:xfrm>
          <a:prstGeom prst="roundRect">
            <a:avLst>
              <a:gd name="adj" fmla="val 7000"/>
            </a:avLst>
          </a:prstGeom>
          <a:solidFill>
            <a:srgbClr val="28221D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6060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40">
                <a:solidFill>
                  <a:srgbClr val="D49A4E"/>
                </a:solidFill>
                <a:latin typeface="Calibri"/>
              </a:rPr>
              <a:t>RIGHTS, PLAINLY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08152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017520"/>
            <a:ext cx="2651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1E8D9"/>
                </a:solidFill>
                <a:latin typeface="Calibri"/>
              </a:rPr>
              <a:t>First North American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print &amp; digital rights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947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30752"/>
            <a:ext cx="2651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1E8D9"/>
                </a:solidFill>
                <a:latin typeface="Calibri"/>
              </a:rPr>
              <a:t>Byline required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“Photographs by Jesse Page”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5079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443984"/>
            <a:ext cx="2651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1E8D9"/>
                </a:solidFill>
                <a:latin typeface="Calibri"/>
              </a:rPr>
              <a:t>12-month exclusivity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then rights revert to Jesse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2212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5157216"/>
            <a:ext cx="2651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1E8D9"/>
                </a:solidFill>
                <a:latin typeface="Calibri"/>
              </a:rPr>
              <a:t>No AI training use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frames excluded from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Standard editorial terms · finalized with Tomás Herrera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77440"/>
          <a:ext cx="704088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743200"/>
                <a:gridCol w="1371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Photography fee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5 night shoots @ editorial rate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$3,200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Assistant (Jess Williams)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2 nights @ $300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Travel &amp; local transport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Outer-borough, equipment-heavy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$240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Post-production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Cull, edit &amp; warm-night grade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Vendor tastings &amp; releases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Dairy-free, 6 markets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$210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~6% buffer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$300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Total project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First NA rights, 6-frame essay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$5,000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01000" y="23774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28221D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200">
                <a:solidFill>
                  <a:srgbClr val="D49A4E"/>
                </a:solidFill>
                <a:latin typeface="Calibri"/>
              </a:rPr>
              <a:t>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5292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800" b="1" i="0">
                <a:solidFill>
                  <a:srgbClr val="F4EEE3"/>
                </a:solidFill>
                <a:latin typeface="Georgia"/>
              </a:rPr>
              <a:t>$5,000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4564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1">
                <a:solidFill>
                  <a:srgbClr val="F1E8D9"/>
                </a:solidFill>
                <a:latin typeface="Calibri"/>
              </a:rPr>
              <a:t>fixed-fee, all-in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977639"/>
            <a:ext cx="3383280" cy="20574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605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120">
                <a:solidFill>
                  <a:srgbClr val="B05B36"/>
                </a:solidFill>
                <a:latin typeface="Calibri"/>
              </a:rPr>
              <a:t>WHY IT'S WORTH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48056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A distinctive, ownable story for the spring issue — shot by a photographer who already knows these markets and their food. Portfolio-grade frames at an editorial-fair fee.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Fixed fee · invoiced 50% on commission, 50% on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spc="260">
                <a:solidFill>
                  <a:srgbClr val="D49A4E"/>
                </a:solidFill>
                <a:latin typeface="Calibri"/>
              </a:rPr>
              <a:t>ABOUT THE PHOTOGRAPHER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234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 i="0">
                <a:solidFill>
                  <a:srgbClr val="F4EEE3"/>
                </a:solidFill>
                <a:latin typeface="Georgia"/>
              </a:rPr>
              <a:t>Jesse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 i="0">
                <a:solidFill>
                  <a:srgbClr val="F1E8D9"/>
                </a:solidFill>
                <a:latin typeface="Calibri"/>
              </a:rPr>
              <a:t>Brooklyn food photographer, six years solo. BFA, Prattfield Institute of Art (2013). Editorial clients include Tangerine Magazine and Savor Quarterly; brand work for Oatly and Kikkoman; the cookbook “Estrela: A Table in Brooklyn.” Warm window light, earth tones, texture — and a dairy-free map of this city already in her 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51960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34256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D49A4E"/>
                </a:solidFill>
                <a:latin typeface="Georgia"/>
              </a:rPr>
              <a:t>48.2K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0016"/>
            <a:ext cx="14813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followers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4251960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4334256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D49A4E"/>
                </a:solidFill>
                <a:latin typeface="Georgia"/>
              </a:rPr>
              <a:t>240+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4700016"/>
            <a:ext cx="14813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shoots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78224" y="4251960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8224" y="4334256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D49A4E"/>
                </a:solidFill>
                <a:latin typeface="Georgia"/>
              </a:rPr>
              <a:t>6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00016"/>
            <a:ext cx="14813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freelance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4251960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6" y="4334256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D49A4E"/>
                </a:solidFill>
                <a:latin typeface="Georgia"/>
              </a:rPr>
              <a:t>4.9★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4700016"/>
            <a:ext cx="14813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client rating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011680"/>
            <a:ext cx="3794760" cy="4023360"/>
          </a:xfrm>
          <a:prstGeom prst="roundRect">
            <a:avLst>
              <a:gd name="adj" fmla="val 8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2402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spc="160">
                <a:solidFill>
                  <a:srgbClr val="D49A4E"/>
                </a:solidFill>
                <a:latin typeface="Calibri"/>
              </a:rPr>
              <a:t>NEXT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606040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651760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8221D"/>
                </a:solidFill>
                <a:latin typeface="Georgia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4261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F4EEE3"/>
                </a:solidFill>
                <a:latin typeface="Calibri"/>
              </a:rPr>
              <a:t>Greenlight the Oct 31 pilot shoot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209544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255264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8221D"/>
                </a:solidFill>
                <a:latin typeface="Georg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246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F4EEE3"/>
                </a:solidFill>
                <a:latin typeface="Calibri"/>
              </a:rPr>
              <a:t>Confirm spring-issue slot &amp; fee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813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858768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8221D"/>
                </a:solidFill>
                <a:latin typeface="Georg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84962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F4EEE3"/>
                </a:solidFill>
                <a:latin typeface="Calibri"/>
              </a:rPr>
              <a:t>Tomás papers the editorial agreement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63840" y="4617720"/>
            <a:ext cx="3246119" cy="0"/>
          </a:xfrm>
          <a:prstGeom prst="bentConnector3">
            <a:avLst/>
          </a:prstGeom>
          <a:ln w="12700">
            <a:solidFill>
              <a:srgbClr val="4D4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spc="80">
                <a:solidFill>
                  <a:srgbClr val="D49A4E"/>
                </a:solidFill>
                <a:latin typeface="Calibri"/>
              </a:rPr>
              <a:t>Email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7548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hello@jessepagephotography.com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0840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spc="80">
                <a:solidFill>
                  <a:srgbClr val="D49A4E"/>
                </a:solidFill>
                <a:latin typeface="Calibri"/>
              </a:rPr>
              <a:t>Instagram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0840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@jessepagephoto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4132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spc="80">
                <a:solidFill>
                  <a:srgbClr val="D49A4E"/>
                </a:solidFill>
                <a:latin typeface="Calibri"/>
              </a:rPr>
              <a:t>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4132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Tomás Herrera, HCM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7424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spc="80">
                <a:solidFill>
                  <a:srgbClr val="D49A4E"/>
                </a:solidFill>
                <a:latin typeface="Calibri"/>
              </a:rPr>
              <a:t>Web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7424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jessepagephotography.com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Thank you — let's shoot the city after dark.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