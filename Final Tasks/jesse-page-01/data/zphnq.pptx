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05B36"/>
              </a:solidFill>
              <a:ln w="31750">
                <a:solidFill>
                  <a:srgbClr val="FFFDF8"/>
                </a:solidFill>
              </a:ln>
            </c:spPr>
          </c:dPt>
          <c:dPt>
            <c:idx val="1"/>
            <c:spPr>
              <a:solidFill>
                <a:srgbClr val="6E7355"/>
              </a:solidFill>
              <a:ln w="31750">
                <a:solidFill>
                  <a:srgbClr val="FFFDF8"/>
                </a:solidFill>
              </a:ln>
            </c:spPr>
          </c:dPt>
          <c:dPt>
            <c:idx val="2"/>
            <c:spPr>
              <a:solidFill>
                <a:srgbClr val="D49A4E"/>
              </a:solidFill>
              <a:ln w="31750">
                <a:solidFill>
                  <a:srgbClr val="FFFDF8"/>
                </a:solidFill>
              </a:ln>
            </c:spPr>
          </c:dPt>
          <c:dPt>
            <c:idx val="3"/>
            <c:spPr>
              <a:solidFill>
                <a:srgbClr val="7A4A52"/>
              </a:solidFill>
              <a:ln w="31750">
                <a:solidFill>
                  <a:srgbClr val="FFFDF8"/>
                </a:solidFill>
              </a:ln>
            </c:spPr>
          </c:dPt>
          <c:dPt>
            <c:idx val="4"/>
            <c:spPr>
              <a:solidFill>
                <a:srgbClr val="3E6A62"/>
              </a:solidFill>
              <a:ln w="31750">
                <a:solidFill>
                  <a:srgbClr val="FFFDF8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Editorial</c:v>
                </c:pt>
                <c:pt idx="1">
                  <c:v>Restaurant</c:v>
                </c:pt>
                <c:pt idx="2">
                  <c:v>Brand</c:v>
                </c:pt>
                <c:pt idx="3">
                  <c:v>Cookbook</c:v>
                </c:pt>
                <c:pt idx="4">
                  <c:v>Prints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30</c:v>
                </c:pt>
                <c:pt idx="2">
                  <c:v>24</c:v>
                </c:pt>
                <c:pt idx="3">
                  <c:v>11</c:v>
                </c:pt>
                <c:pt idx="4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B05B36"/>
              </a:solidFill>
            </c:spPr>
          </c:dPt>
          <c:dPt>
            <c:idx val="1"/>
            <c:spPr>
              <a:solidFill>
                <a:srgbClr val="B05B36"/>
              </a:solidFill>
            </c:spPr>
          </c:dPt>
          <c:dPt>
            <c:idx val="2"/>
            <c:spPr>
              <a:solidFill>
                <a:srgbClr val="B05B36"/>
              </a:solidFill>
            </c:spPr>
          </c:dPt>
          <c:dPt>
            <c:idx val="3"/>
            <c:spPr>
              <a:solidFill>
                <a:srgbClr val="B05B36"/>
              </a:solidFill>
            </c:spPr>
          </c:dPt>
          <c:dPt>
            <c:idx val="4"/>
            <c:spPr>
              <a:solidFill>
                <a:srgbClr val="B05B36"/>
              </a:solidFill>
            </c:spPr>
          </c:dPt>
          <c:dPt>
            <c:idx val="5"/>
            <c:spPr>
              <a:solidFill>
                <a:srgbClr val="B05B36"/>
              </a:solidFill>
            </c:spPr>
          </c:dPt>
          <c:dPt>
            <c:idx val="6"/>
            <c:spPr>
              <a:solidFill>
                <a:srgbClr val="B05B36"/>
              </a:solidFill>
            </c:spPr>
          </c:dPt>
          <c:dPt>
            <c:idx val="7"/>
            <c:spPr>
              <a:solidFill>
                <a:srgbClr val="B05B36"/>
              </a:solidFill>
            </c:spPr>
          </c:dPt>
          <c:dPt>
            <c:idx val="8"/>
            <c:spPr>
              <a:solidFill>
                <a:srgbClr val="B05B36"/>
              </a:solidFill>
            </c:spPr>
          </c:dPt>
          <c:dPt>
            <c:idx val="9"/>
            <c:spPr>
              <a:solidFill>
                <a:srgbClr val="B05B36"/>
              </a:solidFill>
            </c:spPr>
          </c:dPt>
          <c:dPt>
            <c:idx val="10"/>
            <c:spPr>
              <a:solidFill>
                <a:srgbClr val="B05B36"/>
              </a:solidFill>
            </c:spPr>
          </c:dPt>
          <c:dPt>
            <c:idx val="11"/>
            <c:spPr>
              <a:solidFill>
                <a:srgbClr val="B05B36"/>
              </a:solidFill>
            </c:spPr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4100</c:v>
                </c:pt>
                <c:pt idx="1">
                  <c:v>5200</c:v>
                </c:pt>
                <c:pt idx="2">
                  <c:v>7400</c:v>
                </c:pt>
                <c:pt idx="3">
                  <c:v>6800</c:v>
                </c:pt>
                <c:pt idx="4">
                  <c:v>6100</c:v>
                </c:pt>
                <c:pt idx="5">
                  <c:v>9200</c:v>
                </c:pt>
                <c:pt idx="6">
                  <c:v>5400</c:v>
                </c:pt>
                <c:pt idx="7">
                  <c:v>5900</c:v>
                </c:pt>
                <c:pt idx="8">
                  <c:v>8800</c:v>
                </c:pt>
                <c:pt idx="9">
                  <c:v>9100</c:v>
                </c:pt>
                <c:pt idx="10">
                  <c:v>11800</c:v>
                </c:pt>
                <c:pt idx="11">
                  <c:v>12200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DBCA"/>
            </a:solidFill>
          </a:ln>
        </c:spPr>
        <c:txPr>
          <a:bodyPr/>
          <a:lstStyle/>
          <a:p>
            <a:pPr>
              <a:defRPr sz="1000">
                <a:solidFill>
                  <a:srgbClr val="6A60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DBCA"/>
              </a:solidFill>
            </a:ln>
          </c:spPr>
        </c:majorGridlines>
        <c:numFmt formatCode="&quot;$&quot;#,##0,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7F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B05B36"/>
              </a:solidFill>
            </c:spPr>
          </c:dPt>
          <c:dPt>
            <c:idx val="1"/>
            <c:spPr>
              <a:solidFill>
                <a:srgbClr val="D49A4E"/>
              </a:solidFill>
            </c:spPr>
          </c:dPt>
          <c:dPt>
            <c:idx val="2"/>
            <c:spPr>
              <a:solidFill>
                <a:srgbClr val="6E7355"/>
              </a:solidFill>
            </c:spPr>
          </c:dPt>
          <c:cat>
            <c:strRef>
              <c:f>Sheet1!$A$2:$A$4</c:f>
              <c:strCache>
                <c:ptCount val="3"/>
                <c:pt idx="0">
                  <c:v>Top 3</c:v>
                </c:pt>
                <c:pt idx="1">
                  <c:v>Next 3</c:v>
                </c:pt>
                <c:pt idx="2">
                  <c:v>Long tail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19</c:v>
                </c:pt>
                <c:pt idx="2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>
                  <a:solidFill>
                    <a:srgbClr val="28221D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DBCA"/>
            </a:solidFill>
          </a:ln>
        </c:spPr>
        <c:txPr>
          <a:bodyPr/>
          <a:lstStyle/>
          <a:p>
            <a:pPr>
              <a:defRPr sz="1000">
                <a:solidFill>
                  <a:srgbClr val="6A60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DBC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7F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3152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5039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Georgia"/>
              </a:rPr>
              <a:t>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76809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20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0241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8A7F70"/>
                </a:solidFill>
                <a:latin typeface="Calibri"/>
              </a:rPr>
              <a:t>Williamsburg, Brooklyn · Sole practice since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spc="300">
                <a:solidFill>
                  <a:srgbClr val="D49A4E"/>
                </a:solidFill>
                <a:latin typeface="Calibri"/>
              </a:rPr>
              <a:t>ANNUAL BUSINESS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07792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6000" b="1" i="0">
                <a:solidFill>
                  <a:srgbClr val="F4EEE3"/>
                </a:solidFill>
                <a:latin typeface="Georgia"/>
              </a:rPr>
              <a:t>2025 in 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0" i="1">
                <a:solidFill>
                  <a:srgbClr val="F1E8D9"/>
                </a:solidFill>
                <a:latin typeface="Georgia"/>
              </a:rPr>
              <a:t>&amp; the 2026 Growth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5074920"/>
            <a:ext cx="4754880" cy="0"/>
          </a:xfrm>
          <a:prstGeom prst="bentConnector3">
            <a:avLst/>
          </a:prstGeom>
          <a:ln w="12700">
            <a:solidFill>
              <a:srgbClr val="5A5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8A7F70"/>
                </a:solidFill>
                <a:latin typeface="Calibri"/>
              </a:rPr>
              <a:t>Prepared with </a:t>
            </a:r>
            <a:r>
              <a:rPr sz="1200" b="1" i="0">
                <a:solidFill>
                  <a:srgbClr val="F4EEE3"/>
                </a:solidFill>
                <a:latin typeface="Calibri"/>
              </a:rPr>
              <a:t>Ravi Krishnamurthy, CPA — Greenpoint Tax &amp; Advisory</a:t>
            </a:r>
            <a:r>
              <a:rPr sz="1200" b="0" i="0">
                <a:solidFill>
                  <a:srgbClr val="8A7F70"/>
                </a:solidFill>
                <a:latin typeface="Calibri"/>
              </a:rPr>
              <a:t>   ·   </a:t>
            </a:r>
            <a:r>
              <a:rPr sz="1200" b="1" i="0">
                <a:solidFill>
                  <a:srgbClr val="F4EEE3"/>
                </a:solidFill>
                <a:latin typeface="Calibri"/>
              </a:rPr>
              <a:t>Tomás Herrera,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8A7F70"/>
                </a:solidFill>
                <a:latin typeface="Calibri"/>
              </a:rPr>
              <a:t>Reporting period: Jan–Dec 2025  ·  Confidential — internal &amp; advisory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2025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82296" cy="1188720"/>
          </a:xfrm>
          <a:prstGeom prst="roundRect">
            <a:avLst>
              <a:gd name="adj" fmla="val 1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3736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05B36"/>
                </a:solidFill>
                <a:latin typeface="Georgia"/>
              </a:rPr>
              <a:t>$92.0K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GROSS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7744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+14% vs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8" y="1572768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0088" y="1572768"/>
            <a:ext cx="82296" cy="1188720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73736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$7.7K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28600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AVG. 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37744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range $4.1K–$12.2K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1572768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02936" y="1572768"/>
            <a:ext cx="82296" cy="1188720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968" y="173736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241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5" y="228600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POSTS PUBLISHED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5" y="237744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grid as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15783" y="1572768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15783" y="1572768"/>
            <a:ext cx="82296" cy="1188720"/>
          </a:xfrm>
          <a:prstGeom prst="roundRect">
            <a:avLst>
              <a:gd name="adj" fmla="val 10000"/>
            </a:avLst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5" y="173736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3E6A62"/>
                </a:solidFill>
                <a:latin typeface="Georgia"/>
              </a:rPr>
              <a:t>48.2K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228600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FOLLOWERS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37744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+7.0K over the year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28632" y="1572768"/>
            <a:ext cx="2057400" cy="11887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28632" y="1572768"/>
            <a:ext cx="82296" cy="1188720"/>
          </a:xfrm>
          <a:prstGeom prst="roundRect">
            <a:avLst>
              <a:gd name="adj" fmla="val 1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3" y="173736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7A4A52"/>
                </a:solidFill>
                <a:latin typeface="Georgia"/>
              </a:rPr>
              <a:t>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228600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CLIENT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377440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of 2024 roster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200400"/>
            <a:ext cx="6583680" cy="29260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340156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40">
                <a:solidFill>
                  <a:srgbClr val="B05B36"/>
                </a:solidFill>
                <a:latin typeface="Calibri"/>
              </a:rPr>
              <a:t>THE YEAR IN ONE PARAGRAPH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79476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50" b="1" i="0">
                <a:solidFill>
                  <a:srgbClr val="28221D"/>
                </a:solidFill>
                <a:latin typeface="Calibri"/>
              </a:rPr>
              <a:t>2025 was the year the practice found its floor. </a:t>
            </a:r>
            <a:r>
              <a:rPr sz="1350" b="0" i="0">
                <a:solidFill>
                  <a:srgbClr val="28221D"/>
                </a:solidFill>
                <a:latin typeface="Calibri"/>
              </a:rPr>
              <a:t>The Oatly retainer turned a chunk of income recurring, the first full cookbook (Costa) landed a $12K project, and the productized 25-shot restaurant package kept the calendar full between editorial features. Revenue grew 14% to $92K against a backdrop of variable months — the recurring July soft patch remains the one structural weak spot heading into 2026.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200400"/>
            <a:ext cx="3749039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3200400"/>
            <a:ext cx="82296" cy="914400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1271" y="3364992"/>
            <a:ext cx="33832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$22.0K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913632"/>
            <a:ext cx="3337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QUARTERLY TAXES PAID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730752"/>
            <a:ext cx="3337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~$5.5K × 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4206240"/>
            <a:ext cx="3749039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35240" y="4206240"/>
            <a:ext cx="82296" cy="914400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1" y="4370831"/>
            <a:ext cx="33832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$18.0K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4919472"/>
            <a:ext cx="3337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RECURRING (OATLY)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736592"/>
            <a:ext cx="3337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20% of gross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5212079"/>
            <a:ext cx="3749039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35240" y="5212079"/>
            <a:ext cx="82296" cy="914400"/>
          </a:xfrm>
          <a:prstGeom prst="roundRect">
            <a:avLst>
              <a:gd name="adj" fmla="val 10000"/>
            </a:avLst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91271" y="5376671"/>
            <a:ext cx="33832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3E6A62"/>
                </a:solidFill>
                <a:latin typeface="Georgia"/>
              </a:rPr>
              <a:t>$1.84K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5925312"/>
            <a:ext cx="3337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PRINT INCOME (ETSY)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5742431"/>
            <a:ext cx="3337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passive, +22%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Figures from QuickBooks &amp; Stripe, reconciled with Ravi for filing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Where the $92K came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468880"/>
          <a:ext cx="40233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83080" y="3977639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1" i="0">
                <a:solidFill>
                  <a:srgbClr val="28221D"/>
                </a:solidFill>
                <a:latin typeface="Georgia"/>
              </a:rPr>
              <a:t>$92K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2025 gross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77063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2" y="27249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8221D"/>
                </a:solidFill>
                <a:latin typeface="Calibri"/>
              </a:rPr>
              <a:t>Editorial — magazines &amp; journals  </a:t>
            </a:r>
            <a:r>
              <a:rPr sz="1250" b="1" i="0">
                <a:solidFill>
                  <a:srgbClr val="B05B36"/>
                </a:solidFill>
                <a:latin typeface="Calibri"/>
              </a:rPr>
              <a:t>$30.0K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22783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31821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8221D"/>
                </a:solidFill>
                <a:latin typeface="Calibri"/>
              </a:rPr>
              <a:t>Restaurant — menu packages  </a:t>
            </a:r>
            <a:r>
              <a:rPr sz="1250" b="1" i="0">
                <a:solidFill>
                  <a:srgbClr val="6E7355"/>
                </a:solidFill>
                <a:latin typeface="Calibri"/>
              </a:rPr>
              <a:t>$28.0K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68503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36393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8221D"/>
                </a:solidFill>
                <a:latin typeface="Calibri"/>
              </a:rPr>
              <a:t>Brand — Oatly, Kikkoman, DTC  </a:t>
            </a:r>
            <a:r>
              <a:rPr sz="1250" b="1" i="0">
                <a:solidFill>
                  <a:srgbClr val="D49A4E"/>
                </a:solidFill>
                <a:latin typeface="Calibri"/>
              </a:rPr>
              <a:t>$22.0K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414223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40965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8221D"/>
                </a:solidFill>
                <a:latin typeface="Calibri"/>
              </a:rPr>
              <a:t>Cookbook — Costa, Estrela  </a:t>
            </a:r>
            <a:r>
              <a:rPr sz="1250" b="1" i="0">
                <a:solidFill>
                  <a:srgbClr val="7A4A52"/>
                </a:solidFill>
                <a:latin typeface="Calibri"/>
              </a:rPr>
              <a:t>$10.2K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459943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45537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8221D"/>
                </a:solidFill>
                <a:latin typeface="Calibri"/>
              </a:rPr>
              <a:t>Prints — Etsy &amp; Amazon  </a:t>
            </a:r>
            <a:r>
              <a:rPr sz="1250" b="1" i="0">
                <a:solidFill>
                  <a:srgbClr val="3E6A62"/>
                </a:solidFill>
                <a:latin typeface="Calibri"/>
              </a:rPr>
              <a:t>$1.8K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5349240"/>
            <a:ext cx="6309360" cy="822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5486400"/>
            <a:ext cx="5943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B05B36"/>
                </a:solidFill>
                <a:latin typeface="Calibri"/>
              </a:rPr>
              <a:t>Read: </a:t>
            </a:r>
            <a:r>
              <a:rPr sz="1200" b="0" i="0">
                <a:solidFill>
                  <a:srgbClr val="28221D"/>
                </a:solidFill>
                <a:latin typeface="Calibri"/>
              </a:rPr>
              <a:t>editorial and restaurant still carry the business (63%). Brand is the fastest-growing slice — and the most defensible, because it recurs.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Share of 2025 gross revenue by client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The shape of a freelance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423160"/>
          <a:ext cx="78638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20">
                <a:solidFill>
                  <a:srgbClr val="B05B36"/>
                </a:solidFill>
                <a:latin typeface="Calibri"/>
              </a:rPr>
              <a:t>MONTHLY GROSS REVENUE —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423160"/>
            <a:ext cx="2651760" cy="102412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2423160"/>
            <a:ext cx="82296" cy="1024128"/>
          </a:xfrm>
          <a:prstGeom prst="roundRect">
            <a:avLst>
              <a:gd name="adj" fmla="val 1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25877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7A4A52"/>
                </a:solidFill>
                <a:latin typeface="Georgia"/>
              </a:rPr>
              <a:t>$4.1K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136391"/>
            <a:ext cx="22402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LEANEST MONTH — 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063240"/>
            <a:ext cx="22402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gap between editorial &amp; cookbook invoices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538728"/>
            <a:ext cx="2651760" cy="102412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20" y="3538728"/>
            <a:ext cx="82296" cy="1024128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370332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$12.2K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251960"/>
            <a:ext cx="22402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STRONGEST —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178808"/>
            <a:ext cx="22402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holiday content + brand campaigns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654296"/>
            <a:ext cx="2651760" cy="102412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32520" y="4654296"/>
            <a:ext cx="82296" cy="1024128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4818888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3.0×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5367528"/>
            <a:ext cx="22402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PEAK-TO-TROUGH SWING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5294376"/>
            <a:ext cx="22402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the core planning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B05B36"/>
                </a:solidFill>
                <a:latin typeface="Calibri"/>
              </a:rPr>
              <a:t>Pattern: </a:t>
            </a:r>
            <a:r>
              <a:rPr sz="1200" b="0" i="0">
                <a:solidFill>
                  <a:srgbClr val="28221D"/>
                </a:solidFill>
                <a:latin typeface="Calibri"/>
              </a:rPr>
              <a:t>Q4 (Oct–Dec) delivers 36% of annual revenue; the Mar–May spring menu season is the second peak. July and February are the reliable troughs to reserve against.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Seasonality drives the 2026 cash-reserve recommendation (slide 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Who the year was built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77440"/>
          <a:ext cx="6903720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783080"/>
                <a:gridCol w="1097280"/>
                <a:gridCol w="731520"/>
                <a:gridCol w="14630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Client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Billings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Oatly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Brand retainer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$18,000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Estrela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Restaurant + book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$16,200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Costa Cookbooks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Cookbook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$12,000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New 2025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Tangerine Mag.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Editorial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$11,400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Kikkoman USA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Brand seasonal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$6,200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All other (15)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$28,200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09560" y="237744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5786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20">
                <a:solidFill>
                  <a:srgbClr val="B05B36"/>
                </a:solidFill>
                <a:latin typeface="Calibri"/>
              </a:rPr>
              <a:t>CONCENTRATION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260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 i="0">
                <a:solidFill>
                  <a:srgbClr val="B05B36"/>
                </a:solidFill>
                <a:latin typeface="Georgia"/>
              </a:rPr>
              <a:t>51%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A6055"/>
                </a:solidFill>
                <a:latin typeface="Calibri"/>
              </a:rPr>
              <a:t>of revenue from the top 3 clients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01000" y="4023360"/>
          <a:ext cx="329184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Diversification is the central 2026 risk 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HONEST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What worked · what to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505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spc="100">
                <a:solidFill>
                  <a:srgbClr val="FFFFFF"/>
                </a:solidFill>
                <a:latin typeface="Calibri"/>
              </a:rPr>
              <a:t>✓  WHAT WORKED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1272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063240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Oatly retainer stabilized cash 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20% of gross is now recurring and predictable.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86791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803904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First cookbook landed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Costa's $12K project opened a new, higher-ticket lane.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6085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544568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Menu package productized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The 25-shot half-day sells itself; fast to quote and shoot.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3492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285232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Engagement outran follower growth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6.1% rate keeps the inbound client funnel full.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37744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2377440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505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spc="100">
                <a:solidFill>
                  <a:srgbClr val="FFFFFF"/>
                </a:solidFill>
                <a:latin typeface="Calibri"/>
              </a:rPr>
              <a:t>△  WHAT TO FIX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2724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063240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Client concentration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Top 3 clients = 51% of revenue; one loss would sting.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6791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803904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Editorial rates lag the market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Day rate held flat while costs rose ~6%.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6085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544568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July cash-flow gap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The recurring soft month still leans on the emergency fund.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3492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285232"/>
            <a:ext cx="44805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Print income under-built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$1.8K from a storefront that could do 3–4×.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Strategy on the next slides flows directly from this 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D49A4E"/>
                </a:solidFill>
                <a:latin typeface="Calibri"/>
              </a:rPr>
              <a:t>THE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F4EEE3"/>
                </a:solidFill>
                <a:latin typeface="Georgia"/>
              </a:rPr>
              <a:t>2026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D49A4E"/>
                </a:solidFill>
                <a:latin typeface="Georgia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727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572768"/>
            <a:ext cx="82296" cy="1371600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373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$110K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2860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F4EEE3"/>
                </a:solidFill>
                <a:latin typeface="Calibri"/>
              </a:rPr>
              <a:t>GROSS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6032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+20% over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5727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572768"/>
            <a:ext cx="82296" cy="1371600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7373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F4EEE3"/>
                </a:solidFill>
                <a:latin typeface="Calibri"/>
              </a:rPr>
              <a:t>RECURRING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6032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up from 20%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5727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1572768"/>
            <a:ext cx="82296" cy="1371600"/>
          </a:xfrm>
          <a:prstGeom prst="roundRect">
            <a:avLst>
              <a:gd name="adj" fmla="val 1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7373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05B36"/>
                </a:solidFill>
                <a:latin typeface="Georgia"/>
              </a:rPr>
              <a:t>$2,200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860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F4EEE3"/>
                </a:solidFill>
                <a:latin typeface="Calibri"/>
              </a:rPr>
              <a:t>EDITORIAL DAY-RATE FLOOR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6032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repriced from $1,800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1729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172968"/>
            <a:ext cx="82296" cy="1371600"/>
          </a:xfrm>
          <a:prstGeom prst="roundRect">
            <a:avLst>
              <a:gd name="adj" fmla="val 10000"/>
            </a:avLst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3337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3E6A62"/>
                </a:solidFill>
                <a:latin typeface="Georgia"/>
              </a:rPr>
              <a:t>$8,000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8862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F4EEE3"/>
                </a:solidFill>
                <a:latin typeface="Calibri"/>
              </a:rPr>
              <a:t>SEP-IRA CONTRIBUTION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16052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retirement on track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1729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0" y="3172968"/>
            <a:ext cx="82296" cy="1371600"/>
          </a:xfrm>
          <a:prstGeom prst="roundRect">
            <a:avLst>
              <a:gd name="adj" fmla="val 1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3337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7A4A52"/>
                </a:solidFill>
                <a:latin typeface="Georgia"/>
              </a:rPr>
              <a:t>60K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8862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F4EEE3"/>
                </a:solidFill>
                <a:latin typeface="Calibri"/>
              </a:rPr>
              <a:t>FOLLOWERS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16052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grow the inbound funnel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1729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01000" y="3172968"/>
            <a:ext cx="82296" cy="1371600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3337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3 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88620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F4EEE3"/>
                </a:solidFill>
                <a:latin typeface="Calibri"/>
              </a:rPr>
              <a:t>EXPENSE RESERVE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160520"/>
            <a:ext cx="2971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F1E8D9"/>
                </a:solidFill>
                <a:latin typeface="Calibri"/>
              </a:rPr>
              <a:t>$14K buffer for lean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Targets agreed with Ravi for the 2026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HOW WE GET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Four strategy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2514600" cy="370332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2514600" cy="128016"/>
          </a:xfrm>
          <a:prstGeom prst="roundRect">
            <a:avLst>
              <a:gd name="adj" fmla="val 7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697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3832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28221D"/>
                </a:solidFill>
                <a:latin typeface="Georgia"/>
              </a:rPr>
              <a:t>Lock in recurring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069080"/>
            <a:ext cx="2011681" cy="0"/>
          </a:xfrm>
          <a:prstGeom prst="bentConnector3">
            <a:avLst/>
          </a:prstGeom>
          <a:ln w="1270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3271" y="4206240"/>
            <a:ext cx="2057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Convert Oatly to the Signature tier and sign one additional brand retainer. Goal: 35% recurring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377440"/>
            <a:ext cx="2514600" cy="370332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2377440"/>
            <a:ext cx="2514600" cy="128016"/>
          </a:xfrm>
          <a:prstGeom prst="roundRect">
            <a:avLst>
              <a:gd name="adj" fmla="val 7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697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05B36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3832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28221D"/>
                </a:solidFill>
                <a:latin typeface="Georgia"/>
              </a:rPr>
              <a:t>Raise the floor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0752" y="4069080"/>
            <a:ext cx="2011680" cy="0"/>
          </a:xfrm>
          <a:prstGeom prst="bentConnector3">
            <a:avLst/>
          </a:prstGeom>
          <a:ln w="1270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30752" y="4206240"/>
            <a:ext cx="2057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Reprice editorial to a $2,200/day floor and lean on Tomás for higher-tier placements.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377440"/>
            <a:ext cx="2514600" cy="370332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2377440"/>
            <a:ext cx="2514600" cy="128016"/>
          </a:xfrm>
          <a:prstGeom prst="roundRect">
            <a:avLst>
              <a:gd name="adj" fmla="val 7000"/>
            </a:avLst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697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3E6A62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3832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28221D"/>
                </a:solidFill>
                <a:latin typeface="Georgia"/>
              </a:rPr>
              <a:t>Build passive income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28232" y="4069080"/>
            <a:ext cx="2011680" cy="0"/>
          </a:xfrm>
          <a:prstGeom prst="bentConnector3">
            <a:avLst/>
          </a:prstGeom>
          <a:ln w="1270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28232" y="4206240"/>
            <a:ext cx="2057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Refresh the Etsy &amp; Amazon print storefronts; add Night Markets prints. Target $6K/yr.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2377440"/>
            <a:ext cx="2514600" cy="3703320"/>
          </a:xfrm>
          <a:prstGeom prst="roundRect">
            <a:avLst>
              <a:gd name="adj" fmla="val 7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0" y="2377440"/>
            <a:ext cx="2514600" cy="128016"/>
          </a:xfrm>
          <a:prstGeom prst="roundRect">
            <a:avLst>
              <a:gd name="adj" fmla="val 7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6974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7A4A52"/>
                </a:solidFill>
                <a:latin typeface="Georgi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33832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28221D"/>
                </a:solidFill>
                <a:latin typeface="Georgia"/>
              </a:rPr>
              <a:t>Launch a signature project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25712" y="4069080"/>
            <a:ext cx="2011680" cy="0"/>
          </a:xfrm>
          <a:prstGeom prst="bentConnector3">
            <a:avLst/>
          </a:prstGeom>
          <a:ln w="1270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25712" y="4206240"/>
            <a:ext cx="2057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0" i="0">
                <a:solidFill>
                  <a:srgbClr val="6A6055"/>
                </a:solidFill>
                <a:latin typeface="Calibri"/>
              </a:rPr>
              <a:t>Shoot &amp; pitch “Night Markets of NYC” — portfolio gravity plus a new editorial title.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Each pillar maps to a quarter on the next slide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2026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19" y="2834639"/>
            <a:ext cx="10789921" cy="0"/>
          </a:xfrm>
          <a:prstGeom prst="bentConnector3">
            <a:avLst/>
          </a:prstGeom>
          <a:ln w="2794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01952" y="2724911"/>
            <a:ext cx="219456" cy="219456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B05B36"/>
                </a:solidFill>
                <a:latin typeface="Calibri"/>
              </a:rPr>
              <a:t>Q1 · JAN–MAR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Reprice &amp; renew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New rate card live. Oatly Signature renewal. Tax: Mar 15.</a:t>
            </a:r>
          </a:p>
        </p:txBody>
      </p:sp>
      <p:sp>
        <p:nvSpPr>
          <p:cNvPr id="14" name="Oval 13"/>
          <p:cNvSpPr/>
          <p:nvPr/>
        </p:nvSpPr>
        <p:spPr>
          <a:xfrm>
            <a:off x="4645152" y="2724911"/>
            <a:ext cx="219456" cy="219456"/>
          </a:xfrm>
          <a:prstGeom prst="ellipse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D49A4E"/>
                </a:solidFill>
                <a:latin typeface="Calibri"/>
              </a:rPr>
              <a:t>Q2 · APR–JUN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Diversify 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Sign 2nd retainer. Print storefront refresh. Tax: Jun 15.</a:t>
            </a:r>
          </a:p>
        </p:txBody>
      </p:sp>
      <p:sp>
        <p:nvSpPr>
          <p:cNvPr id="19" name="Oval 18"/>
          <p:cNvSpPr/>
          <p:nvPr/>
        </p:nvSpPr>
        <p:spPr>
          <a:xfrm>
            <a:off x="7388352" y="2724911"/>
            <a:ext cx="219456" cy="219456"/>
          </a:xfrm>
          <a:prstGeom prst="ellipse">
            <a:avLst/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6E7355"/>
                </a:solidFill>
                <a:latin typeface="Calibri"/>
              </a:rPr>
              <a:t>Q3 · JUL–SEP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3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Signature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3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Shoot Night Markets; pitch Edgewater. Reserve covers July. Tax: Sep 15.</a:t>
            </a:r>
          </a:p>
        </p:txBody>
      </p:sp>
      <p:sp>
        <p:nvSpPr>
          <p:cNvPr id="24" name="Oval 23"/>
          <p:cNvSpPr/>
          <p:nvPr/>
        </p:nvSpPr>
        <p:spPr>
          <a:xfrm>
            <a:off x="10131552" y="2724911"/>
            <a:ext cx="219456" cy="219456"/>
          </a:xfrm>
          <a:prstGeom prst="ellipse">
            <a:avLst/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19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3E6A62"/>
                </a:solidFill>
                <a:latin typeface="Calibri"/>
              </a:rPr>
              <a:t>Q4 · OCT–DEC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7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Harvest &amp; fund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Holiday content peak. Top up SEP-IRA. Tax: Dec 15.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4632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029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40">
                <a:solidFill>
                  <a:srgbClr val="B05B36"/>
                </a:solidFill>
                <a:latin typeface="Calibri"/>
              </a:rPr>
              <a:t>CADENCE GUARDRAILS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6A6055"/>
                </a:solidFill>
                <a:latin typeface="Calibri"/>
              </a:rPr>
              <a:t>Invoice batch goes out the 1st of every month. 25% of each payment auto-sweeps to the tax HYSA. Quarterly estimate confirmed with Ravi 72 hours before each due date. Shoot days stay protected — admin is batched to mornings.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Operating rhythm carried forward from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Risks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spc="140">
                <a:solidFill>
                  <a:srgbClr val="7A4A52"/>
                </a:solidFill>
                <a:latin typeface="Calibri"/>
              </a:rPr>
              <a:t>KEY 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61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84632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Client concentration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Top 3 = 51% of revenue; cap any single client at &lt;25%.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204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56432"/>
            <a:ext cx="484632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Cash-flow variability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3× peak-to-trough swing; July remains exposed.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793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15384"/>
            <a:ext cx="484632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Rate stagnation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Flat pricing erodes margin against ~6% cost growth.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383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974336"/>
            <a:ext cx="484632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Single-operator ceiling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Capacity caps revenue near ~$120K without help on 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19456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0760" y="219456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26771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spc="100">
                <a:solidFill>
                  <a:srgbClr val="FFFFFF"/>
                </a:solidFill>
                <a:latin typeface="Calibri"/>
              </a:rPr>
              <a:t>✓ 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94436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880360"/>
            <a:ext cx="457200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Hold a 3-month reserve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Build the emergency fund $11.5K → $14K to absorb lean months.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7033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639312"/>
            <a:ext cx="457200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Auto-sweep taxes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Move 25% of every invoice to the tax HYSA on receipt.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4622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398264"/>
            <a:ext cx="457200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Reprice &amp; diversify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$2,200 editorial floor; add one retainer + one new title.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52212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157216"/>
            <a:ext cx="4572000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Grow passive income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Scale prints to $6K; bank Q4 surplus into the SEP-IRA.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Reviewed with Ravi Krishnamurthy, CPA · Greenpoint Tax &amp; Advisory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