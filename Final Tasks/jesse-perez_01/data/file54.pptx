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>
                <a:solidFill>
                  <a:srgbClr val="F2EDE4"/>
                </a:solidFill>
              </a:rPr>
              <a:t>Condition Tiers - 22 Samplers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Objects</c:v>
                </c:pt>
              </c:strCache>
            </c:strRef>
          </c:tx>
          <c:spPr>
            <a:solidFill>
              <a:srgbClr val="8B5E3C"/>
            </a:solidFill>
          </c:spPr>
          <c:cat>
            <c:strRef>
              <c:f>Sheet1!$A$2:$A$4</c:f>
              <c:strCache>
                <c:ptCount val="3"/>
                <c:pt idx="0">
                  <c:v>Tier A
(Urgent)</c:v>
                </c:pt>
                <c:pt idx="1">
                  <c:v>Tier B
(Priority)</c:v>
                </c:pt>
                <c:pt idx="2">
                  <c:v>Tier C
(Stable)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10</c:v>
                </c:pt>
                <c:pt idx="2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B0A49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B0A49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>
                <a:solidFill>
                  <a:srgbClr val="F2EDE4"/>
                </a:solidFill>
              </a:rPr>
              <a:t>Damage Events vs. Interventions per Year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damage events</c:v>
                </c:pt>
              </c:strCache>
            </c:strRef>
          </c:tx>
          <c:spPr>
            <a:ln w="25400">
              <a:solidFill>
                <a:srgbClr val="C9A87C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0</c:v>
                </c:pt>
                <c:pt idx="4">
                  <c:v>1</c:v>
                </c:pt>
                <c:pt idx="5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Proactive interventions</c:v>
                </c:pt>
              </c:strCache>
            </c:strRef>
          </c:tx>
          <c:spPr>
            <a:ln w="25400">
              <a:solidFill>
                <a:srgbClr val="8B5E3C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B0A498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B0A498"/>
                </a:solidFill>
              </a:defRPr>
            </a:pPr>
          </a:p>
        </c:txPr>
        <c:crossAx val="2118791784"/>
        <c:crosses val="autoZero"/>
      </c:valAx>
    </c:plotArea>
    <c:legend>
      <c:legendPos val="r"/>
      <c:layout/>
      <c:overlay val="0"/>
      <c:txPr>
        <a:bodyPr/>
        <a:lstStyle/>
        <a:p>
          <a:pPr>
            <a:defRPr sz="900">
              <a:solidFill>
                <a:srgbClr val="B0A498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6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4114800" cy="6858000"/>
          </a:xfrm>
          <a:prstGeom prst="rect">
            <a:avLst/>
          </a:prstGeom>
          <a:solidFill>
            <a:srgbClr val="2D2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1371600"/>
            <a:ext cx="3474720" cy="36576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" y="1463040"/>
            <a:ext cx="3474720" cy="36576"/>
          </a:xfrm>
          <a:prstGeom prst="rect">
            <a:avLst/>
          </a:prstGeom>
          <a:solidFill>
            <a:srgbClr val="C9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548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A498"/>
                </a:solidFill>
              </a:rPr>
              <a:t>AMERICAN INSTITUTE FOR CONSERVATION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868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A87C"/>
                </a:solidFill>
              </a:rPr>
              <a:t>Annual Meeting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143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A498"/>
                </a:solidFill>
              </a:rPr>
              <a:t>Salt Lake City, Utah  -  November 12,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60020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2EDE4"/>
                </a:solidFill>
              </a:rPr>
              <a:t>REVERSIBLE MOUNTING
TECHNIQUES FOR
HISTORIC TEXTILES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3375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9A87C"/>
                </a:solidFill>
              </a:rPr>
              <a:t>A Practical Framework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749039"/>
            <a:ext cx="1645920" cy="4572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3840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EDE4"/>
                </a:solidFill>
              </a:rPr>
              <a:t>Jesse Perez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160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A498"/>
                </a:solidFill>
              </a:rPr>
              <a:t>Perez Textile Conservation
Jamaica Plain, Boston, 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0" i="0">
                <a:solidFill>
                  <a:srgbClr val="3A2A1C"/>
                </a:solidFill>
              </a:rPr>
              <a:t>MOUNTING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6517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0" i="0">
                <a:solidFill>
                  <a:srgbClr val="4A3522"/>
                </a:solidFill>
              </a:rPr>
              <a:t>TECHNIQUES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5486400"/>
            <a:ext cx="1737360" cy="1005840"/>
          </a:xfrm>
          <a:prstGeom prst="rect">
            <a:avLst/>
          </a:prstGeom>
          <a:solidFill>
            <a:srgbClr val="2D2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555955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87C"/>
                </a:solidFill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60350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A498"/>
                </a:solidFill>
              </a:rPr>
              <a:t>Case Studies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5486400"/>
            <a:ext cx="1737360" cy="1005840"/>
          </a:xfrm>
          <a:prstGeom prst="rect">
            <a:avLst/>
          </a:prstGeom>
          <a:solidFill>
            <a:srgbClr val="2D2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555955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87C"/>
                </a:solidFill>
              </a:rPr>
              <a:t>14+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60350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A498"/>
                </a:solidFill>
              </a:rPr>
              <a:t>Institutions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5486400"/>
            <a:ext cx="1737360" cy="1005840"/>
          </a:xfrm>
          <a:prstGeom prst="rect">
            <a:avLst/>
          </a:prstGeom>
          <a:solidFill>
            <a:srgbClr val="2D2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555955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87C"/>
                </a:solidFill>
              </a:rPr>
              <a:t>2020-26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60350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A498"/>
                </a:solidFill>
              </a:rPr>
              <a:t>Practice Years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241280" y="5486400"/>
            <a:ext cx="1737360" cy="1005840"/>
          </a:xfrm>
          <a:prstGeom prst="rect">
            <a:avLst/>
          </a:prstGeom>
          <a:solidFill>
            <a:srgbClr val="2D2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78440" y="555955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87C"/>
                </a:solidFill>
              </a:rPr>
              <a:t>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78440" y="60350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A498"/>
                </a:solidFill>
              </a:rPr>
              <a:t>Objects Active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6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2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A498"/>
                </a:solidFill>
              </a:rPr>
              <a:t>Jesse Perez  |  Perez Textile Conservation  |  Jamaica Plain, Boston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A87C"/>
                </a:solidFill>
              </a:rPr>
              <a:t>THE CORE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2EDE4"/>
                </a:solidFill>
              </a:rPr>
              <a:t>Why Mounting Matters as Much as Treatment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73152" cy="64008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2EDE4"/>
                </a:solidFill>
              </a:rPr>
              <a:t>Long-term stability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498"/>
                </a:solidFill>
              </a:rPr>
              <a:t>A mounted textile is under constant, low-level mechanical stress. Poor mount design causes more damage over decades than most treatments.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34640"/>
            <a:ext cx="73152" cy="64008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8346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2EDE4"/>
                </a:solidFill>
              </a:rPr>
              <a:t>Reversibility imperative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2724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498"/>
                </a:solidFill>
              </a:rPr>
              <a:t>Every mounting decision must be undoable by a future conservator without damaging the object. Adhesives, fasteners, and substrates that trap are failures.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49039"/>
            <a:ext cx="73152" cy="64008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4903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2EDE4"/>
                </a:solidFill>
              </a:rPr>
              <a:t>Exhibition vs. storage tension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4164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498"/>
                </a:solidFill>
              </a:rPr>
              <a:t>Exhibition mounts optimize for visibility. Storage mounts optimize for minimal contact and environmental stability. They often conflict.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1737360"/>
            <a:ext cx="4023360" cy="2560320"/>
          </a:xfrm>
          <a:prstGeom prst="rect">
            <a:avLst/>
          </a:prstGeom>
          <a:solidFill>
            <a:srgbClr val="2D2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1737360"/>
            <a:ext cx="73152" cy="2560320"/>
          </a:xfrm>
          <a:prstGeom prst="rect">
            <a:avLst/>
          </a:prstGeom>
          <a:solidFill>
            <a:srgbClr val="B08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17830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8840"/>
                </a:solidFill>
              </a:rPr>
              <a:t>Field Observation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21031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2EDE4"/>
                </a:solidFill>
              </a:rPr>
              <a:t>"Of the condition failures I have
examined on acquisition, roughly
half trace to mounting decisions
made at installation, not treatment
failures in the object itself."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6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2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A498"/>
                </a:solidFill>
              </a:rPr>
              <a:t>Jesse Perez  |  Perez Textile Conservation  |  Jamaica Plain, Boston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A87C"/>
                </a:solidFill>
              </a:rPr>
              <a:t>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2EDE4"/>
                </a:solidFill>
              </a:rPr>
              <a:t>A Four-Principle Mounting Framework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783080"/>
            <a:ext cx="5486400" cy="2103120"/>
          </a:xfrm>
          <a:prstGeom prst="rect">
            <a:avLst/>
          </a:prstGeom>
          <a:solidFill>
            <a:srgbClr val="2D2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783080"/>
            <a:ext cx="5486400" cy="54864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92807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B5E3C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9659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EDE4"/>
                </a:solidFill>
              </a:rPr>
              <a:t>No Adhesive to Object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04872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A498"/>
                </a:solidFill>
              </a:rPr>
              <a:t>The textile never touches an adhesive material. All attachment is mechanical - stitch-based, gravity-based, or clip-based using reversible, inert materials.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783080"/>
            <a:ext cx="5486400" cy="2103120"/>
          </a:xfrm>
          <a:prstGeom prst="rect">
            <a:avLst/>
          </a:prstGeom>
          <a:solidFill>
            <a:srgbClr val="2D2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83080"/>
            <a:ext cx="5486400" cy="54864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92807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B5E3C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59" y="19659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EDE4"/>
                </a:solidFill>
              </a:rPr>
              <a:t>Substrate Compatibility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04872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A498"/>
                </a:solidFill>
              </a:rPr>
              <a:t>Substrate materials (board, foam, fabric) must be pH-neutral, off-gassing tested, and dimensionally stable across the expected humidity range.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160520"/>
            <a:ext cx="5486400" cy="2103120"/>
          </a:xfrm>
          <a:prstGeom prst="rect">
            <a:avLst/>
          </a:prstGeom>
          <a:solidFill>
            <a:srgbClr val="2D2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4160520"/>
            <a:ext cx="5486400" cy="54864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27024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B5E3C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3434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EDE4"/>
                </a:solidFill>
              </a:rPr>
              <a:t>Weight Distribution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782312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A498"/>
                </a:solidFill>
              </a:rPr>
              <a:t>The mount distributes the object's weight across the maximum possible contact area. No point loading. No edge stress.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160520"/>
            <a:ext cx="5486400" cy="2103120"/>
          </a:xfrm>
          <a:prstGeom prst="rect">
            <a:avLst/>
          </a:prstGeom>
          <a:solidFill>
            <a:srgbClr val="2D2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4160520"/>
            <a:ext cx="5486400" cy="54864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024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B5E3C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59" y="43434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EDE4"/>
                </a:solidFill>
              </a:rPr>
              <a:t>Future Access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782312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A498"/>
                </a:solidFill>
              </a:rPr>
              <a:t>Any conservator must be able to remove the object from the mount in under 30 minutes without cutting, soaking, or mechanical force beyond hand pressure.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6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2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A498"/>
                </a:solidFill>
              </a:rPr>
              <a:t>Jesse Perez  |  Perez Textile Conservation  |  Jamaica Plain, Boston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A87C"/>
                </a:solidFill>
              </a:rPr>
              <a:t>MATERIAL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2EDE4"/>
                </a:solidFill>
              </a:rPr>
              <a:t>Approved Materials by Mounting Application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828800"/>
          <a:ext cx="113385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12"/>
                <a:gridCol w="2267712"/>
                <a:gridCol w="2267712"/>
                <a:gridCol w="2267712"/>
                <a:gridCol w="2267712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Material</a:t>
                      </a:r>
                    </a:p>
                  </a:txBody>
                  <a:tcPr>
                    <a:solidFill>
                      <a:srgbClr val="8B5E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Application</a:t>
                      </a:r>
                    </a:p>
                  </a:txBody>
                  <a:tcPr>
                    <a:solidFill>
                      <a:srgbClr val="8B5E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pH / Stability</a:t>
                      </a:r>
                    </a:p>
                  </a:txBody>
                  <a:tcPr>
                    <a:solidFill>
                      <a:srgbClr val="8B5E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Reversibility</a:t>
                      </a:r>
                    </a:p>
                  </a:txBody>
                  <a:tcPr>
                    <a:solidFill>
                      <a:srgbClr val="8B5E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8B5E3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Linen, washed &amp; aged</a:t>
                      </a:r>
                    </a:p>
                  </a:txBody>
                  <a:tcPr>
                    <a:solidFill>
                      <a:srgbClr val="1E161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Primary cover for substrate boards</a:t>
                      </a:r>
                    </a:p>
                  </a:txBody>
                  <a:tcPr>
                    <a:solidFill>
                      <a:srgbClr val="1E161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Neutral 7.0</a:t>
                      </a:r>
                    </a:p>
                  </a:txBody>
                  <a:tcPr>
                    <a:solidFill>
                      <a:srgbClr val="1E161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Full - unstitched</a:t>
                      </a:r>
                    </a:p>
                  </a:txBody>
                  <a:tcPr>
                    <a:solidFill>
                      <a:srgbClr val="1E161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Conservation supply</a:t>
                      </a:r>
                    </a:p>
                  </a:txBody>
                  <a:tcPr>
                    <a:solidFill>
                      <a:srgbClr val="1E161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Hollytex polyester 3256</a:t>
                      </a:r>
                    </a:p>
                  </a:txBody>
                  <a:tcPr>
                    <a:solidFill>
                      <a:srgbClr val="2D22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Interleaving layer; object face barrier</a:t>
                      </a:r>
                    </a:p>
                  </a:txBody>
                  <a:tcPr>
                    <a:solidFill>
                      <a:srgbClr val="2D22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Inert, pH neutral</a:t>
                      </a:r>
                    </a:p>
                  </a:txBody>
                  <a:tcPr>
                    <a:solidFill>
                      <a:srgbClr val="2D22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Full - peeled</a:t>
                      </a:r>
                    </a:p>
                  </a:txBody>
                  <a:tcPr>
                    <a:solidFill>
                      <a:srgbClr val="2D22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Conservation supply</a:t>
                      </a:r>
                    </a:p>
                  </a:txBody>
                  <a:tcPr>
                    <a:solidFill>
                      <a:srgbClr val="2D221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Dibond aluminum composite</a:t>
                      </a:r>
                    </a:p>
                  </a:txBody>
                  <a:tcPr>
                    <a:solidFill>
                      <a:srgbClr val="1E161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Exhibition backing panel</a:t>
                      </a:r>
                    </a:p>
                  </a:txBody>
                  <a:tcPr>
                    <a:solidFill>
                      <a:srgbClr val="1E161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pH neutral, stable</a:t>
                      </a:r>
                    </a:p>
                  </a:txBody>
                  <a:tcPr>
                    <a:solidFill>
                      <a:srgbClr val="1E161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Full - object unstitched</a:t>
                      </a:r>
                    </a:p>
                  </a:txBody>
                  <a:tcPr>
                    <a:solidFill>
                      <a:srgbClr val="1E161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Fabrication supplier</a:t>
                      </a:r>
                    </a:p>
                  </a:txBody>
                  <a:tcPr>
                    <a:solidFill>
                      <a:srgbClr val="1E161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Ethafoam 25mm</a:t>
                      </a:r>
                    </a:p>
                  </a:txBody>
                  <a:tcPr>
                    <a:solidFill>
                      <a:srgbClr val="2D22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Cushion layer for padded mounts</a:t>
                      </a:r>
                    </a:p>
                  </a:txBody>
                  <a:tcPr>
                    <a:solidFill>
                      <a:srgbClr val="2D22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Inert, no off-gas</a:t>
                      </a:r>
                    </a:p>
                  </a:txBody>
                  <a:tcPr>
                    <a:solidFill>
                      <a:srgbClr val="2D22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Full - cut away</a:t>
                      </a:r>
                    </a:p>
                  </a:txBody>
                  <a:tcPr>
                    <a:solidFill>
                      <a:srgbClr val="2D22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Conservation supply</a:t>
                      </a:r>
                    </a:p>
                  </a:txBody>
                  <a:tcPr>
                    <a:solidFill>
                      <a:srgbClr val="2D221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Paraloid B-72 in ethanol</a:t>
                      </a:r>
                    </a:p>
                  </a:txBody>
                  <a:tcPr>
                    <a:solidFill>
                      <a:srgbClr val="1E161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Local consolidant only, not adhesive to mount</a:t>
                      </a:r>
                    </a:p>
                  </a:txBody>
                  <a:tcPr>
                    <a:solidFill>
                      <a:srgbClr val="1E161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Stable, reversible</a:t>
                      </a:r>
                    </a:p>
                  </a:txBody>
                  <a:tcPr>
                    <a:solidFill>
                      <a:srgbClr val="1E161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Solvent reversible</a:t>
                      </a:r>
                    </a:p>
                  </a:txBody>
                  <a:tcPr>
                    <a:solidFill>
                      <a:srgbClr val="1E161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Lab supplier</a:t>
                      </a:r>
                    </a:p>
                  </a:txBody>
                  <a:tcPr>
                    <a:solidFill>
                      <a:srgbClr val="1E161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Stainless steel pins 0.3mm</a:t>
                      </a:r>
                    </a:p>
                  </a:txBody>
                  <a:tcPr>
                    <a:solidFill>
                      <a:srgbClr val="2D22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Temporary positioning only; removed pre-install</a:t>
                      </a:r>
                    </a:p>
                  </a:txBody>
                  <a:tcPr>
                    <a:solidFill>
                      <a:srgbClr val="2D22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Inert</a:t>
                      </a:r>
                    </a:p>
                  </a:txBody>
                  <a:tcPr>
                    <a:solidFill>
                      <a:srgbClr val="2D22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Full - hand removed</a:t>
                      </a:r>
                    </a:p>
                  </a:txBody>
                  <a:tcPr>
                    <a:solidFill>
                      <a:srgbClr val="2D22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Specialty supplier</a:t>
                      </a:r>
                    </a:p>
                  </a:txBody>
                  <a:tcPr>
                    <a:solidFill>
                      <a:srgbClr val="2D221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Cotton cord, undyed</a:t>
                      </a:r>
                    </a:p>
                  </a:txBody>
                  <a:tcPr>
                    <a:solidFill>
                      <a:srgbClr val="1E161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Stitch attachment in linen pocket method</a:t>
                      </a:r>
                    </a:p>
                  </a:txBody>
                  <a:tcPr>
                    <a:solidFill>
                      <a:srgbClr val="1E161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pH neutral, stable</a:t>
                      </a:r>
                    </a:p>
                  </a:txBody>
                  <a:tcPr>
                    <a:solidFill>
                      <a:srgbClr val="1E161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Full - cut away</a:t>
                      </a:r>
                    </a:p>
                  </a:txBody>
                  <a:tcPr>
                    <a:solidFill>
                      <a:srgbClr val="1E161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Conservation supply</a:t>
                      </a:r>
                    </a:p>
                  </a:txBody>
                  <a:tcPr>
                    <a:solidFill>
                      <a:srgbClr val="1E16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6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2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A498"/>
                </a:solidFill>
              </a:rPr>
              <a:t>Jesse Perez  |  Perez Textile Conservation  |  Jamaica Plain, Boston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A87C"/>
                </a:solidFill>
              </a:rPr>
              <a:t>CASE STUDY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2EDE4"/>
                </a:solidFill>
              </a:rPr>
              <a:t>Ottoman Embroidered Panels - Linen Pocket 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498"/>
                </a:solidFill>
              </a:rPr>
              <a:t>Six 17th-18th century panels for major Boston museum. Exhibition mount design for December 2026 opening.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E3C"/>
                </a:solidFill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A498"/>
                </a:solidFill>
              </a:rPr>
              <a:t>Dibond panel covered with washed linen, hand-stitched taut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34056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E3C"/>
                </a:solidFill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3405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A498"/>
                </a:solidFill>
              </a:rPr>
              <a:t>Hollytex interleaving layer stitched to linen surface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2783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E3C"/>
                </a:solidFill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278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A498"/>
                </a:solidFill>
              </a:rPr>
              <a:t>Ottoman panel laid face-up; position marked with conservation pencil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2160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E3C"/>
                </a:solidFill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216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A498"/>
                </a:solidFill>
              </a:rPr>
              <a:t>Linen pockets stitched around panel perimeter - no penetration of embroidery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1538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E3C"/>
                </a:solidFill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21538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A498"/>
                </a:solidFill>
              </a:rPr>
              <a:t>Cotton cord laced through pocket system to distribute tension evenly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091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E3C"/>
                </a:solidFill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709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A498"/>
                </a:solidFill>
              </a:rPr>
              <a:t>Panel weight: 0.8-1.4 kg. Board designed for 3x safety factor.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202936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E3C"/>
                </a:solidFill>
              </a:rPr>
              <a:t>7.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20293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A498"/>
                </a:solidFill>
              </a:rPr>
              <a:t>Full removal possible in under 20 minutes without tools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103120"/>
            <a:ext cx="5394960" cy="4114800"/>
          </a:xfrm>
          <a:prstGeom prst="rect">
            <a:avLst/>
          </a:prstGeom>
          <a:solidFill>
            <a:srgbClr val="2D2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2148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7C"/>
                </a:solidFill>
              </a:rPr>
              <a:t>Panel Specifications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5420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A498"/>
                </a:solidFill>
              </a:rPr>
              <a:t>Panel count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54203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EDE4"/>
                </a:solidFill>
              </a:rPr>
              <a:t>6 panels (PTC-2024-031)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9535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A498"/>
                </a:solidFill>
              </a:rPr>
              <a:t>Period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95351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EDE4"/>
                </a:solidFill>
              </a:rPr>
              <a:t>17th - 18th century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364991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A498"/>
                </a:solidFill>
              </a:rPr>
              <a:t>Dimensions range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3364991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EDE4"/>
                </a:solidFill>
              </a:rPr>
              <a:t>48x62 cm to 71x94 cm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7764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A498"/>
                </a:solidFill>
              </a:rPr>
              <a:t>Ground fabric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37764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EDE4"/>
                </a:solidFill>
              </a:rPr>
              <a:t>Linen tabby, z-spun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1879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A498"/>
                </a:solidFill>
              </a:rPr>
              <a:t>Embroidery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418795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EDE4"/>
                </a:solidFill>
              </a:rPr>
              <a:t>Silk + silver-gilt metallic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599431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A498"/>
                </a:solidFill>
              </a:rPr>
              <a:t>Substrate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4599431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EDE4"/>
                </a:solidFill>
              </a:rPr>
              <a:t>Dibond 3mm / linen cover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0109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A498"/>
                </a:solidFill>
              </a:rPr>
              <a:t>Pocket cord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501091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EDE4"/>
                </a:solidFill>
              </a:rPr>
              <a:t>Cotton, 26/2 nm, undyed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42239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A498"/>
                </a:solidFill>
              </a:rPr>
              <a:t>Inst. target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542239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EDE4"/>
                </a:solidFill>
              </a:rPr>
              <a:t>December 2026, MFA Boston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58338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A498"/>
                </a:solidFill>
              </a:rPr>
              <a:t>Conservator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58338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EDE4"/>
                </a:solidFill>
              </a:rPr>
              <a:t>Jesse Perez, PTC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6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2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A498"/>
                </a:solidFill>
              </a:rPr>
              <a:t>Jesse Perez  |  Perez Textile Conservation  |  Jamaica Plain, Boston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A87C"/>
                </a:solidFill>
              </a:rPr>
              <a:t>CASE STUDY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2EDE4"/>
                </a:solidFill>
              </a:rPr>
              <a:t>American Samplers - Mat Window 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498"/>
                </a:solidFill>
              </a:rPr>
              <a:t>22 samplers, 1750-1850 - Peabody Essex Museum. Conservation framing for long-term study access.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2194560"/>
          <a:ext cx="5029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035040" y="2103120"/>
            <a:ext cx="5760720" cy="4114800"/>
          </a:xfrm>
          <a:prstGeom prst="rect">
            <a:avLst/>
          </a:prstGeom>
          <a:solidFill>
            <a:srgbClr val="2D2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17627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7C"/>
                </a:solidFill>
              </a:rPr>
              <a:t>Mat Window Method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670048"/>
            <a:ext cx="73152" cy="237744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57860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A498"/>
                </a:solidFill>
              </a:rPr>
              <a:t>4-ply acid-free mat board, window cut to 8mm inside object edge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163824"/>
            <a:ext cx="73152" cy="237744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07238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A498"/>
                </a:solidFill>
              </a:rPr>
              <a:t>Hollytex barrier between object face and mat surface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657600"/>
            <a:ext cx="73152" cy="237744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5661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A498"/>
                </a:solidFill>
              </a:rPr>
              <a:t>Hinge attachment: Japanese tissue 9g/cm, wheat starch paste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4151375"/>
            <a:ext cx="73152" cy="237744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4059935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A498"/>
                </a:solidFill>
              </a:rPr>
              <a:t>Hinges attach to back mat only - object face untouched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645152"/>
            <a:ext cx="73152" cy="237744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55371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A498"/>
                </a:solidFill>
              </a:rPr>
              <a:t>Back board laced with archival cotton tape for lateral support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5138927"/>
            <a:ext cx="73152" cy="237744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4748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A498"/>
                </a:solidFill>
              </a:rPr>
              <a:t>Removable: hinges soluble in deionized water, &lt;15 min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5632704"/>
            <a:ext cx="73152" cy="237744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54126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A498"/>
                </a:solidFill>
              </a:rPr>
              <a:t>Storage orientation: horizontal, interleaved with Hollytex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6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2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A498"/>
                </a:solidFill>
              </a:rPr>
              <a:t>Jesse Perez  |  Perez Textile Conservation  |  Jamaica Plain, Boston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A87C"/>
                </a:solidFill>
              </a:rPr>
              <a:t>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2EDE4"/>
                </a:solidFill>
              </a:rPr>
              <a:t>Reversibility Performance by Method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828800"/>
          <a:ext cx="113385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  <a:gridCol w="1889760"/>
                <a:gridCol w="1889760"/>
                <a:gridCol w="1889760"/>
              </a:tblGrid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8B5E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Object Contact</a:t>
                      </a:r>
                    </a:p>
                  </a:txBody>
                  <a:tcPr>
                    <a:solidFill>
                      <a:srgbClr val="8B5E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Removal Time</a:t>
                      </a:r>
                    </a:p>
                  </a:txBody>
                  <a:tcPr>
                    <a:solidFill>
                      <a:srgbClr val="8B5E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Tool Required</a:t>
                      </a:r>
                    </a:p>
                  </a:txBody>
                  <a:tcPr>
                    <a:solidFill>
                      <a:srgbClr val="8B5E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Risk Level</a:t>
                      </a:r>
                    </a:p>
                  </a:txBody>
                  <a:tcPr>
                    <a:solidFill>
                      <a:srgbClr val="8B5E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Best For</a:t>
                      </a:r>
                    </a:p>
                  </a:txBody>
                  <a:tcPr>
                    <a:solidFill>
                      <a:srgbClr val="8B5E3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Linen Pocket</a:t>
                      </a:r>
                    </a:p>
                  </a:txBody>
                  <a:tcPr>
                    <a:solidFill>
                      <a:srgbClr val="1E161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None to object</a:t>
                      </a:r>
                    </a:p>
                  </a:txBody>
                  <a:tcPr>
                    <a:solidFill>
                      <a:srgbClr val="1E161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15-20 min</a:t>
                      </a:r>
                    </a:p>
                  </a:txBody>
                  <a:tcPr>
                    <a:solidFill>
                      <a:srgbClr val="1E161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Scissors only</a:t>
                      </a:r>
                    </a:p>
                  </a:txBody>
                  <a:tcPr>
                    <a:solidFill>
                      <a:srgbClr val="1E161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1E161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Heavy embroidery, panels</a:t>
                      </a:r>
                    </a:p>
                  </a:txBody>
                  <a:tcPr>
                    <a:solidFill>
                      <a:srgbClr val="1E1611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Mat Window + Hinge</a:t>
                      </a:r>
                    </a:p>
                  </a:txBody>
                  <a:tcPr>
                    <a:solidFill>
                      <a:srgbClr val="2D22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Minimal (verso edge)</a:t>
                      </a:r>
                    </a:p>
                  </a:txBody>
                  <a:tcPr>
                    <a:solidFill>
                      <a:srgbClr val="2D22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10-15 min</a:t>
                      </a:r>
                    </a:p>
                  </a:txBody>
                  <a:tcPr>
                    <a:solidFill>
                      <a:srgbClr val="2D22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Moisture, tweezers</a:t>
                      </a:r>
                    </a:p>
                  </a:txBody>
                  <a:tcPr>
                    <a:solidFill>
                      <a:srgbClr val="2D22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2D22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Samplers, flat works</a:t>
                      </a:r>
                    </a:p>
                  </a:txBody>
                  <a:tcPr>
                    <a:solidFill>
                      <a:srgbClr val="2D2217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Stitch-to-net</a:t>
                      </a:r>
                    </a:p>
                  </a:txBody>
                  <a:tcPr>
                    <a:solidFill>
                      <a:srgbClr val="1E161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Net overlies face</a:t>
                      </a:r>
                    </a:p>
                  </a:txBody>
                  <a:tcPr>
                    <a:solidFill>
                      <a:srgbClr val="1E161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20-30 min</a:t>
                      </a:r>
                    </a:p>
                  </a:txBody>
                  <a:tcPr>
                    <a:solidFill>
                      <a:srgbClr val="1E161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Scissors only</a:t>
                      </a:r>
                    </a:p>
                  </a:txBody>
                  <a:tcPr>
                    <a:solidFill>
                      <a:srgbClr val="1E161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Low-medium</a:t>
                      </a:r>
                    </a:p>
                  </a:txBody>
                  <a:tcPr>
                    <a:solidFill>
                      <a:srgbClr val="1E161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Fragile, open weave</a:t>
                      </a:r>
                    </a:p>
                  </a:txBody>
                  <a:tcPr>
                    <a:solidFill>
                      <a:srgbClr val="1E1611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Padded Ethafoam</a:t>
                      </a:r>
                    </a:p>
                  </a:txBody>
                  <a:tcPr>
                    <a:solidFill>
                      <a:srgbClr val="2D22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Foam face (Hollytex barrier)</a:t>
                      </a:r>
                    </a:p>
                  </a:txBody>
                  <a:tcPr>
                    <a:solidFill>
                      <a:srgbClr val="2D22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5-10 min</a:t>
                      </a:r>
                    </a:p>
                  </a:txBody>
                  <a:tcPr>
                    <a:solidFill>
                      <a:srgbClr val="2D22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rgbClr val="2D22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2D22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Storage, transit</a:t>
                      </a:r>
                    </a:p>
                  </a:txBody>
                  <a:tcPr>
                    <a:solidFill>
                      <a:srgbClr val="2D2217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Legacy: staple to board</a:t>
                      </a:r>
                    </a:p>
                  </a:txBody>
                  <a:tcPr>
                    <a:solidFill>
                      <a:srgbClr val="1E161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Direct penetration</a:t>
                      </a:r>
                    </a:p>
                  </a:txBody>
                  <a:tcPr>
                    <a:solidFill>
                      <a:srgbClr val="1E161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45+ min, destructive</a:t>
                      </a:r>
                    </a:p>
                  </a:txBody>
                  <a:tcPr>
                    <a:solidFill>
                      <a:srgbClr val="1E161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Pry bar, pliers</a:t>
                      </a:r>
                    </a:p>
                  </a:txBody>
                  <a:tcPr>
                    <a:solidFill>
                      <a:srgbClr val="1E161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1E161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NEVER use</a:t>
                      </a:r>
                    </a:p>
                  </a:txBody>
                  <a:tcPr>
                    <a:solidFill>
                      <a:srgbClr val="1E1611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Legacy: pressure adhesive</a:t>
                      </a:r>
                    </a:p>
                  </a:txBody>
                  <a:tcPr>
                    <a:solidFill>
                      <a:srgbClr val="2D22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Full face contact</a:t>
                      </a:r>
                    </a:p>
                  </a:txBody>
                  <a:tcPr>
                    <a:solidFill>
                      <a:srgbClr val="2D22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Hours, solvent risk</a:t>
                      </a:r>
                    </a:p>
                  </a:txBody>
                  <a:tcPr>
                    <a:solidFill>
                      <a:srgbClr val="2D22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Solvents, scalpel</a:t>
                      </a:r>
                    </a:p>
                  </a:txBody>
                  <a:tcPr>
                    <a:solidFill>
                      <a:srgbClr val="2D22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2D22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DE4"/>
                          </a:solidFill>
                        </a:rPr>
                        <a:t>NEVER use</a:t>
                      </a:r>
                    </a:p>
                  </a:txBody>
                  <a:tcPr>
                    <a:solidFill>
                      <a:srgbClr val="2D221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6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2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A498"/>
                </a:solidFill>
              </a:rPr>
              <a:t>Jesse Perez  |  Perez Textile Conservation  |  Jamaica Plain, Boston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A87C"/>
                </a:solidFill>
              </a:rPr>
              <a:t>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2EDE4"/>
                </a:solidFill>
              </a:rPr>
              <a:t>Long-Term Stability Tracking - 6 Year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498"/>
                </a:solidFill>
              </a:rPr>
              <a:t>Objects remounted 2020-2024 (n=34). Annual condition check by fiber survey and environmental log review.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219456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0" y="2194560"/>
            <a:ext cx="5486400" cy="868680"/>
          </a:xfrm>
          <a:prstGeom prst="rect">
            <a:avLst/>
          </a:prstGeom>
          <a:solidFill>
            <a:srgbClr val="2D2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240279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9A87C"/>
                </a:solidFill>
              </a:rPr>
              <a:t>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242316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498"/>
                </a:solidFill>
              </a:rPr>
              <a:t>Objects remounted since 2020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154680"/>
            <a:ext cx="5486400" cy="868680"/>
          </a:xfrm>
          <a:prstGeom prst="rect">
            <a:avLst/>
          </a:prstGeom>
          <a:solidFill>
            <a:srgbClr val="2D2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32004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9A87C"/>
                </a:solidFill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33832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498"/>
                </a:solidFill>
              </a:rPr>
              <a:t>Adhesive failures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4114800"/>
            <a:ext cx="5486400" cy="868680"/>
          </a:xfrm>
          <a:prstGeom prst="rect">
            <a:avLst/>
          </a:prstGeom>
          <a:solidFill>
            <a:srgbClr val="2D2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416052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9A87C"/>
                </a:solidFill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434340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498"/>
                </a:solidFill>
              </a:rPr>
              <a:t>Successful removals for treatment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5074920"/>
            <a:ext cx="5486400" cy="868680"/>
          </a:xfrm>
          <a:prstGeom prst="rect">
            <a:avLst/>
          </a:prstGeom>
          <a:solidFill>
            <a:srgbClr val="2D2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512064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9A87C"/>
                </a:solidFill>
              </a:rPr>
              <a:t>98%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53035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498"/>
                </a:solidFill>
              </a:rPr>
              <a:t>Annual condition checks stable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6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2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A498"/>
                </a:solidFill>
              </a:rPr>
              <a:t>Jesse Perez  |  Perez Textile Conservation  |  Jamaica Plain, Boston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A87C"/>
                </a:solidFill>
              </a:rPr>
              <a:t>CONCLUSIONS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2EDE4"/>
                </a:solidFill>
              </a:rPr>
              <a:t>Practical Takeaways for Textile Mount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8B5E3C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4708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EDE4"/>
                </a:solidFill>
              </a:rPr>
              <a:t>Never adhere to the object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1284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498"/>
                </a:solidFill>
              </a:rPr>
              <a:t>Stitch-based and pocket methods provide equal or better stability than adhesive, and maintain full reversibility for the next conservator.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34640"/>
            <a:ext cx="11274552" cy="18288"/>
          </a:xfrm>
          <a:prstGeom prst="rect">
            <a:avLst/>
          </a:prstGeom>
          <a:solidFill>
            <a:srgbClr val="403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97180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8B5E3C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99008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EDE4"/>
                </a:solidFill>
              </a:rPr>
              <a:t>Specify the removal scenario before installing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35584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498"/>
                </a:solidFill>
              </a:rPr>
              <a:t>A mount designed without a mental model of how it will be undone is a problem deferred, not a problem solved.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77639"/>
            <a:ext cx="11274552" cy="18288"/>
          </a:xfrm>
          <a:prstGeom prst="rect">
            <a:avLst/>
          </a:prstGeom>
          <a:solidFill>
            <a:srgbClr val="403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8B5E3C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133087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EDE4"/>
                </a:solidFill>
              </a:rPr>
              <a:t>Document the mount as carefully as the treatment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49884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498"/>
                </a:solidFill>
              </a:rPr>
              <a:t>The mount record must include materials, dimensions, contact points, and removal method. Future conservators need this.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120640"/>
            <a:ext cx="11274552" cy="18288"/>
          </a:xfrm>
          <a:prstGeom prst="rect">
            <a:avLst/>
          </a:prstGeom>
          <a:solidFill>
            <a:srgbClr val="403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25780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8B5E3C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27608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EDE4"/>
                </a:solidFill>
              </a:rPr>
              <a:t>Test substrate off-gassing before contact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64184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498"/>
                </a:solidFill>
              </a:rPr>
              <a:t>Especially for long-term storage mounts. Board and foam can release volatiles that affect dye stability over years.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263640"/>
            <a:ext cx="11274552" cy="18288"/>
          </a:xfrm>
          <a:prstGeom prst="rect">
            <a:avLst/>
          </a:prstGeom>
          <a:solidFill>
            <a:srgbClr val="403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E1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0"/>
            <a:ext cx="73152" cy="685800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2EDE4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8346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A498"/>
                </a:solidFill>
              </a:rPr>
              <a:t>Questions and discussion welcome.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6459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2EDE4"/>
                </a:solidFill>
              </a:rPr>
              <a:t>Jesse Perez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212140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A87C"/>
                </a:solidFill>
              </a:rPr>
              <a:t>Perez Textile Conservation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487168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498"/>
                </a:solidFill>
              </a:rPr>
              <a:t>Jamaica Plain, Boston, MA 02130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8346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498"/>
                </a:solidFill>
              </a:rPr>
              <a:t>(617) 555-3800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12724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498"/>
                </a:solidFill>
              </a:rPr>
              <a:t>jesse.perez@Finthesiss.ai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38404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E3C"/>
                </a:solidFill>
              </a:rPr>
              <a:t>Specializations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4160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498"/>
                </a:solidFill>
              </a:rPr>
              <a:t>- Latin American textiles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4480559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498"/>
                </a:solidFill>
              </a:rPr>
              <a:t>- Ottoman embroideries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8006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498"/>
                </a:solidFill>
              </a:rPr>
              <a:t>- American colonial samplers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5257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A498"/>
                </a:solidFill>
              </a:rPr>
              <a:t>Paper text and supplementary material
available on request via email.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