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8F0F8"/>
                </a:solidFill>
              </a:rPr>
              <a:t>Fee Distribution by Phase (USD)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Fee (USD)</c:v>
                </c:pt>
              </c:strCache>
            </c:strRef>
          </c:tx>
          <c:spPr>
            <a:solidFill>
              <a:srgbClr val="3A7AC8"/>
            </a:solidFill>
          </c:spPr>
          <c:cat>
            <c:strRef>
              <c:f>Sheet1!$A$2:$A$6</c:f>
              <c:strCache>
                <c:ptCount val="5"/>
                <c:pt idx="0">
                  <c:v>Assess.</c:v>
                </c:pt>
                <c:pt idx="1">
                  <c:v>Phase 1</c:v>
                </c:pt>
                <c:pt idx="2">
                  <c:v>Phase 2</c:v>
                </c:pt>
                <c:pt idx="3">
                  <c:v>Ongoing</c:v>
                </c:pt>
                <c:pt idx="4">
                  <c:v>Pending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3200</c:v>
                </c:pt>
                <c:pt idx="1">
                  <c:v>9400</c:v>
                </c:pt>
                <c:pt idx="2">
                  <c:v>7850</c:v>
                </c:pt>
                <c:pt idx="3">
                  <c:v>4200</c:v>
                </c:pt>
                <c:pt idx="4">
                  <c:v>12400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0A8C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0A8C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73152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MUSEUM OF FINE ARTS,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Project PTC-2024-031 - Conservation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F0F8"/>
                </a:solidFill>
              </a:rPr>
              <a:t>OTTOMAN EMBROIDERY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B8E8"/>
                </a:solidFill>
              </a:rPr>
              <a:t>Exhibition Planning - Conservation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743200" cy="137160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6 Panels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0F8"/>
                </a:solidFill>
              </a:rPr>
              <a:t>17th-18th Century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286000"/>
            <a:ext cx="2743200" cy="137160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Exhibition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0F8"/>
                </a:solidFill>
              </a:rPr>
              <a:t>December 5,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2743200" cy="137160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Conservator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0F8"/>
                </a:solidFill>
              </a:rPr>
              <a:t>Jesse Perez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286000"/>
            <a:ext cx="2743200" cy="137160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Institutional 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0F8"/>
                </a:solidFill>
              </a:rPr>
              <a:t>Dr. Elena Vasquez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8C0"/>
                </a:solidFill>
              </a:rPr>
              <a:t>Internal planning document for conservation treatment status, timeline, and installation requirements.
For review by the conservation department and curatorial team. February 2026.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A8C0"/>
                </a:solidFill>
              </a:rPr>
              <a:t>Perez Textile Conservation  -  47 Pond Street, Jamaica Plain, Boston MA 02130  -  (617) 555-3800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B8E8"/>
                </a:solidFill>
              </a:rPr>
              <a:t>OBJECT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8"/>
                </a:solidFill>
              </a:rPr>
              <a:t>Six-Panel Suite - Material and Condition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Panel</a:t>
                      </a:r>
                    </a:p>
                  </a:txBody>
                  <a:tcPr>
                    <a:solidFill>
                      <a:srgbClr val="3A7A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Accession</a:t>
                      </a:r>
                    </a:p>
                  </a:txBody>
                  <a:tcPr>
                    <a:solidFill>
                      <a:srgbClr val="3A7A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Century</a:t>
                      </a:r>
                    </a:p>
                  </a:txBody>
                  <a:tcPr>
                    <a:solidFill>
                      <a:srgbClr val="3A7A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Dimensions (cm)</a:t>
                      </a:r>
                    </a:p>
                  </a:txBody>
                  <a:tcPr>
                    <a:solidFill>
                      <a:srgbClr val="3A7A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Ground</a:t>
                      </a:r>
                    </a:p>
                  </a:txBody>
                  <a:tcPr>
                    <a:solidFill>
                      <a:srgbClr val="3A7A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Embroidery</a:t>
                      </a:r>
                    </a:p>
                  </a:txBody>
                  <a:tcPr>
                    <a:solidFill>
                      <a:srgbClr val="3A7A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>
                    <a:solidFill>
                      <a:srgbClr val="3A7A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Treatment Phase</a:t>
                      </a:r>
                    </a:p>
                  </a:txBody>
                  <a:tcPr>
                    <a:solidFill>
                      <a:srgbClr val="3A7AC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Panel 1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2024.1583.1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17th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62 x 84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Linen tabby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Silk + metallic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Stabilized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Panel 2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2024.1583.2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17th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58 x 79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Linen tabby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Silk couched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Stabilized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Panel 3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2024.1583.3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18th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71 x 94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Cotton plain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Silk polychrome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Fair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Stabilized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Panel 4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2024.1583.4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18th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64 x 89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Linen tabby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Silk + silver-gilt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Fair - warp damage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In treatment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Panel 5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2024.1583.5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18th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55 x 72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Linen twill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Silk geometric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Fair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In treatment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Panel 6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2024.1583.6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18th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48 x 62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Cotton plain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Silk floral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Poor - soiling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Humidification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B8E8"/>
                </a:solidFill>
              </a:rPr>
              <a:t>TREATMENT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8"/>
                </a:solidFill>
              </a:rPr>
              <a:t>Panel-by-Panel Completion and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Panel 1 - 2024.1583.1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39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Complete - mounted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947672"/>
            <a:ext cx="5029200" cy="347472"/>
          </a:xfrm>
          <a:prstGeom prst="rect">
            <a:avLst/>
          </a:prstGeom>
          <a:solidFill>
            <a:srgbClr val="25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94960" y="1947672"/>
            <a:ext cx="5029200" cy="347472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19476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7AC8"/>
                </a:solidFill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2432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Panel 2 - 2024.1583.2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98647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Complete - mounted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2697479"/>
            <a:ext cx="5029200" cy="347472"/>
          </a:xfrm>
          <a:prstGeom prst="rect">
            <a:avLst/>
          </a:prstGeom>
          <a:solidFill>
            <a:srgbClr val="25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60" y="2697479"/>
            <a:ext cx="5029200" cy="347472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2697479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7AC8"/>
                </a:solidFill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74135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Panel 3 - 2024.1583.3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48455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Complete - mounted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3447287"/>
            <a:ext cx="5029200" cy="347472"/>
          </a:xfrm>
          <a:prstGeom prst="rect">
            <a:avLst/>
          </a:prstGeom>
          <a:solidFill>
            <a:srgbClr val="25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94960" y="3447287"/>
            <a:ext cx="5029200" cy="347472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3447287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7AC8"/>
                </a:solidFill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239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Panel 4 - 2024.1583.4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9826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Warp repair in progress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4197096"/>
            <a:ext cx="5029200" cy="347472"/>
          </a:xfrm>
          <a:prstGeom prst="rect">
            <a:avLst/>
          </a:prstGeom>
          <a:solidFill>
            <a:srgbClr val="25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94960" y="4197096"/>
            <a:ext cx="3118104" cy="347472"/>
          </a:xfrm>
          <a:prstGeom prst="rect">
            <a:avLst/>
          </a:prstGeom>
          <a:solidFill>
            <a:srgbClr val="8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419709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B8E8"/>
                </a:solidFill>
              </a:rPr>
              <a:t>62%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737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Panel 5 - 2024.1583.5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480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Cleaning + structural survey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4946904"/>
            <a:ext cx="5029200" cy="347472"/>
          </a:xfrm>
          <a:prstGeom prst="rect">
            <a:avLst/>
          </a:prstGeom>
          <a:solidFill>
            <a:srgbClr val="25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94960" y="4946904"/>
            <a:ext cx="2514600" cy="347472"/>
          </a:xfrm>
          <a:prstGeom prst="rect">
            <a:avLst/>
          </a:prstGeom>
          <a:solidFill>
            <a:srgbClr val="8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494690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B8E8"/>
                </a:solidFill>
              </a:rPr>
              <a:t>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235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Panel 6 - 2024.1583.6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97879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Humidification phase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5696712"/>
            <a:ext cx="5029200" cy="347472"/>
          </a:xfrm>
          <a:prstGeom prst="rect">
            <a:avLst/>
          </a:prstGeom>
          <a:solidFill>
            <a:srgbClr val="253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94960" y="5696712"/>
            <a:ext cx="1005840" cy="347472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569671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B8E8"/>
                </a:solidFill>
              </a:rPr>
              <a:t>20%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00800"/>
            <a:ext cx="11338560" cy="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B8E8"/>
                </a:solidFill>
              </a:rP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8"/>
                </a:solidFill>
              </a:rPr>
              <a:t>Treatment and Installation Schedule to December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74552" cy="91440"/>
          </a:xfrm>
          <a:prstGeom prst="rect">
            <a:avLst/>
          </a:prstGeom>
          <a:solidFill>
            <a:srgbClr val="2A4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926080"/>
            <a:ext cx="201168" cy="20116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A7AC8"/>
                </a:solidFill>
              </a:rPr>
              <a:t>Feb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Panels 1-3 mounted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926080"/>
            <a:ext cx="201168" cy="20116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A7AC8"/>
                </a:solidFill>
              </a:rPr>
              <a:t>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46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Panel 4-5 treatment
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79" y="2926080"/>
            <a:ext cx="201168" cy="201168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60"/>
                </a:solidFill>
              </a:rPr>
              <a:t>Oct 24,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46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MFA planning
meeting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926080"/>
            <a:ext cx="201168" cy="201168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60"/>
                </a:solidFill>
              </a:rPr>
              <a:t>Nov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46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Final mounting
all 6 panels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926080"/>
            <a:ext cx="201168" cy="201168"/>
          </a:xfrm>
          <a:prstGeom prst="rect">
            <a:avLst/>
          </a:prstGeom>
          <a:solidFill>
            <a:srgbClr val="8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B8E8"/>
                </a:solidFill>
              </a:rPr>
              <a:t>Dec 1,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246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Delivery to
MFA install 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52760" y="2926080"/>
            <a:ext cx="201168" cy="201168"/>
          </a:xfrm>
          <a:prstGeom prst="rect">
            <a:avLst/>
          </a:prstGeom>
          <a:solidFill>
            <a:srgbClr val="8B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B8E8"/>
                </a:solidFill>
              </a:rPr>
              <a:t>Dec 5,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3246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Exhibition opens
Private 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B8E8"/>
                </a:solidFill>
              </a:rPr>
              <a:t>Key 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80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B8E8"/>
                </a:solidFill>
              </a:rPr>
              <a:t>October 24,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480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MFA exhibition planning meeting with Dr. Elena Vasquez - mount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64608"/>
            <a:ext cx="11247120" cy="9144"/>
          </a:xfrm>
          <a:prstGeom prst="rect">
            <a:avLst/>
          </a:prstGeom>
          <a:solidFill>
            <a:srgbClr val="20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011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B8E8"/>
                </a:solidFill>
              </a:rPr>
              <a:t>November 11-14,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90118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Conservator at AIC Annual Meeting, Salt Lake City - studio contact: Samuel Okafor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85232"/>
            <a:ext cx="11247120" cy="9144"/>
          </a:xfrm>
          <a:prstGeom prst="rect">
            <a:avLst/>
          </a:prstGeom>
          <a:solidFill>
            <a:srgbClr val="20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3218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B8E8"/>
                </a:solidFill>
              </a:rPr>
              <a:t>November 20-30,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3218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Final mounting phase - all six panels installed on exhibition boards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05856"/>
            <a:ext cx="11247120" cy="9144"/>
          </a:xfrm>
          <a:prstGeom prst="rect">
            <a:avLst/>
          </a:prstGeom>
          <a:solidFill>
            <a:srgbClr val="20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424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B8E8"/>
                </a:solidFill>
              </a:rPr>
              <a:t>December 1,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7424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All mounts delivered to MFA installation team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126480"/>
            <a:ext cx="11247120" cy="9144"/>
          </a:xfrm>
          <a:prstGeom prst="rect">
            <a:avLst/>
          </a:prstGeom>
          <a:solidFill>
            <a:srgbClr val="20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1630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B8E8"/>
                </a:solidFill>
              </a:rPr>
              <a:t>December 5,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616305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Exhibition opening - Ottoman Embroidery Suite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B8E8"/>
                </a:solidFill>
              </a:rPr>
              <a:t>ENVIRONMENTAL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8"/>
                </a:solidFill>
              </a:rPr>
              <a:t>Required Display and Storage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303520" cy="132588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303520" cy="4572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A8C0"/>
                </a:solidFill>
              </a:rPr>
              <a:t>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8"/>
                </a:solidFill>
              </a:rPr>
              <a:t>19-21 degrees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0A8C0"/>
                </a:solidFill>
              </a:rPr>
              <a:t>Stable within 1 degree C per day. Silk thread contracts and distorts under thermal cycling.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303520" cy="132588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5303520" cy="4572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A8C0"/>
                </a:solidFill>
              </a:rPr>
              <a:t>RELATIVE HUMIDITY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8"/>
                </a:solidFill>
              </a:rPr>
              <a:t>48-52% RH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0A8C0"/>
                </a:solidFill>
              </a:rPr>
              <a:t>No excursion above 58% or below 42%. Monitor continuously during exhibition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5303520" cy="132588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5303520" cy="4572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A8C0"/>
                </a:solidFill>
              </a:rPr>
              <a:t>LIGHT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8"/>
                </a:solidFill>
              </a:rPr>
              <a:t>50 lux maximum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0A8C0"/>
                </a:solidFill>
              </a:rPr>
              <a:t>UV filtered. No fiber optic substitution. Metallic thread is reflective; no direct spot at less than 45 degrees.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920240"/>
            <a:ext cx="5303520" cy="132588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1920240"/>
            <a:ext cx="5303520" cy="4572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0116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A8C0"/>
                </a:solidFill>
              </a:rPr>
              <a:t>LIGHT 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2402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8"/>
                </a:solidFill>
              </a:rPr>
              <a:t>50,000 lux-hours/year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606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0A8C0"/>
                </a:solidFill>
              </a:rPr>
              <a:t>Assume 200 lux-hours/day if open 8 hours. Close before reaching annual limit.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383280"/>
            <a:ext cx="5303520" cy="132588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3383280"/>
            <a:ext cx="5303520" cy="4572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4747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A8C0"/>
                </a:solidFill>
              </a:rPr>
              <a:t>AIR MOVEMENT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7033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8"/>
                </a:solidFill>
              </a:rPr>
              <a:t>No direct airflow to panels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069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0A8C0"/>
                </a:solidFill>
              </a:rPr>
              <a:t>Textile oscillation from HVAC causes long-term warp fatigue. Diffuse airflow only.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846320"/>
            <a:ext cx="5303520" cy="132588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4846320"/>
            <a:ext cx="5303520" cy="4572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9377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A8C0"/>
                </a:solidFill>
              </a:rPr>
              <a:t>VIBRATION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1663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8"/>
                </a:solidFill>
              </a:rPr>
              <a:t>Minimal - no adjacent mechanical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5321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0A8C0"/>
                </a:solidFill>
              </a:rPr>
              <a:t>Panel frames bolted at 4-point minimum. No panels on walls shared with HVAC units.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B8E8"/>
                </a:solidFill>
              </a:rPr>
              <a:t>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0F8"/>
                </a:solidFill>
              </a:rPr>
              <a:t>Conservation Fee Summary and Project Accounting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685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Invoice</a:t>
                      </a:r>
                    </a:p>
                  </a:txBody>
                  <a:tcPr>
                    <a:solidFill>
                      <a:srgbClr val="3A7A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3A7A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3A7A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3A7AC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PTC-INV-2025-042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Oct 2025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Condition assessment + report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$3,200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PTC-INV-2025-051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Nov 2025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Treatment phase 1 - Panels 1-3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$9,400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PTC-INV-2026-014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Jan 2026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Treatment phase 2 - ongoing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$7,850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PTC-INV-2026-031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Feb 2026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Panel 4 warp repair (in progress)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$4,200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Oct 2026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Panel 5 + Panel 6 treatment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Est. $7,600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Nov 2026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Final mounting - all 6 panels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8F0F8"/>
                          </a:solidFill>
                        </a:rPr>
                        <a:t>Est. $4,800</a:t>
                      </a:r>
                    </a:p>
                  </a:txBody>
                  <a:tcPr>
                    <a:solidFill>
                      <a:srgbClr val="1A2C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79" y="1828800"/>
          <a:ext cx="44805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760720"/>
            <a:ext cx="6858000" cy="54864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0F8"/>
                </a:solidFill>
              </a:rPr>
              <a:t>Total contracted:  $37,050      Paid to date:  $24,650      Balance remaining:  $12,400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C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A8C0"/>
                </a:solidFill>
              </a:rPr>
              <a:t>Jesse Perez  |  Perez Textile Conservation  |  Jamaica Plain, Boston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B8E8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0F8"/>
                </a:solidFill>
              </a:rPr>
              <a:t>Outstanding Actions and Responsibilities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749039" cy="4389120"/>
          </a:xfrm>
          <a:prstGeom prst="rect">
            <a:avLst/>
          </a:prstGeom>
          <a:solidFill>
            <a:srgbClr val="1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749039" cy="6400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0F8"/>
                </a:solidFill>
              </a:rPr>
              <a:t>Jesse Perez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95728"/>
            <a:ext cx="73152" cy="45720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Complete Panel 4 warp repair - target February 28,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93008"/>
            <a:ext cx="73152" cy="45720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9300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Begin Panel 5 surface cleaning and structural stabilization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90288"/>
            <a:ext cx="73152" cy="45720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9028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Draft updated treatment timeline for Elena Vasquez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3749039" cy="4389120"/>
          </a:xfrm>
          <a:prstGeom prst="rect">
            <a:avLst/>
          </a:prstGeom>
          <a:solidFill>
            <a:srgbClr val="1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749039" cy="6400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9385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0F8"/>
                </a:solidFill>
              </a:rPr>
              <a:t>Dr. Elena Vasquez / MFA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395728"/>
            <a:ext cx="73152" cy="45720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39572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Confirm exhibition case dimensions by April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493008"/>
            <a:ext cx="73152" cy="45720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49300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Arrange environmental monitor installation in gallery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590288"/>
            <a:ext cx="73152" cy="45720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59028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Coordinate October 24 planning meeting with curatorial team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828800"/>
            <a:ext cx="3749039" cy="4389120"/>
          </a:xfrm>
          <a:prstGeom prst="rect">
            <a:avLst/>
          </a:prstGeom>
          <a:solidFill>
            <a:srgbClr val="1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828800"/>
            <a:ext cx="3749039" cy="6400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9385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0F8"/>
                </a:solidFill>
              </a:rPr>
              <a:t>MFA Installation Team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395728"/>
            <a:ext cx="73152" cy="45720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239572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Provide wall-load specifications for six panel mounts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3493008"/>
            <a:ext cx="73152" cy="45720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349300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Schedule crating and transit window for December 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4590288"/>
            <a:ext cx="73152" cy="457200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459028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A8C0"/>
                </a:solidFill>
              </a:rPr>
              <a:t>Confirm lighting rig type and UV filter installation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