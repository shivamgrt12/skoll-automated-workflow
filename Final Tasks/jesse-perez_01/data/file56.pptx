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chart>
    <c:title>
      <c:tx>
        <c:rich>
          <a:bodyPr/>
          <a:lstStyle/>
          <a:p>
            <a:r>
              <a:rPr sz="1100">
                <a:solidFill>
                  <a:srgbClr val="EEF4EB"/>
                </a:solidFill>
              </a:rPr>
              <a:t>Condition Tier Distribution</a:t>
            </a:r>
          </a:p>
        </c:rich>
      </c:tx>
      <c:layout/>
      <c:overlay val="0"/>
    </c:title>
    <c:autoTitleDeleted val="0"/>
    <c:plotArea>
      <c:pieChart>
        <c:varyColors val="1"/>
        <c:ser>
          <c:idx val="0"/>
          <c:order val="0"/>
          <c:tx>
            <c:strRef>
              <c:f>Sheet1!$B$1</c:f>
              <c:strCache>
                <c:ptCount val="1"/>
                <c:pt idx="0">
                  <c:v>Count</c:v>
                </c:pt>
              </c:strCache>
            </c:strRef>
          </c:tx>
          <c:dPt>
            <c:idx val="0"/>
            <c:spPr>
              <a:solidFill>
                <a:srgbClr val="5A7A52"/>
              </a:solidFill>
            </c:spPr>
          </c:dPt>
          <c:dPt>
            <c:idx val="1"/>
            <c:spPr>
              <a:solidFill>
                <a:srgbClr val="E0C060"/>
              </a:solidFill>
            </c:spPr>
          </c:dPt>
          <c:dPt>
            <c:idx val="2"/>
            <c:spPr>
              <a:solidFill>
                <a:srgbClr val="C89A40"/>
              </a:solidFill>
            </c:spPr>
          </c:dPt>
          <c:cat>
            <c:strRef>
              <c:f>Sheet1!$A$2:$A$4</c:f>
              <c:strCache>
                <c:ptCount val="3"/>
                <c:pt idx="0">
                  <c:v>Tier A - Urgent</c:v>
                </c:pt>
                <c:pt idx="1">
                  <c:v>Tier B - Priority</c:v>
                </c:pt>
                <c:pt idx="2">
                  <c:v>Tier C - Monitor</c:v>
                </c:pt>
              </c:strCache>
            </c:strRef>
          </c:cat>
          <c:val>
            <c:numRef>
              <c:f>Sheet1!$B$2:$B$4</c:f>
              <c:numCache>
                <c:formatCode>General</c:formatCode>
                <c:ptCount val="3"/>
                <c:pt idx="0">
                  <c:v>7</c:v>
                </c:pt>
                <c:pt idx="1">
                  <c:v>10</c:v>
                </c:pt>
                <c:pt idx="2">
                  <c:v>5</c:v>
                </c:pt>
              </c:numCache>
            </c:numRef>
          </c:val>
        </c:ser>
      </c:pieChart>
    </c:plotArea>
    <c:legend>
      <c:txPr>
        <a:bodyPr/>
        <a:lstStyle/>
        <a:p>
          <a:pPr>
            <a:defRPr sz="900">
              <a:solidFill>
                <a:srgbClr val="8AA086"/>
              </a:solidFill>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a:solidFill>
                  <a:srgbClr val="EEF4EB"/>
                </a:solidFill>
              </a:rPr>
              <a:t>Objects by Period and Ground Fiber</a:t>
            </a:r>
          </a:p>
        </c:rich>
      </c:tx>
      <c:layout/>
      <c:overlay val="0"/>
    </c:title>
    <c:autoTitleDeleted val="0"/>
    <c:plotArea>
      <c:barChart>
        <c:barDir val="col"/>
        <c:grouping val="clustered"/>
        <c:ser>
          <c:idx val="0"/>
          <c:order val="0"/>
          <c:tx>
            <c:strRef>
              <c:f>Sheet1!$B$1</c:f>
              <c:strCache>
                <c:ptCount val="1"/>
                <c:pt idx="0">
                  <c:v>Linen ground</c:v>
                </c:pt>
              </c:strCache>
            </c:strRef>
          </c:tx>
          <c:spPr>
            <a:solidFill>
              <a:srgbClr val="5A7A52"/>
            </a:solidFill>
          </c:spPr>
          <c:cat>
            <c:strRef>
              <c:f>Sheet1!$A$2:$A$6</c:f>
              <c:strCache>
                <c:ptCount val="5"/>
                <c:pt idx="0">
                  <c:v>1750-1770</c:v>
                </c:pt>
                <c:pt idx="1">
                  <c:v>1771-1790</c:v>
                </c:pt>
                <c:pt idx="2">
                  <c:v>1791-1810</c:v>
                </c:pt>
                <c:pt idx="3">
                  <c:v>1811-1830</c:v>
                </c:pt>
                <c:pt idx="4">
                  <c:v>1831-1850</c:v>
                </c:pt>
              </c:strCache>
            </c:strRef>
          </c:cat>
          <c:val>
            <c:numRef>
              <c:f>Sheet1!$B$2:$B$6</c:f>
              <c:numCache>
                <c:formatCode>General</c:formatCode>
                <c:ptCount val="5"/>
                <c:pt idx="0">
                  <c:v>2</c:v>
                </c:pt>
                <c:pt idx="1">
                  <c:v>5</c:v>
                </c:pt>
                <c:pt idx="2">
                  <c:v>6</c:v>
                </c:pt>
                <c:pt idx="3">
                  <c:v>5</c:v>
                </c:pt>
                <c:pt idx="4">
                  <c:v>4</c:v>
                </c:pt>
              </c:numCache>
            </c:numRef>
          </c:val>
        </c:ser>
        <c:ser>
          <c:idx val="1"/>
          <c:order val="1"/>
          <c:tx>
            <c:strRef>
              <c:f>Sheet1!$C$1</c:f>
              <c:strCache>
                <c:ptCount val="1"/>
                <c:pt idx="0">
                  <c:v>Wool embroidery present</c:v>
                </c:pt>
              </c:strCache>
            </c:strRef>
          </c:tx>
          <c:spPr>
            <a:solidFill>
              <a:srgbClr val="E0C060"/>
            </a:solidFill>
          </c:spPr>
          <c:cat>
            <c:strRef>
              <c:f>Sheet1!$A$2:$A$6</c:f>
              <c:strCache>
                <c:ptCount val="5"/>
                <c:pt idx="0">
                  <c:v>1750-1770</c:v>
                </c:pt>
                <c:pt idx="1">
                  <c:v>1771-1790</c:v>
                </c:pt>
                <c:pt idx="2">
                  <c:v>1791-1810</c:v>
                </c:pt>
                <c:pt idx="3">
                  <c:v>1811-1830</c:v>
                </c:pt>
                <c:pt idx="4">
                  <c:v>1831-1850</c:v>
                </c:pt>
              </c:strCache>
            </c:strRef>
          </c:cat>
          <c:val>
            <c:numRef>
              <c:f>Sheet1!$C$2:$C$6</c:f>
              <c:numCache>
                <c:formatCode>General</c:formatCode>
                <c:ptCount val="5"/>
                <c:pt idx="0">
                  <c:v>2</c:v>
                </c:pt>
                <c:pt idx="1">
                  <c:v>4</c:v>
                </c:pt>
                <c:pt idx="2">
                  <c:v>5</c:v>
                </c:pt>
                <c:pt idx="3">
                  <c:v>4</c:v>
                </c:pt>
                <c:pt idx="4">
                  <c:v>3</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900">
                <a:solidFill>
                  <a:srgbClr val="8AA086"/>
                </a:solidFill>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900">
                <a:solidFill>
                  <a:srgbClr val="8AA086"/>
                </a:solidFill>
              </a:defRPr>
            </a:pPr>
          </a:p>
        </c:txPr>
        <c:crossAx val="-2068027336"/>
        <c:crosses val="autoZero"/>
      </c:valAx>
    </c:plotArea>
    <c:legend>
      <c:txPr>
        <a:bodyPr/>
        <a:lstStyle/>
        <a:p>
          <a:pPr>
            <a:defRPr sz="900">
              <a:solidFill>
                <a:srgbClr val="8AA086"/>
              </a:solidFill>
            </a:defRPr>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chart>
    <c:title>
      <c:tx>
        <c:rich>
          <a:bodyPr/>
          <a:lstStyle/>
          <a:p>
            <a:r>
              <a:rPr sz="1100">
                <a:solidFill>
                  <a:srgbClr val="EEF4EB"/>
                </a:solidFill>
              </a:rPr>
              <a:t>Embroidery Thread Material (22 objects)</a:t>
            </a:r>
          </a:p>
        </c:rich>
      </c:tx>
      <c:layout/>
      <c:overlay val="0"/>
    </c:title>
    <c:autoTitleDeleted val="0"/>
    <c:plotArea>
      <c:pieChart>
        <c:varyColors val="1"/>
        <c:ser>
          <c:idx val="0"/>
          <c:order val="0"/>
          <c:tx>
            <c:strRef>
              <c:f>Sheet1!$B$1</c:f>
              <c:strCache>
                <c:ptCount val="1"/>
                <c:pt idx="0">
                  <c:v>Count</c:v>
                </c:pt>
              </c:strCache>
            </c:strRef>
          </c:tx>
          <c:dPt>
            <c:idx val="0"/>
            <c:spPr>
              <a:solidFill>
                <a:srgbClr val="5A7A52"/>
              </a:solidFill>
            </c:spPr>
          </c:dPt>
          <c:dPt>
            <c:idx val="1"/>
            <c:spPr>
              <a:solidFill>
                <a:srgbClr val="E0C060"/>
              </a:solidFill>
            </c:spPr>
          </c:dPt>
          <c:dPt>
            <c:idx val="2"/>
            <c:spPr>
              <a:solidFill>
                <a:srgbClr val="C89A40"/>
              </a:solidFill>
            </c:spPr>
          </c:dPt>
          <c:dPt>
            <c:idx val="3"/>
            <c:spPr>
              <a:solidFill>
                <a:srgbClr val="9AB890"/>
              </a:solidFill>
            </c:spPr>
          </c:dPt>
          <c:cat>
            <c:strRef>
              <c:f>Sheet1!$A$2:$A$5</c:f>
              <c:strCache>
                <c:ptCount val="4"/>
                <c:pt idx="0">
                  <c:v>Wool thread</c:v>
                </c:pt>
                <c:pt idx="1">
                  <c:v>Silk thread</c:v>
                </c:pt>
                <c:pt idx="2">
                  <c:v>Cotton thread</c:v>
                </c:pt>
                <c:pt idx="3">
                  <c:v>Mixed</c:v>
                </c:pt>
              </c:strCache>
            </c:strRef>
          </c:cat>
          <c:val>
            <c:numRef>
              <c:f>Sheet1!$B$2:$B$5</c:f>
              <c:numCache>
                <c:formatCode>General</c:formatCode>
                <c:ptCount val="4"/>
                <c:pt idx="0">
                  <c:v>14</c:v>
                </c:pt>
                <c:pt idx="1">
                  <c:v>5</c:v>
                </c:pt>
                <c:pt idx="2">
                  <c:v>2</c:v>
                </c:pt>
                <c:pt idx="3">
                  <c:v>1</c:v>
                </c:pt>
              </c:numCache>
            </c:numRef>
          </c:val>
        </c:ser>
      </c:pieChart>
    </c:plotArea>
    <c:legend>
      <c:txPr>
        <a:bodyPr/>
        <a:lstStyle/>
        <a:p>
          <a:pPr>
            <a:defRPr sz="900">
              <a:solidFill>
                <a:srgbClr val="8AA086"/>
              </a:solidFill>
            </a:defRPr>
          </a:pPr>
        </a:p>
      </c:txPr>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a:solidFill>
                  <a:srgbClr val="EEF4EB"/>
                </a:solidFill>
              </a:rPr>
              <a:t>Budget by Treatment Phase (USD)</a:t>
            </a:r>
          </a:p>
        </c:rich>
      </c:tx>
      <c:layout/>
      <c:overlay val="0"/>
    </c:title>
    <c:autoTitleDeleted val="0"/>
    <c:plotArea>
      <c:barChart>
        <c:barDir val="col"/>
        <c:grouping val="clustered"/>
        <c:ser>
          <c:idx val="0"/>
          <c:order val="0"/>
          <c:tx>
            <c:strRef>
              <c:f>Sheet1!$B$1</c:f>
              <c:strCache>
                <c:ptCount val="1"/>
                <c:pt idx="0">
                  <c:v>Estimated Cost (USD)</c:v>
                </c:pt>
              </c:strCache>
            </c:strRef>
          </c:tx>
          <c:spPr>
            <a:solidFill>
              <a:srgbClr val="5A7A52"/>
            </a:solidFill>
          </c:spPr>
          <c:cat>
            <c:strRef>
              <c:f>Sheet1!$A$2:$A$5</c:f>
              <c:strCache>
                <c:ptCount val="4"/>
                <c:pt idx="0">
                  <c:v>Tier A
(7 obj.)</c:v>
                </c:pt>
                <c:pt idx="1">
                  <c:v>Tier B
(10 obj.)</c:v>
                </c:pt>
                <c:pt idx="2">
                  <c:v>Tier C
(5 obj.)</c:v>
                </c:pt>
                <c:pt idx="3">
                  <c:v>Framing
All 22</c:v>
                </c:pt>
              </c:strCache>
            </c:strRef>
          </c:cat>
          <c:val>
            <c:numRef>
              <c:f>Sheet1!$B$2:$B$5</c:f>
              <c:numCache>
                <c:formatCode>General</c:formatCode>
                <c:ptCount val="4"/>
                <c:pt idx="0">
                  <c:v>13800</c:v>
                </c:pt>
                <c:pt idx="1">
                  <c:v>18500</c:v>
                </c:pt>
                <c:pt idx="2">
                  <c:v>4500</c:v>
                </c:pt>
                <c:pt idx="3">
                  <c:v>11000</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900">
                <a:solidFill>
                  <a:srgbClr val="8AA086"/>
                </a:solidFill>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900">
                <a:solidFill>
                  <a:srgbClr val="8AA086"/>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chart" Target="../charts/char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1E14"/>
        </a:solidFill>
        <a:effectLst/>
      </p:bgPr>
    </p:bg>
    <p:spTree>
      <p:nvGrpSpPr>
        <p:cNvPr id="1" name=""/>
        <p:cNvGrpSpPr/>
        <p:nvPr/>
      </p:nvGrpSpPr>
      <p:grpSpPr/>
      <p:sp>
        <p:nvSpPr>
          <p:cNvPr id="2" name="Rectangle 1"/>
          <p:cNvSpPr/>
          <p:nvPr/>
        </p:nvSpPr>
        <p:spPr>
          <a:xfrm>
            <a:off x="0" y="0"/>
            <a:ext cx="4572000" cy="6858000"/>
          </a:xfrm>
          <a:prstGeom prst="rect">
            <a:avLst/>
          </a:prstGeom>
          <a:solidFill>
            <a:srgbClr val="223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0" y="0"/>
            <a:ext cx="91440" cy="6858000"/>
          </a:xfrm>
          <a:prstGeom prst="rect">
            <a:avLst/>
          </a:prstGeom>
          <a:solidFill>
            <a:srgbClr val="5A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3840480" cy="320040"/>
          </a:xfrm>
          <a:prstGeom prst="rect">
            <a:avLst/>
          </a:prstGeom>
          <a:noFill/>
        </p:spPr>
        <p:txBody>
          <a:bodyPr wrap="square">
            <a:spAutoFit/>
          </a:bodyPr>
          <a:lstStyle/>
          <a:p>
            <a:pPr algn="l"/>
            <a:r>
              <a:rPr sz="900" b="0" i="0">
                <a:solidFill>
                  <a:srgbClr val="8AA086"/>
                </a:solidFill>
              </a:rPr>
              <a:t>PEABODY ESSEX MUSEUM</a:t>
            </a:r>
          </a:p>
        </p:txBody>
      </p:sp>
      <p:sp>
        <p:nvSpPr>
          <p:cNvPr id="5" name="TextBox 4"/>
          <p:cNvSpPr txBox="1"/>
          <p:nvPr/>
        </p:nvSpPr>
        <p:spPr>
          <a:xfrm>
            <a:off x="457200" y="777240"/>
            <a:ext cx="3840480" cy="274320"/>
          </a:xfrm>
          <a:prstGeom prst="rect">
            <a:avLst/>
          </a:prstGeom>
          <a:noFill/>
        </p:spPr>
        <p:txBody>
          <a:bodyPr wrap="square">
            <a:spAutoFit/>
          </a:bodyPr>
          <a:lstStyle/>
          <a:p>
            <a:pPr algn="l"/>
            <a:r>
              <a:rPr sz="900" b="0" i="0">
                <a:solidFill>
                  <a:srgbClr val="8AA086"/>
                </a:solidFill>
              </a:rPr>
              <a:t>Salem, Massachusetts</a:t>
            </a:r>
          </a:p>
        </p:txBody>
      </p:sp>
      <p:sp>
        <p:nvSpPr>
          <p:cNvPr id="6" name="TextBox 5"/>
          <p:cNvSpPr txBox="1"/>
          <p:nvPr/>
        </p:nvSpPr>
        <p:spPr>
          <a:xfrm>
            <a:off x="457200" y="1143000"/>
            <a:ext cx="3840480" cy="274320"/>
          </a:xfrm>
          <a:prstGeom prst="rect">
            <a:avLst/>
          </a:prstGeom>
          <a:noFill/>
        </p:spPr>
        <p:txBody>
          <a:bodyPr wrap="square">
            <a:spAutoFit/>
          </a:bodyPr>
          <a:lstStyle/>
          <a:p>
            <a:pPr algn="l"/>
            <a:r>
              <a:rPr sz="800" b="0" i="0">
                <a:solidFill>
                  <a:srgbClr val="5A7A52"/>
                </a:solidFill>
              </a:rPr>
              <a:t>PROJECT PTC-2025-008</a:t>
            </a:r>
          </a:p>
        </p:txBody>
      </p:sp>
      <p:sp>
        <p:nvSpPr>
          <p:cNvPr id="7" name="Rectangle 6"/>
          <p:cNvSpPr/>
          <p:nvPr/>
        </p:nvSpPr>
        <p:spPr>
          <a:xfrm>
            <a:off x="457200" y="1508760"/>
            <a:ext cx="2926080" cy="54864"/>
          </a:xfrm>
          <a:prstGeom prst="rect">
            <a:avLst/>
          </a:prstGeom>
          <a:solidFill>
            <a:srgbClr val="5A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645920"/>
            <a:ext cx="3840480" cy="1280160"/>
          </a:xfrm>
          <a:prstGeom prst="rect">
            <a:avLst/>
          </a:prstGeom>
          <a:noFill/>
        </p:spPr>
        <p:txBody>
          <a:bodyPr wrap="square">
            <a:spAutoFit/>
          </a:bodyPr>
          <a:lstStyle/>
          <a:p>
            <a:pPr algn="l"/>
            <a:r>
              <a:rPr sz="2800" b="0" i="0">
                <a:solidFill>
                  <a:srgbClr val="EEF4EB"/>
                </a:solidFill>
              </a:rPr>
              <a:t>AMERICAN SAMPLER
COLLECTION</a:t>
            </a:r>
          </a:p>
        </p:txBody>
      </p:sp>
      <p:sp>
        <p:nvSpPr>
          <p:cNvPr id="9" name="TextBox 8"/>
          <p:cNvSpPr txBox="1"/>
          <p:nvPr/>
        </p:nvSpPr>
        <p:spPr>
          <a:xfrm>
            <a:off x="457200" y="2971800"/>
            <a:ext cx="3840480" cy="640080"/>
          </a:xfrm>
          <a:prstGeom prst="rect">
            <a:avLst/>
          </a:prstGeom>
          <a:noFill/>
        </p:spPr>
        <p:txBody>
          <a:bodyPr wrap="square">
            <a:spAutoFit/>
          </a:bodyPr>
          <a:lstStyle/>
          <a:p>
            <a:pPr algn="l"/>
            <a:r>
              <a:rPr sz="1400" b="0" i="1">
                <a:solidFill>
                  <a:srgbClr val="9AB890"/>
                </a:solidFill>
              </a:rPr>
              <a:t>Condition Survey and Treatment
Planning Report</a:t>
            </a:r>
          </a:p>
        </p:txBody>
      </p:sp>
      <p:sp>
        <p:nvSpPr>
          <p:cNvPr id="10" name="Rectangle 9"/>
          <p:cNvSpPr/>
          <p:nvPr/>
        </p:nvSpPr>
        <p:spPr>
          <a:xfrm>
            <a:off x="457200" y="3749039"/>
            <a:ext cx="1645920" cy="45720"/>
          </a:xfrm>
          <a:prstGeom prst="rect">
            <a:avLst/>
          </a:prstGeom>
          <a:solidFill>
            <a:srgbClr val="5A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858768"/>
            <a:ext cx="3840480" cy="292608"/>
          </a:xfrm>
          <a:prstGeom prst="rect">
            <a:avLst/>
          </a:prstGeom>
          <a:noFill/>
        </p:spPr>
        <p:txBody>
          <a:bodyPr wrap="square">
            <a:spAutoFit/>
          </a:bodyPr>
          <a:lstStyle/>
          <a:p>
            <a:pPr algn="l"/>
            <a:r>
              <a:rPr sz="1100" b="1" i="0">
                <a:solidFill>
                  <a:srgbClr val="EEF4EB"/>
                </a:solidFill>
              </a:rPr>
              <a:t>Jesse Perez, Conservator</a:t>
            </a:r>
          </a:p>
        </p:txBody>
      </p:sp>
      <p:sp>
        <p:nvSpPr>
          <p:cNvPr id="12" name="TextBox 11"/>
          <p:cNvSpPr txBox="1"/>
          <p:nvPr/>
        </p:nvSpPr>
        <p:spPr>
          <a:xfrm>
            <a:off x="457200" y="4187952"/>
            <a:ext cx="3840480" cy="594360"/>
          </a:xfrm>
          <a:prstGeom prst="rect">
            <a:avLst/>
          </a:prstGeom>
          <a:noFill/>
        </p:spPr>
        <p:txBody>
          <a:bodyPr wrap="square">
            <a:spAutoFit/>
          </a:bodyPr>
          <a:lstStyle/>
          <a:p>
            <a:pPr algn="l"/>
            <a:r>
              <a:rPr sz="950" b="0" i="0">
                <a:solidFill>
                  <a:srgbClr val="8AA086"/>
                </a:solidFill>
              </a:rPr>
              <a:t>Perez Textile Conservation
Jamaica Plain, Boston, MA 02130
February 2026</a:t>
            </a:r>
          </a:p>
        </p:txBody>
      </p:sp>
      <p:sp>
        <p:nvSpPr>
          <p:cNvPr id="13" name="TextBox 12"/>
          <p:cNvSpPr txBox="1"/>
          <p:nvPr/>
        </p:nvSpPr>
        <p:spPr>
          <a:xfrm>
            <a:off x="457200" y="4983480"/>
            <a:ext cx="3840480" cy="457200"/>
          </a:xfrm>
          <a:prstGeom prst="rect">
            <a:avLst/>
          </a:prstGeom>
          <a:noFill/>
        </p:spPr>
        <p:txBody>
          <a:bodyPr wrap="square">
            <a:spAutoFit/>
          </a:bodyPr>
          <a:lstStyle/>
          <a:p>
            <a:pPr algn="l"/>
            <a:r>
              <a:rPr sz="950" b="0" i="0">
                <a:solidFill>
                  <a:srgbClr val="8AA086"/>
                </a:solidFill>
              </a:rPr>
              <a:t>Prepared for: Claire Pemberton
Curator of American Decorative Arts</a:t>
            </a:r>
          </a:p>
        </p:txBody>
      </p:sp>
      <p:sp>
        <p:nvSpPr>
          <p:cNvPr id="14" name="Rectangle 13"/>
          <p:cNvSpPr/>
          <p:nvPr/>
        </p:nvSpPr>
        <p:spPr>
          <a:xfrm>
            <a:off x="4937760" y="1371600"/>
            <a:ext cx="3291840" cy="2011680"/>
          </a:xfrm>
          <a:prstGeom prst="rect">
            <a:avLst/>
          </a:prstGeom>
          <a:solidFill>
            <a:srgbClr val="203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937760" y="1371600"/>
            <a:ext cx="3291840" cy="64008"/>
          </a:xfrm>
          <a:prstGeom prst="rect">
            <a:avLst/>
          </a:prstGeom>
          <a:solidFill>
            <a:srgbClr val="5A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66360" y="1600200"/>
            <a:ext cx="2834640" cy="822960"/>
          </a:xfrm>
          <a:prstGeom prst="rect">
            <a:avLst/>
          </a:prstGeom>
          <a:noFill/>
        </p:spPr>
        <p:txBody>
          <a:bodyPr wrap="square">
            <a:spAutoFit/>
          </a:bodyPr>
          <a:lstStyle/>
          <a:p>
            <a:pPr algn="l"/>
            <a:r>
              <a:rPr sz="3600" b="1" i="0">
                <a:solidFill>
                  <a:srgbClr val="9AB890"/>
                </a:solidFill>
              </a:rPr>
              <a:t>22</a:t>
            </a:r>
          </a:p>
        </p:txBody>
      </p:sp>
      <p:sp>
        <p:nvSpPr>
          <p:cNvPr id="17" name="TextBox 16"/>
          <p:cNvSpPr txBox="1"/>
          <p:nvPr/>
        </p:nvSpPr>
        <p:spPr>
          <a:xfrm>
            <a:off x="5166360" y="2468880"/>
            <a:ext cx="2834640" cy="548640"/>
          </a:xfrm>
          <a:prstGeom prst="rect">
            <a:avLst/>
          </a:prstGeom>
          <a:noFill/>
        </p:spPr>
        <p:txBody>
          <a:bodyPr wrap="square">
            <a:spAutoFit/>
          </a:bodyPr>
          <a:lstStyle/>
          <a:p>
            <a:pPr algn="l"/>
            <a:r>
              <a:rPr sz="1100" b="0" i="0">
                <a:solidFill>
                  <a:srgbClr val="8AA086"/>
                </a:solidFill>
              </a:rPr>
              <a:t>Samplers surveyed</a:t>
            </a:r>
          </a:p>
        </p:txBody>
      </p:sp>
      <p:sp>
        <p:nvSpPr>
          <p:cNvPr id="18" name="Rectangle 17"/>
          <p:cNvSpPr/>
          <p:nvPr/>
        </p:nvSpPr>
        <p:spPr>
          <a:xfrm>
            <a:off x="8503920" y="1371600"/>
            <a:ext cx="3291840" cy="2011680"/>
          </a:xfrm>
          <a:prstGeom prst="rect">
            <a:avLst/>
          </a:prstGeom>
          <a:solidFill>
            <a:srgbClr val="203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03920" y="1371600"/>
            <a:ext cx="3291840" cy="64008"/>
          </a:xfrm>
          <a:prstGeom prst="rect">
            <a:avLst/>
          </a:prstGeom>
          <a:solidFill>
            <a:srgbClr val="5A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32520" y="1600200"/>
            <a:ext cx="2834640" cy="822960"/>
          </a:xfrm>
          <a:prstGeom prst="rect">
            <a:avLst/>
          </a:prstGeom>
          <a:noFill/>
        </p:spPr>
        <p:txBody>
          <a:bodyPr wrap="square">
            <a:spAutoFit/>
          </a:bodyPr>
          <a:lstStyle/>
          <a:p>
            <a:pPr algn="l"/>
            <a:r>
              <a:rPr sz="3600" b="1" i="0">
                <a:solidFill>
                  <a:srgbClr val="9AB890"/>
                </a:solidFill>
              </a:rPr>
              <a:t>1750-1850</a:t>
            </a:r>
          </a:p>
        </p:txBody>
      </p:sp>
      <p:sp>
        <p:nvSpPr>
          <p:cNvPr id="21" name="TextBox 20"/>
          <p:cNvSpPr txBox="1"/>
          <p:nvPr/>
        </p:nvSpPr>
        <p:spPr>
          <a:xfrm>
            <a:off x="8732520" y="2468880"/>
            <a:ext cx="2834640" cy="548640"/>
          </a:xfrm>
          <a:prstGeom prst="rect">
            <a:avLst/>
          </a:prstGeom>
          <a:noFill/>
        </p:spPr>
        <p:txBody>
          <a:bodyPr wrap="square">
            <a:spAutoFit/>
          </a:bodyPr>
          <a:lstStyle/>
          <a:p>
            <a:pPr algn="l"/>
            <a:r>
              <a:rPr sz="1100" b="0" i="0">
                <a:solidFill>
                  <a:srgbClr val="8AA086"/>
                </a:solidFill>
              </a:rPr>
              <a:t>Period covered</a:t>
            </a:r>
          </a:p>
        </p:txBody>
      </p:sp>
      <p:sp>
        <p:nvSpPr>
          <p:cNvPr id="22" name="Rectangle 21"/>
          <p:cNvSpPr/>
          <p:nvPr/>
        </p:nvSpPr>
        <p:spPr>
          <a:xfrm>
            <a:off x="4937760" y="3657600"/>
            <a:ext cx="3291840" cy="2011680"/>
          </a:xfrm>
          <a:prstGeom prst="rect">
            <a:avLst/>
          </a:prstGeom>
          <a:solidFill>
            <a:srgbClr val="203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937760" y="3657600"/>
            <a:ext cx="3291840" cy="64008"/>
          </a:xfrm>
          <a:prstGeom prst="rect">
            <a:avLst/>
          </a:prstGeom>
          <a:solidFill>
            <a:srgbClr val="5A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3886200"/>
            <a:ext cx="2834640" cy="822960"/>
          </a:xfrm>
          <a:prstGeom prst="rect">
            <a:avLst/>
          </a:prstGeom>
          <a:noFill/>
        </p:spPr>
        <p:txBody>
          <a:bodyPr wrap="square">
            <a:spAutoFit/>
          </a:bodyPr>
          <a:lstStyle/>
          <a:p>
            <a:pPr algn="l"/>
            <a:r>
              <a:rPr sz="3600" b="1" i="0">
                <a:solidFill>
                  <a:srgbClr val="9AB890"/>
                </a:solidFill>
              </a:rPr>
              <a:t>7</a:t>
            </a:r>
          </a:p>
        </p:txBody>
      </p:sp>
      <p:sp>
        <p:nvSpPr>
          <p:cNvPr id="25" name="TextBox 24"/>
          <p:cNvSpPr txBox="1"/>
          <p:nvPr/>
        </p:nvSpPr>
        <p:spPr>
          <a:xfrm>
            <a:off x="5166360" y="4754880"/>
            <a:ext cx="2834640" cy="548640"/>
          </a:xfrm>
          <a:prstGeom prst="rect">
            <a:avLst/>
          </a:prstGeom>
          <a:noFill/>
        </p:spPr>
        <p:txBody>
          <a:bodyPr wrap="square">
            <a:spAutoFit/>
          </a:bodyPr>
          <a:lstStyle/>
          <a:p>
            <a:pPr algn="l"/>
            <a:r>
              <a:rPr sz="1100" b="0" i="0">
                <a:solidFill>
                  <a:srgbClr val="8AA086"/>
                </a:solidFill>
              </a:rPr>
              <a:t>Tier A - urgent treatment</a:t>
            </a:r>
          </a:p>
        </p:txBody>
      </p:sp>
      <p:sp>
        <p:nvSpPr>
          <p:cNvPr id="26" name="Rectangle 25"/>
          <p:cNvSpPr/>
          <p:nvPr/>
        </p:nvSpPr>
        <p:spPr>
          <a:xfrm>
            <a:off x="8503920" y="3657600"/>
            <a:ext cx="3291840" cy="2011680"/>
          </a:xfrm>
          <a:prstGeom prst="rect">
            <a:avLst/>
          </a:prstGeom>
          <a:solidFill>
            <a:srgbClr val="203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503920" y="3657600"/>
            <a:ext cx="3291840" cy="64008"/>
          </a:xfrm>
          <a:prstGeom prst="rect">
            <a:avLst/>
          </a:prstGeom>
          <a:solidFill>
            <a:srgbClr val="5A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732520" y="3886200"/>
            <a:ext cx="2834640" cy="822960"/>
          </a:xfrm>
          <a:prstGeom prst="rect">
            <a:avLst/>
          </a:prstGeom>
          <a:noFill/>
        </p:spPr>
        <p:txBody>
          <a:bodyPr wrap="square">
            <a:spAutoFit/>
          </a:bodyPr>
          <a:lstStyle/>
          <a:p>
            <a:pPr algn="l"/>
            <a:r>
              <a:rPr sz="3600" b="1" i="0">
                <a:solidFill>
                  <a:srgbClr val="9AB890"/>
                </a:solidFill>
              </a:rPr>
              <a:t>Jan 15, 2027</a:t>
            </a:r>
          </a:p>
        </p:txBody>
      </p:sp>
      <p:sp>
        <p:nvSpPr>
          <p:cNvPr id="29" name="TextBox 28"/>
          <p:cNvSpPr txBox="1"/>
          <p:nvPr/>
        </p:nvSpPr>
        <p:spPr>
          <a:xfrm>
            <a:off x="8732520" y="4754880"/>
            <a:ext cx="2834640" cy="548640"/>
          </a:xfrm>
          <a:prstGeom prst="rect">
            <a:avLst/>
          </a:prstGeom>
          <a:noFill/>
        </p:spPr>
        <p:txBody>
          <a:bodyPr wrap="square">
            <a:spAutoFit/>
          </a:bodyPr>
          <a:lstStyle/>
          <a:p>
            <a:pPr algn="l"/>
            <a:r>
              <a:rPr sz="1100" b="0" i="0">
                <a:solidFill>
                  <a:srgbClr val="8AA086"/>
                </a:solidFill>
              </a:rPr>
              <a:t>Report due date</a:t>
            </a:r>
          </a:p>
        </p:txBody>
      </p:sp>
      <p:sp>
        <p:nvSpPr>
          <p:cNvPr id="30" name="Rectangle 29"/>
          <p:cNvSpPr/>
          <p:nvPr/>
        </p:nvSpPr>
        <p:spPr>
          <a:xfrm>
            <a:off x="0" y="6492240"/>
            <a:ext cx="12188952" cy="365760"/>
          </a:xfrm>
          <a:prstGeom prst="rect">
            <a:avLst/>
          </a:prstGeom>
          <a:solidFill>
            <a:srgbClr val="223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6565392"/>
            <a:ext cx="10972800" cy="228600"/>
          </a:xfrm>
          <a:prstGeom prst="rect">
            <a:avLst/>
          </a:prstGeom>
          <a:noFill/>
        </p:spPr>
        <p:txBody>
          <a:bodyPr wrap="square">
            <a:spAutoFit/>
          </a:bodyPr>
          <a:lstStyle/>
          <a:p>
            <a:pPr algn="l"/>
            <a:r>
              <a:rPr sz="850" b="0" i="0">
                <a:solidFill>
                  <a:srgbClr val="8AA086"/>
                </a:solidFill>
              </a:rPr>
              <a:t>Perez Textile Conservation  -  Project PTC-2025-008  -  Condition Survey Report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51E14"/>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5A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37960"/>
            <a:ext cx="12188952" cy="320040"/>
          </a:xfrm>
          <a:prstGeom prst="rect">
            <a:avLst/>
          </a:prstGeom>
          <a:solidFill>
            <a:srgbClr val="223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565392"/>
            <a:ext cx="10972800" cy="256032"/>
          </a:xfrm>
          <a:prstGeom prst="rect">
            <a:avLst/>
          </a:prstGeom>
          <a:noFill/>
        </p:spPr>
        <p:txBody>
          <a:bodyPr wrap="square">
            <a:spAutoFit/>
          </a:bodyPr>
          <a:lstStyle/>
          <a:p>
            <a:pPr algn="l"/>
            <a:r>
              <a:rPr sz="900" b="0" i="0">
                <a:solidFill>
                  <a:srgbClr val="8AA086"/>
                </a:solidFill>
              </a:rPr>
              <a:t>PTC-2025-008  |  Peabody Essex Museum - Sampler Survey  |  Jesse Perez</a:t>
            </a:r>
          </a:p>
        </p:txBody>
      </p:sp>
      <p:sp>
        <p:nvSpPr>
          <p:cNvPr id="5" name="TextBox 4"/>
          <p:cNvSpPr txBox="1"/>
          <p:nvPr/>
        </p:nvSpPr>
        <p:spPr>
          <a:xfrm>
            <a:off x="548640" y="502920"/>
            <a:ext cx="10972800" cy="320040"/>
          </a:xfrm>
          <a:prstGeom prst="rect">
            <a:avLst/>
          </a:prstGeom>
          <a:noFill/>
        </p:spPr>
        <p:txBody>
          <a:bodyPr wrap="square">
            <a:spAutoFit/>
          </a:bodyPr>
          <a:lstStyle/>
          <a:p>
            <a:pPr algn="l"/>
            <a:r>
              <a:rPr sz="900" b="0" i="0">
                <a:solidFill>
                  <a:srgbClr val="9AB890"/>
                </a:solidFill>
              </a:rPr>
              <a:t>METHODOLOGY</a:t>
            </a:r>
          </a:p>
        </p:txBody>
      </p:sp>
      <p:sp>
        <p:nvSpPr>
          <p:cNvPr id="6" name="TextBox 5"/>
          <p:cNvSpPr txBox="1"/>
          <p:nvPr/>
        </p:nvSpPr>
        <p:spPr>
          <a:xfrm>
            <a:off x="548640" y="868680"/>
            <a:ext cx="10515600" cy="1097280"/>
          </a:xfrm>
          <a:prstGeom prst="rect">
            <a:avLst/>
          </a:prstGeom>
          <a:noFill/>
        </p:spPr>
        <p:txBody>
          <a:bodyPr wrap="square">
            <a:spAutoFit/>
          </a:bodyPr>
          <a:lstStyle/>
          <a:p>
            <a:pPr algn="l"/>
            <a:r>
              <a:rPr sz="2800" b="0" i="0">
                <a:solidFill>
                  <a:srgbClr val="EEF4EB"/>
                </a:solidFill>
              </a:rPr>
              <a:t>Examination Protocol for the 22-Sampler Survey</a:t>
            </a:r>
          </a:p>
        </p:txBody>
      </p:sp>
      <p:sp>
        <p:nvSpPr>
          <p:cNvPr id="7" name="Rectangle 6"/>
          <p:cNvSpPr/>
          <p:nvPr/>
        </p:nvSpPr>
        <p:spPr>
          <a:xfrm>
            <a:off x="457200" y="1828800"/>
            <a:ext cx="5394960" cy="1325880"/>
          </a:xfrm>
          <a:prstGeom prst="rect">
            <a:avLst/>
          </a:prstGeom>
          <a:solidFill>
            <a:srgbClr val="223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828800"/>
            <a:ext cx="73152" cy="1325880"/>
          </a:xfrm>
          <a:prstGeom prst="rect">
            <a:avLst/>
          </a:prstGeom>
          <a:solidFill>
            <a:srgbClr val="5A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938528"/>
            <a:ext cx="4846320" cy="292608"/>
          </a:xfrm>
          <a:prstGeom prst="rect">
            <a:avLst/>
          </a:prstGeom>
          <a:noFill/>
        </p:spPr>
        <p:txBody>
          <a:bodyPr wrap="square">
            <a:spAutoFit/>
          </a:bodyPr>
          <a:lstStyle/>
          <a:p>
            <a:pPr algn="l"/>
            <a:r>
              <a:rPr sz="1100" b="1" i="0">
                <a:solidFill>
                  <a:srgbClr val="EEF4EB"/>
                </a:solidFill>
              </a:rPr>
              <a:t>Fiber identification</a:t>
            </a:r>
          </a:p>
        </p:txBody>
      </p:sp>
      <p:sp>
        <p:nvSpPr>
          <p:cNvPr id="10" name="TextBox 9"/>
          <p:cNvSpPr txBox="1"/>
          <p:nvPr/>
        </p:nvSpPr>
        <p:spPr>
          <a:xfrm>
            <a:off x="685800" y="2304288"/>
            <a:ext cx="4846320" cy="777240"/>
          </a:xfrm>
          <a:prstGeom prst="rect">
            <a:avLst/>
          </a:prstGeom>
          <a:noFill/>
        </p:spPr>
        <p:txBody>
          <a:bodyPr wrap="square">
            <a:spAutoFit/>
          </a:bodyPr>
          <a:lstStyle/>
          <a:p>
            <a:pPr algn="l"/>
            <a:r>
              <a:rPr sz="1000" b="0" i="0">
                <a:solidFill>
                  <a:srgbClr val="8AA086"/>
                </a:solidFill>
              </a:rPr>
              <a:t>Visual microscopy at 10x and 40x magnification. Fiber mount slides for ambiguous cases. Documented by accession number.</a:t>
            </a:r>
          </a:p>
        </p:txBody>
      </p:sp>
      <p:sp>
        <p:nvSpPr>
          <p:cNvPr id="11" name="Rectangle 10"/>
          <p:cNvSpPr/>
          <p:nvPr/>
        </p:nvSpPr>
        <p:spPr>
          <a:xfrm>
            <a:off x="457200" y="3291840"/>
            <a:ext cx="5394960" cy="1325880"/>
          </a:xfrm>
          <a:prstGeom prst="rect">
            <a:avLst/>
          </a:prstGeom>
          <a:solidFill>
            <a:srgbClr val="223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3291840"/>
            <a:ext cx="73152" cy="1325880"/>
          </a:xfrm>
          <a:prstGeom prst="rect">
            <a:avLst/>
          </a:prstGeom>
          <a:solidFill>
            <a:srgbClr val="5A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401568"/>
            <a:ext cx="4846320" cy="292608"/>
          </a:xfrm>
          <a:prstGeom prst="rect">
            <a:avLst/>
          </a:prstGeom>
          <a:noFill/>
        </p:spPr>
        <p:txBody>
          <a:bodyPr wrap="square">
            <a:spAutoFit/>
          </a:bodyPr>
          <a:lstStyle/>
          <a:p>
            <a:pPr algn="l"/>
            <a:r>
              <a:rPr sz="1100" b="1" i="0">
                <a:solidFill>
                  <a:srgbClr val="EEF4EB"/>
                </a:solidFill>
              </a:rPr>
              <a:t>Dye assessment</a:t>
            </a:r>
          </a:p>
        </p:txBody>
      </p:sp>
      <p:sp>
        <p:nvSpPr>
          <p:cNvPr id="14" name="TextBox 13"/>
          <p:cNvSpPr txBox="1"/>
          <p:nvPr/>
        </p:nvSpPr>
        <p:spPr>
          <a:xfrm>
            <a:off x="685800" y="3767328"/>
            <a:ext cx="4846320" cy="777240"/>
          </a:xfrm>
          <a:prstGeom prst="rect">
            <a:avLst/>
          </a:prstGeom>
          <a:noFill/>
        </p:spPr>
        <p:txBody>
          <a:bodyPr wrap="square">
            <a:spAutoFit/>
          </a:bodyPr>
          <a:lstStyle/>
          <a:p>
            <a:pPr algn="l"/>
            <a:r>
              <a:rPr sz="1000" b="0" i="0">
                <a:solidFill>
                  <a:srgbClr val="8AA086"/>
                </a:solidFill>
              </a:rPr>
              <a:t>UV fluorescence and spot test where condition permits. Documented by fiber group (silk, wool, linen ground).</a:t>
            </a:r>
          </a:p>
        </p:txBody>
      </p:sp>
      <p:sp>
        <p:nvSpPr>
          <p:cNvPr id="15" name="Rectangle 14"/>
          <p:cNvSpPr/>
          <p:nvPr/>
        </p:nvSpPr>
        <p:spPr>
          <a:xfrm>
            <a:off x="457200" y="4754880"/>
            <a:ext cx="5394960" cy="1325880"/>
          </a:xfrm>
          <a:prstGeom prst="rect">
            <a:avLst/>
          </a:prstGeom>
          <a:solidFill>
            <a:srgbClr val="223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4754880"/>
            <a:ext cx="73152" cy="1325880"/>
          </a:xfrm>
          <a:prstGeom prst="rect">
            <a:avLst/>
          </a:prstGeom>
          <a:solidFill>
            <a:srgbClr val="5A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864608"/>
            <a:ext cx="4846320" cy="292608"/>
          </a:xfrm>
          <a:prstGeom prst="rect">
            <a:avLst/>
          </a:prstGeom>
          <a:noFill/>
        </p:spPr>
        <p:txBody>
          <a:bodyPr wrap="square">
            <a:spAutoFit/>
          </a:bodyPr>
          <a:lstStyle/>
          <a:p>
            <a:pPr algn="l"/>
            <a:r>
              <a:rPr sz="1100" b="1" i="0">
                <a:solidFill>
                  <a:srgbClr val="EEF4EB"/>
                </a:solidFill>
              </a:rPr>
              <a:t>Structural survey</a:t>
            </a:r>
          </a:p>
        </p:txBody>
      </p:sp>
      <p:sp>
        <p:nvSpPr>
          <p:cNvPr id="18" name="TextBox 17"/>
          <p:cNvSpPr txBox="1"/>
          <p:nvPr/>
        </p:nvSpPr>
        <p:spPr>
          <a:xfrm>
            <a:off x="685800" y="5230368"/>
            <a:ext cx="4846320" cy="777240"/>
          </a:xfrm>
          <a:prstGeom prst="rect">
            <a:avLst/>
          </a:prstGeom>
          <a:noFill/>
        </p:spPr>
        <p:txBody>
          <a:bodyPr wrap="square">
            <a:spAutoFit/>
          </a:bodyPr>
          <a:lstStyle/>
          <a:p>
            <a:pPr algn="l"/>
            <a:r>
              <a:rPr sz="1000" b="0" i="0">
                <a:solidFill>
                  <a:srgbClr val="8AA086"/>
                </a:solidFill>
              </a:rPr>
              <a:t>Thread count (warp and weft), embroidery stitch types, ground weave, and physical condition by quadrant. Condition categories: Stable, At-Risk, Failing, Urgent.</a:t>
            </a:r>
          </a:p>
        </p:txBody>
      </p:sp>
      <p:sp>
        <p:nvSpPr>
          <p:cNvPr id="19" name="Rectangle 18"/>
          <p:cNvSpPr/>
          <p:nvPr/>
        </p:nvSpPr>
        <p:spPr>
          <a:xfrm>
            <a:off x="6217920" y="1828800"/>
            <a:ext cx="5394960" cy="1325880"/>
          </a:xfrm>
          <a:prstGeom prst="rect">
            <a:avLst/>
          </a:prstGeom>
          <a:solidFill>
            <a:srgbClr val="223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1828800"/>
            <a:ext cx="73152" cy="1325880"/>
          </a:xfrm>
          <a:prstGeom prst="rect">
            <a:avLst/>
          </a:prstGeom>
          <a:solidFill>
            <a:srgbClr val="5A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1938528"/>
            <a:ext cx="4846320" cy="292608"/>
          </a:xfrm>
          <a:prstGeom prst="rect">
            <a:avLst/>
          </a:prstGeom>
          <a:noFill/>
        </p:spPr>
        <p:txBody>
          <a:bodyPr wrap="square">
            <a:spAutoFit/>
          </a:bodyPr>
          <a:lstStyle/>
          <a:p>
            <a:pPr algn="l"/>
            <a:r>
              <a:rPr sz="1100" b="1" i="0">
                <a:solidFill>
                  <a:srgbClr val="EEF4EB"/>
                </a:solidFill>
              </a:rPr>
              <a:t>Dimensional record</a:t>
            </a:r>
          </a:p>
        </p:txBody>
      </p:sp>
      <p:sp>
        <p:nvSpPr>
          <p:cNvPr id="22" name="TextBox 21"/>
          <p:cNvSpPr txBox="1"/>
          <p:nvPr/>
        </p:nvSpPr>
        <p:spPr>
          <a:xfrm>
            <a:off x="6446520" y="2304288"/>
            <a:ext cx="4846320" cy="777240"/>
          </a:xfrm>
          <a:prstGeom prst="rect">
            <a:avLst/>
          </a:prstGeom>
          <a:noFill/>
        </p:spPr>
        <p:txBody>
          <a:bodyPr wrap="square">
            <a:spAutoFit/>
          </a:bodyPr>
          <a:lstStyle/>
          <a:p>
            <a:pPr algn="l"/>
            <a:r>
              <a:rPr sz="1000" b="0" i="0">
                <a:solidFill>
                  <a:srgbClr val="8AA086"/>
                </a:solidFill>
              </a:rPr>
              <a:t>Width, height, and depth of any planar distortions measured. All measurements in centimeters.</a:t>
            </a:r>
          </a:p>
        </p:txBody>
      </p:sp>
      <p:sp>
        <p:nvSpPr>
          <p:cNvPr id="23" name="Rectangle 22"/>
          <p:cNvSpPr/>
          <p:nvPr/>
        </p:nvSpPr>
        <p:spPr>
          <a:xfrm>
            <a:off x="6217920" y="3291840"/>
            <a:ext cx="5394960" cy="1325880"/>
          </a:xfrm>
          <a:prstGeom prst="rect">
            <a:avLst/>
          </a:prstGeom>
          <a:solidFill>
            <a:srgbClr val="223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3291840"/>
            <a:ext cx="73152" cy="1325880"/>
          </a:xfrm>
          <a:prstGeom prst="rect">
            <a:avLst/>
          </a:prstGeom>
          <a:solidFill>
            <a:srgbClr val="5A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3401568"/>
            <a:ext cx="4846320" cy="292608"/>
          </a:xfrm>
          <a:prstGeom prst="rect">
            <a:avLst/>
          </a:prstGeom>
          <a:noFill/>
        </p:spPr>
        <p:txBody>
          <a:bodyPr wrap="square">
            <a:spAutoFit/>
          </a:bodyPr>
          <a:lstStyle/>
          <a:p>
            <a:pPr algn="l"/>
            <a:r>
              <a:rPr sz="1100" b="1" i="0">
                <a:solidFill>
                  <a:srgbClr val="EEF4EB"/>
                </a:solidFill>
              </a:rPr>
              <a:t>Photographic record</a:t>
            </a:r>
          </a:p>
        </p:txBody>
      </p:sp>
      <p:sp>
        <p:nvSpPr>
          <p:cNvPr id="26" name="TextBox 25"/>
          <p:cNvSpPr txBox="1"/>
          <p:nvPr/>
        </p:nvSpPr>
        <p:spPr>
          <a:xfrm>
            <a:off x="6446520" y="3767328"/>
            <a:ext cx="4846320" cy="777240"/>
          </a:xfrm>
          <a:prstGeom prst="rect">
            <a:avLst/>
          </a:prstGeom>
          <a:noFill/>
        </p:spPr>
        <p:txBody>
          <a:bodyPr wrap="square">
            <a:spAutoFit/>
          </a:bodyPr>
          <a:lstStyle/>
          <a:p>
            <a:pPr algn="l"/>
            <a:r>
              <a:rPr sz="1000" b="0" i="0">
                <a:solidFill>
                  <a:srgbClr val="8AA086"/>
                </a:solidFill>
              </a:rPr>
              <a:t>Raking light (2 directions), transmitted light, UV fluorescence. All images tagged with accession number.</a:t>
            </a:r>
          </a:p>
        </p:txBody>
      </p:sp>
      <p:sp>
        <p:nvSpPr>
          <p:cNvPr id="27" name="Rectangle 26"/>
          <p:cNvSpPr/>
          <p:nvPr/>
        </p:nvSpPr>
        <p:spPr>
          <a:xfrm>
            <a:off x="6217920" y="4754880"/>
            <a:ext cx="5394960" cy="1325880"/>
          </a:xfrm>
          <a:prstGeom prst="rect">
            <a:avLst/>
          </a:prstGeom>
          <a:solidFill>
            <a:srgbClr val="223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4754880"/>
            <a:ext cx="73152" cy="1325880"/>
          </a:xfrm>
          <a:prstGeom prst="rect">
            <a:avLst/>
          </a:prstGeom>
          <a:solidFill>
            <a:srgbClr val="5A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46520" y="4864608"/>
            <a:ext cx="4846320" cy="292608"/>
          </a:xfrm>
          <a:prstGeom prst="rect">
            <a:avLst/>
          </a:prstGeom>
          <a:noFill/>
        </p:spPr>
        <p:txBody>
          <a:bodyPr wrap="square">
            <a:spAutoFit/>
          </a:bodyPr>
          <a:lstStyle/>
          <a:p>
            <a:pPr algn="l"/>
            <a:r>
              <a:rPr sz="1100" b="1" i="0">
                <a:solidFill>
                  <a:srgbClr val="EEF4EB"/>
                </a:solidFill>
              </a:rPr>
              <a:t>Triage and tiering</a:t>
            </a:r>
          </a:p>
        </p:txBody>
      </p:sp>
      <p:sp>
        <p:nvSpPr>
          <p:cNvPr id="30" name="TextBox 29"/>
          <p:cNvSpPr txBox="1"/>
          <p:nvPr/>
        </p:nvSpPr>
        <p:spPr>
          <a:xfrm>
            <a:off x="6446520" y="5230368"/>
            <a:ext cx="4846320" cy="777240"/>
          </a:xfrm>
          <a:prstGeom prst="rect">
            <a:avLst/>
          </a:prstGeom>
          <a:noFill/>
        </p:spPr>
        <p:txBody>
          <a:bodyPr wrap="square">
            <a:spAutoFit/>
          </a:bodyPr>
          <a:lstStyle/>
          <a:p>
            <a:pPr algn="l"/>
            <a:r>
              <a:rPr sz="1000" b="0" i="0">
                <a:solidFill>
                  <a:srgbClr val="8AA086"/>
                </a:solidFill>
              </a:rPr>
              <a:t>Each object assigned to Tier A (treatment urgently required), Tier B (treatment within 5 years), or Tier C (monitor only).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51E14"/>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5A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37960"/>
            <a:ext cx="12188952" cy="320040"/>
          </a:xfrm>
          <a:prstGeom prst="rect">
            <a:avLst/>
          </a:prstGeom>
          <a:solidFill>
            <a:srgbClr val="223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565392"/>
            <a:ext cx="10972800" cy="256032"/>
          </a:xfrm>
          <a:prstGeom prst="rect">
            <a:avLst/>
          </a:prstGeom>
          <a:noFill/>
        </p:spPr>
        <p:txBody>
          <a:bodyPr wrap="square">
            <a:spAutoFit/>
          </a:bodyPr>
          <a:lstStyle/>
          <a:p>
            <a:pPr algn="l"/>
            <a:r>
              <a:rPr sz="900" b="0" i="0">
                <a:solidFill>
                  <a:srgbClr val="8AA086"/>
                </a:solidFill>
              </a:rPr>
              <a:t>PTC-2025-008  |  Peabody Essex Museum - Sampler Survey  |  Jesse Perez</a:t>
            </a:r>
          </a:p>
        </p:txBody>
      </p:sp>
      <p:sp>
        <p:nvSpPr>
          <p:cNvPr id="5" name="TextBox 4"/>
          <p:cNvSpPr txBox="1"/>
          <p:nvPr/>
        </p:nvSpPr>
        <p:spPr>
          <a:xfrm>
            <a:off x="548640" y="502920"/>
            <a:ext cx="10972800" cy="320040"/>
          </a:xfrm>
          <a:prstGeom prst="rect">
            <a:avLst/>
          </a:prstGeom>
          <a:noFill/>
        </p:spPr>
        <p:txBody>
          <a:bodyPr wrap="square">
            <a:spAutoFit/>
          </a:bodyPr>
          <a:lstStyle/>
          <a:p>
            <a:pPr algn="l"/>
            <a:r>
              <a:rPr sz="900" b="0" i="0">
                <a:solidFill>
                  <a:srgbClr val="9AB890"/>
                </a:solidFill>
              </a:rPr>
              <a:t>RESULTS OVERVIEW</a:t>
            </a:r>
          </a:p>
        </p:txBody>
      </p:sp>
      <p:sp>
        <p:nvSpPr>
          <p:cNvPr id="6" name="TextBox 5"/>
          <p:cNvSpPr txBox="1"/>
          <p:nvPr/>
        </p:nvSpPr>
        <p:spPr>
          <a:xfrm>
            <a:off x="548640" y="868680"/>
            <a:ext cx="10515600" cy="1097280"/>
          </a:xfrm>
          <a:prstGeom prst="rect">
            <a:avLst/>
          </a:prstGeom>
          <a:noFill/>
        </p:spPr>
        <p:txBody>
          <a:bodyPr wrap="square">
            <a:spAutoFit/>
          </a:bodyPr>
          <a:lstStyle/>
          <a:p>
            <a:pPr algn="l"/>
            <a:r>
              <a:rPr sz="2800" b="0" i="0">
                <a:solidFill>
                  <a:srgbClr val="EEF4EB"/>
                </a:solidFill>
              </a:rPr>
              <a:t>Condition Distribution Across 22 Samplers</a:t>
            </a:r>
          </a:p>
        </p:txBody>
      </p:sp>
      <p:graphicFrame>
        <p:nvGraphicFramePr>
          <p:cNvPr id="7" name="Chart 6"/>
          <p:cNvGraphicFramePr>
            <a:graphicFrameLocks noGrp="1"/>
          </p:cNvGraphicFramePr>
          <p:nvPr/>
        </p:nvGraphicFramePr>
        <p:xfrm>
          <a:off x="457200" y="1828800"/>
          <a:ext cx="5029200" cy="4114800"/>
        </p:xfrm>
        <a:graphic>
          <a:graphicData uri="http://schemas.openxmlformats.org/drawingml/2006/chart">
            <c:chart xmlns:c="http://schemas.openxmlformats.org/drawingml/2006/chart" r:id="rId2"/>
          </a:graphicData>
        </a:graphic>
      </p:graphicFrame>
      <p:graphicFrame>
        <p:nvGraphicFramePr>
          <p:cNvPr id="8" name="Table 7"/>
          <p:cNvGraphicFramePr>
            <a:graphicFrameLocks noGrp="1"/>
          </p:cNvGraphicFramePr>
          <p:nvPr/>
        </p:nvGraphicFramePr>
        <p:xfrm>
          <a:off x="5760720" y="1828800"/>
          <a:ext cx="5943600" cy="4114800"/>
        </p:xfrm>
        <a:graphic>
          <a:graphicData uri="http://schemas.openxmlformats.org/drawingml/2006/table">
            <a:tbl>
              <a:tblPr firstRow="1" bandRow="1">
                <a:tableStyleId>{5C22544A-7EE6-4342-B048-85BDC9FD1C3A}</a:tableStyleId>
              </a:tblPr>
              <a:tblGrid>
                <a:gridCol w="1981200"/>
                <a:gridCol w="1981200"/>
                <a:gridCol w="1981200"/>
              </a:tblGrid>
              <a:tr h="514350">
                <a:tc>
                  <a:txBody>
                    <a:bodyPr/>
                    <a:lstStyle/>
                    <a:p>
                      <a:pPr algn="l"/>
                      <a:r>
                        <a:rPr sz="1000" b="1">
                          <a:solidFill>
                            <a:srgbClr val="FFFFFF"/>
                          </a:solidFill>
                        </a:rPr>
                        <a:t>Condition Issue</a:t>
                      </a:r>
                    </a:p>
                  </a:txBody>
                  <a:tcPr>
                    <a:solidFill>
                      <a:srgbClr val="5A7A52"/>
                    </a:solidFill>
                  </a:tcPr>
                </a:tc>
                <a:tc>
                  <a:txBody>
                    <a:bodyPr/>
                    <a:lstStyle/>
                    <a:p>
                      <a:pPr algn="l"/>
                      <a:r>
                        <a:rPr sz="1000" b="1">
                          <a:solidFill>
                            <a:srgbClr val="FFFFFF"/>
                          </a:solidFill>
                        </a:rPr>
                        <a:t>Objects</a:t>
                      </a:r>
                    </a:p>
                  </a:txBody>
                  <a:tcPr>
                    <a:solidFill>
                      <a:srgbClr val="5A7A52"/>
                    </a:solidFill>
                  </a:tcPr>
                </a:tc>
                <a:tc>
                  <a:txBody>
                    <a:bodyPr/>
                    <a:lstStyle/>
                    <a:p>
                      <a:pPr algn="l"/>
                      <a:r>
                        <a:rPr sz="1000" b="1">
                          <a:solidFill>
                            <a:srgbClr val="FFFFFF"/>
                          </a:solidFill>
                        </a:rPr>
                        <a:t>Tier</a:t>
                      </a:r>
                    </a:p>
                  </a:txBody>
                  <a:tcPr>
                    <a:solidFill>
                      <a:srgbClr val="5A7A52"/>
                    </a:solidFill>
                  </a:tcPr>
                </a:tc>
              </a:tr>
              <a:tr h="514350">
                <a:tc>
                  <a:txBody>
                    <a:bodyPr/>
                    <a:lstStyle/>
                    <a:p>
                      <a:pPr algn="l"/>
                      <a:r>
                        <a:rPr sz="1000">
                          <a:solidFill>
                            <a:srgbClr val="EEF4EB"/>
                          </a:solidFill>
                        </a:rPr>
                        <a:t>Active warp breakage</a:t>
                      </a:r>
                    </a:p>
                  </a:txBody>
                  <a:tcPr>
                    <a:solidFill>
                      <a:srgbClr val="151E14"/>
                    </a:solidFill>
                  </a:tcPr>
                </a:tc>
                <a:tc>
                  <a:txBody>
                    <a:bodyPr/>
                    <a:lstStyle/>
                    <a:p>
                      <a:pPr algn="l"/>
                      <a:r>
                        <a:rPr sz="1000">
                          <a:solidFill>
                            <a:srgbClr val="EEF4EB"/>
                          </a:solidFill>
                        </a:rPr>
                        <a:t>4</a:t>
                      </a:r>
                    </a:p>
                  </a:txBody>
                  <a:tcPr>
                    <a:solidFill>
                      <a:srgbClr val="151E14"/>
                    </a:solidFill>
                  </a:tcPr>
                </a:tc>
                <a:tc>
                  <a:txBody>
                    <a:bodyPr/>
                    <a:lstStyle/>
                    <a:p>
                      <a:pPr algn="l"/>
                      <a:r>
                        <a:rPr sz="1000">
                          <a:solidFill>
                            <a:srgbClr val="EEF4EB"/>
                          </a:solidFill>
                        </a:rPr>
                        <a:t>A</a:t>
                      </a:r>
                    </a:p>
                  </a:txBody>
                  <a:tcPr>
                    <a:solidFill>
                      <a:srgbClr val="151E14"/>
                    </a:solidFill>
                  </a:tcPr>
                </a:tc>
              </a:tr>
              <a:tr h="514350">
                <a:tc>
                  <a:txBody>
                    <a:bodyPr/>
                    <a:lstStyle/>
                    <a:p>
                      <a:pPr algn="l"/>
                      <a:r>
                        <a:rPr sz="1000">
                          <a:solidFill>
                            <a:srgbClr val="EEF4EB"/>
                          </a:solidFill>
                        </a:rPr>
                        <a:t>Severe soiling / grime penetration</a:t>
                      </a:r>
                    </a:p>
                  </a:txBody>
                  <a:tcPr>
                    <a:solidFill>
                      <a:srgbClr val="223020"/>
                    </a:solidFill>
                  </a:tcPr>
                </a:tc>
                <a:tc>
                  <a:txBody>
                    <a:bodyPr/>
                    <a:lstStyle/>
                    <a:p>
                      <a:pPr algn="l"/>
                      <a:r>
                        <a:rPr sz="1000">
                          <a:solidFill>
                            <a:srgbClr val="EEF4EB"/>
                          </a:solidFill>
                        </a:rPr>
                        <a:t>3</a:t>
                      </a:r>
                    </a:p>
                  </a:txBody>
                  <a:tcPr>
                    <a:solidFill>
                      <a:srgbClr val="223020"/>
                    </a:solidFill>
                  </a:tcPr>
                </a:tc>
                <a:tc>
                  <a:txBody>
                    <a:bodyPr/>
                    <a:lstStyle/>
                    <a:p>
                      <a:pPr algn="l"/>
                      <a:r>
                        <a:rPr sz="1000">
                          <a:solidFill>
                            <a:srgbClr val="EEF4EB"/>
                          </a:solidFill>
                        </a:rPr>
                        <a:t>A</a:t>
                      </a:r>
                    </a:p>
                  </a:txBody>
                  <a:tcPr>
                    <a:solidFill>
                      <a:srgbClr val="223020"/>
                    </a:solidFill>
                  </a:tcPr>
                </a:tc>
              </a:tr>
              <a:tr h="514350">
                <a:tc>
                  <a:txBody>
                    <a:bodyPr/>
                    <a:lstStyle/>
                    <a:p>
                      <a:pPr algn="l"/>
                      <a:r>
                        <a:rPr sz="1000">
                          <a:solidFill>
                            <a:srgbClr val="EEF4EB"/>
                          </a:solidFill>
                        </a:rPr>
                        <a:t>Significant embroidery loss</a:t>
                      </a:r>
                    </a:p>
                  </a:txBody>
                  <a:tcPr>
                    <a:solidFill>
                      <a:srgbClr val="151E14"/>
                    </a:solidFill>
                  </a:tcPr>
                </a:tc>
                <a:tc>
                  <a:txBody>
                    <a:bodyPr/>
                    <a:lstStyle/>
                    <a:p>
                      <a:pPr algn="l"/>
                      <a:r>
                        <a:rPr sz="1000">
                          <a:solidFill>
                            <a:srgbClr val="EEF4EB"/>
                          </a:solidFill>
                        </a:rPr>
                        <a:t>5</a:t>
                      </a:r>
                    </a:p>
                  </a:txBody>
                  <a:tcPr>
                    <a:solidFill>
                      <a:srgbClr val="151E14"/>
                    </a:solidFill>
                  </a:tcPr>
                </a:tc>
                <a:tc>
                  <a:txBody>
                    <a:bodyPr/>
                    <a:lstStyle/>
                    <a:p>
                      <a:pPr algn="l"/>
                      <a:r>
                        <a:rPr sz="1000">
                          <a:solidFill>
                            <a:srgbClr val="EEF4EB"/>
                          </a:solidFill>
                        </a:rPr>
                        <a:t>B</a:t>
                      </a:r>
                    </a:p>
                  </a:txBody>
                  <a:tcPr>
                    <a:solidFill>
                      <a:srgbClr val="151E14"/>
                    </a:solidFill>
                  </a:tcPr>
                </a:tc>
              </a:tr>
              <a:tr h="514350">
                <a:tc>
                  <a:txBody>
                    <a:bodyPr/>
                    <a:lstStyle/>
                    <a:p>
                      <a:pPr algn="l"/>
                      <a:r>
                        <a:rPr sz="1000">
                          <a:solidFill>
                            <a:srgbClr val="EEF4EB"/>
                          </a:solidFill>
                        </a:rPr>
                        <a:t>Localized planar distortion</a:t>
                      </a:r>
                    </a:p>
                  </a:txBody>
                  <a:tcPr>
                    <a:solidFill>
                      <a:srgbClr val="223020"/>
                    </a:solidFill>
                  </a:tcPr>
                </a:tc>
                <a:tc>
                  <a:txBody>
                    <a:bodyPr/>
                    <a:lstStyle/>
                    <a:p>
                      <a:pPr algn="l"/>
                      <a:r>
                        <a:rPr sz="1000">
                          <a:solidFill>
                            <a:srgbClr val="EEF4EB"/>
                          </a:solidFill>
                        </a:rPr>
                        <a:t>7</a:t>
                      </a:r>
                    </a:p>
                  </a:txBody>
                  <a:tcPr>
                    <a:solidFill>
                      <a:srgbClr val="223020"/>
                    </a:solidFill>
                  </a:tcPr>
                </a:tc>
                <a:tc>
                  <a:txBody>
                    <a:bodyPr/>
                    <a:lstStyle/>
                    <a:p>
                      <a:pPr algn="l"/>
                      <a:r>
                        <a:rPr sz="1000">
                          <a:solidFill>
                            <a:srgbClr val="EEF4EB"/>
                          </a:solidFill>
                        </a:rPr>
                        <a:t>B</a:t>
                      </a:r>
                    </a:p>
                  </a:txBody>
                  <a:tcPr>
                    <a:solidFill>
                      <a:srgbClr val="223020"/>
                    </a:solidFill>
                  </a:tcPr>
                </a:tc>
              </a:tr>
              <a:tr h="514350">
                <a:tc>
                  <a:txBody>
                    <a:bodyPr/>
                    <a:lstStyle/>
                    <a:p>
                      <a:pPr algn="l"/>
                      <a:r>
                        <a:rPr sz="1000">
                          <a:solidFill>
                            <a:srgbClr val="EEF4EB"/>
                          </a:solidFill>
                        </a:rPr>
                        <a:t>Surface dust / minor soiling</a:t>
                      </a:r>
                    </a:p>
                  </a:txBody>
                  <a:tcPr>
                    <a:solidFill>
                      <a:srgbClr val="151E14"/>
                    </a:solidFill>
                  </a:tcPr>
                </a:tc>
                <a:tc>
                  <a:txBody>
                    <a:bodyPr/>
                    <a:lstStyle/>
                    <a:p>
                      <a:pPr algn="l"/>
                      <a:r>
                        <a:rPr sz="1000">
                          <a:solidFill>
                            <a:srgbClr val="EEF4EB"/>
                          </a:solidFill>
                        </a:rPr>
                        <a:t>5</a:t>
                      </a:r>
                    </a:p>
                  </a:txBody>
                  <a:tcPr>
                    <a:solidFill>
                      <a:srgbClr val="151E14"/>
                    </a:solidFill>
                  </a:tcPr>
                </a:tc>
                <a:tc>
                  <a:txBody>
                    <a:bodyPr/>
                    <a:lstStyle/>
                    <a:p>
                      <a:pPr algn="l"/>
                      <a:r>
                        <a:rPr sz="1000">
                          <a:solidFill>
                            <a:srgbClr val="EEF4EB"/>
                          </a:solidFill>
                        </a:rPr>
                        <a:t>B/C</a:t>
                      </a:r>
                    </a:p>
                  </a:txBody>
                  <a:tcPr>
                    <a:solidFill>
                      <a:srgbClr val="151E14"/>
                    </a:solidFill>
                  </a:tcPr>
                </a:tc>
              </a:tr>
              <a:tr h="514350">
                <a:tc>
                  <a:txBody>
                    <a:bodyPr/>
                    <a:lstStyle/>
                    <a:p>
                      <a:pPr algn="l"/>
                      <a:r>
                        <a:rPr sz="1000">
                          <a:solidFill>
                            <a:srgbClr val="EEF4EB"/>
                          </a:solidFill>
                        </a:rPr>
                        <a:t>Stable, no active issues</a:t>
                      </a:r>
                    </a:p>
                  </a:txBody>
                  <a:tcPr>
                    <a:solidFill>
                      <a:srgbClr val="223020"/>
                    </a:solidFill>
                  </a:tcPr>
                </a:tc>
                <a:tc>
                  <a:txBody>
                    <a:bodyPr/>
                    <a:lstStyle/>
                    <a:p>
                      <a:pPr algn="l"/>
                      <a:r>
                        <a:rPr sz="1000">
                          <a:solidFill>
                            <a:srgbClr val="EEF4EB"/>
                          </a:solidFill>
                        </a:rPr>
                        <a:t>3</a:t>
                      </a:r>
                    </a:p>
                  </a:txBody>
                  <a:tcPr>
                    <a:solidFill>
                      <a:srgbClr val="223020"/>
                    </a:solidFill>
                  </a:tcPr>
                </a:tc>
                <a:tc>
                  <a:txBody>
                    <a:bodyPr/>
                    <a:lstStyle/>
                    <a:p>
                      <a:pPr algn="l"/>
                      <a:r>
                        <a:rPr sz="1000">
                          <a:solidFill>
                            <a:srgbClr val="EEF4EB"/>
                          </a:solidFill>
                        </a:rPr>
                        <a:t>C</a:t>
                      </a:r>
                    </a:p>
                  </a:txBody>
                  <a:tcPr>
                    <a:solidFill>
                      <a:srgbClr val="223020"/>
                    </a:solidFill>
                  </a:tcPr>
                </a:tc>
              </a:tr>
              <a:tr h="514350">
                <a:tc>
                  <a:txBody>
                    <a:bodyPr/>
                    <a:lstStyle/>
                    <a:p>
                      <a:pPr algn="l"/>
                      <a:r>
                        <a:rPr sz="1000">
                          <a:solidFill>
                            <a:srgbClr val="EEF4EB"/>
                          </a:solidFill>
                        </a:rPr>
                        <a:t>Historic repair (reversible needed)</a:t>
                      </a:r>
                    </a:p>
                  </a:txBody>
                  <a:tcPr>
                    <a:solidFill>
                      <a:srgbClr val="151E14"/>
                    </a:solidFill>
                  </a:tcPr>
                </a:tc>
                <a:tc>
                  <a:txBody>
                    <a:bodyPr/>
                    <a:lstStyle/>
                    <a:p>
                      <a:pPr algn="l"/>
                      <a:r>
                        <a:rPr sz="1000">
                          <a:solidFill>
                            <a:srgbClr val="EEF4EB"/>
                          </a:solidFill>
                        </a:rPr>
                        <a:t>2</a:t>
                      </a:r>
                    </a:p>
                  </a:txBody>
                  <a:tcPr>
                    <a:solidFill>
                      <a:srgbClr val="151E14"/>
                    </a:solidFill>
                  </a:tcPr>
                </a:tc>
                <a:tc>
                  <a:txBody>
                    <a:bodyPr/>
                    <a:lstStyle/>
                    <a:p>
                      <a:pPr algn="l"/>
                      <a:r>
                        <a:rPr sz="1000">
                          <a:solidFill>
                            <a:srgbClr val="EEF4EB"/>
                          </a:solidFill>
                        </a:rPr>
                        <a:t>B</a:t>
                      </a:r>
                    </a:p>
                  </a:txBody>
                  <a:tcPr>
                    <a:solidFill>
                      <a:srgbClr val="151E14"/>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51E14"/>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5A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37960"/>
            <a:ext cx="12188952" cy="320040"/>
          </a:xfrm>
          <a:prstGeom prst="rect">
            <a:avLst/>
          </a:prstGeom>
          <a:solidFill>
            <a:srgbClr val="223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565392"/>
            <a:ext cx="10972800" cy="256032"/>
          </a:xfrm>
          <a:prstGeom prst="rect">
            <a:avLst/>
          </a:prstGeom>
          <a:noFill/>
        </p:spPr>
        <p:txBody>
          <a:bodyPr wrap="square">
            <a:spAutoFit/>
          </a:bodyPr>
          <a:lstStyle/>
          <a:p>
            <a:pPr algn="l"/>
            <a:r>
              <a:rPr sz="900" b="0" i="0">
                <a:solidFill>
                  <a:srgbClr val="8AA086"/>
                </a:solidFill>
              </a:rPr>
              <a:t>PTC-2025-008  |  Peabody Essex Museum - Sampler Survey  |  Jesse Perez</a:t>
            </a:r>
          </a:p>
        </p:txBody>
      </p:sp>
      <p:sp>
        <p:nvSpPr>
          <p:cNvPr id="5" name="TextBox 4"/>
          <p:cNvSpPr txBox="1"/>
          <p:nvPr/>
        </p:nvSpPr>
        <p:spPr>
          <a:xfrm>
            <a:off x="548640" y="502920"/>
            <a:ext cx="10972800" cy="320040"/>
          </a:xfrm>
          <a:prstGeom prst="rect">
            <a:avLst/>
          </a:prstGeom>
          <a:noFill/>
        </p:spPr>
        <p:txBody>
          <a:bodyPr wrap="square">
            <a:spAutoFit/>
          </a:bodyPr>
          <a:lstStyle/>
          <a:p>
            <a:pPr algn="l"/>
            <a:r>
              <a:rPr sz="900" b="0" i="0">
                <a:solidFill>
                  <a:srgbClr val="9AB890"/>
                </a:solidFill>
              </a:rPr>
              <a:t>PRIORITY OBJECTS</a:t>
            </a:r>
          </a:p>
        </p:txBody>
      </p:sp>
      <p:sp>
        <p:nvSpPr>
          <p:cNvPr id="6" name="TextBox 5"/>
          <p:cNvSpPr txBox="1"/>
          <p:nvPr/>
        </p:nvSpPr>
        <p:spPr>
          <a:xfrm>
            <a:off x="548640" y="868680"/>
            <a:ext cx="10515600" cy="1097280"/>
          </a:xfrm>
          <a:prstGeom prst="rect">
            <a:avLst/>
          </a:prstGeom>
          <a:noFill/>
        </p:spPr>
        <p:txBody>
          <a:bodyPr wrap="square">
            <a:spAutoFit/>
          </a:bodyPr>
          <a:lstStyle/>
          <a:p>
            <a:pPr algn="l"/>
            <a:r>
              <a:rPr sz="2400" b="0" i="0">
                <a:solidFill>
                  <a:srgbClr val="EEF4EB"/>
                </a:solidFill>
              </a:rPr>
              <a:t>Tier A - Seven Objects Requiring Urgent Treatment</a:t>
            </a:r>
          </a:p>
        </p:txBody>
      </p:sp>
      <p:graphicFrame>
        <p:nvGraphicFramePr>
          <p:cNvPr id="7" name="Table 6"/>
          <p:cNvGraphicFramePr>
            <a:graphicFrameLocks noGrp="1"/>
          </p:cNvGraphicFramePr>
          <p:nvPr/>
        </p:nvGraphicFramePr>
        <p:xfrm>
          <a:off x="457200" y="1828800"/>
          <a:ext cx="11338560" cy="4389120"/>
        </p:xfrm>
        <a:graphic>
          <a:graphicData uri="http://schemas.openxmlformats.org/drawingml/2006/table">
            <a:tbl>
              <a:tblPr firstRow="1" bandRow="1">
                <a:tableStyleId>{5C22544A-7EE6-4342-B048-85BDC9FD1C3A}</a:tableStyleId>
              </a:tblPr>
              <a:tblGrid>
                <a:gridCol w="1619794"/>
                <a:gridCol w="1619794"/>
                <a:gridCol w="1619794"/>
                <a:gridCol w="1619794"/>
                <a:gridCol w="1619794"/>
                <a:gridCol w="1619794"/>
                <a:gridCol w="1619796"/>
              </a:tblGrid>
              <a:tr h="548640">
                <a:tc>
                  <a:txBody>
                    <a:bodyPr/>
                    <a:lstStyle/>
                    <a:p>
                      <a:pPr algn="l"/>
                      <a:r>
                        <a:rPr sz="1000" b="1">
                          <a:solidFill>
                            <a:srgbClr val="FFFFFF"/>
                          </a:solidFill>
                        </a:rPr>
                        <a:t>Accession</a:t>
                      </a:r>
                    </a:p>
                  </a:txBody>
                  <a:tcPr>
                    <a:solidFill>
                      <a:srgbClr val="5A7A52"/>
                    </a:solidFill>
                  </a:tcPr>
                </a:tc>
                <a:tc>
                  <a:txBody>
                    <a:bodyPr/>
                    <a:lstStyle/>
                    <a:p>
                      <a:pPr algn="l"/>
                      <a:r>
                        <a:rPr sz="1000" b="1">
                          <a:solidFill>
                            <a:srgbClr val="FFFFFF"/>
                          </a:solidFill>
                        </a:rPr>
                        <a:t>Date</a:t>
                      </a:r>
                    </a:p>
                  </a:txBody>
                  <a:tcPr>
                    <a:solidFill>
                      <a:srgbClr val="5A7A52"/>
                    </a:solidFill>
                  </a:tcPr>
                </a:tc>
                <a:tc>
                  <a:txBody>
                    <a:bodyPr/>
                    <a:lstStyle/>
                    <a:p>
                      <a:pPr algn="l"/>
                      <a:r>
                        <a:rPr sz="1000" b="1">
                          <a:solidFill>
                            <a:srgbClr val="FFFFFF"/>
                          </a:solidFill>
                        </a:rPr>
                        <a:t>Dimensions (cm)</a:t>
                      </a:r>
                    </a:p>
                  </a:txBody>
                  <a:tcPr>
                    <a:solidFill>
                      <a:srgbClr val="5A7A52"/>
                    </a:solidFill>
                  </a:tcPr>
                </a:tc>
                <a:tc>
                  <a:txBody>
                    <a:bodyPr/>
                    <a:lstStyle/>
                    <a:p>
                      <a:pPr algn="l"/>
                      <a:r>
                        <a:rPr sz="1000" b="1">
                          <a:solidFill>
                            <a:srgbClr val="FFFFFF"/>
                          </a:solidFill>
                        </a:rPr>
                        <a:t>Ground</a:t>
                      </a:r>
                    </a:p>
                  </a:txBody>
                  <a:tcPr>
                    <a:solidFill>
                      <a:srgbClr val="5A7A52"/>
                    </a:solidFill>
                  </a:tcPr>
                </a:tc>
                <a:tc>
                  <a:txBody>
                    <a:bodyPr/>
                    <a:lstStyle/>
                    <a:p>
                      <a:pPr algn="l"/>
                      <a:r>
                        <a:rPr sz="1000" b="1">
                          <a:solidFill>
                            <a:srgbClr val="FFFFFF"/>
                          </a:solidFill>
                        </a:rPr>
                        <a:t>Primary Issue</a:t>
                      </a:r>
                    </a:p>
                  </a:txBody>
                  <a:tcPr>
                    <a:solidFill>
                      <a:srgbClr val="5A7A52"/>
                    </a:solidFill>
                  </a:tcPr>
                </a:tc>
                <a:tc>
                  <a:txBody>
                    <a:bodyPr/>
                    <a:lstStyle/>
                    <a:p>
                      <a:pPr algn="l"/>
                      <a:r>
                        <a:rPr sz="1000" b="1">
                          <a:solidFill>
                            <a:srgbClr val="FFFFFF"/>
                          </a:solidFill>
                        </a:rPr>
                        <a:t>Proposed Treatment</a:t>
                      </a:r>
                    </a:p>
                  </a:txBody>
                  <a:tcPr>
                    <a:solidFill>
                      <a:srgbClr val="5A7A52"/>
                    </a:solidFill>
                  </a:tcPr>
                </a:tc>
                <a:tc>
                  <a:txBody>
                    <a:bodyPr/>
                    <a:lstStyle/>
                    <a:p>
                      <a:pPr algn="l"/>
                      <a:r>
                        <a:rPr sz="1000" b="1">
                          <a:solidFill>
                            <a:srgbClr val="FFFFFF"/>
                          </a:solidFill>
                        </a:rPr>
                        <a:t>Est. Cost</a:t>
                      </a:r>
                    </a:p>
                  </a:txBody>
                  <a:tcPr>
                    <a:solidFill>
                      <a:srgbClr val="5A7A52"/>
                    </a:solidFill>
                  </a:tcPr>
                </a:tc>
              </a:tr>
              <a:tr h="548640">
                <a:tc>
                  <a:txBody>
                    <a:bodyPr/>
                    <a:lstStyle/>
                    <a:p>
                      <a:pPr algn="l"/>
                      <a:r>
                        <a:rPr sz="1000">
                          <a:solidFill>
                            <a:srgbClr val="EEF4EB"/>
                          </a:solidFill>
                        </a:rPr>
                        <a:t>PEM.1996.014.001</a:t>
                      </a:r>
                    </a:p>
                  </a:txBody>
                  <a:tcPr>
                    <a:solidFill>
                      <a:srgbClr val="151E14"/>
                    </a:solidFill>
                  </a:tcPr>
                </a:tc>
                <a:tc>
                  <a:txBody>
                    <a:bodyPr/>
                    <a:lstStyle/>
                    <a:p>
                      <a:pPr algn="l"/>
                      <a:r>
                        <a:rPr sz="1000">
                          <a:solidFill>
                            <a:srgbClr val="EEF4EB"/>
                          </a:solidFill>
                        </a:rPr>
                        <a:t>c. 1750</a:t>
                      </a:r>
                    </a:p>
                  </a:txBody>
                  <a:tcPr>
                    <a:solidFill>
                      <a:srgbClr val="151E14"/>
                    </a:solidFill>
                  </a:tcPr>
                </a:tc>
                <a:tc>
                  <a:txBody>
                    <a:bodyPr/>
                    <a:lstStyle/>
                    <a:p>
                      <a:pPr algn="l"/>
                      <a:r>
                        <a:rPr sz="1000">
                          <a:solidFill>
                            <a:srgbClr val="EEF4EB"/>
                          </a:solidFill>
                        </a:rPr>
                        <a:t>28 x 34</a:t>
                      </a:r>
                    </a:p>
                  </a:txBody>
                  <a:tcPr>
                    <a:solidFill>
                      <a:srgbClr val="151E14"/>
                    </a:solidFill>
                  </a:tcPr>
                </a:tc>
                <a:tc>
                  <a:txBody>
                    <a:bodyPr/>
                    <a:lstStyle/>
                    <a:p>
                      <a:pPr algn="l"/>
                      <a:r>
                        <a:rPr sz="1000">
                          <a:solidFill>
                            <a:srgbClr val="EEF4EB"/>
                          </a:solidFill>
                        </a:rPr>
                        <a:t>Linen</a:t>
                      </a:r>
                    </a:p>
                  </a:txBody>
                  <a:tcPr>
                    <a:solidFill>
                      <a:srgbClr val="151E14"/>
                    </a:solidFill>
                  </a:tcPr>
                </a:tc>
                <a:tc>
                  <a:txBody>
                    <a:bodyPr/>
                    <a:lstStyle/>
                    <a:p>
                      <a:pPr algn="l"/>
                      <a:r>
                        <a:rPr sz="1000">
                          <a:solidFill>
                            <a:srgbClr val="EEF4EB"/>
                          </a:solidFill>
                        </a:rPr>
                        <a:t>Warp breakage, 18%</a:t>
                      </a:r>
                    </a:p>
                  </a:txBody>
                  <a:tcPr>
                    <a:solidFill>
                      <a:srgbClr val="151E14"/>
                    </a:solidFill>
                  </a:tcPr>
                </a:tc>
                <a:tc>
                  <a:txBody>
                    <a:bodyPr/>
                    <a:lstStyle/>
                    <a:p>
                      <a:pPr algn="l"/>
                      <a:r>
                        <a:rPr sz="1000">
                          <a:solidFill>
                            <a:srgbClr val="EEF4EB"/>
                          </a:solidFill>
                        </a:rPr>
                        <a:t>Linen thread support, humidification</a:t>
                      </a:r>
                    </a:p>
                  </a:txBody>
                  <a:tcPr>
                    <a:solidFill>
                      <a:srgbClr val="151E14"/>
                    </a:solidFill>
                  </a:tcPr>
                </a:tc>
                <a:tc>
                  <a:txBody>
                    <a:bodyPr/>
                    <a:lstStyle/>
                    <a:p>
                      <a:pPr algn="l"/>
                      <a:r>
                        <a:rPr sz="1000">
                          <a:solidFill>
                            <a:srgbClr val="EEF4EB"/>
                          </a:solidFill>
                        </a:rPr>
                        <a:t>$1,800</a:t>
                      </a:r>
                    </a:p>
                  </a:txBody>
                  <a:tcPr>
                    <a:solidFill>
                      <a:srgbClr val="151E14"/>
                    </a:solidFill>
                  </a:tcPr>
                </a:tc>
              </a:tr>
              <a:tr h="548640">
                <a:tc>
                  <a:txBody>
                    <a:bodyPr/>
                    <a:lstStyle/>
                    <a:p>
                      <a:pPr algn="l"/>
                      <a:r>
                        <a:rPr sz="1000">
                          <a:solidFill>
                            <a:srgbClr val="EEF4EB"/>
                          </a:solidFill>
                        </a:rPr>
                        <a:t>PEM.2001.022.004</a:t>
                      </a:r>
                    </a:p>
                  </a:txBody>
                  <a:tcPr>
                    <a:solidFill>
                      <a:srgbClr val="223020"/>
                    </a:solidFill>
                  </a:tcPr>
                </a:tc>
                <a:tc>
                  <a:txBody>
                    <a:bodyPr/>
                    <a:lstStyle/>
                    <a:p>
                      <a:pPr algn="l"/>
                      <a:r>
                        <a:rPr sz="1000">
                          <a:solidFill>
                            <a:srgbClr val="EEF4EB"/>
                          </a:solidFill>
                        </a:rPr>
                        <a:t>c. 1780</a:t>
                      </a:r>
                    </a:p>
                  </a:txBody>
                  <a:tcPr>
                    <a:solidFill>
                      <a:srgbClr val="223020"/>
                    </a:solidFill>
                  </a:tcPr>
                </a:tc>
                <a:tc>
                  <a:txBody>
                    <a:bodyPr/>
                    <a:lstStyle/>
                    <a:p>
                      <a:pPr algn="l"/>
                      <a:r>
                        <a:rPr sz="1000">
                          <a:solidFill>
                            <a:srgbClr val="EEF4EB"/>
                          </a:solidFill>
                        </a:rPr>
                        <a:t>22 x 29</a:t>
                      </a:r>
                    </a:p>
                  </a:txBody>
                  <a:tcPr>
                    <a:solidFill>
                      <a:srgbClr val="223020"/>
                    </a:solidFill>
                  </a:tcPr>
                </a:tc>
                <a:tc>
                  <a:txBody>
                    <a:bodyPr/>
                    <a:lstStyle/>
                    <a:p>
                      <a:pPr algn="l"/>
                      <a:r>
                        <a:rPr sz="1000">
                          <a:solidFill>
                            <a:srgbClr val="EEF4EB"/>
                          </a:solidFill>
                        </a:rPr>
                        <a:t>Linen</a:t>
                      </a:r>
                    </a:p>
                  </a:txBody>
                  <a:tcPr>
                    <a:solidFill>
                      <a:srgbClr val="223020"/>
                    </a:solidFill>
                  </a:tcPr>
                </a:tc>
                <a:tc>
                  <a:txBody>
                    <a:bodyPr/>
                    <a:lstStyle/>
                    <a:p>
                      <a:pPr algn="l"/>
                      <a:r>
                        <a:rPr sz="1000">
                          <a:solidFill>
                            <a:srgbClr val="EEF4EB"/>
                          </a:solidFill>
                        </a:rPr>
                        <a:t>Active warp loss, upper 1/4</a:t>
                      </a:r>
                    </a:p>
                  </a:txBody>
                  <a:tcPr>
                    <a:solidFill>
                      <a:srgbClr val="223020"/>
                    </a:solidFill>
                  </a:tcPr>
                </a:tc>
                <a:tc>
                  <a:txBody>
                    <a:bodyPr/>
                    <a:lstStyle/>
                    <a:p>
                      <a:pPr algn="l"/>
                      <a:r>
                        <a:rPr sz="1000">
                          <a:solidFill>
                            <a:srgbClr val="EEF4EB"/>
                          </a:solidFill>
                        </a:rPr>
                        <a:t>Thread replacement, stabilization</a:t>
                      </a:r>
                    </a:p>
                  </a:txBody>
                  <a:tcPr>
                    <a:solidFill>
                      <a:srgbClr val="223020"/>
                    </a:solidFill>
                  </a:tcPr>
                </a:tc>
                <a:tc>
                  <a:txBody>
                    <a:bodyPr/>
                    <a:lstStyle/>
                    <a:p>
                      <a:pPr algn="l"/>
                      <a:r>
                        <a:rPr sz="1000">
                          <a:solidFill>
                            <a:srgbClr val="EEF4EB"/>
                          </a:solidFill>
                        </a:rPr>
                        <a:t>$2,100</a:t>
                      </a:r>
                    </a:p>
                  </a:txBody>
                  <a:tcPr>
                    <a:solidFill>
                      <a:srgbClr val="223020"/>
                    </a:solidFill>
                  </a:tcPr>
                </a:tc>
              </a:tr>
              <a:tr h="548640">
                <a:tc>
                  <a:txBody>
                    <a:bodyPr/>
                    <a:lstStyle/>
                    <a:p>
                      <a:pPr algn="l"/>
                      <a:r>
                        <a:rPr sz="1000">
                          <a:solidFill>
                            <a:srgbClr val="EEF4EB"/>
                          </a:solidFill>
                        </a:rPr>
                        <a:t>PEM.2008.031.002</a:t>
                      </a:r>
                    </a:p>
                  </a:txBody>
                  <a:tcPr>
                    <a:solidFill>
                      <a:srgbClr val="151E14"/>
                    </a:solidFill>
                  </a:tcPr>
                </a:tc>
                <a:tc>
                  <a:txBody>
                    <a:bodyPr/>
                    <a:lstStyle/>
                    <a:p>
                      <a:pPr algn="l"/>
                      <a:r>
                        <a:rPr sz="1000">
                          <a:solidFill>
                            <a:srgbClr val="EEF4EB"/>
                          </a:solidFill>
                        </a:rPr>
                        <a:t>c. 1800</a:t>
                      </a:r>
                    </a:p>
                  </a:txBody>
                  <a:tcPr>
                    <a:solidFill>
                      <a:srgbClr val="151E14"/>
                    </a:solidFill>
                  </a:tcPr>
                </a:tc>
                <a:tc>
                  <a:txBody>
                    <a:bodyPr/>
                    <a:lstStyle/>
                    <a:p>
                      <a:pPr algn="l"/>
                      <a:r>
                        <a:rPr sz="1000">
                          <a:solidFill>
                            <a:srgbClr val="EEF4EB"/>
                          </a:solidFill>
                        </a:rPr>
                        <a:t>31 x 41</a:t>
                      </a:r>
                    </a:p>
                  </a:txBody>
                  <a:tcPr>
                    <a:solidFill>
                      <a:srgbClr val="151E14"/>
                    </a:solidFill>
                  </a:tcPr>
                </a:tc>
                <a:tc>
                  <a:txBody>
                    <a:bodyPr/>
                    <a:lstStyle/>
                    <a:p>
                      <a:pPr algn="l"/>
                      <a:r>
                        <a:rPr sz="1000">
                          <a:solidFill>
                            <a:srgbClr val="EEF4EB"/>
                          </a:solidFill>
                        </a:rPr>
                        <a:t>Linen</a:t>
                      </a:r>
                    </a:p>
                  </a:txBody>
                  <a:tcPr>
                    <a:solidFill>
                      <a:srgbClr val="151E14"/>
                    </a:solidFill>
                  </a:tcPr>
                </a:tc>
                <a:tc>
                  <a:txBody>
                    <a:bodyPr/>
                    <a:lstStyle/>
                    <a:p>
                      <a:pPr algn="l"/>
                      <a:r>
                        <a:rPr sz="1000">
                          <a:solidFill>
                            <a:srgbClr val="EEF4EB"/>
                          </a:solidFill>
                        </a:rPr>
                        <a:t>Warp breakage + soiling</a:t>
                      </a:r>
                    </a:p>
                  </a:txBody>
                  <a:tcPr>
                    <a:solidFill>
                      <a:srgbClr val="151E14"/>
                    </a:solidFill>
                  </a:tcPr>
                </a:tc>
                <a:tc>
                  <a:txBody>
                    <a:bodyPr/>
                    <a:lstStyle/>
                    <a:p>
                      <a:pPr algn="l"/>
                      <a:r>
                        <a:rPr sz="1000">
                          <a:solidFill>
                            <a:srgbClr val="EEF4EB"/>
                          </a:solidFill>
                        </a:rPr>
                        <a:t>Cleaning, consolidation</a:t>
                      </a:r>
                    </a:p>
                  </a:txBody>
                  <a:tcPr>
                    <a:solidFill>
                      <a:srgbClr val="151E14"/>
                    </a:solidFill>
                  </a:tcPr>
                </a:tc>
                <a:tc>
                  <a:txBody>
                    <a:bodyPr/>
                    <a:lstStyle/>
                    <a:p>
                      <a:pPr algn="l"/>
                      <a:r>
                        <a:rPr sz="1000">
                          <a:solidFill>
                            <a:srgbClr val="EEF4EB"/>
                          </a:solidFill>
                        </a:rPr>
                        <a:t>$2,400</a:t>
                      </a:r>
                    </a:p>
                  </a:txBody>
                  <a:tcPr>
                    <a:solidFill>
                      <a:srgbClr val="151E14"/>
                    </a:solidFill>
                  </a:tcPr>
                </a:tc>
              </a:tr>
              <a:tr h="548640">
                <a:tc>
                  <a:txBody>
                    <a:bodyPr/>
                    <a:lstStyle/>
                    <a:p>
                      <a:pPr algn="l"/>
                      <a:r>
                        <a:rPr sz="1000">
                          <a:solidFill>
                            <a:srgbClr val="EEF4EB"/>
                          </a:solidFill>
                        </a:rPr>
                        <a:t>PEM.1974.008.001</a:t>
                      </a:r>
                    </a:p>
                  </a:txBody>
                  <a:tcPr>
                    <a:solidFill>
                      <a:srgbClr val="223020"/>
                    </a:solidFill>
                  </a:tcPr>
                </a:tc>
                <a:tc>
                  <a:txBody>
                    <a:bodyPr/>
                    <a:lstStyle/>
                    <a:p>
                      <a:pPr algn="l"/>
                      <a:r>
                        <a:rPr sz="1000">
                          <a:solidFill>
                            <a:srgbClr val="EEF4EB"/>
                          </a:solidFill>
                        </a:rPr>
                        <a:t>c. 1765</a:t>
                      </a:r>
                    </a:p>
                  </a:txBody>
                  <a:tcPr>
                    <a:solidFill>
                      <a:srgbClr val="223020"/>
                    </a:solidFill>
                  </a:tcPr>
                </a:tc>
                <a:tc>
                  <a:txBody>
                    <a:bodyPr/>
                    <a:lstStyle/>
                    <a:p>
                      <a:pPr algn="l"/>
                      <a:r>
                        <a:rPr sz="1000">
                          <a:solidFill>
                            <a:srgbClr val="EEF4EB"/>
                          </a:solidFill>
                        </a:rPr>
                        <a:t>18 x 24</a:t>
                      </a:r>
                    </a:p>
                  </a:txBody>
                  <a:tcPr>
                    <a:solidFill>
                      <a:srgbClr val="223020"/>
                    </a:solidFill>
                  </a:tcPr>
                </a:tc>
                <a:tc>
                  <a:txBody>
                    <a:bodyPr/>
                    <a:lstStyle/>
                    <a:p>
                      <a:pPr algn="l"/>
                      <a:r>
                        <a:rPr sz="1000">
                          <a:solidFill>
                            <a:srgbClr val="EEF4EB"/>
                          </a:solidFill>
                        </a:rPr>
                        <a:t>Cotton</a:t>
                      </a:r>
                    </a:p>
                  </a:txBody>
                  <a:tcPr>
                    <a:solidFill>
                      <a:srgbClr val="223020"/>
                    </a:solidFill>
                  </a:tcPr>
                </a:tc>
                <a:tc>
                  <a:txBody>
                    <a:bodyPr/>
                    <a:lstStyle/>
                    <a:p>
                      <a:pPr algn="l"/>
                      <a:r>
                        <a:rPr sz="1000">
                          <a:solidFill>
                            <a:srgbClr val="EEF4EB"/>
                          </a:solidFill>
                        </a:rPr>
                        <a:t>Heavy grime, fiber distortion</a:t>
                      </a:r>
                    </a:p>
                  </a:txBody>
                  <a:tcPr>
                    <a:solidFill>
                      <a:srgbClr val="223020"/>
                    </a:solidFill>
                  </a:tcPr>
                </a:tc>
                <a:tc>
                  <a:txBody>
                    <a:bodyPr/>
                    <a:lstStyle/>
                    <a:p>
                      <a:pPr algn="l"/>
                      <a:r>
                        <a:rPr sz="1000">
                          <a:solidFill>
                            <a:srgbClr val="EEF4EB"/>
                          </a:solidFill>
                        </a:rPr>
                        <a:t>Surface clean + humidification</a:t>
                      </a:r>
                    </a:p>
                  </a:txBody>
                  <a:tcPr>
                    <a:solidFill>
                      <a:srgbClr val="223020"/>
                    </a:solidFill>
                  </a:tcPr>
                </a:tc>
                <a:tc>
                  <a:txBody>
                    <a:bodyPr/>
                    <a:lstStyle/>
                    <a:p>
                      <a:pPr algn="l"/>
                      <a:r>
                        <a:rPr sz="1000">
                          <a:solidFill>
                            <a:srgbClr val="EEF4EB"/>
                          </a:solidFill>
                        </a:rPr>
                        <a:t>$1,650</a:t>
                      </a:r>
                    </a:p>
                  </a:txBody>
                  <a:tcPr>
                    <a:solidFill>
                      <a:srgbClr val="223020"/>
                    </a:solidFill>
                  </a:tcPr>
                </a:tc>
              </a:tr>
              <a:tr h="548640">
                <a:tc>
                  <a:txBody>
                    <a:bodyPr/>
                    <a:lstStyle/>
                    <a:p>
                      <a:pPr algn="l"/>
                      <a:r>
                        <a:rPr sz="1000">
                          <a:solidFill>
                            <a:srgbClr val="EEF4EB"/>
                          </a:solidFill>
                        </a:rPr>
                        <a:t>PEM.1988.014.003</a:t>
                      </a:r>
                    </a:p>
                  </a:txBody>
                  <a:tcPr>
                    <a:solidFill>
                      <a:srgbClr val="151E14"/>
                    </a:solidFill>
                  </a:tcPr>
                </a:tc>
                <a:tc>
                  <a:txBody>
                    <a:bodyPr/>
                    <a:lstStyle/>
                    <a:p>
                      <a:pPr algn="l"/>
                      <a:r>
                        <a:rPr sz="1000">
                          <a:solidFill>
                            <a:srgbClr val="EEF4EB"/>
                          </a:solidFill>
                        </a:rPr>
                        <a:t>c. 1790</a:t>
                      </a:r>
                    </a:p>
                  </a:txBody>
                  <a:tcPr>
                    <a:solidFill>
                      <a:srgbClr val="151E14"/>
                    </a:solidFill>
                  </a:tcPr>
                </a:tc>
                <a:tc>
                  <a:txBody>
                    <a:bodyPr/>
                    <a:lstStyle/>
                    <a:p>
                      <a:pPr algn="l"/>
                      <a:r>
                        <a:rPr sz="1000">
                          <a:solidFill>
                            <a:srgbClr val="EEF4EB"/>
                          </a:solidFill>
                        </a:rPr>
                        <a:t>25 x 32</a:t>
                      </a:r>
                    </a:p>
                  </a:txBody>
                  <a:tcPr>
                    <a:solidFill>
                      <a:srgbClr val="151E14"/>
                    </a:solidFill>
                  </a:tcPr>
                </a:tc>
                <a:tc>
                  <a:txBody>
                    <a:bodyPr/>
                    <a:lstStyle/>
                    <a:p>
                      <a:pPr algn="l"/>
                      <a:r>
                        <a:rPr sz="1000">
                          <a:solidFill>
                            <a:srgbClr val="EEF4EB"/>
                          </a:solidFill>
                        </a:rPr>
                        <a:t>Linen</a:t>
                      </a:r>
                    </a:p>
                  </a:txBody>
                  <a:tcPr>
                    <a:solidFill>
                      <a:srgbClr val="151E14"/>
                    </a:solidFill>
                  </a:tcPr>
                </a:tc>
                <a:tc>
                  <a:txBody>
                    <a:bodyPr/>
                    <a:lstStyle/>
                    <a:p>
                      <a:pPr algn="l"/>
                      <a:r>
                        <a:rPr sz="1000">
                          <a:solidFill>
                            <a:srgbClr val="EEF4EB"/>
                          </a:solidFill>
                        </a:rPr>
                        <a:t>Severe planar distortion</a:t>
                      </a:r>
                    </a:p>
                  </a:txBody>
                  <a:tcPr>
                    <a:solidFill>
                      <a:srgbClr val="151E14"/>
                    </a:solidFill>
                  </a:tcPr>
                </a:tc>
                <a:tc>
                  <a:txBody>
                    <a:bodyPr/>
                    <a:lstStyle/>
                    <a:p>
                      <a:pPr algn="l"/>
                      <a:r>
                        <a:rPr sz="1000">
                          <a:solidFill>
                            <a:srgbClr val="EEF4EB"/>
                          </a:solidFill>
                        </a:rPr>
                        <a:t>Humidification + re-lay</a:t>
                      </a:r>
                    </a:p>
                  </a:txBody>
                  <a:tcPr>
                    <a:solidFill>
                      <a:srgbClr val="151E14"/>
                    </a:solidFill>
                  </a:tcPr>
                </a:tc>
                <a:tc>
                  <a:txBody>
                    <a:bodyPr/>
                    <a:lstStyle/>
                    <a:p>
                      <a:pPr algn="l"/>
                      <a:r>
                        <a:rPr sz="1000">
                          <a:solidFill>
                            <a:srgbClr val="EEF4EB"/>
                          </a:solidFill>
                        </a:rPr>
                        <a:t>$1,950</a:t>
                      </a:r>
                    </a:p>
                  </a:txBody>
                  <a:tcPr>
                    <a:solidFill>
                      <a:srgbClr val="151E14"/>
                    </a:solidFill>
                  </a:tcPr>
                </a:tc>
              </a:tr>
              <a:tr h="548640">
                <a:tc>
                  <a:txBody>
                    <a:bodyPr/>
                    <a:lstStyle/>
                    <a:p>
                      <a:pPr algn="l"/>
                      <a:r>
                        <a:rPr sz="1000">
                          <a:solidFill>
                            <a:srgbClr val="EEF4EB"/>
                          </a:solidFill>
                        </a:rPr>
                        <a:t>PEM.2012.044.001</a:t>
                      </a:r>
                    </a:p>
                  </a:txBody>
                  <a:tcPr>
                    <a:solidFill>
                      <a:srgbClr val="223020"/>
                    </a:solidFill>
                  </a:tcPr>
                </a:tc>
                <a:tc>
                  <a:txBody>
                    <a:bodyPr/>
                    <a:lstStyle/>
                    <a:p>
                      <a:pPr algn="l"/>
                      <a:r>
                        <a:rPr sz="1000">
                          <a:solidFill>
                            <a:srgbClr val="EEF4EB"/>
                          </a:solidFill>
                        </a:rPr>
                        <a:t>c. 1820</a:t>
                      </a:r>
                    </a:p>
                  </a:txBody>
                  <a:tcPr>
                    <a:solidFill>
                      <a:srgbClr val="223020"/>
                    </a:solidFill>
                  </a:tcPr>
                </a:tc>
                <a:tc>
                  <a:txBody>
                    <a:bodyPr/>
                    <a:lstStyle/>
                    <a:p>
                      <a:pPr algn="l"/>
                      <a:r>
                        <a:rPr sz="1000">
                          <a:solidFill>
                            <a:srgbClr val="EEF4EB"/>
                          </a:solidFill>
                        </a:rPr>
                        <a:t>29 x 38</a:t>
                      </a:r>
                    </a:p>
                  </a:txBody>
                  <a:tcPr>
                    <a:solidFill>
                      <a:srgbClr val="223020"/>
                    </a:solidFill>
                  </a:tcPr>
                </a:tc>
                <a:tc>
                  <a:txBody>
                    <a:bodyPr/>
                    <a:lstStyle/>
                    <a:p>
                      <a:pPr algn="l"/>
                      <a:r>
                        <a:rPr sz="1000">
                          <a:solidFill>
                            <a:srgbClr val="EEF4EB"/>
                          </a:solidFill>
                        </a:rPr>
                        <a:t>Linen</a:t>
                      </a:r>
                    </a:p>
                  </a:txBody>
                  <a:tcPr>
                    <a:solidFill>
                      <a:srgbClr val="223020"/>
                    </a:solidFill>
                  </a:tcPr>
                </a:tc>
                <a:tc>
                  <a:txBody>
                    <a:bodyPr/>
                    <a:lstStyle/>
                    <a:p>
                      <a:pPr algn="l"/>
                      <a:r>
                        <a:rPr sz="1000">
                          <a:solidFill>
                            <a:srgbClr val="EEF4EB"/>
                          </a:solidFill>
                        </a:rPr>
                        <a:t>Embroidery loss, 20%</a:t>
                      </a:r>
                    </a:p>
                  </a:txBody>
                  <a:tcPr>
                    <a:solidFill>
                      <a:srgbClr val="223020"/>
                    </a:solidFill>
                  </a:tcPr>
                </a:tc>
                <a:tc>
                  <a:txBody>
                    <a:bodyPr/>
                    <a:lstStyle/>
                    <a:p>
                      <a:pPr algn="l"/>
                      <a:r>
                        <a:rPr sz="1000">
                          <a:solidFill>
                            <a:srgbClr val="EEF4EB"/>
                          </a:solidFill>
                        </a:rPr>
                        <a:t>Stabilization, no restoration</a:t>
                      </a:r>
                    </a:p>
                  </a:txBody>
                  <a:tcPr>
                    <a:solidFill>
                      <a:srgbClr val="223020"/>
                    </a:solidFill>
                  </a:tcPr>
                </a:tc>
                <a:tc>
                  <a:txBody>
                    <a:bodyPr/>
                    <a:lstStyle/>
                    <a:p>
                      <a:pPr algn="l"/>
                      <a:r>
                        <a:rPr sz="1000">
                          <a:solidFill>
                            <a:srgbClr val="EEF4EB"/>
                          </a:solidFill>
                        </a:rPr>
                        <a:t>$1,700</a:t>
                      </a:r>
                    </a:p>
                  </a:txBody>
                  <a:tcPr>
                    <a:solidFill>
                      <a:srgbClr val="223020"/>
                    </a:solidFill>
                  </a:tcPr>
                </a:tc>
              </a:tr>
              <a:tr h="548640">
                <a:tc>
                  <a:txBody>
                    <a:bodyPr/>
                    <a:lstStyle/>
                    <a:p>
                      <a:pPr algn="l"/>
                      <a:r>
                        <a:rPr sz="1000">
                          <a:solidFill>
                            <a:srgbClr val="EEF4EB"/>
                          </a:solidFill>
                        </a:rPr>
                        <a:t>PEM.2015.031.002</a:t>
                      </a:r>
                    </a:p>
                  </a:txBody>
                  <a:tcPr>
                    <a:solidFill>
                      <a:srgbClr val="151E14"/>
                    </a:solidFill>
                  </a:tcPr>
                </a:tc>
                <a:tc>
                  <a:txBody>
                    <a:bodyPr/>
                    <a:lstStyle/>
                    <a:p>
                      <a:pPr algn="l"/>
                      <a:r>
                        <a:rPr sz="1000">
                          <a:solidFill>
                            <a:srgbClr val="EEF4EB"/>
                          </a:solidFill>
                        </a:rPr>
                        <a:t>c. 1845</a:t>
                      </a:r>
                    </a:p>
                  </a:txBody>
                  <a:tcPr>
                    <a:solidFill>
                      <a:srgbClr val="151E14"/>
                    </a:solidFill>
                  </a:tcPr>
                </a:tc>
                <a:tc>
                  <a:txBody>
                    <a:bodyPr/>
                    <a:lstStyle/>
                    <a:p>
                      <a:pPr algn="l"/>
                      <a:r>
                        <a:rPr sz="1000">
                          <a:solidFill>
                            <a:srgbClr val="EEF4EB"/>
                          </a:solidFill>
                        </a:rPr>
                        <a:t>34 x 44</a:t>
                      </a:r>
                    </a:p>
                  </a:txBody>
                  <a:tcPr>
                    <a:solidFill>
                      <a:srgbClr val="151E14"/>
                    </a:solidFill>
                  </a:tcPr>
                </a:tc>
                <a:tc>
                  <a:txBody>
                    <a:bodyPr/>
                    <a:lstStyle/>
                    <a:p>
                      <a:pPr algn="l"/>
                      <a:r>
                        <a:rPr sz="1000">
                          <a:solidFill>
                            <a:srgbClr val="EEF4EB"/>
                          </a:solidFill>
                        </a:rPr>
                        <a:t>Cotton</a:t>
                      </a:r>
                    </a:p>
                  </a:txBody>
                  <a:tcPr>
                    <a:solidFill>
                      <a:srgbClr val="151E14"/>
                    </a:solidFill>
                  </a:tcPr>
                </a:tc>
                <a:tc>
                  <a:txBody>
                    <a:bodyPr/>
                    <a:lstStyle/>
                    <a:p>
                      <a:pPr algn="l"/>
                      <a:r>
                        <a:rPr sz="1000">
                          <a:solidFill>
                            <a:srgbClr val="EEF4EB"/>
                          </a:solidFill>
                        </a:rPr>
                        <a:t>Ground tear, embroidery loose</a:t>
                      </a:r>
                    </a:p>
                  </a:txBody>
                  <a:tcPr>
                    <a:solidFill>
                      <a:srgbClr val="151E14"/>
                    </a:solidFill>
                  </a:tcPr>
                </a:tc>
                <a:tc>
                  <a:txBody>
                    <a:bodyPr/>
                    <a:lstStyle/>
                    <a:p>
                      <a:pPr algn="l"/>
                      <a:r>
                        <a:rPr sz="1000">
                          <a:solidFill>
                            <a:srgbClr val="EEF4EB"/>
                          </a:solidFill>
                        </a:rPr>
                        <a:t>Stitch consolidation, support</a:t>
                      </a:r>
                    </a:p>
                  </a:txBody>
                  <a:tcPr>
                    <a:solidFill>
                      <a:srgbClr val="151E14"/>
                    </a:solidFill>
                  </a:tcPr>
                </a:tc>
                <a:tc>
                  <a:txBody>
                    <a:bodyPr/>
                    <a:lstStyle/>
                    <a:p>
                      <a:pPr algn="l"/>
                      <a:r>
                        <a:rPr sz="1000">
                          <a:solidFill>
                            <a:srgbClr val="EEF4EB"/>
                          </a:solidFill>
                        </a:rPr>
                        <a:t>$2,200</a:t>
                      </a:r>
                    </a:p>
                  </a:txBody>
                  <a:tcPr>
                    <a:solidFill>
                      <a:srgbClr val="151E14"/>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51E14"/>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5A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37960"/>
            <a:ext cx="12188952" cy="320040"/>
          </a:xfrm>
          <a:prstGeom prst="rect">
            <a:avLst/>
          </a:prstGeom>
          <a:solidFill>
            <a:srgbClr val="223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565392"/>
            <a:ext cx="10972800" cy="256032"/>
          </a:xfrm>
          <a:prstGeom prst="rect">
            <a:avLst/>
          </a:prstGeom>
          <a:noFill/>
        </p:spPr>
        <p:txBody>
          <a:bodyPr wrap="square">
            <a:spAutoFit/>
          </a:bodyPr>
          <a:lstStyle/>
          <a:p>
            <a:pPr algn="l"/>
            <a:r>
              <a:rPr sz="900" b="0" i="0">
                <a:solidFill>
                  <a:srgbClr val="8AA086"/>
                </a:solidFill>
              </a:rPr>
              <a:t>PTC-2025-008  |  Peabody Essex Museum - Sampler Survey  |  Jesse Perez</a:t>
            </a:r>
          </a:p>
        </p:txBody>
      </p:sp>
      <p:sp>
        <p:nvSpPr>
          <p:cNvPr id="5" name="TextBox 4"/>
          <p:cNvSpPr txBox="1"/>
          <p:nvPr/>
        </p:nvSpPr>
        <p:spPr>
          <a:xfrm>
            <a:off x="548640" y="502920"/>
            <a:ext cx="10972800" cy="320040"/>
          </a:xfrm>
          <a:prstGeom prst="rect">
            <a:avLst/>
          </a:prstGeom>
          <a:noFill/>
        </p:spPr>
        <p:txBody>
          <a:bodyPr wrap="square">
            <a:spAutoFit/>
          </a:bodyPr>
          <a:lstStyle/>
          <a:p>
            <a:pPr algn="l"/>
            <a:r>
              <a:rPr sz="900" b="0" i="0">
                <a:solidFill>
                  <a:srgbClr val="9AB890"/>
                </a:solidFill>
              </a:rPr>
              <a:t>MATERIAL ANALYSIS</a:t>
            </a:r>
          </a:p>
        </p:txBody>
      </p:sp>
      <p:sp>
        <p:nvSpPr>
          <p:cNvPr id="6" name="TextBox 5"/>
          <p:cNvSpPr txBox="1"/>
          <p:nvPr/>
        </p:nvSpPr>
        <p:spPr>
          <a:xfrm>
            <a:off x="548640" y="868680"/>
            <a:ext cx="10515600" cy="1097280"/>
          </a:xfrm>
          <a:prstGeom prst="rect">
            <a:avLst/>
          </a:prstGeom>
          <a:noFill/>
        </p:spPr>
        <p:txBody>
          <a:bodyPr wrap="square">
            <a:spAutoFit/>
          </a:bodyPr>
          <a:lstStyle/>
          <a:p>
            <a:pPr algn="l"/>
            <a:r>
              <a:rPr sz="2400" b="0" i="0">
                <a:solidFill>
                  <a:srgbClr val="EEF4EB"/>
                </a:solidFill>
              </a:rPr>
              <a:t>Fiber and Dye Distribution Across Collection</a:t>
            </a:r>
          </a:p>
        </p:txBody>
      </p:sp>
      <p:graphicFrame>
        <p:nvGraphicFramePr>
          <p:cNvPr id="7" name="Chart 6"/>
          <p:cNvGraphicFramePr>
            <a:graphicFrameLocks noGrp="1"/>
          </p:cNvGraphicFramePr>
          <p:nvPr/>
        </p:nvGraphicFramePr>
        <p:xfrm>
          <a:off x="457200" y="1828800"/>
          <a:ext cx="5303520" cy="4114800"/>
        </p:xfrm>
        <a:graphic>
          <a:graphicData uri="http://schemas.openxmlformats.org/drawingml/2006/chart">
            <c:chart xmlns:c="http://schemas.openxmlformats.org/drawingml/2006/chart" r:id="rId2"/>
          </a:graphicData>
        </a:graphic>
      </p:graphicFrame>
      <p:graphicFrame>
        <p:nvGraphicFramePr>
          <p:cNvPr id="8" name="Chart 7"/>
          <p:cNvGraphicFramePr>
            <a:graphicFrameLocks noGrp="1"/>
          </p:cNvGraphicFramePr>
          <p:nvPr/>
        </p:nvGraphicFramePr>
        <p:xfrm>
          <a:off x="6217920" y="1828800"/>
          <a:ext cx="5303520" cy="4114800"/>
        </p:xfrm>
        <a:graphic>
          <a:graphicData uri="http://schemas.openxmlformats.org/drawingml/2006/chart">
            <c:chart xmlns:c="http://schemas.openxmlformats.org/drawingml/2006/chart" r:id="rId3"/>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51E14"/>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5A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37960"/>
            <a:ext cx="12188952" cy="320040"/>
          </a:xfrm>
          <a:prstGeom prst="rect">
            <a:avLst/>
          </a:prstGeom>
          <a:solidFill>
            <a:srgbClr val="223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565392"/>
            <a:ext cx="10972800" cy="256032"/>
          </a:xfrm>
          <a:prstGeom prst="rect">
            <a:avLst/>
          </a:prstGeom>
          <a:noFill/>
        </p:spPr>
        <p:txBody>
          <a:bodyPr wrap="square">
            <a:spAutoFit/>
          </a:bodyPr>
          <a:lstStyle/>
          <a:p>
            <a:pPr algn="l"/>
            <a:r>
              <a:rPr sz="900" b="0" i="0">
                <a:solidFill>
                  <a:srgbClr val="8AA086"/>
                </a:solidFill>
              </a:rPr>
              <a:t>PTC-2025-008  |  Peabody Essex Museum - Sampler Survey  |  Jesse Perez</a:t>
            </a:r>
          </a:p>
        </p:txBody>
      </p:sp>
      <p:sp>
        <p:nvSpPr>
          <p:cNvPr id="5" name="TextBox 4"/>
          <p:cNvSpPr txBox="1"/>
          <p:nvPr/>
        </p:nvSpPr>
        <p:spPr>
          <a:xfrm>
            <a:off x="548640" y="502920"/>
            <a:ext cx="10972800" cy="320040"/>
          </a:xfrm>
          <a:prstGeom prst="rect">
            <a:avLst/>
          </a:prstGeom>
          <a:noFill/>
        </p:spPr>
        <p:txBody>
          <a:bodyPr wrap="square">
            <a:spAutoFit/>
          </a:bodyPr>
          <a:lstStyle/>
          <a:p>
            <a:pPr algn="l"/>
            <a:r>
              <a:rPr sz="900" b="0" i="0">
                <a:solidFill>
                  <a:srgbClr val="9AB890"/>
                </a:solidFill>
              </a:rPr>
              <a:t>BUDGET AND TIMELINE</a:t>
            </a:r>
          </a:p>
        </p:txBody>
      </p:sp>
      <p:sp>
        <p:nvSpPr>
          <p:cNvPr id="6" name="TextBox 5"/>
          <p:cNvSpPr txBox="1"/>
          <p:nvPr/>
        </p:nvSpPr>
        <p:spPr>
          <a:xfrm>
            <a:off x="548640" y="868680"/>
            <a:ext cx="10515600" cy="1097280"/>
          </a:xfrm>
          <a:prstGeom prst="rect">
            <a:avLst/>
          </a:prstGeom>
          <a:noFill/>
        </p:spPr>
        <p:txBody>
          <a:bodyPr wrap="square">
            <a:spAutoFit/>
          </a:bodyPr>
          <a:lstStyle/>
          <a:p>
            <a:pPr algn="l"/>
            <a:r>
              <a:rPr sz="2400" b="0" i="0">
                <a:solidFill>
                  <a:srgbClr val="EEF4EB"/>
                </a:solidFill>
              </a:rPr>
              <a:t>Phased Treatment Plan and Estimated Costs</a:t>
            </a:r>
          </a:p>
        </p:txBody>
      </p:sp>
      <p:graphicFrame>
        <p:nvGraphicFramePr>
          <p:cNvPr id="7" name="Chart 6"/>
          <p:cNvGraphicFramePr>
            <a:graphicFrameLocks noGrp="1"/>
          </p:cNvGraphicFramePr>
          <p:nvPr/>
        </p:nvGraphicFramePr>
        <p:xfrm>
          <a:off x="457200" y="1828800"/>
          <a:ext cx="5486400" cy="4114800"/>
        </p:xfrm>
        <a:graphic>
          <a:graphicData uri="http://schemas.openxmlformats.org/drawingml/2006/chart">
            <c:chart xmlns:c="http://schemas.openxmlformats.org/drawingml/2006/chart" r:id="rId2"/>
          </a:graphicData>
        </a:graphic>
      </p:graphicFrame>
      <p:sp>
        <p:nvSpPr>
          <p:cNvPr id="8" name="Rectangle 7"/>
          <p:cNvSpPr/>
          <p:nvPr/>
        </p:nvSpPr>
        <p:spPr>
          <a:xfrm>
            <a:off x="6400800" y="1828800"/>
            <a:ext cx="5394960" cy="4114800"/>
          </a:xfrm>
          <a:prstGeom prst="rect">
            <a:avLst/>
          </a:prstGeom>
          <a:solidFill>
            <a:srgbClr val="223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920240"/>
            <a:ext cx="4937760" cy="274320"/>
          </a:xfrm>
          <a:prstGeom prst="rect">
            <a:avLst/>
          </a:prstGeom>
          <a:noFill/>
        </p:spPr>
        <p:txBody>
          <a:bodyPr wrap="square">
            <a:spAutoFit/>
          </a:bodyPr>
          <a:lstStyle/>
          <a:p>
            <a:pPr algn="l"/>
            <a:r>
              <a:rPr sz="1100" b="1" i="0">
                <a:solidFill>
                  <a:srgbClr val="9AB890"/>
                </a:solidFill>
              </a:rPr>
              <a:t>Phased Schedule</a:t>
            </a:r>
          </a:p>
        </p:txBody>
      </p:sp>
      <p:sp>
        <p:nvSpPr>
          <p:cNvPr id="10" name="TextBox 9"/>
          <p:cNvSpPr txBox="1"/>
          <p:nvPr/>
        </p:nvSpPr>
        <p:spPr>
          <a:xfrm>
            <a:off x="6583680" y="2331720"/>
            <a:ext cx="1371600" cy="274320"/>
          </a:xfrm>
          <a:prstGeom prst="rect">
            <a:avLst/>
          </a:prstGeom>
          <a:noFill/>
        </p:spPr>
        <p:txBody>
          <a:bodyPr wrap="square">
            <a:spAutoFit/>
          </a:bodyPr>
          <a:lstStyle/>
          <a:p>
            <a:pPr algn="l"/>
            <a:r>
              <a:rPr sz="1000" b="1" i="0">
                <a:solidFill>
                  <a:srgbClr val="5A7A52"/>
                </a:solidFill>
              </a:rPr>
              <a:t>Phase 1</a:t>
            </a:r>
          </a:p>
        </p:txBody>
      </p:sp>
      <p:sp>
        <p:nvSpPr>
          <p:cNvPr id="11" name="TextBox 10"/>
          <p:cNvSpPr txBox="1"/>
          <p:nvPr/>
        </p:nvSpPr>
        <p:spPr>
          <a:xfrm>
            <a:off x="8046720" y="2331720"/>
            <a:ext cx="1828800" cy="274320"/>
          </a:xfrm>
          <a:prstGeom prst="rect">
            <a:avLst/>
          </a:prstGeom>
          <a:noFill/>
        </p:spPr>
        <p:txBody>
          <a:bodyPr wrap="square">
            <a:spAutoFit/>
          </a:bodyPr>
          <a:lstStyle/>
          <a:p>
            <a:pPr algn="l"/>
            <a:r>
              <a:rPr sz="1000" b="0" i="0">
                <a:solidFill>
                  <a:srgbClr val="E0C060"/>
                </a:solidFill>
              </a:rPr>
              <a:t>Feb - Oct 2026</a:t>
            </a:r>
          </a:p>
        </p:txBody>
      </p:sp>
      <p:sp>
        <p:nvSpPr>
          <p:cNvPr id="12" name="TextBox 11"/>
          <p:cNvSpPr txBox="1"/>
          <p:nvPr/>
        </p:nvSpPr>
        <p:spPr>
          <a:xfrm>
            <a:off x="6583680" y="2633472"/>
            <a:ext cx="3840480" cy="274320"/>
          </a:xfrm>
          <a:prstGeom prst="rect">
            <a:avLst/>
          </a:prstGeom>
          <a:noFill/>
        </p:spPr>
        <p:txBody>
          <a:bodyPr wrap="square">
            <a:spAutoFit/>
          </a:bodyPr>
          <a:lstStyle/>
          <a:p>
            <a:pPr algn="l"/>
            <a:r>
              <a:rPr sz="950" b="0" i="0">
                <a:solidFill>
                  <a:srgbClr val="8AA086"/>
                </a:solidFill>
              </a:rPr>
              <a:t>Tier A treatment (7 objects)</a:t>
            </a:r>
          </a:p>
        </p:txBody>
      </p:sp>
      <p:sp>
        <p:nvSpPr>
          <p:cNvPr id="13" name="TextBox 12"/>
          <p:cNvSpPr txBox="1"/>
          <p:nvPr/>
        </p:nvSpPr>
        <p:spPr>
          <a:xfrm>
            <a:off x="9921240" y="2331720"/>
            <a:ext cx="1737360" cy="274320"/>
          </a:xfrm>
          <a:prstGeom prst="rect">
            <a:avLst/>
          </a:prstGeom>
          <a:noFill/>
        </p:spPr>
        <p:txBody>
          <a:bodyPr wrap="square">
            <a:spAutoFit/>
          </a:bodyPr>
          <a:lstStyle/>
          <a:p>
            <a:pPr algn="r"/>
            <a:r>
              <a:rPr sz="1000" b="1" i="0">
                <a:solidFill>
                  <a:srgbClr val="EEF4EB"/>
                </a:solidFill>
              </a:rPr>
              <a:t>$13,800</a:t>
            </a:r>
          </a:p>
        </p:txBody>
      </p:sp>
      <p:sp>
        <p:nvSpPr>
          <p:cNvPr id="14" name="Rectangle 13"/>
          <p:cNvSpPr/>
          <p:nvPr/>
        </p:nvSpPr>
        <p:spPr>
          <a:xfrm>
            <a:off x="6583680" y="2990087"/>
            <a:ext cx="5029200" cy="18288"/>
          </a:xfrm>
          <a:prstGeom prst="rect">
            <a:avLst/>
          </a:prstGeom>
          <a:solidFill>
            <a:srgbClr val="304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3246120"/>
            <a:ext cx="1371600" cy="274320"/>
          </a:xfrm>
          <a:prstGeom prst="rect">
            <a:avLst/>
          </a:prstGeom>
          <a:noFill/>
        </p:spPr>
        <p:txBody>
          <a:bodyPr wrap="square">
            <a:spAutoFit/>
          </a:bodyPr>
          <a:lstStyle/>
          <a:p>
            <a:pPr algn="l"/>
            <a:r>
              <a:rPr sz="1000" b="1" i="0">
                <a:solidFill>
                  <a:srgbClr val="5A7A52"/>
                </a:solidFill>
              </a:rPr>
              <a:t>Phase 2</a:t>
            </a:r>
          </a:p>
        </p:txBody>
      </p:sp>
      <p:sp>
        <p:nvSpPr>
          <p:cNvPr id="16" name="TextBox 15"/>
          <p:cNvSpPr txBox="1"/>
          <p:nvPr/>
        </p:nvSpPr>
        <p:spPr>
          <a:xfrm>
            <a:off x="8046720" y="3246120"/>
            <a:ext cx="1828800" cy="274320"/>
          </a:xfrm>
          <a:prstGeom prst="rect">
            <a:avLst/>
          </a:prstGeom>
          <a:noFill/>
        </p:spPr>
        <p:txBody>
          <a:bodyPr wrap="square">
            <a:spAutoFit/>
          </a:bodyPr>
          <a:lstStyle/>
          <a:p>
            <a:pPr algn="l"/>
            <a:r>
              <a:rPr sz="1000" b="0" i="0">
                <a:solidFill>
                  <a:srgbClr val="E0C060"/>
                </a:solidFill>
              </a:rPr>
              <a:t>Oct - Dec 2026</a:t>
            </a:r>
          </a:p>
        </p:txBody>
      </p:sp>
      <p:sp>
        <p:nvSpPr>
          <p:cNvPr id="17" name="TextBox 16"/>
          <p:cNvSpPr txBox="1"/>
          <p:nvPr/>
        </p:nvSpPr>
        <p:spPr>
          <a:xfrm>
            <a:off x="6583680" y="3547872"/>
            <a:ext cx="3840480" cy="274320"/>
          </a:xfrm>
          <a:prstGeom prst="rect">
            <a:avLst/>
          </a:prstGeom>
          <a:noFill/>
        </p:spPr>
        <p:txBody>
          <a:bodyPr wrap="square">
            <a:spAutoFit/>
          </a:bodyPr>
          <a:lstStyle/>
          <a:p>
            <a:pPr algn="l"/>
            <a:r>
              <a:rPr sz="950" b="0" i="0">
                <a:solidFill>
                  <a:srgbClr val="8AA086"/>
                </a:solidFill>
              </a:rPr>
              <a:t>Tier B priority (10 objects)</a:t>
            </a:r>
          </a:p>
        </p:txBody>
      </p:sp>
      <p:sp>
        <p:nvSpPr>
          <p:cNvPr id="18" name="TextBox 17"/>
          <p:cNvSpPr txBox="1"/>
          <p:nvPr/>
        </p:nvSpPr>
        <p:spPr>
          <a:xfrm>
            <a:off x="9921240" y="3246120"/>
            <a:ext cx="1737360" cy="274320"/>
          </a:xfrm>
          <a:prstGeom prst="rect">
            <a:avLst/>
          </a:prstGeom>
          <a:noFill/>
        </p:spPr>
        <p:txBody>
          <a:bodyPr wrap="square">
            <a:spAutoFit/>
          </a:bodyPr>
          <a:lstStyle/>
          <a:p>
            <a:pPr algn="r"/>
            <a:r>
              <a:rPr sz="1000" b="1" i="0">
                <a:solidFill>
                  <a:srgbClr val="EEF4EB"/>
                </a:solidFill>
              </a:rPr>
              <a:t>$18,500</a:t>
            </a:r>
          </a:p>
        </p:txBody>
      </p:sp>
      <p:sp>
        <p:nvSpPr>
          <p:cNvPr id="19" name="Rectangle 18"/>
          <p:cNvSpPr/>
          <p:nvPr/>
        </p:nvSpPr>
        <p:spPr>
          <a:xfrm>
            <a:off x="6583680" y="3904487"/>
            <a:ext cx="5029200" cy="18288"/>
          </a:xfrm>
          <a:prstGeom prst="rect">
            <a:avLst/>
          </a:prstGeom>
          <a:solidFill>
            <a:srgbClr val="304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4160520"/>
            <a:ext cx="1371600" cy="274320"/>
          </a:xfrm>
          <a:prstGeom prst="rect">
            <a:avLst/>
          </a:prstGeom>
          <a:noFill/>
        </p:spPr>
        <p:txBody>
          <a:bodyPr wrap="square">
            <a:spAutoFit/>
          </a:bodyPr>
          <a:lstStyle/>
          <a:p>
            <a:pPr algn="l"/>
            <a:r>
              <a:rPr sz="1000" b="1" i="0">
                <a:solidFill>
                  <a:srgbClr val="5A7A52"/>
                </a:solidFill>
              </a:rPr>
              <a:t>Phase 3</a:t>
            </a:r>
          </a:p>
        </p:txBody>
      </p:sp>
      <p:sp>
        <p:nvSpPr>
          <p:cNvPr id="21" name="TextBox 20"/>
          <p:cNvSpPr txBox="1"/>
          <p:nvPr/>
        </p:nvSpPr>
        <p:spPr>
          <a:xfrm>
            <a:off x="8046720" y="4160520"/>
            <a:ext cx="1828800" cy="274320"/>
          </a:xfrm>
          <a:prstGeom prst="rect">
            <a:avLst/>
          </a:prstGeom>
          <a:noFill/>
        </p:spPr>
        <p:txBody>
          <a:bodyPr wrap="square">
            <a:spAutoFit/>
          </a:bodyPr>
          <a:lstStyle/>
          <a:p>
            <a:pPr algn="l"/>
            <a:r>
              <a:rPr sz="1000" b="0" i="0">
                <a:solidFill>
                  <a:srgbClr val="E0C060"/>
                </a:solidFill>
              </a:rPr>
              <a:t>Jan - Apr 2027</a:t>
            </a:r>
          </a:p>
        </p:txBody>
      </p:sp>
      <p:sp>
        <p:nvSpPr>
          <p:cNvPr id="22" name="TextBox 21"/>
          <p:cNvSpPr txBox="1"/>
          <p:nvPr/>
        </p:nvSpPr>
        <p:spPr>
          <a:xfrm>
            <a:off x="6583680" y="4462272"/>
            <a:ext cx="3840480" cy="274320"/>
          </a:xfrm>
          <a:prstGeom prst="rect">
            <a:avLst/>
          </a:prstGeom>
          <a:noFill/>
        </p:spPr>
        <p:txBody>
          <a:bodyPr wrap="square">
            <a:spAutoFit/>
          </a:bodyPr>
          <a:lstStyle/>
          <a:p>
            <a:pPr algn="l"/>
            <a:r>
              <a:rPr sz="950" b="0" i="0">
                <a:solidFill>
                  <a:srgbClr val="8AA086"/>
                </a:solidFill>
              </a:rPr>
              <a:t>Tier C monitoring + framing all</a:t>
            </a:r>
          </a:p>
        </p:txBody>
      </p:sp>
      <p:sp>
        <p:nvSpPr>
          <p:cNvPr id="23" name="TextBox 22"/>
          <p:cNvSpPr txBox="1"/>
          <p:nvPr/>
        </p:nvSpPr>
        <p:spPr>
          <a:xfrm>
            <a:off x="9921240" y="4160520"/>
            <a:ext cx="1737360" cy="274320"/>
          </a:xfrm>
          <a:prstGeom prst="rect">
            <a:avLst/>
          </a:prstGeom>
          <a:noFill/>
        </p:spPr>
        <p:txBody>
          <a:bodyPr wrap="square">
            <a:spAutoFit/>
          </a:bodyPr>
          <a:lstStyle/>
          <a:p>
            <a:pPr algn="r"/>
            <a:r>
              <a:rPr sz="1000" b="1" i="0">
                <a:solidFill>
                  <a:srgbClr val="EEF4EB"/>
                </a:solidFill>
              </a:rPr>
              <a:t>$15,500</a:t>
            </a:r>
          </a:p>
        </p:txBody>
      </p:sp>
      <p:sp>
        <p:nvSpPr>
          <p:cNvPr id="24" name="Rectangle 23"/>
          <p:cNvSpPr/>
          <p:nvPr/>
        </p:nvSpPr>
        <p:spPr>
          <a:xfrm>
            <a:off x="6583680" y="4818888"/>
            <a:ext cx="5029200" cy="18288"/>
          </a:xfrm>
          <a:prstGeom prst="rect">
            <a:avLst/>
          </a:prstGeom>
          <a:solidFill>
            <a:srgbClr val="304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0" y="5074920"/>
            <a:ext cx="1371600" cy="274320"/>
          </a:xfrm>
          <a:prstGeom prst="rect">
            <a:avLst/>
          </a:prstGeom>
          <a:noFill/>
        </p:spPr>
        <p:txBody>
          <a:bodyPr wrap="square">
            <a:spAutoFit/>
          </a:bodyPr>
          <a:lstStyle/>
          <a:p>
            <a:pPr algn="l"/>
            <a:r>
              <a:rPr sz="1000" b="1" i="0">
                <a:solidFill>
                  <a:srgbClr val="5A7A52"/>
                </a:solidFill>
              </a:rPr>
              <a:t>Condition Report</a:t>
            </a:r>
          </a:p>
        </p:txBody>
      </p:sp>
      <p:sp>
        <p:nvSpPr>
          <p:cNvPr id="26" name="TextBox 25"/>
          <p:cNvSpPr txBox="1"/>
          <p:nvPr/>
        </p:nvSpPr>
        <p:spPr>
          <a:xfrm>
            <a:off x="8046720" y="5074920"/>
            <a:ext cx="1828800" cy="274320"/>
          </a:xfrm>
          <a:prstGeom prst="rect">
            <a:avLst/>
          </a:prstGeom>
          <a:noFill/>
        </p:spPr>
        <p:txBody>
          <a:bodyPr wrap="square">
            <a:spAutoFit/>
          </a:bodyPr>
          <a:lstStyle/>
          <a:p>
            <a:pPr algn="l"/>
            <a:r>
              <a:rPr sz="1000" b="0" i="0">
                <a:solidFill>
                  <a:srgbClr val="E0C060"/>
                </a:solidFill>
              </a:rPr>
              <a:t>Jan 15, 2027</a:t>
            </a:r>
          </a:p>
        </p:txBody>
      </p:sp>
      <p:sp>
        <p:nvSpPr>
          <p:cNvPr id="27" name="TextBox 26"/>
          <p:cNvSpPr txBox="1"/>
          <p:nvPr/>
        </p:nvSpPr>
        <p:spPr>
          <a:xfrm>
            <a:off x="6583680" y="5376672"/>
            <a:ext cx="3840480" cy="274320"/>
          </a:xfrm>
          <a:prstGeom prst="rect">
            <a:avLst/>
          </a:prstGeom>
          <a:noFill/>
        </p:spPr>
        <p:txBody>
          <a:bodyPr wrap="square">
            <a:spAutoFit/>
          </a:bodyPr>
          <a:lstStyle/>
          <a:p>
            <a:pPr algn="l"/>
            <a:r>
              <a:rPr sz="950" b="0" i="0">
                <a:solidFill>
                  <a:srgbClr val="8AA086"/>
                </a:solidFill>
              </a:rPr>
              <a:t>Full written report delivered</a:t>
            </a:r>
          </a:p>
        </p:txBody>
      </p:sp>
      <p:sp>
        <p:nvSpPr>
          <p:cNvPr id="28" name="TextBox 27"/>
          <p:cNvSpPr txBox="1"/>
          <p:nvPr/>
        </p:nvSpPr>
        <p:spPr>
          <a:xfrm>
            <a:off x="9921240" y="5074920"/>
            <a:ext cx="1737360" cy="274320"/>
          </a:xfrm>
          <a:prstGeom prst="rect">
            <a:avLst/>
          </a:prstGeom>
          <a:noFill/>
        </p:spPr>
        <p:txBody>
          <a:bodyPr wrap="square">
            <a:spAutoFit/>
          </a:bodyPr>
          <a:lstStyle/>
          <a:p>
            <a:pPr algn="r"/>
            <a:r>
              <a:rPr sz="1000" b="1" i="0">
                <a:solidFill>
                  <a:srgbClr val="EEF4EB"/>
                </a:solidFill>
              </a:rPr>
              <a:t>Included</a:t>
            </a:r>
          </a:p>
        </p:txBody>
      </p:sp>
      <p:sp>
        <p:nvSpPr>
          <p:cNvPr id="29" name="Rectangle 28"/>
          <p:cNvSpPr/>
          <p:nvPr/>
        </p:nvSpPr>
        <p:spPr>
          <a:xfrm>
            <a:off x="6400800" y="5577840"/>
            <a:ext cx="5394960" cy="457200"/>
          </a:xfrm>
          <a:prstGeom prst="rect">
            <a:avLst/>
          </a:prstGeom>
          <a:solidFill>
            <a:srgbClr val="203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0" y="5650992"/>
            <a:ext cx="5029200" cy="274320"/>
          </a:xfrm>
          <a:prstGeom prst="rect">
            <a:avLst/>
          </a:prstGeom>
          <a:noFill/>
        </p:spPr>
        <p:txBody>
          <a:bodyPr wrap="square">
            <a:spAutoFit/>
          </a:bodyPr>
          <a:lstStyle/>
          <a:p>
            <a:pPr algn="l"/>
            <a:r>
              <a:rPr sz="950" b="0" i="0">
                <a:solidFill>
                  <a:srgbClr val="EEF4EB"/>
                </a:solidFill>
              </a:rPr>
              <a:t>Total estimated:  $47,800  (subject to revision after Phase 1 reassessment)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23020"/>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5A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37960"/>
            <a:ext cx="12188952" cy="320040"/>
          </a:xfrm>
          <a:prstGeom prst="rect">
            <a:avLst/>
          </a:prstGeom>
          <a:solidFill>
            <a:srgbClr val="223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565392"/>
            <a:ext cx="10972800" cy="256032"/>
          </a:xfrm>
          <a:prstGeom prst="rect">
            <a:avLst/>
          </a:prstGeom>
          <a:noFill/>
        </p:spPr>
        <p:txBody>
          <a:bodyPr wrap="square">
            <a:spAutoFit/>
          </a:bodyPr>
          <a:lstStyle/>
          <a:p>
            <a:pPr algn="l"/>
            <a:r>
              <a:rPr sz="900" b="0" i="0">
                <a:solidFill>
                  <a:srgbClr val="8AA086"/>
                </a:solidFill>
              </a:rPr>
              <a:t>PTC-2025-008  |  Peabody Essex Museum - Sampler Survey  |  Jesse Perez</a:t>
            </a:r>
          </a:p>
        </p:txBody>
      </p:sp>
      <p:sp>
        <p:nvSpPr>
          <p:cNvPr id="5" name="TextBox 4"/>
          <p:cNvSpPr txBox="1"/>
          <p:nvPr/>
        </p:nvSpPr>
        <p:spPr>
          <a:xfrm>
            <a:off x="548640" y="502920"/>
            <a:ext cx="10972800" cy="320040"/>
          </a:xfrm>
          <a:prstGeom prst="rect">
            <a:avLst/>
          </a:prstGeom>
          <a:noFill/>
        </p:spPr>
        <p:txBody>
          <a:bodyPr wrap="square">
            <a:spAutoFit/>
          </a:bodyPr>
          <a:lstStyle/>
          <a:p>
            <a:pPr algn="l"/>
            <a:r>
              <a:rPr sz="900" b="0" i="0">
                <a:solidFill>
                  <a:srgbClr val="9AB890"/>
                </a:solidFill>
              </a:rPr>
              <a:t>RECOMMENDATIONS</a:t>
            </a:r>
          </a:p>
        </p:txBody>
      </p:sp>
      <p:sp>
        <p:nvSpPr>
          <p:cNvPr id="6" name="TextBox 5"/>
          <p:cNvSpPr txBox="1"/>
          <p:nvPr/>
        </p:nvSpPr>
        <p:spPr>
          <a:xfrm>
            <a:off x="548640" y="868680"/>
            <a:ext cx="10515600" cy="1097280"/>
          </a:xfrm>
          <a:prstGeom prst="rect">
            <a:avLst/>
          </a:prstGeom>
          <a:noFill/>
        </p:spPr>
        <p:txBody>
          <a:bodyPr wrap="square">
            <a:spAutoFit/>
          </a:bodyPr>
          <a:lstStyle/>
          <a:p>
            <a:pPr algn="l"/>
            <a:r>
              <a:rPr sz="2800" b="0" i="0">
                <a:solidFill>
                  <a:srgbClr val="EEF4EB"/>
                </a:solidFill>
              </a:rPr>
              <a:t>Key Conservation Guidance for the Collection</a:t>
            </a:r>
          </a:p>
        </p:txBody>
      </p:sp>
      <p:sp>
        <p:nvSpPr>
          <p:cNvPr id="7" name="Rectangle 6"/>
          <p:cNvSpPr/>
          <p:nvPr/>
        </p:nvSpPr>
        <p:spPr>
          <a:xfrm>
            <a:off x="365760" y="1828800"/>
            <a:ext cx="5303520" cy="1920240"/>
          </a:xfrm>
          <a:prstGeom prst="rect">
            <a:avLst/>
          </a:prstGeom>
          <a:solidFill>
            <a:srgbClr val="1828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828800"/>
            <a:ext cx="5303520" cy="64008"/>
          </a:xfrm>
          <a:prstGeom prst="rect">
            <a:avLst/>
          </a:prstGeom>
          <a:solidFill>
            <a:srgbClr val="5A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965960"/>
            <a:ext cx="4937759" cy="274320"/>
          </a:xfrm>
          <a:prstGeom prst="rect">
            <a:avLst/>
          </a:prstGeom>
          <a:noFill/>
        </p:spPr>
        <p:txBody>
          <a:bodyPr wrap="square">
            <a:spAutoFit/>
          </a:bodyPr>
          <a:lstStyle/>
          <a:p>
            <a:pPr algn="l"/>
            <a:r>
              <a:rPr sz="1100" b="1" i="0">
                <a:solidFill>
                  <a:srgbClr val="EEF4EB"/>
                </a:solidFill>
              </a:rPr>
              <a:t>Environmental Priority</a:t>
            </a:r>
          </a:p>
        </p:txBody>
      </p:sp>
      <p:sp>
        <p:nvSpPr>
          <p:cNvPr id="10" name="TextBox 9"/>
          <p:cNvSpPr txBox="1"/>
          <p:nvPr/>
        </p:nvSpPr>
        <p:spPr>
          <a:xfrm>
            <a:off x="548640" y="2331720"/>
            <a:ext cx="4937759" cy="1325880"/>
          </a:xfrm>
          <a:prstGeom prst="rect">
            <a:avLst/>
          </a:prstGeom>
          <a:noFill/>
        </p:spPr>
        <p:txBody>
          <a:bodyPr wrap="square">
            <a:spAutoFit/>
          </a:bodyPr>
          <a:lstStyle/>
          <a:p>
            <a:pPr algn="l"/>
            <a:r>
              <a:rPr sz="1000" b="0" i="0">
                <a:solidFill>
                  <a:srgbClr val="8AA086"/>
                </a:solidFill>
              </a:rPr>
              <a:t>Reduce storage RH from current 55-58% to 48-52%. The linen grounds in this collection are stress-fractured in several objects at the current conditions. A 2-degree Celsius drop and RH stabilization will slow further degradation significantly.</a:t>
            </a:r>
          </a:p>
        </p:txBody>
      </p:sp>
      <p:sp>
        <p:nvSpPr>
          <p:cNvPr id="11" name="Rectangle 10"/>
          <p:cNvSpPr/>
          <p:nvPr/>
        </p:nvSpPr>
        <p:spPr>
          <a:xfrm>
            <a:off x="6217920" y="1828800"/>
            <a:ext cx="5303520" cy="1920240"/>
          </a:xfrm>
          <a:prstGeom prst="rect">
            <a:avLst/>
          </a:prstGeom>
          <a:solidFill>
            <a:srgbClr val="1828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828800"/>
            <a:ext cx="5303520" cy="64008"/>
          </a:xfrm>
          <a:prstGeom prst="rect">
            <a:avLst/>
          </a:prstGeom>
          <a:solidFill>
            <a:srgbClr val="5A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965960"/>
            <a:ext cx="4937759" cy="274320"/>
          </a:xfrm>
          <a:prstGeom prst="rect">
            <a:avLst/>
          </a:prstGeom>
          <a:noFill/>
        </p:spPr>
        <p:txBody>
          <a:bodyPr wrap="square">
            <a:spAutoFit/>
          </a:bodyPr>
          <a:lstStyle/>
          <a:p>
            <a:pPr algn="l"/>
            <a:r>
              <a:rPr sz="1100" b="1" i="0">
                <a:solidFill>
                  <a:srgbClr val="EEF4EB"/>
                </a:solidFill>
              </a:rPr>
              <a:t>Immediate Treatment</a:t>
            </a:r>
          </a:p>
        </p:txBody>
      </p:sp>
      <p:sp>
        <p:nvSpPr>
          <p:cNvPr id="14" name="TextBox 13"/>
          <p:cNvSpPr txBox="1"/>
          <p:nvPr/>
        </p:nvSpPr>
        <p:spPr>
          <a:xfrm>
            <a:off x="6400800" y="2331720"/>
            <a:ext cx="4937759" cy="1325880"/>
          </a:xfrm>
          <a:prstGeom prst="rect">
            <a:avLst/>
          </a:prstGeom>
          <a:noFill/>
        </p:spPr>
        <p:txBody>
          <a:bodyPr wrap="square">
            <a:spAutoFit/>
          </a:bodyPr>
          <a:lstStyle/>
          <a:p>
            <a:pPr algn="l"/>
            <a:r>
              <a:rPr sz="1000" b="0" i="0">
                <a:solidFill>
                  <a:srgbClr val="8AA086"/>
                </a:solidFill>
              </a:rPr>
              <a:t>Four objects in Tier A show active warp breakage. These should be moved to priority treatment in the first half of 2026 before the structural situation worsens under normal handling.</a:t>
            </a:r>
          </a:p>
        </p:txBody>
      </p:sp>
      <p:sp>
        <p:nvSpPr>
          <p:cNvPr id="15" name="Rectangle 14"/>
          <p:cNvSpPr/>
          <p:nvPr/>
        </p:nvSpPr>
        <p:spPr>
          <a:xfrm>
            <a:off x="365760" y="3977639"/>
            <a:ext cx="5303520" cy="1920240"/>
          </a:xfrm>
          <a:prstGeom prst="rect">
            <a:avLst/>
          </a:prstGeom>
          <a:solidFill>
            <a:srgbClr val="1828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3977639"/>
            <a:ext cx="5303520" cy="64008"/>
          </a:xfrm>
          <a:prstGeom prst="rect">
            <a:avLst/>
          </a:prstGeom>
          <a:solidFill>
            <a:srgbClr val="5A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114800"/>
            <a:ext cx="4937759" cy="274320"/>
          </a:xfrm>
          <a:prstGeom prst="rect">
            <a:avLst/>
          </a:prstGeom>
          <a:noFill/>
        </p:spPr>
        <p:txBody>
          <a:bodyPr wrap="square">
            <a:spAutoFit/>
          </a:bodyPr>
          <a:lstStyle/>
          <a:p>
            <a:pPr algn="l"/>
            <a:r>
              <a:rPr sz="1100" b="1" i="0">
                <a:solidFill>
                  <a:srgbClr val="EEF4EB"/>
                </a:solidFill>
              </a:rPr>
              <a:t>Handling Protocol</a:t>
            </a:r>
          </a:p>
        </p:txBody>
      </p:sp>
      <p:sp>
        <p:nvSpPr>
          <p:cNvPr id="18" name="TextBox 17"/>
          <p:cNvSpPr txBox="1"/>
          <p:nvPr/>
        </p:nvSpPr>
        <p:spPr>
          <a:xfrm>
            <a:off x="548640" y="4480559"/>
            <a:ext cx="4937759" cy="1325880"/>
          </a:xfrm>
          <a:prstGeom prst="rect">
            <a:avLst/>
          </a:prstGeom>
          <a:noFill/>
        </p:spPr>
        <p:txBody>
          <a:bodyPr wrap="square">
            <a:spAutoFit/>
          </a:bodyPr>
          <a:lstStyle/>
          <a:p>
            <a:pPr algn="l"/>
            <a:r>
              <a:rPr sz="1000" b="0" i="0">
                <a:solidFill>
                  <a:srgbClr val="8AA086"/>
                </a:solidFill>
              </a:rPr>
              <a:t>No object in the collection should be handled without a foam-padded tray beneath and a conservator or trained collections manager present. Several ground fabrics are fragile enough that a dropped edge could be catastrophic.</a:t>
            </a:r>
          </a:p>
        </p:txBody>
      </p:sp>
      <p:sp>
        <p:nvSpPr>
          <p:cNvPr id="19" name="Rectangle 18"/>
          <p:cNvSpPr/>
          <p:nvPr/>
        </p:nvSpPr>
        <p:spPr>
          <a:xfrm>
            <a:off x="6217920" y="3977639"/>
            <a:ext cx="5303520" cy="1920240"/>
          </a:xfrm>
          <a:prstGeom prst="rect">
            <a:avLst/>
          </a:prstGeom>
          <a:solidFill>
            <a:srgbClr val="1828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3977639"/>
            <a:ext cx="5303520" cy="64008"/>
          </a:xfrm>
          <a:prstGeom prst="rect">
            <a:avLst/>
          </a:prstGeom>
          <a:solidFill>
            <a:srgbClr val="5A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4114800"/>
            <a:ext cx="4937759" cy="274320"/>
          </a:xfrm>
          <a:prstGeom prst="rect">
            <a:avLst/>
          </a:prstGeom>
          <a:noFill/>
        </p:spPr>
        <p:txBody>
          <a:bodyPr wrap="square">
            <a:spAutoFit/>
          </a:bodyPr>
          <a:lstStyle/>
          <a:p>
            <a:pPr algn="l"/>
            <a:r>
              <a:rPr sz="1100" b="1" i="0">
                <a:solidFill>
                  <a:srgbClr val="EEF4EB"/>
                </a:solidFill>
              </a:rPr>
              <a:t>Storage Review</a:t>
            </a:r>
          </a:p>
        </p:txBody>
      </p:sp>
      <p:sp>
        <p:nvSpPr>
          <p:cNvPr id="22" name="TextBox 21"/>
          <p:cNvSpPr txBox="1"/>
          <p:nvPr/>
        </p:nvSpPr>
        <p:spPr>
          <a:xfrm>
            <a:off x="6400800" y="4480559"/>
            <a:ext cx="4937759" cy="1325880"/>
          </a:xfrm>
          <a:prstGeom prst="rect">
            <a:avLst/>
          </a:prstGeom>
          <a:noFill/>
        </p:spPr>
        <p:txBody>
          <a:bodyPr wrap="square">
            <a:spAutoFit/>
          </a:bodyPr>
          <a:lstStyle/>
          <a:p>
            <a:pPr algn="l"/>
            <a:r>
              <a:rPr sz="1000" b="0" i="0">
                <a:solidFill>
                  <a:srgbClr val="8AA086"/>
                </a:solidFill>
              </a:rPr>
              <a:t>Eight objects are currently stored folded. All should be rolled on archival tubes or stored flat with Hollytex interleaving. Folding is the most common mechanical damage vector in this type of collection.</a:t>
            </a:r>
          </a:p>
        </p:txBody>
      </p:sp>
      <p:sp>
        <p:nvSpPr>
          <p:cNvPr id="23" name="Rectangle 22"/>
          <p:cNvSpPr/>
          <p:nvPr/>
        </p:nvSpPr>
        <p:spPr>
          <a:xfrm>
            <a:off x="365760" y="5943600"/>
            <a:ext cx="11338560" cy="1920240"/>
          </a:xfrm>
          <a:prstGeom prst="rect">
            <a:avLst/>
          </a:prstGeom>
          <a:solidFill>
            <a:srgbClr val="1828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5943600"/>
            <a:ext cx="11338560" cy="64008"/>
          </a:xfrm>
          <a:prstGeom prst="rect">
            <a:avLst/>
          </a:prstGeom>
          <a:solidFill>
            <a:srgbClr val="5A7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6080760"/>
            <a:ext cx="10972800" cy="274320"/>
          </a:xfrm>
          <a:prstGeom prst="rect">
            <a:avLst/>
          </a:prstGeom>
          <a:noFill/>
        </p:spPr>
        <p:txBody>
          <a:bodyPr wrap="square">
            <a:spAutoFit/>
          </a:bodyPr>
          <a:lstStyle/>
          <a:p>
            <a:pPr algn="l"/>
            <a:r>
              <a:rPr sz="1100" b="1" i="0">
                <a:solidFill>
                  <a:srgbClr val="EEF4EB"/>
                </a:solidFill>
              </a:rPr>
              <a:t>No Cosmetic Restoration</a:t>
            </a:r>
          </a:p>
        </p:txBody>
      </p:sp>
      <p:sp>
        <p:nvSpPr>
          <p:cNvPr id="26" name="TextBox 25"/>
          <p:cNvSpPr txBox="1"/>
          <p:nvPr/>
        </p:nvSpPr>
        <p:spPr>
          <a:xfrm>
            <a:off x="548640" y="6446520"/>
            <a:ext cx="10972800" cy="1325880"/>
          </a:xfrm>
          <a:prstGeom prst="rect">
            <a:avLst/>
          </a:prstGeom>
          <a:noFill/>
        </p:spPr>
        <p:txBody>
          <a:bodyPr wrap="square">
            <a:spAutoFit/>
          </a:bodyPr>
          <a:lstStyle/>
          <a:p>
            <a:pPr algn="l"/>
            <a:r>
              <a:rPr sz="1000" b="0" i="0">
                <a:solidFill>
                  <a:srgbClr val="8AA086"/>
                </a:solidFill>
              </a:rPr>
              <a:t>None of the 22 objects requires or would benefit from aesthetic restoration. The losses are part of the historical record. Stabilization and structural support are the appropriate goals throughout.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