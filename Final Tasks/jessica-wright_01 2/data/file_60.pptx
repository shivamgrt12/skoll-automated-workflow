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USD</c:v>
                </c:pt>
              </c:strCache>
            </c:strRef>
          </c:tx>
          <c:dPt>
            <c:idx val="0"/>
            <c:spPr>
              <a:solidFill>
                <a:srgbClr val="2E2E2E"/>
              </a:solidFill>
              <a:ln>
                <a:noFill/>
              </a:ln>
            </c:spPr>
          </c:dPt>
          <c:dPt>
            <c:idx val="1"/>
            <c:spPr>
              <a:solidFill>
                <a:srgbClr val="8A9A7B"/>
              </a:solidFill>
              <a:ln>
                <a:noFill/>
              </a:ln>
            </c:spPr>
          </c:dPt>
          <c:dPt>
            <c:idx val="2"/>
            <c:spPr>
              <a:solidFill>
                <a:srgbClr val="C2A878"/>
              </a:solidFill>
              <a:ln>
                <a:noFill/>
              </a:ln>
            </c:spPr>
          </c:dPt>
          <c:dPt>
            <c:idx val="3"/>
            <c:spPr>
              <a:solidFill>
                <a:srgbClr val="A9B59A"/>
              </a:solidFill>
              <a:ln>
                <a:noFill/>
              </a:ln>
            </c:spPr>
          </c:dPt>
          <c:dPt>
            <c:idx val="4"/>
            <c:spPr>
              <a:solidFill>
                <a:srgbClr val="9C8A66"/>
              </a:solidFill>
              <a:ln>
                <a:noFill/>
              </a:ln>
            </c:spPr>
          </c:dPt>
          <c:cat>
            <c:strRef>
              <c:f>Sheet1!$A$2:$A$6</c:f>
              <c:strCache>
                <c:ptCount val="5"/>
                <c:pt idx="0">
                  <c:v>Pemberton Georgetown</c:v>
                </c:pt>
                <c:pt idx="1">
                  <c:v>Foxhall kitchen</c:v>
                </c:pt>
                <c:pt idx="2">
                  <c:v>Cleveland Park refresh</c:v>
                </c:pt>
                <c:pt idx="3">
                  <c:v>Capitol Hill study</c:v>
                </c:pt>
                <c:pt idx="4">
                  <c:v>Kalorama discovery</c:v>
                </c:pt>
              </c:strCache>
            </c:strRef>
          </c:cat>
          <c:val>
            <c:numRef>
              <c:f>Sheet1!$B$2:$B$6</c:f>
              <c:numCache>
                <c:formatCode>General</c:formatCode>
                <c:ptCount val="5"/>
                <c:pt idx="0">
                  <c:v>48000</c:v>
                </c:pt>
                <c:pt idx="1">
                  <c:v>28000</c:v>
                </c:pt>
                <c:pt idx="2">
                  <c:v>22000</c:v>
                </c:pt>
                <c:pt idx="3">
                  <c:v>16500</c:v>
                </c:pt>
                <c:pt idx="4">
                  <c:v>9500</c:v>
                </c:pt>
              </c:numCache>
            </c:numRef>
          </c:val>
        </c:ser>
        <c:dLbls>
          <c:numFmt formatCode="#,##0" sourceLinked="0"/>
          <c:txPr>
            <a:bodyPr/>
            <a:lstStyle/>
            <a:p>
              <a:pPr>
                <a:defRPr sz="1000" b="1">
                  <a:solidFill>
                    <a:srgbClr val="232323"/>
                  </a:solidFill>
                  <a:latin typeface="Calibri"/>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232323"/>
            </a:solidFill>
          </a:ln>
        </c:spPr>
        <c:txPr>
          <a:bodyPr/>
          <a:lstStyle/>
          <a:p>
            <a:pPr>
              <a:defRPr sz="1000">
                <a:solidFill>
                  <a:srgbClr val="232323"/>
                </a:solidFill>
                <a:latin typeface="Calibri"/>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232323"/>
            </a:solidFill>
          </a:ln>
        </c:spPr>
        <c:txPr>
          <a:bodyPr/>
          <a:lstStyle/>
          <a:p>
            <a:pPr>
              <a:defRPr sz="1000">
                <a:solidFill>
                  <a:srgbClr val="232323"/>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c:v>
                </c:pt>
              </c:strCache>
            </c:strRef>
          </c:tx>
          <c:dPt>
            <c:idx val="0"/>
            <c:spPr>
              <a:solidFill>
                <a:srgbClr val="2E2E2E"/>
              </a:solidFill>
              <a:ln>
                <a:noFill/>
              </a:ln>
            </c:spPr>
          </c:dPt>
          <c:dPt>
            <c:idx val="1"/>
            <c:spPr>
              <a:solidFill>
                <a:srgbClr val="8A9A7B"/>
              </a:solidFill>
              <a:ln>
                <a:noFill/>
              </a:ln>
            </c:spPr>
          </c:dPt>
          <c:dPt>
            <c:idx val="2"/>
            <c:spPr>
              <a:solidFill>
                <a:srgbClr val="C2A878"/>
              </a:solidFill>
              <a:ln>
                <a:noFill/>
              </a:ln>
            </c:spPr>
          </c:dPt>
          <c:dPt>
            <c:idx val="3"/>
            <c:spPr>
              <a:solidFill>
                <a:srgbClr val="A9B59A"/>
              </a:solidFill>
              <a:ln>
                <a:noFill/>
              </a:ln>
            </c:spPr>
          </c:dPt>
          <c:dPt>
            <c:idx val="4"/>
            <c:spPr>
              <a:solidFill>
                <a:srgbClr val="9C8A66"/>
              </a:solidFill>
              <a:ln>
                <a:noFill/>
              </a:ln>
            </c:spPr>
          </c:dPt>
          <c:cat>
            <c:strRef>
              <c:f>Sheet1!$A$2:$A$6</c:f>
              <c:strCache>
                <c:ptCount val="5"/>
                <c:pt idx="0">
                  <c:v>Pemberton Georgetown</c:v>
                </c:pt>
                <c:pt idx="1">
                  <c:v>Foxhall kitchen</c:v>
                </c:pt>
                <c:pt idx="2">
                  <c:v>Cleveland Park</c:v>
                </c:pt>
                <c:pt idx="3">
                  <c:v>Capitol Hill</c:v>
                </c:pt>
                <c:pt idx="4">
                  <c:v>Kalorama</c:v>
                </c:pt>
              </c:strCache>
            </c:strRef>
          </c:cat>
          <c:val>
            <c:numRef>
              <c:f>Sheet1!$B$2:$B$6</c:f>
              <c:numCache>
                <c:formatCode>General</c:formatCode>
                <c:ptCount val="5"/>
                <c:pt idx="0">
                  <c:v>48000</c:v>
                </c:pt>
                <c:pt idx="1">
                  <c:v>28000</c:v>
                </c:pt>
                <c:pt idx="2">
                  <c:v>22000</c:v>
                </c:pt>
                <c:pt idx="3">
                  <c:v>16500</c:v>
                </c:pt>
                <c:pt idx="4">
                  <c:v>9500</c:v>
                </c:pt>
              </c:numCache>
            </c:numRef>
          </c:val>
        </c:ser>
        <c:firstSliceAng val="0"/>
        <c:holeSize val="50"/>
      </c:doughnutChart>
    </c:plotArea>
    <c:legend>
      <c:legendPos val="b"/>
      <c:layout/>
      <c:overlay val="0"/>
      <c:txPr>
        <a:bodyPr/>
        <a:lstStyle/>
        <a:p>
          <a:pPr>
            <a:defRPr sz="1000">
              <a:solidFill>
                <a:srgbClr val="232323"/>
              </a:solidFill>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Invoiced</c:v>
                </c:pt>
              </c:strCache>
            </c:strRef>
          </c:tx>
          <c:dPt>
            <c:idx val="0"/>
            <c:spPr>
              <a:solidFill>
                <a:srgbClr val="8A9A7B"/>
              </a:solidFill>
              <a:ln>
                <a:noFill/>
              </a:ln>
            </c:spPr>
          </c:dPt>
          <c:dPt>
            <c:idx val="1"/>
            <c:spPr>
              <a:solidFill>
                <a:srgbClr val="8A9A7B"/>
              </a:solidFill>
              <a:ln>
                <a:noFill/>
              </a:ln>
            </c:spPr>
          </c:dPt>
          <c:dPt>
            <c:idx val="2"/>
            <c:spPr>
              <a:solidFill>
                <a:srgbClr val="8A9A7B"/>
              </a:solidFill>
              <a:ln>
                <a:noFill/>
              </a:ln>
            </c:spPr>
          </c:dPt>
          <c:dPt>
            <c:idx val="3"/>
            <c:spPr>
              <a:solidFill>
                <a:srgbClr val="2E2E2E"/>
              </a:solidFill>
              <a:ln>
                <a:noFill/>
              </a:ln>
            </c:spPr>
          </c:dPt>
          <c:cat>
            <c:strRef>
              <c:f>Sheet1!$A$2:$A$5</c:f>
              <c:strCache>
                <c:ptCount val="4"/>
                <c:pt idx="0">
                  <c:v>Nov 2025</c:v>
                </c:pt>
                <c:pt idx="1">
                  <c:v>Dec 2025</c:v>
                </c:pt>
                <c:pt idx="2">
                  <c:v>Jan 2026</c:v>
                </c:pt>
                <c:pt idx="3">
                  <c:v>Feb 2026</c:v>
                </c:pt>
              </c:strCache>
            </c:strRef>
          </c:cat>
          <c:val>
            <c:numRef>
              <c:f>Sheet1!$B$2:$B$5</c:f>
              <c:numCache>
                <c:formatCode>General</c:formatCode>
                <c:ptCount val="4"/>
                <c:pt idx="0">
                  <c:v>12400</c:v>
                </c:pt>
                <c:pt idx="1">
                  <c:v>18200</c:v>
                </c:pt>
                <c:pt idx="2">
                  <c:v>21600</c:v>
                </c:pt>
                <c:pt idx="3">
                  <c:v>24900</c:v>
                </c:pt>
              </c:numCache>
            </c:numRef>
          </c:val>
        </c:ser>
        <c:dLbls>
          <c:numFmt formatCode="#,##0" sourceLinked="0"/>
          <c:txPr>
            <a:bodyPr/>
            <a:lstStyle/>
            <a:p>
              <a:pPr>
                <a:defRPr sz="1000" b="1">
                  <a:solidFill>
                    <a:srgbClr val="232323"/>
                  </a:solidFill>
                  <a:latin typeface="Calibri"/>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232323"/>
            </a:solidFill>
          </a:ln>
        </c:spPr>
        <c:txPr>
          <a:bodyPr/>
          <a:lstStyle/>
          <a:p>
            <a:pPr>
              <a:defRPr sz="1000">
                <a:solidFill>
                  <a:srgbClr val="232323"/>
                </a:solidFill>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232323"/>
            </a:solidFill>
          </a:ln>
        </c:spPr>
        <c:txPr>
          <a:bodyPr/>
          <a:lstStyle/>
          <a:p>
            <a:pPr>
              <a:defRPr sz="1000">
                <a:solidFill>
                  <a:srgbClr val="232323"/>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4572000" cy="685800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434840" y="0"/>
            <a:ext cx="137160" cy="6858000"/>
          </a:xfrm>
          <a:prstGeom prst="rect">
            <a:avLst/>
          </a:prstGeom>
          <a:solidFill>
            <a:srgbClr val="C2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3657600" cy="457200"/>
          </a:xfrm>
          <a:prstGeom prst="rect">
            <a:avLst/>
          </a:prstGeom>
          <a:noFill/>
        </p:spPr>
        <p:txBody>
          <a:bodyPr wrap="square" anchor="t" lIns="0" rIns="0" tIns="0" bIns="0">
            <a:spAutoFit/>
          </a:bodyPr>
          <a:lstStyle/>
          <a:p>
            <a:pPr algn="l">
              <a:lnSpc>
                <a:spcPct val="100000"/>
              </a:lnSpc>
              <a:spcAft>
                <a:spcPts val="600"/>
              </a:spcAft>
            </a:pPr>
            <a:r>
              <a:rPr sz="1300" b="1">
                <a:solidFill>
                  <a:srgbClr val="C2A878"/>
                </a:solidFill>
                <a:latin typeface="Calibri"/>
              </a:rPr>
              <a:t>WRIGHT INTERIORS</a:t>
            </a:r>
          </a:p>
        </p:txBody>
      </p:sp>
      <p:sp>
        <p:nvSpPr>
          <p:cNvPr id="5" name="TextBox 4"/>
          <p:cNvSpPr txBox="1"/>
          <p:nvPr/>
        </p:nvSpPr>
        <p:spPr>
          <a:xfrm>
            <a:off x="502920" y="2468880"/>
            <a:ext cx="3657600" cy="2011680"/>
          </a:xfrm>
          <a:prstGeom prst="rect">
            <a:avLst/>
          </a:prstGeom>
          <a:noFill/>
        </p:spPr>
        <p:txBody>
          <a:bodyPr wrap="square" anchor="t" lIns="0" rIns="0" tIns="0" bIns="0">
            <a:spAutoFit/>
          </a:bodyPr>
          <a:lstStyle/>
          <a:p>
            <a:pPr algn="l">
              <a:lnSpc>
                <a:spcPct val="100000"/>
              </a:lnSpc>
              <a:spcAft>
                <a:spcPts val="600"/>
              </a:spcAft>
            </a:pPr>
            <a:r>
              <a:rPr sz="4000" b="1">
                <a:solidFill>
                  <a:srgbClr val="FFFFFF"/>
                </a:solidFill>
                <a:latin typeface="Trebuchet MS"/>
              </a:rPr>
              <a:t>Studio</a:t>
            </a:r>
          </a:p>
          <a:p>
            <a:pPr algn="l">
              <a:lnSpc>
                <a:spcPct val="100000"/>
              </a:lnSpc>
              <a:spcAft>
                <a:spcPts val="600"/>
              </a:spcAft>
            </a:pPr>
            <a:r>
              <a:rPr sz="4000" b="1">
                <a:solidFill>
                  <a:srgbClr val="8A9A7B"/>
                </a:solidFill>
                <a:latin typeface="Trebuchet MS"/>
              </a:rPr>
              <a:t>Review</a:t>
            </a:r>
          </a:p>
        </p:txBody>
      </p:sp>
      <p:sp>
        <p:nvSpPr>
          <p:cNvPr id="6" name="TextBox 5"/>
          <p:cNvSpPr txBox="1"/>
          <p:nvPr/>
        </p:nvSpPr>
        <p:spPr>
          <a:xfrm>
            <a:off x="521207" y="4572000"/>
            <a:ext cx="3657600" cy="457200"/>
          </a:xfrm>
          <a:prstGeom prst="rect">
            <a:avLst/>
          </a:prstGeom>
          <a:noFill/>
        </p:spPr>
        <p:txBody>
          <a:bodyPr wrap="square" anchor="t" lIns="0" rIns="0" tIns="0" bIns="0">
            <a:spAutoFit/>
          </a:bodyPr>
          <a:lstStyle/>
          <a:p>
            <a:pPr algn="l">
              <a:lnSpc>
                <a:spcPct val="100000"/>
              </a:lnSpc>
              <a:spcAft>
                <a:spcPts val="600"/>
              </a:spcAft>
            </a:pPr>
            <a:r>
              <a:rPr sz="1800" b="0">
                <a:solidFill>
                  <a:srgbClr val="D9D9D2"/>
                </a:solidFill>
                <a:latin typeface="Calibri"/>
              </a:rPr>
              <a:t>Winter 2026</a:t>
            </a:r>
          </a:p>
        </p:txBody>
      </p:sp>
      <p:sp>
        <p:nvSpPr>
          <p:cNvPr id="7" name="TextBox 6"/>
          <p:cNvSpPr txBox="1"/>
          <p:nvPr/>
        </p:nvSpPr>
        <p:spPr>
          <a:xfrm>
            <a:off x="5120640" y="2651760"/>
            <a:ext cx="6583680" cy="1280160"/>
          </a:xfrm>
          <a:prstGeom prst="rect">
            <a:avLst/>
          </a:prstGeom>
          <a:noFill/>
        </p:spPr>
        <p:txBody>
          <a:bodyPr wrap="square" anchor="t" lIns="0" rIns="0" tIns="0" bIns="0">
            <a:spAutoFit/>
          </a:bodyPr>
          <a:lstStyle/>
          <a:p>
            <a:pPr algn="l">
              <a:lnSpc>
                <a:spcPct val="120000"/>
              </a:lnSpc>
              <a:spcAft>
                <a:spcPts val="600"/>
              </a:spcAft>
            </a:pPr>
            <a:r>
              <a:rPr sz="2200" b="0">
                <a:solidFill>
                  <a:srgbClr val="2E2E2E"/>
                </a:solidFill>
                <a:latin typeface="Trebuchet MS"/>
              </a:rPr>
              <a:t>A snapshot of the firm, the pipeline, and where the year is heading.</a:t>
            </a:r>
          </a:p>
        </p:txBody>
      </p:sp>
      <p:sp>
        <p:nvSpPr>
          <p:cNvPr id="8" name="TextBox 7"/>
          <p:cNvSpPr txBox="1"/>
          <p:nvPr/>
        </p:nvSpPr>
        <p:spPr>
          <a:xfrm>
            <a:off x="5138928" y="4297680"/>
            <a:ext cx="6400800" cy="457200"/>
          </a:xfrm>
          <a:prstGeom prst="rect">
            <a:avLst/>
          </a:prstGeom>
          <a:noFill/>
        </p:spPr>
        <p:txBody>
          <a:bodyPr wrap="square" anchor="t" lIns="0" rIns="0" tIns="0" bIns="0">
            <a:spAutoFit/>
          </a:bodyPr>
          <a:lstStyle/>
          <a:p>
            <a:pPr algn="l">
              <a:lnSpc>
                <a:spcPct val="100000"/>
              </a:lnSpc>
              <a:spcAft>
                <a:spcPts val="600"/>
              </a:spcAft>
            </a:pPr>
            <a:r>
              <a:rPr sz="1400" b="1">
                <a:solidFill>
                  <a:srgbClr val="8A9A7B"/>
                </a:solidFill>
                <a:latin typeface="Calibri"/>
              </a:rPr>
              <a:t>Prepared by Jessica Wright, Principal</a:t>
            </a:r>
          </a:p>
        </p:txBody>
      </p:sp>
      <p:sp>
        <p:nvSpPr>
          <p:cNvPr id="9" name="Rectangle 8"/>
          <p:cNvSpPr/>
          <p:nvPr/>
        </p:nvSpPr>
        <p:spPr>
          <a:xfrm>
            <a:off x="0" y="6565392"/>
            <a:ext cx="12191695" cy="27940"/>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00800"/>
            <a:ext cx="8229600" cy="320040"/>
          </a:xfrm>
          <a:prstGeom prst="rect">
            <a:avLst/>
          </a:prstGeom>
          <a:noFill/>
        </p:spPr>
        <p:txBody>
          <a:bodyPr wrap="square" anchor="ctr" lIns="0" rIns="0" tIns="0" bIns="0">
            <a:spAutoFit/>
          </a:bodyPr>
          <a:lstStyle/>
          <a:p>
            <a:pPr algn="l">
              <a:lnSpc>
                <a:spcPct val="100000"/>
              </a:lnSpc>
              <a:spcAft>
                <a:spcPts val="600"/>
              </a:spcAft>
            </a:pPr>
            <a:r>
              <a:rPr sz="900" b="0">
                <a:solidFill>
                  <a:srgbClr val="232323"/>
                </a:solidFill>
                <a:latin typeface="Calibri"/>
              </a:rPr>
              <a:t>Wright Interiors   |   Studio Review, Winter 2026   |   Internal</a:t>
            </a:r>
          </a:p>
        </p:txBody>
      </p:sp>
      <p:sp>
        <p:nvSpPr>
          <p:cNvPr id="11" name="TextBox 10"/>
          <p:cNvSpPr txBox="1"/>
          <p:nvPr/>
        </p:nvSpPr>
        <p:spPr>
          <a:xfrm>
            <a:off x="10607040" y="6400800"/>
            <a:ext cx="1097280" cy="320040"/>
          </a:xfrm>
          <a:prstGeom prst="rect">
            <a:avLst/>
          </a:prstGeom>
          <a:noFill/>
        </p:spPr>
        <p:txBody>
          <a:bodyPr wrap="square" anchor="ctr" lIns="0" rIns="0" tIns="0" bIns="0">
            <a:spAutoFit/>
          </a:bodyPr>
          <a:lstStyle/>
          <a:p>
            <a:pPr algn="r">
              <a:lnSpc>
                <a:spcPct val="100000"/>
              </a:lnSpc>
              <a:spcAft>
                <a:spcPts val="600"/>
              </a:spcAft>
            </a:pPr>
            <a:r>
              <a:rPr sz="900" b="1">
                <a:solidFill>
                  <a:srgbClr val="232323"/>
                </a:solidFill>
                <a:latin typeface="Calibri"/>
              </a:rPr>
              <a:t>01</a:t>
            </a:r>
          </a:p>
        </p:txBody>
      </p:sp>
    </p:spTree>
  </p:cSld>
  <p:clrMapOvr>
    <a:masterClrMapping/>
  </p:clrMapOvr>
  <p:transition xmlns:p14="http://schemas.microsoft.com/office/powerpoint/2010/mai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502920"/>
            <a:ext cx="10972800" cy="822960"/>
          </a:xfrm>
          <a:prstGeom prst="rect">
            <a:avLst/>
          </a:prstGeom>
          <a:noFill/>
        </p:spPr>
        <p:txBody>
          <a:bodyPr wrap="square" anchor="t" lIns="0" rIns="0" tIns="0" bIns="0">
            <a:spAutoFit/>
          </a:bodyPr>
          <a:lstStyle/>
          <a:p>
            <a:pPr algn="l">
              <a:lnSpc>
                <a:spcPct val="100000"/>
              </a:lnSpc>
              <a:spcAft>
                <a:spcPts val="600"/>
              </a:spcAft>
            </a:pPr>
            <a:r>
              <a:rPr sz="3000" b="1">
                <a:solidFill>
                  <a:srgbClr val="2E2E2E"/>
                </a:solidFill>
                <a:latin typeface="Trebuchet MS"/>
              </a:rPr>
              <a:t>Studio Snapshot</a:t>
            </a:r>
          </a:p>
        </p:txBody>
      </p:sp>
      <p:sp>
        <p:nvSpPr>
          <p:cNvPr id="3" name="Rectangle 2"/>
          <p:cNvSpPr/>
          <p:nvPr/>
        </p:nvSpPr>
        <p:spPr>
          <a:xfrm>
            <a:off x="658368" y="1371600"/>
            <a:ext cx="1828800" cy="54864"/>
          </a:xfrm>
          <a:prstGeom prst="rect">
            <a:avLst/>
          </a:prstGeom>
          <a:solidFill>
            <a:srgbClr val="C2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828800"/>
            <a:ext cx="2651760" cy="2194560"/>
          </a:xfrm>
          <a:prstGeom prst="rect">
            <a:avLst/>
          </a:prstGeom>
          <a:solidFill>
            <a:srgbClr val="FFFFFF"/>
          </a:solidFill>
          <a:ln w="12700">
            <a:solidFill>
              <a:srgbClr val="EDE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828800"/>
            <a:ext cx="2651760" cy="128016"/>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2240280"/>
            <a:ext cx="2286000" cy="914400"/>
          </a:xfrm>
          <a:prstGeom prst="rect">
            <a:avLst/>
          </a:prstGeom>
          <a:noFill/>
        </p:spPr>
        <p:txBody>
          <a:bodyPr wrap="square" anchor="t" lIns="0" rIns="0" tIns="0" bIns="0">
            <a:spAutoFit/>
          </a:bodyPr>
          <a:lstStyle/>
          <a:p>
            <a:pPr algn="l">
              <a:lnSpc>
                <a:spcPct val="100000"/>
              </a:lnSpc>
              <a:spcAft>
                <a:spcPts val="600"/>
              </a:spcAft>
            </a:pPr>
            <a:r>
              <a:rPr sz="3400" b="1">
                <a:solidFill>
                  <a:srgbClr val="2E2E2E"/>
                </a:solidFill>
                <a:latin typeface="Trebuchet MS"/>
              </a:rPr>
              <a:t>2023</a:t>
            </a:r>
          </a:p>
        </p:txBody>
      </p:sp>
      <p:sp>
        <p:nvSpPr>
          <p:cNvPr id="7" name="TextBox 6"/>
          <p:cNvSpPr txBox="1"/>
          <p:nvPr/>
        </p:nvSpPr>
        <p:spPr>
          <a:xfrm>
            <a:off x="841247" y="3200400"/>
            <a:ext cx="2286000" cy="731520"/>
          </a:xfrm>
          <a:prstGeom prst="rect">
            <a:avLst/>
          </a:prstGeom>
          <a:noFill/>
        </p:spPr>
        <p:txBody>
          <a:bodyPr wrap="square" anchor="t" lIns="0" rIns="0" tIns="0" bIns="0">
            <a:spAutoFit/>
          </a:bodyPr>
          <a:lstStyle/>
          <a:p>
            <a:pPr algn="l">
              <a:lnSpc>
                <a:spcPct val="105000"/>
              </a:lnSpc>
              <a:spcAft>
                <a:spcPts val="600"/>
              </a:spcAft>
            </a:pPr>
            <a:r>
              <a:rPr sz="1300" b="0">
                <a:solidFill>
                  <a:srgbClr val="232323"/>
                </a:solidFill>
                <a:latin typeface="Calibri"/>
              </a:rPr>
              <a:t>Founded as a sole proprietorship</a:t>
            </a:r>
          </a:p>
        </p:txBody>
      </p:sp>
      <p:sp>
        <p:nvSpPr>
          <p:cNvPr id="8" name="Rectangle 7"/>
          <p:cNvSpPr/>
          <p:nvPr/>
        </p:nvSpPr>
        <p:spPr>
          <a:xfrm>
            <a:off x="3456432" y="1828800"/>
            <a:ext cx="2651760" cy="2194560"/>
          </a:xfrm>
          <a:prstGeom prst="rect">
            <a:avLst/>
          </a:prstGeom>
          <a:solidFill>
            <a:srgbClr val="FFFFFF"/>
          </a:solidFill>
          <a:ln w="12700">
            <a:solidFill>
              <a:srgbClr val="EDE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1828800"/>
            <a:ext cx="2651760" cy="128016"/>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2" y="2240280"/>
            <a:ext cx="2286000" cy="914400"/>
          </a:xfrm>
          <a:prstGeom prst="rect">
            <a:avLst/>
          </a:prstGeom>
          <a:noFill/>
        </p:spPr>
        <p:txBody>
          <a:bodyPr wrap="square" anchor="t" lIns="0" rIns="0" tIns="0" bIns="0">
            <a:spAutoFit/>
          </a:bodyPr>
          <a:lstStyle/>
          <a:p>
            <a:pPr algn="l">
              <a:lnSpc>
                <a:spcPct val="100000"/>
              </a:lnSpc>
              <a:spcAft>
                <a:spcPts val="600"/>
              </a:spcAft>
            </a:pPr>
            <a:r>
              <a:rPr sz="3400" b="1">
                <a:solidFill>
                  <a:srgbClr val="2E2E2E"/>
                </a:solidFill>
                <a:latin typeface="Trebuchet MS"/>
              </a:rPr>
              <a:t>4</a:t>
            </a:r>
          </a:p>
        </p:txBody>
      </p:sp>
      <p:sp>
        <p:nvSpPr>
          <p:cNvPr id="11" name="TextBox 10"/>
          <p:cNvSpPr txBox="1"/>
          <p:nvPr/>
        </p:nvSpPr>
        <p:spPr>
          <a:xfrm>
            <a:off x="3639312" y="3200400"/>
            <a:ext cx="2286000" cy="731520"/>
          </a:xfrm>
          <a:prstGeom prst="rect">
            <a:avLst/>
          </a:prstGeom>
          <a:noFill/>
        </p:spPr>
        <p:txBody>
          <a:bodyPr wrap="square" anchor="t" lIns="0" rIns="0" tIns="0" bIns="0">
            <a:spAutoFit/>
          </a:bodyPr>
          <a:lstStyle/>
          <a:p>
            <a:pPr algn="l">
              <a:lnSpc>
                <a:spcPct val="105000"/>
              </a:lnSpc>
              <a:spcAft>
                <a:spcPts val="600"/>
              </a:spcAft>
            </a:pPr>
            <a:r>
              <a:rPr sz="1300" b="0">
                <a:solidFill>
                  <a:srgbClr val="232323"/>
                </a:solidFill>
                <a:latin typeface="Calibri"/>
              </a:rPr>
              <a:t>Active client projects</a:t>
            </a:r>
          </a:p>
        </p:txBody>
      </p:sp>
      <p:sp>
        <p:nvSpPr>
          <p:cNvPr id="12" name="Rectangle 11"/>
          <p:cNvSpPr/>
          <p:nvPr/>
        </p:nvSpPr>
        <p:spPr>
          <a:xfrm>
            <a:off x="6254496" y="1828800"/>
            <a:ext cx="2651760" cy="2194560"/>
          </a:xfrm>
          <a:prstGeom prst="rect">
            <a:avLst/>
          </a:prstGeom>
          <a:solidFill>
            <a:srgbClr val="FFFFFF"/>
          </a:solidFill>
          <a:ln w="12700">
            <a:solidFill>
              <a:srgbClr val="EDE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54496" y="1828800"/>
            <a:ext cx="2651760" cy="128016"/>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240280"/>
            <a:ext cx="2286000" cy="914400"/>
          </a:xfrm>
          <a:prstGeom prst="rect">
            <a:avLst/>
          </a:prstGeom>
          <a:noFill/>
        </p:spPr>
        <p:txBody>
          <a:bodyPr wrap="square" anchor="t" lIns="0" rIns="0" tIns="0" bIns="0">
            <a:spAutoFit/>
          </a:bodyPr>
          <a:lstStyle/>
          <a:p>
            <a:pPr algn="l">
              <a:lnSpc>
                <a:spcPct val="100000"/>
              </a:lnSpc>
              <a:spcAft>
                <a:spcPts val="600"/>
              </a:spcAft>
            </a:pPr>
            <a:r>
              <a:rPr sz="3400" b="1">
                <a:solidFill>
                  <a:srgbClr val="2E2E2E"/>
                </a:solidFill>
                <a:latin typeface="Trebuchet MS"/>
              </a:rPr>
              <a:t>3 to 5</a:t>
            </a:r>
          </a:p>
        </p:txBody>
      </p:sp>
      <p:sp>
        <p:nvSpPr>
          <p:cNvPr id="15" name="TextBox 14"/>
          <p:cNvSpPr txBox="1"/>
          <p:nvPr/>
        </p:nvSpPr>
        <p:spPr>
          <a:xfrm>
            <a:off x="6437376" y="3200400"/>
            <a:ext cx="2286000" cy="731520"/>
          </a:xfrm>
          <a:prstGeom prst="rect">
            <a:avLst/>
          </a:prstGeom>
          <a:noFill/>
        </p:spPr>
        <p:txBody>
          <a:bodyPr wrap="square" anchor="t" lIns="0" rIns="0" tIns="0" bIns="0">
            <a:spAutoFit/>
          </a:bodyPr>
          <a:lstStyle/>
          <a:p>
            <a:pPr algn="l">
              <a:lnSpc>
                <a:spcPct val="105000"/>
              </a:lnSpc>
              <a:spcAft>
                <a:spcPts val="600"/>
              </a:spcAft>
            </a:pPr>
            <a:r>
              <a:rPr sz="1300" b="0">
                <a:solidFill>
                  <a:srgbClr val="232323"/>
                </a:solidFill>
                <a:latin typeface="Calibri"/>
              </a:rPr>
              <a:t>Typical concurrent load</a:t>
            </a:r>
          </a:p>
        </p:txBody>
      </p:sp>
      <p:sp>
        <p:nvSpPr>
          <p:cNvPr id="16" name="Rectangle 15"/>
          <p:cNvSpPr/>
          <p:nvPr/>
        </p:nvSpPr>
        <p:spPr>
          <a:xfrm>
            <a:off x="9052560" y="1828800"/>
            <a:ext cx="2651760" cy="2194560"/>
          </a:xfrm>
          <a:prstGeom prst="rect">
            <a:avLst/>
          </a:prstGeom>
          <a:solidFill>
            <a:srgbClr val="FFFFFF"/>
          </a:solidFill>
          <a:ln w="12700">
            <a:solidFill>
              <a:srgbClr val="EDE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52560" y="1828800"/>
            <a:ext cx="2651760" cy="128016"/>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2240280"/>
            <a:ext cx="2286000" cy="914400"/>
          </a:xfrm>
          <a:prstGeom prst="rect">
            <a:avLst/>
          </a:prstGeom>
          <a:noFill/>
        </p:spPr>
        <p:txBody>
          <a:bodyPr wrap="square" anchor="t" lIns="0" rIns="0" tIns="0" bIns="0">
            <a:spAutoFit/>
          </a:bodyPr>
          <a:lstStyle/>
          <a:p>
            <a:pPr algn="l">
              <a:lnSpc>
                <a:spcPct val="100000"/>
              </a:lnSpc>
              <a:spcAft>
                <a:spcPts val="600"/>
              </a:spcAft>
            </a:pPr>
            <a:r>
              <a:rPr sz="3400" b="1">
                <a:solidFill>
                  <a:srgbClr val="2E2E2E"/>
                </a:solidFill>
                <a:latin typeface="Trebuchet MS"/>
              </a:rPr>
              <a:t>Net 110k</a:t>
            </a:r>
          </a:p>
        </p:txBody>
      </p:sp>
      <p:sp>
        <p:nvSpPr>
          <p:cNvPr id="19" name="TextBox 18"/>
          <p:cNvSpPr txBox="1"/>
          <p:nvPr/>
        </p:nvSpPr>
        <p:spPr>
          <a:xfrm>
            <a:off x="9235440" y="3200400"/>
            <a:ext cx="2286000" cy="731520"/>
          </a:xfrm>
          <a:prstGeom prst="rect">
            <a:avLst/>
          </a:prstGeom>
          <a:noFill/>
        </p:spPr>
        <p:txBody>
          <a:bodyPr wrap="square" anchor="t" lIns="0" rIns="0" tIns="0" bIns="0">
            <a:spAutoFit/>
          </a:bodyPr>
          <a:lstStyle/>
          <a:p>
            <a:pPr algn="l">
              <a:lnSpc>
                <a:spcPct val="105000"/>
              </a:lnSpc>
              <a:spcAft>
                <a:spcPts val="600"/>
              </a:spcAft>
            </a:pPr>
            <a:r>
              <a:rPr sz="1300" b="0">
                <a:solidFill>
                  <a:srgbClr val="232323"/>
                </a:solidFill>
                <a:latin typeface="Calibri"/>
              </a:rPr>
              <a:t>Annual draw from the firm</a:t>
            </a:r>
          </a:p>
        </p:txBody>
      </p:sp>
      <p:sp>
        <p:nvSpPr>
          <p:cNvPr id="20" name="TextBox 19"/>
          <p:cNvSpPr txBox="1"/>
          <p:nvPr/>
        </p:nvSpPr>
        <p:spPr>
          <a:xfrm>
            <a:off x="658368" y="4480560"/>
            <a:ext cx="10789920" cy="1463040"/>
          </a:xfrm>
          <a:prstGeom prst="rect">
            <a:avLst/>
          </a:prstGeom>
          <a:noFill/>
        </p:spPr>
        <p:txBody>
          <a:bodyPr wrap="square" anchor="t" lIns="0" rIns="0" tIns="0" bIns="0">
            <a:spAutoFit/>
          </a:bodyPr>
          <a:lstStyle/>
          <a:p>
            <a:pPr algn="l">
              <a:lnSpc>
                <a:spcPct val="130000"/>
              </a:lnSpc>
              <a:spcAft>
                <a:spcPts val="600"/>
              </a:spcAft>
            </a:pPr>
            <a:r>
              <a:rPr sz="1500" b="0">
                <a:solidFill>
                  <a:srgbClr val="232323"/>
                </a:solidFill>
                <a:latin typeface="Calibri"/>
              </a:rPr>
              <a:t>The studio runs lean from the Woodley Park home office, with the principal leading concept and sourcing and one part time design assistant on vendor coordination and samples. The flagship engagement remains the Pemberton Georgetown townhouse, now in its Phase 2 reveal cycle.</a:t>
            </a:r>
          </a:p>
        </p:txBody>
      </p:sp>
      <p:sp>
        <p:nvSpPr>
          <p:cNvPr id="21" name="Rectangle 20"/>
          <p:cNvSpPr/>
          <p:nvPr/>
        </p:nvSpPr>
        <p:spPr>
          <a:xfrm>
            <a:off x="0" y="6565392"/>
            <a:ext cx="12191695" cy="27940"/>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400800"/>
            <a:ext cx="8229600" cy="320040"/>
          </a:xfrm>
          <a:prstGeom prst="rect">
            <a:avLst/>
          </a:prstGeom>
          <a:noFill/>
        </p:spPr>
        <p:txBody>
          <a:bodyPr wrap="square" anchor="ctr" lIns="0" rIns="0" tIns="0" bIns="0">
            <a:spAutoFit/>
          </a:bodyPr>
          <a:lstStyle/>
          <a:p>
            <a:pPr algn="l">
              <a:lnSpc>
                <a:spcPct val="100000"/>
              </a:lnSpc>
              <a:spcAft>
                <a:spcPts val="600"/>
              </a:spcAft>
            </a:pPr>
            <a:r>
              <a:rPr sz="900" b="0">
                <a:solidFill>
                  <a:srgbClr val="232323"/>
                </a:solidFill>
                <a:latin typeface="Calibri"/>
              </a:rPr>
              <a:t>Wright Interiors   |   Studio Review, Winter 2026   |   Internal</a:t>
            </a:r>
          </a:p>
        </p:txBody>
      </p:sp>
      <p:sp>
        <p:nvSpPr>
          <p:cNvPr id="23" name="TextBox 22"/>
          <p:cNvSpPr txBox="1"/>
          <p:nvPr/>
        </p:nvSpPr>
        <p:spPr>
          <a:xfrm>
            <a:off x="10607040" y="6400800"/>
            <a:ext cx="1097280" cy="320040"/>
          </a:xfrm>
          <a:prstGeom prst="rect">
            <a:avLst/>
          </a:prstGeom>
          <a:noFill/>
        </p:spPr>
        <p:txBody>
          <a:bodyPr wrap="square" anchor="ctr" lIns="0" rIns="0" tIns="0" bIns="0">
            <a:spAutoFit/>
          </a:bodyPr>
          <a:lstStyle/>
          <a:p>
            <a:pPr algn="r">
              <a:lnSpc>
                <a:spcPct val="100000"/>
              </a:lnSpc>
              <a:spcAft>
                <a:spcPts val="600"/>
              </a:spcAft>
            </a:pPr>
            <a:r>
              <a:rPr sz="900" b="1">
                <a:solidFill>
                  <a:srgbClr val="232323"/>
                </a:solidFill>
                <a:latin typeface="Calibri"/>
              </a:rPr>
              <a:t>02</a:t>
            </a:r>
          </a:p>
        </p:txBody>
      </p:sp>
    </p:spTree>
  </p:cSld>
  <p:clrMapOvr>
    <a:masterClrMapping/>
  </p:clrMapOvr>
  <p:transition xmlns:p14="http://schemas.microsoft.com/office/powerpoint/2010/mai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72800" cy="822960"/>
          </a:xfrm>
          <a:prstGeom prst="rect">
            <a:avLst/>
          </a:prstGeom>
          <a:noFill/>
        </p:spPr>
        <p:txBody>
          <a:bodyPr wrap="square" anchor="t" lIns="0" rIns="0" tIns="0" bIns="0">
            <a:spAutoFit/>
          </a:bodyPr>
          <a:lstStyle/>
          <a:p>
            <a:pPr algn="l">
              <a:lnSpc>
                <a:spcPct val="100000"/>
              </a:lnSpc>
              <a:spcAft>
                <a:spcPts val="600"/>
              </a:spcAft>
            </a:pPr>
            <a:r>
              <a:rPr sz="3000" b="1">
                <a:solidFill>
                  <a:srgbClr val="2E2E2E"/>
                </a:solidFill>
                <a:latin typeface="Trebuchet MS"/>
              </a:rPr>
              <a:t>Design Fees by Project</a:t>
            </a:r>
          </a:p>
        </p:txBody>
      </p:sp>
      <p:sp>
        <p:nvSpPr>
          <p:cNvPr id="3" name="TextBox 2"/>
          <p:cNvSpPr txBox="1"/>
          <p:nvPr/>
        </p:nvSpPr>
        <p:spPr>
          <a:xfrm>
            <a:off x="658368" y="1280160"/>
            <a:ext cx="10972800" cy="457200"/>
          </a:xfrm>
          <a:prstGeom prst="rect">
            <a:avLst/>
          </a:prstGeom>
          <a:noFill/>
        </p:spPr>
        <p:txBody>
          <a:bodyPr wrap="square" anchor="t" lIns="0" rIns="0" tIns="0" bIns="0">
            <a:spAutoFit/>
          </a:bodyPr>
          <a:lstStyle/>
          <a:p>
            <a:pPr algn="l">
              <a:lnSpc>
                <a:spcPct val="100000"/>
              </a:lnSpc>
              <a:spcAft>
                <a:spcPts val="600"/>
              </a:spcAft>
            </a:pPr>
            <a:r>
              <a:rPr sz="1400" b="1">
                <a:solidFill>
                  <a:srgbClr val="8A9A7B"/>
                </a:solidFill>
                <a:latin typeface="Calibri"/>
              </a:rPr>
              <a:t>Gross fees booked across active engagements, USD</a:t>
            </a:r>
          </a:p>
        </p:txBody>
      </p:sp>
      <p:graphicFrame>
        <p:nvGraphicFramePr>
          <p:cNvPr id="4" name="Chart 3"/>
          <p:cNvGraphicFramePr>
            <a:graphicFrameLocks noGrp="1"/>
          </p:cNvGraphicFramePr>
          <p:nvPr/>
        </p:nvGraphicFramePr>
        <p:xfrm>
          <a:off x="640080" y="1828800"/>
          <a:ext cx="10972800" cy="4206240"/>
        </p:xfrm>
        <a:graphic>
          <a:graphicData uri="http://schemas.openxmlformats.org/drawingml/2006/chart">
            <c:chart xmlns:c="http://schemas.openxmlformats.org/drawingml/2006/chart" r:id="rId2"/>
          </a:graphicData>
        </a:graphic>
      </p:graphicFrame>
      <p:sp>
        <p:nvSpPr>
          <p:cNvPr id="5" name="Rectangle 4"/>
          <p:cNvSpPr/>
          <p:nvPr/>
        </p:nvSpPr>
        <p:spPr>
          <a:xfrm>
            <a:off x="0" y="6565392"/>
            <a:ext cx="12191695" cy="27940"/>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8229600" cy="320040"/>
          </a:xfrm>
          <a:prstGeom prst="rect">
            <a:avLst/>
          </a:prstGeom>
          <a:noFill/>
        </p:spPr>
        <p:txBody>
          <a:bodyPr wrap="square" anchor="ctr" lIns="0" rIns="0" tIns="0" bIns="0">
            <a:spAutoFit/>
          </a:bodyPr>
          <a:lstStyle/>
          <a:p>
            <a:pPr algn="l">
              <a:lnSpc>
                <a:spcPct val="100000"/>
              </a:lnSpc>
              <a:spcAft>
                <a:spcPts val="600"/>
              </a:spcAft>
            </a:pPr>
            <a:r>
              <a:rPr sz="900" b="0">
                <a:solidFill>
                  <a:srgbClr val="232323"/>
                </a:solidFill>
                <a:latin typeface="Calibri"/>
              </a:rPr>
              <a:t>Wright Interiors   |   Studio Review, Winter 2026   |   Internal</a:t>
            </a:r>
          </a:p>
        </p:txBody>
      </p:sp>
      <p:sp>
        <p:nvSpPr>
          <p:cNvPr id="7" name="TextBox 6"/>
          <p:cNvSpPr txBox="1"/>
          <p:nvPr/>
        </p:nvSpPr>
        <p:spPr>
          <a:xfrm>
            <a:off x="10607040" y="6400800"/>
            <a:ext cx="1097280" cy="320040"/>
          </a:xfrm>
          <a:prstGeom prst="rect">
            <a:avLst/>
          </a:prstGeom>
          <a:noFill/>
        </p:spPr>
        <p:txBody>
          <a:bodyPr wrap="square" anchor="ctr" lIns="0" rIns="0" tIns="0" bIns="0">
            <a:spAutoFit/>
          </a:bodyPr>
          <a:lstStyle/>
          <a:p>
            <a:pPr algn="r">
              <a:lnSpc>
                <a:spcPct val="100000"/>
              </a:lnSpc>
              <a:spcAft>
                <a:spcPts val="600"/>
              </a:spcAft>
            </a:pPr>
            <a:r>
              <a:rPr sz="900" b="1">
                <a:solidFill>
                  <a:srgbClr val="232323"/>
                </a:solidFill>
                <a:latin typeface="Calibri"/>
              </a:rPr>
              <a:t>03</a:t>
            </a:r>
          </a:p>
        </p:txBody>
      </p:sp>
    </p:spTree>
  </p:cSld>
  <p:clrMapOvr>
    <a:masterClrMapping/>
  </p:clrMapOvr>
  <p:transition xmlns:p14="http://schemas.microsoft.com/office/powerpoint/2010/main" spd="med">
    <p:wipe dir="r"/>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72800" cy="822960"/>
          </a:xfrm>
          <a:prstGeom prst="rect">
            <a:avLst/>
          </a:prstGeom>
          <a:noFill/>
        </p:spPr>
        <p:txBody>
          <a:bodyPr wrap="square" anchor="t" lIns="0" rIns="0" tIns="0" bIns="0">
            <a:spAutoFit/>
          </a:bodyPr>
          <a:lstStyle/>
          <a:p>
            <a:pPr algn="l">
              <a:lnSpc>
                <a:spcPct val="100000"/>
              </a:lnSpc>
              <a:spcAft>
                <a:spcPts val="600"/>
              </a:spcAft>
            </a:pPr>
            <a:r>
              <a:rPr sz="3000" b="1">
                <a:solidFill>
                  <a:srgbClr val="2E2E2E"/>
                </a:solidFill>
                <a:latin typeface="Trebuchet MS"/>
              </a:rPr>
              <a:t>Revenue Share by Project</a:t>
            </a:r>
          </a:p>
        </p:txBody>
      </p:sp>
      <p:sp>
        <p:nvSpPr>
          <p:cNvPr id="3" name="TextBox 2"/>
          <p:cNvSpPr txBox="1"/>
          <p:nvPr/>
        </p:nvSpPr>
        <p:spPr>
          <a:xfrm>
            <a:off x="658368" y="1280160"/>
            <a:ext cx="10972800" cy="457200"/>
          </a:xfrm>
          <a:prstGeom prst="rect">
            <a:avLst/>
          </a:prstGeom>
          <a:noFill/>
        </p:spPr>
        <p:txBody>
          <a:bodyPr wrap="square" anchor="t" lIns="0" rIns="0" tIns="0" bIns="0">
            <a:spAutoFit/>
          </a:bodyPr>
          <a:lstStyle/>
          <a:p>
            <a:pPr algn="l">
              <a:lnSpc>
                <a:spcPct val="100000"/>
              </a:lnSpc>
              <a:spcAft>
                <a:spcPts val="600"/>
              </a:spcAft>
            </a:pPr>
            <a:r>
              <a:rPr sz="1400" b="1">
                <a:solidFill>
                  <a:srgbClr val="8A9A7B"/>
                </a:solidFill>
                <a:latin typeface="Calibri"/>
              </a:rPr>
              <a:t>Where booked fees concentrate this season</a:t>
            </a:r>
          </a:p>
        </p:txBody>
      </p:sp>
      <p:graphicFrame>
        <p:nvGraphicFramePr>
          <p:cNvPr id="4" name="Chart 3"/>
          <p:cNvGraphicFramePr>
            <a:graphicFrameLocks noGrp="1"/>
          </p:cNvGraphicFramePr>
          <p:nvPr/>
        </p:nvGraphicFramePr>
        <p:xfrm>
          <a:off x="640080" y="1737360"/>
          <a:ext cx="6766560" cy="4389120"/>
        </p:xfrm>
        <a:graphic>
          <a:graphicData uri="http://schemas.openxmlformats.org/drawingml/2006/chart">
            <c:chart xmlns:c="http://schemas.openxmlformats.org/drawingml/2006/chart" r:id="rId2"/>
          </a:graphicData>
        </a:graphic>
      </p:graphicFrame>
      <p:sp>
        <p:nvSpPr>
          <p:cNvPr id="5" name="Rectangle 4"/>
          <p:cNvSpPr/>
          <p:nvPr/>
        </p:nvSpPr>
        <p:spPr>
          <a:xfrm>
            <a:off x="7680960" y="1883664"/>
            <a:ext cx="256032" cy="256032"/>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1828800"/>
            <a:ext cx="3657600" cy="731520"/>
          </a:xfrm>
          <a:prstGeom prst="rect">
            <a:avLst/>
          </a:prstGeom>
          <a:noFill/>
        </p:spPr>
        <p:txBody>
          <a:bodyPr wrap="square" anchor="t" lIns="0" rIns="0" tIns="0" bIns="0">
            <a:spAutoFit/>
          </a:bodyPr>
          <a:lstStyle/>
          <a:p>
            <a:pPr algn="l">
              <a:lnSpc>
                <a:spcPct val="100000"/>
              </a:lnSpc>
              <a:spcAft>
                <a:spcPts val="600"/>
              </a:spcAft>
            </a:pPr>
            <a:r>
              <a:rPr sz="1400" b="1">
                <a:solidFill>
                  <a:srgbClr val="2E2E2E"/>
                </a:solidFill>
                <a:latin typeface="Calibri"/>
              </a:rPr>
              <a:t>Pemberton Georgetown  </a:t>
            </a:r>
            <a:r>
              <a:rPr sz="1200" b="0">
                <a:solidFill>
                  <a:srgbClr val="232323"/>
                </a:solidFill>
                <a:latin typeface="Calibri"/>
              </a:rPr>
              <a:t>Flagship, Phase 2 reveal</a:t>
            </a:r>
          </a:p>
        </p:txBody>
      </p:sp>
      <p:sp>
        <p:nvSpPr>
          <p:cNvPr id="7" name="Rectangle 6"/>
          <p:cNvSpPr/>
          <p:nvPr/>
        </p:nvSpPr>
        <p:spPr>
          <a:xfrm>
            <a:off x="7680960" y="2724912"/>
            <a:ext cx="256032" cy="256032"/>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92440" y="2670048"/>
            <a:ext cx="3657600" cy="731520"/>
          </a:xfrm>
          <a:prstGeom prst="rect">
            <a:avLst/>
          </a:prstGeom>
          <a:noFill/>
        </p:spPr>
        <p:txBody>
          <a:bodyPr wrap="square" anchor="t" lIns="0" rIns="0" tIns="0" bIns="0">
            <a:spAutoFit/>
          </a:bodyPr>
          <a:lstStyle/>
          <a:p>
            <a:pPr algn="l">
              <a:lnSpc>
                <a:spcPct val="100000"/>
              </a:lnSpc>
              <a:spcAft>
                <a:spcPts val="600"/>
              </a:spcAft>
            </a:pPr>
            <a:r>
              <a:rPr sz="1400" b="1">
                <a:solidFill>
                  <a:srgbClr val="2E2E2E"/>
                </a:solidFill>
                <a:latin typeface="Calibri"/>
              </a:rPr>
              <a:t>Foxhall kitchen  </a:t>
            </a:r>
            <a:r>
              <a:rPr sz="1200" b="0">
                <a:solidFill>
                  <a:srgbClr val="232323"/>
                </a:solidFill>
                <a:latin typeface="Calibri"/>
              </a:rPr>
              <a:t>Procurement underway</a:t>
            </a:r>
          </a:p>
        </p:txBody>
      </p:sp>
      <p:sp>
        <p:nvSpPr>
          <p:cNvPr id="9" name="Rectangle 8"/>
          <p:cNvSpPr/>
          <p:nvPr/>
        </p:nvSpPr>
        <p:spPr>
          <a:xfrm>
            <a:off x="7680960" y="3566160"/>
            <a:ext cx="256032" cy="256032"/>
          </a:xfrm>
          <a:prstGeom prst="rect">
            <a:avLst/>
          </a:prstGeom>
          <a:solidFill>
            <a:srgbClr val="C2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3511296"/>
            <a:ext cx="3657600" cy="731520"/>
          </a:xfrm>
          <a:prstGeom prst="rect">
            <a:avLst/>
          </a:prstGeom>
          <a:noFill/>
        </p:spPr>
        <p:txBody>
          <a:bodyPr wrap="square" anchor="t" lIns="0" rIns="0" tIns="0" bIns="0">
            <a:spAutoFit/>
          </a:bodyPr>
          <a:lstStyle/>
          <a:p>
            <a:pPr algn="l">
              <a:lnSpc>
                <a:spcPct val="100000"/>
              </a:lnSpc>
              <a:spcAft>
                <a:spcPts val="600"/>
              </a:spcAft>
            </a:pPr>
            <a:r>
              <a:rPr sz="1400" b="1">
                <a:solidFill>
                  <a:srgbClr val="2E2E2E"/>
                </a:solidFill>
                <a:latin typeface="Calibri"/>
              </a:rPr>
              <a:t>Cleveland Park  </a:t>
            </a:r>
            <a:r>
              <a:rPr sz="1200" b="0">
                <a:solidFill>
                  <a:srgbClr val="232323"/>
                </a:solidFill>
                <a:latin typeface="Calibri"/>
              </a:rPr>
              <a:t>Design development</a:t>
            </a:r>
          </a:p>
        </p:txBody>
      </p:sp>
      <p:sp>
        <p:nvSpPr>
          <p:cNvPr id="11" name="Rectangle 10"/>
          <p:cNvSpPr/>
          <p:nvPr/>
        </p:nvSpPr>
        <p:spPr>
          <a:xfrm>
            <a:off x="7680960" y="4407407"/>
            <a:ext cx="256032" cy="256032"/>
          </a:xfrm>
          <a:prstGeom prst="rect">
            <a:avLst/>
          </a:prstGeom>
          <a:solidFill>
            <a:srgbClr val="A9B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4352544"/>
            <a:ext cx="3657600" cy="731520"/>
          </a:xfrm>
          <a:prstGeom prst="rect">
            <a:avLst/>
          </a:prstGeom>
          <a:noFill/>
        </p:spPr>
        <p:txBody>
          <a:bodyPr wrap="square" anchor="t" lIns="0" rIns="0" tIns="0" bIns="0">
            <a:spAutoFit/>
          </a:bodyPr>
          <a:lstStyle/>
          <a:p>
            <a:pPr algn="l">
              <a:lnSpc>
                <a:spcPct val="100000"/>
              </a:lnSpc>
              <a:spcAft>
                <a:spcPts val="600"/>
              </a:spcAft>
            </a:pPr>
            <a:r>
              <a:rPr sz="1400" b="1">
                <a:solidFill>
                  <a:srgbClr val="2E2E2E"/>
                </a:solidFill>
                <a:latin typeface="Calibri"/>
              </a:rPr>
              <a:t>Capitol Hill study  </a:t>
            </a:r>
            <a:r>
              <a:rPr sz="1200" b="0">
                <a:solidFill>
                  <a:srgbClr val="232323"/>
                </a:solidFill>
                <a:latin typeface="Calibri"/>
              </a:rPr>
              <a:t>Concept approved</a:t>
            </a:r>
          </a:p>
        </p:txBody>
      </p:sp>
      <p:sp>
        <p:nvSpPr>
          <p:cNvPr id="13" name="Rectangle 12"/>
          <p:cNvSpPr/>
          <p:nvPr/>
        </p:nvSpPr>
        <p:spPr>
          <a:xfrm>
            <a:off x="7680960" y="5248655"/>
            <a:ext cx="256032" cy="256032"/>
          </a:xfrm>
          <a:prstGeom prst="rect">
            <a:avLst/>
          </a:prstGeom>
          <a:solidFill>
            <a:srgbClr val="9C8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5193792"/>
            <a:ext cx="3657600" cy="731520"/>
          </a:xfrm>
          <a:prstGeom prst="rect">
            <a:avLst/>
          </a:prstGeom>
          <a:noFill/>
        </p:spPr>
        <p:txBody>
          <a:bodyPr wrap="square" anchor="t" lIns="0" rIns="0" tIns="0" bIns="0">
            <a:spAutoFit/>
          </a:bodyPr>
          <a:lstStyle/>
          <a:p>
            <a:pPr algn="l">
              <a:lnSpc>
                <a:spcPct val="100000"/>
              </a:lnSpc>
              <a:spcAft>
                <a:spcPts val="600"/>
              </a:spcAft>
            </a:pPr>
            <a:r>
              <a:rPr sz="1400" b="1">
                <a:solidFill>
                  <a:srgbClr val="2E2E2E"/>
                </a:solidFill>
                <a:latin typeface="Calibri"/>
              </a:rPr>
              <a:t>Kalorama  </a:t>
            </a:r>
            <a:r>
              <a:rPr sz="1200" b="0">
                <a:solidFill>
                  <a:srgbClr val="232323"/>
                </a:solidFill>
                <a:latin typeface="Calibri"/>
              </a:rPr>
              <a:t>Discovery, Feb 2027</a:t>
            </a:r>
          </a:p>
        </p:txBody>
      </p:sp>
      <p:sp>
        <p:nvSpPr>
          <p:cNvPr id="15" name="Rectangle 14"/>
          <p:cNvSpPr/>
          <p:nvPr/>
        </p:nvSpPr>
        <p:spPr>
          <a:xfrm>
            <a:off x="0" y="6565392"/>
            <a:ext cx="12191695" cy="27940"/>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400800"/>
            <a:ext cx="8229600" cy="320040"/>
          </a:xfrm>
          <a:prstGeom prst="rect">
            <a:avLst/>
          </a:prstGeom>
          <a:noFill/>
        </p:spPr>
        <p:txBody>
          <a:bodyPr wrap="square" anchor="ctr" lIns="0" rIns="0" tIns="0" bIns="0">
            <a:spAutoFit/>
          </a:bodyPr>
          <a:lstStyle/>
          <a:p>
            <a:pPr algn="l">
              <a:lnSpc>
                <a:spcPct val="100000"/>
              </a:lnSpc>
              <a:spcAft>
                <a:spcPts val="600"/>
              </a:spcAft>
            </a:pPr>
            <a:r>
              <a:rPr sz="900" b="0">
                <a:solidFill>
                  <a:srgbClr val="232323"/>
                </a:solidFill>
                <a:latin typeface="Calibri"/>
              </a:rPr>
              <a:t>Wright Interiors   |   Studio Review, Winter 2026   |   Internal</a:t>
            </a:r>
          </a:p>
        </p:txBody>
      </p:sp>
      <p:sp>
        <p:nvSpPr>
          <p:cNvPr id="17" name="TextBox 16"/>
          <p:cNvSpPr txBox="1"/>
          <p:nvPr/>
        </p:nvSpPr>
        <p:spPr>
          <a:xfrm>
            <a:off x="10607040" y="6400800"/>
            <a:ext cx="1097280" cy="320040"/>
          </a:xfrm>
          <a:prstGeom prst="rect">
            <a:avLst/>
          </a:prstGeom>
          <a:noFill/>
        </p:spPr>
        <p:txBody>
          <a:bodyPr wrap="square" anchor="ctr" lIns="0" rIns="0" tIns="0" bIns="0">
            <a:spAutoFit/>
          </a:bodyPr>
          <a:lstStyle/>
          <a:p>
            <a:pPr algn="r">
              <a:lnSpc>
                <a:spcPct val="100000"/>
              </a:lnSpc>
              <a:spcAft>
                <a:spcPts val="600"/>
              </a:spcAft>
            </a:pPr>
            <a:r>
              <a:rPr sz="900" b="1">
                <a:solidFill>
                  <a:srgbClr val="232323"/>
                </a:solidFill>
                <a:latin typeface="Calibri"/>
              </a:rPr>
              <a:t>04</a:t>
            </a:r>
          </a:p>
        </p:txBody>
      </p:sp>
    </p:spTree>
  </p:cSld>
  <p:clrMapOvr>
    <a:masterClrMapping/>
  </p:clrMapOvr>
  <p:transition xmlns:p14="http://schemas.microsoft.com/office/powerpoint/2010/mai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40080" y="457200"/>
            <a:ext cx="10972800" cy="822960"/>
          </a:xfrm>
          <a:prstGeom prst="rect">
            <a:avLst/>
          </a:prstGeom>
          <a:noFill/>
        </p:spPr>
        <p:txBody>
          <a:bodyPr wrap="square" anchor="t" lIns="0" rIns="0" tIns="0" bIns="0">
            <a:spAutoFit/>
          </a:bodyPr>
          <a:lstStyle/>
          <a:p>
            <a:pPr algn="l">
              <a:lnSpc>
                <a:spcPct val="100000"/>
              </a:lnSpc>
              <a:spcAft>
                <a:spcPts val="600"/>
              </a:spcAft>
            </a:pPr>
            <a:r>
              <a:rPr sz="3000" b="1">
                <a:solidFill>
                  <a:srgbClr val="2E2E2E"/>
                </a:solidFill>
                <a:latin typeface="Trebuchet MS"/>
              </a:rPr>
              <a:t>Invoiced by Month</a:t>
            </a:r>
          </a:p>
        </p:txBody>
      </p:sp>
      <p:sp>
        <p:nvSpPr>
          <p:cNvPr id="3" name="TextBox 2"/>
          <p:cNvSpPr txBox="1"/>
          <p:nvPr/>
        </p:nvSpPr>
        <p:spPr>
          <a:xfrm>
            <a:off x="658368" y="1280160"/>
            <a:ext cx="10972800" cy="457200"/>
          </a:xfrm>
          <a:prstGeom prst="rect">
            <a:avLst/>
          </a:prstGeom>
          <a:noFill/>
        </p:spPr>
        <p:txBody>
          <a:bodyPr wrap="square" anchor="t" lIns="0" rIns="0" tIns="0" bIns="0">
            <a:spAutoFit/>
          </a:bodyPr>
          <a:lstStyle/>
          <a:p>
            <a:pPr algn="l">
              <a:lnSpc>
                <a:spcPct val="100000"/>
              </a:lnSpc>
              <a:spcAft>
                <a:spcPts val="600"/>
              </a:spcAft>
            </a:pPr>
            <a:r>
              <a:rPr sz="1400" b="1">
                <a:solidFill>
                  <a:srgbClr val="8A9A7B"/>
                </a:solidFill>
                <a:latin typeface="Calibri"/>
              </a:rPr>
              <a:t>Trailing four months, USD</a:t>
            </a:r>
          </a:p>
        </p:txBody>
      </p:sp>
      <p:graphicFrame>
        <p:nvGraphicFramePr>
          <p:cNvPr id="4" name="Chart 3"/>
          <p:cNvGraphicFramePr>
            <a:graphicFrameLocks noGrp="1"/>
          </p:cNvGraphicFramePr>
          <p:nvPr/>
        </p:nvGraphicFramePr>
        <p:xfrm>
          <a:off x="640080" y="1828800"/>
          <a:ext cx="10972800" cy="4206240"/>
        </p:xfrm>
        <a:graphic>
          <a:graphicData uri="http://schemas.openxmlformats.org/drawingml/2006/chart">
            <c:chart xmlns:c="http://schemas.openxmlformats.org/drawingml/2006/chart" r:id="rId2"/>
          </a:graphicData>
        </a:graphic>
      </p:graphicFrame>
      <p:sp>
        <p:nvSpPr>
          <p:cNvPr id="5" name="Rectangle 4"/>
          <p:cNvSpPr/>
          <p:nvPr/>
        </p:nvSpPr>
        <p:spPr>
          <a:xfrm>
            <a:off x="0" y="6565392"/>
            <a:ext cx="12191695" cy="27940"/>
          </a:xfrm>
          <a:prstGeom prst="rect">
            <a:avLst/>
          </a:prstGeom>
          <a:solidFill>
            <a:srgbClr val="8A9A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8229600" cy="320040"/>
          </a:xfrm>
          <a:prstGeom prst="rect">
            <a:avLst/>
          </a:prstGeom>
          <a:noFill/>
        </p:spPr>
        <p:txBody>
          <a:bodyPr wrap="square" anchor="ctr" lIns="0" rIns="0" tIns="0" bIns="0">
            <a:spAutoFit/>
          </a:bodyPr>
          <a:lstStyle/>
          <a:p>
            <a:pPr algn="l">
              <a:lnSpc>
                <a:spcPct val="100000"/>
              </a:lnSpc>
              <a:spcAft>
                <a:spcPts val="600"/>
              </a:spcAft>
            </a:pPr>
            <a:r>
              <a:rPr sz="900" b="0">
                <a:solidFill>
                  <a:srgbClr val="232323"/>
                </a:solidFill>
                <a:latin typeface="Calibri"/>
              </a:rPr>
              <a:t>Wright Interiors   |   Studio Review, Winter 2026   |   Internal</a:t>
            </a:r>
          </a:p>
        </p:txBody>
      </p:sp>
      <p:sp>
        <p:nvSpPr>
          <p:cNvPr id="7" name="TextBox 6"/>
          <p:cNvSpPr txBox="1"/>
          <p:nvPr/>
        </p:nvSpPr>
        <p:spPr>
          <a:xfrm>
            <a:off x="10607040" y="6400800"/>
            <a:ext cx="1097280" cy="320040"/>
          </a:xfrm>
          <a:prstGeom prst="rect">
            <a:avLst/>
          </a:prstGeom>
          <a:noFill/>
        </p:spPr>
        <p:txBody>
          <a:bodyPr wrap="square" anchor="ctr" lIns="0" rIns="0" tIns="0" bIns="0">
            <a:spAutoFit/>
          </a:bodyPr>
          <a:lstStyle/>
          <a:p>
            <a:pPr algn="r">
              <a:lnSpc>
                <a:spcPct val="100000"/>
              </a:lnSpc>
              <a:spcAft>
                <a:spcPts val="600"/>
              </a:spcAft>
            </a:pPr>
            <a:r>
              <a:rPr sz="900" b="1">
                <a:solidFill>
                  <a:srgbClr val="232323"/>
                </a:solidFill>
                <a:latin typeface="Calibri"/>
              </a:rPr>
              <a:t>05</a:t>
            </a:r>
          </a:p>
        </p:txBody>
      </p:sp>
    </p:spTree>
  </p:cSld>
  <p:clrMapOvr>
    <a:masterClrMapping/>
  </p:clrMapOvr>
  <p:transition xmlns:p14="http://schemas.microsoft.com/office/powerpoint/2010/main" spd="med">
    <p:push dir="u"/>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2E2E"/>
        </a:solidFill>
        <a:effectLst/>
      </p:bgPr>
    </p:bg>
    <p:spTree>
      <p:nvGrpSpPr>
        <p:cNvPr id="1" name=""/>
        <p:cNvGrpSpPr/>
        <p:nvPr/>
      </p:nvGrpSpPr>
      <p:grpSpPr/>
      <p:sp>
        <p:nvSpPr>
          <p:cNvPr id="2" name="TextBox 1"/>
          <p:cNvSpPr txBox="1"/>
          <p:nvPr/>
        </p:nvSpPr>
        <p:spPr>
          <a:xfrm>
            <a:off x="731520" y="640080"/>
            <a:ext cx="10972800" cy="914400"/>
          </a:xfrm>
          <a:prstGeom prst="rect">
            <a:avLst/>
          </a:prstGeom>
          <a:noFill/>
        </p:spPr>
        <p:txBody>
          <a:bodyPr wrap="square" anchor="t" lIns="0" rIns="0" tIns="0" bIns="0">
            <a:spAutoFit/>
          </a:bodyPr>
          <a:lstStyle/>
          <a:p>
            <a:pPr algn="l">
              <a:lnSpc>
                <a:spcPct val="100000"/>
              </a:lnSpc>
              <a:spcAft>
                <a:spcPts val="600"/>
              </a:spcAft>
            </a:pPr>
            <a:r>
              <a:rPr sz="3200" b="1">
                <a:solidFill>
                  <a:srgbClr val="FFFFFF"/>
                </a:solidFill>
                <a:latin typeface="Trebuchet MS"/>
              </a:rPr>
              <a:t>Objectives for the Year</a:t>
            </a:r>
          </a:p>
        </p:txBody>
      </p:sp>
      <p:sp>
        <p:nvSpPr>
          <p:cNvPr id="3" name="Rectangle 2"/>
          <p:cNvSpPr/>
          <p:nvPr/>
        </p:nvSpPr>
        <p:spPr>
          <a:xfrm>
            <a:off x="749808" y="1554480"/>
            <a:ext cx="2011680" cy="54864"/>
          </a:xfrm>
          <a:prstGeom prst="rect">
            <a:avLst/>
          </a:prstGeom>
          <a:solidFill>
            <a:srgbClr val="C2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1920240"/>
            <a:ext cx="10607040" cy="1143000"/>
          </a:xfrm>
          <a:prstGeom prst="rect">
            <a:avLst/>
          </a:prstGeom>
          <a:solidFill>
            <a:srgbClr val="3A3A3A"/>
          </a:solidFill>
          <a:ln w="9525">
            <a:solidFill>
              <a:srgbClr val="8A9A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66544"/>
            <a:ext cx="10149840" cy="457200"/>
          </a:xfrm>
          <a:prstGeom prst="rect">
            <a:avLst/>
          </a:prstGeom>
          <a:noFill/>
        </p:spPr>
        <p:txBody>
          <a:bodyPr wrap="square" anchor="t" lIns="0" rIns="0" tIns="0" bIns="0">
            <a:spAutoFit/>
          </a:bodyPr>
          <a:lstStyle/>
          <a:p>
            <a:pPr algn="l">
              <a:lnSpc>
                <a:spcPct val="100000"/>
              </a:lnSpc>
              <a:spcAft>
                <a:spcPts val="600"/>
              </a:spcAft>
            </a:pPr>
            <a:r>
              <a:rPr sz="1800" b="1">
                <a:solidFill>
                  <a:srgbClr val="C2A878"/>
                </a:solidFill>
                <a:latin typeface="Trebuchet MS"/>
              </a:rPr>
              <a:t>Grow the team</a:t>
            </a:r>
          </a:p>
        </p:txBody>
      </p:sp>
      <p:sp>
        <p:nvSpPr>
          <p:cNvPr id="6" name="TextBox 5"/>
          <p:cNvSpPr txBox="1"/>
          <p:nvPr/>
        </p:nvSpPr>
        <p:spPr>
          <a:xfrm>
            <a:off x="1005840" y="2487168"/>
            <a:ext cx="10149840" cy="548640"/>
          </a:xfrm>
          <a:prstGeom prst="rect">
            <a:avLst/>
          </a:prstGeom>
          <a:noFill/>
        </p:spPr>
        <p:txBody>
          <a:bodyPr wrap="square" anchor="t" lIns="0" rIns="0" tIns="0" bIns="0">
            <a:spAutoFit/>
          </a:bodyPr>
          <a:lstStyle/>
          <a:p>
            <a:pPr algn="l">
              <a:lnSpc>
                <a:spcPct val="100000"/>
              </a:lnSpc>
              <a:spcAft>
                <a:spcPts val="600"/>
              </a:spcAft>
            </a:pPr>
            <a:r>
              <a:rPr sz="1400" b="0">
                <a:solidFill>
                  <a:srgbClr val="E2E2DD"/>
                </a:solidFill>
                <a:latin typeface="Calibri"/>
              </a:rPr>
              <a:t>Advance the second part time assistant search and onboard before summer install season.</a:t>
            </a:r>
          </a:p>
        </p:txBody>
      </p:sp>
      <p:sp>
        <p:nvSpPr>
          <p:cNvPr id="7" name="Rectangle 6"/>
          <p:cNvSpPr/>
          <p:nvPr/>
        </p:nvSpPr>
        <p:spPr>
          <a:xfrm>
            <a:off x="777240" y="3291840"/>
            <a:ext cx="10607040" cy="1143000"/>
          </a:xfrm>
          <a:prstGeom prst="rect">
            <a:avLst/>
          </a:prstGeom>
          <a:solidFill>
            <a:srgbClr val="3A3A3A"/>
          </a:solidFill>
          <a:ln w="9525">
            <a:solidFill>
              <a:srgbClr val="8A9A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38144"/>
            <a:ext cx="10149840" cy="457200"/>
          </a:xfrm>
          <a:prstGeom prst="rect">
            <a:avLst/>
          </a:prstGeom>
          <a:noFill/>
        </p:spPr>
        <p:txBody>
          <a:bodyPr wrap="square" anchor="t" lIns="0" rIns="0" tIns="0" bIns="0">
            <a:spAutoFit/>
          </a:bodyPr>
          <a:lstStyle/>
          <a:p>
            <a:pPr algn="l">
              <a:lnSpc>
                <a:spcPct val="100000"/>
              </a:lnSpc>
              <a:spcAft>
                <a:spcPts val="600"/>
              </a:spcAft>
            </a:pPr>
            <a:r>
              <a:rPr sz="1800" b="1">
                <a:solidFill>
                  <a:srgbClr val="C2A878"/>
                </a:solidFill>
                <a:latin typeface="Trebuchet MS"/>
              </a:rPr>
              <a:t>Tighten procurement</a:t>
            </a:r>
          </a:p>
        </p:txBody>
      </p:sp>
      <p:sp>
        <p:nvSpPr>
          <p:cNvPr id="9" name="TextBox 8"/>
          <p:cNvSpPr txBox="1"/>
          <p:nvPr/>
        </p:nvSpPr>
        <p:spPr>
          <a:xfrm>
            <a:off x="1005840" y="3858768"/>
            <a:ext cx="10149840" cy="548640"/>
          </a:xfrm>
          <a:prstGeom prst="rect">
            <a:avLst/>
          </a:prstGeom>
          <a:noFill/>
        </p:spPr>
        <p:txBody>
          <a:bodyPr wrap="square" anchor="t" lIns="0" rIns="0" tIns="0" bIns="0">
            <a:spAutoFit/>
          </a:bodyPr>
          <a:lstStyle/>
          <a:p>
            <a:pPr algn="l">
              <a:lnSpc>
                <a:spcPct val="100000"/>
              </a:lnSpc>
              <a:spcAft>
                <a:spcPts val="600"/>
              </a:spcAft>
            </a:pPr>
            <a:r>
              <a:rPr sz="1400" b="0">
                <a:solidFill>
                  <a:srgbClr val="E2E2DD"/>
                </a:solidFill>
                <a:latin typeface="Calibri"/>
              </a:rPr>
              <a:t>Standardize sample tracking with Priya so delivery windows stop slipping.</a:t>
            </a:r>
          </a:p>
        </p:txBody>
      </p:sp>
      <p:sp>
        <p:nvSpPr>
          <p:cNvPr id="10" name="Rectangle 9"/>
          <p:cNvSpPr/>
          <p:nvPr/>
        </p:nvSpPr>
        <p:spPr>
          <a:xfrm>
            <a:off x="777240" y="4663440"/>
            <a:ext cx="10607040" cy="1143000"/>
          </a:xfrm>
          <a:prstGeom prst="rect">
            <a:avLst/>
          </a:prstGeom>
          <a:solidFill>
            <a:srgbClr val="3A3A3A"/>
          </a:solidFill>
          <a:ln w="9525">
            <a:solidFill>
              <a:srgbClr val="8A9A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809744"/>
            <a:ext cx="10149840" cy="457200"/>
          </a:xfrm>
          <a:prstGeom prst="rect">
            <a:avLst/>
          </a:prstGeom>
          <a:noFill/>
        </p:spPr>
        <p:txBody>
          <a:bodyPr wrap="square" anchor="t" lIns="0" rIns="0" tIns="0" bIns="0">
            <a:spAutoFit/>
          </a:bodyPr>
          <a:lstStyle/>
          <a:p>
            <a:pPr algn="l">
              <a:lnSpc>
                <a:spcPct val="100000"/>
              </a:lnSpc>
              <a:spcAft>
                <a:spcPts val="600"/>
              </a:spcAft>
            </a:pPr>
            <a:r>
              <a:rPr sz="1800" b="1">
                <a:solidFill>
                  <a:srgbClr val="C2A878"/>
                </a:solidFill>
                <a:latin typeface="Trebuchet MS"/>
              </a:rPr>
              <a:t>Deepen referrals</a:t>
            </a:r>
          </a:p>
        </p:txBody>
      </p:sp>
      <p:sp>
        <p:nvSpPr>
          <p:cNvPr id="12" name="TextBox 11"/>
          <p:cNvSpPr txBox="1"/>
          <p:nvPr/>
        </p:nvSpPr>
        <p:spPr>
          <a:xfrm>
            <a:off x="1005840" y="5230368"/>
            <a:ext cx="10149840" cy="548640"/>
          </a:xfrm>
          <a:prstGeom prst="rect">
            <a:avLst/>
          </a:prstGeom>
          <a:noFill/>
        </p:spPr>
        <p:txBody>
          <a:bodyPr wrap="square" anchor="t" lIns="0" rIns="0" tIns="0" bIns="0">
            <a:spAutoFit/>
          </a:bodyPr>
          <a:lstStyle/>
          <a:p>
            <a:pPr algn="l">
              <a:lnSpc>
                <a:spcPct val="100000"/>
              </a:lnSpc>
              <a:spcAft>
                <a:spcPts val="600"/>
              </a:spcAft>
            </a:pPr>
            <a:r>
              <a:rPr sz="1400" b="0">
                <a:solidFill>
                  <a:srgbClr val="E2E2DD"/>
                </a:solidFill>
                <a:latin typeface="Calibri"/>
              </a:rPr>
              <a:t>Convert the Pemberton closeout testimonial into two Kalorama level leads.</a:t>
            </a:r>
          </a:p>
        </p:txBody>
      </p:sp>
    </p:spTree>
  </p:cSld>
  <p:clrMapOvr>
    <a:masterClrMapping/>
  </p:clrMapOvr>
  <p:transition xmlns:p14="http://schemas.microsoft.com/office/powerpoint/2010/mai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Jessica Wright</dc:creator>
  <cp:keywords/>
  <dc:description/>
  <cp:lastModifiedBy>Jessica Wright</cp:lastModifiedBy>
  <cp:revision>1</cp:revision>
  <dcterms:created xsi:type="dcterms:W3CDTF">2026-02-15T09:00:00Z</dcterms:created>
  <dcterms:modified xsi:type="dcterms:W3CDTF">2026-02-15T09:00:00Z</dcterms:modified>
  <cp:category/>
</cp:coreProperties>
</file>