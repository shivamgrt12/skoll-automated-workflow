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B5613F"/>
              </a:solidFill>
              <a:ln>
                <a:noFill/>
              </a:ln>
            </c:spPr>
          </c:dPt>
          <c:dPt>
            <c:idx val="1"/>
            <c:spPr>
              <a:solidFill>
                <a:srgbClr val="2C5A5A"/>
              </a:solidFill>
              <a:ln>
                <a:noFill/>
              </a:ln>
            </c:spPr>
          </c:dPt>
          <c:dPt>
            <c:idx val="2"/>
            <c:spPr>
              <a:solidFill>
                <a:srgbClr val="D89A4E"/>
              </a:solidFill>
              <a:ln>
                <a:noFill/>
              </a:ln>
            </c:spPr>
          </c:dPt>
          <c:dPt>
            <c:idx val="3"/>
            <c:spPr>
              <a:solidFill>
                <a:srgbClr val="8FA9A9"/>
              </a:solidFill>
              <a:ln>
                <a:noFill/>
              </a:ln>
            </c:spPr>
          </c:dPt>
          <c:dPt>
            <c:idx val="4"/>
            <c:spPr>
              <a:solidFill>
                <a:srgbClr val="C98A57"/>
              </a:solidFill>
              <a:ln>
                <a:noFill/>
              </a:ln>
            </c:spPr>
          </c:dPt>
          <c:dPt>
            <c:idx val="5"/>
            <c:spPr>
              <a:solidFill>
                <a:srgbClr val="6B4A38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Procurement</c:v>
                </c:pt>
                <c:pt idx="1">
                  <c:v>Custom cabinetry</c:v>
                </c:pt>
                <c:pt idx="2">
                  <c:v>Stone and tile</c:v>
                </c:pt>
                <c:pt idx="3">
                  <c:v>Lighting</c:v>
                </c:pt>
                <c:pt idx="4">
                  <c:v>Soft goods</c:v>
                </c:pt>
                <c:pt idx="5">
                  <c:v>Installation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42000</c:v>
                </c:pt>
                <c:pt idx="1">
                  <c:v>31500</c:v>
                </c:pt>
                <c:pt idx="2">
                  <c:v>24800</c:v>
                </c:pt>
                <c:pt idx="3">
                  <c:v>12400</c:v>
                </c:pt>
                <c:pt idx="4">
                  <c:v>18300</c:v>
                </c:pt>
                <c:pt idx="5">
                  <c:v>13200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3A332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32C"/>
            </a:solidFill>
          </a:ln>
        </c:spPr>
        <c:txPr>
          <a:bodyPr/>
          <a:lstStyle/>
          <a:p>
            <a:pPr>
              <a:defRPr sz="1000">
                <a:solidFill>
                  <a:srgbClr val="3A332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A332C"/>
            </a:solidFill>
          </a:ln>
        </c:spPr>
        <c:txPr>
          <a:bodyPr/>
          <a:lstStyle/>
          <a:p>
            <a:pPr>
              <a:defRPr sz="1000">
                <a:solidFill>
                  <a:srgbClr val="3A332C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complete</c:v>
                </c:pt>
              </c:strCache>
            </c:strRef>
          </c:tx>
          <c:dPt>
            <c:idx val="0"/>
            <c:spPr>
              <a:solidFill>
                <a:srgbClr val="2C5A5A"/>
              </a:solidFill>
              <a:ln>
                <a:noFill/>
              </a:ln>
            </c:spPr>
          </c:dPt>
          <c:dPt>
            <c:idx val="1"/>
            <c:spPr>
              <a:solidFill>
                <a:srgbClr val="2C5A5A"/>
              </a:solidFill>
              <a:ln>
                <a:noFill/>
              </a:ln>
            </c:spPr>
          </c:dPt>
          <c:dPt>
            <c:idx val="2"/>
            <c:spPr>
              <a:solidFill>
                <a:srgbClr val="D89A4E"/>
              </a:solidFill>
              <a:ln>
                <a:noFill/>
              </a:ln>
            </c:spPr>
          </c:dPt>
          <c:dPt>
            <c:idx val="3"/>
            <c:spPr>
              <a:solidFill>
                <a:srgbClr val="B5613F"/>
              </a:solidFill>
              <a:ln>
                <a:noFill/>
              </a:ln>
            </c:spPr>
          </c:dPt>
          <c:dPt>
            <c:idx val="4"/>
            <c:spPr>
              <a:solidFill>
                <a:srgbClr val="C9BCA6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Concept</c:v>
                </c:pt>
                <c:pt idx="1">
                  <c:v>Space plan</c:v>
                </c:pt>
                <c:pt idx="2">
                  <c:v>Sourcing</c:v>
                </c:pt>
                <c:pt idx="3">
                  <c:v>Procurement</c:v>
                </c:pt>
                <c:pt idx="4">
                  <c:v>Installation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85</c:v>
                </c:pt>
                <c:pt idx="3">
                  <c:v>60</c:v>
                </c:pt>
                <c:pt idx="4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3A332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A332C"/>
            </a:solidFill>
          </a:ln>
        </c:spPr>
        <c:txPr>
          <a:bodyPr/>
          <a:lstStyle/>
          <a:p>
            <a:pPr>
              <a:defRPr sz="1000">
                <a:solidFill>
                  <a:srgbClr val="3A332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3A332C"/>
            </a:solidFill>
          </a:ln>
        </c:spPr>
        <c:txPr>
          <a:bodyPr/>
          <a:lstStyle/>
          <a:p>
            <a:pPr>
              <a:defRPr sz="1000">
                <a:solidFill>
                  <a:srgbClr val="3A332C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76200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4E7D8"/>
                </a:solidFill>
                <a:latin typeface="Calibri"/>
              </a:rPr>
              <a:t>WRIGHT INTERIORS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Pemberton Georgetown Residence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 i="1">
                <a:solidFill>
                  <a:srgbClr val="B5613F"/>
                </a:solidFill>
                <a:latin typeface="Georgia"/>
              </a:rPr>
              <a:t>Phase 2 Design Reveal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03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A332C"/>
                </a:solidFill>
                <a:latin typeface="Calibri"/>
              </a:rPr>
              <a:t>Presented by Jessica Wright, Principal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2C5A5A"/>
                </a:solidFill>
                <a:latin typeface="Calibri"/>
              </a:rPr>
              <a:t>February 13, 2026   |   3119 Dumbarton Street NW, Washington, DC 20007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00600"/>
            <a:ext cx="2011680" cy="54864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3A332C"/>
                </a:solidFill>
                <a:latin typeface="Calibri"/>
              </a:rPr>
              <a:t>Wright Interiors   |   Pemberton Georgetown Residence   | 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3A332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C5A5A"/>
                </a:solidFill>
                <a:latin typeface="Georgia"/>
              </a:rPr>
              <a:t>Project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828800" cy="54864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2651760" cy="566928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78308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9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A332C"/>
                </a:solidFill>
                <a:latin typeface="Calibri"/>
              </a:rPr>
              <a:t>3119 Dumbarton Street NW, Washington, DC 20007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96312"/>
            <a:ext cx="2651760" cy="566928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496312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9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496312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A332C"/>
                </a:solidFill>
                <a:latin typeface="Calibri"/>
              </a:rPr>
              <a:t>Main level, kitchen, and primary suite refinement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209544"/>
            <a:ext cx="2651760" cy="566928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9544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3209544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9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209544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A332C"/>
                </a:solidFill>
                <a:latin typeface="Calibri"/>
              </a:rPr>
              <a:t>Mediterranean warmth meets contemporary restraint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22776"/>
            <a:ext cx="2651760" cy="566928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22776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Key materials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922776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9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922776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A332C"/>
                </a:solidFill>
                <a:latin typeface="Calibri"/>
              </a:rPr>
              <a:t>Warm plaster, honed Carrara, zellige tile, aged brass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636008"/>
            <a:ext cx="2651760" cy="566928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36008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Target install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4636008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9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4636008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A332C"/>
                </a:solidFill>
                <a:latin typeface="Calibri"/>
              </a:rPr>
              <a:t>October 2026, with final walkthrough October 15 to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349240"/>
            <a:ext cx="2651760" cy="566928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Closeout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534924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9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534924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A332C"/>
                </a:solidFill>
                <a:latin typeface="Calibri"/>
              </a:rPr>
              <a:t>Final invoice and archive, January 22, 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3A332C"/>
                </a:solidFill>
                <a:latin typeface="Calibri"/>
              </a:rPr>
              <a:t>Wright Interiors   |   Pemberton Georgetown Residence   | 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3A332C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Design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6766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3A332C"/>
                </a:solidFill>
                <a:latin typeface="Calibri"/>
              </a:rPr>
              <a:t>Phase 2 carries the language of the entry through to the rooms the family lives in most. Light is treated as a material. Warm plaster walls hold the morning sun, honed Carrara grounds the kitchen without glare, and a run of zellige tile in muted teal brings depth to the range wall. Aged brass and walnut soften the contemporary lines, so the rooms read as collected rather than installed.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8348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1">
                <a:solidFill>
                  <a:srgbClr val="B5613F"/>
                </a:solidFill>
                <a:latin typeface="Georgia"/>
              </a:rPr>
              <a:t>Beauty here is structural, not applied. Every surface earns its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83080"/>
            <a:ext cx="3200400" cy="896112"/>
          </a:xfrm>
          <a:prstGeom prst="rect">
            <a:avLst/>
          </a:prstGeom>
          <a:solidFill>
            <a:srgbClr val="EA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8308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3A332C"/>
                </a:solidFill>
                <a:latin typeface="Calibri"/>
              </a:rPr>
              <a:t>Plaster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862072"/>
            <a:ext cx="3200400" cy="896112"/>
          </a:xfrm>
          <a:prstGeom prst="rect">
            <a:avLst/>
          </a:prstGeom>
          <a:solidFill>
            <a:srgbClr val="E7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862072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3A332C"/>
                </a:solidFill>
                <a:latin typeface="Calibri"/>
              </a:rPr>
              <a:t>Carrara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941063"/>
            <a:ext cx="3200400" cy="896112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941063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Zellige teal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5020056"/>
            <a:ext cx="3200400" cy="896112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5020056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3A332C"/>
                </a:solidFill>
                <a:latin typeface="Calibri"/>
              </a:rPr>
              <a:t>Brass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3A332C"/>
                </a:solidFill>
                <a:latin typeface="Calibri"/>
              </a:rPr>
              <a:t>Wright Interiors   |   Pemberton Georgetown Residence   | 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3A332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C5A5A"/>
                </a:solidFill>
                <a:latin typeface="Georgia"/>
              </a:rPr>
              <a:t>Material 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828800" cy="54864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383280" cy="1874519"/>
          </a:xfrm>
          <a:prstGeom prst="rect">
            <a:avLst/>
          </a:prstGeom>
          <a:solidFill>
            <a:srgbClr val="EFE9DF"/>
          </a:solidFill>
          <a:ln w="9525">
            <a:solidFill>
              <a:srgbClr val="C9B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154679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5467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A332C"/>
                </a:solidFill>
                <a:latin typeface="Calibri"/>
              </a:rPr>
              <a:t>Warm Plaster White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737360"/>
            <a:ext cx="3383280" cy="1874519"/>
          </a:xfrm>
          <a:prstGeom prst="rect">
            <a:avLst/>
          </a:prstGeom>
          <a:solidFill>
            <a:srgbClr val="E7E3DC"/>
          </a:solidFill>
          <a:ln w="9525">
            <a:solidFill>
              <a:srgbClr val="C9B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3154679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15467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A332C"/>
                </a:solidFill>
                <a:latin typeface="Calibri"/>
              </a:rPr>
              <a:t>Honed Carrara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37360"/>
            <a:ext cx="3383280" cy="1874519"/>
          </a:xfrm>
          <a:prstGeom prst="rect">
            <a:avLst/>
          </a:prstGeom>
          <a:solidFill>
            <a:srgbClr val="2C5A5A"/>
          </a:solidFill>
          <a:ln w="9525">
            <a:solidFill>
              <a:srgbClr val="C9B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154679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15467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A332C"/>
                </a:solidFill>
                <a:latin typeface="Calibri"/>
              </a:rPr>
              <a:t>Zellige Teal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3383280" cy="1874519"/>
          </a:xfrm>
          <a:prstGeom prst="rect">
            <a:avLst/>
          </a:prstGeom>
          <a:solidFill>
            <a:srgbClr val="B08D3F"/>
          </a:solidFill>
          <a:ln w="9525">
            <a:solidFill>
              <a:srgbClr val="C9B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44068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440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A332C"/>
                </a:solidFill>
                <a:latin typeface="Calibri"/>
              </a:rPr>
              <a:t>Aged Brass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4023360"/>
            <a:ext cx="3383280" cy="1874519"/>
          </a:xfrm>
          <a:prstGeom prst="rect">
            <a:avLst/>
          </a:prstGeom>
          <a:solidFill>
            <a:srgbClr val="5B3A29"/>
          </a:solidFill>
          <a:ln w="9525">
            <a:solidFill>
              <a:srgbClr val="C9B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544068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440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A332C"/>
                </a:solidFill>
                <a:latin typeface="Calibri"/>
              </a:rPr>
              <a:t>Walnut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23360"/>
            <a:ext cx="3383280" cy="1874519"/>
          </a:xfrm>
          <a:prstGeom prst="rect">
            <a:avLst/>
          </a:prstGeom>
          <a:solidFill>
            <a:srgbClr val="D9CDB8"/>
          </a:solidFill>
          <a:ln w="9525">
            <a:solidFill>
              <a:srgbClr val="C9B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544068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5440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A332C"/>
                </a:solidFill>
                <a:latin typeface="Calibri"/>
              </a:rPr>
              <a:t>Natural Linen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3A332C"/>
                </a:solidFill>
                <a:latin typeface="Calibri"/>
              </a:rPr>
              <a:t>Wright Interiors   |   Pemberton Georgetown Residence   | 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3A332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Phase 2 Budget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5613F"/>
                </a:solidFill>
                <a:latin typeface="Calibri"/>
              </a:rPr>
              <a:t>Procurement and trade scope, total 142,200 USD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057400"/>
          <a:ext cx="109728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3A332C"/>
                </a:solidFill>
                <a:latin typeface="Calibri"/>
              </a:rPr>
              <a:t>Wright Interiors   |   Pemberton Georgetown Residence   | 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3A332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C5A5A"/>
                </a:solidFill>
                <a:latin typeface="Georgia"/>
              </a:rPr>
              <a:t>Timeline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A332C"/>
                </a:solidFill>
                <a:latin typeface="Calibri"/>
              </a:rPr>
              <a:t>Completion by stage as of February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778240" y="192024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9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148840"/>
            <a:ext cx="2468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B5613F"/>
                </a:solidFill>
                <a:latin typeface="Calibri"/>
              </a:rPr>
              <a:t>Milestones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0">
                <a:solidFill>
                  <a:srgbClr val="3A332C"/>
                </a:solidFill>
                <a:latin typeface="Calibri"/>
              </a:rPr>
              <a:t>Sourcing sign off, Feb 12, 2026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0">
                <a:solidFill>
                  <a:srgbClr val="3A332C"/>
                </a:solidFill>
                <a:latin typeface="Calibri"/>
              </a:rPr>
              <a:t>Delivery windows with Priya, October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0">
                <a:solidFill>
                  <a:srgbClr val="3A332C"/>
                </a:solidFill>
                <a:latin typeface="Calibri"/>
              </a:rPr>
              <a:t>Install and walkthrough, Oct 15 to 16, 2026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0">
                <a:solidFill>
                  <a:srgbClr val="3A332C"/>
                </a:solidFill>
                <a:latin typeface="Calibri"/>
              </a:rPr>
              <a:t>Final invoice and closeout, Jan 22,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B5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3A332C"/>
                </a:solidFill>
                <a:latin typeface="Calibri"/>
              </a:rPr>
              <a:t>Wright Interiors   |   Pemberton Georgetown Residence   |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3A332C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554480"/>
            <a:ext cx="2011680" cy="54864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93392"/>
            <a:ext cx="201168" cy="201168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F4E7D8"/>
                </a:solidFill>
                <a:latin typeface="Calibri"/>
              </a:rPr>
              <a:t>Approve the material palette and zellige tile 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201168" cy="201168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7004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F4E7D8"/>
                </a:solidFill>
                <a:latin typeface="Calibri"/>
              </a:rPr>
              <a:t>Confirm custom cabinetry shop drawings for release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93008"/>
            <a:ext cx="201168" cy="201168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19856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F4E7D8"/>
                </a:solidFill>
                <a:latin typeface="Calibri"/>
              </a:rPr>
              <a:t>Lock delivery windows so installation holds for October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242816"/>
            <a:ext cx="201168" cy="201168"/>
          </a:xfrm>
          <a:prstGeom prst="rect">
            <a:avLst/>
          </a:prstGeom>
          <a:solidFill>
            <a:srgbClr val="D8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69663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F4E7D8"/>
                </a:solidFill>
                <a:latin typeface="Calibri"/>
              </a:rPr>
              <a:t>Schedule the Phase 2 reveal walkthrough on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D7C9B5"/>
                </a:solidFill>
                <a:latin typeface="Calibri"/>
              </a:rPr>
              <a:t>Wright Interiors   |   jessica@wrightinteriors.com   |   Woodley Park, Washington, DC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Wright</dc:creator>
  <cp:keywords/>
  <dc:description/>
  <cp:lastModifiedBy>Jessica Wright</cp:lastModifiedBy>
  <cp:revision>1</cp:revision>
  <dcterms:created xsi:type="dcterms:W3CDTF">2026-02-13T16:30:00Z</dcterms:created>
  <dcterms:modified xsi:type="dcterms:W3CDTF">2026-02-13T16:30:00Z</dcterms:modified>
  <cp:category/>
</cp:coreProperties>
</file>