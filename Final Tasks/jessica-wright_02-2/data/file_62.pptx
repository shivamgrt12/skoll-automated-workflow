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Weeks</c:v>
                </c:pt>
              </c:strCache>
            </c:strRef>
          </c:tx>
          <c:dPt>
            <c:idx val="0"/>
            <c:spPr>
              <a:solidFill>
                <a:srgbClr val="C98C84"/>
              </a:solidFill>
              <a:ln>
                <a:noFill/>
              </a:ln>
            </c:spPr>
          </c:dPt>
          <c:dPt>
            <c:idx val="1"/>
            <c:spPr>
              <a:solidFill>
                <a:srgbClr val="28354A"/>
              </a:solidFill>
              <a:ln>
                <a:noFill/>
              </a:ln>
            </c:spPr>
          </c:dPt>
          <c:dPt>
            <c:idx val="2"/>
            <c:spPr>
              <a:solidFill>
                <a:srgbClr val="7E8B97"/>
              </a:solidFill>
              <a:ln>
                <a:noFill/>
              </a:ln>
            </c:spPr>
          </c:dPt>
          <c:dPt>
            <c:idx val="3"/>
            <c:spPr>
              <a:solidFill>
                <a:srgbClr val="9FB0A6"/>
              </a:solidFill>
              <a:ln>
                <a:noFill/>
              </a:ln>
            </c:spPr>
          </c:dPt>
          <c:dPt>
            <c:idx val="4"/>
            <c:spPr>
              <a:solidFill>
                <a:srgbClr val="B47870"/>
              </a:solidFill>
              <a:ln>
                <a:noFill/>
              </a:ln>
            </c:spPr>
          </c:dPt>
          <c:dPt>
            <c:idx val="5"/>
            <c:spPr>
              <a:solidFill>
                <a:srgbClr val="5B6B7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Discovery</c:v>
                </c:pt>
                <c:pt idx="1">
                  <c:v>Concept</c:v>
                </c:pt>
                <c:pt idx="2">
                  <c:v>Design development</c:v>
                </c:pt>
                <c:pt idx="3">
                  <c:v>Sourcing</c:v>
                </c:pt>
                <c:pt idx="4">
                  <c:v>Procurement</c:v>
                </c:pt>
                <c:pt idx="5">
                  <c:v>Installation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232B3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32B36"/>
            </a:solidFill>
          </a:ln>
        </c:spPr>
        <c:txPr>
          <a:bodyPr/>
          <a:lstStyle/>
          <a:p>
            <a:pPr>
              <a:defRPr sz="1000">
                <a:solidFill>
                  <a:srgbClr val="232B3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232B36"/>
            </a:solidFill>
          </a:ln>
        </c:spPr>
        <c:txPr>
          <a:bodyPr/>
          <a:lstStyle/>
          <a:p>
            <a:pPr>
              <a:defRPr sz="1000">
                <a:solidFill>
                  <a:srgbClr val="232B3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dPt>
            <c:idx val="0"/>
            <c:spPr>
              <a:solidFill>
                <a:srgbClr val="28354A"/>
              </a:solidFill>
              <a:ln>
                <a:noFill/>
              </a:ln>
            </c:spPr>
          </c:dPt>
          <c:dPt>
            <c:idx val="1"/>
            <c:spPr>
              <a:solidFill>
                <a:srgbClr val="C98C84"/>
              </a:solidFill>
              <a:ln>
                <a:noFill/>
              </a:ln>
            </c:spPr>
          </c:dPt>
          <c:dPt>
            <c:idx val="2"/>
            <c:spPr>
              <a:solidFill>
                <a:srgbClr val="7E8B97"/>
              </a:solidFill>
              <a:ln>
                <a:noFill/>
              </a:ln>
            </c:spPr>
          </c:dPt>
          <c:dPt>
            <c:idx val="3"/>
            <c:spPr>
              <a:solidFill>
                <a:srgbClr val="9FB0A6"/>
              </a:solidFill>
              <a:ln>
                <a:noFill/>
              </a:ln>
            </c:spPr>
          </c:dPt>
          <c:dPt>
            <c:idx val="4"/>
            <c:spPr>
              <a:solidFill>
                <a:srgbClr val="C9A7A1"/>
              </a:solidFill>
              <a:ln>
                <a:noFill/>
              </a:ln>
            </c:spPr>
          </c:dPt>
          <c:dPt>
            <c:idx val="5"/>
            <c:spPr>
              <a:solidFill>
                <a:srgbClr val="5B6B7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Furnishings</c:v>
                </c:pt>
                <c:pt idx="1">
                  <c:v>Cabinetry and millwork</c:v>
                </c:pt>
                <c:pt idx="2">
                  <c:v>Stone and tile</c:v>
                </c:pt>
                <c:pt idx="3">
                  <c:v>Lighting</c:v>
                </c:pt>
                <c:pt idx="4">
                  <c:v>Soft goods</c:v>
                </c:pt>
                <c:pt idx="5">
                  <c:v>Design fees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22</c:v>
                </c:pt>
                <c:pt idx="2">
                  <c:v>16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232B3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232B3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1672" cy="5760720"/>
          </a:xfrm>
          <a:prstGeom prst="rect">
            <a:avLst/>
          </a:prstGeom>
          <a:noFill/>
          <a:ln w="19050">
            <a:solidFill>
              <a:srgbClr val="28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1672" cy="1554480"/>
          </a:xfrm>
          <a:prstGeom prst="rect">
            <a:avLst/>
          </a:prstGeom>
          <a:solidFill>
            <a:srgbClr val="28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98C84"/>
                </a:solidFill>
                <a:latin typeface="Calibri"/>
              </a:rPr>
              <a:t>WRIGHT INTERIORS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Kalorama Whole-Home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 i="1">
                <a:solidFill>
                  <a:srgbClr val="28354A"/>
                </a:solidFill>
                <a:latin typeface="Georgia"/>
              </a:rPr>
              <a:t>Concept Direction and Engagement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429000"/>
            <a:ext cx="2194560" cy="54864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32B36"/>
                </a:solidFill>
                <a:latin typeface="Calibri"/>
              </a:rPr>
              <a:t>A first look at how we would approach a full home, room by 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E8B97"/>
                </a:solidFill>
                <a:latin typeface="Calibri"/>
              </a:rPr>
              <a:t>Discovery meeting: February 11,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532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7E8B97"/>
                </a:solidFill>
                <a:latin typeface="Calibri"/>
              </a:rPr>
              <a:t>Prepared by Jessica Wright, Principal Designer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232B36"/>
                </a:solidFill>
                <a:latin typeface="Calibri"/>
              </a:rPr>
              <a:t>Wright Interiors   |   Kalorama Whole-Home   |   Concept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32B36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8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Our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11880" cy="91440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71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8354A"/>
                </a:solidFill>
                <a:latin typeface="Georgia"/>
              </a:rPr>
              <a:t>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65760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32B36"/>
                </a:solidFill>
                <a:latin typeface="Calibri"/>
              </a:rPr>
              <a:t>Read the home and the way you live in it, then set a direction of light, material, and 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611880" cy="91440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71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8354A"/>
                </a:solidFill>
                <a:latin typeface="Georgia"/>
              </a:rPr>
              <a:t>Sourcing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32B36"/>
                </a:solidFill>
                <a:latin typeface="Calibri"/>
              </a:rPr>
              <a:t>Specify and procure furnishings, stone, tile, and lighting, with samples reviewed before any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1" y="18288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1" y="1828800"/>
            <a:ext cx="3611880" cy="91440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9202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9718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8354A"/>
                </a:solidFill>
                <a:latin typeface="Georgia"/>
              </a:rPr>
              <a:t>Installation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365760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32B36"/>
                </a:solidFill>
                <a:latin typeface="Calibri"/>
              </a:rPr>
              <a:t>Oversee trades and delivery windows so the rooms arrive resolved, not assembled in a rush.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232B36"/>
                </a:solidFill>
                <a:latin typeface="Calibri"/>
              </a:rPr>
              <a:t>Wright Interiors   |   Kalorama Whole-Home   |   Concept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32B36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Aesthetic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417320"/>
            <a:ext cx="2011680" cy="54864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146304" cy="109728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C98C84"/>
                </a:solidFill>
                <a:latin typeface="Georgia"/>
              </a:rPr>
              <a:t>Mediterranean warmth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DCE2EA"/>
                </a:solidFill>
                <a:latin typeface="Calibri"/>
              </a:rPr>
              <a:t>Hand finished tile, plaster, and natural stone that hold light and age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46120"/>
            <a:ext cx="146304" cy="1097280"/>
          </a:xfrm>
          <a:prstGeom prst="rect">
            <a:avLst/>
          </a:prstGeom>
          <a:solidFill>
            <a:srgbClr val="7E8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7E8B97"/>
                </a:solidFill>
                <a:latin typeface="Georgia"/>
              </a:rPr>
              <a:t>Japanese restraint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59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DCE2EA"/>
                </a:solidFill>
                <a:latin typeface="Calibri"/>
              </a:rPr>
              <a:t>Quiet lines and considered negative space, so nothing in a room is accidental.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46304" cy="1097280"/>
          </a:xfrm>
          <a:prstGeom prst="rect">
            <a:avLst/>
          </a:prstGeom>
          <a:solidFill>
            <a:srgbClr val="9F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9FB0A6"/>
                </a:solidFill>
                <a:latin typeface="Georgia"/>
              </a:rPr>
              <a:t>Scandinavian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212079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DCE2EA"/>
                </a:solidFill>
                <a:latin typeface="Calibri"/>
              </a:rPr>
              <a:t>Pale woods and soft neutrals that keep the home bright through a grey DC winter.</a:t>
            </a:r>
          </a:p>
        </p:txBody>
      </p:sp>
    </p:spTree>
  </p:cSld>
  <p:clrMapOvr>
    <a:masterClrMapping/>
  </p:clrMapOvr>
  <p:transition xmlns:p14="http://schemas.microsoft.com/office/powerpoint/2010/main"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8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Typical Project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E8B97"/>
                </a:solidFill>
                <a:latin typeface="Calibri"/>
              </a:rPr>
              <a:t>Indicative duration for a whole-home engagement, in weeks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65960"/>
          <a:ext cx="10972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232B36"/>
                </a:solidFill>
                <a:latin typeface="Calibri"/>
              </a:rPr>
              <a:t>Wright Interiors   |   Kalorama Whole-Home   |   Concept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32B36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8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Where Budgets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E8B97"/>
                </a:solidFill>
                <a:latin typeface="Calibri"/>
              </a:rPr>
              <a:t>Indicative allocation across a whole-home budget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65836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2103120"/>
            <a:ext cx="3840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28354A"/>
                </a:solidFill>
                <a:latin typeface="Georgia"/>
              </a:rPr>
              <a:t>Reading the split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232B36"/>
                </a:solidFill>
                <a:latin typeface="Calibri"/>
              </a:rPr>
              <a:t>Furnishings and millwork carry most of a whole-home budget. Stone, tile, and lighting set the character of the rooms. Design fees stay a small, fixed share of the whole.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232B36"/>
                </a:solidFill>
                <a:latin typeface="Calibri"/>
              </a:rPr>
              <a:t>Wright Interiors   |   Kalorama Whole-Home   |   Concept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32B36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C98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28354A"/>
                </a:solidFill>
                <a:latin typeface="Georgia"/>
              </a:rPr>
              <a:t>Let us shape the first phase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3A2E2C"/>
                </a:solidFill>
                <a:latin typeface="Calibri"/>
              </a:rPr>
              <a:t>A phased proposal with a clear design fee structure follows our discovery meeting. We begin with concept and a starter palette, then move room by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663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8354A"/>
                </a:solidFill>
                <a:latin typeface="Georgia"/>
              </a:rPr>
              <a:t>Wright Interiors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232B36"/>
                </a:solidFill>
                <a:latin typeface="Calibri"/>
              </a:rPr>
              <a:t>jessica@wrightinteriors.com   |   Woodley Park, Washington, DC   |   @wrightinteriors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Wright</dc:creator>
  <cp:keywords/>
  <dc:description/>
  <cp:lastModifiedBy>Jessica Wright</cp:lastModifiedBy>
  <cp:revision>1</cp:revision>
  <dcterms:created xsi:type="dcterms:W3CDTF">2026-02-20T10:00:00Z</dcterms:created>
  <dcterms:modified xsi:type="dcterms:W3CDTF">2026-02-20T10:00:00Z</dcterms:modified>
  <cp:category/>
</cp:coreProperties>
</file>