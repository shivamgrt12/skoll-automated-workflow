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 walked</c:v>
                </c:pt>
              </c:strCache>
            </c:strRef>
          </c:tx>
          <c:spPr>
            <a:solidFill>
              <a:srgbClr val="2BB8A3"/>
            </a:solidFill>
          </c:spPr>
          <c:cat>
            <c:strRef>
              <c:f>Sheet1!$A$2:$A$7</c:f>
              <c:strCache>
                <c:ptCount val="6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  <c:pt idx="5">
                  <c:v>Week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</c:v>
                </c:pt>
                <c:pt idx="1">
                  <c:v>71</c:v>
                </c:pt>
                <c:pt idx="2">
                  <c:v>60</c:v>
                </c:pt>
                <c:pt idx="3">
                  <c:v>72</c:v>
                </c:pt>
                <c:pt idx="4">
                  <c:v>69</c:v>
                </c:pt>
                <c:pt idx="5">
                  <c:v>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2BB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164592" cy="1828800"/>
          </a:xfrm>
          <a:prstGeom prst="rect">
            <a:avLst/>
          </a:prstGeom>
          <a:solidFill>
            <a:srgbClr val="2BB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Managing Rheumatoid Arthritis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2BB8A3"/>
                </a:solidFill>
                <a:latin typeface="Calibri"/>
              </a:rPr>
              <a:t>A steady, day to day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6692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FE3DC"/>
                </a:solidFill>
                <a:latin typeface="Calibri"/>
              </a:rPr>
              <a:t>Prepared by John Martin, Murfreesboro, Tennessee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3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Where things stand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4937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3322E"/>
                </a:solidFill>
                <a:latin typeface="Calibri"/>
              </a:rPr>
              <a:t>  Moderate disease activity in the hands, wrists, and knees.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3322E"/>
                </a:solidFill>
                <a:latin typeface="Calibri"/>
              </a:rPr>
              <a:t>  Morning stiffness usually runs 45 to 55 minutes.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3322E"/>
                </a:solidFill>
                <a:latin typeface="Calibri"/>
              </a:rPr>
              <a:t>  Disease has stayed stable on the current regimen.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3322E"/>
                </a:solidFill>
                <a:latin typeface="Calibri"/>
              </a:rPr>
              <a:t>  Grip and pacing adapted for clinic work.</a:t>
            </a:r>
            <a: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554480"/>
            <a:ext cx="5669280" cy="448056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49377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The aim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8F5F2"/>
                </a:solidFill>
                <a:latin typeface="Calibri"/>
              </a:rPr>
              <a:t>Keep the joints moving, keep the labs clean, and catch a flare early rather than late.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C7EBE3"/>
                </a:solidFill>
                <a:latin typeface="Calibri"/>
              </a:rPr>
              <a:t>Care led by Dr. Harper, rheumatology, every three months.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B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3B3A"/>
                </a:solidFill>
                <a:latin typeface="Calibri"/>
              </a:rPr>
              <a:t>Daily medication routine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7056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Medication</a:t>
                      </a:r>
                    </a:p>
                  </a:txBody>
                  <a:tcPr marL="101600" marR="101600" marT="50800" marB="50800" anchor="ctr">
                    <a:solidFill>
                      <a:srgbClr val="0F3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Dose</a:t>
                      </a:r>
                    </a:p>
                  </a:txBody>
                  <a:tcPr marL="101600" marR="101600" marT="50800" marB="50800" anchor="ctr">
                    <a:solidFill>
                      <a:srgbClr val="0F3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101600" marR="101600" marT="50800" marB="50800" anchor="ctr">
                    <a:solidFill>
                      <a:srgbClr val="0F3B3A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Methotrexate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15 mg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Once weekly, Saturday morning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Folic acid</a:t>
                      </a:r>
                    </a:p>
                  </a:txBody>
                  <a:tcPr marL="101600" marR="101600" marT="50800" marB="50800" anchor="ctr">
                    <a:solidFill>
                      <a:srgbClr val="E8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1 mg</a:t>
                      </a:r>
                    </a:p>
                  </a:txBody>
                  <a:tcPr marL="101600" marR="101600" marT="50800" marB="50800" anchor="ctr">
                    <a:solidFill>
                      <a:srgbClr val="E8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Daily, except the methotrexate day</a:t>
                      </a:r>
                    </a:p>
                  </a:txBody>
                  <a:tcPr marL="101600" marR="101600" marT="50800" marB="50800" anchor="ctr">
                    <a:solidFill>
                      <a:srgbClr val="E8F5F2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Hydroxychloroquine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200 mg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Daily, with breakfast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Amlodipine</a:t>
                      </a:r>
                    </a:p>
                  </a:txBody>
                  <a:tcPr marL="101600" marR="101600" marT="50800" marB="50800" anchor="ctr">
                    <a:solidFill>
                      <a:srgbClr val="E8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5 mg</a:t>
                      </a:r>
                    </a:p>
                  </a:txBody>
                  <a:tcPr marL="101600" marR="101600" marT="50800" marB="50800" anchor="ctr">
                    <a:solidFill>
                      <a:srgbClr val="E8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Daily, each morning</a:t>
                      </a:r>
                    </a:p>
                  </a:txBody>
                  <a:tcPr marL="101600" marR="101600" marT="50800" marB="50800" anchor="ctr">
                    <a:solidFill>
                      <a:srgbClr val="E8F5F2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Supplements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D3, calcium, fish oil, glucosamine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3322E"/>
                          </a:solidFill>
                          <a:latin typeface="Calibri"/>
                        </a:rPr>
                        <a:t>Daily, with the morning dose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8A7A"/>
                </a:solidFill>
                <a:latin typeface="Calibri"/>
              </a:rPr>
              <a:t>Saturday is the methotrexate day, so plan a lighter afternoon.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Movement that helps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63040"/>
          <a:ext cx="108813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split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Questions for the next visit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BB8A3"/>
                </a:solidFill>
                <a:latin typeface="Calibri"/>
              </a:rPr>
              <a:t>Rheumatology, December 10, 2026 at 10:30 in the morning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8F5F2"/>
                </a:solidFill>
                <a:latin typeface="Calibri"/>
              </a:rPr>
              <a:t>  Is the morning stiffness where we expect, or should we adjust?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F5F2"/>
                </a:solidFill>
                <a:latin typeface="Calibri"/>
              </a:rPr>
              <a:t>  If methotrexate plateaus, what would adding a biologic look like?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F5F2"/>
                </a:solidFill>
                <a:latin typeface="Calibri"/>
              </a:rPr>
              <a:t>  Are the liver labs steady enough to hold the current dose?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F5F2"/>
                </a:solidFill>
                <a:latin typeface="Calibri"/>
              </a:rPr>
              <a:t>  What more can I do for the knees besides walking?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F5F2"/>
                </a:solidFill>
                <a:latin typeface="Calibri"/>
              </a:rPr>
              <a:t>  Which flare signs should send me in sooner?</a:t>
            </a:r>
            <a:r>
              <a:t/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B8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94560"/>
            <a:ext cx="10332720" cy="2468880"/>
          </a:xfrm>
          <a:prstGeom prst="rect">
            <a:avLst/>
          </a:prstGeom>
          <a:solidFill>
            <a:srgbClr val="0F3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One step at a time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E8F5F2"/>
                </a:solidFill>
                <a:latin typeface="Calibri"/>
              </a:rPr>
              <a:t>Steady habits, clean labs, and a good question list.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