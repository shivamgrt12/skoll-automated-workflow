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dPt>
            <c:idx val="0"/>
            <c:spPr>
              <a:solidFill>
                <a:srgbClr val="E0A11A"/>
              </a:solidFill>
            </c:spPr>
          </c:dPt>
          <c:dPt>
            <c:idx val="1"/>
            <c:spPr>
              <a:solidFill>
                <a:srgbClr val="5A3618"/>
              </a:solidFill>
            </c:spPr>
          </c:dPt>
          <c:cat>
            <c:strRef>
              <c:f>Sheet1!$A$2:$A$3</c:f>
              <c:strCache>
                <c:ptCount val="2"/>
                <c:pt idx="0">
                  <c:v>Food</c:v>
                </c:pt>
                <c:pt idx="1">
                  <c:v>Supplies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264</c:v>
                </c:pt>
                <c:pt idx="1">
                  <c:v>61</c:v>
                </c:pt>
              </c:numCache>
            </c:numRef>
          </c:val>
        </c:ser>
        <c:dLbls>
          <c:numFmt formatCode="&quot;$&quot;0" sourceLinked="0"/>
          <c:txPr>
            <a:bodyPr/>
            <a:lstStyle/>
            <a:p>
              <a:pPr>
                <a:defRPr sz="1200">
                  <a:latin typeface="Georgi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>
              <a:latin typeface="Georgia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A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5A3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3D2410"/>
                </a:solidFill>
                <a:latin typeface="Georgia"/>
              </a:rPr>
              <a:t>Fall Fellowship Luncheon</a:t>
            </a: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5A3618"/>
                </a:solidFill>
                <a:latin typeface="Georgia"/>
              </a:rPr>
              <a:t>Men's Ministry, New Vision Baptist Church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BF3E2"/>
                </a:solidFill>
                <a:latin typeface="Georgia"/>
              </a:rPr>
              <a:t>October 17, 2026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0DDB6"/>
                </a:solidFill>
                <a:latin typeface="Georgia"/>
              </a:rPr>
              <a:t>Fellowship Hall, noon to two in the afternoon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36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The plan for the afternoon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6304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7056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3D2410"/>
                          </a:solidFill>
                          <a:latin typeface="Georgia"/>
                        </a:rPr>
                        <a:t>Time</a:t>
                      </a:r>
                    </a:p>
                  </a:txBody>
                  <a:tcPr marL="101600" marR="101600" marT="50800" marB="50800" anchor="ctr">
                    <a:solidFill>
                      <a:srgbClr val="E0A1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3D2410"/>
                          </a:solidFill>
                          <a:latin typeface="Georgia"/>
                        </a:rPr>
                        <a:t>What happens</a:t>
                      </a:r>
                    </a:p>
                  </a:txBody>
                  <a:tcPr marL="101600" marR="101600" marT="50800" marB="50800" anchor="ctr">
                    <a:solidFill>
                      <a:srgbClr val="E0A11A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2410"/>
                          </a:solidFill>
                          <a:latin typeface="Georgia"/>
                        </a:rPr>
                        <a:t>10:30 in the morning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2410"/>
                          </a:solidFill>
                          <a:latin typeface="Georgia"/>
                        </a:rPr>
                        <a:t>Setup, tables and serving line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2410"/>
                          </a:solidFill>
                          <a:latin typeface="Georgia"/>
                        </a:rPr>
                        <a:t>Noon</a:t>
                      </a:r>
                    </a:p>
                  </a:txBody>
                  <a:tcPr marL="101600" marR="101600" marT="50800" marB="50800" anchor="ctr">
                    <a:solidFill>
                      <a:srgbClr val="F6E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2410"/>
                          </a:solidFill>
                          <a:latin typeface="Georgia"/>
                        </a:rPr>
                        <a:t>Welcome and opening prayer</a:t>
                      </a:r>
                    </a:p>
                  </a:txBody>
                  <a:tcPr marL="101600" marR="101600" marT="50800" marB="50800" anchor="ctr">
                    <a:solidFill>
                      <a:srgbClr val="F6E9CE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2410"/>
                          </a:solidFill>
                          <a:latin typeface="Georgia"/>
                        </a:rPr>
                        <a:t>12:15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2410"/>
                          </a:solidFill>
                          <a:latin typeface="Georgia"/>
                        </a:rPr>
                        <a:t>Blessing of the meal, lunch served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2410"/>
                          </a:solidFill>
                          <a:latin typeface="Georgia"/>
                        </a:rPr>
                        <a:t>1:15</a:t>
                      </a:r>
                    </a:p>
                  </a:txBody>
                  <a:tcPr marL="101600" marR="101600" marT="50800" marB="50800" anchor="ctr">
                    <a:solidFill>
                      <a:srgbClr val="F6E9C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2410"/>
                          </a:solidFill>
                          <a:latin typeface="Georgia"/>
                        </a:rPr>
                        <a:t>A short word on the mentorship program</a:t>
                      </a:r>
                    </a:p>
                  </a:txBody>
                  <a:tcPr marL="101600" marR="101600" marT="50800" marB="50800" anchor="ctr">
                    <a:solidFill>
                      <a:srgbClr val="F6E9CE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2410"/>
                          </a:solidFill>
                          <a:latin typeface="Georgia"/>
                        </a:rPr>
                        <a:t>1:45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D2410"/>
                          </a:solidFill>
                          <a:latin typeface="Georgia"/>
                        </a:rPr>
                        <a:t>Closing prayer and cleanup together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3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0A11A"/>
                </a:solidFill>
                <a:latin typeface="Georgia"/>
              </a:rPr>
              <a:t>What we are 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FBF3E2"/>
                </a:solidFill>
                <a:latin typeface="Georgia"/>
              </a:rPr>
              <a:t>  Baked chicken trays, the main of the meal.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BF3E2"/>
                </a:solidFill>
                <a:latin typeface="Georgia"/>
              </a:rPr>
              <a:t>  Greens and cornbread, the side everyone waits for.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BF3E2"/>
                </a:solidFill>
                <a:latin typeface="Georgia"/>
              </a:rPr>
              <a:t>  Garden salad and dinner rolls.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BF3E2"/>
                </a:solidFill>
                <a:latin typeface="Georgia"/>
              </a:rPr>
              <a:t>  Coffee, tea, and cold drinks.</a:t>
            </a:r>
            <a:r>
              <a:t/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BF3E2"/>
                </a:solidFill>
                <a:latin typeface="Georgia"/>
              </a:rPr>
              <a:t>  Dessert trays to finish.</a:t>
            </a:r>
            <a:r>
              <a:t/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E7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Georgia"/>
              </a:rPr>
              <a:t>Budget at a glance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64008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2011680"/>
            <a:ext cx="40233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3D2410"/>
                </a:solidFill>
                <a:latin typeface="Georgia"/>
              </a:rPr>
              <a:t>Total planned, 325 dollars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5A3618"/>
                </a:solidFill>
                <a:latin typeface="Georgia"/>
              </a:rPr>
              <a:t>Approved, 350 dollars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6E7B3A"/>
                </a:solidFill>
                <a:latin typeface="Georgia"/>
              </a:rPr>
              <a:t>Remaining, 25 dollars</a:t>
            </a:r>
          </a:p>
        </p:txBody>
      </p:sp>
    </p:spTree>
  </p:cSld>
  <p:clrMapOvr>
    <a:masterClrMapping/>
  </p:clrMapOvr>
  <p:transition spd="med">
    <p:split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A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10698480" cy="5120640"/>
          </a:xfrm>
          <a:prstGeom prst="rect">
            <a:avLst/>
          </a:prstGeom>
          <a:solidFill>
            <a:srgbClr val="F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5A3618"/>
                </a:solidFill>
                <a:latin typeface="Georgia"/>
              </a:rPr>
              <a:t>How to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3D2410"/>
                </a:solidFill>
                <a:latin typeface="Georgia"/>
              </a:rPr>
              <a:t>  A few hands for setup at half past ten.</a:t>
            </a:r>
            <a:r>
              <a:t/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D2410"/>
                </a:solidFill>
                <a:latin typeface="Georgia"/>
              </a:rPr>
              <a:t>  A side dish or a dessert, let the coordinator know by October 10.</a:t>
            </a:r>
            <a:r>
              <a:t/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3D2410"/>
                </a:solidFill>
                <a:latin typeface="Georgia"/>
              </a:rPr>
              <a:t>  Cleanup help once the tables clear.</a:t>
            </a:r>
            <a:r>
              <a:t/>
            </a:r>
          </a:p>
        </p:txBody>
      </p:sp>
    </p:spTree>
  </p:cSld>
  <p:clrMapOvr>
    <a:masterClrMapping/>
  </p:clrMapOvr>
  <p:transition spd="med">
    <p:wipe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36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800" b="1">
                <a:solidFill>
                  <a:srgbClr val="E0A11A"/>
                </a:solidFill>
                <a:latin typeface="Georgia"/>
              </a:rPr>
              <a:t>All are welcome</a:t>
            </a:r>
          </a:p>
          <a:p>
            <a:pPr algn="ctr">
              <a:spcAft>
                <a:spcPts val="0"/>
              </a:spcAft>
            </a:pPr>
            <a:r>
              <a:rPr sz="1800" b="0">
                <a:solidFill>
                  <a:srgbClr val="FBF3E2"/>
                </a:solidFill>
                <a:latin typeface="Georgia"/>
              </a:rPr>
              <a:t>Questions, the church office at (615) 555-0301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