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F07F2D"/>
            </a:solidFill>
          </c:spPr>
          <c:cat>
            <c:strRef>
              <c:f>Sheet1!$A$2:$A$6</c:f>
              <c:strCache>
                <c:ptCount val="5"/>
                <c:pt idx="0">
                  <c:v>Protein</c:v>
                </c:pt>
                <c:pt idx="1">
                  <c:v>Produce</c:v>
                </c:pt>
                <c:pt idx="2">
                  <c:v>Pantry</c:v>
                </c:pt>
                <c:pt idx="3">
                  <c:v>Dairy</c:v>
                </c:pt>
                <c:pt idx="4">
                  <c:v>Snack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21.21</c:v>
                </c:pt>
                <c:pt idx="1">
                  <c:v>21.1</c:v>
                </c:pt>
                <c:pt idx="2">
                  <c:v>17.73</c:v>
                </c:pt>
                <c:pt idx="3">
                  <c:v>9.17</c:v>
                </c:pt>
                <c:pt idx="4">
                  <c:v>5.99</c:v>
                </c:pt>
              </c:numCache>
            </c:numRef>
          </c:val>
        </c:ser>
        <c:dLbls>
          <c:numFmt formatCode="&quot;$&quot;0.00" sourceLinked="0"/>
          <c:txPr>
            <a:bodyPr/>
            <a:lstStyle/>
            <a:p>
              <a:pPr>
                <a:defRPr sz="1100">
                  <a:latin typeface="Trebuchet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Trebuchet M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Trebuchet M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937760"/>
            <a:ext cx="12191695" cy="502920"/>
          </a:xfrm>
          <a:prstGeom prst="rect">
            <a:avLst/>
          </a:prstGeom>
          <a:solidFill>
            <a:srgbClr val="3A73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40680"/>
            <a:ext cx="12191695" cy="502920"/>
          </a:xfrm>
          <a:prstGeom prst="rect">
            <a:avLst/>
          </a:prstGeom>
          <a:solidFill>
            <a:srgbClr val="498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502920"/>
          </a:xfrm>
          <a:prstGeom prst="rect">
            <a:avLst/>
          </a:prstGeom>
          <a:solidFill>
            <a:srgbClr val="5C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200" b="1">
                <a:solidFill>
                  <a:srgbClr val="FFFFFF"/>
                </a:solidFill>
                <a:latin typeface="Trebuchet MS"/>
              </a:rPr>
              <a:t>The Anti-Inflammatory Kitchen</a:t>
            </a:r>
          </a:p>
          <a:p>
            <a:pPr algn="l">
              <a:spcAft>
                <a:spcPts val="0"/>
              </a:spcAft>
            </a:pPr>
            <a:r>
              <a:rPr sz="2200" b="0">
                <a:solidFill>
                  <a:srgbClr val="D9EFC9"/>
                </a:solidFill>
                <a:latin typeface="Trebuchet MS"/>
              </a:rPr>
              <a:t>Low effort meals that go easy on the joints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25880"/>
            <a:ext cx="2194560" cy="128016"/>
          </a:xfrm>
          <a:prstGeom prst="rect">
            <a:avLst/>
          </a:prstGeom>
          <a:solidFill>
            <a:srgbClr val="F07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5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Trebuchet MS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F3D14"/>
                </a:solidFill>
                <a:latin typeface="Trebuchet MS"/>
              </a:rPr>
              <a:t>  Cook once, eat twice, leftovers carry the next lunch.</a:t>
            </a:r>
            <a:r>
              <a:t/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F3D14"/>
                </a:solidFill>
                <a:latin typeface="Trebuchet MS"/>
              </a:rPr>
              <a:t>  Lean on the sheet pan, little chopping and almost no cleanup.</a:t>
            </a:r>
            <a:r>
              <a:t/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F3D14"/>
                </a:solidFill>
                <a:latin typeface="Trebuchet MS"/>
              </a:rPr>
              <a:t>  Oily fish and leafy greens earn their place each week.</a:t>
            </a:r>
            <a:r>
              <a:t/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F3D14"/>
                </a:solidFill>
                <a:latin typeface="Trebuchet MS"/>
              </a:rPr>
              <a:t>  Less added sugar, more color on the plate.</a:t>
            </a:r>
            <a:r>
              <a:t/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F3D14"/>
                </a:solidFill>
                <a:latin typeface="Trebuchet MS"/>
              </a:rPr>
              <a:t>  Buy pre-cut produce on the stiff hand days.</a:t>
            </a:r>
            <a:r>
              <a:t/>
            </a:r>
          </a:p>
        </p:txBody>
      </p:sp>
    </p:spTree>
  </p:cSld>
  <p:clrMapOvr>
    <a:masterClrMapping/>
  </p:clrMapOvr>
  <p:transition spd="med">
    <p:push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07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E5E1E"/>
                </a:solidFill>
                <a:latin typeface="Trebuchet MS"/>
              </a:rPr>
              <a:t>A week of suppers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8813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655320"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Trebuchet MS"/>
                        </a:rPr>
                        <a:t>Day</a:t>
                      </a:r>
                    </a:p>
                  </a:txBody>
                  <a:tcPr marL="101600" marR="101600" marT="50800" marB="50800" anchor="ctr">
                    <a:solidFill>
                      <a:srgbClr val="2E5E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Trebuchet MS"/>
                        </a:rPr>
                        <a:t>Main</a:t>
                      </a:r>
                    </a:p>
                  </a:txBody>
                  <a:tcPr marL="101600" marR="101600" marT="50800" marB="50800" anchor="ctr">
                    <a:solidFill>
                      <a:srgbClr val="2E5E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Trebuchet MS"/>
                        </a:rPr>
                        <a:t>Note</a:t>
                      </a:r>
                    </a:p>
                  </a:txBody>
                  <a:tcPr marL="101600" marR="101600" marT="50800" marB="50800" anchor="ctr">
                    <a:solidFill>
                      <a:srgbClr val="2E5E1E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3D14"/>
                          </a:solidFill>
                          <a:latin typeface="Trebuchet MS"/>
                        </a:rPr>
                        <a:t>Monday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3D14"/>
                          </a:solidFill>
                          <a:latin typeface="Trebuchet MS"/>
                        </a:rPr>
                        <a:t>Baked salmon, sweet potato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3D14"/>
                          </a:solidFill>
                          <a:latin typeface="Trebuchet MS"/>
                        </a:rPr>
                        <a:t>Sheet pan, one of two portions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3D14"/>
                          </a:solidFill>
                          <a:latin typeface="Trebuchet MS"/>
                        </a:rPr>
                        <a:t>Tuesday</a:t>
                      </a:r>
                    </a:p>
                  </a:txBody>
                  <a:tcPr marL="101600" marR="101600" marT="50800" marB="50800" anchor="ctr">
                    <a:solidFill>
                      <a:srgbClr val="F2F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3D14"/>
                          </a:solidFill>
                          <a:latin typeface="Trebuchet MS"/>
                        </a:rPr>
                        <a:t>Roast chicken and vegetables</a:t>
                      </a:r>
                    </a:p>
                  </a:txBody>
                  <a:tcPr marL="101600" marR="101600" marT="50800" marB="50800" anchor="ctr">
                    <a:solidFill>
                      <a:srgbClr val="F2F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3D14"/>
                          </a:solidFill>
                          <a:latin typeface="Trebuchet MS"/>
                        </a:rPr>
                        <a:t>Saves a breast for a wrap</a:t>
                      </a:r>
                    </a:p>
                  </a:txBody>
                  <a:tcPr marL="101600" marR="101600" marT="50800" marB="50800" anchor="ctr">
                    <a:solidFill>
                      <a:srgbClr val="F2F7EC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3D14"/>
                          </a:solidFill>
                          <a:latin typeface="Trebuchet MS"/>
                        </a:rPr>
                        <a:t>Wednesday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3D14"/>
                          </a:solidFill>
                          <a:latin typeface="Trebuchet MS"/>
                        </a:rPr>
                        <a:t>Lentil and tomato soup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3D14"/>
                          </a:solidFill>
                          <a:latin typeface="Trebuchet MS"/>
                        </a:rPr>
                        <a:t>Light night, choir rehearsal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3D14"/>
                          </a:solidFill>
                          <a:latin typeface="Trebuchet MS"/>
                        </a:rPr>
                        <a:t>Thursday</a:t>
                      </a:r>
                    </a:p>
                  </a:txBody>
                  <a:tcPr marL="101600" marR="101600" marT="50800" marB="50800" anchor="ctr">
                    <a:solidFill>
                      <a:srgbClr val="F2F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3D14"/>
                          </a:solidFill>
                          <a:latin typeface="Trebuchet MS"/>
                        </a:rPr>
                        <a:t>Sweet potato and bean bowl</a:t>
                      </a:r>
                    </a:p>
                  </a:txBody>
                  <a:tcPr marL="101600" marR="101600" marT="50800" marB="50800" anchor="ctr">
                    <a:solidFill>
                      <a:srgbClr val="F2F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3D14"/>
                          </a:solidFill>
                          <a:latin typeface="Trebuchet MS"/>
                        </a:rPr>
                        <a:t>Uses Monday leftovers</a:t>
                      </a:r>
                    </a:p>
                  </a:txBody>
                  <a:tcPr marL="101600" marR="101600" marT="50800" marB="50800" anchor="ctr">
                    <a:solidFill>
                      <a:srgbClr val="F2F7EC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3D14"/>
                          </a:solidFill>
                          <a:latin typeface="Trebuchet MS"/>
                        </a:rPr>
                        <a:t>Friday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3D14"/>
                          </a:solidFill>
                          <a:latin typeface="Trebuchet MS"/>
                        </a:rPr>
                        <a:t>Salmon cakes and salad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3D14"/>
                          </a:solidFill>
                          <a:latin typeface="Trebuchet MS"/>
                        </a:rPr>
                        <a:t>Quick after a long week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5C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Trebuchet MS"/>
              </a:rPr>
              <a:t>What the week costs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463040"/>
          <a:ext cx="108813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80960" y="5943600"/>
            <a:ext cx="3840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>
                <a:solidFill>
                  <a:srgbClr val="2E5E1E"/>
                </a:solidFill>
                <a:latin typeface="Trebuchet MS"/>
              </a:rPr>
              <a:t>One week, cooking for one, 75 dollars and 20 cents</a:t>
            </a:r>
          </a:p>
        </p:txBody>
      </p:sp>
    </p:spTree>
  </p:cSld>
  <p:clrMapOvr>
    <a:masterClrMapping/>
  </p:clrMapOvr>
  <p:transition spd="med">
    <p:split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07F2D"/>
                </a:solidFill>
                <a:latin typeface="Trebuchet MS"/>
              </a:rPr>
              <a:t>Batch prep tips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EAF5DF"/>
                </a:solidFill>
                <a:latin typeface="Trebuchet MS"/>
              </a:rPr>
              <a:t>  Roast a tray of vegetables on Sunday for the week.</a:t>
            </a:r>
            <a:r>
              <a:t/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EAF5DF"/>
                </a:solidFill>
                <a:latin typeface="Trebuchet MS"/>
              </a:rPr>
              <a:t>  Cook a pot of brown rice and keep it cold for bowls.</a:t>
            </a:r>
            <a:r>
              <a:t/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EAF5DF"/>
                </a:solidFill>
                <a:latin typeface="Trebuchet MS"/>
              </a:rPr>
              <a:t>  Portion yogurt and fruit for fast mornings.</a:t>
            </a:r>
            <a:r>
              <a:t/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EAF5DF"/>
                </a:solidFill>
                <a:latin typeface="Trebuchet MS"/>
              </a:rPr>
              <a:t>  Freeze half the soup before it ever hits the table.</a:t>
            </a:r>
            <a:r>
              <a:t/>
            </a:r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7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Trebuchet MS"/>
              </a:rPr>
              <a:t>Good food, gentle on the joints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5A2E0E"/>
                </a:solidFill>
                <a:latin typeface="Trebuchet MS"/>
              </a:rPr>
              <a:t>Simple wins, repeated all week.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