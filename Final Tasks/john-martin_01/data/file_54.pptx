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Set aside, USD</c:v>
                </c:pt>
              </c:strCache>
            </c:strRef>
          </c:tx>
          <c:spPr>
            <a:solidFill>
              <a:srgbClr val="C9A24B"/>
            </a:solidFill>
          </c:spPr>
          <c:cat>
            <c:strRef>
              <c:f>Sheet1!$A$2:$A$7</c:f>
              <c:strCache>
                <c:ptCount val="6"/>
                <c:pt idx="0">
                  <c:v>September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  <c:pt idx="4">
                  <c:v>January</c:v>
                </c:pt>
                <c:pt idx="5">
                  <c:v>February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1170</c:v>
                </c:pt>
                <c:pt idx="1">
                  <c:v>1170</c:v>
                </c:pt>
                <c:pt idx="2">
                  <c:v>1170</c:v>
                </c:pt>
                <c:pt idx="3">
                  <c:v>1170</c:v>
                </c:pt>
                <c:pt idx="4">
                  <c:v>1170</c:v>
                </c:pt>
                <c:pt idx="5">
                  <c:v>1170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mbr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mbr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146304" cy="2011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A Year of Steady Steps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C9A24B"/>
                </a:solidFill>
                <a:latin typeface="Cambria"/>
              </a:rPr>
              <a:t>Goals for the year, kept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577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CD6"/>
                </a:solidFill>
                <a:latin typeface="Cambria"/>
              </a:rPr>
              <a:t>Written in early January, kept it simple, kept showing up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3291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C9A24B"/>
                </a:solidFill>
                <a:latin typeface="Cambria"/>
              </a:rPr>
              <a:t>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463040"/>
            <a:ext cx="7040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6203A"/>
                </a:solidFill>
                <a:latin typeface="Cambria"/>
              </a:rPr>
              <a:t>  Walk after work three to four times a week.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6203A"/>
                </a:solidFill>
                <a:latin typeface="Cambria"/>
              </a:rPr>
              <a:t>  Hand exercises twice a day, no skipping.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6203A"/>
                </a:solidFill>
                <a:latin typeface="Cambria"/>
              </a:rPr>
              <a:t>  Stay current on labs and keep the symptom log up.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6203A"/>
                </a:solidFill>
                <a:latin typeface="Cambria"/>
              </a:rPr>
              <a:t>  Bring good questions to every rheumatology visit.</a:t>
            </a:r>
            <a:r>
              <a:t/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50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Faith and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E7ECF5"/>
                </a:solidFill>
                <a:latin typeface="Cambria"/>
              </a:rPr>
              <a:t>  Sing with the choir and coordinate the ministry luncheon.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7ECF5"/>
                </a:solidFill>
                <a:latin typeface="Cambria"/>
              </a:rPr>
              <a:t>  Get to Knoxville to see Marcus when the schedule allows.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7ECF5"/>
                </a:solidFill>
                <a:latin typeface="Cambria"/>
              </a:rPr>
              <a:t>  Keep the every other weekend rhythm with Kayla.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7ECF5"/>
                </a:solidFill>
                <a:latin typeface="Cambria"/>
              </a:rPr>
              <a:t>  Call Pat for lunch when the week runs heavy.</a:t>
            </a:r>
            <a:r>
              <a:t/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Home and money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2011680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1E2A45"/>
                </a:solidFill>
                <a:latin typeface="Cambria"/>
              </a:rPr>
              <a:t>About 1,170 dollars set aside each month toward savings and repairs.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34507E"/>
                </a:solidFill>
                <a:latin typeface="Cambria"/>
              </a:rPr>
              <a:t>Plant the garden again, a few more herbs this time.</a:t>
            </a:r>
          </a:p>
        </p:txBody>
      </p:sp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0" y="2743200"/>
            <a:ext cx="557784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  <a:latin typeface="Cambria"/>
              </a:rPr>
              <a:t>One thing at a time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C9A24B"/>
                </a:solidFill>
                <a:latin typeface="Cambria"/>
              </a:rPr>
              <a:t>That is how the whole list gets done.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