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Low safety teams</c:v>
                </c:pt>
              </c:strCache>
            </c:strRef>
          </c:tx>
          <c:spPr>
            <a:solidFill>
              <a:srgbClr val="9FB0C9"/>
            </a:solidFill>
          </c:spPr>
          <c:cat>
            <c:strRef>
              <c:f>Sheet1!$A$2:$A$5</c:f>
              <c:strCache>
                <c:ptCount val="4"/>
                <c:pt idx="0">
                  <c:v>Candor index</c:v>
                </c:pt>
                <c:pt idx="1">
                  <c:v>Concerns raised</c:v>
                </c:pt>
                <c:pt idx="2">
                  <c:v>Decision quality</c:v>
                </c:pt>
                <c:pt idx="3">
                  <c:v>Retention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30</c:v>
                </c:pt>
                <c:pt idx="2">
                  <c:v>44</c:v>
                </c:pt>
                <c:pt idx="3">
                  <c:v>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safety teams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Sheet1!$A$2:$A$5</c:f>
              <c:strCache>
                <c:ptCount val="4"/>
                <c:pt idx="0">
                  <c:v>Candor index</c:v>
                </c:pt>
                <c:pt idx="1">
                  <c:v>Concerns raised</c:v>
                </c:pt>
                <c:pt idx="2">
                  <c:v>Decision quality</c:v>
                </c:pt>
                <c:pt idx="3">
                  <c:v>Retention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82</c:v>
                </c:pt>
                <c:pt idx="1">
                  <c:v>76</c:v>
                </c:pt>
                <c:pt idx="2">
                  <c:v>88</c:v>
                </c:pt>
                <c:pt idx="3">
                  <c:v>90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12191695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4EFE2"/>
                </a:solidFill>
                <a:latin typeface="Calibri"/>
              </a:rPr>
              <a:t>THE SAFETY EQUATION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91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9A227"/>
                </a:solidFill>
                <a:latin typeface="Calibri"/>
              </a:rPr>
              <a:t>Why the teams that argue best decide best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9FB0C9"/>
                </a:solidFill>
                <a:latin typeface="Calibri"/>
              </a:rPr>
              <a:t>Keynote by Dr. Jordan Brock  .  Brock Leadership Group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What we will 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› </a:t>
            </a:r>
            <a:r>
              <a:rPr sz="1900" b="1">
                <a:solidFill>
                  <a:srgbClr val="0E1B33"/>
                </a:solidFill>
                <a:latin typeface="Calibri"/>
              </a:rPr>
              <a:t>The cost of silence</a:t>
            </a:r>
            <a:r>
              <a:rPr sz="1700" b="0">
                <a:solidFill>
                  <a:srgbClr val="0E1B33"/>
                </a:solidFill>
                <a:latin typeface="Calibri"/>
              </a:rPr>
              <a:t>  what unspoken doubt does to a quarter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› </a:t>
            </a:r>
            <a:r>
              <a:rPr sz="1900" b="1">
                <a:solidFill>
                  <a:srgbClr val="0E1B33"/>
                </a:solidFill>
                <a:latin typeface="Calibri"/>
              </a:rPr>
              <a:t>Safety is not comfort</a:t>
            </a:r>
            <a:r>
              <a:rPr sz="1700" b="0">
                <a:solidFill>
                  <a:srgbClr val="0E1B33"/>
                </a:solidFill>
                <a:latin typeface="Calibri"/>
              </a:rPr>
              <a:t>  the safest teams argue the most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› </a:t>
            </a:r>
            <a:r>
              <a:rPr sz="1900" b="1">
                <a:solidFill>
                  <a:srgbClr val="0E1B33"/>
                </a:solidFill>
                <a:latin typeface="Calibri"/>
              </a:rPr>
              <a:t>The four signals</a:t>
            </a:r>
            <a:r>
              <a:rPr sz="1700" b="0">
                <a:solidFill>
                  <a:srgbClr val="0E1B33"/>
                </a:solidFill>
                <a:latin typeface="Calibri"/>
              </a:rPr>
              <a:t>  what people read before they speak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› </a:t>
            </a:r>
            <a:r>
              <a:rPr sz="1900" b="1">
                <a:solidFill>
                  <a:srgbClr val="0E1B33"/>
                </a:solidFill>
                <a:latin typeface="Calibri"/>
              </a:rPr>
              <a:t>The business case</a:t>
            </a:r>
            <a:r>
              <a:rPr sz="1700" b="0">
                <a:solidFill>
                  <a:srgbClr val="0E1B33"/>
                </a:solidFill>
                <a:latin typeface="Calibri"/>
              </a:rPr>
              <a:t>  candor as a measurable driver</a:t>
            </a: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C9A227"/>
                </a:solidFill>
                <a:latin typeface="Calibri"/>
              </a:rPr>
              <a:t>› </a:t>
            </a:r>
            <a:r>
              <a:rPr sz="1900" b="1">
                <a:solidFill>
                  <a:srgbClr val="0E1B33"/>
                </a:solidFill>
                <a:latin typeface="Calibri"/>
              </a:rPr>
              <a:t>Monday morning</a:t>
            </a:r>
            <a:r>
              <a:rPr sz="1700" b="0">
                <a:solidFill>
                  <a:srgbClr val="0E1B33"/>
                </a:solidFill>
                <a:latin typeface="Calibri"/>
              </a:rPr>
              <a:t>  one habit to try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0C9"/>
                </a:solidFill>
                <a:latin typeface="Calibri"/>
              </a:rPr>
              <a:t>The Safety Equation  .  Dr. Jordan Brock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9FB0C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4EFE2"/>
                </a:solidFill>
                <a:latin typeface="Calibri"/>
              </a:rPr>
              <a:t>The most expensive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64008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9FB0C9"/>
                </a:solidFill>
                <a:latin typeface="Calibri"/>
              </a:rPr>
              <a:t>Everyone agrees and no one means it. The doubt that stays in the room becomes the failure that shows up six weeks later.</a:t>
            </a:r>
          </a:p>
          <a:p>
            <a:pPr algn="l">
              <a:spcAft>
                <a:spcPts val="400"/>
              </a:spcAft>
            </a:pPr>
            <a:r>
              <a:rPr sz="800" b="0">
                <a:solidFill>
                  <a:srgbClr val="9FB0C9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9FB0C9"/>
                </a:solidFill>
                <a:latin typeface="Calibri"/>
              </a:rPr>
              <a:t>Silence is not a personality trait. It is a calculation: what does it cost me to speak, and will it change anything.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79" y="1371600"/>
            <a:ext cx="4023360" cy="4023360"/>
          </a:xfrm>
          <a:prstGeom prst="rect">
            <a:avLst/>
          </a:prstGeom>
          <a:solidFill>
            <a:srgbClr val="1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C9A227"/>
                </a:solidFill>
                <a:latin typeface="Calibri"/>
              </a:rPr>
              <a:t>The quiet tax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28600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› </a:t>
            </a:r>
            <a:r>
              <a:rPr sz="1400" b="1">
                <a:solidFill>
                  <a:srgbClr val="F4EFE2"/>
                </a:solidFill>
                <a:latin typeface="Calibri"/>
              </a:rPr>
              <a:t>Risks seen but unsaid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› </a:t>
            </a:r>
            <a:r>
              <a:rPr sz="1400" b="1">
                <a:solidFill>
                  <a:srgbClr val="F4EFE2"/>
                </a:solidFill>
                <a:latin typeface="Calibri"/>
              </a:rPr>
              <a:t>Decisions made on partial truth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› </a:t>
            </a:r>
            <a:r>
              <a:rPr sz="1400" b="1">
                <a:solidFill>
                  <a:srgbClr val="F4EFE2"/>
                </a:solidFill>
                <a:latin typeface="Calibri"/>
              </a:rPr>
              <a:t>Rework after avoidable misses</a:t>
            </a: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C9A227"/>
                </a:solidFill>
                <a:latin typeface="Calibri"/>
              </a:rPr>
              <a:t>› </a:t>
            </a:r>
            <a:r>
              <a:rPr sz="1400" b="1">
                <a:solidFill>
                  <a:srgbClr val="F4EFE2"/>
                </a:solidFill>
                <a:latin typeface="Calibri"/>
              </a:rPr>
              <a:t>Talent that stops trying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0C9"/>
                </a:solidFill>
                <a:latin typeface="Calibri"/>
              </a:rPr>
              <a:t>The Safety Equation  .  Dr. Jordan Brock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9FB0C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0"/>
            <a:ext cx="1005840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The business case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371600"/>
          <a:ext cx="7498079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0" y="1554480"/>
            <a:ext cx="3108960" cy="438912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0" y="1737360"/>
            <a:ext cx="2743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Read it as money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468880"/>
            <a:ext cx="27432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4EFE2"/>
                </a:solidFill>
                <a:latin typeface="Calibri"/>
              </a:rPr>
              <a:t>The gap between the two bars is information that never reached the table. Closing it is the cheapest performance gain a leader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0E1B33"/>
                </a:solidFill>
                <a:latin typeface="Calibri"/>
              </a:rPr>
              <a:t>Illustrative pattern across measured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0E1B3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The four signals people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2613583" cy="1234440"/>
          </a:xfrm>
          <a:prstGeom prst="rect">
            <a:avLst/>
          </a:prstGeom>
          <a:solidFill>
            <a:srgbClr val="1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47088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8716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4EFE2"/>
                </a:solidFill>
                <a:latin typeface="Calibri"/>
              </a:rPr>
              <a:t>Inclusion: do I belong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5103" y="1737360"/>
            <a:ext cx="2613583" cy="1234440"/>
          </a:xfrm>
          <a:prstGeom prst="rect">
            <a:avLst/>
          </a:prstGeom>
          <a:solidFill>
            <a:srgbClr val="1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45103" y="1847088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45103" y="248716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4EFE2"/>
                </a:solidFill>
                <a:latin typeface="Calibri"/>
              </a:rPr>
              <a:t>Learner: can I ask and not know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737360"/>
            <a:ext cx="2613583" cy="1234440"/>
          </a:xfrm>
          <a:prstGeom prst="rect">
            <a:avLst/>
          </a:prstGeom>
          <a:solidFill>
            <a:srgbClr val="1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3007" y="1847088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248716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4EFE2"/>
                </a:solidFill>
                <a:latin typeface="Calibri"/>
              </a:rPr>
              <a:t>Contributor: is my work valued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20911" y="1737360"/>
            <a:ext cx="2613583" cy="1234440"/>
          </a:xfrm>
          <a:prstGeom prst="rect">
            <a:avLst/>
          </a:prstGeom>
          <a:solidFill>
            <a:srgbClr val="142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20911" y="1847088"/>
            <a:ext cx="26135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4EFE2"/>
                </a:solidFill>
                <a:latin typeface="Calibr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0911" y="2487168"/>
            <a:ext cx="2613583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F4EFE2"/>
                </a:solidFill>
                <a:latin typeface="Calibri"/>
              </a:rPr>
              <a:t>Challenger: can I push back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8328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C9A227"/>
                </a:solidFill>
                <a:latin typeface="Calibri"/>
              </a:rPr>
              <a:t>Leaders set every signal in the first five seconds after a concern is raised. The response is the policy.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9FB0C9"/>
                </a:solidFill>
                <a:latin typeface="Calibri"/>
              </a:rPr>
              <a:t>The Safety Equation  .  Dr. Jordan Brock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0080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>
                <a:solidFill>
                  <a:srgbClr val="9FB0C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0E1B33"/>
                </a:solidFill>
                <a:latin typeface="Calibri"/>
              </a:rPr>
              <a:t>Speak last. Ask the question. Count to five.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3A2F0B"/>
                </a:solidFill>
                <a:latin typeface="Calibri"/>
              </a:rPr>
              <a:t>That eternity is where the truth lives. The bravest thing in the room is a leader who can stay quiet long enough to hear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3A2F0B"/>
                </a:solidFill>
                <a:latin typeface="Calibri"/>
              </a:rPr>
              <a:t>Dr. Jordan Brock  .  Brock Leadership Group  .  Clayton, Missouri</a:t>
            </a:r>
          </a:p>
        </p:txBody>
      </p:sp>
    </p:spTree>
  </p:cSld>
  <p:clrMapOvr>
    <a:masterClrMapping/>
  </p:clrMapOvr>
  <p:transition spd="med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Jordan Brock</dc:creator>
  <cp:keywords/>
  <dc:description/>
  <cp:lastModifiedBy>Jordan Brock</cp:lastModifiedBy>
  <cp:revision>2</cp:revision>
  <dcterms:created xsi:type="dcterms:W3CDTF">2026-02-20T09:15:00Z</dcterms:created>
  <dcterms:modified xsi:type="dcterms:W3CDTF">2026-02-20T09:15:00Z</dcterms:modified>
  <cp:category/>
</cp:coreProperties>
</file>