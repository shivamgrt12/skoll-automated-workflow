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Practice on real decisions</c:v>
                </c:pt>
                <c:pt idx="1">
                  <c:v>Short input</c:v>
                </c:pt>
                <c:pt idx="2">
                  <c:v>Diagnostic and debrief</c:v>
                </c:pt>
                <c:pt idx="3">
                  <c:v>Planning the next step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Psychological Safety Workshop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AF9"/>
                </a:solidFill>
                <a:latin typeface="Calibri"/>
              </a:rPr>
              <a:t>Prepared for Meridian Financial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377440"/>
            <a:ext cx="6766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A4747"/>
                </a:solidFill>
                <a:latin typeface="Calibri"/>
              </a:rPr>
              <a:t>Four half day sessions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474A"/>
                </a:solidFill>
                <a:latin typeface="Calibri"/>
              </a:rPr>
              <a:t>Senior leadership group and two pilot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754880"/>
            <a:ext cx="6766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74A"/>
                </a:solidFill>
                <a:latin typeface="Calibri"/>
              </a:rPr>
              <a:t>Facilitator: Dr. Jordan Brock  .  Client contact: Karen Cho, VP People</a:t>
            </a:r>
          </a:p>
        </p:txBody>
      </p:sp>
    </p:spTree>
  </p:cSld>
  <p:clrMapOvr>
    <a:masterClrMapping/>
  </p:clrMapOvr>
  <p:transition spd="med">
    <p:split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Series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13583" cy="123444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64207"/>
            <a:ext cx="26135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261358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half day sessions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5103" y="1554480"/>
            <a:ext cx="2613583" cy="1234440"/>
          </a:xfrm>
          <a:prstGeom prst="rect">
            <a:avLst/>
          </a:prstGeom>
          <a:solidFill>
            <a:srgbClr val="0A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5103" y="1664207"/>
            <a:ext cx="26135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5103" y="2304288"/>
            <a:ext cx="261358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pilot teams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554480"/>
            <a:ext cx="2613583" cy="123444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664207"/>
            <a:ext cx="26135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304288"/>
            <a:ext cx="261358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day measurement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20911" y="1554480"/>
            <a:ext cx="2613583" cy="1234440"/>
          </a:xfrm>
          <a:prstGeom prst="rect">
            <a:avLst/>
          </a:prstGeom>
          <a:solidFill>
            <a:srgbClr val="0A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0911" y="1664207"/>
            <a:ext cx="26135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0911" y="2304288"/>
            <a:ext cx="261358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written measurement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3474A"/>
                </a:solidFill>
                <a:latin typeface="Calibri"/>
              </a:rPr>
              <a:t>Each session pairs short input with practice on real Meridian decisions, so leaders leave with behaviors they can use the same week, not theory.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0F6E6E"/>
                </a:solidFill>
                <a:latin typeface="Calibri"/>
              </a:rPr>
              <a:t>Workshop Series  .  Meridian Financial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0F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four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64592" cy="1051560"/>
          </a:xfrm>
          <a:prstGeom prst="rect">
            <a:avLst/>
          </a:prstGeom>
          <a:solidFill>
            <a:srgbClr val="E08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81328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6E6E"/>
                </a:solidFill>
                <a:latin typeface="Calibri"/>
              </a:rPr>
              <a:t>Session one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3474A"/>
                </a:solidFill>
                <a:latin typeface="Calibri"/>
              </a:rPr>
              <a:t>The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81328"/>
            <a:ext cx="7955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33474A"/>
                </a:solidFill>
                <a:latin typeface="Calibri"/>
              </a:rPr>
              <a:t>Reframe safety as a measurable performance driver and agree one number to move.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64592" cy="1051560"/>
          </a:xfrm>
          <a:prstGeom prst="rect">
            <a:avLst/>
          </a:prstGeom>
          <a:solidFill>
            <a:srgbClr val="E08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6032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70048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4747"/>
                </a:solidFill>
                <a:latin typeface="Calibri"/>
              </a:rPr>
              <a:t>Session two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3474A"/>
                </a:solidFill>
                <a:latin typeface="Calibri"/>
              </a:rPr>
              <a:t>The four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70048"/>
            <a:ext cx="7955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33474A"/>
                </a:solidFill>
                <a:latin typeface="Calibri"/>
              </a:rPr>
              <a:t>Practice the behaviors that decide whether people speak in the first five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164592" cy="1051560"/>
          </a:xfrm>
          <a:prstGeom prst="rect">
            <a:avLst/>
          </a:prstGeom>
          <a:solidFill>
            <a:srgbClr val="E08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49039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58768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6E6E"/>
                </a:solidFill>
                <a:latin typeface="Calibri"/>
              </a:rPr>
              <a:t>Session three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3474A"/>
                </a:solidFill>
                <a:latin typeface="Calibri"/>
              </a:rPr>
              <a:t>Productive conflict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58768"/>
            <a:ext cx="7955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33474A"/>
                </a:solidFill>
                <a:latin typeface="Calibri"/>
              </a:rPr>
              <a:t>Run a live decision and debrief where the group went quiet and where it pushed.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59"/>
            <a:ext cx="164592" cy="1051560"/>
          </a:xfrm>
          <a:prstGeom prst="rect">
            <a:avLst/>
          </a:prstGeom>
          <a:solidFill>
            <a:srgbClr val="E08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937759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47488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4747"/>
                </a:solidFill>
                <a:latin typeface="Calibri"/>
              </a:rPr>
              <a:t>Session four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3474A"/>
                </a:solidFill>
                <a:latin typeface="Calibri"/>
              </a:rPr>
              <a:t>Sustaining the climate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047488"/>
            <a:ext cx="79552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33474A"/>
                </a:solidFill>
                <a:latin typeface="Calibri"/>
              </a:rPr>
              <a:t>Commit to two behaviors and one team ritual, and set the ninety day rerun.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0A4747"/>
                </a:solidFill>
                <a:latin typeface="Calibri"/>
              </a:rPr>
              <a:t>Workshop Series  .  Meridian Financial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0A474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Where the time goes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035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040880" y="1554480"/>
            <a:ext cx="4572000" cy="4389120"/>
          </a:xfrm>
          <a:prstGeom prst="rect">
            <a:avLst/>
          </a:prstGeom>
          <a:solidFill>
            <a:srgbClr val="F2FAF9"/>
          </a:solidFill>
          <a:ln w="12700">
            <a:solidFill>
              <a:srgbClr val="DD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78308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4747"/>
                </a:solidFill>
                <a:latin typeface="Calibri"/>
              </a:rPr>
              <a:t>Designed for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56032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E08D2F"/>
                </a:solidFill>
                <a:latin typeface="Calibri"/>
              </a:rPr>
              <a:t>› </a:t>
            </a:r>
            <a:r>
              <a:rPr sz="1400" b="1">
                <a:solidFill>
                  <a:srgbClr val="33474A"/>
                </a:solidFill>
                <a:latin typeface="Calibri"/>
              </a:rPr>
              <a:t>Most time on live application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E08D2F"/>
                </a:solidFill>
                <a:latin typeface="Calibri"/>
              </a:rPr>
              <a:t>› </a:t>
            </a:r>
            <a:r>
              <a:rPr sz="1400" b="1">
                <a:solidFill>
                  <a:srgbClr val="33474A"/>
                </a:solidFill>
                <a:latin typeface="Calibri"/>
              </a:rPr>
              <a:t>Input kept short and evidence based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E08D2F"/>
                </a:solidFill>
                <a:latin typeface="Calibri"/>
              </a:rPr>
              <a:t>› </a:t>
            </a:r>
            <a:r>
              <a:rPr sz="1400" b="1">
                <a:solidFill>
                  <a:srgbClr val="33474A"/>
                </a:solidFill>
                <a:latin typeface="Calibri"/>
              </a:rPr>
              <a:t>Every session ends with a commitment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E08D2F"/>
                </a:solidFill>
                <a:latin typeface="Calibri"/>
              </a:rPr>
              <a:t>› </a:t>
            </a:r>
            <a:r>
              <a:rPr sz="1400" b="1">
                <a:solidFill>
                  <a:srgbClr val="33474A"/>
                </a:solidFill>
                <a:latin typeface="Calibri"/>
              </a:rPr>
              <a:t>Progress measured, not assumed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0F6E6E"/>
                </a:solidFill>
                <a:latin typeface="Calibri"/>
              </a:rPr>
              <a:t>Illustrative time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0F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Meridian keeps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E08D2F"/>
                </a:solidFill>
                <a:latin typeface="Calibri"/>
              </a:rPr>
              <a:t>› </a:t>
            </a:r>
            <a:r>
              <a:rPr sz="1800" b="1">
                <a:solidFill>
                  <a:srgbClr val="F2FAF9"/>
                </a:solidFill>
                <a:latin typeface="Calibri"/>
              </a:rPr>
              <a:t>A team level diagnostic</a:t>
            </a:r>
            <a:r>
              <a:rPr sz="1600" b="0">
                <a:solidFill>
                  <a:srgbClr val="F2FAF9"/>
                </a:solidFill>
                <a:latin typeface="Calibri"/>
              </a:rPr>
              <a:t>  at the start and at ninety days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8D2F"/>
                </a:solidFill>
                <a:latin typeface="Calibri"/>
              </a:rPr>
              <a:t>› </a:t>
            </a:r>
            <a:r>
              <a:rPr sz="1800" b="1">
                <a:solidFill>
                  <a:srgbClr val="F2FAF9"/>
                </a:solidFill>
                <a:latin typeface="Calibri"/>
              </a:rPr>
              <a:t>A one page behavior guide</a:t>
            </a:r>
            <a:r>
              <a:rPr sz="1600" b="0">
                <a:solidFill>
                  <a:srgbClr val="F2FAF9"/>
                </a:solidFill>
                <a:latin typeface="Calibri"/>
              </a:rPr>
              <a:t>  per leader, tied to real decisions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8D2F"/>
                </a:solidFill>
                <a:latin typeface="Calibri"/>
              </a:rPr>
              <a:t>› </a:t>
            </a:r>
            <a:r>
              <a:rPr sz="1800" b="1">
                <a:solidFill>
                  <a:srgbClr val="F2FAF9"/>
                </a:solidFill>
                <a:latin typeface="Calibri"/>
              </a:rPr>
              <a:t>A written measurement plan</a:t>
            </a:r>
            <a:r>
              <a:rPr sz="1600" b="0">
                <a:solidFill>
                  <a:srgbClr val="F2FAF9"/>
                </a:solidFill>
                <a:latin typeface="Calibri"/>
              </a:rPr>
              <a:t>  so progress is tracked without the facilitator in the room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08D2F"/>
                </a:solidFill>
                <a:latin typeface="Calibri"/>
              </a:rPr>
              <a:t>› </a:t>
            </a:r>
            <a:r>
              <a:rPr sz="1800" b="1">
                <a:solidFill>
                  <a:srgbClr val="F2FAF9"/>
                </a:solidFill>
                <a:latin typeface="Calibri"/>
              </a:rPr>
              <a:t>A closing readout</a:t>
            </a:r>
            <a:r>
              <a:rPr sz="1600" b="0">
                <a:solidFill>
                  <a:srgbClr val="F2FAF9"/>
                </a:solidFill>
                <a:latin typeface="Calibri"/>
              </a:rPr>
              <a:t>  change documented and next steps named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FE0DE"/>
                </a:solidFill>
                <a:latin typeface="Calibri"/>
              </a:rPr>
              <a:t>Brock Leadership Group  .  prepared for Karen Cho, VP People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Jordan Brock</dc:creator>
  <cp:keywords/>
  <dc:description/>
  <cp:lastModifiedBy>Jordan Brock</cp:lastModifiedBy>
  <cp:revision>2</cp:revision>
  <dcterms:created xsi:type="dcterms:W3CDTF">2026-02-20T09:15:00Z</dcterms:created>
  <dcterms:modified xsi:type="dcterms:W3CDTF">2026-02-20T09:15:00Z</dcterms:modified>
  <cp:category/>
</cp:coreProperties>
</file>