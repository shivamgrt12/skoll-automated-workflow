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4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4843A"/>
                </a:solidFill>
                <a:latin typeface="Calibri"/>
              </a:rPr>
              <a:t>GARAGE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1024128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Toy Chest Build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69264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7EAEE"/>
                </a:solidFill>
                <a:latin typeface="Calibri"/>
              </a:rPr>
              <a:t>A solid poplar toy chest with a soft-close lid. Built for Sophie, and meant to outlast 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5532120"/>
            <a:ext cx="3840480" cy="27432"/>
          </a:xfrm>
          <a:prstGeom prst="rect">
            <a:avLst/>
          </a:prstGeom>
          <a:solidFill>
            <a:srgbClr val="C4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669280"/>
            <a:ext cx="10424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ED4DA"/>
                </a:solidFill>
                <a:latin typeface="Calibri"/>
              </a:rPr>
              <a:t>For Sophie, age 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ED4DA"/>
                </a:solidFill>
                <a:latin typeface="Calibri"/>
              </a:rPr>
              <a:t>Detached garage workshop, 118 Sedgwick Street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ED4DA"/>
                </a:solidFill>
                <a:latin typeface="Calibri"/>
              </a:rPr>
              <a:t>Started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C4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WE ARE BUILDING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6B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Workshop notes  |  118 Sedgwick Street  |  Build for Sophie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6B4526"/>
                </a:solidFill>
                <a:latin typeface="Calibri"/>
              </a:rPr>
              <a:t>|  </a:t>
            </a:r>
            <a:r>
              <a:rPr sz="1600" b="0" i="0">
                <a:solidFill>
                  <a:srgbClr val="22262B"/>
                </a:solidFill>
                <a:latin typeface="Calibri"/>
              </a:rPr>
              <a:t>Solid and square. Nothing fancy, but something she will still have when she is grown.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6B4526"/>
                </a:solidFill>
                <a:latin typeface="Calibri"/>
              </a:rPr>
              <a:t>|  </a:t>
            </a:r>
            <a:r>
              <a:rPr sz="1600" b="0" i="0">
                <a:solidFill>
                  <a:srgbClr val="22262B"/>
                </a:solidFill>
                <a:latin typeface="Calibri"/>
              </a:rPr>
              <a:t>A soft-close lid so it settles slow and never catches a small finger. That is the whole reason for the design.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6B4526"/>
                </a:solidFill>
                <a:latin typeface="Calibri"/>
              </a:rPr>
              <a:t>|  </a:t>
            </a:r>
            <a:r>
              <a:rPr sz="1600" b="0" i="0">
                <a:solidFill>
                  <a:srgbClr val="22262B"/>
                </a:solidFill>
                <a:latin typeface="Calibri"/>
              </a:rPr>
              <a:t>Three-quarter-inch poplar for the body. Paints clean and takes a knock.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6B4526"/>
                </a:solidFill>
                <a:latin typeface="Calibri"/>
              </a:rPr>
              <a:t>|  </a:t>
            </a:r>
            <a:r>
              <a:rPr sz="1600" b="0" i="0">
                <a:solidFill>
                  <a:srgbClr val="22262B"/>
                </a:solidFill>
                <a:latin typeface="Calibri"/>
              </a:rPr>
              <a:t>Half-inch birch plywood bottom, floating in a groove so it cannot rack or rattle.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6B4526"/>
                </a:solidFill>
                <a:latin typeface="Calibri"/>
              </a:rPr>
              <a:t>|  </a:t>
            </a:r>
            <a:r>
              <a:rPr sz="1600" b="0" i="0">
                <a:solidFill>
                  <a:srgbClr val="22262B"/>
                </a:solidFill>
                <a:latin typeface="Calibri"/>
              </a:rPr>
              <a:t>Corner posts to tie the panels together and give it strength where a kid will sit and stand on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C4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MILL TO THESE SIZES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Cut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6B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Workshop notes  |  118 Sedgwick Street  |  Build for Sophie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83112" cy="397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005840"/>
                <a:gridCol w="2377440"/>
                <a:gridCol w="2011680"/>
                <a:gridCol w="26791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 marT="18288" marB="18288">
                    <a:solidFill>
                      <a:srgbClr val="6B4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anchor="ctr" marL="73152" marR="73152" marT="18288" marB="18288">
                    <a:solidFill>
                      <a:srgbClr val="6B4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anchor="ctr" marL="73152" marR="73152" marT="18288" marB="18288">
                    <a:solidFill>
                      <a:srgbClr val="6B4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Thickness</a:t>
                      </a:r>
                    </a:p>
                  </a:txBody>
                  <a:tcPr anchor="ctr" marL="73152" marR="73152" marT="18288" marB="18288">
                    <a:solidFill>
                      <a:srgbClr val="6B4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Size (in)</a:t>
                      </a:r>
                    </a:p>
                  </a:txBody>
                  <a:tcPr anchor="ctr" marL="73152" marR="73152" marT="18288" marB="18288">
                    <a:solidFill>
                      <a:srgbClr val="6B45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2262B"/>
                          </a:solidFill>
                          <a:latin typeface="Calibri"/>
                        </a:rPr>
                        <a:t>Front / back panel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Poplar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3/4 in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30 x 16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2262B"/>
                          </a:solidFill>
                          <a:latin typeface="Calibri"/>
                        </a:rPr>
                        <a:t>Side panel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Poplar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3/4 in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15-1/2 x 16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2262B"/>
                          </a:solidFill>
                          <a:latin typeface="Calibri"/>
                        </a:rPr>
                        <a:t>Bottom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Birch plywood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1/2 in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29 x 15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2262B"/>
                          </a:solidFill>
                          <a:latin typeface="Calibri"/>
                        </a:rPr>
                        <a:t>Lid glue-up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Poplar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3/4 in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31 x 17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2262B"/>
                          </a:solidFill>
                          <a:latin typeface="Calibri"/>
                        </a:rPr>
                        <a:t>Lid cleats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Poplar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3/4 in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15 x 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2262B"/>
                          </a:solidFill>
                          <a:latin typeface="Calibri"/>
                        </a:rPr>
                        <a:t>Corner posts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Poplar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1-1/2 in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1-1/2 x 18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2262B"/>
                          </a:solidFill>
                          <a:latin typeface="Calibri"/>
                        </a:rPr>
                        <a:t>Base trim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Poplar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3/4 in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62B"/>
                          </a:solidFill>
                          <a:latin typeface="Calibri"/>
                        </a:rPr>
                        <a:t>3 wide, cut to fit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B6168"/>
                </a:solidFill>
                <a:latin typeface="Calibri"/>
              </a:rPr>
              <a:t>Groove for the bottom is 1/4 in wide by 3/8 in deep, set 1/2 in up from the bottom edge of every panel. Cut it before assembly.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C4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DO IT IN THIS ORDER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Order of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6B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Workshop notes  |  118 Sedgwick Street  |  Build for Sophie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937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900"/>
              </a:spcAft>
            </a:pPr>
            <a:r>
              <a:rPr sz="1550" b="1" i="0">
                <a:solidFill>
                  <a:srgbClr val="C4843A"/>
                </a:solidFill>
                <a:latin typeface="Calibri"/>
              </a:rPr>
              <a:t>1.  </a:t>
            </a:r>
            <a:r>
              <a:rPr sz="1550" b="0" i="0">
                <a:solidFill>
                  <a:srgbClr val="22262B"/>
                </a:solidFill>
                <a:latin typeface="Calibri"/>
              </a:rPr>
              <a:t>Mill all parts to the cut list. Label each piece in pencil.</a:t>
            </a:r>
          </a:p>
          <a:p>
            <a:pPr>
              <a:spcAft>
                <a:spcPts val="900"/>
              </a:spcAft>
            </a:pPr>
            <a:r>
              <a:rPr sz="1550" b="1" i="0">
                <a:solidFill>
                  <a:srgbClr val="C4843A"/>
                </a:solidFill>
                <a:latin typeface="Calibri"/>
              </a:rPr>
              <a:t>2.  </a:t>
            </a:r>
            <a:r>
              <a:rPr sz="1550" b="0" i="0">
                <a:solidFill>
                  <a:srgbClr val="22262B"/>
                </a:solidFill>
                <a:latin typeface="Calibri"/>
              </a:rPr>
              <a:t>Cut the groove for the plywood bottom in every panel before assembly.</a:t>
            </a:r>
          </a:p>
          <a:p>
            <a:pPr>
              <a:spcAft>
                <a:spcPts val="900"/>
              </a:spcAft>
            </a:pPr>
            <a:r>
              <a:rPr sz="1550" b="1" i="0">
                <a:solidFill>
                  <a:srgbClr val="C4843A"/>
                </a:solidFill>
                <a:latin typeface="Calibri"/>
              </a:rPr>
              <a:t>3.  </a:t>
            </a:r>
            <a:r>
              <a:rPr sz="1550" b="0" i="0">
                <a:solidFill>
                  <a:srgbClr val="22262B"/>
                </a:solidFill>
                <a:latin typeface="Calibri"/>
              </a:rPr>
              <a:t>Dry fit the whole box and check it for square, corner to corner, before any glue.</a:t>
            </a:r>
          </a:p>
          <a:p>
            <a:pPr>
              <a:spcAft>
                <a:spcPts val="900"/>
              </a:spcAft>
            </a:pPr>
            <a:r>
              <a:rPr sz="1550" b="1" i="0">
                <a:solidFill>
                  <a:srgbClr val="C4843A"/>
                </a:solidFill>
                <a:latin typeface="Calibri"/>
              </a:rPr>
              <a:t>4.  </a:t>
            </a:r>
            <a:r>
              <a:rPr sz="1550" b="0" i="0">
                <a:solidFill>
                  <a:srgbClr val="22262B"/>
                </a:solidFill>
                <a:latin typeface="Calibri"/>
              </a:rPr>
              <a:t>Glue and clamp the sides with the bottom floating in its groove. Leave it clamped overnight.</a:t>
            </a:r>
          </a:p>
          <a:p>
            <a:pPr>
              <a:spcAft>
                <a:spcPts val="900"/>
              </a:spcAft>
            </a:pPr>
            <a:r>
              <a:rPr sz="1550" b="1" i="0">
                <a:solidFill>
                  <a:srgbClr val="C4843A"/>
                </a:solidFill>
                <a:latin typeface="Calibri"/>
              </a:rPr>
              <a:t>5.  </a:t>
            </a:r>
            <a:r>
              <a:rPr sz="1550" b="0" i="0">
                <a:solidFill>
                  <a:srgbClr val="22262B"/>
                </a:solidFill>
                <a:latin typeface="Calibri"/>
              </a:rPr>
              <a:t>Glue up the lid, then flatten it and hold it flat with the cleats underneath.</a:t>
            </a:r>
          </a:p>
          <a:p>
            <a:pPr>
              <a:spcAft>
                <a:spcPts val="900"/>
              </a:spcAft>
            </a:pPr>
            <a:r>
              <a:rPr sz="1550" b="1" i="0">
                <a:solidFill>
                  <a:srgbClr val="C4843A"/>
                </a:solidFill>
                <a:latin typeface="Calibri"/>
              </a:rPr>
              <a:t>6.  </a:t>
            </a:r>
            <a:r>
              <a:rPr sz="1550" b="0" i="0">
                <a:solidFill>
                  <a:srgbClr val="22262B"/>
                </a:solidFill>
                <a:latin typeface="Calibri"/>
              </a:rPr>
              <a:t>Round every edge and corner with the router. No sharp corners anywhere a kid will touch.</a:t>
            </a:r>
          </a:p>
          <a:p>
            <a:pPr>
              <a:spcAft>
                <a:spcPts val="900"/>
              </a:spcAft>
            </a:pPr>
            <a:r>
              <a:rPr sz="1550" b="1" i="0">
                <a:solidFill>
                  <a:srgbClr val="C4843A"/>
                </a:solidFill>
                <a:latin typeface="Calibri"/>
              </a:rPr>
              <a:t>7.  </a:t>
            </a:r>
            <a:r>
              <a:rPr sz="1550" b="0" i="0">
                <a:solidFill>
                  <a:srgbClr val="22262B"/>
                </a:solidFill>
                <a:latin typeface="Calibri"/>
              </a:rPr>
              <a:t>Sand to 220, seal, then two coats of clear poly, sanding lightly between coats.</a:t>
            </a:r>
          </a:p>
          <a:p>
            <a:pPr>
              <a:spcAft>
                <a:spcPts val="900"/>
              </a:spcAft>
            </a:pPr>
            <a:r>
              <a:rPr sz="1550" b="1" i="0">
                <a:solidFill>
                  <a:srgbClr val="C4843A"/>
                </a:solidFill>
                <a:latin typeface="Calibri"/>
              </a:rPr>
              <a:t>8.  </a:t>
            </a:r>
            <a:r>
              <a:rPr sz="1550" b="0" i="0">
                <a:solidFill>
                  <a:srgbClr val="22262B"/>
                </a:solidFill>
                <a:latin typeface="Calibri"/>
              </a:rPr>
              <a:t>Hang the soft-close hinges and the safety lid stay last, after the finish is fully cured.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C4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THE PART THAT MATTERS MOST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Safety and finishing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6B4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Workshop notes  |  118 Sedgwick Street  |  Build for Sophie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417320"/>
            <a:ext cx="2572511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65960" y="1417320"/>
            <a:ext cx="2572511" cy="109728"/>
          </a:xfrm>
          <a:prstGeom prst="roundRect">
            <a:avLst/>
          </a:prstGeom>
          <a:solidFill>
            <a:srgbClr val="C4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600200"/>
            <a:ext cx="2426207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6B4526"/>
                </a:solidFill>
                <a:latin typeface="Calibri"/>
              </a:rPr>
              <a:t>220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168"/>
                </a:solidFill>
                <a:latin typeface="Calibri"/>
              </a:rPr>
              <a:t>Final sanding grit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4503" y="1417320"/>
            <a:ext cx="2572511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94503" y="1417320"/>
            <a:ext cx="2572511" cy="109728"/>
          </a:xfrm>
          <a:prstGeom prst="roundRect">
            <a:avLst/>
          </a:prstGeom>
          <a:solidFill>
            <a:srgbClr val="C4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7655" y="1600200"/>
            <a:ext cx="2426207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6B4526"/>
                </a:solidFill>
                <a:latin typeface="Calibri"/>
              </a:rP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168"/>
                </a:solidFill>
                <a:latin typeface="Calibri"/>
              </a:rPr>
              <a:t>Coats of clear poly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3047" y="1417320"/>
            <a:ext cx="2572511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23047" y="1417320"/>
            <a:ext cx="2572511" cy="109728"/>
          </a:xfrm>
          <a:prstGeom prst="roundRect">
            <a:avLst/>
          </a:prstGeom>
          <a:solidFill>
            <a:srgbClr val="C4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6199" y="1600200"/>
            <a:ext cx="2426207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6B4526"/>
                </a:solidFill>
                <a:latin typeface="Calibri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168"/>
                </a:solidFill>
                <a:latin typeface="Calibri"/>
              </a:rPr>
              <a:t>Safety lid stay, non-negotiable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91840"/>
            <a:ext cx="11155680" cy="3108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6B4526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The safety lid stay is the whole point. It holds the lid open and lets it down slow. She is five.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6B4526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Let Sophie pick the knob. She likes the red ones. Her chest, her call.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6B4526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Burn her initials inside the lid so she knows Grandpa made it for her.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6B4526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Round every edge one more time by hand before the finish. Then check it with your palm.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6B4526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Keep the finish food-safe and fully cured before it goes in the house.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