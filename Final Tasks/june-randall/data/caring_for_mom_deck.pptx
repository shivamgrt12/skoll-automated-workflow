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o_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384A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27384A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297680"/>
            <a:ext cx="146304" cy="1737360"/>
          </a:xfrm>
          <a:prstGeom prst="rect">
            <a:avLst/>
          </a:prstGeom>
          <a:solidFill>
            <a:srgbClr val="C7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79A4E"/>
                </a:solidFill>
                <a:latin typeface="Calibri"/>
              </a:rPr>
              <a:t>FAMILY PLANNING, PRIVATE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262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Caring for Mom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321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F2F2"/>
                </a:solidFill>
                <a:latin typeface="Calibri"/>
              </a:rPr>
              <a:t>Weighing a Richmond stay against a Baltimore move for Dorothy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05332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C79A4E"/>
                </a:solidFill>
                <a:latin typeface="Calibri"/>
              </a:rPr>
              <a:t>Prepared by June Randall   |   Revisit after the November visit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7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9A4E"/>
                </a:solidFill>
                <a:latin typeface="Calibri"/>
              </a:rPr>
              <a:t>WHERE THINGS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The Situation Today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10607039" cy="3456432"/>
        </p:xfrm>
        <a:graphic>
          <a:graphicData uri="http://schemas.openxmlformats.org/drawingml/2006/table">
            <a:tbl>
              <a:tblPr/>
              <a:tblGrid>
                <a:gridCol w="3119717"/>
                <a:gridCol w="7487322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anchor="ctr" marL="91440" marR="73152" marT="27432" marB="27432">
                    <a:solidFill>
                      <a:srgbClr val="334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Current state</a:t>
                      </a:r>
                    </a:p>
                  </a:txBody>
                  <a:tcPr anchor="ctr" marL="91440" marR="73152" marT="27432" marB="27432">
                    <a:solidFill>
                      <a:srgbClr val="33475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Richmond, Virginia, with sister Karen nearby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Health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Diabetes and hypertension, managed locally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Calls Wednesday and Saturday, $300 monthly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On the ground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Karen drives to all appointments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Open question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An extended Baltimore stay, no decision yet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Caring for Mom  |  Family planning, private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7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9A4E"/>
                </a:solidFill>
                <a:latin typeface="Calibri"/>
              </a:rPr>
              <a:t>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Medications and Appointments</a:t>
            </a:r>
          </a:p>
        </p:txBody>
      </p:sp>
      <p:pic>
        <p:nvPicPr>
          <p:cNvPr id="7" name="Picture 6" descr="do_meds_fe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0749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783080"/>
            <a:ext cx="5074920" cy="4160520"/>
          </a:xfrm>
          <a:prstGeom prst="rect">
            <a:avLst/>
          </a:prstGeom>
          <a:noFill/>
          <a:ln w="12700">
            <a:solidFill>
              <a:srgbClr val="27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27384A"/>
                </a:solidFill>
                <a:latin typeface="Calibri"/>
              </a:rPr>
              <a:t>Tracked with Karen, confirmed every month.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3475C"/>
                </a:solidFill>
                <a:latin typeface="Calibri"/>
              </a:rPr>
              <a:t>•  Endocrinology follow up was October 9, fasting labs ordered.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3475C"/>
                </a:solidFill>
                <a:latin typeface="Calibri"/>
              </a:rPr>
              <a:t>•  Cardiology adjusted her blood pressure medication in February.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3475C"/>
                </a:solidFill>
                <a:latin typeface="Calibri"/>
              </a:rPr>
              <a:t>•  Next primary care wellness visit is November 13, June plans to attend.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3475C"/>
                </a:solidFill>
                <a:latin typeface="Calibri"/>
              </a:rPr>
              <a:t>•  Karen drives her to all appointments and texts daily.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Caring for Mom  |  Family planning, 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7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9A4E"/>
                </a:solidFill>
                <a:latin typeface="Calibri"/>
              </a:rPr>
              <a:t>THE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Two Paths, Side by Side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10607039" cy="3236975"/>
        </p:xfrm>
        <a:graphic>
          <a:graphicData uri="http://schemas.openxmlformats.org/drawingml/2006/table">
            <a:tbl>
              <a:tblPr/>
              <a:tblGrid>
                <a:gridCol w="2946399"/>
                <a:gridCol w="3830320"/>
                <a:gridCol w="3830320"/>
              </a:tblGrid>
              <a:tr h="585215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Consideration</a:t>
                      </a:r>
                    </a:p>
                  </a:txBody>
                  <a:tcPr anchor="ctr" marL="91440" marR="73152" marT="27432" marB="27432">
                    <a:solidFill>
                      <a:srgbClr val="334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Stay in Richmond</a:t>
                      </a:r>
                    </a:p>
                  </a:txBody>
                  <a:tcPr anchor="ctr" marL="91440" marR="73152" marT="27432" marB="27432">
                    <a:solidFill>
                      <a:srgbClr val="334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Baltimore stay</a:t>
                      </a:r>
                    </a:p>
                  </a:txBody>
                  <a:tcPr anchor="ctr" marL="91440" marR="73152" marT="27432" marB="27432">
                    <a:solidFill>
                      <a:srgbClr val="33475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Doctors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Established, local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Would need new providers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Daily support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Karen is present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June and Samuel, plus help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Familiarity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Rooted, comfortable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Near her grandchildren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Guest room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Not needed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Converts from prayer room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Travel burden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June drives down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Karen visits up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Caring for Mom  |  Family planning, private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7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9A4E"/>
                </a:solidFill>
                <a:latin typeface="Calibri"/>
              </a:rPr>
              <a:t>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A Neighborhood Built for Walking</a:t>
            </a:r>
          </a:p>
        </p:txBody>
      </p:sp>
      <p:pic>
        <p:nvPicPr>
          <p:cNvPr id="7" name="Picture 6" descr="do_walk_fe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83080"/>
            <a:ext cx="5074920" cy="41605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783080"/>
            <a:ext cx="5074920" cy="4160520"/>
          </a:xfrm>
          <a:prstGeom prst="rect">
            <a:avLst/>
          </a:prstGeom>
          <a:noFill/>
          <a:ln w="12700">
            <a:solidFill>
              <a:srgbClr val="273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2120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800" b="1">
                <a:solidFill>
                  <a:srgbClr val="27384A"/>
                </a:solidFill>
                <a:latin typeface="Calibri"/>
              </a:rPr>
              <a:t>Woodlawn is quiet and walkable.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3475C"/>
                </a:solidFill>
                <a:latin typeface="Calibri"/>
              </a:rPr>
              <a:t>•  A gentler setting if a stay moves north.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3475C"/>
                </a:solidFill>
                <a:latin typeface="Calibri"/>
              </a:rPr>
              <a:t>•  Close to June and Samuel, and to the children.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3475C"/>
                </a:solidFill>
                <a:latin typeface="Calibri"/>
              </a:rPr>
              <a:t>•  The guest room doubles as the prayer and reading space.</a:t>
            </a:r>
          </a:p>
          <a:p>
            <a:pPr algn="l">
              <a:lnSpc>
                <a:spcPct val="112000"/>
              </a:lnSpc>
              <a:spcAft>
                <a:spcPts val="900"/>
              </a:spcAft>
            </a:pPr>
            <a:r>
              <a:rPr sz="1400" b="0">
                <a:solidFill>
                  <a:srgbClr val="33475C"/>
                </a:solidFill>
                <a:latin typeface="Calibri"/>
              </a:rPr>
              <a:t>•  No decision yet. The question stays open.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Caring for Mom  |  Family planning, 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310896"/>
            <a:ext cx="146304" cy="713232"/>
          </a:xfrm>
          <a:prstGeom prst="rect">
            <a:avLst/>
          </a:prstGeom>
          <a:solidFill>
            <a:srgbClr val="C7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74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9A4E"/>
                </a:solidFill>
                <a:latin typeface="Calibri"/>
              </a:rPr>
              <a:t>PLANNING ESTIMATES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56692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Calibri"/>
              </a:rPr>
              <a:t>Monthly Support and Care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691640"/>
          <a:ext cx="7315200" cy="2569464"/>
        </p:xfrm>
        <a:graphic>
          <a:graphicData uri="http://schemas.openxmlformats.org/drawingml/2006/table">
            <a:tbl>
              <a:tblPr/>
              <a:tblGrid>
                <a:gridCol w="5283200"/>
                <a:gridCol w="2032000"/>
              </a:tblGrid>
              <a:tr h="55778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 marL="91440" marR="73152" marT="27432" marB="27432">
                    <a:solidFill>
                      <a:srgbClr val="3347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Monthly estimate</a:t>
                      </a:r>
                    </a:p>
                  </a:txBody>
                  <a:tcPr anchor="ctr" marL="91440" marR="73152" marT="27432" marB="27432">
                    <a:solidFill>
                      <a:srgbClr val="33475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Support transfer to Dorothy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$300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Travel, Richmond round trips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$120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Phone and incidentals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$40</a:t>
                      </a:r>
                    </a:p>
                  </a:txBody>
                  <a:tcPr anchor="ctr" marL="91440" marR="73152" marT="27432" marB="27432">
                    <a:solidFill>
                      <a:srgbClr val="EEF1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7384A"/>
                          </a:solidFill>
                          <a:latin typeface="Calibri"/>
                        </a:rPr>
                        <a:t>Total current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27384A"/>
                          </a:solidFill>
                          <a:latin typeface="Calibri"/>
                        </a:rPr>
                        <a:t>$460</a:t>
                      </a:r>
                    </a:p>
                  </a:txBody>
                  <a:tcPr anchor="ctr" marL="91440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884"/>
                </a:solidFill>
                <a:latin typeface="Calibri"/>
              </a:rPr>
              <a:t>Figures are planning estimates only. A Baltimore stay would shift travel toward Karen.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Caring for Mom  |  Family planning, private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463040"/>
            <a:ext cx="146304" cy="1280160"/>
          </a:xfrm>
          <a:prstGeom prst="rect">
            <a:avLst/>
          </a:prstGeom>
          <a:solidFill>
            <a:srgbClr val="C7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79A4E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After the November Visit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9669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Drive to Richmond on November 28 over the Thanksgiving stretch.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Attend the November 13 wellness visit in person.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Revisit the Baltimore question once we are back.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600" b="0">
                <a:solidFill>
                  <a:srgbClr val="EEF0F2"/>
                </a:solidFill>
                <a:latin typeface="Calibri"/>
              </a:rPr>
              <a:t>•  Keep Karen as the on the ground lead. Nothing changes without 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73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83680"/>
            <a:ext cx="8229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Caring for Mom  |  Family planning, private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583680"/>
            <a:ext cx="914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Caring for Mom</dc:title>
  <dc:subject>Caring for Mom</dc:subject>
  <dc:creator>June Randall</dc:creator>
  <cp:keywords/>
  <dc:description/>
  <cp:lastModifiedBy>June Randall</cp:lastModifiedBy>
  <cp:revision>1</cp:revision>
  <dcterms:created xsi:type="dcterms:W3CDTF">2026-10-19T09:00:00Z</dcterms:created>
  <dcterms:modified xsi:type="dcterms:W3CDTF">2026-10-20T18:30:00Z</dcterms:modified>
  <cp:category/>
</cp:coreProperties>
</file>