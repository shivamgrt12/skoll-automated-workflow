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194560" cy="5486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5651D"/>
                </a:solidFill>
                <a:latin typeface="Calibri"/>
              </a:rPr>
              <a:t>NOVA SOUTHEASTERN UNIVERSITY, COLLEGE OF NURSING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1F4E5F"/>
                </a:solidFill>
                <a:latin typeface="Calibri Light"/>
              </a:rPr>
              <a:t>Cultural Formulation in the Medication Visit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PMHNP Program, Cultural Competence in Psychiatric Practice, Fall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10515600" cy="36576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Karen M. Bell, PMHNP-BC, Adjunct Faculty  |  Faculty ID N00471892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Tuesdays, 5:30 PM to 8:15 PM, hybrid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Distinguish cultural humility from a competence checklist, and explain why the difference matters at the bedside.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Run a brief cultural formulation inside the time a real medication visit allows.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Identify the family and informal supports that decide whether a plan survives at home.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Measure improvement by the patient stated life goals, not a rating scale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Culture Is Clinical Context, Not Decoration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We treat culture as part of the assessment, not a box checked after it.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Competence is the wrong word. It implies a finish line. Humility is closer to the truth.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A patient history of silence and prayer is information, not a deficit to be corrected.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Language is part of the treatment, so we choose words with the care we choose a medication.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The Standard Interview Is Sound but Long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The full cultural formulation interview from the DSM-5-TR is thorough and well validated.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Few prescribers can run it in full during a twenty minute medication visit.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The gap between the ideal and the schedule is where good intentions quietly fail.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Our task is to keep the substance while fitting the cadence of a real clinic.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82296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37744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Four Questions You Can Hold in Mind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The Four Working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1. Belief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What does this person believe is wrong, in their own words, before any label is offered.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0138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0138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8738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2. Stakeholders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Who else holds a stake in the explanation, since the family table often decides what treatment survives.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6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7316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5916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3. What Was Tried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What has already been tried, including faith, herbal, and informal supports that deserve respect, not dismissal.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The Fourth Question, and How to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What would count as getting better, measured by the patient life rather than a scale alone.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Write the answer down and read it back. The patient hears that the plan belongs to them.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Set a defined check in point so the first follow up has a clear purpose.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This costs about four minutes when folded into the opening of the visit.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Faith and Informal Supports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Prayer groups, elders, and traditional remedies are part of the care system already in place.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Respect what is working and integrate it, rather than asking a patient to choose between worlds.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Correction without respect ends the conversation. Curiosity keeps it open.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The clinician who honors this earns the trust that adherence depends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Assessment and Expectations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Weekly reflection posts, brief and honest, on the course site.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One full cultural formulation written on a rotation patient, fully de-identified.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Final case presentation across the last two sessions, December 1 and December 8, 2026.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Bring your questions and your discomfort. That is where the learning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2194560" cy="54864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 Light"/>
              </a:rPr>
              <a:t>References and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Hook JN et al. Cultural humility and psychotherapy outcome, 2013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American Psychiatric Association, Cultural Formulation Interview, DSM-5-TR, 2022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Bell KM, Language as medicine, conference proceedings, 2024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Karen M. Bell, PMHNP-BC     karen.bell@voissync.ai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Karen M. Bell</dc:creator>
  <cp:keywords/>
  <dc:description/>
  <cp:lastModifiedBy>Karen M. Bell</cp:lastModifiedBy>
  <cp:revision>1</cp:revision>
  <dcterms:created xsi:type="dcterms:W3CDTF">2026-02-15T09:00:00Z</dcterms:created>
  <dcterms:modified xsi:type="dcterms:W3CDTF">2026-02-18T14:30:00Z</dcterms:modified>
  <cp:category/>
</cp:coreProperties>
</file>