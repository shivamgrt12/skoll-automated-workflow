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A6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20240"/>
            <a:ext cx="146304" cy="2194560"/>
          </a:xfrm>
          <a:prstGeom prst="rect">
            <a:avLst/>
          </a:prstGeom>
          <a:solidFill>
            <a:srgbClr val="A6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3B4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A6783C"/>
                </a:solidFill>
                <a:latin typeface="Calibri"/>
              </a:rPr>
              <a:t>GALLERY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3327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2C2A26"/>
                </a:solidFill>
                <a:latin typeface="Calibri"/>
              </a:rPr>
              <a:t>The Season at Modern 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206240"/>
            <a:ext cx="9601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6B655C"/>
                </a:solidFill>
                <a:latin typeface="Calibri"/>
              </a:rPr>
              <a:t>How a six to eight week exhibition cycle moves eighteen artists through a full gallery year.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98932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Prepared by Kristy Blackwell, Albuquerque, New Mexico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4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2377440" cy="73152"/>
          </a:xfrm>
          <a:prstGeom prst="rect">
            <a:avLst/>
          </a:prstGeom>
          <a:solidFill>
            <a:srgbClr val="A6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07040" y="274320"/>
            <a:ext cx="868680" cy="502920"/>
          </a:xfrm>
          <a:prstGeom prst="roundRect">
            <a:avLst/>
          </a:prstGeom>
          <a:solidFill>
            <a:srgbClr val="A6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01 /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Exhibition 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10881360" cy="1536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146304" cy="1536192"/>
          </a:xfrm>
          <a:prstGeom prst="rect">
            <a:avLst/>
          </a:prstGeom>
          <a:solidFill>
            <a:srgbClr val="A6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C2A26"/>
                </a:solidFill>
                <a:latin typeface="Calibri"/>
              </a:rPr>
              <a:t>Six to Eight Weeks Per Show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10332720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655C"/>
                </a:solidFill>
                <a:latin typeface="Calibri"/>
              </a:rPr>
              <a:t>Each exhibition runs a six to eight week cycle from opening night to deinstall. We hold seven to eight shows a year, which lets the calendar breathe and gives each artist a full month of weekend foot traffic. The cadence is tight but never rushed.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00400"/>
            <a:ext cx="10881360" cy="1536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200400"/>
            <a:ext cx="146304" cy="1536192"/>
          </a:xfrm>
          <a:prstGeom prst="rect">
            <a:avLst/>
          </a:prstGeom>
          <a:solidFill>
            <a:srgbClr val="A6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310128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C2A26"/>
                </a:solidFill>
                <a:latin typeface="Calibri"/>
              </a:rPr>
              <a:t>Install Week Rhythm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703320"/>
            <a:ext cx="10332720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655C"/>
                </a:solidFill>
                <a:latin typeface="Calibri"/>
              </a:rPr>
              <a:t>The week before each opening is install week. Lena handles crating and condition reports while I set the wall plan and lighting. We patch, paint, and hang on a fixed three day schedule so the front room is camera ready by Thursday.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846320"/>
            <a:ext cx="10881360" cy="1536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846320"/>
            <a:ext cx="146304" cy="1536192"/>
          </a:xfrm>
          <a:prstGeom prst="rect">
            <a:avLst/>
          </a:prstGeom>
          <a:solidFill>
            <a:srgbClr val="A6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956048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C2A26"/>
                </a:solidFill>
                <a:latin typeface="Calibri"/>
              </a:rPr>
              <a:t>Opening to Close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349240"/>
            <a:ext cx="10332720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655C"/>
                </a:solidFill>
                <a:latin typeface="Calibri"/>
              </a:rPr>
              <a:t>Openings land on the first Friday of a run, with an artist talk in the second week. The closing weekend doubles as the handoff window, so the next install never collides with a live show on the floor.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655C"/>
                </a:solidFill>
                <a:latin typeface="Calibri"/>
              </a:rPr>
              <a:t>All cycle dates are scheduled against the gallery calendar maintained by Lena.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4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2377440" cy="73152"/>
          </a:xfrm>
          <a:prstGeom prst="rect">
            <a:avLst/>
          </a:prstGeom>
          <a:solidFill>
            <a:srgbClr val="A6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07040" y="274320"/>
            <a:ext cx="868680" cy="502920"/>
          </a:xfrm>
          <a:prstGeom prst="roundRect">
            <a:avLst/>
          </a:prstGeom>
          <a:solidFill>
            <a:srgbClr val="A6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02 /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Eighteen Artist 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10881360" cy="1536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146304" cy="1536192"/>
          </a:xfrm>
          <a:prstGeom prst="rect">
            <a:avLst/>
          </a:prstGeom>
          <a:solidFill>
            <a:srgbClr val="A6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C2A26"/>
                </a:solidFill>
                <a:latin typeface="Calibri"/>
              </a:rPr>
              <a:t>Emerging Contemporary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10332720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655C"/>
                </a:solidFill>
                <a:latin typeface="Calibri"/>
              </a:rPr>
              <a:t>We represent eighteen emerging contemporary artists working across painting, ceramics, photography, and mixed media. Each one is early in a serious career and gets a dedicated solo or two person slot inside a season. The roster is deliberately small so attention does not thin 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00400"/>
            <a:ext cx="10881360" cy="1536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200400"/>
            <a:ext cx="146304" cy="1536192"/>
          </a:xfrm>
          <a:prstGeom prst="rect">
            <a:avLst/>
          </a:prstGeom>
          <a:solidFill>
            <a:srgbClr val="A6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310128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C2A26"/>
                </a:solidFill>
                <a:latin typeface="Calibri"/>
              </a:rPr>
              <a:t>Medium Balance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703320"/>
            <a:ext cx="10332720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655C"/>
                </a:solidFill>
                <a:latin typeface="Calibri"/>
              </a:rPr>
              <a:t>I balance the roster so no single medium dominates a season. A painting heavy spring run is offset by a ceramics and photography pairing later, which keeps the program legible to collectors who follow one material closely.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846320"/>
            <a:ext cx="10881360" cy="1536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846320"/>
            <a:ext cx="146304" cy="1536192"/>
          </a:xfrm>
          <a:prstGeom prst="rect">
            <a:avLst/>
          </a:prstGeom>
          <a:solidFill>
            <a:srgbClr val="A6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956048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C2A26"/>
                </a:solidFill>
                <a:latin typeface="Calibri"/>
              </a:rPr>
              <a:t>Career Stage Spread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349240"/>
            <a:ext cx="10332720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655C"/>
                </a:solidFill>
                <a:latin typeface="Calibri"/>
              </a:rPr>
              <a:t>Roughly a third of the eighteen are showing in a commercial gallery for the first time, a third have one prior solo, and a third are building toward institutional attention. That spread keeps both discovery and depth on the walls.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4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2377440" cy="73152"/>
          </a:xfrm>
          <a:prstGeom prst="rect">
            <a:avLst/>
          </a:prstGeom>
          <a:solidFill>
            <a:srgbClr val="A6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07040" y="274320"/>
            <a:ext cx="868680" cy="502920"/>
          </a:xfrm>
          <a:prstGeom prst="roundRect">
            <a:avLst/>
          </a:prstGeom>
          <a:solidFill>
            <a:srgbClr val="A6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03 /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Sales Performance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10881360" cy="1536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146304" cy="1536192"/>
          </a:xfrm>
          <a:prstGeom prst="rect">
            <a:avLst/>
          </a:prstGeom>
          <a:solidFill>
            <a:srgbClr val="A6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C2A26"/>
                </a:solidFill>
                <a:latin typeface="Calibri"/>
              </a:rPr>
              <a:t>Annual Gallery 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10332720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655C"/>
                </a:solidFill>
                <a:latin typeface="Calibri"/>
              </a:rPr>
              <a:t>Gallery sales run about 280,000 dollars a year across the seven to eight exhibitions. On a 50 percent commission split that returns roughly 140,000 dollars to the represented artists and 140,000 dollars to the gallery before costs. The figure has held steady across the last three seasons.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00400"/>
            <a:ext cx="10881360" cy="1536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200400"/>
            <a:ext cx="146304" cy="1536192"/>
          </a:xfrm>
          <a:prstGeom prst="rect">
            <a:avLst/>
          </a:prstGeom>
          <a:solidFill>
            <a:srgbClr val="A6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310128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C2A26"/>
                </a:solidFill>
                <a:latin typeface="Calibri"/>
              </a:rPr>
              <a:t>Fixed Overhead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703320"/>
            <a:ext cx="10332720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655C"/>
                </a:solidFill>
                <a:latin typeface="Calibri"/>
              </a:rPr>
              <a:t>Monthly rent is 2,800 dollars, or 33,600 dollars a year, which is the single largest fixed line. Lighting, insurance, and print collateral sit underneath it. Knowing the rent floor sets the per show sales target I plan each season against.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846320"/>
            <a:ext cx="10881360" cy="1536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846320"/>
            <a:ext cx="146304" cy="1536192"/>
          </a:xfrm>
          <a:prstGeom prst="rect">
            <a:avLst/>
          </a:prstGeom>
          <a:solidFill>
            <a:srgbClr val="A6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956048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C2A26"/>
                </a:solidFill>
                <a:latin typeface="Calibri"/>
              </a:rPr>
              <a:t>Per Show Yield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349240"/>
            <a:ext cx="10332720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655C"/>
                </a:solidFill>
                <a:latin typeface="Calibri"/>
              </a:rPr>
              <a:t>Spread across eight shows, the year averages about 35,000 dollars in sales per exhibition. Strong openings and a well placed museum adjacent name can push a single run well past that, which is how the calendar is sequenced.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655C"/>
                </a:solidFill>
                <a:latin typeface="Calibri"/>
              </a:rPr>
              <a:t>Commission split is 50 percent; figures are annual gallery sales, not personal art sales.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4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2377440" cy="73152"/>
          </a:xfrm>
          <a:prstGeom prst="rect">
            <a:avLst/>
          </a:prstGeom>
          <a:solidFill>
            <a:srgbClr val="A6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07040" y="274320"/>
            <a:ext cx="868680" cy="502920"/>
          </a:xfrm>
          <a:prstGeom prst="roundRect">
            <a:avLst/>
          </a:prstGeom>
          <a:solidFill>
            <a:srgbClr val="A6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04 /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Season Calendar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10881360" cy="1536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146304" cy="1536192"/>
          </a:xfrm>
          <a:prstGeom prst="rect">
            <a:avLst/>
          </a:prstGeom>
          <a:solidFill>
            <a:srgbClr val="A6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C2A26"/>
                </a:solidFill>
                <a:latin typeface="Calibri"/>
              </a:rPr>
              <a:t>Closing the Current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10332720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655C"/>
                </a:solidFill>
                <a:latin typeface="Calibri"/>
              </a:rPr>
              <a:t>The current season wraps with a two person ceramics and photography pairing that opened in February 2026. It closes out the winter slot and clears install week for the next program block.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00400"/>
            <a:ext cx="10881360" cy="1536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200400"/>
            <a:ext cx="146304" cy="1536192"/>
          </a:xfrm>
          <a:prstGeom prst="rect">
            <a:avLst/>
          </a:prstGeom>
          <a:solidFill>
            <a:srgbClr val="A6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310128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C2A26"/>
                </a:solidFill>
                <a:latin typeface="Calibri"/>
              </a:rPr>
              <a:t>Fall Reopening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703320"/>
            <a:ext cx="10332720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655C"/>
                </a:solidFill>
                <a:latin typeface="Calibri"/>
              </a:rPr>
              <a:t>The new season opens in October 2026 with a roster wide group show that reintroduces returning artists and one new signing. It is the highest traffic opening of the year and anchors fall collector visits.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846320"/>
            <a:ext cx="10881360" cy="1536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846320"/>
            <a:ext cx="146304" cy="1536192"/>
          </a:xfrm>
          <a:prstGeom prst="rect">
            <a:avLst/>
          </a:prstGeom>
          <a:solidFill>
            <a:srgbClr val="A6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956048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C2A26"/>
                </a:solidFill>
                <a:latin typeface="Calibri"/>
              </a:rPr>
              <a:t>Into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349240"/>
            <a:ext cx="10332720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655C"/>
                </a:solidFill>
                <a:latin typeface="Calibri"/>
              </a:rPr>
              <a:t>Two solo exhibitions are already booked for early 2027, including a coil built ceramics slot. Holding those dates now lets artists plan production around a firm opening rather than a moving target.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       Theme">
  <a:themeElements>
    <a:clrScheme name="      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      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          Yi Baiti"/>
        <a:font script="Tibt" typeface="         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         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          Yi Baiti"/>
        <a:font script="Tibt" typeface="         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          Uighur"/>
        <a:font script="Geor" typeface="Sylfaen"/>
      </a:minorFont>
    </a:fontScheme>
    <a:fmtScheme name="      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Workspace Presentation</Application>
  <Company>Personal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Kristy Blackwell</dc:creator>
  <cp:lastModifiedBy>Kristy Blackwell</cp:lastModifiedBy>
  <dcterms:created xsi:type="dcterms:W3CDTF">2026-02-12T10:00:00Z</dcterms:created>
  <dcterms:modified xsi:type="dcterms:W3CDTF">2026-02-12T10:00:00Z</dcterms:modified>
</cp:coreProperties>
</file>