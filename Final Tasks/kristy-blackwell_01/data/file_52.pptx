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1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56032"/>
          </a:xfrm>
          <a:prstGeom prst="rect">
            <a:avLst/>
          </a:prstGeom>
          <a:solidFill>
            <a:srgbClr val="A678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0080" y="1920240"/>
            <a:ext cx="146304" cy="2194560"/>
          </a:xfrm>
          <a:prstGeom prst="rect">
            <a:avLst/>
          </a:prstGeom>
          <a:solidFill>
            <a:srgbClr val="A678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5852160"/>
            <a:ext cx="12191695" cy="1005840"/>
          </a:xfrm>
          <a:prstGeom prst="rect">
            <a:avLst/>
          </a:prstGeom>
          <a:solidFill>
            <a:srgbClr val="3B4A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417320"/>
            <a:ext cx="10058400" cy="457200"/>
          </a:xfrm>
          <a:prstGeom prst="rect">
            <a:avLst/>
          </a:prstGeom>
          <a:noFill/>
        </p:spPr>
        <p:txBody>
          <a:bodyPr wrap="square" anchor="t">
            <a:spAutoFit/>
          </a:bodyPr>
          <a:lstStyle/>
          <a:p>
            <a:pPr algn="l"/>
            <a:r>
              <a:rPr sz="1600" b="1">
                <a:solidFill>
                  <a:srgbClr val="A6783C"/>
                </a:solidFill>
                <a:latin typeface="Calibri"/>
              </a:rPr>
              <a:t>SOLO MUSEUM SHOW</a:t>
            </a:r>
          </a:p>
        </p:txBody>
      </p:sp>
      <p:sp>
        <p:nvSpPr>
          <p:cNvPr id="7" name="TextBox 6"/>
          <p:cNvSpPr txBox="1"/>
          <p:nvPr/>
        </p:nvSpPr>
        <p:spPr>
          <a:xfrm>
            <a:off x="914400" y="1828800"/>
            <a:ext cx="10332720" cy="2377440"/>
          </a:xfrm>
          <a:prstGeom prst="rect">
            <a:avLst/>
          </a:prstGeom>
          <a:noFill/>
        </p:spPr>
        <p:txBody>
          <a:bodyPr wrap="square" anchor="t">
            <a:spAutoFit/>
          </a:bodyPr>
          <a:lstStyle/>
          <a:p>
            <a:pPr algn="l"/>
            <a:r>
              <a:rPr sz="4400" b="1">
                <a:solidFill>
                  <a:srgbClr val="2C2A26"/>
                </a:solidFill>
                <a:latin typeface="Calibri"/>
              </a:rPr>
              <a:t>Vessel as Landscape</a:t>
            </a:r>
          </a:p>
        </p:txBody>
      </p:sp>
      <p:sp>
        <p:nvSpPr>
          <p:cNvPr id="8" name="TextBox 7"/>
          <p:cNvSpPr txBox="1"/>
          <p:nvPr/>
        </p:nvSpPr>
        <p:spPr>
          <a:xfrm>
            <a:off x="960120" y="4206240"/>
            <a:ext cx="9601200" cy="1280160"/>
          </a:xfrm>
          <a:prstGeom prst="rect">
            <a:avLst/>
          </a:prstGeom>
          <a:noFill/>
        </p:spPr>
        <p:txBody>
          <a:bodyPr wrap="square" anchor="t">
            <a:spAutoFit/>
          </a:bodyPr>
          <a:lstStyle/>
          <a:p>
            <a:pPr algn="l"/>
            <a:r>
              <a:rPr sz="1900" b="0">
                <a:solidFill>
                  <a:srgbClr val="6B655C"/>
                </a:solidFill>
                <a:latin typeface="Calibri"/>
              </a:rPr>
              <a:t>Delivering a coil built vessel series to a Santa Fe museum opening in October 2026.</a:t>
            </a:r>
          </a:p>
        </p:txBody>
      </p:sp>
      <p:sp>
        <p:nvSpPr>
          <p:cNvPr id="9" name="TextBox 8"/>
          <p:cNvSpPr txBox="1"/>
          <p:nvPr/>
        </p:nvSpPr>
        <p:spPr>
          <a:xfrm>
            <a:off x="960120" y="5989320"/>
            <a:ext cx="10058400" cy="640080"/>
          </a:xfrm>
          <a:prstGeom prst="rect">
            <a:avLst/>
          </a:prstGeom>
          <a:noFill/>
        </p:spPr>
        <p:txBody>
          <a:bodyPr wrap="square" anchor="ctr">
            <a:spAutoFit/>
          </a:bodyPr>
          <a:lstStyle/>
          <a:p>
            <a:pPr algn="l"/>
            <a:r>
              <a:rPr sz="1300" b="1">
                <a:solidFill>
                  <a:srgbClr val="FFFFFF"/>
                </a:solidFill>
                <a:latin typeface="Calibri"/>
              </a:rPr>
              <a:t>Prepared by Kristy Blackwell, Albuquerque, New Mexico</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1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3B4A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0080" y="1170432"/>
            <a:ext cx="2377440" cy="73152"/>
          </a:xfrm>
          <a:prstGeom prst="rect">
            <a:avLst/>
          </a:prstGeom>
          <a:solidFill>
            <a:srgbClr val="A678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0607040" y="274320"/>
            <a:ext cx="868680" cy="502920"/>
          </a:xfrm>
          <a:prstGeom prst="roundRect">
            <a:avLst/>
          </a:prstGeom>
          <a:solidFill>
            <a:srgbClr val="A6783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rPr>
              <a:t>01 / 05</a:t>
            </a:r>
          </a:p>
        </p:txBody>
      </p:sp>
      <p:sp>
        <p:nvSpPr>
          <p:cNvPr id="6" name="TextBox 5"/>
          <p:cNvSpPr txBox="1"/>
          <p:nvPr/>
        </p:nvSpPr>
        <p:spPr>
          <a:xfrm>
            <a:off x="640080" y="256032"/>
            <a:ext cx="9601200" cy="731520"/>
          </a:xfrm>
          <a:prstGeom prst="rect">
            <a:avLst/>
          </a:prstGeom>
          <a:noFill/>
        </p:spPr>
        <p:txBody>
          <a:bodyPr wrap="square" anchor="ctr">
            <a:spAutoFit/>
          </a:bodyPr>
          <a:lstStyle/>
          <a:p>
            <a:pPr algn="l"/>
            <a:r>
              <a:rPr sz="2600" b="1">
                <a:solidFill>
                  <a:srgbClr val="FFFFFF"/>
                </a:solidFill>
                <a:latin typeface="Calibri"/>
              </a:rPr>
              <a:t>The Series Concept</a:t>
            </a:r>
          </a:p>
        </p:txBody>
      </p:sp>
      <p:sp>
        <p:nvSpPr>
          <p:cNvPr id="7" name="Rounded Rectangle 6"/>
          <p:cNvSpPr/>
          <p:nvPr/>
        </p:nvSpPr>
        <p:spPr>
          <a:xfrm>
            <a:off x="640080" y="1554480"/>
            <a:ext cx="10881360" cy="153619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40080" y="1554480"/>
            <a:ext cx="146304" cy="1536192"/>
          </a:xfrm>
          <a:prstGeom prst="rect">
            <a:avLst/>
          </a:prstGeom>
          <a:solidFill>
            <a:srgbClr val="A678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664208"/>
            <a:ext cx="10332720" cy="457200"/>
          </a:xfrm>
          <a:prstGeom prst="rect">
            <a:avLst/>
          </a:prstGeom>
          <a:noFill/>
        </p:spPr>
        <p:txBody>
          <a:bodyPr wrap="square" anchor="t">
            <a:spAutoFit/>
          </a:bodyPr>
          <a:lstStyle/>
          <a:p>
            <a:pPr algn="l"/>
            <a:r>
              <a:rPr sz="1600" b="1">
                <a:solidFill>
                  <a:srgbClr val="2C2A26"/>
                </a:solidFill>
                <a:latin typeface="Calibri"/>
              </a:rPr>
              <a:t>Coil Built Vessels</a:t>
            </a:r>
          </a:p>
        </p:txBody>
      </p:sp>
      <p:sp>
        <p:nvSpPr>
          <p:cNvPr id="10" name="TextBox 9"/>
          <p:cNvSpPr txBox="1"/>
          <p:nvPr/>
        </p:nvSpPr>
        <p:spPr>
          <a:xfrm>
            <a:off x="960120" y="2057400"/>
            <a:ext cx="10332720" cy="987552"/>
          </a:xfrm>
          <a:prstGeom prst="rect">
            <a:avLst/>
          </a:prstGeom>
          <a:noFill/>
        </p:spPr>
        <p:txBody>
          <a:bodyPr wrap="square" anchor="t">
            <a:spAutoFit/>
          </a:bodyPr>
          <a:lstStyle/>
          <a:p>
            <a:pPr algn="l"/>
            <a:r>
              <a:rPr sz="1300" b="0">
                <a:solidFill>
                  <a:srgbClr val="6B655C"/>
                </a:solidFill>
                <a:latin typeface="Calibri"/>
              </a:rPr>
              <a:t>The body of work is a series of large coil built vessels, each raised by hand over several weeks. The scale pushes past the table and reads as standing form, closer to terrain than tableware. Surface and silhouette carry equal weight.</a:t>
            </a:r>
          </a:p>
        </p:txBody>
      </p:sp>
      <p:sp>
        <p:nvSpPr>
          <p:cNvPr id="11" name="Rounded Rectangle 10"/>
          <p:cNvSpPr/>
          <p:nvPr/>
        </p:nvSpPr>
        <p:spPr>
          <a:xfrm>
            <a:off x="640080" y="3200400"/>
            <a:ext cx="10881360" cy="153619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40080" y="3200400"/>
            <a:ext cx="146304" cy="1536192"/>
          </a:xfrm>
          <a:prstGeom prst="rect">
            <a:avLst/>
          </a:prstGeom>
          <a:solidFill>
            <a:srgbClr val="A678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3310128"/>
            <a:ext cx="10332720" cy="457200"/>
          </a:xfrm>
          <a:prstGeom prst="rect">
            <a:avLst/>
          </a:prstGeom>
          <a:noFill/>
        </p:spPr>
        <p:txBody>
          <a:bodyPr wrap="square" anchor="t">
            <a:spAutoFit/>
          </a:bodyPr>
          <a:lstStyle/>
          <a:p>
            <a:pPr algn="l"/>
            <a:r>
              <a:rPr sz="1600" b="1">
                <a:solidFill>
                  <a:srgbClr val="2C2A26"/>
                </a:solidFill>
                <a:latin typeface="Calibri"/>
              </a:rPr>
              <a:t>Landscape as Source</a:t>
            </a:r>
          </a:p>
        </p:txBody>
      </p:sp>
      <p:sp>
        <p:nvSpPr>
          <p:cNvPr id="14" name="TextBox 13"/>
          <p:cNvSpPr txBox="1"/>
          <p:nvPr/>
        </p:nvSpPr>
        <p:spPr>
          <a:xfrm>
            <a:off x="960120" y="3703320"/>
            <a:ext cx="10332720" cy="987552"/>
          </a:xfrm>
          <a:prstGeom prst="rect">
            <a:avLst/>
          </a:prstGeom>
          <a:noFill/>
        </p:spPr>
        <p:txBody>
          <a:bodyPr wrap="square" anchor="t">
            <a:spAutoFit/>
          </a:bodyPr>
          <a:lstStyle/>
          <a:p>
            <a:pPr algn="l"/>
            <a:r>
              <a:rPr sz="1300" b="0">
                <a:solidFill>
                  <a:srgbClr val="6B655C"/>
                </a:solidFill>
                <a:latin typeface="Calibri"/>
              </a:rPr>
              <a:t>Each vessel takes its palette and seam from a stretch of high desert ground, so the series reads as a walk across the mesa rather than a set of pots. Slips are layered to suggest sediment, weather, and erosion. The title frame is vessel as landscape.</a:t>
            </a:r>
          </a:p>
        </p:txBody>
      </p:sp>
      <p:sp>
        <p:nvSpPr>
          <p:cNvPr id="15" name="Rounded Rectangle 14"/>
          <p:cNvSpPr/>
          <p:nvPr/>
        </p:nvSpPr>
        <p:spPr>
          <a:xfrm>
            <a:off x="640080" y="4846320"/>
            <a:ext cx="10881360" cy="153619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40080" y="4846320"/>
            <a:ext cx="146304" cy="1536192"/>
          </a:xfrm>
          <a:prstGeom prst="rect">
            <a:avLst/>
          </a:prstGeom>
          <a:solidFill>
            <a:srgbClr val="A678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0120" y="4956048"/>
            <a:ext cx="10332720" cy="457200"/>
          </a:xfrm>
          <a:prstGeom prst="rect">
            <a:avLst/>
          </a:prstGeom>
          <a:noFill/>
        </p:spPr>
        <p:txBody>
          <a:bodyPr wrap="square" anchor="t">
            <a:spAutoFit/>
          </a:bodyPr>
          <a:lstStyle/>
          <a:p>
            <a:pPr algn="l"/>
            <a:r>
              <a:rPr sz="1600" b="1">
                <a:solidFill>
                  <a:srgbClr val="2C2A26"/>
                </a:solidFill>
                <a:latin typeface="Calibri"/>
              </a:rPr>
              <a:t>Scale and Count</a:t>
            </a:r>
          </a:p>
        </p:txBody>
      </p:sp>
      <p:sp>
        <p:nvSpPr>
          <p:cNvPr id="18" name="TextBox 17"/>
          <p:cNvSpPr txBox="1"/>
          <p:nvPr/>
        </p:nvSpPr>
        <p:spPr>
          <a:xfrm>
            <a:off x="960120" y="5349240"/>
            <a:ext cx="10332720" cy="987552"/>
          </a:xfrm>
          <a:prstGeom prst="rect">
            <a:avLst/>
          </a:prstGeom>
          <a:noFill/>
        </p:spPr>
        <p:txBody>
          <a:bodyPr wrap="square" anchor="t">
            <a:spAutoFit/>
          </a:bodyPr>
          <a:lstStyle/>
          <a:p>
            <a:pPr algn="l"/>
            <a:r>
              <a:rPr sz="1300" b="0">
                <a:solidFill>
                  <a:srgbClr val="6B655C"/>
                </a:solidFill>
                <a:latin typeface="Calibri"/>
              </a:rPr>
              <a:t>The show centers on a focused group of large works rather than a crowded survey. A small number of major vessels lets each one hold a wall of floor space. Restraint is the point.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1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3B4A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0080" y="1170432"/>
            <a:ext cx="2377440" cy="73152"/>
          </a:xfrm>
          <a:prstGeom prst="rect">
            <a:avLst/>
          </a:prstGeom>
          <a:solidFill>
            <a:srgbClr val="A678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0607040" y="274320"/>
            <a:ext cx="868680" cy="502920"/>
          </a:xfrm>
          <a:prstGeom prst="roundRect">
            <a:avLst/>
          </a:prstGeom>
          <a:solidFill>
            <a:srgbClr val="A6783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rPr>
              <a:t>02 / 05</a:t>
            </a:r>
          </a:p>
        </p:txBody>
      </p:sp>
      <p:sp>
        <p:nvSpPr>
          <p:cNvPr id="6" name="TextBox 5"/>
          <p:cNvSpPr txBox="1"/>
          <p:nvPr/>
        </p:nvSpPr>
        <p:spPr>
          <a:xfrm>
            <a:off x="640080" y="256032"/>
            <a:ext cx="9601200" cy="731520"/>
          </a:xfrm>
          <a:prstGeom prst="rect">
            <a:avLst/>
          </a:prstGeom>
          <a:noFill/>
        </p:spPr>
        <p:txBody>
          <a:bodyPr wrap="square" anchor="ctr">
            <a:spAutoFit/>
          </a:bodyPr>
          <a:lstStyle/>
          <a:p>
            <a:pPr algn="l"/>
            <a:r>
              <a:rPr sz="2600" b="1">
                <a:solidFill>
                  <a:srgbClr val="FFFFFF"/>
                </a:solidFill>
                <a:latin typeface="Calibri"/>
              </a:rPr>
              <a:t>Install and Delivery Logistics</a:t>
            </a:r>
          </a:p>
        </p:txBody>
      </p:sp>
      <p:sp>
        <p:nvSpPr>
          <p:cNvPr id="7" name="Rounded Rectangle 6"/>
          <p:cNvSpPr/>
          <p:nvPr/>
        </p:nvSpPr>
        <p:spPr>
          <a:xfrm>
            <a:off x="640080" y="1554480"/>
            <a:ext cx="10881360" cy="153619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40080" y="1554480"/>
            <a:ext cx="146304" cy="1536192"/>
          </a:xfrm>
          <a:prstGeom prst="rect">
            <a:avLst/>
          </a:prstGeom>
          <a:solidFill>
            <a:srgbClr val="A678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664208"/>
            <a:ext cx="10332720" cy="457200"/>
          </a:xfrm>
          <a:prstGeom prst="rect">
            <a:avLst/>
          </a:prstGeom>
          <a:noFill/>
        </p:spPr>
        <p:txBody>
          <a:bodyPr wrap="square" anchor="t">
            <a:spAutoFit/>
          </a:bodyPr>
          <a:lstStyle/>
          <a:p>
            <a:pPr algn="l"/>
            <a:r>
              <a:rPr sz="1600" b="1">
                <a:solidFill>
                  <a:srgbClr val="2C2A26"/>
                </a:solidFill>
                <a:latin typeface="Calibri"/>
              </a:rPr>
              <a:t>Crating in Albuquerque</a:t>
            </a:r>
          </a:p>
        </p:txBody>
      </p:sp>
      <p:sp>
        <p:nvSpPr>
          <p:cNvPr id="10" name="TextBox 9"/>
          <p:cNvSpPr txBox="1"/>
          <p:nvPr/>
        </p:nvSpPr>
        <p:spPr>
          <a:xfrm>
            <a:off x="960120" y="2057400"/>
            <a:ext cx="10332720" cy="987552"/>
          </a:xfrm>
          <a:prstGeom prst="rect">
            <a:avLst/>
          </a:prstGeom>
          <a:noFill/>
        </p:spPr>
        <p:txBody>
          <a:bodyPr wrap="square" anchor="t">
            <a:spAutoFit/>
          </a:bodyPr>
          <a:lstStyle/>
          <a:p>
            <a:pPr algn="l"/>
            <a:r>
              <a:rPr sz="1300" b="0">
                <a:solidFill>
                  <a:srgbClr val="6B655C"/>
                </a:solidFill>
                <a:latin typeface="Calibri"/>
              </a:rPr>
              <a:t>Each vessel is custom crated in the studio with foam saddles cut to the form. Crates are built before the firing schedule closes so nothing waits on packing. Lena documents every piece with condition photos before the lid goes on.</a:t>
            </a:r>
          </a:p>
        </p:txBody>
      </p:sp>
      <p:sp>
        <p:nvSpPr>
          <p:cNvPr id="11" name="Rounded Rectangle 10"/>
          <p:cNvSpPr/>
          <p:nvPr/>
        </p:nvSpPr>
        <p:spPr>
          <a:xfrm>
            <a:off x="640080" y="3200400"/>
            <a:ext cx="10881360" cy="153619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40080" y="3200400"/>
            <a:ext cx="146304" cy="1536192"/>
          </a:xfrm>
          <a:prstGeom prst="rect">
            <a:avLst/>
          </a:prstGeom>
          <a:solidFill>
            <a:srgbClr val="A678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3310128"/>
            <a:ext cx="10332720" cy="457200"/>
          </a:xfrm>
          <a:prstGeom prst="rect">
            <a:avLst/>
          </a:prstGeom>
          <a:noFill/>
        </p:spPr>
        <p:txBody>
          <a:bodyPr wrap="square" anchor="t">
            <a:spAutoFit/>
          </a:bodyPr>
          <a:lstStyle/>
          <a:p>
            <a:pPr algn="l"/>
            <a:r>
              <a:rPr sz="1600" b="1">
                <a:solidFill>
                  <a:srgbClr val="2C2A26"/>
                </a:solidFill>
                <a:latin typeface="Calibri"/>
              </a:rPr>
              <a:t>Transport to Santa Fe</a:t>
            </a:r>
          </a:p>
        </p:txBody>
      </p:sp>
      <p:sp>
        <p:nvSpPr>
          <p:cNvPr id="14" name="TextBox 13"/>
          <p:cNvSpPr txBox="1"/>
          <p:nvPr/>
        </p:nvSpPr>
        <p:spPr>
          <a:xfrm>
            <a:off x="960120" y="3703320"/>
            <a:ext cx="10332720" cy="987552"/>
          </a:xfrm>
          <a:prstGeom prst="rect">
            <a:avLst/>
          </a:prstGeom>
          <a:noFill/>
        </p:spPr>
        <p:txBody>
          <a:bodyPr wrap="square" anchor="t">
            <a:spAutoFit/>
          </a:bodyPr>
          <a:lstStyle/>
          <a:p>
            <a:pPr algn="l"/>
            <a:r>
              <a:rPr sz="1300" b="0">
                <a:solidFill>
                  <a:srgbClr val="6B655C"/>
                </a:solidFill>
                <a:latin typeface="Calibri"/>
              </a:rPr>
              <a:t>Works move to Santa Fe by climate stable art transport on a single booked day, not piecemeal. The short route keeps handling minimal, which matters for thin walled coil work. I ride with the load.</a:t>
            </a:r>
          </a:p>
        </p:txBody>
      </p:sp>
      <p:sp>
        <p:nvSpPr>
          <p:cNvPr id="15" name="Rounded Rectangle 14"/>
          <p:cNvSpPr/>
          <p:nvPr/>
        </p:nvSpPr>
        <p:spPr>
          <a:xfrm>
            <a:off x="640080" y="4846320"/>
            <a:ext cx="10881360" cy="153619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40080" y="4846320"/>
            <a:ext cx="146304" cy="1536192"/>
          </a:xfrm>
          <a:prstGeom prst="rect">
            <a:avLst/>
          </a:prstGeom>
          <a:solidFill>
            <a:srgbClr val="A678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0120" y="4956048"/>
            <a:ext cx="10332720" cy="457200"/>
          </a:xfrm>
          <a:prstGeom prst="rect">
            <a:avLst/>
          </a:prstGeom>
          <a:noFill/>
        </p:spPr>
        <p:txBody>
          <a:bodyPr wrap="square" anchor="t">
            <a:spAutoFit/>
          </a:bodyPr>
          <a:lstStyle/>
          <a:p>
            <a:pPr algn="l"/>
            <a:r>
              <a:rPr sz="1600" b="1">
                <a:solidFill>
                  <a:srgbClr val="2C2A26"/>
                </a:solidFill>
                <a:latin typeface="Calibri"/>
              </a:rPr>
              <a:t>On Site Install</a:t>
            </a:r>
          </a:p>
        </p:txBody>
      </p:sp>
      <p:sp>
        <p:nvSpPr>
          <p:cNvPr id="18" name="TextBox 17"/>
          <p:cNvSpPr txBox="1"/>
          <p:nvPr/>
        </p:nvSpPr>
        <p:spPr>
          <a:xfrm>
            <a:off x="960120" y="5349240"/>
            <a:ext cx="10332720" cy="987552"/>
          </a:xfrm>
          <a:prstGeom prst="rect">
            <a:avLst/>
          </a:prstGeom>
          <a:noFill/>
        </p:spPr>
        <p:txBody>
          <a:bodyPr wrap="square" anchor="t">
            <a:spAutoFit/>
          </a:bodyPr>
          <a:lstStyle/>
          <a:p>
            <a:pPr algn="l"/>
            <a:r>
              <a:rPr sz="1300" b="0">
                <a:solidFill>
                  <a:srgbClr val="6B655C"/>
                </a:solidFill>
                <a:latin typeface="Calibri"/>
              </a:rPr>
              <a:t>Install happens across a dedicated week ahead of the October 2026 opening. Pedestals and lighting are set first, then vessels are placed and leveled, then final condition checks are signed. Nothing is rushed onto a plinth.</a:t>
            </a:r>
          </a:p>
        </p:txBody>
      </p:sp>
      <p:sp>
        <p:nvSpPr>
          <p:cNvPr id="19" name="TextBox 18"/>
          <p:cNvSpPr txBox="1"/>
          <p:nvPr/>
        </p:nvSpPr>
        <p:spPr>
          <a:xfrm>
            <a:off x="640080" y="6446520"/>
            <a:ext cx="10972800" cy="365760"/>
          </a:xfrm>
          <a:prstGeom prst="rect">
            <a:avLst/>
          </a:prstGeom>
          <a:noFill/>
        </p:spPr>
        <p:txBody>
          <a:bodyPr wrap="square" anchor="t">
            <a:spAutoFit/>
          </a:bodyPr>
          <a:lstStyle/>
          <a:p>
            <a:pPr algn="l"/>
            <a:r>
              <a:rPr sz="1100" b="0">
                <a:solidFill>
                  <a:srgbClr val="6B655C"/>
                </a:solidFill>
                <a:latin typeface="Calibri"/>
              </a:rPr>
              <a:t>All delivery and install dates fall in October 2026; crating begins in the studio earlier in the year.</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1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3B4A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0080" y="1170432"/>
            <a:ext cx="2377440" cy="73152"/>
          </a:xfrm>
          <a:prstGeom prst="rect">
            <a:avLst/>
          </a:prstGeom>
          <a:solidFill>
            <a:srgbClr val="A678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0607040" y="274320"/>
            <a:ext cx="868680" cy="502920"/>
          </a:xfrm>
          <a:prstGeom prst="roundRect">
            <a:avLst/>
          </a:prstGeom>
          <a:solidFill>
            <a:srgbClr val="A6783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rPr>
              <a:t>03 / 05</a:t>
            </a:r>
          </a:p>
        </p:txBody>
      </p:sp>
      <p:sp>
        <p:nvSpPr>
          <p:cNvPr id="6" name="TextBox 5"/>
          <p:cNvSpPr txBox="1"/>
          <p:nvPr/>
        </p:nvSpPr>
        <p:spPr>
          <a:xfrm>
            <a:off x="640080" y="256032"/>
            <a:ext cx="9601200" cy="731520"/>
          </a:xfrm>
          <a:prstGeom prst="rect">
            <a:avLst/>
          </a:prstGeom>
          <a:noFill/>
        </p:spPr>
        <p:txBody>
          <a:bodyPr wrap="square" anchor="ctr">
            <a:spAutoFit/>
          </a:bodyPr>
          <a:lstStyle/>
          <a:p>
            <a:pPr algn="l"/>
            <a:r>
              <a:rPr sz="2600" b="1">
                <a:solidFill>
                  <a:srgbClr val="FFFFFF"/>
                </a:solidFill>
                <a:latin typeface="Calibri"/>
              </a:rPr>
              <a:t>Press and Collector Preview</a:t>
            </a:r>
          </a:p>
        </p:txBody>
      </p:sp>
      <p:sp>
        <p:nvSpPr>
          <p:cNvPr id="7" name="Rounded Rectangle 6"/>
          <p:cNvSpPr/>
          <p:nvPr/>
        </p:nvSpPr>
        <p:spPr>
          <a:xfrm>
            <a:off x="640080" y="1554480"/>
            <a:ext cx="10881360" cy="153619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40080" y="1554480"/>
            <a:ext cx="146304" cy="1536192"/>
          </a:xfrm>
          <a:prstGeom prst="rect">
            <a:avLst/>
          </a:prstGeom>
          <a:solidFill>
            <a:srgbClr val="A678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664208"/>
            <a:ext cx="10332720" cy="457200"/>
          </a:xfrm>
          <a:prstGeom prst="rect">
            <a:avLst/>
          </a:prstGeom>
          <a:noFill/>
        </p:spPr>
        <p:txBody>
          <a:bodyPr wrap="square" anchor="t">
            <a:spAutoFit/>
          </a:bodyPr>
          <a:lstStyle/>
          <a:p>
            <a:pPr algn="l"/>
            <a:r>
              <a:rPr sz="1600" b="1">
                <a:solidFill>
                  <a:srgbClr val="2C2A26"/>
                </a:solidFill>
                <a:latin typeface="Calibri"/>
              </a:rPr>
              <a:t>Preview Evening</a:t>
            </a:r>
          </a:p>
        </p:txBody>
      </p:sp>
      <p:sp>
        <p:nvSpPr>
          <p:cNvPr id="10" name="TextBox 9"/>
          <p:cNvSpPr txBox="1"/>
          <p:nvPr/>
        </p:nvSpPr>
        <p:spPr>
          <a:xfrm>
            <a:off x="960120" y="2057400"/>
            <a:ext cx="10332720" cy="987552"/>
          </a:xfrm>
          <a:prstGeom prst="rect">
            <a:avLst/>
          </a:prstGeom>
          <a:noFill/>
        </p:spPr>
        <p:txBody>
          <a:bodyPr wrap="square" anchor="t">
            <a:spAutoFit/>
          </a:bodyPr>
          <a:lstStyle/>
          <a:p>
            <a:pPr algn="l"/>
            <a:r>
              <a:rPr sz="1300" b="0">
                <a:solidFill>
                  <a:srgbClr val="6B655C"/>
                </a:solidFill>
                <a:latin typeface="Calibri"/>
              </a:rPr>
              <a:t>A press and collector preview runs the evening before the public opening. It gives writers quiet time with the work and lets committed collectors place reserves before the floor fills. The guest list is kept tight and personal.</a:t>
            </a:r>
          </a:p>
        </p:txBody>
      </p:sp>
      <p:sp>
        <p:nvSpPr>
          <p:cNvPr id="11" name="Rounded Rectangle 10"/>
          <p:cNvSpPr/>
          <p:nvPr/>
        </p:nvSpPr>
        <p:spPr>
          <a:xfrm>
            <a:off x="640080" y="3200400"/>
            <a:ext cx="10881360" cy="153619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40080" y="3200400"/>
            <a:ext cx="146304" cy="1536192"/>
          </a:xfrm>
          <a:prstGeom prst="rect">
            <a:avLst/>
          </a:prstGeom>
          <a:solidFill>
            <a:srgbClr val="A678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3310128"/>
            <a:ext cx="10332720" cy="457200"/>
          </a:xfrm>
          <a:prstGeom prst="rect">
            <a:avLst/>
          </a:prstGeom>
          <a:noFill/>
        </p:spPr>
        <p:txBody>
          <a:bodyPr wrap="square" anchor="t">
            <a:spAutoFit/>
          </a:bodyPr>
          <a:lstStyle/>
          <a:p>
            <a:pPr algn="l"/>
            <a:r>
              <a:rPr sz="1600" b="1">
                <a:solidFill>
                  <a:srgbClr val="2C2A26"/>
                </a:solidFill>
                <a:latin typeface="Calibri"/>
              </a:rPr>
              <a:t>Press Materials</a:t>
            </a:r>
          </a:p>
        </p:txBody>
      </p:sp>
      <p:sp>
        <p:nvSpPr>
          <p:cNvPr id="14" name="TextBox 13"/>
          <p:cNvSpPr txBox="1"/>
          <p:nvPr/>
        </p:nvSpPr>
        <p:spPr>
          <a:xfrm>
            <a:off x="960120" y="3703320"/>
            <a:ext cx="10332720" cy="987552"/>
          </a:xfrm>
          <a:prstGeom prst="rect">
            <a:avLst/>
          </a:prstGeom>
          <a:noFill/>
        </p:spPr>
        <p:txBody>
          <a:bodyPr wrap="square" anchor="t">
            <a:spAutoFit/>
          </a:bodyPr>
          <a:lstStyle/>
          <a:p>
            <a:pPr algn="l"/>
            <a:r>
              <a:rPr sz="1300" b="0">
                <a:solidFill>
                  <a:srgbClr val="6B655C"/>
                </a:solidFill>
                <a:latin typeface="Calibri"/>
              </a:rPr>
              <a:t>A short statement, a tight image set, and a list of available works go out to regional arts press ahead of the preview. The narrative leads with the landscape source, not the technique, so coverage stays about the seeing.</a:t>
            </a:r>
          </a:p>
        </p:txBody>
      </p:sp>
      <p:sp>
        <p:nvSpPr>
          <p:cNvPr id="15" name="Rounded Rectangle 14"/>
          <p:cNvSpPr/>
          <p:nvPr/>
        </p:nvSpPr>
        <p:spPr>
          <a:xfrm>
            <a:off x="640080" y="4846320"/>
            <a:ext cx="10881360" cy="153619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40080" y="4846320"/>
            <a:ext cx="146304" cy="1536192"/>
          </a:xfrm>
          <a:prstGeom prst="rect">
            <a:avLst/>
          </a:prstGeom>
          <a:solidFill>
            <a:srgbClr val="A678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0120" y="4956048"/>
            <a:ext cx="10332720" cy="457200"/>
          </a:xfrm>
          <a:prstGeom prst="rect">
            <a:avLst/>
          </a:prstGeom>
          <a:noFill/>
        </p:spPr>
        <p:txBody>
          <a:bodyPr wrap="square" anchor="t">
            <a:spAutoFit/>
          </a:bodyPr>
          <a:lstStyle/>
          <a:p>
            <a:pPr algn="l"/>
            <a:r>
              <a:rPr sz="1600" b="1">
                <a:solidFill>
                  <a:srgbClr val="2C2A26"/>
                </a:solidFill>
                <a:latin typeface="Calibri"/>
              </a:rPr>
              <a:t>Collector Reserves</a:t>
            </a:r>
          </a:p>
        </p:txBody>
      </p:sp>
      <p:sp>
        <p:nvSpPr>
          <p:cNvPr id="18" name="TextBox 17"/>
          <p:cNvSpPr txBox="1"/>
          <p:nvPr/>
        </p:nvSpPr>
        <p:spPr>
          <a:xfrm>
            <a:off x="960120" y="5349240"/>
            <a:ext cx="10332720" cy="987552"/>
          </a:xfrm>
          <a:prstGeom prst="rect">
            <a:avLst/>
          </a:prstGeom>
          <a:noFill/>
        </p:spPr>
        <p:txBody>
          <a:bodyPr wrap="square" anchor="t">
            <a:spAutoFit/>
          </a:bodyPr>
          <a:lstStyle/>
          <a:p>
            <a:pPr algn="l"/>
            <a:r>
              <a:rPr sz="1300" b="0">
                <a:solidFill>
                  <a:srgbClr val="6B655C"/>
                </a:solidFill>
                <a:latin typeface="Calibri"/>
              </a:rPr>
              <a:t>Reserves taken at the preview are honored for forty eight hours after the public opening. That window respects early interest without freezing the show. Sales are coordinated through the museum and the gallery together.</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1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3B4A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0080" y="1170432"/>
            <a:ext cx="2377440" cy="73152"/>
          </a:xfrm>
          <a:prstGeom prst="rect">
            <a:avLst/>
          </a:prstGeom>
          <a:solidFill>
            <a:srgbClr val="A678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0607040" y="274320"/>
            <a:ext cx="868680" cy="502920"/>
          </a:xfrm>
          <a:prstGeom prst="roundRect">
            <a:avLst/>
          </a:prstGeom>
          <a:solidFill>
            <a:srgbClr val="A6783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rPr>
              <a:t>04 / 05</a:t>
            </a:r>
          </a:p>
        </p:txBody>
      </p:sp>
      <p:sp>
        <p:nvSpPr>
          <p:cNvPr id="6" name="TextBox 5"/>
          <p:cNvSpPr txBox="1"/>
          <p:nvPr/>
        </p:nvSpPr>
        <p:spPr>
          <a:xfrm>
            <a:off x="640080" y="256032"/>
            <a:ext cx="9601200" cy="731520"/>
          </a:xfrm>
          <a:prstGeom prst="rect">
            <a:avLst/>
          </a:prstGeom>
          <a:noFill/>
        </p:spPr>
        <p:txBody>
          <a:bodyPr wrap="square" anchor="ctr">
            <a:spAutoFit/>
          </a:bodyPr>
          <a:lstStyle/>
          <a:p>
            <a:pPr algn="l"/>
            <a:r>
              <a:rPr sz="2600" b="1">
                <a:solidFill>
                  <a:srgbClr val="FFFFFF"/>
                </a:solidFill>
                <a:latin typeface="Calibri"/>
              </a:rPr>
              <a:t>The October 2026 Opening</a:t>
            </a:r>
          </a:p>
        </p:txBody>
      </p:sp>
      <p:sp>
        <p:nvSpPr>
          <p:cNvPr id="7" name="Rounded Rectangle 6"/>
          <p:cNvSpPr/>
          <p:nvPr/>
        </p:nvSpPr>
        <p:spPr>
          <a:xfrm>
            <a:off x="640080" y="1554480"/>
            <a:ext cx="10881360" cy="153619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40080" y="1554480"/>
            <a:ext cx="146304" cy="1536192"/>
          </a:xfrm>
          <a:prstGeom prst="rect">
            <a:avLst/>
          </a:prstGeom>
          <a:solidFill>
            <a:srgbClr val="A678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664208"/>
            <a:ext cx="10332720" cy="457200"/>
          </a:xfrm>
          <a:prstGeom prst="rect">
            <a:avLst/>
          </a:prstGeom>
          <a:noFill/>
        </p:spPr>
        <p:txBody>
          <a:bodyPr wrap="square" anchor="t">
            <a:spAutoFit/>
          </a:bodyPr>
          <a:lstStyle/>
          <a:p>
            <a:pPr algn="l"/>
            <a:r>
              <a:rPr sz="1600" b="1">
                <a:solidFill>
                  <a:srgbClr val="2C2A26"/>
                </a:solidFill>
                <a:latin typeface="Calibri"/>
              </a:rPr>
              <a:t>Opening Night</a:t>
            </a:r>
          </a:p>
        </p:txBody>
      </p:sp>
      <p:sp>
        <p:nvSpPr>
          <p:cNvPr id="10" name="TextBox 9"/>
          <p:cNvSpPr txBox="1"/>
          <p:nvPr/>
        </p:nvSpPr>
        <p:spPr>
          <a:xfrm>
            <a:off x="960120" y="2057400"/>
            <a:ext cx="10332720" cy="987552"/>
          </a:xfrm>
          <a:prstGeom prst="rect">
            <a:avLst/>
          </a:prstGeom>
          <a:noFill/>
        </p:spPr>
        <p:txBody>
          <a:bodyPr wrap="square" anchor="t">
            <a:spAutoFit/>
          </a:bodyPr>
          <a:lstStyle/>
          <a:p>
            <a:pPr algn="l"/>
            <a:r>
              <a:rPr sz="1300" b="0">
                <a:solidFill>
                  <a:srgbClr val="6B655C"/>
                </a:solidFill>
                <a:latin typeface="Calibri"/>
              </a:rPr>
              <a:t>The public opening is the single largest milestone of my own practice to date. It is a solo museum show, not a gallery slot, and it carries the full vessel series in one room. I will give a short floor talk early in the evening.</a:t>
            </a:r>
          </a:p>
        </p:txBody>
      </p:sp>
      <p:sp>
        <p:nvSpPr>
          <p:cNvPr id="11" name="Rounded Rectangle 10"/>
          <p:cNvSpPr/>
          <p:nvPr/>
        </p:nvSpPr>
        <p:spPr>
          <a:xfrm>
            <a:off x="640080" y="3200400"/>
            <a:ext cx="10881360" cy="153619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40080" y="3200400"/>
            <a:ext cx="146304" cy="1536192"/>
          </a:xfrm>
          <a:prstGeom prst="rect">
            <a:avLst/>
          </a:prstGeom>
          <a:solidFill>
            <a:srgbClr val="A678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3310128"/>
            <a:ext cx="10332720" cy="457200"/>
          </a:xfrm>
          <a:prstGeom prst="rect">
            <a:avLst/>
          </a:prstGeom>
          <a:noFill/>
        </p:spPr>
        <p:txBody>
          <a:bodyPr wrap="square" anchor="t">
            <a:spAutoFit/>
          </a:bodyPr>
          <a:lstStyle/>
          <a:p>
            <a:pPr algn="l"/>
            <a:r>
              <a:rPr sz="1600" b="1">
                <a:solidFill>
                  <a:srgbClr val="2C2A26"/>
                </a:solidFill>
                <a:latin typeface="Calibri"/>
              </a:rPr>
              <a:t>Run of the Show</a:t>
            </a:r>
          </a:p>
        </p:txBody>
      </p:sp>
      <p:sp>
        <p:nvSpPr>
          <p:cNvPr id="14" name="TextBox 13"/>
          <p:cNvSpPr txBox="1"/>
          <p:nvPr/>
        </p:nvSpPr>
        <p:spPr>
          <a:xfrm>
            <a:off x="960120" y="3703320"/>
            <a:ext cx="10332720" cy="987552"/>
          </a:xfrm>
          <a:prstGeom prst="rect">
            <a:avLst/>
          </a:prstGeom>
          <a:noFill/>
        </p:spPr>
        <p:txBody>
          <a:bodyPr wrap="square" anchor="t">
            <a:spAutoFit/>
          </a:bodyPr>
          <a:lstStyle/>
          <a:p>
            <a:pPr algn="l"/>
            <a:r>
              <a:rPr sz="1300" b="0">
                <a:solidFill>
                  <a:srgbClr val="6B655C"/>
                </a:solidFill>
                <a:latin typeface="Calibri"/>
              </a:rPr>
              <a:t>The exhibition stays up well past opening week so school groups and weekday visitors get unhurried time with the work. Programming includes one weekend coil building demonstration. The run extends into the following year.</a:t>
            </a:r>
          </a:p>
        </p:txBody>
      </p:sp>
      <p:sp>
        <p:nvSpPr>
          <p:cNvPr id="15" name="Rounded Rectangle 14"/>
          <p:cNvSpPr/>
          <p:nvPr/>
        </p:nvSpPr>
        <p:spPr>
          <a:xfrm>
            <a:off x="640080" y="4846320"/>
            <a:ext cx="10881360" cy="153619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40080" y="4846320"/>
            <a:ext cx="146304" cy="1536192"/>
          </a:xfrm>
          <a:prstGeom prst="rect">
            <a:avLst/>
          </a:prstGeom>
          <a:solidFill>
            <a:srgbClr val="A678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0120" y="4956048"/>
            <a:ext cx="10332720" cy="457200"/>
          </a:xfrm>
          <a:prstGeom prst="rect">
            <a:avLst/>
          </a:prstGeom>
          <a:noFill/>
        </p:spPr>
        <p:txBody>
          <a:bodyPr wrap="square" anchor="t">
            <a:spAutoFit/>
          </a:bodyPr>
          <a:lstStyle/>
          <a:p>
            <a:pPr algn="l"/>
            <a:r>
              <a:rPr sz="1600" b="1">
                <a:solidFill>
                  <a:srgbClr val="2C2A26"/>
                </a:solidFill>
                <a:latin typeface="Calibri"/>
              </a:rPr>
              <a:t>What Success Looks Like</a:t>
            </a:r>
          </a:p>
        </p:txBody>
      </p:sp>
      <p:sp>
        <p:nvSpPr>
          <p:cNvPr id="18" name="TextBox 17"/>
          <p:cNvSpPr txBox="1"/>
          <p:nvPr/>
        </p:nvSpPr>
        <p:spPr>
          <a:xfrm>
            <a:off x="960120" y="5349240"/>
            <a:ext cx="10332720" cy="987552"/>
          </a:xfrm>
          <a:prstGeom prst="rect">
            <a:avLst/>
          </a:prstGeom>
          <a:noFill/>
        </p:spPr>
        <p:txBody>
          <a:bodyPr wrap="square" anchor="t">
            <a:spAutoFit/>
          </a:bodyPr>
          <a:lstStyle/>
          <a:p>
            <a:pPr algn="l"/>
            <a:r>
              <a:rPr sz="1300" b="0">
                <a:solidFill>
                  <a:srgbClr val="6B655C"/>
                </a:solidFill>
                <a:latin typeface="Calibri"/>
              </a:rPr>
              <a:t>Success is a fully realized room, careful press, and two or three placements with collections that will keep the series visible. The opening is the start of the show, not the finish line. Everything before it serves that night.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1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3B4A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0080" y="1170432"/>
            <a:ext cx="2377440" cy="73152"/>
          </a:xfrm>
          <a:prstGeom prst="rect">
            <a:avLst/>
          </a:prstGeom>
          <a:solidFill>
            <a:srgbClr val="A678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0607040" y="274320"/>
            <a:ext cx="868680" cy="502920"/>
          </a:xfrm>
          <a:prstGeom prst="roundRect">
            <a:avLst/>
          </a:prstGeom>
          <a:solidFill>
            <a:srgbClr val="A6783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rPr>
              <a:t>05 / 05</a:t>
            </a:r>
          </a:p>
        </p:txBody>
      </p:sp>
      <p:sp>
        <p:nvSpPr>
          <p:cNvPr id="6" name="TextBox 5"/>
          <p:cNvSpPr txBox="1"/>
          <p:nvPr/>
        </p:nvSpPr>
        <p:spPr>
          <a:xfrm>
            <a:off x="640080" y="256032"/>
            <a:ext cx="9601200" cy="731520"/>
          </a:xfrm>
          <a:prstGeom prst="rect">
            <a:avLst/>
          </a:prstGeom>
          <a:noFill/>
        </p:spPr>
        <p:txBody>
          <a:bodyPr wrap="square" anchor="ctr">
            <a:spAutoFit/>
          </a:bodyPr>
          <a:lstStyle/>
          <a:p>
            <a:pPr algn="l"/>
            <a:r>
              <a:rPr sz="2600" b="1">
                <a:solidFill>
                  <a:srgbClr val="FFFFFF"/>
                </a:solidFill>
                <a:latin typeface="Calibri"/>
              </a:rPr>
              <a:t>Loan and Insurance Checklist</a:t>
            </a:r>
          </a:p>
        </p:txBody>
      </p:sp>
      <p:sp>
        <p:nvSpPr>
          <p:cNvPr id="7" name="Rounded Rectangle 6"/>
          <p:cNvSpPr/>
          <p:nvPr/>
        </p:nvSpPr>
        <p:spPr>
          <a:xfrm>
            <a:off x="640080" y="1554480"/>
            <a:ext cx="10881360" cy="153619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40080" y="1554480"/>
            <a:ext cx="146304" cy="1536192"/>
          </a:xfrm>
          <a:prstGeom prst="rect">
            <a:avLst/>
          </a:prstGeom>
          <a:solidFill>
            <a:srgbClr val="A678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664208"/>
            <a:ext cx="10332720" cy="457200"/>
          </a:xfrm>
          <a:prstGeom prst="rect">
            <a:avLst/>
          </a:prstGeom>
          <a:noFill/>
        </p:spPr>
        <p:txBody>
          <a:bodyPr wrap="square" anchor="t">
            <a:spAutoFit/>
          </a:bodyPr>
          <a:lstStyle/>
          <a:p>
            <a:pPr algn="l"/>
            <a:r>
              <a:rPr sz="1600" b="1">
                <a:solidFill>
                  <a:srgbClr val="2C2A26"/>
                </a:solidFill>
                <a:latin typeface="Calibri"/>
              </a:rPr>
              <a:t>Loan Agreement</a:t>
            </a:r>
          </a:p>
        </p:txBody>
      </p:sp>
      <p:sp>
        <p:nvSpPr>
          <p:cNvPr id="10" name="TextBox 9"/>
          <p:cNvSpPr txBox="1"/>
          <p:nvPr/>
        </p:nvSpPr>
        <p:spPr>
          <a:xfrm>
            <a:off x="960120" y="2057400"/>
            <a:ext cx="10332720" cy="987552"/>
          </a:xfrm>
          <a:prstGeom prst="rect">
            <a:avLst/>
          </a:prstGeom>
          <a:noFill/>
        </p:spPr>
        <p:txBody>
          <a:bodyPr wrap="square" anchor="t">
            <a:spAutoFit/>
          </a:bodyPr>
          <a:lstStyle/>
          <a:p>
            <a:pPr algn="l"/>
            <a:r>
              <a:rPr sz="1300" b="0">
                <a:solidFill>
                  <a:srgbClr val="6B655C"/>
                </a:solidFill>
                <a:latin typeface="Calibri"/>
              </a:rPr>
              <a:t>A signed loan agreement covers each vessel by title, dimensions, and value before transit. It names the responsible parties for handling, display, and return. Nothing leaves the studio without it executed.</a:t>
            </a:r>
          </a:p>
        </p:txBody>
      </p:sp>
      <p:sp>
        <p:nvSpPr>
          <p:cNvPr id="11" name="Rounded Rectangle 10"/>
          <p:cNvSpPr/>
          <p:nvPr/>
        </p:nvSpPr>
        <p:spPr>
          <a:xfrm>
            <a:off x="640080" y="3200400"/>
            <a:ext cx="10881360" cy="153619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40080" y="3200400"/>
            <a:ext cx="146304" cy="1536192"/>
          </a:xfrm>
          <a:prstGeom prst="rect">
            <a:avLst/>
          </a:prstGeom>
          <a:solidFill>
            <a:srgbClr val="A678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3310128"/>
            <a:ext cx="10332720" cy="457200"/>
          </a:xfrm>
          <a:prstGeom prst="rect">
            <a:avLst/>
          </a:prstGeom>
          <a:noFill/>
        </p:spPr>
        <p:txBody>
          <a:bodyPr wrap="square" anchor="t">
            <a:spAutoFit/>
          </a:bodyPr>
          <a:lstStyle/>
          <a:p>
            <a:pPr algn="l"/>
            <a:r>
              <a:rPr sz="1600" b="1">
                <a:solidFill>
                  <a:srgbClr val="2C2A26"/>
                </a:solidFill>
                <a:latin typeface="Calibri"/>
              </a:rPr>
              <a:t>Wall to Wall Coverage</a:t>
            </a:r>
          </a:p>
        </p:txBody>
      </p:sp>
      <p:sp>
        <p:nvSpPr>
          <p:cNvPr id="14" name="TextBox 13"/>
          <p:cNvSpPr txBox="1"/>
          <p:nvPr/>
        </p:nvSpPr>
        <p:spPr>
          <a:xfrm>
            <a:off x="960120" y="3703320"/>
            <a:ext cx="10332720" cy="987552"/>
          </a:xfrm>
          <a:prstGeom prst="rect">
            <a:avLst/>
          </a:prstGeom>
          <a:noFill/>
        </p:spPr>
        <p:txBody>
          <a:bodyPr wrap="square" anchor="t">
            <a:spAutoFit/>
          </a:bodyPr>
          <a:lstStyle/>
          <a:p>
            <a:pPr algn="l"/>
            <a:r>
              <a:rPr sz="1300" b="0">
                <a:solidFill>
                  <a:srgbClr val="6B655C"/>
                </a:solidFill>
                <a:latin typeface="Calibri"/>
              </a:rPr>
              <a:t>Insurance is wall to wall, meaning coverage runs from the moment a crate leaves the studio through transit, install, the full run, and the return. Values are set against recent comparable sales of my work. Lena keeps the schedule of values current.</a:t>
            </a:r>
          </a:p>
        </p:txBody>
      </p:sp>
      <p:sp>
        <p:nvSpPr>
          <p:cNvPr id="15" name="Rounded Rectangle 14"/>
          <p:cNvSpPr/>
          <p:nvPr/>
        </p:nvSpPr>
        <p:spPr>
          <a:xfrm>
            <a:off x="640080" y="4846320"/>
            <a:ext cx="10881360" cy="153619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40080" y="4846320"/>
            <a:ext cx="146304" cy="1536192"/>
          </a:xfrm>
          <a:prstGeom prst="rect">
            <a:avLst/>
          </a:prstGeom>
          <a:solidFill>
            <a:srgbClr val="A678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0120" y="4956048"/>
            <a:ext cx="10332720" cy="457200"/>
          </a:xfrm>
          <a:prstGeom prst="rect">
            <a:avLst/>
          </a:prstGeom>
          <a:noFill/>
        </p:spPr>
        <p:txBody>
          <a:bodyPr wrap="square" anchor="t">
            <a:spAutoFit/>
          </a:bodyPr>
          <a:lstStyle/>
          <a:p>
            <a:pPr algn="l"/>
            <a:r>
              <a:rPr sz="1600" b="1">
                <a:solidFill>
                  <a:srgbClr val="2C2A26"/>
                </a:solidFill>
                <a:latin typeface="Calibri"/>
              </a:rPr>
              <a:t>Condition and Return</a:t>
            </a:r>
          </a:p>
        </p:txBody>
      </p:sp>
      <p:sp>
        <p:nvSpPr>
          <p:cNvPr id="18" name="TextBox 17"/>
          <p:cNvSpPr txBox="1"/>
          <p:nvPr/>
        </p:nvSpPr>
        <p:spPr>
          <a:xfrm>
            <a:off x="960120" y="5349240"/>
            <a:ext cx="10332720" cy="987552"/>
          </a:xfrm>
          <a:prstGeom prst="rect">
            <a:avLst/>
          </a:prstGeom>
          <a:noFill/>
        </p:spPr>
        <p:txBody>
          <a:bodyPr wrap="square" anchor="t">
            <a:spAutoFit/>
          </a:bodyPr>
          <a:lstStyle/>
          <a:p>
            <a:pPr algn="l"/>
            <a:r>
              <a:rPr sz="1300" b="0">
                <a:solidFill>
                  <a:srgbClr val="6B655C"/>
                </a:solidFill>
                <a:latin typeface="Calibri"/>
              </a:rPr>
              <a:t>Condition reports are signed at every handoff, with the same photo set used at crating and at unpack. At close, works are recrated in their original saddles and returned on a single booked day. The file closes only when each report matches.</a:t>
            </a:r>
          </a:p>
        </p:txBody>
      </p:sp>
      <p:sp>
        <p:nvSpPr>
          <p:cNvPr id="19" name="TextBox 18"/>
          <p:cNvSpPr txBox="1"/>
          <p:nvPr/>
        </p:nvSpPr>
        <p:spPr>
          <a:xfrm>
            <a:off x="640080" y="6446520"/>
            <a:ext cx="10972800" cy="365760"/>
          </a:xfrm>
          <a:prstGeom prst="rect">
            <a:avLst/>
          </a:prstGeom>
          <a:noFill/>
        </p:spPr>
        <p:txBody>
          <a:bodyPr wrap="square" anchor="t">
            <a:spAutoFit/>
          </a:bodyPr>
          <a:lstStyle/>
          <a:p>
            <a:pPr algn="l"/>
            <a:r>
              <a:rPr sz="1100" b="0">
                <a:solidFill>
                  <a:srgbClr val="6B655C"/>
                </a:solidFill>
                <a:latin typeface="Calibri"/>
              </a:rPr>
              <a:t>Personal art sales run about 65,000 dollars a year and set the comparable values used for coverage.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       Theme">
  <a:themeElements>
    <a:clrScheme name="      ">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      ">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          Yi Baiti"/>
        <a:font script="Tibt" typeface="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          Yi Baiti"/>
        <a:font script="Tibt" typeface="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          Uighur"/>
        <a:font script="Geor" typeface="Sylfaen"/>
      </a:minorFont>
    </a:fontScheme>
    <a:fmtScheme name="      ">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Application>Workspace Presentation</Application>
  <Company>Personal</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Kristy Blackwell</dc:creator>
  <cp:lastModifiedBy>Kristy Blackwell</cp:lastModifiedBy>
  <dcterms:created xsi:type="dcterms:W3CDTF">2026-02-12T10:00:00Z</dcterms:created>
  <dcterms:modified xsi:type="dcterms:W3CDTF">2026-02-12T10:00:00Z</dcterms:modified>
</cp:coreProperties>
</file>