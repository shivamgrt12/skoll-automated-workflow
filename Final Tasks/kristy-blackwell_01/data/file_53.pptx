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5603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920240"/>
            <a:ext cx="146304" cy="2194560"/>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852160"/>
            <a:ext cx="12191695" cy="1005840"/>
          </a:xfrm>
          <a:prstGeom prst="rect">
            <a:avLst/>
          </a:prstGeom>
          <a:solidFill>
            <a:srgbClr val="3B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17320"/>
            <a:ext cx="10058400" cy="457200"/>
          </a:xfrm>
          <a:prstGeom prst="rect">
            <a:avLst/>
          </a:prstGeom>
          <a:noFill/>
        </p:spPr>
        <p:txBody>
          <a:bodyPr wrap="square" anchor="t">
            <a:spAutoFit/>
          </a:bodyPr>
          <a:lstStyle/>
          <a:p>
            <a:pPr algn="l"/>
            <a:r>
              <a:rPr sz="1600" b="1">
                <a:solidFill>
                  <a:srgbClr val="A6783C"/>
                </a:solidFill>
                <a:latin typeface="Calibri"/>
              </a:rPr>
              <a:t>REPRESENTATION PROGRAM</a:t>
            </a:r>
          </a:p>
        </p:txBody>
      </p:sp>
      <p:sp>
        <p:nvSpPr>
          <p:cNvPr id="7" name="TextBox 6"/>
          <p:cNvSpPr txBox="1"/>
          <p:nvPr/>
        </p:nvSpPr>
        <p:spPr>
          <a:xfrm>
            <a:off x="914400" y="1828800"/>
            <a:ext cx="10332720" cy="2377440"/>
          </a:xfrm>
          <a:prstGeom prst="rect">
            <a:avLst/>
          </a:prstGeom>
          <a:noFill/>
        </p:spPr>
        <p:txBody>
          <a:bodyPr wrap="square" anchor="t">
            <a:spAutoFit/>
          </a:bodyPr>
          <a:lstStyle/>
          <a:p>
            <a:pPr algn="l"/>
            <a:r>
              <a:rPr sz="4400" b="1">
                <a:solidFill>
                  <a:srgbClr val="2C2A26"/>
                </a:solidFill>
                <a:latin typeface="Calibri"/>
              </a:rPr>
              <a:t>Signing and Supporting Artists</a:t>
            </a:r>
          </a:p>
        </p:txBody>
      </p:sp>
      <p:sp>
        <p:nvSpPr>
          <p:cNvPr id="8" name="TextBox 7"/>
          <p:cNvSpPr txBox="1"/>
          <p:nvPr/>
        </p:nvSpPr>
        <p:spPr>
          <a:xfrm>
            <a:off x="960120" y="4206240"/>
            <a:ext cx="9601200" cy="1280160"/>
          </a:xfrm>
          <a:prstGeom prst="rect">
            <a:avLst/>
          </a:prstGeom>
          <a:noFill/>
        </p:spPr>
        <p:txBody>
          <a:bodyPr wrap="square" anchor="t">
            <a:spAutoFit/>
          </a:bodyPr>
          <a:lstStyle/>
          <a:p>
            <a:pPr algn="l"/>
            <a:r>
              <a:rPr sz="1900" b="0">
                <a:solidFill>
                  <a:srgbClr val="6B655C"/>
                </a:solidFill>
                <a:latin typeface="Calibri"/>
              </a:rPr>
              <a:t>How Modern Edge selects, onboards, and promotes eighteen emerging artists on a 50 percent split.</a:t>
            </a:r>
          </a:p>
        </p:txBody>
      </p:sp>
      <p:sp>
        <p:nvSpPr>
          <p:cNvPr id="9" name="TextBox 8"/>
          <p:cNvSpPr txBox="1"/>
          <p:nvPr/>
        </p:nvSpPr>
        <p:spPr>
          <a:xfrm>
            <a:off x="960120" y="5989320"/>
            <a:ext cx="10058400" cy="640080"/>
          </a:xfrm>
          <a:prstGeom prst="rect">
            <a:avLst/>
          </a:prstGeom>
          <a:noFill/>
        </p:spPr>
        <p:txBody>
          <a:bodyPr wrap="square" anchor="ctr">
            <a:spAutoFit/>
          </a:bodyPr>
          <a:lstStyle/>
          <a:p>
            <a:pPr algn="l"/>
            <a:r>
              <a:rPr sz="1300" b="1">
                <a:solidFill>
                  <a:srgbClr val="FFFFFF"/>
                </a:solidFill>
                <a:latin typeface="Calibri"/>
              </a:rPr>
              <a:t>Prepared by Kristy Blackwell, Albuquerque, New Mexico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3B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170432"/>
            <a:ext cx="2377440" cy="7315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607040" y="274320"/>
            <a:ext cx="868680" cy="502920"/>
          </a:xfrm>
          <a:prstGeom prst="round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01 / 04</a:t>
            </a:r>
          </a:p>
        </p:txBody>
      </p:sp>
      <p:sp>
        <p:nvSpPr>
          <p:cNvPr id="6" name="TextBox 5"/>
          <p:cNvSpPr txBox="1"/>
          <p:nvPr/>
        </p:nvSpPr>
        <p:spPr>
          <a:xfrm>
            <a:off x="640080" y="256032"/>
            <a:ext cx="9601200" cy="731520"/>
          </a:xfrm>
          <a:prstGeom prst="rect">
            <a:avLst/>
          </a:prstGeom>
          <a:noFill/>
        </p:spPr>
        <p:txBody>
          <a:bodyPr wrap="square" anchor="ctr">
            <a:spAutoFit/>
          </a:bodyPr>
          <a:lstStyle/>
          <a:p>
            <a:pPr algn="l"/>
            <a:r>
              <a:rPr sz="2600" b="1">
                <a:solidFill>
                  <a:srgbClr val="FFFFFF"/>
                </a:solidFill>
                <a:latin typeface="Calibri"/>
              </a:rPr>
              <a:t>How We Select Artists</a:t>
            </a:r>
          </a:p>
        </p:txBody>
      </p:sp>
      <p:sp>
        <p:nvSpPr>
          <p:cNvPr id="7" name="Rounded Rectangle 6"/>
          <p:cNvSpPr/>
          <p:nvPr/>
        </p:nvSpPr>
        <p:spPr>
          <a:xfrm>
            <a:off x="640080" y="155448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5448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64208"/>
            <a:ext cx="10332720" cy="457200"/>
          </a:xfrm>
          <a:prstGeom prst="rect">
            <a:avLst/>
          </a:prstGeom>
          <a:noFill/>
        </p:spPr>
        <p:txBody>
          <a:bodyPr wrap="square" anchor="t">
            <a:spAutoFit/>
          </a:bodyPr>
          <a:lstStyle/>
          <a:p>
            <a:pPr algn="l"/>
            <a:r>
              <a:rPr sz="1600" b="1">
                <a:solidFill>
                  <a:srgbClr val="2C2A26"/>
                </a:solidFill>
                <a:latin typeface="Calibri"/>
              </a:rPr>
              <a:t>What I Look For</a:t>
            </a:r>
          </a:p>
        </p:txBody>
      </p:sp>
      <p:sp>
        <p:nvSpPr>
          <p:cNvPr id="10" name="TextBox 9"/>
          <p:cNvSpPr txBox="1"/>
          <p:nvPr/>
        </p:nvSpPr>
        <p:spPr>
          <a:xfrm>
            <a:off x="960120" y="2057400"/>
            <a:ext cx="10332720" cy="987552"/>
          </a:xfrm>
          <a:prstGeom prst="rect">
            <a:avLst/>
          </a:prstGeom>
          <a:noFill/>
        </p:spPr>
        <p:txBody>
          <a:bodyPr wrap="square" anchor="t">
            <a:spAutoFit/>
          </a:bodyPr>
          <a:lstStyle/>
          <a:p>
            <a:pPr algn="l"/>
            <a:r>
              <a:rPr sz="1300" b="0">
                <a:solidFill>
                  <a:srgbClr val="6B655C"/>
                </a:solidFill>
                <a:latin typeface="Calibri"/>
              </a:rPr>
              <a:t>I sign artists with a clear body of work and a real reason to keep going, not a single strong piece. The work has to read as a practice with somewhere to travel. Promise without depth does not make the roster.</a:t>
            </a:r>
          </a:p>
        </p:txBody>
      </p:sp>
      <p:sp>
        <p:nvSpPr>
          <p:cNvPr id="11" name="Rounded Rectangle 10"/>
          <p:cNvSpPr/>
          <p:nvPr/>
        </p:nvSpPr>
        <p:spPr>
          <a:xfrm>
            <a:off x="640080" y="320040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20040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310128"/>
            <a:ext cx="10332720" cy="457200"/>
          </a:xfrm>
          <a:prstGeom prst="rect">
            <a:avLst/>
          </a:prstGeom>
          <a:noFill/>
        </p:spPr>
        <p:txBody>
          <a:bodyPr wrap="square" anchor="t">
            <a:spAutoFit/>
          </a:bodyPr>
          <a:lstStyle/>
          <a:p>
            <a:pPr algn="l"/>
            <a:r>
              <a:rPr sz="1600" b="1">
                <a:solidFill>
                  <a:srgbClr val="2C2A26"/>
                </a:solidFill>
                <a:latin typeface="Calibri"/>
              </a:rPr>
              <a:t>Studio Visits First</a:t>
            </a:r>
          </a:p>
        </p:txBody>
      </p:sp>
      <p:sp>
        <p:nvSpPr>
          <p:cNvPr id="14" name="TextBox 13"/>
          <p:cNvSpPr txBox="1"/>
          <p:nvPr/>
        </p:nvSpPr>
        <p:spPr>
          <a:xfrm>
            <a:off x="960120" y="3703320"/>
            <a:ext cx="10332720" cy="987552"/>
          </a:xfrm>
          <a:prstGeom prst="rect">
            <a:avLst/>
          </a:prstGeom>
          <a:noFill/>
        </p:spPr>
        <p:txBody>
          <a:bodyPr wrap="square" anchor="t">
            <a:spAutoFit/>
          </a:bodyPr>
          <a:lstStyle/>
          <a:p>
            <a:pPr algn="l"/>
            <a:r>
              <a:rPr sz="1300" b="0">
                <a:solidFill>
                  <a:srgbClr val="6B655C"/>
                </a:solidFill>
                <a:latin typeface="Calibri"/>
              </a:rPr>
              <a:t>Before any offer I do a studio visit, because the walls of a gallery never show how someone actually works. I want to see the unfinished pieces, the failures, and the rhythm of production. That visit tells me more than any portfolio.</a:t>
            </a:r>
          </a:p>
        </p:txBody>
      </p:sp>
      <p:sp>
        <p:nvSpPr>
          <p:cNvPr id="15" name="Rounded Rectangle 14"/>
          <p:cNvSpPr/>
          <p:nvPr/>
        </p:nvSpPr>
        <p:spPr>
          <a:xfrm>
            <a:off x="640080" y="484632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84632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956048"/>
            <a:ext cx="10332720" cy="457200"/>
          </a:xfrm>
          <a:prstGeom prst="rect">
            <a:avLst/>
          </a:prstGeom>
          <a:noFill/>
        </p:spPr>
        <p:txBody>
          <a:bodyPr wrap="square" anchor="t">
            <a:spAutoFit/>
          </a:bodyPr>
          <a:lstStyle/>
          <a:p>
            <a:pPr algn="l"/>
            <a:r>
              <a:rPr sz="1600" b="1">
                <a:solidFill>
                  <a:srgbClr val="2C2A26"/>
                </a:solidFill>
                <a:latin typeface="Calibri"/>
              </a:rPr>
              <a:t>Fit With the Roster</a:t>
            </a:r>
          </a:p>
        </p:txBody>
      </p:sp>
      <p:sp>
        <p:nvSpPr>
          <p:cNvPr id="18" name="TextBox 17"/>
          <p:cNvSpPr txBox="1"/>
          <p:nvPr/>
        </p:nvSpPr>
        <p:spPr>
          <a:xfrm>
            <a:off x="960120" y="5349240"/>
            <a:ext cx="10332720" cy="987552"/>
          </a:xfrm>
          <a:prstGeom prst="rect">
            <a:avLst/>
          </a:prstGeom>
          <a:noFill/>
        </p:spPr>
        <p:txBody>
          <a:bodyPr wrap="square" anchor="t">
            <a:spAutoFit/>
          </a:bodyPr>
          <a:lstStyle/>
          <a:p>
            <a:pPr algn="l"/>
            <a:r>
              <a:rPr sz="1300" b="0">
                <a:solidFill>
                  <a:srgbClr val="6B655C"/>
                </a:solidFill>
                <a:latin typeface="Calibri"/>
              </a:rPr>
              <a:t>A signing has to make sense next to the other seventeen artists in medium, stage, and tone. I am building a program, not collecting names. The right artist strengthens the whole season, not just one slot.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3B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170432"/>
            <a:ext cx="2377440" cy="7315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607040" y="274320"/>
            <a:ext cx="868680" cy="502920"/>
          </a:xfrm>
          <a:prstGeom prst="round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02 / 04</a:t>
            </a:r>
          </a:p>
        </p:txBody>
      </p:sp>
      <p:sp>
        <p:nvSpPr>
          <p:cNvPr id="6" name="TextBox 5"/>
          <p:cNvSpPr txBox="1"/>
          <p:nvPr/>
        </p:nvSpPr>
        <p:spPr>
          <a:xfrm>
            <a:off x="640080" y="256032"/>
            <a:ext cx="9601200" cy="731520"/>
          </a:xfrm>
          <a:prstGeom prst="rect">
            <a:avLst/>
          </a:prstGeom>
          <a:noFill/>
        </p:spPr>
        <p:txBody>
          <a:bodyPr wrap="square" anchor="ctr">
            <a:spAutoFit/>
          </a:bodyPr>
          <a:lstStyle/>
          <a:p>
            <a:pPr algn="l"/>
            <a:r>
              <a:rPr sz="2600" b="1">
                <a:solidFill>
                  <a:srgbClr val="FFFFFF"/>
                </a:solidFill>
                <a:latin typeface="Calibri"/>
              </a:rPr>
              <a:t>The Consignment Model</a:t>
            </a:r>
          </a:p>
        </p:txBody>
      </p:sp>
      <p:sp>
        <p:nvSpPr>
          <p:cNvPr id="7" name="Rounded Rectangle 6"/>
          <p:cNvSpPr/>
          <p:nvPr/>
        </p:nvSpPr>
        <p:spPr>
          <a:xfrm>
            <a:off x="640080" y="155448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5448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64208"/>
            <a:ext cx="10332720" cy="457200"/>
          </a:xfrm>
          <a:prstGeom prst="rect">
            <a:avLst/>
          </a:prstGeom>
          <a:noFill/>
        </p:spPr>
        <p:txBody>
          <a:bodyPr wrap="square" anchor="t">
            <a:spAutoFit/>
          </a:bodyPr>
          <a:lstStyle/>
          <a:p>
            <a:pPr algn="l"/>
            <a:r>
              <a:rPr sz="1600" b="1">
                <a:solidFill>
                  <a:srgbClr val="2C2A26"/>
                </a:solidFill>
                <a:latin typeface="Calibri"/>
              </a:rPr>
              <a:t>Fifty Fifty Split</a:t>
            </a:r>
          </a:p>
        </p:txBody>
      </p:sp>
      <p:sp>
        <p:nvSpPr>
          <p:cNvPr id="10" name="TextBox 9"/>
          <p:cNvSpPr txBox="1"/>
          <p:nvPr/>
        </p:nvSpPr>
        <p:spPr>
          <a:xfrm>
            <a:off x="960120" y="2057400"/>
            <a:ext cx="10332720" cy="987552"/>
          </a:xfrm>
          <a:prstGeom prst="rect">
            <a:avLst/>
          </a:prstGeom>
          <a:noFill/>
        </p:spPr>
        <p:txBody>
          <a:bodyPr wrap="square" anchor="t">
            <a:spAutoFit/>
          </a:bodyPr>
          <a:lstStyle/>
          <a:p>
            <a:pPr algn="l"/>
            <a:r>
              <a:rPr sz="1300" b="0">
                <a:solidFill>
                  <a:srgbClr val="6B655C"/>
                </a:solidFill>
                <a:latin typeface="Calibri"/>
              </a:rPr>
              <a:t>Work is taken on consignment at a 50 percent commission split. The artist keeps ownership until a piece sells, and the gallery earns its half by carrying the room, the audience, and the sale. The terms are the same for every artist on the roster.</a:t>
            </a:r>
          </a:p>
        </p:txBody>
      </p:sp>
      <p:sp>
        <p:nvSpPr>
          <p:cNvPr id="11" name="Rounded Rectangle 10"/>
          <p:cNvSpPr/>
          <p:nvPr/>
        </p:nvSpPr>
        <p:spPr>
          <a:xfrm>
            <a:off x="640080" y="320040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20040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310128"/>
            <a:ext cx="10332720" cy="457200"/>
          </a:xfrm>
          <a:prstGeom prst="rect">
            <a:avLst/>
          </a:prstGeom>
          <a:noFill/>
        </p:spPr>
        <p:txBody>
          <a:bodyPr wrap="square" anchor="t">
            <a:spAutoFit/>
          </a:bodyPr>
          <a:lstStyle/>
          <a:p>
            <a:pPr algn="l"/>
            <a:r>
              <a:rPr sz="1600" b="1">
                <a:solidFill>
                  <a:srgbClr val="2C2A26"/>
                </a:solidFill>
                <a:latin typeface="Calibri"/>
              </a:rPr>
              <a:t>Consignment Terms</a:t>
            </a:r>
          </a:p>
        </p:txBody>
      </p:sp>
      <p:sp>
        <p:nvSpPr>
          <p:cNvPr id="14" name="TextBox 13"/>
          <p:cNvSpPr txBox="1"/>
          <p:nvPr/>
        </p:nvSpPr>
        <p:spPr>
          <a:xfrm>
            <a:off x="960120" y="3703320"/>
            <a:ext cx="10332720" cy="987552"/>
          </a:xfrm>
          <a:prstGeom prst="rect">
            <a:avLst/>
          </a:prstGeom>
          <a:noFill/>
        </p:spPr>
        <p:txBody>
          <a:bodyPr wrap="square" anchor="t">
            <a:spAutoFit/>
          </a:bodyPr>
          <a:lstStyle/>
          <a:p>
            <a:pPr algn="l"/>
            <a:r>
              <a:rPr sz="1300" b="0">
                <a:solidFill>
                  <a:srgbClr val="6B655C"/>
                </a:solidFill>
                <a:latin typeface="Calibri"/>
              </a:rPr>
              <a:t>Each consignment is documented by title, dimensions, retail price, and date received, signed by both sides. Pricing is set together so the artist understands the market we are building. Nothing goes on the wall without a signed record.</a:t>
            </a:r>
          </a:p>
        </p:txBody>
      </p:sp>
      <p:sp>
        <p:nvSpPr>
          <p:cNvPr id="15" name="Rounded Rectangle 14"/>
          <p:cNvSpPr/>
          <p:nvPr/>
        </p:nvSpPr>
        <p:spPr>
          <a:xfrm>
            <a:off x="640080" y="484632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84632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956048"/>
            <a:ext cx="10332720" cy="457200"/>
          </a:xfrm>
          <a:prstGeom prst="rect">
            <a:avLst/>
          </a:prstGeom>
          <a:noFill/>
        </p:spPr>
        <p:txBody>
          <a:bodyPr wrap="square" anchor="t">
            <a:spAutoFit/>
          </a:bodyPr>
          <a:lstStyle/>
          <a:p>
            <a:pPr algn="l"/>
            <a:r>
              <a:rPr sz="1600" b="1">
                <a:solidFill>
                  <a:srgbClr val="2C2A26"/>
                </a:solidFill>
                <a:latin typeface="Calibri"/>
              </a:rPr>
              <a:t>Payment and Returns</a:t>
            </a:r>
          </a:p>
        </p:txBody>
      </p:sp>
      <p:sp>
        <p:nvSpPr>
          <p:cNvPr id="18" name="TextBox 17"/>
          <p:cNvSpPr txBox="1"/>
          <p:nvPr/>
        </p:nvSpPr>
        <p:spPr>
          <a:xfrm>
            <a:off x="960120" y="5349240"/>
            <a:ext cx="10332720" cy="987552"/>
          </a:xfrm>
          <a:prstGeom prst="rect">
            <a:avLst/>
          </a:prstGeom>
          <a:noFill/>
        </p:spPr>
        <p:txBody>
          <a:bodyPr wrap="square" anchor="t">
            <a:spAutoFit/>
          </a:bodyPr>
          <a:lstStyle/>
          <a:p>
            <a:pPr algn="l"/>
            <a:r>
              <a:rPr sz="1300" b="0">
                <a:solidFill>
                  <a:srgbClr val="6B655C"/>
                </a:solidFill>
                <a:latin typeface="Calibri"/>
              </a:rPr>
              <a:t>Artists are paid their half within thirty days of a cleared sale, not at some vague later date. Unsold work is returned in good condition at the close of a run unless we extend it by agreement. Clean accounting keeps the relationship honest.</a:t>
            </a:r>
          </a:p>
        </p:txBody>
      </p:sp>
      <p:sp>
        <p:nvSpPr>
          <p:cNvPr id="19" name="TextBox 18"/>
          <p:cNvSpPr txBox="1"/>
          <p:nvPr/>
        </p:nvSpPr>
        <p:spPr>
          <a:xfrm>
            <a:off x="640080" y="6446520"/>
            <a:ext cx="10972800" cy="365760"/>
          </a:xfrm>
          <a:prstGeom prst="rect">
            <a:avLst/>
          </a:prstGeom>
          <a:noFill/>
        </p:spPr>
        <p:txBody>
          <a:bodyPr wrap="square" anchor="t">
            <a:spAutoFit/>
          </a:bodyPr>
          <a:lstStyle/>
          <a:p>
            <a:pPr algn="l"/>
            <a:r>
              <a:rPr sz="1100" b="0">
                <a:solidFill>
                  <a:srgbClr val="6B655C"/>
                </a:solidFill>
                <a:latin typeface="Calibri"/>
              </a:rPr>
              <a:t>Annual gallery sales of about 280,000 dollars split evenly between artists and gallery under this model.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3B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170432"/>
            <a:ext cx="2377440" cy="7315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607040" y="274320"/>
            <a:ext cx="868680" cy="502920"/>
          </a:xfrm>
          <a:prstGeom prst="round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03 / 04</a:t>
            </a:r>
          </a:p>
        </p:txBody>
      </p:sp>
      <p:sp>
        <p:nvSpPr>
          <p:cNvPr id="6" name="TextBox 5"/>
          <p:cNvSpPr txBox="1"/>
          <p:nvPr/>
        </p:nvSpPr>
        <p:spPr>
          <a:xfrm>
            <a:off x="640080" y="256032"/>
            <a:ext cx="9601200" cy="731520"/>
          </a:xfrm>
          <a:prstGeom prst="rect">
            <a:avLst/>
          </a:prstGeom>
          <a:noFill/>
        </p:spPr>
        <p:txBody>
          <a:bodyPr wrap="square" anchor="ctr">
            <a:spAutoFit/>
          </a:bodyPr>
          <a:lstStyle/>
          <a:p>
            <a:pPr algn="l"/>
            <a:r>
              <a:rPr sz="2600" b="1">
                <a:solidFill>
                  <a:srgbClr val="FFFFFF"/>
                </a:solidFill>
                <a:latin typeface="Calibri"/>
              </a:rPr>
              <a:t>Promotion and Sales Support</a:t>
            </a:r>
          </a:p>
        </p:txBody>
      </p:sp>
      <p:sp>
        <p:nvSpPr>
          <p:cNvPr id="7" name="Rounded Rectangle 6"/>
          <p:cNvSpPr/>
          <p:nvPr/>
        </p:nvSpPr>
        <p:spPr>
          <a:xfrm>
            <a:off x="640080" y="155448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5448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64208"/>
            <a:ext cx="10332720" cy="457200"/>
          </a:xfrm>
          <a:prstGeom prst="rect">
            <a:avLst/>
          </a:prstGeom>
          <a:noFill/>
        </p:spPr>
        <p:txBody>
          <a:bodyPr wrap="square" anchor="t">
            <a:spAutoFit/>
          </a:bodyPr>
          <a:lstStyle/>
          <a:p>
            <a:pPr algn="l"/>
            <a:r>
              <a:rPr sz="1600" b="1">
                <a:solidFill>
                  <a:srgbClr val="2C2A26"/>
                </a:solidFill>
                <a:latin typeface="Calibri"/>
              </a:rPr>
              <a:t>Every Show Promoted</a:t>
            </a:r>
          </a:p>
        </p:txBody>
      </p:sp>
      <p:sp>
        <p:nvSpPr>
          <p:cNvPr id="10" name="TextBox 9"/>
          <p:cNvSpPr txBox="1"/>
          <p:nvPr/>
        </p:nvSpPr>
        <p:spPr>
          <a:xfrm>
            <a:off x="960120" y="2057400"/>
            <a:ext cx="10332720" cy="987552"/>
          </a:xfrm>
          <a:prstGeom prst="rect">
            <a:avLst/>
          </a:prstGeom>
          <a:noFill/>
        </p:spPr>
        <p:txBody>
          <a:bodyPr wrap="square" anchor="t">
            <a:spAutoFit/>
          </a:bodyPr>
          <a:lstStyle/>
          <a:p>
            <a:pPr algn="l"/>
            <a:r>
              <a:rPr sz="1300" b="0">
                <a:solidFill>
                  <a:srgbClr val="6B655C"/>
                </a:solidFill>
                <a:latin typeface="Calibri"/>
              </a:rPr>
              <a:t>Each exhibition gets a printed card, an email to the collector list, and a steady run of images in the weeks around the opening. We treat a first solo with the same care as an established name. The work is only as visible as the effort behind it.</a:t>
            </a:r>
          </a:p>
        </p:txBody>
      </p:sp>
      <p:sp>
        <p:nvSpPr>
          <p:cNvPr id="11" name="Rounded Rectangle 10"/>
          <p:cNvSpPr/>
          <p:nvPr/>
        </p:nvSpPr>
        <p:spPr>
          <a:xfrm>
            <a:off x="640080" y="320040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20040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310128"/>
            <a:ext cx="10332720" cy="457200"/>
          </a:xfrm>
          <a:prstGeom prst="rect">
            <a:avLst/>
          </a:prstGeom>
          <a:noFill/>
        </p:spPr>
        <p:txBody>
          <a:bodyPr wrap="square" anchor="t">
            <a:spAutoFit/>
          </a:bodyPr>
          <a:lstStyle/>
          <a:p>
            <a:pPr algn="l"/>
            <a:r>
              <a:rPr sz="1600" b="1">
                <a:solidFill>
                  <a:srgbClr val="2C2A26"/>
                </a:solidFill>
                <a:latin typeface="Calibri"/>
              </a:rPr>
              <a:t>Collector Introductions</a:t>
            </a:r>
          </a:p>
        </p:txBody>
      </p:sp>
      <p:sp>
        <p:nvSpPr>
          <p:cNvPr id="14" name="TextBox 13"/>
          <p:cNvSpPr txBox="1"/>
          <p:nvPr/>
        </p:nvSpPr>
        <p:spPr>
          <a:xfrm>
            <a:off x="960120" y="3703320"/>
            <a:ext cx="10332720" cy="987552"/>
          </a:xfrm>
          <a:prstGeom prst="rect">
            <a:avLst/>
          </a:prstGeom>
          <a:noFill/>
        </p:spPr>
        <p:txBody>
          <a:bodyPr wrap="square" anchor="t">
            <a:spAutoFit/>
          </a:bodyPr>
          <a:lstStyle/>
          <a:p>
            <a:pPr algn="l"/>
            <a:r>
              <a:rPr sz="1300" b="0">
                <a:solidFill>
                  <a:srgbClr val="6B655C"/>
                </a:solidFill>
                <a:latin typeface="Calibri"/>
              </a:rPr>
              <a:t>I introduce roster artists to collectors by hand, matching a specific work to a specific eye rather than blasting a list. Those quiet introductions place more work than any open call. Relationships, not volume, drive the 280,000 dollar year.</a:t>
            </a:r>
          </a:p>
        </p:txBody>
      </p:sp>
      <p:sp>
        <p:nvSpPr>
          <p:cNvPr id="15" name="Rounded Rectangle 14"/>
          <p:cNvSpPr/>
          <p:nvPr/>
        </p:nvSpPr>
        <p:spPr>
          <a:xfrm>
            <a:off x="640080" y="484632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84632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956048"/>
            <a:ext cx="10332720" cy="457200"/>
          </a:xfrm>
          <a:prstGeom prst="rect">
            <a:avLst/>
          </a:prstGeom>
          <a:noFill/>
        </p:spPr>
        <p:txBody>
          <a:bodyPr wrap="square" anchor="t">
            <a:spAutoFit/>
          </a:bodyPr>
          <a:lstStyle/>
          <a:p>
            <a:pPr algn="l"/>
            <a:r>
              <a:rPr sz="1600" b="1">
                <a:solidFill>
                  <a:srgbClr val="2C2A26"/>
                </a:solidFill>
                <a:latin typeface="Calibri"/>
              </a:rPr>
              <a:t>Beyond the Gallery Walls</a:t>
            </a:r>
          </a:p>
        </p:txBody>
      </p:sp>
      <p:sp>
        <p:nvSpPr>
          <p:cNvPr id="18" name="TextBox 17"/>
          <p:cNvSpPr txBox="1"/>
          <p:nvPr/>
        </p:nvSpPr>
        <p:spPr>
          <a:xfrm>
            <a:off x="960120" y="5349240"/>
            <a:ext cx="10332720" cy="987552"/>
          </a:xfrm>
          <a:prstGeom prst="rect">
            <a:avLst/>
          </a:prstGeom>
          <a:noFill/>
        </p:spPr>
        <p:txBody>
          <a:bodyPr wrap="square" anchor="t">
            <a:spAutoFit/>
          </a:bodyPr>
          <a:lstStyle/>
          <a:p>
            <a:pPr algn="l"/>
            <a:r>
              <a:rPr sz="1300" b="0">
                <a:solidFill>
                  <a:srgbClr val="6B655C"/>
                </a:solidFill>
                <a:latin typeface="Calibri"/>
              </a:rPr>
              <a:t>I push roster work toward fairs, museum curators, and regional press when a body of work is ready. A gallery that only shows on its own walls limits its artists. Part of the job is opening doors I do not own.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3B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170432"/>
            <a:ext cx="2377440" cy="7315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607040" y="274320"/>
            <a:ext cx="868680" cy="502920"/>
          </a:xfrm>
          <a:prstGeom prst="round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04 / 04</a:t>
            </a:r>
          </a:p>
        </p:txBody>
      </p:sp>
      <p:sp>
        <p:nvSpPr>
          <p:cNvPr id="6" name="TextBox 5"/>
          <p:cNvSpPr txBox="1"/>
          <p:nvPr/>
        </p:nvSpPr>
        <p:spPr>
          <a:xfrm>
            <a:off x="640080" y="256032"/>
            <a:ext cx="9601200" cy="731520"/>
          </a:xfrm>
          <a:prstGeom prst="rect">
            <a:avLst/>
          </a:prstGeom>
          <a:noFill/>
        </p:spPr>
        <p:txBody>
          <a:bodyPr wrap="square" anchor="ctr">
            <a:spAutoFit/>
          </a:bodyPr>
          <a:lstStyle/>
          <a:p>
            <a:pPr algn="l"/>
            <a:r>
              <a:rPr sz="2600" b="1">
                <a:solidFill>
                  <a:srgbClr val="FFFFFF"/>
                </a:solidFill>
                <a:latin typeface="Calibri"/>
              </a:rPr>
              <a:t>Onboarding a New Artist</a:t>
            </a:r>
          </a:p>
        </p:txBody>
      </p:sp>
      <p:sp>
        <p:nvSpPr>
          <p:cNvPr id="7" name="Rounded Rectangle 6"/>
          <p:cNvSpPr/>
          <p:nvPr/>
        </p:nvSpPr>
        <p:spPr>
          <a:xfrm>
            <a:off x="640080" y="155448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5448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64208"/>
            <a:ext cx="10332720" cy="457200"/>
          </a:xfrm>
          <a:prstGeom prst="rect">
            <a:avLst/>
          </a:prstGeom>
          <a:noFill/>
        </p:spPr>
        <p:txBody>
          <a:bodyPr wrap="square" anchor="t">
            <a:spAutoFit/>
          </a:bodyPr>
          <a:lstStyle/>
          <a:p>
            <a:pPr algn="l"/>
            <a:r>
              <a:rPr sz="1600" b="1">
                <a:solidFill>
                  <a:srgbClr val="2C2A26"/>
                </a:solidFill>
                <a:latin typeface="Calibri"/>
              </a:rPr>
              <a:t>First Thirty Days</a:t>
            </a:r>
          </a:p>
        </p:txBody>
      </p:sp>
      <p:sp>
        <p:nvSpPr>
          <p:cNvPr id="10" name="TextBox 9"/>
          <p:cNvSpPr txBox="1"/>
          <p:nvPr/>
        </p:nvSpPr>
        <p:spPr>
          <a:xfrm>
            <a:off x="960120" y="2057400"/>
            <a:ext cx="10332720" cy="987552"/>
          </a:xfrm>
          <a:prstGeom prst="rect">
            <a:avLst/>
          </a:prstGeom>
          <a:noFill/>
        </p:spPr>
        <p:txBody>
          <a:bodyPr wrap="square" anchor="t">
            <a:spAutoFit/>
          </a:bodyPr>
          <a:lstStyle/>
          <a:p>
            <a:pPr algn="l"/>
            <a:r>
              <a:rPr sz="1300" b="0">
                <a:solidFill>
                  <a:srgbClr val="6B655C"/>
                </a:solidFill>
                <a:latin typeface="Calibri"/>
              </a:rPr>
              <a:t>A new signing starts with an intake session covering inventory, pricing, image files, and biography. Lena builds the artist record and consignment sheets in the first week. We set a target opening date so production has a real horizon.</a:t>
            </a:r>
          </a:p>
        </p:txBody>
      </p:sp>
      <p:sp>
        <p:nvSpPr>
          <p:cNvPr id="11" name="Rounded Rectangle 10"/>
          <p:cNvSpPr/>
          <p:nvPr/>
        </p:nvSpPr>
        <p:spPr>
          <a:xfrm>
            <a:off x="640080" y="320040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20040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310128"/>
            <a:ext cx="10332720" cy="457200"/>
          </a:xfrm>
          <a:prstGeom prst="rect">
            <a:avLst/>
          </a:prstGeom>
          <a:noFill/>
        </p:spPr>
        <p:txBody>
          <a:bodyPr wrap="square" anchor="t">
            <a:spAutoFit/>
          </a:bodyPr>
          <a:lstStyle/>
          <a:p>
            <a:pPr algn="l"/>
            <a:r>
              <a:rPr sz="1600" b="1">
                <a:solidFill>
                  <a:srgbClr val="2C2A26"/>
                </a:solidFill>
                <a:latin typeface="Calibri"/>
              </a:rPr>
              <a:t>Building Toward a Slot</a:t>
            </a:r>
          </a:p>
        </p:txBody>
      </p:sp>
      <p:sp>
        <p:nvSpPr>
          <p:cNvPr id="14" name="TextBox 13"/>
          <p:cNvSpPr txBox="1"/>
          <p:nvPr/>
        </p:nvSpPr>
        <p:spPr>
          <a:xfrm>
            <a:off x="960120" y="3703320"/>
            <a:ext cx="10332720" cy="987552"/>
          </a:xfrm>
          <a:prstGeom prst="rect">
            <a:avLst/>
          </a:prstGeom>
          <a:noFill/>
        </p:spPr>
        <p:txBody>
          <a:bodyPr wrap="square" anchor="t">
            <a:spAutoFit/>
          </a:bodyPr>
          <a:lstStyle/>
          <a:p>
            <a:pPr algn="l"/>
            <a:r>
              <a:rPr sz="1300" b="0">
                <a:solidFill>
                  <a:srgbClr val="6B655C"/>
                </a:solidFill>
                <a:latin typeface="Calibri"/>
              </a:rPr>
              <a:t>Most new artists open six to twelve months after signing, which gives time to make a coherent body of work rather than scramble. We map the production schedule backward from install week. The first show sets the tone for everything after.</a:t>
            </a:r>
          </a:p>
        </p:txBody>
      </p:sp>
      <p:sp>
        <p:nvSpPr>
          <p:cNvPr id="15" name="Rounded Rectangle 14"/>
          <p:cNvSpPr/>
          <p:nvPr/>
        </p:nvSpPr>
        <p:spPr>
          <a:xfrm>
            <a:off x="640080" y="484632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84632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956048"/>
            <a:ext cx="10332720" cy="457200"/>
          </a:xfrm>
          <a:prstGeom prst="rect">
            <a:avLst/>
          </a:prstGeom>
          <a:noFill/>
        </p:spPr>
        <p:txBody>
          <a:bodyPr wrap="square" anchor="t">
            <a:spAutoFit/>
          </a:bodyPr>
          <a:lstStyle/>
          <a:p>
            <a:pPr algn="l"/>
            <a:r>
              <a:rPr sz="1600" b="1">
                <a:solidFill>
                  <a:srgbClr val="2C2A26"/>
                </a:solidFill>
                <a:latin typeface="Calibri"/>
              </a:rPr>
              <a:t>The Long Relationship</a:t>
            </a:r>
          </a:p>
        </p:txBody>
      </p:sp>
      <p:sp>
        <p:nvSpPr>
          <p:cNvPr id="18" name="TextBox 17"/>
          <p:cNvSpPr txBox="1"/>
          <p:nvPr/>
        </p:nvSpPr>
        <p:spPr>
          <a:xfrm>
            <a:off x="960120" y="5349240"/>
            <a:ext cx="10332720" cy="987552"/>
          </a:xfrm>
          <a:prstGeom prst="rect">
            <a:avLst/>
          </a:prstGeom>
          <a:noFill/>
        </p:spPr>
        <p:txBody>
          <a:bodyPr wrap="square" anchor="t">
            <a:spAutoFit/>
          </a:bodyPr>
          <a:lstStyle/>
          <a:p>
            <a:pPr algn="l"/>
            <a:r>
              <a:rPr sz="1300" b="0">
                <a:solidFill>
                  <a:srgbClr val="6B655C"/>
                </a:solidFill>
                <a:latin typeface="Calibri"/>
              </a:rPr>
              <a:t>Signing is the beginning of a multi year relationship, not a one show transaction. I expect to grow prices, audience, and ambition across several seasons together. The goal is a career, built slowly and on purpose.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       Theme">
  <a:themeElements>
    <a:clrScheme name="      ">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          Yi Baiti"/>
        <a:font script="Tibt" typeface="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          Yi Baiti"/>
        <a:font script="Tibt" typeface="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          Uighur"/>
        <a:font script="Geor" typeface="Sylfaen"/>
      </a:minorFont>
    </a:fontScheme>
    <a:fmtScheme name="      ">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Application>Workspace Presentation</Application>
  <Company>Personal</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Kristy Blackwell</dc:creator>
  <cp:lastModifiedBy>Kristy Blackwell</cp:lastModifiedBy>
  <dcterms:created xsi:type="dcterms:W3CDTF">2026-02-12T10:00:00Z</dcterms:created>
  <dcterms:modified xsi:type="dcterms:W3CDTF">2026-02-12T10:00:00Z</dcterms:modified>
</cp:coreProperties>
</file>