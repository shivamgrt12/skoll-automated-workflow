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Monthly totals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dPt>
            <c:idx val="0"/>
            <c:spPr>
              <a:solidFill>
                <a:srgbClr val="2F9E5F"/>
              </a:solidFill>
            </c:spPr>
          </c:dPt>
          <c:dPt>
            <c:idx val="1"/>
            <c:spPr>
              <a:solidFill>
                <a:srgbClr val="D4607A"/>
              </a:solidFill>
            </c:spPr>
          </c:dPt>
          <c:dPt>
            <c:idx val="2"/>
            <c:spPr>
              <a:solidFill>
                <a:srgbClr val="243B6B"/>
              </a:solidFill>
            </c:spPr>
          </c:dPt>
          <c:cat>
            <c:strRef>
              <c:f>Sheet1!$A$2:$A$4</c:f>
              <c:strCache>
                <c:ptCount val="3"/>
                <c:pt idx="0">
                  <c:v>Take-home</c:v>
                </c:pt>
                <c:pt idx="1">
                  <c:v>Expenses</c:v>
                </c:pt>
                <c:pt idx="2">
                  <c:v>Left over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2950</c:v>
                </c:pt>
                <c:pt idx="1">
                  <c:v>1995</c:v>
                </c:pt>
                <c:pt idx="2">
                  <c:v>955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Expense categories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dPt>
            <c:idx val="0"/>
            <c:spPr>
              <a:solidFill>
                <a:srgbClr val="243B6B"/>
              </a:solidFill>
            </c:spPr>
          </c:dPt>
          <c:dPt>
            <c:idx val="1"/>
            <c:spPr>
              <a:solidFill>
                <a:srgbClr val="12A3A3"/>
              </a:solidFill>
            </c:spPr>
          </c:dPt>
          <c:dPt>
            <c:idx val="2"/>
            <c:spPr>
              <a:solidFill>
                <a:srgbClr val="243B6B"/>
              </a:solidFill>
            </c:spPr>
          </c:dPt>
          <c:dPt>
            <c:idx val="3"/>
            <c:spPr>
              <a:solidFill>
                <a:srgbClr val="12A3A3"/>
              </a:solidFill>
            </c:spPr>
          </c:dPt>
          <c:dPt>
            <c:idx val="4"/>
            <c:spPr>
              <a:solidFill>
                <a:srgbClr val="243B6B"/>
              </a:solidFill>
            </c:spPr>
          </c:dPt>
          <c:dPt>
            <c:idx val="5"/>
            <c:spPr>
              <a:solidFill>
                <a:srgbClr val="12A3A3"/>
              </a:solidFill>
            </c:spPr>
          </c:dPt>
          <c:dPt>
            <c:idx val="6"/>
            <c:spPr>
              <a:solidFill>
                <a:srgbClr val="243B6B"/>
              </a:solidFill>
            </c:spPr>
          </c:dPt>
          <c:dPt>
            <c:idx val="7"/>
            <c:spPr>
              <a:solidFill>
                <a:srgbClr val="12A3A3"/>
              </a:solidFill>
            </c:spPr>
          </c:dPt>
          <c:dPt>
            <c:idx val="8"/>
            <c:spPr>
              <a:solidFill>
                <a:srgbClr val="243B6B"/>
              </a:solidFill>
            </c:spPr>
          </c:dPt>
          <c:dPt>
            <c:idx val="9"/>
            <c:spPr>
              <a:solidFill>
                <a:srgbClr val="12A3A3"/>
              </a:solidFill>
            </c:spPr>
          </c:dPt>
          <c:dPt>
            <c:idx val="10"/>
            <c:spPr>
              <a:solidFill>
                <a:srgbClr val="243B6B"/>
              </a:solidFill>
            </c:spPr>
          </c:dPt>
          <c:dPt>
            <c:idx val="11"/>
            <c:spPr>
              <a:solidFill>
                <a:srgbClr val="12A3A3"/>
              </a:solidFill>
            </c:spPr>
          </c:dPt>
          <c:cat>
            <c:strRef>
              <c:f>Sheet1!$A$2:$A$13</c:f>
              <c:strCache>
                <c:ptCount val="12"/>
                <c:pt idx="0">
                  <c:v>Rent</c:v>
                </c:pt>
                <c:pt idx="1">
                  <c:v>Truck payment</c:v>
                </c:pt>
                <c:pt idx="2">
                  <c:v>Groceries</c:v>
                </c:pt>
                <c:pt idx="3">
                  <c:v>Health plan</c:v>
                </c:pt>
                <c:pt idx="4">
                  <c:v>Gas</c:v>
                </c:pt>
                <c:pt idx="5">
                  <c:v>Insurance</c:v>
                </c:pt>
                <c:pt idx="6">
                  <c:v>Dining out</c:v>
                </c:pt>
                <c:pt idx="7">
                  <c:v>Truck parts</c:v>
                </c:pt>
                <c:pt idx="8">
                  <c:v>Utilities</c:v>
                </c:pt>
                <c:pt idx="9">
                  <c:v>Personal</c:v>
                </c:pt>
                <c:pt idx="10">
                  <c:v>Phone</c:v>
                </c:pt>
                <c:pt idx="11">
                  <c:v>Subscriptions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475</c:v>
                </c:pt>
                <c:pt idx="1">
                  <c:v>310</c:v>
                </c:pt>
                <c:pt idx="2">
                  <c:v>280</c:v>
                </c:pt>
                <c:pt idx="3">
                  <c:v>165</c:v>
                </c:pt>
                <c:pt idx="4">
                  <c:v>150</c:v>
                </c:pt>
                <c:pt idx="5">
                  <c:v>140</c:v>
                </c:pt>
                <c:pt idx="6">
                  <c:v>120</c:v>
                </c:pt>
                <c:pt idx="7">
                  <c:v>100</c:v>
                </c:pt>
                <c:pt idx="8">
                  <c:v>95</c:v>
                </c:pt>
                <c:pt idx="9">
                  <c:v>70</c:v>
                </c:pt>
                <c:pt idx="10">
                  <c:v>55</c:v>
                </c:pt>
                <c:pt idx="11">
                  <c:v>35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About 455 a month reaches the goal in 11 to 12 months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dPt>
            <c:idx val="0"/>
            <c:spPr>
              <a:solidFill>
                <a:srgbClr val="12A3A3"/>
              </a:solidFill>
            </c:spPr>
          </c:dPt>
          <c:dPt>
            <c:idx val="1"/>
            <c:spPr>
              <a:solidFill>
                <a:srgbClr val="CBD6EA"/>
              </a:solidFill>
            </c:spPr>
          </c:dPt>
          <c:cat>
            <c:strRef>
              <c:f>Sheet1!$A$2:$A$3</c:f>
              <c:strCache>
                <c:ptCount val="2"/>
                <c:pt idx="0">
                  <c:v>Saved</c:v>
                </c:pt>
                <c:pt idx="1">
                  <c:v>Still to go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4800</c:v>
                </c:pt>
                <c:pt idx="1">
                  <c:v>5200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3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12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Monthly Budget and Savings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971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BD6EA"/>
                </a:solidFill>
                <a:latin typeface="Calibri"/>
              </a:rPr>
              <a:t>Take-home, spending, and the emergency fund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0233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FB0D0"/>
                </a:solidFill>
                <a:latin typeface="Calibri"/>
              </a:rPr>
              <a:t>Leah Pierce  |  Decatur, Alabama  |  US dollars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4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11935663" cy="1005840"/>
          </a:xfrm>
          <a:prstGeom prst="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43B6B"/>
                </a:solidFill>
                <a:latin typeface="Calibri"/>
              </a:rPr>
              <a:t>Income against expenses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A3A3"/>
                </a:solidFill>
                <a:latin typeface="Calibri"/>
              </a:rPr>
              <a:t>A typical month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188720" y="1554480"/>
          <a:ext cx="96926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4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11935663" cy="1005840"/>
          </a:xfrm>
          <a:prstGeom prst="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43B6B"/>
                </a:solidFill>
                <a:latin typeface="Calibri"/>
              </a:rPr>
              <a:t>Where the 1995 goes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A3A3"/>
                </a:solidFill>
                <a:latin typeface="Calibri"/>
              </a:rPr>
              <a:t>Twelve recurring lines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417320"/>
          <a:ext cx="1106424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4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11935663" cy="1005840"/>
          </a:xfrm>
          <a:prstGeom prst="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43B6B"/>
                </a:solidFill>
                <a:latin typeface="Calibri"/>
              </a:rPr>
              <a:t>Emergency fund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A3A3"/>
                </a:solidFill>
                <a:latin typeface="Calibri"/>
              </a:rPr>
              <a:t>4,800 saved toward 10,000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463040" y="1554480"/>
          <a:ext cx="92354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4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11935663" cy="1005840"/>
          </a:xfrm>
          <a:prstGeom prst="rect">
            <a:avLst/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43B6B"/>
                </a:solidFill>
                <a:latin typeface="Calibri"/>
              </a:rPr>
              <a:t>Leftover, allocated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A3A3"/>
                </a:solidFill>
                <a:latin typeface="Calibri"/>
              </a:rPr>
              <a:t>Where the 955 lands each 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1">
                <a:solidFill>
                  <a:srgbClr val="1F2A37"/>
                </a:solidFill>
                <a:latin typeface="Calibri"/>
              </a:rPr>
              <a:t>- Transfer to the fund</a:t>
            </a:r>
            <a:r>
              <a:rPr sz="1500">
                <a:solidFill>
                  <a:srgbClr val="6B7787"/>
                </a:solidFill>
              </a:rPr>
              <a:t>  455, first priority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F2A37"/>
                </a:solidFill>
                <a:latin typeface="Calibri"/>
              </a:rPr>
              <a:t>- Dates and going out</a:t>
            </a:r>
            <a:r>
              <a:rPr sz="1500">
                <a:solidFill>
                  <a:srgbClr val="6B7787"/>
                </a:solidFill>
              </a:rPr>
              <a:t>  200, planned not impulse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F2A37"/>
                </a:solidFill>
                <a:latin typeface="Calibri"/>
              </a:rPr>
              <a:t>- Extra parts buffer</a:t>
            </a:r>
            <a:r>
              <a:rPr sz="1500">
                <a:solidFill>
                  <a:srgbClr val="6B7787"/>
                </a:solidFill>
              </a:rPr>
              <a:t>  150, big truck buys spread out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F2A37"/>
                </a:solidFill>
                <a:latin typeface="Calibri"/>
              </a:rPr>
              <a:t>- Unassigned cushion</a:t>
            </a:r>
            <a:r>
              <a:rPr sz="1500">
                <a:solidFill>
                  <a:srgbClr val="6B7787"/>
                </a:solidFill>
              </a:rPr>
              <a:t>  150, absorbs the odd month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F2A37"/>
                </a:solidFill>
                <a:latin typeface="Calibri"/>
              </a:rPr>
              <a:t>- Overtime months</a:t>
            </a:r>
            <a:r>
              <a:rPr sz="1500">
                <a:solidFill>
                  <a:srgbClr val="6B7787"/>
                </a:solidFill>
              </a:rPr>
              <a:t>  extra 2000 to 3000 a year, straight to savings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