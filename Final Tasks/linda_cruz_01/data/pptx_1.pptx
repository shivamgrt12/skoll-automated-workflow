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FB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D6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869680" y="1097280"/>
            <a:ext cx="2743200" cy="2743200"/>
          </a:xfrm>
          <a:prstGeom prst="roundRect">
            <a:avLst/>
          </a:prstGeom>
          <a:solidFill>
            <a:srgbClr val="173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0" y="1828800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0" b="0" i="0">
                <a:solidFill>
                  <a:srgbClr val="4FB0C4"/>
                </a:solidFill>
                <a:latin typeface="Calibri"/>
              </a:rPr>
              <a:t>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0" y="297180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EAF1F6"/>
                </a:solidFill>
                <a:latin typeface="Calibri"/>
              </a:rPr>
              <a:t>MOUNT SINAI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4FB0C4"/>
                </a:solidFill>
                <a:latin typeface="Calibri"/>
              </a:rPr>
              <a:t>PEDIATRIC GRAND ROUNDS, MOUNT SINAI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786384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400" b="1" i="0">
                <a:solidFill>
                  <a:srgbClr val="EAF1F6"/>
                </a:solidFill>
                <a:latin typeface="Calibri"/>
              </a:rPr>
              <a:t>Bicultural Pediatric Care for Immigrant Families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1480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93AAC0"/>
                </a:solidFill>
                <a:latin typeface="Calibri"/>
              </a:rPr>
              <a:t>Language access, health beliefs, and the trust that makes a plan work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892040"/>
            <a:ext cx="2194560" cy="45720"/>
          </a:xfrm>
          <a:prstGeom prst="rect">
            <a:avLst/>
          </a:prstGeom>
          <a:solidFill>
            <a:srgbClr val="4FB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5029200"/>
            <a:ext cx="7315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EAF1F6"/>
                </a:solidFill>
                <a:latin typeface="Calibri"/>
              </a:rPr>
              <a:t>December 15, 2026   ·   Linda Cruz, MD, Voluntary Clinical Instructor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2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74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18872" cy="640080"/>
          </a:xfrm>
          <a:prstGeom prst="rect">
            <a:avLst/>
          </a:prstGeom>
          <a:solidFill>
            <a:srgbClr val="4FB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4FB0C4"/>
                </a:solidFill>
                <a:latin typeface="Calibri"/>
              </a:rP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49808"/>
            <a:ext cx="10789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EAF1F6"/>
                </a:solidFill>
                <a:latin typeface="Calibri"/>
              </a:rPr>
              <a:t>What this hour is for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828800" cy="45720"/>
          </a:xfrm>
          <a:prstGeom prst="rect">
            <a:avLst/>
          </a:prstGeom>
          <a:solidFill>
            <a:srgbClr val="D6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1042416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600" b="1">
                <a:solidFill>
                  <a:srgbClr val="4FB0C4"/>
                </a:solidFill>
                <a:latin typeface="Calibri"/>
              </a:rPr>
              <a:t>› </a:t>
            </a:r>
            <a:r>
              <a:rPr sz="1600">
                <a:solidFill>
                  <a:srgbClr val="EAF1F6"/>
                </a:solidFill>
                <a:latin typeface="Calibri"/>
              </a:rPr>
              <a:t>Describe how language and culture shape the pediatric encounter</a:t>
            </a:r>
          </a:p>
          <a:p>
            <a:pPr>
              <a:spcAft>
                <a:spcPts val="1300"/>
              </a:spcAft>
            </a:pPr>
            <a:r>
              <a:rPr sz="1300" i="1">
                <a:solidFill>
                  <a:srgbClr val="8AA3AD"/>
                </a:solidFill>
                <a:latin typeface="Calibri"/>
              </a:rPr>
              <a:t>    for immigrant families in a Medicaid-heavy panel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600" b="1">
                <a:solidFill>
                  <a:srgbClr val="4FB0C4"/>
                </a:solidFill>
                <a:latin typeface="Calibri"/>
              </a:rPr>
              <a:t>› </a:t>
            </a:r>
            <a:r>
              <a:rPr sz="1600">
                <a:solidFill>
                  <a:srgbClr val="EAF1F6"/>
                </a:solidFill>
                <a:latin typeface="Calibri"/>
              </a:rPr>
              <a:t>Apply best practices for professional interpreter use</a:t>
            </a:r>
          </a:p>
          <a:p>
            <a:pPr>
              <a:spcAft>
                <a:spcPts val="1300"/>
              </a:spcAft>
            </a:pPr>
            <a:r>
              <a:rPr sz="1300" i="1">
                <a:solidFill>
                  <a:srgbClr val="8AA3AD"/>
                </a:solidFill>
                <a:latin typeface="Calibri"/>
              </a:rPr>
              <a:t>    and the harms of using a child or relative to interpret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600" b="1">
                <a:solidFill>
                  <a:srgbClr val="4FB0C4"/>
                </a:solidFill>
                <a:latin typeface="Calibri"/>
              </a:rPr>
              <a:t>› </a:t>
            </a:r>
            <a:r>
              <a:rPr sz="1600">
                <a:solidFill>
                  <a:srgbClr val="EAF1F6"/>
                </a:solidFill>
                <a:latin typeface="Calibri"/>
              </a:rPr>
              <a:t>Integrate family health beliefs into a shared plan</a:t>
            </a:r>
          </a:p>
          <a:p>
            <a:pPr>
              <a:spcAft>
                <a:spcPts val="1300"/>
              </a:spcAft>
            </a:pPr>
            <a:r>
              <a:rPr sz="1300" i="1">
                <a:solidFill>
                  <a:srgbClr val="8AA3AD"/>
                </a:solidFill>
                <a:latin typeface="Calibri"/>
              </a:rPr>
              <a:t>    without compromising the standard of care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600" b="1">
                <a:solidFill>
                  <a:srgbClr val="4FB0C4"/>
                </a:solidFill>
                <a:latin typeface="Calibri"/>
              </a:rPr>
              <a:t>› </a:t>
            </a:r>
            <a:r>
              <a:rPr sz="1600">
                <a:solidFill>
                  <a:srgbClr val="EAF1F6"/>
                </a:solidFill>
                <a:latin typeface="Calibri"/>
              </a:rPr>
              <a:t>Recognize how immigration-related stress affects access</a:t>
            </a:r>
          </a:p>
          <a:p>
            <a:pPr>
              <a:spcAft>
                <a:spcPts val="1300"/>
              </a:spcAft>
            </a:pPr>
            <a:r>
              <a:rPr sz="1300" i="1">
                <a:solidFill>
                  <a:srgbClr val="8AA3AD"/>
                </a:solidFill>
                <a:latin typeface="Calibri"/>
              </a:rPr>
              <a:t>    missed visits, delayed care, and incomplete histories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715000"/>
            <a:ext cx="10607040" cy="548640"/>
          </a:xfrm>
          <a:prstGeom prst="roundRect">
            <a:avLst/>
          </a:prstGeom>
          <a:solidFill>
            <a:srgbClr val="173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5760720"/>
            <a:ext cx="10149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4FB0C4"/>
                </a:solidFill>
                <a:latin typeface="Calibri"/>
              </a:rPr>
              <a:t>Note.  </a:t>
            </a:r>
            <a:r>
              <a:rPr sz="1250" b="0" i="0">
                <a:solidFill>
                  <a:srgbClr val="93AAC0"/>
                </a:solidFill>
                <a:latin typeface="Calibri"/>
              </a:rPr>
              <a:t>Drawn from four years of solo practice in Jackson Heights, not a single published cohort.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73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93AAC0"/>
                </a:solidFill>
                <a:latin typeface="Calibri"/>
              </a:rPr>
              <a:t>Linda Cruz, MD  ·  Voluntary Clinical Instructor, Mount Sinai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647395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93AAC0"/>
                </a:solidFill>
                <a:latin typeface="Calibri"/>
              </a:rPr>
              <a:t>Grand Rounds   2 / 8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2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18872" cy="640080"/>
          </a:xfrm>
          <a:prstGeom prst="rect">
            <a:avLst/>
          </a:prstGeom>
          <a:solidFill>
            <a:srgbClr val="4FB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4FB0C4"/>
                </a:solidFill>
                <a:latin typeface="Calibri"/>
              </a:rPr>
              <a:t>THE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49808"/>
            <a:ext cx="10789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EAF1F6"/>
                </a:solidFill>
                <a:latin typeface="Calibri"/>
              </a:rPr>
              <a:t>The families we serve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828800" cy="45720"/>
          </a:xfrm>
          <a:prstGeom prst="rect">
            <a:avLst/>
          </a:prstGeom>
          <a:solidFill>
            <a:srgbClr val="D6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212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4FB0C4"/>
                </a:solidFill>
                <a:latin typeface="Calibri"/>
              </a:rPr>
              <a:t>› </a:t>
            </a:r>
            <a:r>
              <a:rPr sz="1600">
                <a:solidFill>
                  <a:srgbClr val="EAF1F6"/>
                </a:solidFill>
                <a:latin typeface="Calibri"/>
              </a:rPr>
              <a:t>Predominantly Latin American, South Asian, and East Asian families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4FB0C4"/>
                </a:solidFill>
                <a:latin typeface="Calibri"/>
              </a:rPr>
              <a:t>› </a:t>
            </a:r>
            <a:r>
              <a:rPr sz="1600">
                <a:solidFill>
                  <a:srgbClr val="EAF1F6"/>
                </a:solidFill>
                <a:latin typeface="Calibri"/>
              </a:rPr>
              <a:t>Many on Medicaid or CHIP, some uninsured and between coverage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4FB0C4"/>
                </a:solidFill>
                <a:latin typeface="Calibri"/>
              </a:rPr>
              <a:t>› </a:t>
            </a:r>
            <a:r>
              <a:rPr sz="1600">
                <a:solidFill>
                  <a:srgbClr val="EAF1F6"/>
                </a:solidFill>
                <a:latin typeface="Calibri"/>
              </a:rPr>
              <a:t>Parents working hourly jobs, visits cost a missed shift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4FB0C4"/>
                </a:solidFill>
                <a:latin typeface="Calibri"/>
              </a:rPr>
              <a:t>› </a:t>
            </a:r>
            <a:r>
              <a:rPr sz="1600">
                <a:solidFill>
                  <a:srgbClr val="EAF1F6"/>
                </a:solidFill>
                <a:latin typeface="Calibri"/>
              </a:rPr>
              <a:t>Often the child is the most fluent English speaker in the home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828800"/>
            <a:ext cx="5120640" cy="4114800"/>
          </a:xfrm>
          <a:prstGeom prst="roundRect">
            <a:avLst/>
          </a:prstGeom>
          <a:solidFill>
            <a:srgbClr val="173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2148840"/>
            <a:ext cx="448056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D69A6A"/>
                </a:solidFill>
                <a:latin typeface="Calibri"/>
              </a:rPr>
              <a:t>› </a:t>
            </a:r>
            <a:r>
              <a:rPr sz="1600">
                <a:solidFill>
                  <a:srgbClr val="EAF1F6"/>
                </a:solidFill>
                <a:latin typeface="Calibri"/>
              </a:rPr>
              <a:t>What they bring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D69A6A"/>
                </a:solidFill>
                <a:latin typeface="Calibri"/>
              </a:rPr>
              <a:t>› </a:t>
            </a:r>
            <a:r>
              <a:rPr sz="1600">
                <a:solidFill>
                  <a:srgbClr val="EAF1F6"/>
                </a:solidFill>
                <a:latin typeface="Calibri"/>
              </a:rPr>
              <a:t>Strong family involvement in care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D69A6A"/>
                </a:solidFill>
                <a:latin typeface="Calibri"/>
              </a:rPr>
              <a:t>› </a:t>
            </a:r>
            <a:r>
              <a:rPr sz="1600">
                <a:solidFill>
                  <a:srgbClr val="EAF1F6"/>
                </a:solidFill>
                <a:latin typeface="Calibri"/>
              </a:rPr>
              <a:t>Health beliefs from home, valid and worth hearing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D69A6A"/>
                </a:solidFill>
                <a:latin typeface="Calibri"/>
              </a:rPr>
              <a:t>› </a:t>
            </a:r>
            <a:r>
              <a:rPr sz="1600">
                <a:solidFill>
                  <a:srgbClr val="EAF1F6"/>
                </a:solidFill>
                <a:latin typeface="Calibri"/>
              </a:rPr>
              <a:t>Real fear of systems and paperwork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D69A6A"/>
                </a:solidFill>
                <a:latin typeface="Calibri"/>
              </a:rPr>
              <a:t>› </a:t>
            </a:r>
            <a:r>
              <a:rPr sz="1600">
                <a:solidFill>
                  <a:srgbClr val="EAF1F6"/>
                </a:solidFill>
                <a:latin typeface="Calibri"/>
              </a:rPr>
              <a:t>Deep motivation to do right by the child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715000"/>
            <a:ext cx="10607040" cy="548640"/>
          </a:xfrm>
          <a:prstGeom prst="roundRect">
            <a:avLst/>
          </a:prstGeom>
          <a:solidFill>
            <a:srgbClr val="173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5760720"/>
            <a:ext cx="10149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4FB0C4"/>
                </a:solidFill>
                <a:latin typeface="Calibri"/>
              </a:rPr>
              <a:t>Note.  </a:t>
            </a:r>
            <a:r>
              <a:rPr sz="1250" b="0" i="0">
                <a:solidFill>
                  <a:srgbClr val="93AAC0"/>
                </a:solidFill>
                <a:latin typeface="Calibri"/>
              </a:rPr>
              <a:t>Left is the demographic, right is the context that walks in with 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73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93AAC0"/>
                </a:solidFill>
                <a:latin typeface="Calibri"/>
              </a:rPr>
              <a:t>Linda Cruz, MD  ·  Voluntary Clinical Instructor, Mount Sinai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647395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93AAC0"/>
                </a:solidFill>
                <a:latin typeface="Calibri"/>
              </a:rPr>
              <a:t>Grand Rounds   3 / 8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2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74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18872" cy="640080"/>
          </a:xfrm>
          <a:prstGeom prst="rect">
            <a:avLst/>
          </a:prstGeom>
          <a:solidFill>
            <a:srgbClr val="4FB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4FB0C4"/>
                </a:solidFill>
                <a:latin typeface="Calibri"/>
              </a:rPr>
              <a:t>LANGUAGE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49808"/>
            <a:ext cx="10789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EAF1F6"/>
                </a:solidFill>
                <a:latin typeface="Calibri"/>
              </a:rPr>
              <a:t>Get the interpreter right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828800" cy="45720"/>
          </a:xfrm>
          <a:prstGeom prst="rect">
            <a:avLst/>
          </a:prstGeom>
          <a:solidFill>
            <a:srgbClr val="D6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1042416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600" b="1">
                <a:solidFill>
                  <a:srgbClr val="4FB0C4"/>
                </a:solidFill>
                <a:latin typeface="Calibri"/>
              </a:rPr>
              <a:t>› </a:t>
            </a:r>
            <a:r>
              <a:rPr sz="1600">
                <a:solidFill>
                  <a:srgbClr val="EAF1F6"/>
                </a:solidFill>
                <a:latin typeface="Calibri"/>
              </a:rPr>
              <a:t>Use a professional interpreter by default</a:t>
            </a:r>
          </a:p>
          <a:p>
            <a:pPr>
              <a:spcAft>
                <a:spcPts val="1300"/>
              </a:spcAft>
            </a:pPr>
            <a:r>
              <a:rPr sz="1300" i="1">
                <a:solidFill>
                  <a:srgbClr val="8AA3AD"/>
                </a:solidFill>
                <a:latin typeface="Calibri"/>
              </a:rPr>
              <a:t>    in person, phone, or video, and document it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600" b="1">
                <a:solidFill>
                  <a:srgbClr val="4FB0C4"/>
                </a:solidFill>
                <a:latin typeface="Calibri"/>
              </a:rPr>
              <a:t>› </a:t>
            </a:r>
            <a:r>
              <a:rPr sz="1600">
                <a:solidFill>
                  <a:srgbClr val="EAF1F6"/>
                </a:solidFill>
                <a:latin typeface="Calibri"/>
              </a:rPr>
              <a:t>Do not lean on the child to interpret</a:t>
            </a:r>
          </a:p>
          <a:p>
            <a:pPr>
              <a:spcAft>
                <a:spcPts val="1300"/>
              </a:spcAft>
            </a:pPr>
            <a:r>
              <a:rPr sz="1300" i="1">
                <a:solidFill>
                  <a:srgbClr val="8AA3AD"/>
                </a:solidFill>
                <a:latin typeface="Calibri"/>
              </a:rPr>
              <a:t>    it distorts the history and shifts a burden onto the kid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600" b="1">
                <a:solidFill>
                  <a:srgbClr val="4FB0C4"/>
                </a:solidFill>
                <a:latin typeface="Calibri"/>
              </a:rPr>
              <a:t>› </a:t>
            </a:r>
            <a:r>
              <a:rPr sz="1600">
                <a:solidFill>
                  <a:srgbClr val="EAF1F6"/>
                </a:solidFill>
                <a:latin typeface="Calibri"/>
              </a:rPr>
              <a:t>Speak to the parent, not the interpreter</a:t>
            </a:r>
          </a:p>
          <a:p>
            <a:pPr>
              <a:spcAft>
                <a:spcPts val="1300"/>
              </a:spcAft>
            </a:pPr>
            <a:r>
              <a:rPr sz="1300" i="1">
                <a:solidFill>
                  <a:srgbClr val="8AA3AD"/>
                </a:solidFill>
                <a:latin typeface="Calibri"/>
              </a:rPr>
              <a:t>    short segments, plain words, eye contact held with the family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600" b="1">
                <a:solidFill>
                  <a:srgbClr val="4FB0C4"/>
                </a:solidFill>
                <a:latin typeface="Calibri"/>
              </a:rPr>
              <a:t>› </a:t>
            </a:r>
            <a:r>
              <a:rPr sz="1600">
                <a:solidFill>
                  <a:srgbClr val="EAF1F6"/>
                </a:solidFill>
                <a:latin typeface="Calibri"/>
              </a:rPr>
              <a:t>Close with teach-back</a:t>
            </a:r>
          </a:p>
          <a:p>
            <a:pPr>
              <a:spcAft>
                <a:spcPts val="1300"/>
              </a:spcAft>
            </a:pPr>
            <a:r>
              <a:rPr sz="1300" i="1">
                <a:solidFill>
                  <a:srgbClr val="8AA3AD"/>
                </a:solidFill>
                <a:latin typeface="Calibri"/>
              </a:rPr>
              <a:t>    ask the parent to say the plan back in their own words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715000"/>
            <a:ext cx="10607040" cy="548640"/>
          </a:xfrm>
          <a:prstGeom prst="roundRect">
            <a:avLst/>
          </a:prstGeom>
          <a:solidFill>
            <a:srgbClr val="173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5760720"/>
            <a:ext cx="10149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4FB0C4"/>
                </a:solidFill>
                <a:latin typeface="Calibri"/>
              </a:rPr>
              <a:t>Note.  </a:t>
            </a:r>
            <a:r>
              <a:rPr sz="1250" b="0" i="0">
                <a:solidFill>
                  <a:srgbClr val="93AAC0"/>
                </a:solidFill>
                <a:latin typeface="Calibri"/>
              </a:rPr>
              <a:t>A bilingual clinician still calls an interpreter for the languages she does not hold.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73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93AAC0"/>
                </a:solidFill>
                <a:latin typeface="Calibri"/>
              </a:rPr>
              <a:t>Linda Cruz, MD  ·  Voluntary Clinical Instructor, Mount Sinai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647395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93AAC0"/>
                </a:solidFill>
                <a:latin typeface="Calibri"/>
              </a:rPr>
              <a:t>Grand Rounds   4 / 8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2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18872" cy="640080"/>
          </a:xfrm>
          <a:prstGeom prst="rect">
            <a:avLst/>
          </a:prstGeom>
          <a:solidFill>
            <a:srgbClr val="4FB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4FB0C4"/>
                </a:solidFill>
                <a:latin typeface="Calibri"/>
              </a:rPr>
              <a:t>HEALTH BELIEFS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49808"/>
            <a:ext cx="10789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EAF1F6"/>
                </a:solidFill>
                <a:latin typeface="Calibri"/>
              </a:rPr>
              <a:t>Work with what the family already believes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828800" cy="45720"/>
          </a:xfrm>
          <a:prstGeom prst="rect">
            <a:avLst/>
          </a:prstGeom>
          <a:solidFill>
            <a:srgbClr val="D6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212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4FB0C4"/>
                </a:solidFill>
                <a:latin typeface="Calibri"/>
              </a:rPr>
              <a:t>› </a:t>
            </a:r>
            <a:r>
              <a:rPr sz="1600">
                <a:solidFill>
                  <a:srgbClr val="EAF1F6"/>
                </a:solidFill>
                <a:latin typeface="Calibri"/>
              </a:rPr>
              <a:t>Ask what they think is going on and what they have already tried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4FB0C4"/>
                </a:solidFill>
                <a:latin typeface="Calibri"/>
              </a:rPr>
              <a:t>› </a:t>
            </a:r>
            <a:r>
              <a:rPr sz="1600">
                <a:solidFill>
                  <a:srgbClr val="EAF1F6"/>
                </a:solidFill>
                <a:latin typeface="Calibri"/>
              </a:rPr>
              <a:t>Most home remedies are harmless, some are soothing, a few interact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4FB0C4"/>
                </a:solidFill>
                <a:latin typeface="Calibri"/>
              </a:rPr>
              <a:t>› </a:t>
            </a:r>
            <a:r>
              <a:rPr sz="1600">
                <a:solidFill>
                  <a:srgbClr val="EAF1F6"/>
                </a:solidFill>
                <a:latin typeface="Calibri"/>
              </a:rPr>
              <a:t>Name the overlap between their plan and the medical one out loud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4FB0C4"/>
                </a:solidFill>
                <a:latin typeface="Calibri"/>
              </a:rPr>
              <a:t>› </a:t>
            </a:r>
            <a:r>
              <a:rPr sz="1600">
                <a:solidFill>
                  <a:srgbClr val="EAF1F6"/>
                </a:solidFill>
                <a:latin typeface="Calibri"/>
              </a:rPr>
              <a:t>Respect for the parent buys adherence that a lecture never will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828800"/>
            <a:ext cx="5120640" cy="4114800"/>
          </a:xfrm>
          <a:prstGeom prst="roundRect">
            <a:avLst/>
          </a:prstGeom>
          <a:solidFill>
            <a:srgbClr val="173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2148840"/>
            <a:ext cx="448056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D69A6A"/>
                </a:solidFill>
                <a:latin typeface="Calibri"/>
              </a:rPr>
              <a:t>› </a:t>
            </a:r>
            <a:r>
              <a:rPr sz="1600">
                <a:solidFill>
                  <a:srgbClr val="EAF1F6"/>
                </a:solidFill>
                <a:latin typeface="Calibri"/>
              </a:rPr>
              <a:t>In practice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D69A6A"/>
                </a:solidFill>
                <a:latin typeface="Calibri"/>
              </a:rPr>
              <a:t>› </a:t>
            </a:r>
            <a:r>
              <a:rPr sz="1600">
                <a:solidFill>
                  <a:srgbClr val="EAF1F6"/>
                </a:solidFill>
                <a:latin typeface="Calibri"/>
              </a:rPr>
              <a:t>Ask before you correct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D69A6A"/>
                </a:solidFill>
                <a:latin typeface="Calibri"/>
              </a:rPr>
              <a:t>› </a:t>
            </a:r>
            <a:r>
              <a:rPr sz="1600">
                <a:solidFill>
                  <a:srgbClr val="EAF1F6"/>
                </a:solidFill>
                <a:latin typeface="Calibri"/>
              </a:rPr>
              <a:t>Keep what is safe, gently redirect what is not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D69A6A"/>
                </a:solidFill>
                <a:latin typeface="Calibri"/>
              </a:rPr>
              <a:t>› </a:t>
            </a:r>
            <a:r>
              <a:rPr sz="1600">
                <a:solidFill>
                  <a:srgbClr val="EAF1F6"/>
                </a:solidFill>
                <a:latin typeface="Calibri"/>
              </a:rPr>
              <a:t>Frame vaccines as protection, not compliance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D69A6A"/>
                </a:solidFill>
                <a:latin typeface="Calibri"/>
              </a:rPr>
              <a:t>› </a:t>
            </a:r>
            <a:r>
              <a:rPr sz="1600">
                <a:solidFill>
                  <a:srgbClr val="EAF1F6"/>
                </a:solidFill>
                <a:latin typeface="Calibri"/>
              </a:rPr>
              <a:t>Honor respeto and familismo in how you address the family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715000"/>
            <a:ext cx="10607040" cy="548640"/>
          </a:xfrm>
          <a:prstGeom prst="roundRect">
            <a:avLst/>
          </a:prstGeom>
          <a:solidFill>
            <a:srgbClr val="173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5760720"/>
            <a:ext cx="10149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4FB0C4"/>
                </a:solidFill>
                <a:latin typeface="Calibri"/>
              </a:rPr>
              <a:t>Note.  </a:t>
            </a:r>
            <a:r>
              <a:rPr sz="1250" b="0" i="0">
                <a:solidFill>
                  <a:srgbClr val="93AAC0"/>
                </a:solidFill>
                <a:latin typeface="Calibri"/>
              </a:rPr>
              <a:t>Integration, not dismissal. The plan they believe in is the plan they follow.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73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93AAC0"/>
                </a:solidFill>
                <a:latin typeface="Calibri"/>
              </a:rPr>
              <a:t>Linda Cruz, MD  ·  Voluntary Clinical Instructor, Mount Sinai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647395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93AAC0"/>
                </a:solidFill>
                <a:latin typeface="Calibri"/>
              </a:rPr>
              <a:t>Grand Rounds   5 / 8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2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74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18872" cy="640080"/>
          </a:xfrm>
          <a:prstGeom prst="rect">
            <a:avLst/>
          </a:prstGeom>
          <a:solidFill>
            <a:srgbClr val="4FB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4FB0C4"/>
                </a:solidFill>
                <a:latin typeface="Calibri"/>
              </a:rPr>
              <a:t>TRUST AND FEAR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49808"/>
            <a:ext cx="10789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EAF1F6"/>
                </a:solidFill>
                <a:latin typeface="Calibri"/>
              </a:rPr>
              <a:t>Why a parent goes quiet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828800" cy="45720"/>
          </a:xfrm>
          <a:prstGeom prst="rect">
            <a:avLst/>
          </a:prstGeom>
          <a:solidFill>
            <a:srgbClr val="D6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1042416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600" b="1">
                <a:solidFill>
                  <a:srgbClr val="4FB0C4"/>
                </a:solidFill>
                <a:latin typeface="Calibri"/>
              </a:rPr>
              <a:t>› </a:t>
            </a:r>
            <a:r>
              <a:rPr sz="1600">
                <a:solidFill>
                  <a:srgbClr val="EAF1F6"/>
                </a:solidFill>
                <a:latin typeface="Calibri"/>
              </a:rPr>
              <a:t>Immigration-related stress is a clinical variable</a:t>
            </a:r>
          </a:p>
          <a:p>
            <a:pPr>
              <a:spcAft>
                <a:spcPts val="1300"/>
              </a:spcAft>
            </a:pPr>
            <a:r>
              <a:rPr sz="1300" i="1">
                <a:solidFill>
                  <a:srgbClr val="8AA3AD"/>
                </a:solidFill>
                <a:latin typeface="Calibri"/>
              </a:rPr>
              <a:t>    it delays visits and shortens the history you get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600" b="1">
                <a:solidFill>
                  <a:srgbClr val="4FB0C4"/>
                </a:solidFill>
                <a:latin typeface="Calibri"/>
              </a:rPr>
              <a:t>› </a:t>
            </a:r>
            <a:r>
              <a:rPr sz="1600">
                <a:solidFill>
                  <a:srgbClr val="EAF1F6"/>
                </a:solidFill>
                <a:latin typeface="Calibri"/>
              </a:rPr>
              <a:t>State plainly what stays private</a:t>
            </a:r>
          </a:p>
          <a:p>
            <a:pPr>
              <a:spcAft>
                <a:spcPts val="1300"/>
              </a:spcAft>
            </a:pPr>
            <a:r>
              <a:rPr sz="1300" i="1">
                <a:solidFill>
                  <a:srgbClr val="8AA3AD"/>
                </a:solidFill>
                <a:latin typeface="Calibri"/>
              </a:rPr>
              <a:t>    we do not ask about status, and the chart does not travel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600" b="1">
                <a:solidFill>
                  <a:srgbClr val="4FB0C4"/>
                </a:solidFill>
                <a:latin typeface="Calibri"/>
              </a:rPr>
              <a:t>› </a:t>
            </a:r>
            <a:r>
              <a:rPr sz="1600">
                <a:solidFill>
                  <a:srgbClr val="EAF1F6"/>
                </a:solidFill>
                <a:latin typeface="Calibri"/>
              </a:rPr>
              <a:t>Lower the cost of coming in</a:t>
            </a:r>
          </a:p>
          <a:p>
            <a:pPr>
              <a:spcAft>
                <a:spcPts val="1300"/>
              </a:spcAft>
            </a:pPr>
            <a:r>
              <a:rPr sz="1300" i="1">
                <a:solidFill>
                  <a:srgbClr val="8AA3AD"/>
                </a:solidFill>
                <a:latin typeface="Calibri"/>
              </a:rPr>
              <a:t>    walk-in options, evening calls returned, the free Saturday clinic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600" b="1">
                <a:solidFill>
                  <a:srgbClr val="4FB0C4"/>
                </a:solidFill>
                <a:latin typeface="Calibri"/>
              </a:rPr>
              <a:t>› </a:t>
            </a:r>
            <a:r>
              <a:rPr sz="1600">
                <a:solidFill>
                  <a:srgbClr val="EAF1F6"/>
                </a:solidFill>
                <a:latin typeface="Calibri"/>
              </a:rPr>
              <a:t>Continuity is the treatment</a:t>
            </a:r>
          </a:p>
          <a:p>
            <a:pPr>
              <a:spcAft>
                <a:spcPts val="1300"/>
              </a:spcAft>
            </a:pPr>
            <a:r>
              <a:rPr sz="1300" i="1">
                <a:solidFill>
                  <a:srgbClr val="8AA3AD"/>
                </a:solidFill>
                <a:latin typeface="Calibri"/>
              </a:rPr>
              <a:t>    the same face over years is what finally opens the door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715000"/>
            <a:ext cx="10607040" cy="548640"/>
          </a:xfrm>
          <a:prstGeom prst="roundRect">
            <a:avLst/>
          </a:prstGeom>
          <a:solidFill>
            <a:srgbClr val="173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5760720"/>
            <a:ext cx="10149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4FB0C4"/>
                </a:solidFill>
                <a:latin typeface="Calibri"/>
              </a:rPr>
              <a:t>Note.  </a:t>
            </a:r>
            <a:r>
              <a:rPr sz="1250" b="0" i="0">
                <a:solidFill>
                  <a:srgbClr val="93AAC0"/>
                </a:solidFill>
                <a:latin typeface="Calibri"/>
              </a:rPr>
              <a:t>A parent who trusts the room will tell you the thing that changes the diagnosis.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73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93AAC0"/>
                </a:solidFill>
                <a:latin typeface="Calibri"/>
              </a:rPr>
              <a:t>Linda Cruz, MD  ·  Voluntary Clinical Instructor, Mount Sinai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647395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93AAC0"/>
                </a:solidFill>
                <a:latin typeface="Calibri"/>
              </a:rPr>
              <a:t>Grand Rounds   6 / 8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2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18872" cy="640080"/>
          </a:xfrm>
          <a:prstGeom prst="rect">
            <a:avLst/>
          </a:prstGeom>
          <a:solidFill>
            <a:srgbClr val="4FB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4FB0C4"/>
                </a:solidFill>
                <a:latin typeface="Calibri"/>
              </a:rPr>
              <a:t>PUTTING IT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49808"/>
            <a:ext cx="10789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EAF1F6"/>
                </a:solidFill>
                <a:latin typeface="Calibri"/>
              </a:rPr>
              <a:t>Common barriers and what helps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828800"/>
          <a:ext cx="10607040" cy="3200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124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945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E1C30"/>
                          </a:solidFill>
                          <a:latin typeface="Calibri"/>
                        </a:rPr>
                        <a:t>Barrier</a:t>
                      </a:r>
                    </a:p>
                  </a:txBody>
                  <a:tcPr marL="109728" marT="36576" marB="36576" anchor="ctr">
                    <a:solidFill>
                      <a:srgbClr val="4FB0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E1C30"/>
                          </a:solidFill>
                          <a:latin typeface="Calibri"/>
                        </a:rPr>
                        <a:t>What helps in the room</a:t>
                      </a:r>
                    </a:p>
                  </a:txBody>
                  <a:tcPr marL="109728" marT="36576" marB="36576" anchor="ctr">
                    <a:solidFill>
                      <a:srgbClr val="4FB0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EAF1F6"/>
                          </a:solidFill>
                          <a:latin typeface="Calibri"/>
                        </a:rPr>
                        <a:t>Language</a:t>
                      </a:r>
                    </a:p>
                  </a:txBody>
                  <a:tcPr marL="109728" marT="27432" marB="27432" anchor="ctr">
                    <a:solidFill>
                      <a:srgbClr val="1730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EAF1F6"/>
                          </a:solidFill>
                          <a:latin typeface="Calibri"/>
                        </a:rPr>
                        <a:t>Professional interpreter, teach-back, plain segments</a:t>
                      </a:r>
                    </a:p>
                  </a:txBody>
                  <a:tcPr marL="109728" marT="27432" marB="27432" anchor="ctr">
                    <a:solidFill>
                      <a:srgbClr val="1730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EAF1F6"/>
                          </a:solidFill>
                          <a:latin typeface="Calibri"/>
                        </a:rPr>
                        <a:t>Cost and coverage</a:t>
                      </a:r>
                    </a:p>
                  </a:txBody>
                  <a:tcPr marL="109728" marT="27432" marB="27432" anchor="ctr">
                    <a:solidFill>
                      <a:srgbClr val="1E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EAF1F6"/>
                          </a:solidFill>
                          <a:latin typeface="Calibri"/>
                        </a:rPr>
                        <a:t>Sliding scale, Medicaid and CHIP navigation, free clinic</a:t>
                      </a:r>
                    </a:p>
                  </a:txBody>
                  <a:tcPr marL="109728" marT="27432" marB="27432" anchor="ctr">
                    <a:solidFill>
                      <a:srgbClr val="1E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EAF1F6"/>
                          </a:solidFill>
                          <a:latin typeface="Calibri"/>
                        </a:rPr>
                        <a:t>Fear of systems</a:t>
                      </a:r>
                    </a:p>
                  </a:txBody>
                  <a:tcPr marL="109728" marT="27432" marB="27432" anchor="ctr">
                    <a:solidFill>
                      <a:srgbClr val="1730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EAF1F6"/>
                          </a:solidFill>
                          <a:latin typeface="Calibri"/>
                        </a:rPr>
                        <a:t>No status questions, clear privacy, returned calls</a:t>
                      </a:r>
                    </a:p>
                  </a:txBody>
                  <a:tcPr marL="109728" marT="27432" marB="27432" anchor="ctr">
                    <a:solidFill>
                      <a:srgbClr val="1730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EAF1F6"/>
                          </a:solidFill>
                          <a:latin typeface="Calibri"/>
                        </a:rPr>
                        <a:t>Home health beliefs</a:t>
                      </a:r>
                    </a:p>
                  </a:txBody>
                  <a:tcPr marL="109728" marT="27432" marB="27432" anchor="ctr">
                    <a:solidFill>
                      <a:srgbClr val="1E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EAF1F6"/>
                          </a:solidFill>
                          <a:latin typeface="Calibri"/>
                        </a:rPr>
                        <a:t>Ask first, keep what is safe, redirect gently</a:t>
                      </a:r>
                    </a:p>
                  </a:txBody>
                  <a:tcPr marL="109728" marT="27432" marB="27432" anchor="ctr">
                    <a:solidFill>
                      <a:srgbClr val="1E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EAF1F6"/>
                          </a:solidFill>
                          <a:latin typeface="Calibri"/>
                        </a:rPr>
                        <a:t>Missed work and time</a:t>
                      </a:r>
                    </a:p>
                  </a:txBody>
                  <a:tcPr marL="109728" marT="27432" marB="27432" anchor="ctr">
                    <a:solidFill>
                      <a:srgbClr val="1730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EAF1F6"/>
                          </a:solidFill>
                          <a:latin typeface="Calibri"/>
                        </a:rPr>
                        <a:t>Flexible scheduling, batch the visit, evening follow-up</a:t>
                      </a:r>
                    </a:p>
                  </a:txBody>
                  <a:tcPr marL="109728" marT="27432" marB="27432" anchor="ctr">
                    <a:solidFill>
                      <a:srgbClr val="1730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EAF1F6"/>
                          </a:solidFill>
                          <a:latin typeface="Calibri"/>
                        </a:rPr>
                        <a:t>Health literacy</a:t>
                      </a:r>
                    </a:p>
                  </a:txBody>
                  <a:tcPr marL="109728" marT="27432" marB="27432" anchor="ctr">
                    <a:solidFill>
                      <a:srgbClr val="1E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EAF1F6"/>
                          </a:solidFill>
                          <a:latin typeface="Calibri"/>
                        </a:rPr>
                        <a:t>Pictures, the practice handouts, one plan at a time</a:t>
                      </a:r>
                    </a:p>
                  </a:txBody>
                  <a:tcPr marL="109728" marT="27432" marB="27432" anchor="ctr">
                    <a:solidFill>
                      <a:srgbClr val="1E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521208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1">
                <a:solidFill>
                  <a:srgbClr val="93AAC0"/>
                </a:solidFill>
                <a:latin typeface="Calibri"/>
              </a:rPr>
              <a:t>None of this is soft. It is how the medicine actually reaches the child.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73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93AAC0"/>
                </a:solidFill>
                <a:latin typeface="Calibri"/>
              </a:rPr>
              <a:t>Linda Cruz, MD  ·  Voluntary Clinical Instructor, Mount Sinai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7395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93AAC0"/>
                </a:solidFill>
                <a:latin typeface="Calibri"/>
              </a:rPr>
              <a:t>Grand Rounds   7 / 8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91695" cy="45720"/>
          </a:xfrm>
          <a:prstGeom prst="rect">
            <a:avLst/>
          </a:prstGeom>
          <a:solidFill>
            <a:srgbClr val="4FB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194560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000" b="1" i="0">
                <a:solidFill>
                  <a:srgbClr val="EAF1F6"/>
                </a:solidFill>
                <a:latin typeface="Calibri"/>
              </a:rPr>
              <a:t>The visit is half medicine, half being believed.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46120"/>
            <a:ext cx="94183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 i="0">
                <a:solidFill>
                  <a:srgbClr val="93AAC0"/>
                </a:solidFill>
                <a:latin typeface="Calibri"/>
              </a:rPr>
              <a:t>Language access, respect for belief, and a private room are not extras.
They are the conditions under which the care works at all.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75488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4FB0C4"/>
                </a:solidFill>
                <a:latin typeface="Calibri"/>
              </a:rPr>
              <a:t>Pediatric Grand Rounds   ·   December 15,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73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93AAC0"/>
                </a:solidFill>
                <a:latin typeface="Calibri"/>
              </a:rPr>
              <a:t>Linda Cruz, MD  ·  Voluntary Clinical Instructor, Mount Sinai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7395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93AAC0"/>
                </a:solidFill>
                <a:latin typeface="Calibri"/>
              </a:rPr>
              <a:t>Grand Rounds   8 / 8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824</Words>
  <Application>Microsoft Office PowerPoint</Application>
  <PresentationFormat>Widescreen</PresentationFormat>
  <Paragraphs>97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Bicultural Pediatric Care for Immigrant Families</dc:title>
  <dc:subject>Pediatric Grand Rounds talk</dc:subject>
  <dc:creator>L. Cruz</dc:creator>
  <cp:keywords/>
  <dc:description/>
  <cp:lastModifiedBy>L. Cruz</cp:lastModifiedBy>
  <cp:revision>2</cp:revision>
  <dcterms:created xsi:type="dcterms:W3CDTF">2013-01-27T09:14:16Z</dcterms:created>
  <dcterms:modified xsi:type="dcterms:W3CDTF">2026-06-25T09:57:54Z</dcterms:modified>
  <cp:category/>
</cp:coreProperties>
</file>