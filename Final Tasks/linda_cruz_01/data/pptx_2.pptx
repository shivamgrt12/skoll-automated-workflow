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USD thousands</c:v>
                </c:pt>
              </c:strCache>
            </c:strRef>
          </c:tx>
          <c:spPr>
            <a:solidFill>
              <a:srgbClr val="2FB3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EAF4F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Medicaid</c:v>
                </c:pt>
                <c:pt idx="1">
                  <c:v>Commercial</c:v>
                </c:pt>
                <c:pt idx="2">
                  <c:v>CHIP</c:v>
                </c:pt>
                <c:pt idx="3">
                  <c:v>Self-pay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202</c:v>
                </c:pt>
                <c:pt idx="1">
                  <c:v>160</c:v>
                </c:pt>
                <c:pt idx="2">
                  <c:v>38</c:v>
                </c:pt>
                <c:pt idx="3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016-4FDE-B72C-30254148AF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1F463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Expense, USD thousands</c:v>
                </c:pt>
              </c:strCache>
            </c:strRef>
          </c:tx>
          <c:spPr>
            <a:solidFill>
              <a:srgbClr val="2FB3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EAF4F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Staff</c:v>
                </c:pt>
                <c:pt idx="1">
                  <c:v>Rent</c:v>
                </c:pt>
                <c:pt idx="2">
                  <c:v>Supplies</c:v>
                </c:pt>
                <c:pt idx="3">
                  <c:v>Loan</c:v>
                </c:pt>
                <c:pt idx="4">
                  <c:v>Malpractice</c:v>
                </c:pt>
                <c:pt idx="5">
                  <c:v>Software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50</c:v>
                </c:pt>
                <c:pt idx="2">
                  <c:v>21</c:v>
                </c:pt>
                <c:pt idx="3">
                  <c:v>17</c:v>
                </c:pt>
                <c:pt idx="4">
                  <c:v>12</c:v>
                </c:pt>
                <c:pt idx="5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05B-401C-A75F-7E8FD48FD6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1F463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Net, USD thousands</c:v>
                </c:pt>
              </c:strCache>
            </c:strRef>
          </c:tx>
          <c:spPr>
            <a:ln w="31750">
              <a:solidFill>
                <a:srgbClr val="2FB3A6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174</c:v>
                </c:pt>
                <c:pt idx="2">
                  <c:v>168</c:v>
                </c:pt>
                <c:pt idx="3">
                  <c:v>165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44-405F-991D-702E63864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1F463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8AA8A4"/>
            </a:solidFill>
          </a:ln>
        </c:spPr>
        <c:txPr>
          <a:bodyPr/>
          <a:lstStyle/>
          <a:p>
            <a:pPr>
              <a:defRPr sz="1100">
                <a:solidFill>
                  <a:srgbClr val="8AA8A4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0" y="1097280"/>
            <a:ext cx="2743200" cy="27432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>
                <a:solidFill>
                  <a:srgbClr val="2FB3A6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9718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4F2"/>
                </a:solidFill>
                <a:latin typeface="Calibri"/>
              </a:rPr>
              <a:t>LITTLE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B3A6"/>
                </a:solidFill>
                <a:latin typeface="Calibri"/>
              </a:rPr>
              <a:t>LITTLE STARS PEDIATRICS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863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EAF4F2"/>
                </a:solidFill>
                <a:latin typeface="Calibri"/>
              </a:rPr>
              <a:t>Practice Year in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8AA8A4"/>
                </a:solidFill>
                <a:latin typeface="Calibri"/>
              </a:rPr>
              <a:t>Where the practice stands and what the next year 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92040"/>
            <a:ext cx="2194560" cy="4572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AF4F2"/>
                </a:solidFill>
                <a:latin typeface="Calibri"/>
              </a:rPr>
              <a:t>As of February 2026   ·   Reviewed with Carmen Lopez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The practice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446020" cy="22860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446020" cy="109728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2FB3A6"/>
                </a:solidFill>
                <a:latin typeface="Calibri"/>
              </a:rPr>
              <a:t>1,200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4F2"/>
                </a:solidFill>
                <a:latin typeface="Calibri"/>
              </a:rPr>
              <a:t>Active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AA8A4"/>
                </a:solidFill>
                <a:latin typeface="Calibri"/>
              </a:rPr>
              <a:t>about 4,600 visits a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7580" y="2103120"/>
            <a:ext cx="2446020" cy="22860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7580" y="2103120"/>
            <a:ext cx="2446020" cy="109728"/>
          </a:xfrm>
          <a:prstGeom prst="rect">
            <a:avLst/>
          </a:prstGeom>
          <a:solidFill>
            <a:srgbClr val="E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758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EF8A6C"/>
                </a:solidFill>
                <a:latin typeface="Calibri"/>
              </a:rPr>
              <a:t>$420K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758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4F2"/>
                </a:solidFill>
                <a:latin typeface="Calibri"/>
              </a:rPr>
              <a:t>Gross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AA8A4"/>
                </a:solidFill>
                <a:latin typeface="Calibri"/>
              </a:rPr>
              <a:t>trailing twelve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446020" cy="22860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446020" cy="109728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2FB3A6"/>
                </a:solidFill>
                <a:latin typeface="Calibri"/>
              </a:rPr>
              <a:t>$165K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4F2"/>
                </a:solidFill>
                <a:latin typeface="Calibri"/>
              </a:rPr>
              <a:t>Net to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AA8A4"/>
                </a:solidFill>
                <a:latin typeface="Calibri"/>
              </a:rPr>
              <a:t>down from $180K in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260" y="2103120"/>
            <a:ext cx="2446020" cy="22860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38260" y="2103120"/>
            <a:ext cx="2446020" cy="109728"/>
          </a:xfrm>
          <a:prstGeom prst="rect">
            <a:avLst/>
          </a:prstGeom>
          <a:solidFill>
            <a:srgbClr val="E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3826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EF8A6C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826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AF4F2"/>
                </a:solidFill>
                <a:latin typeface="Calibri"/>
              </a:rPr>
              <a:t>Free clinics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826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AA8A4"/>
                </a:solidFill>
                <a:latin typeface="Calibri"/>
              </a:rPr>
              <a:t>one per quarter, no 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8AA8A4"/>
                </a:solidFill>
                <a:latin typeface="Calibri"/>
              </a:rPr>
              <a:t>A sub-$500K solo practice carrying a Medicaid-heavy panel and a teaching load.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2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8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1" grpId="0" animBg="1"/>
      <p:bldP spid="16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Where the revenue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420624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057400"/>
          <a:ext cx="1014984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3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Where the money goes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420624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057400"/>
          <a:ext cx="1014984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4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Net income, four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420624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057400"/>
          <a:ext cx="1014984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5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Four people who run the 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E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Carmen Lopez, practice manager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the operational backbone, closes the books to the cent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Maria Santos, medical assistant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in the exam-room flow, asking for a raise this year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Jennifer Liu, billing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handles claims, may leave for a full-time role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Ana Bernal, reception and translation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holds the interpreter network with Linda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2FB3A6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8AA8A4"/>
                </a:solidFill>
                <a:latin typeface="Calibri"/>
              </a:rPr>
              <a:t>Staff payroll is the largest line and the least negotiable. These people are the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6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B3A6"/>
                </a:solidFill>
                <a:latin typeface="Calibri"/>
              </a:rPr>
              <a:t>DECISIONS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Calibri"/>
              </a:rPr>
              <a:t>What the next year 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E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Lease renewal in 2028, landlord signaled an 8% rent bump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Malpractice up 6% with the carrier, now $12,000 a year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SBA loan at $90K remaining of the original $180K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B3A6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Plan for Jennifer's billing role and Maria's raise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411480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F8A6C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Holding the line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F8A6C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Cap the rent increase below 8%, trade term for a smaller bump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F8A6C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Keep the free Saturday clinics, they are not negotiable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F8A6C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Protect the teaching half-days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F8A6C"/>
                </a:solidFill>
                <a:latin typeface="Calibri"/>
              </a:rPr>
              <a:t>› </a:t>
            </a:r>
            <a:r>
              <a:rPr sz="1600">
                <a:solidFill>
                  <a:srgbClr val="EAF4F2"/>
                </a:solidFill>
                <a:latin typeface="Calibri"/>
              </a:rPr>
              <a:t>Watch the sub-$500K revenue math, do not cross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2FB3A6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8AA8A4"/>
                </a:solidFill>
                <a:latin typeface="Calibri"/>
              </a:rPr>
              <a:t>The numbers are tight, not broken. The mission and the math both have to hold.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7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2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EAF4F2"/>
                </a:solidFill>
                <a:latin typeface="Calibri"/>
              </a:rPr>
              <a:t>Tight, steady, and still 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8AA8A4"/>
                </a:solidFill>
                <a:latin typeface="Calibri"/>
              </a:rPr>
              <a:t>Four years in, the panel is full, the clinics run, and the books close clean.
The work now is protecting the margin without losing the 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FB3A6"/>
                </a:solidFill>
                <a:latin typeface="Calibri"/>
              </a:rPr>
              <a:t>Practice review   · 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5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8AA8A4"/>
                </a:solidFill>
                <a:latin typeface="Calibri"/>
              </a:rPr>
              <a:t>Linda Cruz, MD  ·  Little Stars Pediatrics  ·  Jackson Heights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8AA8A4"/>
                </a:solidFill>
                <a:latin typeface="Calibri"/>
              </a:rPr>
              <a:t>Practice Review   8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472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 Stars Pediatrics Practice Review</dc:title>
  <dc:subject>Practice operations and finance</dc:subject>
  <dc:creator>L. Cruz</dc:creator>
  <cp:keywords/>
  <dc:description/>
  <cp:lastModifiedBy>L. Cruz</cp:lastModifiedBy>
  <cp:revision>2</cp:revision>
  <dcterms:created xsi:type="dcterms:W3CDTF">2013-01-27T09:14:16Z</dcterms:created>
  <dcterms:modified xsi:type="dcterms:W3CDTF">2026-06-25T09:58:01Z</dcterms:modified>
  <cp:category/>
</cp:coreProperties>
</file>