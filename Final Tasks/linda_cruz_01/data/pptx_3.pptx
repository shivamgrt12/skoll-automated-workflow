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69680" y="1097280"/>
            <a:ext cx="2743200" cy="2743200"/>
          </a:xfrm>
          <a:prstGeom prst="round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0" y="18288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>
                <a:solidFill>
                  <a:srgbClr val="E0794F"/>
                </a:solidFill>
                <a:latin typeface="Calibri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29718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6ECE2"/>
                </a:solidFill>
                <a:latin typeface="Calibri"/>
              </a:rPr>
              <a:t>LITTLE STARS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0794F"/>
                </a:solidFill>
                <a:latin typeface="Calibri"/>
              </a:rPr>
              <a:t>A QUARTERLY GIFT TO THE NEIGHBORHOOD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78638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6ECE2"/>
                </a:solidFill>
                <a:latin typeface="Calibri"/>
              </a:rPr>
              <a:t>The Free Saturday Children's Clinic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79A8A"/>
                </a:solidFill>
                <a:latin typeface="Calibri"/>
              </a:rPr>
              <a:t>No insurance, no appointment, no cost, for the families between coverage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892040"/>
            <a:ext cx="2194560" cy="45720"/>
          </a:xfrm>
          <a:prstGeom prst="rect">
            <a:avLst/>
          </a:prstGeom>
          <a:solidFill>
            <a:srgbClr val="E0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6ECE2"/>
                </a:solidFill>
                <a:latin typeface="Calibri"/>
              </a:rPr>
              <a:t>Little Stars Pediatrics   ·   Jackson Heights, since 2021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E0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0794F"/>
                </a:solidFill>
                <a:latin typeface="Calibri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6ECE2"/>
                </a:solidFill>
                <a:latin typeface="Calibri"/>
              </a:rPr>
              <a:t>A vocation she calls a hobby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3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424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The need in the neighborhood does not wait for coverage to line up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A child between insurance still gets sick, still needs shots and forms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One Saturday a quarter, the doors open and the price comes off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The math does not work, and that was never the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E0794F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B79A8A"/>
                </a:solidFill>
                <a:latin typeface="Calibri"/>
              </a:rPr>
              <a:t>The same care our patient families get, free for the day, no questions about status.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B79A8A"/>
                </a:solidFill>
                <a:latin typeface="Calibri"/>
              </a:rPr>
              <a:t>Little Stars Pediatrics  ·  Free Saturday Clinic  ·  Jackson Heights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B79A8A"/>
                </a:solidFill>
                <a:latin typeface="Calibri"/>
              </a:rPr>
              <a:t>Free Clinic   2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E0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0794F"/>
                </a:solidFill>
                <a:latin typeface="Calibri"/>
              </a:rPr>
              <a:t>WHO WALKS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6ECE2"/>
                </a:solidFill>
                <a:latin typeface="Calibri"/>
              </a:rPr>
              <a:t>The families the clinic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3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212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Families between jobs and between coverage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New arrivals not yet enrolled in Medicaid or CHIP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Parents who skipped a visit because of the cost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Kids who need a school or sports form by Monday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120640" cy="4114800"/>
          </a:xfrm>
          <a:prstGeom prst="round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4805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3F9F6E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What they need that day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3F9F6E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A real well-child check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3F9F6E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Catch-up immunizations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3F9F6E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A signed school or sports form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3F9F6E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A sick visit for the cough that would not quit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E0794F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B79A8A"/>
                </a:solidFill>
                <a:latin typeface="Calibri"/>
              </a:rPr>
              <a:t>Left is who comes, right is what they leave with.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B79A8A"/>
                </a:solidFill>
                <a:latin typeface="Calibri"/>
              </a:rPr>
              <a:t>Little Stars Pediatrics  ·  Free Saturday Clinic  ·  Jackson Heights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B79A8A"/>
                </a:solidFill>
                <a:latin typeface="Calibri"/>
              </a:rPr>
              <a:t>Free Clinic   3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E0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0794F"/>
                </a:solidFill>
                <a:latin typeface="Calibri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6ECE2"/>
                </a:solidFill>
                <a:latin typeface="Calibri"/>
              </a:rPr>
              <a:t>What the clinic provides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0704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42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4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1611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109728" marT="36576" marB="36576" anchor="ctr">
                    <a:solidFill>
                      <a:srgbClr val="E079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A1611"/>
                          </a:solidFill>
                          <a:latin typeface="Calibri"/>
                        </a:rPr>
                        <a:t>What it covers</a:t>
                      </a:r>
                    </a:p>
                  </a:txBody>
                  <a:tcPr marL="109728" marT="36576" marB="36576" anchor="ctr">
                    <a:solidFill>
                      <a:srgbClr val="E079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6ECE2"/>
                          </a:solidFill>
                          <a:latin typeface="Calibri"/>
                        </a:rPr>
                        <a:t>Well-child checks</a:t>
                      </a:r>
                    </a:p>
                  </a:txBody>
                  <a:tcPr marL="109728" marT="27432" marB="27432" anchor="ctr">
                    <a:solidFill>
                      <a:srgbClr val="3A2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6ECE2"/>
                          </a:solidFill>
                          <a:latin typeface="Calibri"/>
                        </a:rPr>
                        <a:t>Growth, development, full exam</a:t>
                      </a:r>
                    </a:p>
                  </a:txBody>
                  <a:tcPr marL="109728" marT="27432" marB="27432" anchor="ctr">
                    <a:solidFill>
                      <a:srgbClr val="3A2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6ECE2"/>
                          </a:solidFill>
                          <a:latin typeface="Calibri"/>
                        </a:rPr>
                        <a:t>Catch-up shots</a:t>
                      </a:r>
                    </a:p>
                  </a:txBody>
                  <a:tcPr marL="109728" marT="27432" marB="27432" anchor="ctr">
                    <a:solidFill>
                      <a:srgbClr val="4728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6ECE2"/>
                          </a:solidFill>
                          <a:latin typeface="Calibri"/>
                        </a:rPr>
                        <a:t>Free immunizations back onto schedule</a:t>
                      </a:r>
                    </a:p>
                  </a:txBody>
                  <a:tcPr marL="109728" marT="27432" marB="27432" anchor="ctr">
                    <a:solidFill>
                      <a:srgbClr val="4728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6ECE2"/>
                          </a:solidFill>
                          <a:latin typeface="Calibri"/>
                        </a:rPr>
                        <a:t>Sick visits</a:t>
                      </a:r>
                    </a:p>
                  </a:txBody>
                  <a:tcPr marL="109728" marT="27432" marB="27432" anchor="ctr">
                    <a:solidFill>
                      <a:srgbClr val="3A2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6ECE2"/>
                          </a:solidFill>
                          <a:latin typeface="Calibri"/>
                        </a:rPr>
                        <a:t>Fevers, coughs, rashes, ear pain</a:t>
                      </a:r>
                    </a:p>
                  </a:txBody>
                  <a:tcPr marL="109728" marT="27432" marB="27432" anchor="ctr">
                    <a:solidFill>
                      <a:srgbClr val="3A2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6ECE2"/>
                          </a:solidFill>
                          <a:latin typeface="Calibri"/>
                        </a:rPr>
                        <a:t>School and sports forms</a:t>
                      </a:r>
                    </a:p>
                  </a:txBody>
                  <a:tcPr marL="109728" marT="27432" marB="27432" anchor="ctr">
                    <a:solidFill>
                      <a:srgbClr val="4728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6ECE2"/>
                          </a:solidFill>
                          <a:latin typeface="Calibri"/>
                        </a:rPr>
                        <a:t>Brought in blank, left signed</a:t>
                      </a:r>
                    </a:p>
                  </a:txBody>
                  <a:tcPr marL="109728" marT="27432" marB="27432" anchor="ctr">
                    <a:solidFill>
                      <a:srgbClr val="4728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6ECE2"/>
                          </a:solidFill>
                          <a:latin typeface="Calibri"/>
                        </a:rPr>
                        <a:t>Interpreters on site</a:t>
                      </a:r>
                    </a:p>
                  </a:txBody>
                  <a:tcPr marL="109728" marT="27432" marB="27432" anchor="ctr">
                    <a:solidFill>
                      <a:srgbClr val="3A20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6ECE2"/>
                          </a:solidFill>
                          <a:latin typeface="Calibri"/>
                        </a:rPr>
                        <a:t>English, Spanish, and a network for more</a:t>
                      </a:r>
                    </a:p>
                  </a:txBody>
                  <a:tcPr marL="109728" marT="27432" marB="27432" anchor="ctr">
                    <a:solidFill>
                      <a:srgbClr val="3A2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6ECE2"/>
                          </a:solidFill>
                          <a:latin typeface="Calibri"/>
                        </a:rPr>
                        <a:t>Coverage navigation</a:t>
                      </a:r>
                    </a:p>
                  </a:txBody>
                  <a:tcPr marL="109728" marT="27432" marB="27432" anchor="ctr">
                    <a:solidFill>
                      <a:srgbClr val="4728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6ECE2"/>
                          </a:solidFill>
                          <a:latin typeface="Calibri"/>
                        </a:rPr>
                        <a:t>Pointing families toward Medicaid and CHIP</a:t>
                      </a:r>
                    </a:p>
                  </a:txBody>
                  <a:tcPr marL="109728" marT="27432" marB="27432" anchor="ctr">
                    <a:solidFill>
                      <a:srgbClr val="4728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B79A8A"/>
                </a:solidFill>
                <a:latin typeface="Calibri"/>
              </a:rPr>
              <a:t>A full pediatric visit, start to finish, at no cost to the family.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B79A8A"/>
                </a:solidFill>
                <a:latin typeface="Calibri"/>
              </a:rPr>
              <a:t>Little Stars Pediatrics  ·  Free Saturday Clinic  ·  Jackson Heights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B79A8A"/>
                </a:solidFill>
                <a:latin typeface="Calibri"/>
              </a:rPr>
              <a:t>Free Clinic   4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E0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0794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6ECE2"/>
                </a:solidFill>
                <a:latin typeface="Calibri"/>
              </a:rPr>
              <a:t>Who shows up on a Saturday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3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424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Carmen on the front desk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intake, flow, and the calm at the door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Maria and Ana in the rooms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vitals, language, and the interpreter network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Volunteer clinicians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colleagues who give a Saturday morning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Dr. Patricia Garcia, when she can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a specialist set of eyes for the hard 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E0794F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B79A8A"/>
                </a:solidFill>
                <a:latin typeface="Calibri"/>
              </a:rPr>
              <a:t>Nobody is paid for the morning. The staff treat it as theirs too.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B79A8A"/>
                </a:solidFill>
                <a:latin typeface="Calibri"/>
              </a:rPr>
              <a:t>Little Stars Pediatrics  ·  Free Saturday Clinic  ·  Jackson Heights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B79A8A"/>
                </a:solidFill>
                <a:latin typeface="Calibri"/>
              </a:rPr>
              <a:t>Free Clinic   5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E0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0794F"/>
                </a:solidFill>
                <a:latin typeface="Calibri"/>
              </a:rPr>
              <a:t>SINCE 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6ECE2"/>
                </a:solidFill>
                <a:latin typeface="Calibri"/>
              </a:rPr>
              <a:t>What the clinic has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2446020" cy="2286000"/>
          </a:xfrm>
          <a:prstGeom prst="round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2446020" cy="109728"/>
          </a:xfrm>
          <a:prstGeom prst="rect">
            <a:avLst/>
          </a:prstGeom>
          <a:solidFill>
            <a:srgbClr val="E0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4460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00" b="1" i="0">
                <a:solidFill>
                  <a:srgbClr val="E0794F"/>
                </a:solidFill>
                <a:latin typeface="Calibr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6ECE2"/>
                </a:solidFill>
                <a:latin typeface="Calibri"/>
              </a:rPr>
              <a:t>Clinics held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B79A8A"/>
                </a:solidFill>
                <a:latin typeface="Calibri"/>
              </a:rPr>
              <a:t>one per quarter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7580" y="2103120"/>
            <a:ext cx="2446020" cy="2286000"/>
          </a:xfrm>
          <a:prstGeom prst="round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97580" y="2103120"/>
            <a:ext cx="2446020" cy="109728"/>
          </a:xfrm>
          <a:prstGeom prst="rect">
            <a:avLst/>
          </a:prstGeom>
          <a:solidFill>
            <a:srgbClr val="3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7580" y="2560320"/>
            <a:ext cx="24460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00" b="1" i="0">
                <a:solidFill>
                  <a:srgbClr val="3F9F6E"/>
                </a:solidFill>
                <a:latin typeface="Calibri"/>
              </a:rPr>
              <a:t>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7580" y="352044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6ECE2"/>
                </a:solidFill>
                <a:latin typeface="Calibri"/>
              </a:rPr>
              <a:t>Children seen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7580" y="388620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B79A8A"/>
                </a:solidFill>
                <a:latin typeface="Calibri"/>
              </a:rPr>
              <a:t>at the most recent clinic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03120"/>
            <a:ext cx="2446020" cy="2286000"/>
          </a:xfrm>
          <a:prstGeom prst="round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446020" cy="109728"/>
          </a:xfrm>
          <a:prstGeom prst="rect">
            <a:avLst/>
          </a:prstGeom>
          <a:solidFill>
            <a:srgbClr val="E0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24460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00" b="1" i="0">
                <a:solidFill>
                  <a:srgbClr val="E0794F"/>
                </a:solidFill>
                <a:latin typeface="Calibri"/>
              </a:rPr>
              <a:t>130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2044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6ECE2"/>
                </a:solidFill>
                <a:latin typeface="Calibri"/>
              </a:rPr>
              <a:t>Free shots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88620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B79A8A"/>
                </a:solidFill>
                <a:latin typeface="Calibri"/>
              </a:rPr>
              <a:t>given that morning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260" y="2103120"/>
            <a:ext cx="2446020" cy="2286000"/>
          </a:xfrm>
          <a:prstGeom prst="round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38260" y="2103120"/>
            <a:ext cx="2446020" cy="109728"/>
          </a:xfrm>
          <a:prstGeom prst="rect">
            <a:avLst/>
          </a:prstGeom>
          <a:solidFill>
            <a:srgbClr val="3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38260" y="2560320"/>
            <a:ext cx="24460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00" b="1" i="0">
                <a:solidFill>
                  <a:srgbClr val="3F9F6E"/>
                </a:solidFill>
                <a:latin typeface="Calibri"/>
              </a:rPr>
              <a:t>$0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8260" y="352044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6ECE2"/>
                </a:solidFill>
                <a:latin typeface="Calibri"/>
              </a:rPr>
              <a:t>Charged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8260" y="3886200"/>
            <a:ext cx="24460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B79A8A"/>
                </a:solidFill>
                <a:latin typeface="Calibri"/>
              </a:rPr>
              <a:t>to any family, 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3776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B79A8A"/>
                </a:solidFill>
                <a:latin typeface="Calibri"/>
              </a:rPr>
              <a:t>Small numbers by a hospital's measure. The whole neighborhood by ours.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B79A8A"/>
                </a:solidFill>
                <a:latin typeface="Calibri"/>
              </a:rPr>
              <a:t>Little Stars Pediatrics  ·  Free Saturday Clinic  ·  Jackson Heights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B79A8A"/>
                </a:solidFill>
                <a:latin typeface="Calibri"/>
              </a:rPr>
              <a:t>Free Clinic   6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6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8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11" grpId="0" animBg="1"/>
      <p:bldP spid="16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E0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0794F"/>
                </a:solidFill>
                <a:latin typeface="Calibri"/>
              </a:rPr>
              <a:t>COMING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6ECE2"/>
                </a:solidFill>
                <a:latin typeface="Calibri"/>
              </a:rPr>
              <a:t>Next clinics and how to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3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424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Saturday, October 17, 2026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9 AM to 1 PM, walk in any time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Saturday, January 23, 2027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the winter clinic, ahead of the spring school forms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Donate supplies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vaccines, basic exam supplies, and printing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E0794F"/>
                </a:solidFill>
                <a:latin typeface="Calibri"/>
              </a:rPr>
              <a:t>› </a:t>
            </a:r>
            <a:r>
              <a:rPr sz="1600">
                <a:solidFill>
                  <a:srgbClr val="F6ECE2"/>
                </a:solidFill>
                <a:latin typeface="Calibri"/>
              </a:rPr>
              <a:t>Lend a language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interpreters for the languages we do not cover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E0794F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B79A8A"/>
                </a:solidFill>
                <a:latin typeface="Calibri"/>
              </a:rPr>
              <a:t>Word of mouth is the best help. Tell the family who thinks they cannot afford a doctor.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B79A8A"/>
                </a:solidFill>
                <a:latin typeface="Calibri"/>
              </a:rPr>
              <a:t>Little Stars Pediatrics  ·  Free Saturday Clinic  ·  Jackson Heights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B79A8A"/>
                </a:solidFill>
                <a:latin typeface="Calibri"/>
              </a:rPr>
              <a:t>Free Clinic   7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6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45720"/>
          </a:xfrm>
          <a:prstGeom prst="rect">
            <a:avLst/>
          </a:prstGeom>
          <a:solidFill>
            <a:srgbClr val="E0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F6ECE2"/>
                </a:solidFill>
                <a:latin typeface="Calibri"/>
              </a:rPr>
              <a:t>Free for the day, on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B79A8A"/>
                </a:solidFill>
                <a:latin typeface="Calibri"/>
              </a:rPr>
              <a:t>A quarter of the year, the door opens and the cost comes off.
It does not fix the system. It takes care of the child in front of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E0794F"/>
                </a:solidFill>
                <a:latin typeface="Calibri"/>
              </a:rPr>
              <a:t>Free Saturday Clinic   ·   next clinic October 17,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3A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B79A8A"/>
                </a:solidFill>
                <a:latin typeface="Calibri"/>
              </a:rPr>
              <a:t>Little Stars Pediatrics  ·  Free Saturday Clinic  ·  Jackson Heights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B79A8A"/>
                </a:solidFill>
                <a:latin typeface="Calibri"/>
              </a:rPr>
              <a:t>Free Clinic   8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674</Words>
  <Application>Microsoft Office PowerPoint</Application>
  <PresentationFormat>Widescreen</PresentationFormat>
  <Paragraphs>96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Free Saturday Children's Clinic</dc:title>
  <dc:subject>Community pediatrics program</dc:subject>
  <dc:creator>L. Cruz</dc:creator>
  <cp:keywords/>
  <dc:description/>
  <cp:lastModifiedBy>L. Cruz</cp:lastModifiedBy>
  <cp:revision>2</cp:revision>
  <dcterms:created xsi:type="dcterms:W3CDTF">2013-01-27T09:14:16Z</dcterms:created>
  <dcterms:modified xsi:type="dcterms:W3CDTF">2026-06-25T09:58:06Z</dcterms:modified>
  <cp:category/>
</cp:coreProperties>
</file>