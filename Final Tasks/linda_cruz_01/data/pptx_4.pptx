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0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3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69680" y="1097280"/>
            <a:ext cx="2743200" cy="2743200"/>
          </a:xfrm>
          <a:prstGeom prst="roundRect">
            <a:avLst/>
          </a:prstGeom>
          <a:solidFill>
            <a:srgbClr val="2E4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69680" y="1828800"/>
            <a:ext cx="2743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0" i="0">
                <a:solidFill>
                  <a:srgbClr val="F0A24E"/>
                </a:solidFill>
                <a:latin typeface="Calibri"/>
              </a:rP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297180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2EEE6"/>
                </a:solidFill>
                <a:latin typeface="Calibri"/>
              </a:rPr>
              <a:t>LITTLE STARS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0A24E"/>
                </a:solidFill>
                <a:latin typeface="Calibri"/>
              </a:rPr>
              <a:t>FOR PARENTS  /  PARA PADRES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78638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400" b="1" i="0">
                <a:solidFill>
                  <a:srgbClr val="F2EEE6"/>
                </a:solidFill>
                <a:latin typeface="Calibri"/>
              </a:rPr>
              <a:t>Well-Child Visits and Milestones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A6B4B2"/>
                </a:solidFill>
                <a:latin typeface="Calibri"/>
              </a:rPr>
              <a:t>Visitas del nino sano e hitos del desarrollo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892040"/>
            <a:ext cx="2194560" cy="45720"/>
          </a:xfrm>
          <a:prstGeom prst="rect">
            <a:avLst/>
          </a:prstGeom>
          <a:solidFill>
            <a:srgbClr val="F0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5029200"/>
            <a:ext cx="7315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2EEE6"/>
                </a:solidFill>
                <a:latin typeface="Calibri"/>
              </a:rPr>
              <a:t>Little Stars Pediatrics   ·   Jackson Heights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F0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0A24E"/>
                </a:solidFill>
                <a:latin typeface="Calibri"/>
              </a:rPr>
              <a:t>WHY IT MATTERS  /  POR QUE IMPORTA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2EEE6"/>
                </a:solidFill>
                <a:latin typeface="Calibri"/>
              </a:rPr>
              <a:t>The well-child visit is more than shots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828800" cy="45720"/>
          </a:xfrm>
          <a:prstGeom prst="rect">
            <a:avLst/>
          </a:prstGeom>
          <a:solidFill>
            <a:srgbClr val="3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424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F0A24E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We track growth and development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Seguimos el crecimiento y el desarrollo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F0A24E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We catch small things early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Detectamos cosas pequenas a tiempo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F0A24E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We keep shots on schedule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Mantenemos las vacunas al dia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F0A24E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You get time to ask questions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Usted tiene tiempo para preguntar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715000"/>
            <a:ext cx="10607040" cy="548640"/>
          </a:xfrm>
          <a:prstGeom prst="roundRect">
            <a:avLst/>
          </a:prstGeom>
          <a:solidFill>
            <a:srgbClr val="2E4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0A24E"/>
                </a:solidFill>
                <a:latin typeface="Calibri"/>
              </a:rPr>
              <a:t>Note.  </a:t>
            </a:r>
            <a:r>
              <a:rPr sz="1250" b="0" i="0">
                <a:solidFill>
                  <a:srgbClr val="A6B4B2"/>
                </a:solidFill>
                <a:latin typeface="Calibri"/>
              </a:rPr>
              <a:t>Bring your questions written down. No question is too small for the visit.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E4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A6B4B2"/>
                </a:solidFill>
                <a:latin typeface="Calibri"/>
              </a:rPr>
              <a:t>Little Stars Pediatrics  ·  Parent guide  ·  Jackson Heights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A6B4B2"/>
                </a:solidFill>
                <a:latin typeface="Calibri"/>
              </a:rPr>
              <a:t>Parent Guide   2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F0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0A24E"/>
                </a:solidFill>
                <a:latin typeface="Calibri"/>
              </a:rPr>
              <a:t>SCHEDULE  /  CALENDARIO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2EEE6"/>
                </a:solidFill>
                <a:latin typeface="Calibri"/>
              </a:rPr>
              <a:t>When to come in the early years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0704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42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4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302F"/>
                          </a:solidFill>
                          <a:latin typeface="Calibri"/>
                        </a:rPr>
                        <a:t>Age  /  Edad</a:t>
                      </a:r>
                    </a:p>
                  </a:txBody>
                  <a:tcPr marL="109728" marT="36576" marB="36576" anchor="ctr">
                    <a:solidFill>
                      <a:srgbClr val="F0A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302F"/>
                          </a:solidFill>
                          <a:latin typeface="Calibri"/>
                        </a:rPr>
                        <a:t>What we check  /  Que revisamos</a:t>
                      </a:r>
                    </a:p>
                  </a:txBody>
                  <a:tcPr marL="109728" marT="36576" marB="36576" anchor="ctr">
                    <a:solidFill>
                      <a:srgbClr val="F0A2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By 2 weeks  /  A las 2 semanas</a:t>
                      </a:r>
                    </a:p>
                  </a:txBody>
                  <a:tcPr marL="109728" marT="27432" marB="27432" anchor="ctr">
                    <a:solidFill>
                      <a:srgbClr val="2E40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Weight, feeding, jaundice</a:t>
                      </a:r>
                    </a:p>
                  </a:txBody>
                  <a:tcPr marL="109728" marT="27432" marB="27432" anchor="ctr">
                    <a:solidFill>
                      <a:srgbClr val="2E40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2, 4, 6, 9 months  /  meses</a:t>
                      </a:r>
                    </a:p>
                  </a:txBody>
                  <a:tcPr marL="109728" marT="27432" marB="27432" anchor="ctr">
                    <a:solidFill>
                      <a:srgbClr val="374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Growth, milestones, shots</a:t>
                      </a:r>
                    </a:p>
                  </a:txBody>
                  <a:tcPr marL="109728" marT="27432" marB="27432" anchor="ctr">
                    <a:solidFill>
                      <a:srgbClr val="374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12, 15, 18 months  /  meses</a:t>
                      </a:r>
                    </a:p>
                  </a:txBody>
                  <a:tcPr marL="109728" marT="27432" marB="27432" anchor="ctr">
                    <a:solidFill>
                      <a:srgbClr val="2E40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Walking, words, more shots</a:t>
                      </a:r>
                    </a:p>
                  </a:txBody>
                  <a:tcPr marL="109728" marT="27432" marB="27432" anchor="ctr">
                    <a:solidFill>
                      <a:srgbClr val="2E40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2 and 3 years  /  2 y 3 anos</a:t>
                      </a:r>
                    </a:p>
                  </a:txBody>
                  <a:tcPr marL="109728" marT="27432" marB="27432" anchor="ctr">
                    <a:solidFill>
                      <a:srgbClr val="374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Speech, behavior, lead check</a:t>
                      </a:r>
                    </a:p>
                  </a:txBody>
                  <a:tcPr marL="109728" marT="27432" marB="27432" anchor="ctr">
                    <a:solidFill>
                      <a:srgbClr val="374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Yearly after 3  /  Cada ano</a:t>
                      </a:r>
                    </a:p>
                  </a:txBody>
                  <a:tcPr marL="109728" marT="27432" marB="27432" anchor="ctr">
                    <a:solidFill>
                      <a:srgbClr val="2E40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Checkup, vision, before-school shots</a:t>
                      </a:r>
                    </a:p>
                  </a:txBody>
                  <a:tcPr marL="109728" marT="27432" marB="27432" anchor="ctr">
                    <a:solidFill>
                      <a:srgbClr val="2E40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A6B4B2"/>
                </a:solidFill>
                <a:latin typeface="Calibri"/>
              </a:rPr>
              <a:t>Every child grows at their own pace. The ages are a guide, not a 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E4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A6B4B2"/>
                </a:solidFill>
                <a:latin typeface="Calibri"/>
              </a:rPr>
              <a:t>Little Stars Pediatrics  ·  Parent guide  ·  Jackson Heights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A6B4B2"/>
                </a:solidFill>
                <a:latin typeface="Calibri"/>
              </a:rPr>
              <a:t>Parent Guide   3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F0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0A24E"/>
                </a:solidFill>
                <a:latin typeface="Calibri"/>
              </a:rPr>
              <a:t>MILESTONES  /  HITOS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2EEE6"/>
                </a:solidFill>
                <a:latin typeface="Calibri"/>
              </a:rPr>
              <a:t>What many children do by each age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828800"/>
          <a:ext cx="1060704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4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302F"/>
                          </a:solidFill>
                          <a:latin typeface="Calibri"/>
                        </a:rPr>
                        <a:t>Age  /  Edad</a:t>
                      </a:r>
                    </a:p>
                  </a:txBody>
                  <a:tcPr marL="109728" marT="36576" marB="36576" anchor="ctr">
                    <a:solidFill>
                      <a:srgbClr val="F0A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2302F"/>
                          </a:solidFill>
                          <a:latin typeface="Calibri"/>
                        </a:rPr>
                        <a:t>Look for  /  Busque</a:t>
                      </a:r>
                    </a:p>
                  </a:txBody>
                  <a:tcPr marL="109728" marT="36576" marB="36576" anchor="ctr">
                    <a:solidFill>
                      <a:srgbClr val="F0A2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6 months  /  meses</a:t>
                      </a:r>
                    </a:p>
                  </a:txBody>
                  <a:tcPr marL="109728" marT="27432" marB="27432" anchor="ctr">
                    <a:solidFill>
                      <a:srgbClr val="2E40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Rolls over, reaches for toys, knows familiar faces</a:t>
                      </a:r>
                    </a:p>
                  </a:txBody>
                  <a:tcPr marL="109728" marT="27432" marB="27432" anchor="ctr">
                    <a:solidFill>
                      <a:srgbClr val="2E40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12 months  /  meses</a:t>
                      </a:r>
                    </a:p>
                  </a:txBody>
                  <a:tcPr marL="109728" marT="27432" marB="27432" anchor="ctr">
                    <a:solidFill>
                      <a:srgbClr val="374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Pulls to stand, waves bye, says mama or dada</a:t>
                      </a:r>
                    </a:p>
                  </a:txBody>
                  <a:tcPr marL="109728" marT="27432" marB="27432" anchor="ctr">
                    <a:solidFill>
                      <a:srgbClr val="374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18 months  /  meses</a:t>
                      </a:r>
                    </a:p>
                  </a:txBody>
                  <a:tcPr marL="109728" marT="27432" marB="27432" anchor="ctr">
                    <a:solidFill>
                      <a:srgbClr val="2E40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Walks alone, points to show you, several words</a:t>
                      </a:r>
                    </a:p>
                  </a:txBody>
                  <a:tcPr marL="109728" marT="27432" marB="27432" anchor="ctr">
                    <a:solidFill>
                      <a:srgbClr val="2E40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2 years  /  anos</a:t>
                      </a:r>
                    </a:p>
                  </a:txBody>
                  <a:tcPr marL="109728" marT="27432" marB="27432" anchor="ctr">
                    <a:solidFill>
                      <a:srgbClr val="374B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Runs, two-word phrases, about 50 words</a:t>
                      </a:r>
                    </a:p>
                  </a:txBody>
                  <a:tcPr marL="109728" marT="27432" marB="27432" anchor="ctr">
                    <a:solidFill>
                      <a:srgbClr val="374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3 years  /  anos</a:t>
                      </a:r>
                    </a:p>
                  </a:txBody>
                  <a:tcPr marL="109728" marT="27432" marB="27432" anchor="ctr">
                    <a:solidFill>
                      <a:srgbClr val="2E40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F2EEE6"/>
                          </a:solidFill>
                          <a:latin typeface="Calibri"/>
                        </a:rPr>
                        <a:t>Short sentences, plays pretend, climbs well</a:t>
                      </a:r>
                    </a:p>
                  </a:txBody>
                  <a:tcPr marL="109728" marT="27432" marB="27432" anchor="ctr">
                    <a:solidFill>
                      <a:srgbClr val="2E40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 i="1">
                <a:solidFill>
                  <a:srgbClr val="A6B4B2"/>
                </a:solidFill>
                <a:latin typeface="Calibri"/>
              </a:rPr>
              <a:t>If your child is not doing something here, mention it. We look together, no alarm.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E4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A6B4B2"/>
                </a:solidFill>
                <a:latin typeface="Calibri"/>
              </a:rPr>
              <a:t>Little Stars Pediatrics  ·  Parent guide  ·  Jackson Heights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A6B4B2"/>
                </a:solidFill>
                <a:latin typeface="Calibri"/>
              </a:rPr>
              <a:t>Parent Guide   4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F0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0A24E"/>
                </a:solidFill>
                <a:latin typeface="Calibri"/>
              </a:rPr>
              <a:t>SHOTS  /  VACUNAS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2EEE6"/>
                </a:solidFill>
                <a:latin typeface="Calibri"/>
              </a:rPr>
              <a:t>Why we keep them on 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828800" cy="45720"/>
          </a:xfrm>
          <a:prstGeom prst="rect">
            <a:avLst/>
          </a:prstGeom>
          <a:solidFill>
            <a:srgbClr val="3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52120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F0A24E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They protect before the exposure</a:t>
            </a:r>
          </a:p>
          <a:p>
            <a:pPr>
              <a:spcAft>
                <a:spcPts val="11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Protegen antes del contagio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F0A24E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The schedule is timed for real risk</a:t>
            </a:r>
          </a:p>
          <a:p>
            <a:pPr>
              <a:spcAft>
                <a:spcPts val="11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El esquema sigue el riesgo real por edad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F0A24E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Most shots cluster in the first two years</a:t>
            </a:r>
          </a:p>
          <a:p>
            <a:pPr>
              <a:spcAft>
                <a:spcPts val="11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La mayoria se dan en los primeros dos anos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F0A24E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Before kindergarten, a final set</a:t>
            </a:r>
          </a:p>
          <a:p>
            <a:pPr>
              <a:spcAft>
                <a:spcPts val="11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Antes del kinder, un grupo final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120640" cy="4114800"/>
          </a:xfrm>
          <a:prstGeom prst="roundRect">
            <a:avLst/>
          </a:prstGeom>
          <a:solidFill>
            <a:srgbClr val="2E4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48056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3FA9A0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Common questions  /  Preguntas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3FA9A0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A little fever after is normal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3FA9A0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Una fiebre leve despues es normal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3FA9A0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More than one shot a visit is safe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3FA9A0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Mas de una vacuna por visita es seguro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600" b="1">
                <a:solidFill>
                  <a:srgbClr val="3FA9A0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Ask us anything before you decide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5715000"/>
            <a:ext cx="10607040" cy="548640"/>
          </a:xfrm>
          <a:prstGeom prst="roundRect">
            <a:avLst/>
          </a:prstGeom>
          <a:solidFill>
            <a:srgbClr val="2E4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0A24E"/>
                </a:solidFill>
                <a:latin typeface="Calibri"/>
              </a:rPr>
              <a:t>Note.  </a:t>
            </a:r>
            <a:r>
              <a:rPr sz="1250" b="0" i="0">
                <a:solidFill>
                  <a:srgbClr val="A6B4B2"/>
                </a:solidFill>
                <a:latin typeface="Calibri"/>
              </a:rPr>
              <a:t>We will never rush you. Ask every question first, then decide together.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E4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A6B4B2"/>
                </a:solidFill>
                <a:latin typeface="Calibri"/>
              </a:rPr>
              <a:t>Little Stars Pediatrics  ·  Parent guide  ·  Jackson Heights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A6B4B2"/>
                </a:solidFill>
                <a:latin typeface="Calibri"/>
              </a:rPr>
              <a:t>Parent Guide   5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7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F0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0A24E"/>
                </a:solidFill>
                <a:latin typeface="Calibri"/>
              </a:rPr>
              <a:t>WHEN TO CALL  /  CUANDO LLAMAR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2EEE6"/>
                </a:solidFill>
                <a:latin typeface="Calibri"/>
              </a:rPr>
              <a:t>Do not wait on these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828800" cy="45720"/>
          </a:xfrm>
          <a:prstGeom prst="rect">
            <a:avLst/>
          </a:prstGeom>
          <a:solidFill>
            <a:srgbClr val="3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424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F0A24E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Any fever in a baby under 3 months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Cualquier fiebre en un bebe menor de 3 meses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F0A24E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A fever above 104 F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Fiebre mayor de 104 F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F0A24E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A child very hard to wake or very limp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Un nino muy dificil de despertar o muy flojo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F0A24E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Trouble breathing or no wet diapers</a:t>
            </a:r>
          </a:p>
          <a:p>
            <a:pPr>
              <a:spcAft>
                <a:spcPts val="1300"/>
              </a:spcAft>
            </a:pPr>
            <a:r>
              <a:rPr sz="1300" i="1">
                <a:solidFill>
                  <a:srgbClr val="8AA3AD"/>
                </a:solidFill>
                <a:latin typeface="Calibri"/>
              </a:rPr>
              <a:t>    Dificultad para respirar o sin panales mojados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715000"/>
            <a:ext cx="10607040" cy="548640"/>
          </a:xfrm>
          <a:prstGeom prst="roundRect">
            <a:avLst/>
          </a:prstGeom>
          <a:solidFill>
            <a:srgbClr val="2E4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0A24E"/>
                </a:solidFill>
                <a:latin typeface="Calibri"/>
              </a:rPr>
              <a:t>Note.  </a:t>
            </a:r>
            <a:r>
              <a:rPr sz="1250" b="0" i="0">
                <a:solidFill>
                  <a:srgbClr val="A6B4B2"/>
                </a:solidFill>
                <a:latin typeface="Calibri"/>
              </a:rPr>
              <a:t>Watch how your child looks and acts, not just the number on the thermometer.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E4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A6B4B2"/>
                </a:solidFill>
                <a:latin typeface="Calibri"/>
              </a:rPr>
              <a:t>Little Stars Pediatrics  ·  Parent guide  ·  Jackson Heights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A6B4B2"/>
                </a:solidFill>
                <a:latin typeface="Calibri"/>
              </a:rPr>
              <a:t>Parent Guide   6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18872" cy="640080"/>
          </a:xfrm>
          <a:prstGeom prst="rect">
            <a:avLst/>
          </a:prstGeom>
          <a:solidFill>
            <a:srgbClr val="F0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0A24E"/>
                </a:solidFill>
                <a:latin typeface="Calibri"/>
              </a:rPr>
              <a:t>HEALTHY HABITS  /  HABITOS SANOS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74980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F2EEE6"/>
                </a:solidFill>
                <a:latin typeface="Calibri"/>
              </a:rPr>
              <a:t>Small things, every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828800" cy="45720"/>
          </a:xfrm>
          <a:prstGeom prst="rect">
            <a:avLst/>
          </a:prstGeom>
          <a:solidFill>
            <a:srgbClr val="3FA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4241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F0A24E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Sleep on a schedule, screens off before bed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F0A24E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Water and real food, limit sugary drinks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F0A24E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Play and move every day, outside when you can</a:t>
            </a:r>
          </a:p>
          <a:p>
            <a:pPr>
              <a:lnSpc>
                <a:spcPct val="105000"/>
              </a:lnSpc>
              <a:spcAft>
                <a:spcPts val="1300"/>
              </a:spcAft>
            </a:pPr>
            <a:r>
              <a:rPr sz="1600" b="1">
                <a:solidFill>
                  <a:srgbClr val="F0A24E"/>
                </a:solidFill>
                <a:latin typeface="Calibri"/>
              </a:rPr>
              <a:t>› </a:t>
            </a:r>
            <a:r>
              <a:rPr sz="1600">
                <a:solidFill>
                  <a:srgbClr val="F2EEE6"/>
                </a:solidFill>
                <a:latin typeface="Calibri"/>
              </a:rPr>
              <a:t>Read together, in any language, it all counts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715000"/>
            <a:ext cx="10607040" cy="548640"/>
          </a:xfrm>
          <a:prstGeom prst="roundRect">
            <a:avLst/>
          </a:prstGeom>
          <a:solidFill>
            <a:srgbClr val="2E4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760720"/>
            <a:ext cx="101498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F0A24E"/>
                </a:solidFill>
                <a:latin typeface="Calibri"/>
              </a:rPr>
              <a:t>Note.  </a:t>
            </a:r>
            <a:r>
              <a:rPr sz="1250" b="0" i="0">
                <a:solidFill>
                  <a:srgbClr val="A6B4B2"/>
                </a:solidFill>
                <a:latin typeface="Calibri"/>
              </a:rPr>
              <a:t>Reading in Spanish builds the same brain as reading in English. Use the language you love.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E4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A6B4B2"/>
                </a:solidFill>
                <a:latin typeface="Calibri"/>
              </a:rPr>
              <a:t>Little Stars Pediatrics  ·  Parent guide  ·  Jackson Heights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A6B4B2"/>
                </a:solidFill>
                <a:latin typeface="Calibri"/>
              </a:rPr>
              <a:t>Parent Guide   7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1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3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45720"/>
          </a:xfrm>
          <a:prstGeom prst="rect">
            <a:avLst/>
          </a:prstGeom>
          <a:solidFill>
            <a:srgbClr val="F0A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194560"/>
            <a:ext cx="106070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1" i="0">
                <a:solidFill>
                  <a:srgbClr val="F2EEE6"/>
                </a:solidFill>
                <a:latin typeface="Calibri"/>
              </a:rPr>
              <a:t>You know your child best.  /  Usted conoce mejor a su nino.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46120"/>
            <a:ext cx="9418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0">
                <a:solidFill>
                  <a:srgbClr val="A6B4B2"/>
                </a:solidFill>
                <a:latin typeface="Calibri"/>
              </a:rPr>
              <a:t>We are partners in this. Bring the worry, bring the question, bring the child.
Nosotros estamos aqui para ayudar.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7548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F0A24E"/>
                </a:solidFill>
                <a:latin typeface="Calibri"/>
              </a:rPr>
              <a:t>Little Stars Pediatrics   ·   Jackson Heights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E4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A6B4B2"/>
                </a:solidFill>
                <a:latin typeface="Calibri"/>
              </a:rPr>
              <a:t>Little Stars Pediatrics  ·  Parent guide  ·  Jackson Heights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47395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00" b="0" i="0">
                <a:solidFill>
                  <a:srgbClr val="A6B4B2"/>
                </a:solidFill>
                <a:latin typeface="Calibri"/>
              </a:rPr>
              <a:t>Parent Guide   8 / 8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757</Words>
  <Application>Microsoft Office PowerPoint</Application>
  <PresentationFormat>Widescreen</PresentationFormat>
  <Paragraphs>99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Well-Child Visits and Milestones</dc:title>
  <dc:subject>Parent education guide</dc:subject>
  <dc:creator>L. Cruz</dc:creator>
  <cp:keywords/>
  <dc:description/>
  <cp:lastModifiedBy>L. Cruz</cp:lastModifiedBy>
  <cp:revision>2</cp:revision>
  <dcterms:created xsi:type="dcterms:W3CDTF">2013-01-27T09:14:16Z</dcterms:created>
  <dcterms:modified xsi:type="dcterms:W3CDTF">2026-06-25T09:58:12Z</dcterms:modified>
  <cp:category/>
</cp:coreProperties>
</file>