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B20"/>
                </a:solidFill>
              </a:rPr>
              <a:t>TURNER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Harrison 24-Unit Residential Build
Q4 2026 Progress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A8"/>
                </a:solidFill>
              </a:rPr>
              <a:t>330 Bergen Ave  ·  Harrison, NJ  ·  Project Start: January 2026  ·  Projected Completion: December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02920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Prepared by: Lisa Reyes, Construction Foreman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A8"/>
                </a:solidFill>
              </a:rPr>
              <a:t>Superintendent: Tony Rizzi  |  Director: Frank Delmonico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AA8"/>
                </a:solidFill>
              </a:rPr>
              <a:t>Report Date: October 1,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005840"/>
            <a:ext cx="3566160" cy="4754880"/>
          </a:xfrm>
          <a:prstGeom prst="rect">
            <a:avLst/>
          </a:prstGeom>
          <a:solidFill>
            <a:srgbClr val="4A5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09728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▌ Units Framed
     24 / 24
▌ MEP Rough-In
     21 / 24
▌ Drywall
     18 / 24
▌ Concrete Pour
     Dec 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B4A"/>
                </a:solidFill>
              </a:rPr>
              <a:t>Project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5661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4A5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56616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7B20"/>
                </a:solidFill>
              </a:rPr>
              <a:t>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19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4A"/>
                </a:solidFill>
              </a:rPr>
              <a:t>330 Bergen Ave
Harrison, NJ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5661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4A5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097280"/>
            <a:ext cx="356616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1704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7B20"/>
                </a:solidFill>
              </a:rPr>
              <a:t>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45919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4A"/>
                </a:solidFill>
              </a:rPr>
              <a:t>24-Unit
Residential Build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35661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4A5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97280"/>
            <a:ext cx="356616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1704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7B20"/>
                </a:solidFill>
              </a:rPr>
              <a:t>CONTRACT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645919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4A"/>
                </a:solidFill>
              </a:rPr>
              <a:t>$9.27 Million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35661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4A5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474720"/>
            <a:ext cx="356616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47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7B20"/>
                </a:solidFill>
              </a:rPr>
              <a:t>CREW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23359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4A"/>
                </a:solidFill>
              </a:rPr>
              <a:t>18 Workers
(Current Phase)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474720"/>
            <a:ext cx="35661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4A5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474720"/>
            <a:ext cx="356616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547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7B20"/>
                </a:solidFill>
              </a:rPr>
              <a:t>SCHEDULE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023359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4A"/>
                </a:solidFill>
              </a:rPr>
              <a:t>Jan to Dec 2026
Dec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474720"/>
            <a:ext cx="35661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4A5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474720"/>
            <a:ext cx="356616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547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7B20"/>
                </a:solidFill>
              </a:rPr>
              <a:t>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023359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4A"/>
                </a:solidFill>
              </a:rPr>
              <a:t>ON TRACK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AA8"/>
                </a:solidFill>
              </a:rPr>
              <a:t>Turner Construction  ·  Newark Regional Office  ·  Foreman: L. Reyes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B4A"/>
                </a:solidFill>
              </a:rPr>
              <a:t>Milestone Tracker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521207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73152" cy="521207"/>
          </a:xfrm>
          <a:prstGeom prst="rect">
            <a:avLst/>
          </a:prstGeom>
          <a:solidFill>
            <a:srgbClr val="22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247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Site Prep &amp; Excavation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1247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C6A"/>
                </a:solidFill>
              </a:rPr>
              <a:t>Jan to Feb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1247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7A3C"/>
                </a:solidFill>
              </a:rPr>
              <a:t>✔ COMPLETE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55064"/>
            <a:ext cx="1124712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55064"/>
            <a:ext cx="73152" cy="521207"/>
          </a:xfrm>
          <a:prstGeom prst="rect">
            <a:avLst/>
          </a:prstGeom>
          <a:solidFill>
            <a:srgbClr val="22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2821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Foundation &amp; Footings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72821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C6A"/>
                </a:solidFill>
              </a:rPr>
              <a:t>Feb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2821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7A3C"/>
                </a:solidFill>
              </a:rPr>
              <a:t>✔ COMPLETE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58568"/>
            <a:ext cx="11247120" cy="521207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258568"/>
            <a:ext cx="73152" cy="521207"/>
          </a:xfrm>
          <a:prstGeom prst="rect">
            <a:avLst/>
          </a:prstGeom>
          <a:solidFill>
            <a:srgbClr val="22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31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Structural Framing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331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C6A"/>
                </a:solidFill>
              </a:rPr>
              <a:t>Early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331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7A3C"/>
                </a:solidFill>
              </a:rPr>
              <a:t>✔ COMPLETE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62072"/>
            <a:ext cx="1124712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862072"/>
            <a:ext cx="73152" cy="521207"/>
          </a:xfrm>
          <a:prstGeom prst="rect">
            <a:avLst/>
          </a:prstGeom>
          <a:solidFill>
            <a:srgbClr val="22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MEP Rough-In (all 24 units)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93522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C6A"/>
                </a:solidFill>
              </a:rPr>
              <a:t>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93522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7A3C"/>
                </a:solidFill>
              </a:rPr>
              <a:t>✔ COMPLETE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65576"/>
            <a:ext cx="11247120" cy="521207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465576"/>
            <a:ext cx="73152" cy="521207"/>
          </a:xfrm>
          <a:prstGeom prst="rect">
            <a:avLst/>
          </a:prstGeom>
          <a:solidFill>
            <a:srgbClr val="22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5387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Structural Framing Inspection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5387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C6A"/>
                </a:solidFill>
              </a:rPr>
              <a:t>Oct 1,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5387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7A3C"/>
                </a:solidFill>
              </a:rPr>
              <a:t>✔ COMPLETE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69080"/>
            <a:ext cx="1124712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069080"/>
            <a:ext cx="73152" cy="521207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1422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Drywall &amp; Interior Finishing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1422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C6A"/>
                </a:solidFill>
              </a:rPr>
              <a:t>Through Nov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1422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7B20"/>
                </a:solidFill>
              </a:rPr>
              <a:t>⚙ IN PROGRESS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672583"/>
            <a:ext cx="11247120" cy="521207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672583"/>
            <a:ext cx="73152" cy="521207"/>
          </a:xfrm>
          <a:prstGeom prst="rect">
            <a:avLst/>
          </a:prstGeom>
          <a:solidFill>
            <a:srgbClr val="4A5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7457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Final Concrete Pour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474573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C6A"/>
                </a:solidFill>
              </a:rPr>
              <a:t>Dec 9,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474573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5C6A"/>
                </a:solidFill>
              </a:rPr>
              <a:t>◷ SCHEDULED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276088"/>
            <a:ext cx="1124712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5276088"/>
            <a:ext cx="73152" cy="521207"/>
          </a:xfrm>
          <a:prstGeom prst="rect">
            <a:avLst/>
          </a:prstGeom>
          <a:solidFill>
            <a:srgbClr val="4A5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349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Punch-List &amp; Closeout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5349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C6A"/>
                </a:solidFill>
              </a:rPr>
              <a:t>Dec 10 to 17,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349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5C6A"/>
                </a:solidFill>
              </a:rPr>
              <a:t>◷ SCHEDULED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879592"/>
            <a:ext cx="11247120" cy="521207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5879592"/>
            <a:ext cx="73152" cy="521207"/>
          </a:xfrm>
          <a:prstGeom prst="rect">
            <a:avLst/>
          </a:prstGeom>
          <a:solidFill>
            <a:srgbClr val="4A5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95274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</a:rPr>
              <a:t>Completion Walkthrough, Client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595274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C6A"/>
                </a:solidFill>
              </a:rPr>
              <a:t>Dec 18,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59527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5C6A"/>
                </a:solidFill>
              </a:rPr>
              <a:t>◷ SCHEDULED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AA8"/>
                </a:solidFill>
              </a:rPr>
              <a:t>■ Complete  ■ In Progress  ■ Scheduled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2B4A"/>
                </a:solidFill>
              </a:rPr>
              <a:t>Current Phase: Drywall &amp; Interior Finishing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228600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30352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4A5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0352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5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UNIT STATUS (as of Oct 1)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Units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Target Complete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1 to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Drywall Done, Paint 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Oct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7 to 12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Drywall Done, Tape &amp; Mud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Oct 28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13 to 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Drywall Hanging 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Nov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19 to 24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MEP Complete, Drywall Next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Nov 25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217920" y="1005840"/>
            <a:ext cx="548640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4A5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548640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042415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CREW &amp; CONTACTS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508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4A"/>
                </a:solidFill>
              </a:rPr>
              <a:t>Crew Lead: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508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C6A"/>
                </a:solidFill>
              </a:rPr>
              <a:t>Hector Vega, 908-555-0378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7568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4A"/>
                </a:solidFill>
              </a:rPr>
              <a:t>Active Workers: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0756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C6A"/>
                </a:solidFill>
              </a:rPr>
              <a:t>18 on site (12 drywall, 6 finishing)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42615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4A"/>
                </a:solidFill>
              </a:rPr>
              <a:t>Subcontractor (MEP):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642615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C6A"/>
                </a:solidFill>
              </a:rPr>
              <a:t>Eastern NJ Mechanical, pending final punch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20954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4A"/>
                </a:solidFill>
              </a:rPr>
              <a:t>Subcontractor (Electric):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20954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C6A"/>
                </a:solidFill>
              </a:rPr>
              <a:t>Ironbound Electric, sign-off Oct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77647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4A"/>
                </a:solidFill>
              </a:rPr>
              <a:t>Deliveries This Week: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77647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C6A"/>
                </a:solidFill>
              </a:rPr>
              <a:t>Drywall compound  ·  Fri Oct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343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4A"/>
                </a:solidFill>
              </a:rPr>
              <a:t>Next Inspection: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343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C6A"/>
                </a:solidFill>
              </a:rPr>
              <a:t>Framing complete, Oct 1 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10327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4A"/>
                </a:solidFill>
              </a:rPr>
              <a:t>Superintendent: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910327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C6A"/>
                </a:solidFill>
              </a:rPr>
              <a:t>Tony Rizzi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47725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B4A"/>
                </a:solidFill>
              </a:rPr>
              <a:t>Director: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547725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C6A"/>
                </a:solidFill>
              </a:rPr>
              <a:t>Frank Delmonico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AA8"/>
                </a:solidFill>
              </a:rPr>
              <a:t>All figures as of October 1, 2026  ·  Turner Construction Newark Regional Office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2B4A"/>
                </a:solidFill>
              </a:rPr>
              <a:t>Schedule Risk &amp; Budget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228600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7B20"/>
                </a:solidFill>
              </a:rPr>
              <a:t>SCHEDULE RISKS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Likelihood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/>
                        <a:t>Winter weather affecting Dec 9 pour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Pre-positioned tarp &amp; heat blankets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/>
                        <a:t>Subcontractor punch-list delay (MEP)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Low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Written deadline: Oct 15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/>
                        <a:t>Material delivery slip (finish goods)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Two-week buffer order placed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/>
                        <a:t>Inspection sign-off lag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Low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Pre-inspection walkthrough Oct 28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7B20"/>
                </a:solidFill>
              </a:rPr>
              <a:t>BUDGET SNAPSHOT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1417320"/>
          <a:ext cx="50292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44196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Budget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Spent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Remaining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000"/>
                        <a:t>Labor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$3,200,000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$2,810,000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$390,000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000"/>
                        <a:t>Materials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$4,100,000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$3,520,000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$580,000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000"/>
                        <a:t>Subcontractors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$1,500,000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$1,210,000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$290,000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000"/>
                        <a:t>Contingency (5%)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$470,000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$140,000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$330,000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000"/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$9,270,000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$7,680,000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$1,590,000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4A"/>
                </a:solidFill>
              </a:rPr>
              <a:t>KEY UPCOMING DATES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43484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13508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4A5C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Event</a:t>
                      </a:r>
                    </a:p>
                  </a:txBody>
                  <a:tcPr>
                    <a:solidFill>
                      <a:srgbClr val="4A5C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4A5C6A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000"/>
                        <a:t>Oct 1,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City structural framing inspection (9:00 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L. Reyes + Hector Vega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000"/>
                        <a:t>Oct 8, 2026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Ironbound Electric final sign-off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Subcontractor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000"/>
                        <a:t>Oct 15,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MEP punch-list deadline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Eastern NJ Mechanical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000"/>
                        <a:t>Nov 17, 2026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CS License CE credits deadline (Lisa)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L. Reyes (personal)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000"/>
                        <a:t>Dec 9,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Final concrete pour, 5:00 AM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L. Reyes on 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12">
                <a:tc>
                  <a:txBody>
                    <a:bodyPr/>
                    <a:lstStyle/>
                    <a:p>
                      <a:r>
                        <a:rPr sz="1000"/>
                        <a:t>Dec 18, 2026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Completion walkthrough with client, 10:00 AM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L. Reyes + T. Rizzi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Foreman Notes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3657600" cy="54864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4864" cy="50292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2529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Dec 9 pour is the critical-path lock. Weather window is being monitored weekly.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92808"/>
            <a:ext cx="54864" cy="50292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938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Hector Vega is cleared to run site independently during Lisa's December 14 birthday window.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96896"/>
            <a:ext cx="54864" cy="50292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33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Union crew schedule is stable through November; Q4 dues confirmed for October first weekday.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00984"/>
            <a:ext cx="54864" cy="50292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Frank Delmonico briefed on budget trajectory; no change orders pending.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05072"/>
            <a:ext cx="54864" cy="50292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4164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Lisa on site from 5:00 AM on Dec 9, all hands on concrete crew, no exceptions.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09160"/>
            <a:ext cx="54864" cy="50292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4573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Walkthrough packet to client prepared by Dec 15.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13248"/>
            <a:ext cx="54864" cy="502920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44982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Post-project debrief with Tony Rizzi: week of Dec 22.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A9AA8"/>
                </a:solidFill>
              </a:rPr>
              <a:t>Turner Construction  ·  Harrison Project  ·  Q4 2026  ·  Foreman: Lisa Reyes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