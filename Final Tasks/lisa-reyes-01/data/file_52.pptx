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000"/>
                </a:solidFill>
              </a:rPr>
              <a:t>⚠  MANDATORY CREW SAFETY TRAINING  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Concrete Pour Operations
&amp; Fall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AA8"/>
                </a:solidFill>
              </a:rPr>
              <a:t>Harrison 24-Unit Residential Build  ·  330 Bergen Ave, Harrison, NJ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A8"/>
                </a:solidFill>
              </a:rPr>
              <a:t>Conducted by: Lisa Reyes, Foreman  ·  Laborers' Local 472  ·  OSHA 30-Hour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000"/>
                </a:solidFill>
              </a:rPr>
              <a:t>Training Date: November 20, 2026  ·  Pre-Pour Mandatory Sign-Off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</a:rPr>
              <a:t>29 CFR 1926.502, Fall Protection
29 CFR 1926.702, Concrete &amp; Masonry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228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B20"/>
                </a:solidFill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Cause of Fatal
Construction Injuries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2560320" cy="3657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05840"/>
            <a:ext cx="2560320" cy="228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B20"/>
                </a:solidFill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OSHA Citation
Category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FALL 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560320" cy="228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97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B20"/>
                </a:solidFill>
              </a:rPr>
              <a:t>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of Construction Deaths
involve Concrete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91840"/>
            <a:ext cx="2560320" cy="3657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NATIONWIDE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005840"/>
            <a:ext cx="2560320" cy="2286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097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B20"/>
                </a:solidFill>
              </a:rPr>
              <a:t>$14K+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Average OSHA Fine
per Serious Violation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291840"/>
            <a:ext cx="2560320" cy="3657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PER 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03020"/>
                </a:solidFill>
              </a:rPr>
              <a:t>Every person on this site goes home at the end of the day. That is not negotiable.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42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Fall protection required at ANY elevation above 6 feet, no exceptions, no shortcuts.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18304"/>
            <a:ext cx="54864" cy="41148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Concrete work kills when formwork fails, workers are not properly anchored, or PPE is skipped.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0368"/>
            <a:ext cx="54864" cy="41148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66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This crew has zero lost-time injuries in 2026. We keep it that way through December.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42431"/>
            <a:ext cx="54864" cy="411480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7900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Violations will be documented and reported immediately to Tony Rizzi and Frank Delmonico.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Required PPE, Concrete Pour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9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HARD 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ANSI Z89.1 Class E
Required at all times on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0584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0584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069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HIGH-VIS VEST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ANSI/ISEA 107 Class 2
Required during pour and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69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STEEL-TOE BOOTS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554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ASTM F2413 rated
No exceptions, concrete is 4,000+ PSI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00584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00584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069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HEARING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554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NRR 25+ recommended
Mandatory during pump operation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30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GLOVES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Chemical-resistant gloves
Wet concrete causes alkaline burns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56616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356616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630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EYE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1148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Safety glasses or goggles
Required during pour and finish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3630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FALL 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1148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Full-body harness + lanyard
Mandatory above 6 ft elevation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566160"/>
            <a:ext cx="26517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566160"/>
            <a:ext cx="26517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19" y="3630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RESPIRATORY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1148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N95 or better
For dry mix handling and grinder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020"/>
                </a:solidFill>
              </a:rPr>
              <a:t>Failure to wear required PPE = immediate stop-work order.  No warnings on pour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4A"/>
                </a:solidFill>
              </a:rPr>
              <a:t>Pre-Pour Safety Checklist  (Dec 9, 2026  ·  5:00 AM Start)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27432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514600"/>
          </a:xfrm>
          <a:prstGeom prst="rect">
            <a:avLst/>
          </a:prstGeom>
          <a:solidFill>
            <a:srgbClr val="F2F4F7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9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FORMWORK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Formwork inspected by Hector Vega the day 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All bracing and shoring verified per engineering 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No deformation, bowing, or gap &gt; 1/16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Runoff/bleed water drainage paths confirmed clear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514600"/>
          </a:xfrm>
          <a:prstGeom prst="rect">
            <a:avLst/>
          </a:prstGeom>
          <a:solidFill>
            <a:srgbClr val="F2F4F7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069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Concrete pump truck positioned and chocked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Boom radius verified, no overhead utility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Vibrators tested and backup unit on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Chutes and hoppers clear of debris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486400" cy="2514600"/>
          </a:xfrm>
          <a:prstGeom prst="rect">
            <a:avLst/>
          </a:prstGeom>
          <a:solidFill>
            <a:srgbClr val="F2F4F7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54864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13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SITE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519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Perimeter barriers and warning tape in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091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Fall protection anchors verified for elevated pours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663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First-aid kit and eyewash station staged at trailer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235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Emergency contact list posted: L. Reyes 973-XXX-XXXX / Tony Rizzi 973-555-0412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5486400" cy="2514600"/>
          </a:xfrm>
          <a:prstGeom prst="rect">
            <a:avLst/>
          </a:prstGeom>
          <a:solidFill>
            <a:srgbClr val="F2F4F7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4864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813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WEATHER &amp; LOGISTICS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519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Temperature forecast: above 40°F, proceed; 32 to 40°F, heat blankets staged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7091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Wind speed below 25 mph, proceed; above, hold and reassess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1663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Ready-mix truck schedule confirmed (3 trucks, 30-min intervals)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62355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☐  Cure time minimum 24 hours before any load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7B20"/>
                </a:solidFill>
              </a:rPr>
              <a:t>All checklist items must be initialled by Lisa Reyes before first truck arrives.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Emergency Response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828800" cy="54864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713232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247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4864" cy="713232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0698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Immediately halt all work. Yell 'STOP WORK', everyone within earshot repeats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280160" cy="71323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54864" cy="71323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984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Dial 911 first. Then call Lisa Reyes (site foreman). Do not move an injured worker.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280160" cy="7132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535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54864" cy="7132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8986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Establish a 20-ft exclusion zone around the incident. Designate a spotter.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280160" cy="713232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6791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4864" cy="713232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8130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Trained first-aiders administer aid until EMS arrives. First-aid kit at the trailer.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1280160" cy="713232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823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54864" cy="713232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7274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Foreman documents incident start time, witnesses, photos. Report to Tony Rizzi within 1 hour.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280160" cy="7132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967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54864" cy="7132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6418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OSHA 300 log entry within 24 hours. Serious injury: OSHA verbal report within 8 hours.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020"/>
                </a:solidFill>
              </a:rPr>
              <a:t>Key Numbers: 911  ·  Lisa Reyes  ·  Tony Rizzi 973-555-0412  ·  Hector Vega 908-555-0378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Crew Acknowledgement &amp;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AA8"/>
                </a:solidFill>
              </a:rPr>
              <a:t>By signing below, I confirm I have received, understood, and will comply with this safety training.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Worker Name (Print)</a:t>
                      </a:r>
                    </a:p>
                  </a:txBody>
                  <a:tcPr>
                    <a:solidFill>
                      <a:srgbClr val="F47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Badge / ID</a:t>
                      </a:r>
                    </a:p>
                  </a:txBody>
                  <a:tcPr>
                    <a:solidFill>
                      <a:srgbClr val="F47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>
                    <a:solidFill>
                      <a:srgbClr val="F47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47B2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Training Conducted By: Lisa Reyes, Foreman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</a:rPr>
              <a:t>Date: _________________   Signature: 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Superintendent Review: Tony Rizzi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</a:rPr>
              <a:t>Date: _________________   Signature: 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