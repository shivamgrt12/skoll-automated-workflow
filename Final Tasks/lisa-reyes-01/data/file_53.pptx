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C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B20"/>
                </a:solidFill>
              </a:rPr>
              <a:t>TURNER CONSTRUCTION  ·  NEWARK REGIONAL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Downtown Newark
Retail Renovation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</a:rPr>
              <a:t>Project Status Update  ·  October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46120"/>
            <a:ext cx="4114800" cy="64008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Foreman: Lisa Reyes  ·  Superintendent: Tony Rizzi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</a:rPr>
              <a:t>Site: Market Street Corridor, Newark, NJ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</a:rPr>
              <a:t>Contract Value: $2.1 Million  ·  Active Since: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4A"/>
                </a:solidFill>
              </a:rPr>
              <a:t>Project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37160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286000" cy="731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247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B20"/>
                </a:solidFill>
              </a:rPr>
              <a:t>Structural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06984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Remove interior load-bearing wall; install W14×53 steel beam with new footings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1247120" cy="18288"/>
          </a:xfrm>
          <a:prstGeom prst="rect">
            <a:avLst/>
          </a:prstGeom>
          <a:solidFill>
            <a:srgbClr val="8A9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2286000" cy="731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B20"/>
                </a:solidFill>
              </a:rPr>
              <a:t>Storefront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8424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Full storefront replacement, aluminum curtain wall system, three entry vestibules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24327"/>
            <a:ext cx="11247120" cy="18288"/>
          </a:xfrm>
          <a:prstGeom prst="rect">
            <a:avLst/>
          </a:prstGeom>
          <a:solidFill>
            <a:srgbClr val="8A9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2286000" cy="731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53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B20"/>
                </a:solidFill>
              </a:rPr>
              <a:t>Interior Fit-Out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9864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Drywall, paint, polished concrete floors, approx. 6,200 sq 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38727"/>
            <a:ext cx="11247120" cy="18288"/>
          </a:xfrm>
          <a:prstGeom prst="rect">
            <a:avLst/>
          </a:prstGeom>
          <a:solidFill>
            <a:srgbClr val="8A9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2286000" cy="731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6791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B20"/>
                </a:solidFill>
              </a:rPr>
              <a:t>MEP Upgrade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81304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100A → 400A service upgrade; new HVAC split systems (4 zones); plumbing rough-in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53128"/>
            <a:ext cx="11247120" cy="18288"/>
          </a:xfrm>
          <a:prstGeom prst="rect">
            <a:avLst/>
          </a:prstGeom>
          <a:solidFill>
            <a:srgbClr val="8A9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2286000" cy="731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823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B20"/>
                </a:solidFill>
              </a:rPr>
              <a:t>Accessibility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72744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ADA-compliant restrooms, ramps, signage, city permit 2026-NWK-0417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67528"/>
            <a:ext cx="11247120" cy="18288"/>
          </a:xfrm>
          <a:prstGeom prst="rect">
            <a:avLst/>
          </a:prstGeom>
          <a:solidFill>
            <a:srgbClr val="8A9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532120"/>
            <a:ext cx="2286000" cy="731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967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B20"/>
                </a:solidFill>
              </a:rPr>
              <a:t>Façade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64184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Brick tuck-pointing, cornice repair, new exterior lighting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AA8"/>
                </a:solidFill>
              </a:rPr>
              <a:t>Client: Market Street Partners LLC  ·  Architect: Ironside Design Group, Newark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4A"/>
                </a:solidFill>
              </a:rPr>
              <a:t>Work Completed to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828800" cy="54864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73152" cy="64008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7A3C"/>
                </a:solidFill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05156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Site prep and asbestos abatement completed; permits cleared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73152" cy="64008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7A3C"/>
                </a:solidFill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Existing storefront and interior demo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73152" cy="64008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7A3C"/>
                </a:solidFill>
              </a:rP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0604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Load-bearing wall removed; W14×53 beam installed and inspected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39"/>
            <a:ext cx="73152" cy="64008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8327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7A3C"/>
                </a:solidFill>
              </a:rPr>
              <a:t>Stage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83279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New footings poured; framing and rough carpentry 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69080"/>
            <a:ext cx="73152" cy="64008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7A3C"/>
                </a:solidFill>
              </a:rPr>
              <a:t>Stage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6052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Electrical service upgrade 100A → 400A, NJ PSE&amp;G coordinated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73152" cy="64008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3775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7A3C"/>
                </a:solidFill>
              </a:rPr>
              <a:t>Stage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937759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MEP rough-in complete; passed city rough-in inspection on schedule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23559"/>
            <a:ext cx="73152" cy="64008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71499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7A3C"/>
                </a:solidFill>
              </a:rPr>
              <a:t>Stage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714999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Drywall hanging 80% complete; storefront curtain wall delivered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7A3C"/>
                </a:solidFill>
              </a:rPr>
              <a:t>Overall Progress: ~78% Complete  ·  No lost-time incidents to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4A"/>
                </a:solidFill>
              </a:rPr>
              <a:t>Remaining Work &amp; Open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82880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39496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REMAINING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B20"/>
                </a:solidFill>
              </a:rPr>
              <a:t>Oct to Nov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173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Drywall finish, tape, mud, and paint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2082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B20"/>
                </a:solidFill>
              </a:rPr>
              <a:t>Oct to Nov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2082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Storefront curtain wall installation (2 weeks)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2432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B20"/>
                </a:solidFill>
              </a:rPr>
              <a:t>Nov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2432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Polished concrete floors, sections 1 and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278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B20"/>
                </a:solidFill>
              </a:rPr>
              <a:t>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278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HVAC split-system installation (4 zones)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3133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B20"/>
                </a:solidFill>
              </a:rPr>
              <a:t>Nov to Dec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83133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ADA restroom fit-out and accessible ramp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B20"/>
                </a:solidFill>
              </a:rPr>
              <a:t>Dec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34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Exterior brick tuck-pointing and lighting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3834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B20"/>
                </a:solidFill>
              </a:rPr>
              <a:t>Dec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3834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Punch-list and final 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418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B20"/>
                </a:solidFill>
              </a:rPr>
              <a:t>Dec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6418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</a:rPr>
              <a:t>Certificate of Occupancy walk, city inspector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960120"/>
            <a:ext cx="5486400" cy="384048"/>
          </a:xfrm>
          <a:prstGeom prst="rect">
            <a:avLst/>
          </a:prstGeom>
          <a:solidFill>
            <a:srgbClr val="C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005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OPEN ITEMS / CHANGE ORDERS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417320"/>
            <a:ext cx="1005840" cy="6400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490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CO-04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7647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52704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Client requested marble tile upgrade, awaiting pricing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203704"/>
            <a:ext cx="1005840" cy="6400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2768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551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3134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Additional ADA signage scope, $4,200 pending approval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990088"/>
            <a:ext cx="1005840" cy="6400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RFI-12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337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099816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Curtain wall anchor detail, Ironside Design response due Oct 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776472"/>
            <a:ext cx="1005840" cy="64008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8496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RFI-14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1239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8862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HVAC condensate routing, subcontractor waiting on architect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562856"/>
            <a:ext cx="1005840" cy="640080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6360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INSP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910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67258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Final framing inspection scheduled Oct 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349240"/>
            <a:ext cx="1005840" cy="640080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422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INSP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6967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SCHED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45896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</a:rPr>
              <a:t>CO inspection tentative December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B4A"/>
                </a:solidFill>
              </a:rPr>
              <a:t>Projected Completion: December 2026  ·  Client Final Handover: December 19,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4A"/>
                </a:solidFill>
              </a:rPr>
              <a:t>Budget vs. Actuals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64592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112471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2203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Contract Budget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Spent to Date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% Used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Forecast at Complete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Demo &amp; Abatement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$85,000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$82,400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$85,000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Structural / Steel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$310,000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$304,500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98%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$310,000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Rough Carpentry / 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$198,000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MEP (Electrical)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$340,000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$310,000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91%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$340,000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MEP (Plumbing / HVAC)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Storefront / Glazing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$185,000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$142,000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77%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$185,000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Drywall / Finishes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$95,000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Floors (Polished Conc.)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$80,000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$80,000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ADA / Accessibility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$79,200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Exterior Façade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$145,000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$38,000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26%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$145,000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r>
                        <a:rPr sz="1000"/>
                        <a:t>Contingency (10%)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$47,600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040">
                <a:tc>
                  <a:txBody>
                    <a:bodyPr/>
                    <a:lstStyle/>
                    <a:p>
                      <a:r>
                        <a:rPr sz="1000"/>
                        <a:t>TOTAL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$2,160,000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$1,419,500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66%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$2,164,200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C6A"/>
                </a:solidFill>
              </a:rPr>
              <a:t>Forecast at Complete: $2,164,200, within contingency.  CO-04 marble upgrade excluded pending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Next Steps &amp; Owner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64008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011680" cy="566928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2529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Oct 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207007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Ironside Design to respond on RFI-12 curtain wall anchor 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92224"/>
            <a:ext cx="2011680" cy="566928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Oct 8,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9019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L. Reyes reviews CO-04 marble upgrade pricing with 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87168"/>
            <a:ext cx="2011680" cy="566928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151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Oct 15,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596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Curtain wall installation begins, Hector Vega to oversee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82112"/>
            <a:ext cx="2011680" cy="566928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10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Oct 28,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291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Final framing inspection, L. Reyes on 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77056"/>
            <a:ext cx="2011680" cy="566928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05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Nov 1,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986784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HVAC installation kickoff, all four zones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2011680" cy="566928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000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Nov 15,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681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Polished concrete floor pour, sections 1 and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66944"/>
            <a:ext cx="2011680" cy="566928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Dec 12,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3766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 pre-inspection walkthrough, city inspector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61888"/>
            <a:ext cx="2011680" cy="566928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0899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Dec 19,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60716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Final handover to client, Market Street Partners LLC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AA8"/>
                </a:solidFill>
              </a:rPr>
              <a:t>Turner Construction  ·  Downtown Newark Retail Renovation  ·  Foreman: Lisa Reyes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