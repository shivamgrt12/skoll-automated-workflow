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3F9D8C"/>
              </a:solidFill>
            </c:spPr>
          </c:dPt>
          <c:dPt>
            <c:idx val="1"/>
            <c:spPr>
              <a:solidFill>
                <a:srgbClr val="5FB0C9"/>
              </a:solidFill>
            </c:spPr>
          </c:dPt>
          <c:dPt>
            <c:idx val="2"/>
            <c:spPr>
              <a:solidFill>
                <a:srgbClr val="D9A929"/>
              </a:solidFill>
            </c:spPr>
          </c:dPt>
          <c:dPt>
            <c:idx val="3"/>
            <c:spPr>
              <a:solidFill>
                <a:srgbClr val="7A6AA8"/>
              </a:solidFill>
            </c:spPr>
          </c:dPt>
          <c:dPt>
            <c:idx val="4"/>
            <c:spPr>
              <a:solidFill>
                <a:srgbClr val="C25B6E"/>
              </a:solidFill>
            </c:spPr>
          </c:dPt>
          <c:cat>
            <c:strRef>
              <c:f>Sheet1!$A$2:$A$6</c:f>
              <c:strCache>
                <c:ptCount val="5"/>
                <c:pt idx="0">
                  <c:v>Literary fiction</c:v>
                </c:pt>
                <c:pt idx="1">
                  <c:v>International</c:v>
                </c:pt>
                <c:pt idx="2">
                  <c:v>Non-fiction</c:v>
                </c:pt>
                <c:pt idx="3">
                  <c:v>Poetry</c:v>
                </c:pt>
                <c:pt idx="4">
                  <c:v>Children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18</c:v>
                </c:pt>
                <c:pt idx="2">
                  <c:v>16</c:v>
                </c:pt>
                <c:pt idx="3">
                  <c:v>12</c:v>
                </c:pt>
                <c:pt idx="4">
                  <c:v>12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300">
              <a:solidFill>
                <a:srgbClr val="E9EEF1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 students</c:v>
                </c:pt>
              </c:strCache>
            </c:strRef>
          </c:tx>
          <c:spPr>
            <a:solidFill>
              <a:srgbClr val="3F9D8C"/>
            </a:solidFill>
          </c:spPr>
          <c:cat>
            <c:strRef>
              <c:f>Sheet1!$A$2:$A$5</c:f>
              <c:strCache>
                <c:ptCount val="4"/>
                <c:pt idx="0">
                  <c:v>HT2022</c:v>
                </c:pt>
                <c:pt idx="1">
                  <c:v>HT2023</c:v>
                </c:pt>
                <c:pt idx="2">
                  <c:v>HT2024</c:v>
                </c:pt>
                <c:pt idx="3">
                  <c:v>HT2025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51</c:v>
                </c:pt>
                <c:pt idx="2">
                  <c:v>58</c:v>
                </c:pt>
                <c:pt idx="3">
                  <c:v>64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E9EEF1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9DB0B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108960"/>
            <a:ext cx="2011680" cy="82296"/>
          </a:xfrm>
          <a:prstGeom prst="rect">
            <a:avLst/>
          </a:prstGeom>
          <a:solidFill>
            <a:srgbClr val="3F9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F9D8C"/>
                </a:solidFill>
                <a:latin typeface="Calibri"/>
              </a:rPr>
              <a:t>CUSTOMER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241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E9EEF1"/>
                </a:solidFill>
                <a:latin typeface="Georgia"/>
              </a:rPr>
              <a:t>Reading at the Counter</a:t>
            </a:r>
          </a:p>
          <a:p>
            <a:pPr algn="l"/>
            <a:r>
              <a:rPr sz="3000" b="0">
                <a:solidFill>
                  <a:srgbClr val="9DB0BD"/>
                </a:solidFill>
                <a:latin typeface="Georgia"/>
              </a:rPr>
              <a:t>What Uppsala read in 2025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EF1"/>
                </a:solidFill>
                <a:latin typeface="Georgia"/>
              </a:rPr>
              <a:t>The year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63040"/>
            <a:ext cx="1463040" cy="64008"/>
          </a:xfrm>
          <a:prstGeom prst="rect">
            <a:avLst/>
          </a:prstGeom>
          <a:solidFill>
            <a:srgbClr val="3F9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03120"/>
            <a:ext cx="2331720" cy="2286000"/>
          </a:xfrm>
          <a:prstGeom prst="rect">
            <a:avLst/>
          </a:prstGeom>
          <a:solidFill>
            <a:srgbClr val="273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2331720" cy="91440"/>
          </a:xfrm>
          <a:prstGeom prst="rect">
            <a:avLst/>
          </a:prstGeom>
          <a:solidFill>
            <a:srgbClr val="3F9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965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D9A929"/>
                </a:solidFill>
                <a:latin typeface="Georgia"/>
              </a:rPr>
              <a:t>2,387,400 kr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9DB0BD"/>
                </a:solidFill>
                <a:latin typeface="Calibri"/>
              </a:rPr>
              <a:t>net sales, up 7.2 percent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103120"/>
            <a:ext cx="2331720" cy="2286000"/>
          </a:xfrm>
          <a:prstGeom prst="rect">
            <a:avLst/>
          </a:prstGeom>
          <a:solidFill>
            <a:srgbClr val="273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2103120"/>
            <a:ext cx="2331720" cy="91440"/>
          </a:xfrm>
          <a:prstGeom prst="rect">
            <a:avLst/>
          </a:prstGeom>
          <a:solidFill>
            <a:srgbClr val="3F9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1965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D9A929"/>
                </a:solidFill>
                <a:latin typeface="Georgia"/>
              </a:rPr>
              <a:t>53.4%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9DB0BD"/>
                </a:solidFill>
                <a:latin typeface="Calibri"/>
              </a:rPr>
              <a:t>gross margin, held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2103120"/>
            <a:ext cx="2331720" cy="2286000"/>
          </a:xfrm>
          <a:prstGeom prst="rect">
            <a:avLst/>
          </a:prstGeom>
          <a:solidFill>
            <a:srgbClr val="273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97880" y="2103120"/>
            <a:ext cx="2331720" cy="91440"/>
          </a:xfrm>
          <a:prstGeom prst="rect">
            <a:avLst/>
          </a:prstGeom>
          <a:solidFill>
            <a:srgbClr val="3F9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468880"/>
            <a:ext cx="1965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D9A929"/>
                </a:solidFill>
                <a:latin typeface="Georgia"/>
              </a:rPr>
              <a:t>742,000 kr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9DB0BD"/>
                </a:solidFill>
                <a:latin typeface="Calibri"/>
              </a:rPr>
              <a:t>strongest quarter, Q4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103120"/>
            <a:ext cx="2331720" cy="2286000"/>
          </a:xfrm>
          <a:prstGeom prst="rect">
            <a:avLst/>
          </a:prstGeom>
          <a:solidFill>
            <a:srgbClr val="273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103120"/>
            <a:ext cx="2331720" cy="91440"/>
          </a:xfrm>
          <a:prstGeom prst="rect">
            <a:avLst/>
          </a:prstGeom>
          <a:solidFill>
            <a:srgbClr val="3F9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468880"/>
            <a:ext cx="1965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D9A929"/>
                </a:solidFill>
                <a:latin typeface="Georgia"/>
              </a:rPr>
              <a:t>64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9DB0BD"/>
                </a:solidFill>
                <a:latin typeface="Calibri"/>
              </a:rPr>
              <a:t>students in the autumn scheme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EF1"/>
                </a:solidFill>
                <a:latin typeface="Georgia"/>
              </a:rPr>
              <a:t>Revenue by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63040"/>
            <a:ext cx="1463040" cy="64008"/>
          </a:xfrm>
          <a:prstGeom prst="rect">
            <a:avLst/>
          </a:prstGeom>
          <a:solidFill>
            <a:srgbClr val="3F9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783080"/>
          <a:ext cx="51206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2194560"/>
            <a:ext cx="4023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F9D8C"/>
                </a:solidFill>
                <a:latin typeface="Georgia"/>
              </a:rPr>
              <a:t>The international shelf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E9EEF1"/>
                </a:solidFill>
                <a:latin typeface="Calibri"/>
              </a:rPr>
              <a:t>Translated fiction has grown to 18 percent of revenue and earns more floor space in 2026.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EF1"/>
                </a:solidFill>
                <a:latin typeface="Georgia"/>
              </a:rPr>
              <a:t>Student discount scheme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63040"/>
            <a:ext cx="1463040" cy="64008"/>
          </a:xfrm>
          <a:prstGeom prst="rect">
            <a:avLst/>
          </a:prstGeom>
          <a:solidFill>
            <a:srgbClr val="3F9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783080"/>
          <a:ext cx="67665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3840" y="2286000"/>
            <a:ext cx="2743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D9A929"/>
                </a:solidFill>
                <a:latin typeface="Georgia"/>
              </a:rPr>
              <a:t>Autumn terms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E9EEF1"/>
                </a:solidFill>
                <a:latin typeface="Calibri"/>
              </a:rPr>
              <a:t>Sign ups have grown every autumn since the scheme began, helped by course reading list referrals.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3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EF1"/>
                </a:solidFill>
                <a:latin typeface="Georgia"/>
              </a:rPr>
              <a:t>What readers wanted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63040"/>
            <a:ext cx="1463040" cy="64008"/>
          </a:xfrm>
          <a:prstGeom prst="rect">
            <a:avLst/>
          </a:prstGeom>
          <a:solidFill>
            <a:srgbClr val="3F9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9418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0">
                <a:solidFill>
                  <a:srgbClr val="E9EEF1"/>
                </a:solidFill>
                <a:latin typeface="Calibri"/>
              </a:rPr>
              <a:t>Scandi noir is softening; readers are moving toward literary thriller and quiet autofiction.</a:t>
            </a:r>
          </a:p>
          <a:p>
            <a:pPr algn="l">
              <a:spcBef>
                <a:spcPts val="800"/>
              </a:spcBef>
            </a:pPr>
            <a:r>
              <a:rPr sz="2000" b="0">
                <a:solidFill>
                  <a:srgbClr val="E9EEF1"/>
                </a:solidFill>
                <a:latin typeface="Calibri"/>
              </a:rPr>
              <a:t>Finnish-Swedish translated fiction is having a moment worth stocking deliberately.</a:t>
            </a:r>
          </a:p>
          <a:p>
            <a:pPr algn="l">
              <a:spcBef>
                <a:spcPts val="800"/>
              </a:spcBef>
            </a:pPr>
            <a:r>
              <a:rPr sz="2000" b="0">
                <a:solidFill>
                  <a:srgbClr val="E9EEF1"/>
                </a:solidFill>
                <a:latin typeface="Calibri"/>
              </a:rPr>
              <a:t>Poetry sells when it is recommended by name at the counter, not left to browse.</a:t>
            </a:r>
          </a:p>
          <a:p>
            <a:pPr algn="l">
              <a:spcBef>
                <a:spcPts val="800"/>
              </a:spcBef>
            </a:pPr>
            <a:r>
              <a:rPr sz="2000" b="0">
                <a:solidFill>
                  <a:srgbClr val="E9EEF1"/>
                </a:solidFill>
                <a:latin typeface="Calibri"/>
              </a:rPr>
              <a:t>Debut literary fiction is being taken seriously by readers, not only by publishers.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9509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E9EEF1"/>
                </a:solidFill>
                <a:latin typeface="Georgia"/>
              </a:rPr>
              <a:t>Prepared for the counter</a:t>
            </a:r>
          </a:p>
          <a:p>
            <a:pPr algn="l">
              <a:spcBef>
                <a:spcPts val="1400"/>
              </a:spcBef>
            </a:pPr>
            <a:r>
              <a:rPr sz="1700" b="0">
                <a:solidFill>
                  <a:srgbClr val="9DB0BD"/>
                </a:solidFill>
                <a:latin typeface="Calibri"/>
              </a:rPr>
              <a:t>Weaver &amp; Book, Uppsala  |  Square POS and Fortnox  |  Lucia Weaver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