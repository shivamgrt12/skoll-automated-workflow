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SEK</c:v>
                </c:pt>
              </c:strCache>
            </c:strRef>
          </c:tx>
          <c:spPr>
            <a:solidFill>
              <a:srgbClr val="A8542F"/>
            </a:solidFill>
          </c:spPr>
          <c:cat>
            <c:strRef>
              <c:f>Sheet1!$A$2:$A$4</c:f>
              <c:strCache>
                <c:ptCount val="3"/>
                <c:pt idx="0">
                  <c:v>Author fees
and travel</c:v>
                </c:pt>
                <c:pt idx="1">
                  <c:v>Promotion
and printing</c:v>
                </c:pt>
                <c:pt idx="2">
                  <c:v>Materials and
hospitality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28000</c:v>
                </c:pt>
                <c:pt idx="1">
                  <c:v>7500</c:v>
                </c:pt>
                <c:pt idx="2">
                  <c:v>9500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200" b="1">
                  <a:solidFill>
                    <a:srgbClr val="4E2A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468880"/>
            <a:ext cx="2194560" cy="82296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4ECDD"/>
                </a:solidFill>
                <a:latin typeface="Calibri"/>
              </a:rPr>
              <a:t>WEAVER &amp; 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BF5E9"/>
                </a:solidFill>
                <a:latin typeface="Georgia"/>
              </a:rPr>
              <a:t>Author Event Series</a:t>
            </a:r>
          </a:p>
          <a:p>
            <a:pPr algn="l"/>
            <a:r>
              <a:rPr sz="4000" b="0">
                <a:solidFill>
                  <a:srgbClr val="EAD7B0"/>
                </a:solidFill>
                <a:latin typeface="Georgia"/>
              </a:rPr>
              <a:t>2026 to 2027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AD7B0"/>
                </a:solidFill>
                <a:latin typeface="Calibri"/>
              </a:rPr>
              <a:t>A proposal to Uppsala kommuns kulturfond  |  ref UKF-2026-EVT-0341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4E2A1A"/>
                </a:solidFill>
                <a:latin typeface="Georgia"/>
              </a:rPr>
              <a:t>The shop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08760"/>
            <a:ext cx="1463040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20240"/>
            <a:ext cx="93268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</a:pPr>
            <a:r>
              <a:rPr sz="2200" b="0">
                <a:solidFill>
                  <a:srgbClr val="2B2118"/>
                </a:solidFill>
                <a:latin typeface="Calibri"/>
              </a:rPr>
              <a:t>Independent literary bookshop on Svartbacksgatan since 2011</a:t>
            </a:r>
          </a:p>
          <a:p>
            <a:pPr algn="l">
              <a:spcBef>
                <a:spcPts val="600"/>
              </a:spcBef>
            </a:pPr>
            <a:r>
              <a:rPr sz="2200" b="0">
                <a:solidFill>
                  <a:srgbClr val="2B2118"/>
                </a:solidFill>
                <a:latin typeface="Calibri"/>
              </a:rPr>
              <a:t>Roughly four thousand titles in fiction, poetry and translated work</a:t>
            </a:r>
          </a:p>
          <a:p>
            <a:pPr algn="l">
              <a:spcBef>
                <a:spcPts val="600"/>
              </a:spcBef>
            </a:pPr>
            <a:r>
              <a:rPr sz="2200" b="0">
                <a:solidFill>
                  <a:srgbClr val="2B2118"/>
                </a:solidFill>
                <a:latin typeface="Calibri"/>
              </a:rPr>
              <a:t>Sole proprietorship run by Lucia Weaver with part time support</a:t>
            </a:r>
          </a:p>
          <a:p>
            <a:pPr algn="l">
              <a:spcBef>
                <a:spcPts val="600"/>
              </a:spcBef>
            </a:pPr>
            <a:r>
              <a:rPr sz="2200" b="0">
                <a:solidFill>
                  <a:srgbClr val="2B2118"/>
                </a:solidFill>
                <a:latin typeface="Calibri"/>
              </a:rPr>
              <a:t>Long standing ties to Uppsala University and local schools</a:t>
            </a:r>
          </a:p>
          <a:p>
            <a:pPr algn="l">
              <a:spcBef>
                <a:spcPts val="600"/>
              </a:spcBef>
            </a:pPr>
            <a:r>
              <a:rPr sz="2200" b="0">
                <a:solidFill>
                  <a:srgbClr val="2B2118"/>
                </a:solidFill>
                <a:latin typeface="Calibri"/>
              </a:rPr>
              <a:t>Org.nr 559147-2083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4E2A1A"/>
                </a:solidFill>
                <a:latin typeface="Georgia"/>
              </a:rPr>
              <a:t>The proposal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08760"/>
            <a:ext cx="1463040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011680"/>
            <a:ext cx="4663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011680"/>
            <a:ext cx="109728" cy="1691640"/>
          </a:xfrm>
          <a:prstGeom prst="rect">
            <a:avLst/>
          </a:prstGeom>
          <a:solidFill>
            <a:srgbClr val="6E7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267712"/>
            <a:ext cx="4114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A8542F"/>
                </a:solidFill>
                <a:latin typeface="Georgia"/>
              </a:rPr>
              <a:t>Six evenings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B2118"/>
                </a:solidFill>
                <a:latin typeface="Calibri"/>
              </a:rPr>
              <a:t>October 2026 through April 2027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2011680"/>
            <a:ext cx="4663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0" y="2011680"/>
            <a:ext cx="109728" cy="1691640"/>
          </a:xfrm>
          <a:prstGeom prst="rect">
            <a:avLst/>
          </a:prstGeom>
          <a:solidFill>
            <a:srgbClr val="6E7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267712"/>
            <a:ext cx="4114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A8542F"/>
                </a:solidFill>
                <a:latin typeface="Georgia"/>
              </a:rPr>
              <a:t>Free admission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B2118"/>
                </a:solidFill>
                <a:latin typeface="Calibri"/>
              </a:rPr>
              <a:t>Modest wine service, reading and conversation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931920"/>
            <a:ext cx="4663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3931920"/>
            <a:ext cx="109728" cy="1691640"/>
          </a:xfrm>
          <a:prstGeom prst="rect">
            <a:avLst/>
          </a:prstGeom>
          <a:solidFill>
            <a:srgbClr val="6E7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187952"/>
            <a:ext cx="4114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A8542F"/>
                </a:solidFill>
                <a:latin typeface="Georgia"/>
              </a:rPr>
              <a:t>The focus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B2118"/>
                </a:solidFill>
                <a:latin typeface="Calibri"/>
              </a:rPr>
              <a:t>Translated poetry and debut literary fiction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3931920"/>
            <a:ext cx="4663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6B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60720" y="3931920"/>
            <a:ext cx="109728" cy="1691640"/>
          </a:xfrm>
          <a:prstGeom prst="rect">
            <a:avLst/>
          </a:prstGeom>
          <a:solidFill>
            <a:srgbClr val="6E7B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4187952"/>
            <a:ext cx="411480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A8542F"/>
                </a:solidFill>
                <a:latin typeface="Georgia"/>
              </a:rPr>
              <a:t>The shape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2B2118"/>
                </a:solidFill>
                <a:latin typeface="Calibri"/>
              </a:rPr>
              <a:t>A reading, a conversation, and questions from the room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A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4E2A1A"/>
                </a:solidFill>
                <a:latin typeface="Georgia"/>
              </a:rPr>
              <a:t>Budget, 45,000 SEK requested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371600"/>
            <a:ext cx="1463040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68680" y="1737360"/>
          <a:ext cx="658368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0" y="2011680"/>
            <a:ext cx="2834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6E7B5B"/>
                </a:solidFill>
                <a:latin typeface="Georgia"/>
              </a:rPr>
              <a:t>The whole sum</a:t>
            </a:r>
          </a:p>
          <a:p>
            <a:pPr algn="l">
              <a:spcBef>
                <a:spcPts val="600"/>
              </a:spcBef>
            </a:pPr>
            <a:r>
              <a:rPr sz="4000" b="1">
                <a:solidFill>
                  <a:srgbClr val="A8542F"/>
                </a:solidFill>
                <a:latin typeface="Georgia"/>
              </a:rPr>
              <a:t>45,000 SEK</a:t>
            </a:r>
          </a:p>
          <a:p>
            <a:pPr algn="l">
              <a:spcBef>
                <a:spcPts val="1200"/>
              </a:spcBef>
            </a:pPr>
            <a:r>
              <a:rPr sz="1500" b="0">
                <a:solidFill>
                  <a:srgbClr val="2B2118"/>
                </a:solidFill>
                <a:latin typeface="Calibri"/>
              </a:rPr>
              <a:t>The shop adds venue, staff time and coordination at no charge to the project.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E2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F4ECDD"/>
                </a:solidFill>
                <a:latin typeface="Georgia"/>
              </a:rPr>
              <a:t>A proven programme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1508760"/>
            <a:ext cx="1463040" cy="64008"/>
          </a:xfrm>
          <a:prstGeom prst="rect">
            <a:avLst/>
          </a:prstGeom>
          <a:solidFill>
            <a:srgbClr val="C9A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68680" y="2103120"/>
            <a:ext cx="2331720" cy="2194560"/>
          </a:xfrm>
          <a:prstGeom prst="rect">
            <a:avLst/>
          </a:prstGeom>
          <a:solidFill>
            <a:srgbClr val="5E3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68880"/>
            <a:ext cx="23317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C9A24B"/>
                </a:solidFill>
                <a:latin typeface="Georgia"/>
              </a:rPr>
              <a:t>6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EAD7B0"/>
                </a:solidFill>
                <a:latin typeface="Calibri"/>
              </a:rPr>
              <a:t>author evenings held in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2103120"/>
            <a:ext cx="2331720" cy="2194560"/>
          </a:xfrm>
          <a:prstGeom prst="rect">
            <a:avLst/>
          </a:prstGeom>
          <a:solidFill>
            <a:srgbClr val="5E3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2468880"/>
            <a:ext cx="23317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C9A24B"/>
                </a:solidFill>
                <a:latin typeface="Georgia"/>
              </a:rPr>
              <a:t>32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EAD7B0"/>
                </a:solidFill>
                <a:latin typeface="Calibri"/>
              </a:rPr>
              <a:t>average attendance per evening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5897880" y="2103120"/>
            <a:ext cx="2331720" cy="2194560"/>
          </a:xfrm>
          <a:prstGeom prst="rect">
            <a:avLst/>
          </a:prstGeom>
          <a:solidFill>
            <a:srgbClr val="5E3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97880" y="2468880"/>
            <a:ext cx="23317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C9A24B"/>
                </a:solidFill>
                <a:latin typeface="Georgia"/>
              </a:rPr>
              <a:t>51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EAD7B0"/>
                </a:solidFill>
                <a:latin typeface="Calibri"/>
              </a:rPr>
              <a:t>sold out the December panel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0" y="2103120"/>
            <a:ext cx="2331720" cy="2194560"/>
          </a:xfrm>
          <a:prstGeom prst="rect">
            <a:avLst/>
          </a:prstGeom>
          <a:solidFill>
            <a:srgbClr val="5E3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468880"/>
            <a:ext cx="2331720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C9A24B"/>
                </a:solidFill>
                <a:latin typeface="Georgia"/>
              </a:rPr>
              <a:t>2019</a:t>
            </a:r>
          </a:p>
          <a:p>
            <a:pPr algn="ctr">
              <a:spcBef>
                <a:spcPts val="800"/>
              </a:spcBef>
            </a:pPr>
            <a:r>
              <a:rPr sz="1400" b="0">
                <a:solidFill>
                  <a:srgbClr val="EAD7B0"/>
                </a:solidFill>
                <a:latin typeface="Calibri"/>
              </a:rPr>
              <a:t>programme running since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A854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95097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000" b="1">
                <a:solidFill>
                  <a:srgbClr val="FBF5E9"/>
                </a:solidFill>
                <a:latin typeface="Georgia"/>
              </a:rPr>
              <a:t>Thank you</a:t>
            </a:r>
          </a:p>
          <a:p>
            <a:pPr algn="l">
              <a:spcBef>
                <a:spcPts val="1400"/>
              </a:spcBef>
            </a:pPr>
            <a:r>
              <a:rPr sz="1800" b="0">
                <a:solidFill>
                  <a:srgbClr val="EAD7B0"/>
                </a:solidFill>
                <a:latin typeface="Calibri"/>
              </a:rPr>
              <a:t>Lucia Weaver  |  Weaver &amp; Book  |  Svartbacksgatan 18, 753 11 Uppsala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EAD7B0"/>
                </a:solidFill>
                <a:latin typeface="Calibri"/>
              </a:rPr>
              <a:t>lucia@weaverbook.se  |  018-13 24 80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