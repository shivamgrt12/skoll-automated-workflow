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017520"/>
            <a:ext cx="201168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9A24B"/>
                </a:solidFill>
                <a:latin typeface="Calibri"/>
              </a:rPr>
              <a:t>WINDOW DISPLAY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1EAD8"/>
                </a:solidFill>
                <a:latin typeface="Georgia"/>
              </a:rPr>
              <a:t>The Winter Window</a:t>
            </a:r>
          </a:p>
          <a:p>
            <a:pPr algn="l"/>
            <a:r>
              <a:rPr sz="2800" b="0">
                <a:solidFill>
                  <a:srgbClr val="B9C4B6"/>
                </a:solidFill>
                <a:latin typeface="Georgia"/>
              </a:rPr>
              <a:t>First Advent through to the new year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20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1EAD8"/>
                </a:solidFill>
                <a:latin typeface="Georgia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9418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>
                <a:solidFill>
                  <a:srgbClr val="2B3A30"/>
                </a:solidFill>
                <a:latin typeface="Calibri"/>
              </a:rPr>
              <a:t>A quiet, candle warm window that reads as an invitation, not a sale.</a:t>
            </a:r>
          </a:p>
          <a:p>
            <a:pPr algn="l">
              <a:spcBef>
                <a:spcPts val="800"/>
              </a:spcBef>
            </a:pPr>
            <a:r>
              <a:rPr sz="2200" b="0">
                <a:solidFill>
                  <a:srgbClr val="2B3A30"/>
                </a:solidFill>
                <a:latin typeface="Calibri"/>
              </a:rPr>
              <a:t>Wool, dark wood, stacked books and a single chandelier of warm light.</a:t>
            </a:r>
          </a:p>
          <a:p>
            <a:pPr algn="l">
              <a:spcBef>
                <a:spcPts val="800"/>
              </a:spcBef>
            </a:pPr>
            <a:r>
              <a:rPr sz="2200" b="0">
                <a:solidFill>
                  <a:srgbClr val="2B3A30"/>
                </a:solidFill>
                <a:latin typeface="Calibri"/>
              </a:rPr>
              <a:t>Wrapped books at the front, because they make the steadiest gifts.</a:t>
            </a:r>
          </a:p>
          <a:p>
            <a:pPr algn="l">
              <a:spcBef>
                <a:spcPts val="800"/>
              </a:spcBef>
            </a:pPr>
            <a:r>
              <a:rPr sz="2200" b="0">
                <a:solidFill>
                  <a:srgbClr val="2B3A30"/>
                </a:solidFill>
                <a:latin typeface="Calibri"/>
              </a:rPr>
              <a:t>Goes up on First Advent Sunday and holds through to the new year.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1EAD8"/>
                </a:solidFill>
                <a:latin typeface="Georgia"/>
              </a:rPr>
              <a:t>Three 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63040"/>
            <a:ext cx="1463040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011680"/>
            <a:ext cx="3200400" cy="3108960"/>
          </a:xfrm>
          <a:prstGeom prst="rect">
            <a:avLst/>
          </a:prstGeom>
          <a:solidFill>
            <a:srgbClr val="17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3200400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342B"/>
                </a:solidFill>
                <a:latin typeface="Georgia"/>
              </a:rPr>
              <a:t>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1EAD8"/>
                </a:solidFill>
                <a:latin typeface="Calibri"/>
              </a:rPr>
              <a:t>Wrapped gift stacks and the staff pick of the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011680"/>
            <a:ext cx="3200400" cy="3108960"/>
          </a:xfrm>
          <a:prstGeom prst="rect">
            <a:avLst/>
          </a:prstGeom>
          <a:solidFill>
            <a:srgbClr val="17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3200400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84831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342B"/>
                </a:solidFill>
                <a:latin typeface="Georgia"/>
              </a:rPr>
              <a:t>Centre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3464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1EAD8"/>
                </a:solidFill>
                <a:latin typeface="Calibri"/>
              </a:rPr>
              <a:t>The chandelier, a reading chair, an open book on the arm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011680"/>
            <a:ext cx="3200400" cy="3108960"/>
          </a:xfrm>
          <a:prstGeom prst="rect">
            <a:avLst/>
          </a:prstGeom>
          <a:solidFill>
            <a:srgbClr val="17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2011680"/>
            <a:ext cx="3200400" cy="548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84831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342B"/>
                </a:solidFill>
                <a:latin typeface="Georgia"/>
              </a:rPr>
              <a:t>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83464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1EAD8"/>
                </a:solidFill>
                <a:latin typeface="Calibri"/>
              </a:rPr>
              <a:t>Translated poetry and small press titles, priced with care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20342B"/>
                </a:solidFill>
                <a:latin typeface="Georgia"/>
              </a:rPr>
              <a:t>Titles for the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1463040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20240"/>
            <a:ext cx="9418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299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342B"/>
                </a:solidFill>
                <a:latin typeface="Georgia"/>
              </a:rPr>
              <a:t>Vinterspar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6654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5A4E"/>
                </a:solidFill>
                <a:latin typeface="Calibri"/>
              </a:rPr>
              <a:t>Maja Lindstrom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66544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7A3A"/>
                </a:solidFill>
                <a:latin typeface="Calibri"/>
              </a:rPr>
              <a:t>Nordstrom Forlag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670048"/>
            <a:ext cx="9418320" cy="640080"/>
          </a:xfrm>
          <a:prstGeom prst="rect">
            <a:avLst/>
          </a:prstGeom>
          <a:solidFill>
            <a:srgbClr val="ED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7977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342B"/>
                </a:solidFill>
                <a:latin typeface="Georgia"/>
              </a:rPr>
              <a:t>Solvinden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1635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5A4E"/>
                </a:solidFill>
                <a:latin typeface="Calibri"/>
              </a:rPr>
              <a:t>Sofia Nyman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63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7A3A"/>
                </a:solidFill>
                <a:latin typeface="Calibri"/>
              </a:rPr>
              <a:t>Ekblad Forlag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419856"/>
            <a:ext cx="9418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958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342B"/>
                </a:solidFill>
                <a:latin typeface="Georgia"/>
              </a:rPr>
              <a:t>The Rings of Saturn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566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5A4E"/>
                </a:solidFill>
                <a:latin typeface="Calibri"/>
              </a:rPr>
              <a:t>W. G. Sebald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5661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7A3A"/>
                </a:solidFill>
                <a:latin typeface="Calibri"/>
              </a:rPr>
              <a:t>Gazelle Book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169664"/>
            <a:ext cx="9418320" cy="640080"/>
          </a:xfrm>
          <a:prstGeom prst="rect">
            <a:avLst/>
          </a:prstGeom>
          <a:solidFill>
            <a:srgbClr val="ED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793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342B"/>
                </a:solidFill>
                <a:latin typeface="Georgia"/>
              </a:rPr>
              <a:t>Out Stealing Horses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31596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5A4E"/>
                </a:solidFill>
                <a:latin typeface="Calibri"/>
              </a:rPr>
              <a:t>Per Petterson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3159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7A3A"/>
                </a:solidFill>
                <a:latin typeface="Calibri"/>
              </a:rPr>
              <a:t>International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919472"/>
            <a:ext cx="94183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29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342B"/>
                </a:solidFill>
                <a:latin typeface="Georgia"/>
              </a:rPr>
              <a:t>Aniara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06577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5A4E"/>
                </a:solidFill>
                <a:latin typeface="Calibri"/>
              </a:rPr>
              <a:t>Harry Martinson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06577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7A3A"/>
                </a:solidFill>
                <a:latin typeface="Calibri"/>
              </a:rPr>
              <a:t>Bonnierforlagen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1EAD8"/>
                </a:solidFill>
                <a:latin typeface="Georgia"/>
              </a:rPr>
              <a:t>The season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63040"/>
            <a:ext cx="1463040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84832"/>
            <a:ext cx="201168" cy="20116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Georgia"/>
              </a:rPr>
              <a:t>First Advent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4825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1EAD8"/>
                </a:solidFill>
                <a:latin typeface="Calibri"/>
              </a:rPr>
              <a:t>Window goes up, candles lit at dusk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53512"/>
            <a:ext cx="201168" cy="20116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Georgia"/>
              </a:rPr>
              <a:t>Through December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1693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1EAD8"/>
                </a:solidFill>
                <a:latin typeface="Calibri"/>
              </a:rPr>
              <a:t>Mulled wine evenings, gift wrapping at the counter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822192"/>
            <a:ext cx="201168" cy="20116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Georgia"/>
              </a:rPr>
              <a:t>Longer Saturdays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8561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1EAD8"/>
                </a:solidFill>
                <a:latin typeface="Calibri"/>
              </a:rPr>
              <a:t>Extended hours for the gift weeks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90872"/>
            <a:ext cx="201168" cy="20116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6177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4B"/>
                </a:solidFill>
                <a:latin typeface="Georgia"/>
              </a:rPr>
              <a:t>After the new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654296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1EAD8"/>
                </a:solidFill>
                <a:latin typeface="Calibri"/>
              </a:rPr>
              <a:t>Window comes down, the January astronomy display begins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9A24B"/>
                </a:solidFill>
                <a:latin typeface="Georgia"/>
              </a:rPr>
              <a:t>Reading is a necessity, not a luxury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F1EAD8"/>
                </a:solidFill>
                <a:latin typeface="Calibri"/>
              </a:rPr>
              <a:t>Weaver &amp; Book  |  Svartbacksgatan 18, Uppsala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