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C8A96E"/>
              </a:solidFill>
            </c:spPr>
          </c:dPt>
          <c:dPt>
            <c:idx val="2"/>
            <c:spPr>
              <a:solidFill>
                <a:srgbClr val="E07040"/>
              </a:solidFill>
            </c:spPr>
          </c:dPt>
          <c:cat>
            <c:strRef>
              <c:f>Sheet1!$A$2:$A$4</c:f>
              <c:strCache>
                <c:ptCount val="3"/>
                <c:pt idx="0">
                  <c:v>Beginner</c:v>
                </c:pt>
                <c:pt idx="1">
                  <c:v>Intermediate</c:v>
                </c:pt>
                <c:pt idx="2">
                  <c:v>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 b="1">
                  <a:solidFill>
                    <a:srgbClr val="2A2A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6A9470"/>
              </a:solidFill>
            </c:spPr>
          </c:dPt>
          <c:cat>
            <c:strRef>
              <c:f>Sheet1!$A$2:$A$3</c:f>
              <c:strCache>
                <c:ptCount val="2"/>
                <c:pt idx="0">
                  <c:v>Saturday group</c:v>
                </c:pt>
                <c:pt idx="1">
                  <c:v>Tuesday private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Studio hours</c:v>
                </c:pt>
              </c:strCache>
            </c:strRef>
          </c:tx>
          <c:spPr>
            <a:solidFill>
              <a:srgbClr val="2A8A8C"/>
            </a:solidFill>
          </c:spPr>
          <c:dPt>
            <c:idx val="0"/>
            <c:spPr>
              <a:solidFill>
                <a:srgbClr val="2A8A8C"/>
              </a:solidFill>
            </c:spPr>
          </c:dPt>
          <c:dPt>
            <c:idx val="1"/>
            <c:spPr>
              <a:solidFill>
                <a:srgbClr val="2A8A8C"/>
              </a:solidFill>
            </c:spPr>
          </c:dPt>
          <c:dPt>
            <c:idx val="2"/>
            <c:spPr>
              <a:solidFill>
                <a:srgbClr val="2A8A8C"/>
              </a:solidFill>
            </c:spPr>
          </c:dPt>
          <c:dPt>
            <c:idx val="3"/>
            <c:spPr>
              <a:solidFill>
                <a:srgbClr val="2A8A8C"/>
              </a:solidFill>
            </c:spPr>
          </c:dPt>
          <c:dPt>
            <c:idx val="4"/>
            <c:spPr>
              <a:solidFill>
                <a:srgbClr val="2A8A8C"/>
              </a:solidFill>
            </c:spPr>
          </c:dPt>
          <c:dPt>
            <c:idx val="5"/>
            <c:spPr>
              <a:solidFill>
                <a:srgbClr val="2A8A8C"/>
              </a:solidFill>
            </c:spPr>
          </c:dPt>
          <c:cat>
            <c:strRef>
              <c:f>Sheet1!$A$2:$A$7</c:f>
              <c:strCache>
                <c:ptCount val="6"/>
                <c:pt idx="0">
                  <c:v>Color
foundations</c:v>
                </c:pt>
                <c:pt idx="1">
                  <c:v>Edges and
water</c:v>
                </c:pt>
                <c:pt idx="2">
                  <c:v>Simple
subjects</c:v>
                </c:pt>
                <c:pt idx="3">
                  <c:v>Florals</c:v>
                </c:pt>
                <c:pt idx="4">
                  <c:v>Landscapes</c:v>
                </c:pt>
                <c:pt idx="5">
                  <c:v>Series and
critique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0E4E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8A96E"/>
                </a:solidFill>
                <a:latin typeface="Calibri"/>
              </a:rPr>
              <a:t>WATERCOLOR CLASS CURRICULUM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Foundations Through Advanced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46120"/>
            <a:ext cx="640080" cy="45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29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AACCCC"/>
                </a:solidFill>
                <a:latin typeface="Calibri"/>
              </a:rPr>
              <a:t>Dearborn Community Arts Center, Studio B  |  Saturday Sessions  |  2025 to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99BBBB"/>
                </a:solidFill>
                <a:latin typeface="Calibri"/>
              </a:rPr>
              <a:t>Maria Sandoval  |  Watercolor 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88AAAA"/>
                </a:solidFill>
                <a:latin typeface="Calibri"/>
              </a:rPr>
              <a:t>A semester guide and class snapshot for students at all skill levels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CLASS SNAPSHOT, JANUARY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Who Is in the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Students by Skill Level (15 total)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64592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3258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Students by Class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26480" y="1645920"/>
          <a:ext cx="557784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6309360" y="4206240"/>
            <a:ext cx="530352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343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C3A5C"/>
                </a:solidFill>
                <a:latin typeface="Calibri"/>
              </a:rPr>
              <a:t>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80060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15 active students. Saturday group meets at the Arts Center; Tuesday private class meets in the home studio and is donated.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January group fees: 9 of 10 paid, $360 collected.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C8A96E"/>
                </a:solidFill>
                <a:latin typeface="Calibri"/>
              </a:rPr>
              <a:t>ENROLLMENT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Current Student Roster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2103120"/>
                <a:gridCol w="3657600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Focus / Notes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Rachel Cooper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Private (Tue)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Advanced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Design collaboration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Carol Devine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Advanced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Portraits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Diane Alvarez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Private (Tue)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Susan Kelly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Private (Tue)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Nora Whitman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Florals focus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Maya Sorensen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Linda Osei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Landscapes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Tom Becker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Private (Tue)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Started November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Amir Haddad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Private (Tue)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Grace Lim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Eli Foster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Age 16, parent paid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Henry Cole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352699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Vincent Park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Group (Sat)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>Beginner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A2A2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CURRICULUM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Teaching Hours by Theme Across the Year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680960" y="1554480"/>
            <a:ext cx="4023360" cy="4846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C3A5C"/>
                </a:solidFill>
                <a:latin typeface="Calibri"/>
              </a:rPr>
              <a:t>Two Semesters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40280"/>
            <a:ext cx="3703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Semester one builds the foundation: color, edges, and first subjects.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Semester two develops voice: florals, landscapes, and a four piece series.</a:t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Each theme ends in a group critique. Advanced students add portraits and plein air.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6A9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Supplies, Tuition, and Schedule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6949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93776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Cold press 140 lb, 9x12 pad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Palette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8 colors minimum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Brushes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1 flat wash, 1 medium round, 1 small round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Water jars, paper towels, pencil, tape, board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554480"/>
          <a:ext cx="4114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Tuition</a:t>
                      </a:r>
                    </a:p>
                  </a:txBody>
                  <a:tcPr anchor="ctr" marT="25400" marB="25400">
                    <a:solidFill>
                      <a:srgbClr val="1C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Saturday group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$40 / month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Tuesday private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Donated, no fee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Session length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2 hours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Arts Center stipend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2A2A2A"/>
                          </a:solidFill>
                          <a:latin typeface="Calibri"/>
                        </a:rPr>
                        <a:t>$200 / month</a:t>
                      </a:r>
                    </a:p>
                  </a:txBody>
                  <a:tcPr anchor="ctr" marT="12700" marB="12700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Saturday group class meets 2:00 to 4:00 PM at the Dearborn Community Arts Center, Studio B. Tuesday private class meets 7:00 to 8:30 PM in the home studio and is offered without charge.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0360152" cy="36576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6015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The goal is not to make beautiful paintings.</a:t>
            </a:r>
          </a:p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The goal is to learn to see.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023360"/>
            <a:ext cx="10360152" cy="36576"/>
          </a:xfrm>
          <a:prstGeom prst="rect">
            <a:avLst/>
          </a:prstGeom>
          <a:solidFill>
            <a:srgbClr val="2A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C8A96E"/>
                </a:solidFill>
                <a:latin typeface="Calibri"/>
              </a:rPr>
              <a:t>Dearborn Community Arts Center  |  Maria Sandoval  |  Saturday 2:00 to 4:00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