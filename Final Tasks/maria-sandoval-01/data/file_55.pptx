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(USD thousands)</c:v>
                </c:pt>
              </c:strCache>
            </c:strRef>
          </c:tx>
          <c:spPr>
            <a:solidFill>
              <a:srgbClr val="2A8A8C"/>
            </a:solidFill>
          </c:spPr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2A8A8C"/>
              </a:solidFill>
            </c:spPr>
          </c:dPt>
          <c:dPt>
            <c:idx val="2"/>
            <c:spPr>
              <a:solidFill>
                <a:srgbClr val="2A8A8C"/>
              </a:solidFill>
            </c:spPr>
          </c:dPt>
          <c:dPt>
            <c:idx val="3"/>
            <c:spPr>
              <a:solidFill>
                <a:srgbClr val="2A8A8C"/>
              </a:solidFill>
            </c:spPr>
          </c:dPt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338</c:v>
                </c:pt>
                <c:pt idx="1">
                  <c:v>390</c:v>
                </c:pt>
                <c:pt idx="2">
                  <c:v>452</c:v>
                </c:pt>
                <c:pt idx="3">
                  <c:v>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0E4E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E07040"/>
              </a:solidFill>
            </c:spPr>
          </c:dPt>
          <c:dPt>
            <c:idx val="2"/>
            <c:spPr>
              <a:solidFill>
                <a:srgbClr val="6A9470"/>
              </a:solidFill>
            </c:spPr>
          </c:dPt>
          <c:dPt>
            <c:idx val="3"/>
            <c:spPr>
              <a:solidFill>
                <a:srgbClr val="C8A96E"/>
              </a:solidFill>
            </c:spPr>
          </c:dPt>
          <c:dPt>
            <c:idx val="4"/>
            <c:spPr>
              <a:solidFill>
                <a:srgbClr val="8FB4C8"/>
              </a:solidFill>
            </c:spPr>
          </c:dPt>
          <c:cat>
            <c:strRef>
              <c:f>Sheet1!$A$2:$A$6</c:f>
              <c:strCache>
                <c:ptCount val="5"/>
                <c:pt idx="0">
                  <c:v>Preventive care</c:v>
                </c:pt>
                <c:pt idx="1">
                  <c:v>Restorative</c:v>
                </c:pt>
                <c:pt idx="2">
                  <c:v>New patient exams</c:v>
                </c:pt>
                <c:pt idx="3">
                  <c:v>Sedation</c:v>
                </c:pt>
                <c:pt idx="4">
                  <c:v>Emergency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</c:v>
                </c:pt>
                <c:pt idx="1">
                  <c:v>0.28</c:v>
                </c:pt>
                <c:pt idx="2">
                  <c:v>0.2</c:v>
                </c:pt>
                <c:pt idx="3">
                  <c:v>0.12</c:v>
                </c:pt>
                <c:pt idx="4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2A2A2A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E07040"/>
              </a:solidFill>
            </c:spPr>
          </c:dPt>
          <c:dPt>
            <c:idx val="2"/>
            <c:spPr>
              <a:solidFill>
                <a:srgbClr val="6A9470"/>
              </a:solidFill>
            </c:spPr>
          </c:dPt>
          <c:dPt>
            <c:idx val="3"/>
            <c:spPr>
              <a:solidFill>
                <a:srgbClr val="C8A96E"/>
              </a:solidFill>
            </c:spPr>
          </c:dPt>
          <c:dPt>
            <c:idx val="4"/>
            <c:spPr>
              <a:solidFill>
                <a:srgbClr val="8FB4C8"/>
              </a:solidFill>
            </c:spPr>
          </c:dPt>
          <c:cat>
            <c:strRef>
              <c:f>Sheet1!$A$2:$A$6</c:f>
              <c:strCache>
                <c:ptCount val="5"/>
                <c:pt idx="0">
                  <c:v>Primary PPO</c:v>
                </c:pt>
                <c:pt idx="1">
                  <c:v>Secondary PPO</c:v>
                </c:pt>
                <c:pt idx="2">
                  <c:v>Regional plan</c:v>
                </c:pt>
                <c:pt idx="3">
                  <c:v>Medicaid / CHIP</c:v>
                </c:pt>
                <c:pt idx="4">
                  <c:v>Self-pay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</c:v>
                </c:pt>
                <c:pt idx="1">
                  <c:v>0.22</c:v>
                </c:pt>
                <c:pt idx="2">
                  <c:v>0.18</c:v>
                </c:pt>
                <c:pt idx="3">
                  <c:v>0.12</c:v>
                </c:pt>
                <c:pt idx="4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E07040"/>
              </a:solidFill>
            </c:spPr>
          </c:dPt>
          <c:dPt>
            <c:idx val="2"/>
            <c:spPr>
              <a:solidFill>
                <a:srgbClr val="6A9470"/>
              </a:solidFill>
            </c:spPr>
          </c:dPt>
          <c:cat>
            <c:strRef>
              <c:f>Sheet1!$A$2:$A$4</c:f>
              <c:strCache>
                <c:ptCount val="3"/>
                <c:pt idx="0">
                  <c:v>Insurance reimbursements</c:v>
                </c:pt>
                <c:pt idx="1">
                  <c:v>Private pay and copays</c:v>
                </c:pt>
                <c:pt idx="2">
                  <c:v>Records and fees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30800</c:v>
                </c:pt>
                <c:pt idx="1">
                  <c:v>11200</c:v>
                </c:pt>
                <c:pt idx="2">
                  <c:v>750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2A2A2A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E07040"/>
            </a:solidFill>
          </c:spPr>
          <c:dPt>
            <c:idx val="0"/>
            <c:spPr>
              <a:solidFill>
                <a:srgbClr val="E07040"/>
              </a:solidFill>
            </c:spPr>
          </c:dPt>
          <c:dPt>
            <c:idx val="1"/>
            <c:spPr>
              <a:solidFill>
                <a:srgbClr val="E07040"/>
              </a:solidFill>
            </c:spPr>
          </c:dPt>
          <c:dPt>
            <c:idx val="2"/>
            <c:spPr>
              <a:solidFill>
                <a:srgbClr val="E07040"/>
              </a:solidFill>
            </c:spPr>
          </c:dPt>
          <c:dPt>
            <c:idx val="3"/>
            <c:spPr>
              <a:solidFill>
                <a:srgbClr val="E07040"/>
              </a:solidFill>
            </c:spPr>
          </c:dPt>
          <c:dPt>
            <c:idx val="4"/>
            <c:spPr>
              <a:solidFill>
                <a:srgbClr val="E07040"/>
              </a:solidFill>
            </c:spPr>
          </c:dPt>
          <c:cat>
            <c:strRef>
              <c:f>Sheet1!$A$2:$A$6</c:f>
              <c:strCache>
                <c:ptCount val="5"/>
                <c:pt idx="0">
                  <c:v>Salaries</c:v>
                </c:pt>
                <c:pt idx="1">
                  <c:v>Supplies</c:v>
                </c:pt>
                <c:pt idx="2">
                  <c:v>Rent</c:v>
                </c:pt>
                <c:pt idx="3">
                  <c:v>Payroll tax</c:v>
                </c:pt>
                <c:pt idx="4">
                  <c:v>Lab fees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15400</c:v>
                </c:pt>
                <c:pt idx="1">
                  <c:v>3650</c:v>
                </c:pt>
                <c:pt idx="2">
                  <c:v>4200</c:v>
                </c:pt>
                <c:pt idx="3">
                  <c:v>2500</c:v>
                </c:pt>
                <c:pt idx="4">
                  <c:v>1450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0E4E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supervised hours</c:v>
                </c:pt>
              </c:strCache>
            </c:strRef>
          </c:tx>
          <c:spPr>
            <a:ln w="31750">
              <a:solidFill>
                <a:srgbClr val="2A8A8C"/>
              </a:solidFill>
            </a:ln>
          </c:spPr>
          <c:cat>
            <c:strRef>
              <c:f>Sheet1!$A$2:$A$9</c:f>
              <c:strCache>
                <c:ptCount val="8"/>
                <c:pt idx="0">
                  <c:v>Oct 18</c:v>
                </c:pt>
                <c:pt idx="1">
                  <c:v>Oct 25</c:v>
                </c:pt>
                <c:pt idx="2">
                  <c:v>Nov 8</c:v>
                </c:pt>
                <c:pt idx="3">
                  <c:v>Nov 22</c:v>
                </c:pt>
                <c:pt idx="4">
                  <c:v>Dec 6</c:v>
                </c:pt>
                <c:pt idx="5">
                  <c:v>Dec 13</c:v>
                </c:pt>
                <c:pt idx="6">
                  <c:v>Jan 10</c:v>
                </c:pt>
                <c:pt idx="7">
                  <c:v>Feb 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11</c:v>
                </c:pt>
                <c:pt idx="2">
                  <c:v>17</c:v>
                </c:pt>
                <c:pt idx="3">
                  <c:v>24</c:v>
                </c:pt>
                <c:pt idx="4">
                  <c:v>30</c:v>
                </c:pt>
                <c:pt idx="5">
                  <c:v>37</c:v>
                </c:pt>
                <c:pt idx="6">
                  <c:v>42</c:v>
                </c:pt>
                <c:pt idx="7">
                  <c:v>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54864" cy="594360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77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8A96E"/>
                </a:solidFill>
                <a:latin typeface="Calibri"/>
              </a:rPr>
              <a:t>BRIGHT SMILES PEDIATRIC DENTISTRY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Annual Practice Review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AACCCC"/>
                </a:solidFill>
                <a:latin typeface="Calibri"/>
              </a:rPr>
              <a:t>Performance, Growth, and Community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20440"/>
            <a:ext cx="4572000" cy="45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88AAAA"/>
                </a:solidFill>
                <a:latin typeface="Calibri"/>
              </a:rPr>
              <a:t>Dr. Maria Sandoval, D.D.S.  |  2350 Michigan Avenue, Suite 110, Dearborn, MI 48124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2452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79999"/>
                </a:solidFill>
                <a:latin typeface="Calibri"/>
              </a:rPr>
              <a:t>Review prepared January 2026  |  NPI 1538902147  |  EIN 38-4821990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2025 YEAR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Revenue Growth Over Four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A8A8C"/>
                </a:solidFill>
                <a:latin typeface="Calibri"/>
              </a:rPr>
              <a:t>$520K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Gross revenue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51760" cy="54864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17904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C3A5C"/>
                </a:solidFill>
                <a:latin typeface="Calibri"/>
              </a:rPr>
              <a:t>~6,500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Patient visits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6A9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17904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6A9470"/>
                </a:solidFill>
                <a:latin typeface="Calibri"/>
              </a:rPr>
              <a:t>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New patients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417320"/>
            <a:ext cx="26517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417320"/>
            <a:ext cx="2651760" cy="54864"/>
          </a:xfrm>
          <a:prstGeom prst="rect">
            <a:avLst/>
          </a:prstGeom>
          <a:solidFill>
            <a:srgbClr val="E07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17904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E07040"/>
                </a:solidFill>
                <a:latin typeface="Calibri"/>
              </a:rPr>
              <a:t>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Recall rate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3017520"/>
          <a:ext cx="76809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ectangle 21"/>
          <p:cNvSpPr/>
          <p:nvPr/>
        </p:nvSpPr>
        <p:spPr>
          <a:xfrm>
            <a:off x="8321040" y="3017520"/>
            <a:ext cx="3383280" cy="3566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1546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C3A5C"/>
                </a:solidFill>
                <a:latin typeface="Calibri"/>
              </a:rPr>
              <a:t>Trend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11880"/>
            <a:ext cx="3063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Revenue grew 54 percent across four years.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Growth driven by new patient volume (248 in 2025) and a steady 97 percent recall rate.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Average growth: about 15 percent per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8A96E"/>
                </a:solidFill>
                <a:latin typeface="Calibri"/>
              </a:rPr>
              <a:t>REVENUE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Where Revenue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Revenue by Service Type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691640"/>
          <a:ext cx="55778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Payer Mix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691640"/>
          <a:ext cx="557784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MONTHLY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January 2026 Profit and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Revenue Sources (January)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645920"/>
          <a:ext cx="51206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Top Operating Expenses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4800600"/>
          <a:ext cx="54864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600200"/>
          <a:ext cx="5669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Amount (USD)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Total Revenue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42,750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Salaries and wages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15,400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Payroll taxes and benefits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Dental and clinical supplies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3,650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Office rent, Suite 110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4,200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Laboratory fees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1,450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All other operating costs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3,848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Total Operating Expenses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31,048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A2A2A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11,702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A9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STAFF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Payroll Register, Pay Period Ending January 30,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1828800"/>
                <a:gridCol w="1828800"/>
                <a:gridCol w="1920240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Gross Pay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Net Pay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Sara Mitchell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Practice Manager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Full time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$1,769.23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$1,381.78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Mary Okafor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Dental Hygienist (RDH)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Full time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$2,000.00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$1,522.00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Jessica Lin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Dental Hygienist (RDH)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$1,184.62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$948.87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Liz Romano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Dental Assistant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Full time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$1,269.23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$1,003.97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Dana Whitfield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Receptionist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Part time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$884.62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$726.26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A2A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5 employees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$7,107.70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2A2A2A"/>
                          </a:solidFill>
                          <a:latin typeface="Calibri"/>
                        </a:rPr>
                        <a:t>$5,582.88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Team of five held stable through 2025 with no turnover. Biweekly gross payroll of $7,107.70 annualizes to about $184,800. EIN 38-4821990. Payroll processed by Sara Mitchell.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8A96E"/>
                </a:solidFill>
                <a:latin typeface="Calibri"/>
              </a:rPr>
              <a:t>PROFESSIONAL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AAPD Sedation Certification Progress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0" y="1554480"/>
            <a:ext cx="347472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37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Certification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240280"/>
            <a:ext cx="3154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Requirement: 60 supervised hours.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Logged to date: 48 hours.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Remaining: 12 hours, scheduled for the fall 2026 practicum block.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AAPD ID 0094821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License DDS-MI-0094821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194560"/>
            <a:ext cx="9994392" cy="36576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9439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libri"/>
              </a:rPr>
              <a:t>Bright Smiles grew because the team showed up for every patient, every day.</a:t>
            </a:r>
          </a:p>
          <a:p>
            <a:pPr algn="ctr"/>
            <a:r>
              <a:rPr sz="2600" b="1" i="1">
                <a:solidFill>
                  <a:srgbClr val="FFFFFF"/>
                </a:solidFill>
                <a:latin typeface="Calibri"/>
              </a:rPr>
              <a:t>That is the plan for 2026 as well.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206240"/>
            <a:ext cx="9994392" cy="36576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8A96E"/>
                </a:solidFill>
                <a:latin typeface="Calibri"/>
              </a:rPr>
              <a:t>Bright Smiles Pediatric Dentistry  |  2350 Michigan Avenue, Suite 110, Dearborn, MI 48124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8AAAA"/>
                </a:solidFill>
                <a:latin typeface="Calibri"/>
              </a:rPr>
              <a:t>Dr. Maria Sandoval, D.D.S.  |  NPI 1538902147  |  EIN 38-4821990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