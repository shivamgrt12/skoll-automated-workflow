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dPt>
            <c:idx val="0"/>
            <c:spPr>
              <a:solidFill>
                <a:srgbClr val="2A8A8C"/>
              </a:solidFill>
            </c:spPr>
          </c:dPt>
          <c:dPt>
            <c:idx val="1"/>
            <c:spPr>
              <a:solidFill>
                <a:srgbClr val="E07040"/>
              </a:solidFill>
            </c:spPr>
          </c:dPt>
          <c:dPt>
            <c:idx val="2"/>
            <c:spPr>
              <a:solidFill>
                <a:srgbClr val="6A9470"/>
              </a:solidFill>
            </c:spPr>
          </c:dPt>
          <c:dPt>
            <c:idx val="3"/>
            <c:spPr>
              <a:solidFill>
                <a:srgbClr val="C8A96E"/>
              </a:solidFill>
            </c:spPr>
          </c:dPt>
          <c:dPt>
            <c:idx val="4"/>
            <c:spPr>
              <a:solidFill>
                <a:srgbClr val="8FB4C8"/>
              </a:solidFill>
            </c:spPr>
          </c:dPt>
          <c:dPt>
            <c:idx val="5"/>
            <c:spPr>
              <a:solidFill>
                <a:srgbClr val="C4716A"/>
              </a:solidFill>
            </c:spPr>
          </c:dPt>
          <c:dPt>
            <c:idx val="6"/>
            <c:spPr>
              <a:solidFill>
                <a:srgbClr val="1C3A5C"/>
              </a:solidFill>
            </c:spPr>
          </c:dPt>
          <c:cat>
            <c:strRef>
              <c:f>Sheet1!$A$2:$A$8</c:f>
              <c:strCache>
                <c:ptCount val="7"/>
                <c:pt idx="0">
                  <c:v>Clinical supplies</c:v>
                </c:pt>
                <c:pt idx="1">
                  <c:v>Fluoride varnish</c:v>
                </c:pt>
                <c:pt idx="2">
                  <c:v>Patient bags</c:v>
                </c:pt>
                <c:pt idx="3">
                  <c:v>Volunteer catering</c:v>
                </c:pt>
                <c:pt idx="4">
                  <c:v>Setup and signage</c:v>
                </c:pt>
                <c:pt idx="5">
                  <c:v>Printed materials</c:v>
                </c:pt>
                <c:pt idx="6">
                  <c:v>Contingency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480</c:v>
                </c:pt>
                <c:pt idx="1">
                  <c:v>310</c:v>
                </c:pt>
                <c:pt idx="2">
                  <c:v>120</c:v>
                </c:pt>
                <c:pt idx="3">
                  <c:v>200</c:v>
                </c:pt>
                <c:pt idx="4">
                  <c:v>95</c:v>
                </c:pt>
                <c:pt idx="5">
                  <c:v>85</c:v>
                </c:pt>
                <c:pt idx="6">
                  <c:v>129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900" b="1">
                  <a:solidFill>
                    <a:srgbClr val="2A2A2A"/>
                  </a:solidFill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9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Children screened</c:v>
                </c:pt>
              </c:strCache>
            </c:strRef>
          </c:tx>
          <c:spPr>
            <a:solidFill>
              <a:srgbClr val="6A9470"/>
            </a:solidFill>
          </c:spPr>
          <c:dPt>
            <c:idx val="0"/>
            <c:spPr>
              <a:solidFill>
                <a:srgbClr val="6A9470"/>
              </a:solidFill>
            </c:spPr>
          </c:dPt>
          <c:dPt>
            <c:idx val="1"/>
            <c:spPr>
              <a:solidFill>
                <a:srgbClr val="6A9470"/>
              </a:solidFill>
            </c:spPr>
          </c:dPt>
          <c:dPt>
            <c:idx val="2"/>
            <c:spPr>
              <a:solidFill>
                <a:srgbClr val="6A9470"/>
              </a:solidFill>
            </c:spPr>
          </c:dPt>
          <c:dPt>
            <c:idx val="3"/>
            <c:spPr>
              <a:solidFill>
                <a:srgbClr val="6A9470"/>
              </a:solidFill>
            </c:spPr>
          </c:dPt>
          <c:dPt>
            <c:idx val="4"/>
            <c:spPr>
              <a:solidFill>
                <a:srgbClr val="6A9470"/>
              </a:solidFill>
            </c:spPr>
          </c:dPt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 target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44</c:v>
                </c:pt>
                <c:pt idx="1">
                  <c:v>52</c:v>
                </c:pt>
                <c:pt idx="2">
                  <c:v>61</c:v>
                </c:pt>
                <c:pt idx="3">
                  <c:v>70</c:v>
                </c:pt>
                <c:pt idx="4">
                  <c:v>70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spPr>
          <a:ln>
            <a:solidFill>
              <a:srgbClr val="E0E4EC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8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C8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C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C8A96E"/>
                </a:solidFill>
                <a:latin typeface="Calibri"/>
              </a:rPr>
              <a:t>FREE DENTAL SCREENING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420624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Community</a:t>
            </a:r>
          </a:p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Screening 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46120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8A96E"/>
                </a:solidFill>
                <a:latin typeface="Calibri"/>
              </a:rPr>
              <a:t>Saturday, October 3,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03320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AACCCC"/>
                </a:solidFill>
                <a:latin typeface="Calibri"/>
              </a:rPr>
              <a:t>9:00 AM to 2:00 PM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69080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AACCCC"/>
                </a:solidFill>
                <a:latin typeface="Calibri"/>
              </a:rPr>
              <a:t>Grace Community Church Fellowship Hall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89120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AACCCC"/>
                </a:solidFill>
                <a:latin typeface="Calibri"/>
              </a:rPr>
              <a:t>1875 Outer Drive, Dearborn, MI 48128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212080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8AAAA"/>
                </a:solidFill>
                <a:latin typeface="Calibri"/>
              </a:rPr>
              <a:t>Presented by Bright Smiles Pediatric Dentistry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532120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8AAAA"/>
                </a:solidFill>
                <a:latin typeface="Calibri"/>
              </a:rPr>
              <a:t>Coordinator: Dr. Maria Sandoval, D.D.S.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194560"/>
            <a:ext cx="6217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FFFFFF"/>
                </a:solidFill>
                <a:latin typeface="Calibri"/>
              </a:rPr>
              <a:t>Serving Dearborn families,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743200"/>
            <a:ext cx="6217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FFFFFF"/>
                </a:solidFill>
                <a:latin typeface="Calibri"/>
              </a:rPr>
              <a:t>one healthy smile at a time.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0" y="3566160"/>
            <a:ext cx="2743200" cy="45720"/>
          </a:xfrm>
          <a:prstGeom prst="rect">
            <a:avLst/>
          </a:prstGeom>
          <a:solidFill>
            <a:srgbClr val="C8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0" y="3840480"/>
            <a:ext cx="62179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DDEEEE"/>
                </a:solidFill>
                <a:latin typeface="Calibri"/>
              </a:rPr>
              <a:t>A no cost dental screening event for children, run by volunteer dentists and hygienists from across Dearborn.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C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C8A96E"/>
                </a:solidFill>
                <a:latin typeface="Calibri"/>
              </a:rPr>
              <a:t>EVENT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Supply Budget Breakdown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C3A5C"/>
                </a:solidFill>
                <a:latin typeface="Calibri"/>
              </a:rPr>
              <a:t>Where the Budget Goes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74320" y="1645920"/>
          <a:ext cx="566928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309360" y="1645920"/>
          <a:ext cx="53949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737360"/>
              </a:tblGrid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Line Item</a:t>
                      </a:r>
                    </a:p>
                  </a:txBody>
                  <a:tcPr anchor="ctr" marT="25400" marB="25400">
                    <a:solidFill>
                      <a:srgbClr val="1C3A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Cost (USD)</a:t>
                      </a:r>
                    </a:p>
                  </a:txBody>
                  <a:tcPr anchor="ctr" marT="25400" marB="25400">
                    <a:solidFill>
                      <a:srgbClr val="1C3A5C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2A2A"/>
                          </a:solidFill>
                          <a:latin typeface="Calibri"/>
                        </a:rPr>
                        <a:t>Clinical supplies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2A2A2A"/>
                          </a:solidFill>
                          <a:latin typeface="Calibri"/>
                        </a:rPr>
                        <a:t>480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2A2A"/>
                          </a:solidFill>
                          <a:latin typeface="Calibri"/>
                        </a:rPr>
                        <a:t>Fluoride varnish (250 units)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2A2A2A"/>
                          </a:solidFill>
                          <a:latin typeface="Calibri"/>
                        </a:rPr>
                        <a:t>310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2A2A"/>
                          </a:solidFill>
                          <a:latin typeface="Calibri"/>
                        </a:rPr>
                        <a:t>Patient bags (300 units)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2A2A2A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2A2A"/>
                          </a:solidFill>
                          <a:latin typeface="Calibri"/>
                        </a:rPr>
                        <a:t>Volunteer catering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2A2A2A"/>
                          </a:solidFill>
                          <a:latin typeface="Calibri"/>
                        </a:rPr>
                        <a:t>200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2A2A"/>
                          </a:solidFill>
                          <a:latin typeface="Calibri"/>
                        </a:rPr>
                        <a:t>Setup and signage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2A2A2A"/>
                          </a:solidFill>
                          <a:latin typeface="Calibri"/>
                        </a:rPr>
                        <a:t>95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2A2A"/>
                          </a:solidFill>
                          <a:latin typeface="Calibri"/>
                        </a:rPr>
                        <a:t>Printed materials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2A2A2A"/>
                          </a:solidFill>
                          <a:latin typeface="Calibri"/>
                        </a:rPr>
                        <a:t>85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2A2A"/>
                          </a:solidFill>
                          <a:latin typeface="Calibri"/>
                        </a:rPr>
                        <a:t>Contingency (10 percent)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2A2A2A"/>
                          </a:solidFill>
                          <a:latin typeface="Calibri"/>
                        </a:rPr>
                        <a:t>129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A2A2A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2A2A2A"/>
                          </a:solidFill>
                          <a:latin typeface="Calibri"/>
                        </a:rPr>
                        <a:t>1,419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6A9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STAFFING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Confirmed Volunteer Roster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12471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291840"/>
                <a:gridCol w="2651760"/>
                <a:gridCol w="2560320"/>
              </a:tblGrid>
              <a:tr h="448887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Name</a:t>
                      </a:r>
                    </a:p>
                  </a:txBody>
                  <a:tcPr anchor="ctr" marT="25400" marB="25400">
                    <a:solidFill>
                      <a:srgbClr val="1C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anchor="ctr" marT="25400" marB="25400">
                    <a:solidFill>
                      <a:srgbClr val="1C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Profession</a:t>
                      </a:r>
                    </a:p>
                  </a:txBody>
                  <a:tcPr anchor="ctr" marT="25400" marB="25400">
                    <a:solidFill>
                      <a:srgbClr val="1C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Shift</a:t>
                      </a:r>
                    </a:p>
                  </a:txBody>
                  <a:tcPr anchor="ctr" marT="25400" marB="25400">
                    <a:solidFill>
                      <a:srgbClr val="1C3A5C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Maria Sandoval, DDS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Lead dentist, coordinator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Pediatric dentist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9:00 to 2:00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Dr. Sarah Ellis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Screening dentist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Pediatric dentist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9:00 to 12:00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Dr. Rachel Harris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Screening dentist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General dentist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12:00 to 2:00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Mary Okafor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Hygiene station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Dental hygienist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9:00 to 2:00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Jessica Lin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Hygiene station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Dental hygienist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9:00 to 1:00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Liz Romano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Sterilization and setup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Dental assistant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8:00 to 2:00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Sara Mitchell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Check in and records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Practice manager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8:00 to 2:00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Dana Whitfield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Registration desk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Receptionist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8:30 to 1:00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Lisa Harper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Family translator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Volunteer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9:00 to 12:00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44889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Rachel Cooper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Kids craft and waiting area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Volunteer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10:00 to 2:00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A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TRACK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Children Screened in Prior Years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554480"/>
          <a:ext cx="713232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7863840" y="1554480"/>
            <a:ext cx="3840480" cy="48463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73736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C3A5C"/>
                </a:solidFill>
                <a:latin typeface="Calibri"/>
              </a:rPr>
              <a:t>2026 Goal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240280"/>
            <a:ext cx="352044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A6270"/>
                </a:solidFill>
                <a:latin typeface="Calibri"/>
              </a:rPr>
              <a:t>Target: 60 to 80 children screened.</a:t>
            </a:r>
          </a:p>
          <a:p>
            <a:pPr algn="l"/>
            <a:r>
              <a:rPr sz="1200" b="0" i="0">
                <a:solidFill>
                  <a:srgbClr val="5A6270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5A6270"/>
                </a:solidFill>
                <a:latin typeface="Calibri"/>
              </a:rPr>
              <a:t>Every family receives a written summary and a referral if follow up care is needed.</a:t>
            </a:r>
          </a:p>
          <a:p>
            <a:pPr algn="l"/>
            <a:r>
              <a:rPr sz="1200" b="0" i="0">
                <a:solidFill>
                  <a:srgbClr val="5A6270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5A6270"/>
                </a:solidFill>
                <a:latin typeface="Calibri"/>
              </a:rPr>
              <a:t>Referrals routed to Bright Smiles and area providers within the week.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2A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1">
                <a:solidFill>
                  <a:srgbClr val="FFFFFF"/>
                </a:solidFill>
                <a:latin typeface="Calibri"/>
              </a:rPr>
              <a:t>Every child deserves a healthy start.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C8A96E"/>
                </a:solidFill>
                <a:latin typeface="Calibri"/>
              </a:rPr>
              <a:t>See you October 3,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52044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CCEEEE"/>
                </a:solidFill>
                <a:latin typeface="Calibri"/>
              </a:rPr>
              <a:t>Grace Community Church, Dearborn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1828800"/>
            <a:ext cx="5943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Bright Smiles Pediatric Dentistry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242316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AACCCC"/>
                </a:solidFill>
                <a:latin typeface="Calibri"/>
              </a:rPr>
              <a:t>2350 Michigan Avenue, Suite 110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27889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AACCCC"/>
                </a:solidFill>
                <a:latin typeface="Calibri"/>
              </a:rPr>
              <a:t>Dearborn, MI 48124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338328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AACCCC"/>
                </a:solidFill>
                <a:latin typeface="Calibri"/>
              </a:rPr>
              <a:t>Dr. Maria Sandoval, D.D.S.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411480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C8A96E"/>
                </a:solidFill>
                <a:latin typeface="Calibri"/>
              </a:rPr>
              <a:t>Volunteers: contact Sara Mitchell to confirm your spot.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452628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8AAAA"/>
                </a:solidFill>
                <a:latin typeface="Calibri"/>
              </a:rPr>
              <a:t>Supplies donated by Bright Smiles and a local dental supply vendor.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