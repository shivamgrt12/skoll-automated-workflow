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Weddings</c:v>
                </c:pt>
              </c:strCache>
            </c:strRef>
          </c:tx>
          <c:spPr>
            <a:solidFill>
              <a:srgbClr val="2F5A4C"/>
            </a:solidFill>
          </c:spPr>
          <c:cat>
            <c:strRef>
              <c:f>Sheet1!$A$2:$A$5</c:f>
              <c:strCache>
                <c:ptCount val="4"/>
                <c:pt idx="0">
                  <c:v>Winter</c:v>
                </c:pt>
                <c:pt idx="1">
                  <c:v>Spring</c:v>
                </c:pt>
                <c:pt idx="2">
                  <c:v>Summer</c:v>
                </c:pt>
                <c:pt idx="3">
                  <c:v>Autumn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11</c:v>
                </c:pt>
                <c:pt idx="2">
                  <c:v>12</c:v>
                </c:pt>
                <c:pt idx="3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solidFill>
                    <a:srgbClr val="2F5A4C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A2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dPt>
            <c:idx val="0"/>
            <c:spPr>
              <a:solidFill>
                <a:srgbClr val="2F5A4C"/>
              </a:solidFill>
            </c:spPr>
          </c:dPt>
          <c:dPt>
            <c:idx val="1"/>
            <c:spPr>
              <a:solidFill>
                <a:srgbClr val="B7894A"/>
              </a:solidFill>
            </c:spPr>
          </c:dPt>
          <c:dPt>
            <c:idx val="2"/>
            <c:spPr>
              <a:solidFill>
                <a:srgbClr val="3D7565"/>
              </a:solidFill>
            </c:spPr>
          </c:dPt>
          <c:cat>
            <c:strRef>
              <c:f>Sheet1!$A$2:$A$4</c:f>
              <c:strCache>
                <c:ptCount val="3"/>
                <c:pt idx="0">
                  <c:v>Referral</c:v>
                </c:pt>
                <c:pt idx="1">
                  <c:v>Website</c:v>
                </c:pt>
                <c:pt idx="2">
                  <c:v>Social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F2A2E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3D7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BF8F2"/>
                </a:solidFill>
                <a:latin typeface="Calibri"/>
              </a:rPr>
              <a:t>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BF8F2"/>
                </a:solidFill>
                <a:latin typeface="Georgia"/>
              </a:rPr>
              <a:t>Campbell Events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CCB98F"/>
                </a:solidFill>
                <a:latin typeface="Georgia"/>
              </a:rPr>
              <a:t>Season Overview, 2026 to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BF8F2"/>
                </a:solidFill>
                <a:latin typeface="Calibri"/>
              </a:rPr>
              <a:t>Boutique wedding planning in Philadelphia since 2012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7894A"/>
                </a:solidFill>
                <a:latin typeface="Calibri"/>
              </a:rPr>
              <a:t>WHAT WE DO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F2A2E"/>
                </a:solidFill>
                <a:latin typeface="Georgia"/>
              </a:rPr>
              <a:t>Three ways couples work with 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1168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291840" cy="164592"/>
          </a:xfrm>
          <a:prstGeom prst="roundRect">
            <a:avLst/>
          </a:prstGeom>
          <a:solidFill>
            <a:srgbClr val="2F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468880"/>
            <a:ext cx="640080" cy="640080"/>
          </a:xfrm>
          <a:prstGeom prst="ellipse">
            <a:avLst/>
          </a:prstGeom>
          <a:solidFill>
            <a:srgbClr val="2F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032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BF8F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383280"/>
            <a:ext cx="2651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2A2E"/>
                </a:solidFill>
                <a:latin typeface="Georgia"/>
              </a:rPr>
              <a:t>Full planning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B70"/>
                </a:solidFill>
                <a:latin typeface="Calibri"/>
              </a:rPr>
              <a:t>From the first walkthrough to the last chair stacked. Timeline, vendors, and day of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201168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26280" y="2011680"/>
            <a:ext cx="3291840" cy="164592"/>
          </a:xfrm>
          <a:prstGeom prst="roundRect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2468880"/>
            <a:ext cx="640080" cy="640080"/>
          </a:xfrm>
          <a:prstGeom prst="ellipse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55464" y="256032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BF8F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383280"/>
            <a:ext cx="2651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2A2E"/>
                </a:solidFill>
                <a:latin typeface="Georgia"/>
              </a:rPr>
              <a:t>Day of management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B70"/>
                </a:solidFill>
                <a:latin typeface="Calibri"/>
              </a:rPr>
              <a:t>On site from setup at eight in the morning through cleanup, so the couple carries nothing.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29184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3291840" cy="164592"/>
          </a:xfrm>
          <a:prstGeom prst="roundRect">
            <a:avLst/>
          </a:prstGeom>
          <a:solidFill>
            <a:srgbClr val="2F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49640" y="2468880"/>
            <a:ext cx="640080" cy="640080"/>
          </a:xfrm>
          <a:prstGeom prst="ellipse">
            <a:avLst/>
          </a:prstGeom>
          <a:solidFill>
            <a:srgbClr val="2F5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58784" y="256032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BF8F2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383280"/>
            <a:ext cx="2651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2A2E"/>
                </a:solidFill>
                <a:latin typeface="Georgia"/>
              </a:rPr>
              <a:t>Design and styling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B70"/>
                </a:solidFill>
                <a:latin typeface="Calibri"/>
              </a:rPr>
              <a:t>Florals, lighting, and seating turned from a mood board into a room that feels intentional.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7894A"/>
                </a:solidFill>
                <a:latin typeface="Calibri"/>
              </a:rPr>
              <a:t>THE RHYTHM OF A YEAR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F2A2E"/>
                </a:solidFill>
                <a:latin typeface="Georgia"/>
              </a:rPr>
              <a:t>Booked weddings by season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828800"/>
          <a:ext cx="67665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955279" y="1828800"/>
            <a:ext cx="3383280" cy="4206240"/>
          </a:xfrm>
          <a:prstGeom prst="round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2148840"/>
            <a:ext cx="29260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B7894A"/>
                </a:solidFill>
                <a:latin typeface="Georgia"/>
              </a:rPr>
              <a:t>35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D6B70"/>
                </a:solidFill>
                <a:latin typeface="Calibri"/>
              </a:rPr>
              <a:t>weddings in a full year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5D6B70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F2A2E"/>
                </a:solidFill>
                <a:latin typeface="Calibri"/>
              </a:rPr>
              <a:t>The calendar swells from spring through autumn and goes quiet in deep winter. Saturdays belong to events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7894A"/>
                </a:solidFill>
                <a:latin typeface="Calibri"/>
              </a:rPr>
              <a:t>PIPELINE AND PARTNERS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F2A2E"/>
                </a:solidFill>
                <a:latin typeface="Georgia"/>
              </a:rPr>
              <a:t>Where work comes from, who delivers it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737360"/>
          <a:ext cx="42976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94960" y="1783080"/>
          <a:ext cx="5943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40480"/>
              </a:tblGrid>
              <a:tr h="6553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BF8F2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L="109728">
                    <a:solidFill>
                      <a:srgbClr val="2F5A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BF8F2"/>
                          </a:solidFill>
                          <a:latin typeface="Calibri"/>
                        </a:rPr>
                        <a:t>Trusted partner</a:t>
                      </a:r>
                    </a:p>
                  </a:txBody>
                  <a:tcPr anchor="ctr" marL="109728">
                    <a:solidFill>
                      <a:srgbClr val="2F5A4C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Catering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Pellegrini Fine Catering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Florals</a:t>
                      </a:r>
                    </a:p>
                  </a:txBody>
                  <a:tcPr anchor="ctr" marL="109728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Byrne and Bloom</a:t>
                      </a:r>
                    </a:p>
                  </a:txBody>
                  <a:tcPr anchor="ctr" marL="109728">
                    <a:solidFill>
                      <a:srgbClr val="F6F1E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Photography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Halcyon Studio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Lighting</a:t>
                      </a:r>
                    </a:p>
                  </a:txBody>
                  <a:tcPr anchor="ctr" marL="109728">
                    <a:solidFill>
                      <a:srgbClr val="F6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Lumen AV</a:t>
                      </a:r>
                    </a:p>
                  </a:txBody>
                  <a:tcPr anchor="ctr" marL="109728">
                    <a:solidFill>
                      <a:srgbClr val="F6F1E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Cake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A2E"/>
                          </a:solidFill>
                          <a:latin typeface="Calibri"/>
                        </a:rPr>
                        <a:t>Sift Bakeshop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A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CB98F"/>
                </a:solidFill>
                <a:latin typeface="Calibri"/>
              </a:rPr>
              <a:t>HOW IT WORKS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BF8F2"/>
                </a:solidFill>
                <a:latin typeface="Georgia"/>
              </a:rPr>
              <a:t>From hello to the last dance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834640"/>
            <a:ext cx="10515600" cy="38100"/>
          </a:xfrm>
          <a:prstGeom prst="rect">
            <a:avLst/>
          </a:prstGeom>
          <a:solidFill>
            <a:srgbClr val="5B7C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7682" y="2752344"/>
            <a:ext cx="219456" cy="219456"/>
          </a:xfrm>
          <a:prstGeom prst="ellipse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21408"/>
            <a:ext cx="244602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7894A"/>
                </a:solidFill>
                <a:latin typeface="Calibri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27248"/>
            <a:ext cx="24460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F8F2"/>
                </a:solidFill>
                <a:latin typeface="Calibri"/>
              </a:rPr>
              <a:t>Discovery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BD6CF"/>
                </a:solidFill>
                <a:latin typeface="Calibri"/>
              </a:rPr>
              <a:t>Learn the couple, the budget, and the day they actually want.</a:t>
            </a:r>
          </a:p>
        </p:txBody>
      </p:sp>
      <p:sp>
        <p:nvSpPr>
          <p:cNvPr id="7" name="Oval 6"/>
          <p:cNvSpPr/>
          <p:nvPr/>
        </p:nvSpPr>
        <p:spPr>
          <a:xfrm>
            <a:off x="4656582" y="2752344"/>
            <a:ext cx="219456" cy="219456"/>
          </a:xfrm>
          <a:prstGeom prst="ellipse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3300" y="2121408"/>
            <a:ext cx="244602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7894A"/>
                </a:solidFill>
                <a:latin typeface="Calibri"/>
              </a:rP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3300" y="3127248"/>
            <a:ext cx="24460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F8F2"/>
                </a:solidFill>
                <a:latin typeface="Calibri"/>
              </a:rPr>
              <a:t>Design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BD6CF"/>
                </a:solidFill>
                <a:latin typeface="Calibri"/>
              </a:rPr>
              <a:t>Concept notes, vendor shortlists, and a layout drafted for sign off.</a:t>
            </a:r>
          </a:p>
        </p:txBody>
      </p:sp>
      <p:sp>
        <p:nvSpPr>
          <p:cNvPr id="10" name="Oval 9"/>
          <p:cNvSpPr/>
          <p:nvPr/>
        </p:nvSpPr>
        <p:spPr>
          <a:xfrm>
            <a:off x="7285482" y="2752344"/>
            <a:ext cx="219456" cy="219456"/>
          </a:xfrm>
          <a:prstGeom prst="ellipse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121408"/>
            <a:ext cx="244602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7894A"/>
                </a:solidFill>
                <a:latin typeface="Calibri"/>
              </a:rP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127248"/>
            <a:ext cx="24460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F8F2"/>
                </a:solidFill>
                <a:latin typeface="Calibri"/>
              </a:rPr>
              <a:t>Coordination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BD6CF"/>
                </a:solidFill>
                <a:latin typeface="Calibri"/>
              </a:rPr>
              <a:t>Contracts, confirmations, and one master timeline.</a:t>
            </a:r>
          </a:p>
        </p:txBody>
      </p:sp>
      <p:sp>
        <p:nvSpPr>
          <p:cNvPr id="13" name="Oval 12"/>
          <p:cNvSpPr/>
          <p:nvPr/>
        </p:nvSpPr>
        <p:spPr>
          <a:xfrm>
            <a:off x="9914382" y="2752344"/>
            <a:ext cx="219456" cy="219456"/>
          </a:xfrm>
          <a:prstGeom prst="ellipse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01100" y="2121408"/>
            <a:ext cx="2446020" cy="457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7894A"/>
                </a:solidFill>
                <a:latin typeface="Calibri"/>
              </a:rP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1100" y="3127248"/>
            <a:ext cx="24460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F8F2"/>
                </a:solidFill>
                <a:latin typeface="Calibri"/>
              </a:rPr>
              <a:t>The day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BD6CF"/>
                </a:solidFill>
                <a:latin typeface="Calibri"/>
              </a:rPr>
              <a:t>On site, calm, and one step ahead of every problem.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F2A2E"/>
                </a:solidFill>
                <a:latin typeface="Georgia"/>
              </a:rPr>
              <a:t>Reliability is the most underrated virtue.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B70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F5A4C"/>
                </a:solidFill>
                <a:latin typeface="Calibri"/>
              </a:rPr>
              <a:t>mark.campbell@finthesiss.ai   (215) 555-0147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D6B70"/>
                </a:solidFill>
                <a:latin typeface="Calibri"/>
              </a:rPr>
              <a:t>923 Sycamore Hill Drive, Chestnut Hill, Philadelphia, PA 19118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Season Overview</dc:title>
  <dc:subject>Campbell Events</dc:subject>
  <dc:creator>Mark Campbell</dc:creator>
  <cp:keywords/>
  <dc:description/>
  <cp:lastModifiedBy>Mark Campbell</cp:lastModifiedBy>
  <cp:revision>1</cp:revision>
  <dcterms:created xsi:type="dcterms:W3CDTF">2013-01-27T09:14:16Z</dcterms:created>
  <dcterms:modified xsi:type="dcterms:W3CDTF">2013-01-27T09:15:58Z</dcterms:modified>
  <cp:category>Campbell Events</cp:category>
</cp:coreProperties>
</file>