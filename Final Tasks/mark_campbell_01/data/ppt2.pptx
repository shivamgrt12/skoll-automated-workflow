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Weddings</c:v>
                </c:pt>
              </c:strCache>
            </c:strRef>
          </c:tx>
          <c:spPr>
            <a:ln w="38100">
              <a:solidFill>
                <a:srgbClr val="2E8B8B"/>
              </a:solidFill>
            </a:ln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29</c:v>
                </c:pt>
                <c:pt idx="2">
                  <c:v>31</c:v>
                </c:pt>
                <c:pt idx="3">
                  <c:v>33</c:v>
                </c:pt>
                <c:pt idx="4">
                  <c:v>35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 b="1">
                  <a:solidFill>
                    <a:srgbClr val="1B2A41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6202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"/>
          </a:xfrm>
          <a:prstGeom prst="rect">
            <a:avLst/>
          </a:prstGeom>
          <a:solidFill>
            <a:srgbClr val="25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2700"/>
          </a:xfrm>
          <a:prstGeom prst="rect">
            <a:avLst/>
          </a:prstGeom>
          <a:solidFill>
            <a:srgbClr val="25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12700"/>
          </a:xfrm>
          <a:prstGeom prst="rect">
            <a:avLst/>
          </a:prstGeom>
          <a:solidFill>
            <a:srgbClr val="25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91695" cy="12700"/>
          </a:xfrm>
          <a:prstGeom prst="rect">
            <a:avLst/>
          </a:prstGeom>
          <a:solidFill>
            <a:srgbClr val="25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91695" cy="12700"/>
          </a:xfrm>
          <a:prstGeom prst="rect">
            <a:avLst/>
          </a:prstGeom>
          <a:solidFill>
            <a:srgbClr val="25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91695" cy="12700"/>
          </a:xfrm>
          <a:prstGeom prst="rect">
            <a:avLst/>
          </a:prstGeom>
          <a:solidFill>
            <a:srgbClr val="253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2194560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515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The Client Journey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9FB3C8"/>
                </a:solidFill>
                <a:latin typeface="Georgia"/>
              </a:rPr>
              <a:t>How a wedding moves from a first call to the last 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8B8B"/>
                </a:solidFill>
                <a:latin typeface="Calibri"/>
              </a:rPr>
              <a:t>Campbell Events, planning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8B"/>
                </a:solidFill>
                <a:latin typeface="Calibri"/>
              </a:rPr>
              <a:t>FIVE PHASES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6202C"/>
                </a:solidFill>
                <a:latin typeface="Georgia"/>
              </a:rPr>
              <a:t>The shape of every engagement</a:t>
            </a:r>
          </a:p>
        </p:txBody>
      </p:sp>
      <p:sp>
        <p:nvSpPr>
          <p:cNvPr id="3" name="Chevron 2"/>
          <p:cNvSpPr/>
          <p:nvPr/>
        </p:nvSpPr>
        <p:spPr>
          <a:xfrm>
            <a:off x="640080" y="2377440"/>
            <a:ext cx="2377440" cy="1371600"/>
          </a:xfrm>
          <a:prstGeom prst="chevron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2057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Inquiry</a:t>
            </a:r>
          </a:p>
        </p:txBody>
      </p:sp>
      <p:sp>
        <p:nvSpPr>
          <p:cNvPr id="5" name="Chevron 4"/>
          <p:cNvSpPr/>
          <p:nvPr/>
        </p:nvSpPr>
        <p:spPr>
          <a:xfrm>
            <a:off x="2697480" y="2377440"/>
            <a:ext cx="2377440" cy="1371600"/>
          </a:xfrm>
          <a:prstGeom prst="chevron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2377440"/>
            <a:ext cx="2057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Booking</a:t>
            </a:r>
          </a:p>
        </p:txBody>
      </p:sp>
      <p:sp>
        <p:nvSpPr>
          <p:cNvPr id="7" name="Chevron 6"/>
          <p:cNvSpPr/>
          <p:nvPr/>
        </p:nvSpPr>
        <p:spPr>
          <a:xfrm>
            <a:off x="4754880" y="2377440"/>
            <a:ext cx="2377440" cy="1371600"/>
          </a:xfrm>
          <a:prstGeom prst="chevron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377440"/>
            <a:ext cx="2057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9" name="Chevron 8"/>
          <p:cNvSpPr/>
          <p:nvPr/>
        </p:nvSpPr>
        <p:spPr>
          <a:xfrm>
            <a:off x="6812280" y="2377440"/>
            <a:ext cx="2377440" cy="1371600"/>
          </a:xfrm>
          <a:prstGeom prst="chevron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377440"/>
            <a:ext cx="2057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1" name="Chevron 10"/>
          <p:cNvSpPr/>
          <p:nvPr/>
        </p:nvSpPr>
        <p:spPr>
          <a:xfrm>
            <a:off x="8869680" y="2377440"/>
            <a:ext cx="2377440" cy="1371600"/>
          </a:xfrm>
          <a:prstGeom prst="chevron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377440"/>
            <a:ext cx="2057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B7A"/>
                </a:solidFill>
                <a:latin typeface="Calibri"/>
              </a:rPr>
              <a:t>First call and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02336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B7A"/>
                </a:solidFill>
                <a:latin typeface="Calibri"/>
              </a:rPr>
              <a:t>Contract and deposit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2336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B7A"/>
                </a:solidFill>
                <a:latin typeface="Calibri"/>
              </a:rPr>
              <a:t>Concept and vendors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02336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B7A"/>
                </a:solidFill>
                <a:latin typeface="Calibri"/>
              </a:rPr>
              <a:t>Confirmations and 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02336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B7A"/>
                </a:solidFill>
                <a:latin typeface="Calibri"/>
              </a:rPr>
              <a:t>On site coordination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8B"/>
                </a:solidFill>
                <a:latin typeface="Calibri"/>
              </a:rPr>
              <a:t>A TYPICAL TWELVE MONTHS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6202C"/>
                </a:solidFill>
                <a:latin typeface="Georgia"/>
              </a:rPr>
              <a:t>Counting down to the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0515600" cy="38100"/>
          </a:xfrm>
          <a:prstGeom prst="rect">
            <a:avLst/>
          </a:prstGeom>
          <a:solidFill>
            <a:srgbClr val="C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64792" y="2843784"/>
            <a:ext cx="219456" cy="219456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92024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12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18688"/>
            <a:ext cx="1920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02C"/>
                </a:solidFill>
                <a:latin typeface="Calibri"/>
              </a:rPr>
              <a:t>Book and dream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B7A"/>
                </a:solidFill>
                <a:latin typeface="Calibri"/>
              </a:rPr>
              <a:t>Lock the date, set the budget, and start the vendor search.</a:t>
            </a:r>
          </a:p>
        </p:txBody>
      </p:sp>
      <p:sp>
        <p:nvSpPr>
          <p:cNvPr id="7" name="Oval 6"/>
          <p:cNvSpPr/>
          <p:nvPr/>
        </p:nvSpPr>
        <p:spPr>
          <a:xfrm>
            <a:off x="3867912" y="2843784"/>
            <a:ext cx="219456" cy="219456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212848"/>
            <a:ext cx="192024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218688"/>
            <a:ext cx="1920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02C"/>
                </a:solidFill>
                <a:latin typeface="Calibri"/>
              </a:rPr>
              <a:t>Design locked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B7A"/>
                </a:solidFill>
                <a:latin typeface="Calibri"/>
              </a:rPr>
              <a:t>Florals, menu, and layout agreed and contracted.</a:t>
            </a:r>
          </a:p>
        </p:txBody>
      </p:sp>
      <p:sp>
        <p:nvSpPr>
          <p:cNvPr id="10" name="Oval 9"/>
          <p:cNvSpPr/>
          <p:nvPr/>
        </p:nvSpPr>
        <p:spPr>
          <a:xfrm>
            <a:off x="5971032" y="2843784"/>
            <a:ext cx="219456" cy="219456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212848"/>
            <a:ext cx="192024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6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218688"/>
            <a:ext cx="1920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02C"/>
                </a:solidFill>
                <a:latin typeface="Calibri"/>
              </a:rPr>
              <a:t>Details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B7A"/>
                </a:solidFill>
                <a:latin typeface="Calibri"/>
              </a:rPr>
              <a:t>Final headcount, seating chart, and the master timeline.</a:t>
            </a:r>
          </a:p>
        </p:txBody>
      </p:sp>
      <p:sp>
        <p:nvSpPr>
          <p:cNvPr id="13" name="Oval 12"/>
          <p:cNvSpPr/>
          <p:nvPr/>
        </p:nvSpPr>
        <p:spPr>
          <a:xfrm>
            <a:off x="8074152" y="2843784"/>
            <a:ext cx="219456" cy="219456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212848"/>
            <a:ext cx="192024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THE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218688"/>
            <a:ext cx="1920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02C"/>
                </a:solidFill>
                <a:latin typeface="Calibri"/>
              </a:rPr>
              <a:t>Confirm all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B7A"/>
                </a:solidFill>
                <a:latin typeface="Calibri"/>
              </a:rPr>
              <a:t>Every vendor confirmed, day of timeline printed.</a:t>
            </a:r>
          </a:p>
        </p:txBody>
      </p:sp>
      <p:sp>
        <p:nvSpPr>
          <p:cNvPr id="16" name="Oval 15"/>
          <p:cNvSpPr/>
          <p:nvPr/>
        </p:nvSpPr>
        <p:spPr>
          <a:xfrm>
            <a:off x="10177272" y="2843784"/>
            <a:ext cx="219456" cy="219456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212848"/>
            <a:ext cx="192024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THE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218688"/>
            <a:ext cx="1920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02C"/>
                </a:solidFill>
                <a:latin typeface="Calibri"/>
              </a:rPr>
              <a:t>Celebrate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B7A"/>
                </a:solidFill>
                <a:latin typeface="Calibri"/>
              </a:rPr>
              <a:t>Setup at eight, on site through the last 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8B"/>
                </a:solidFill>
                <a:latin typeface="Calibri"/>
              </a:rPr>
              <a:t>THE FINAL SIX WEEKS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6202C"/>
                </a:solidFill>
                <a:latin typeface="Georgia"/>
              </a:rPr>
              <a:t>What gets locked, and when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92024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468880"/>
                <a:gridCol w="292608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 marL="13716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anchor="ctr" marL="13716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anchor="ctr" marL="137160"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Final headcount to caterer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Couple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Six weeks out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Seating chart drafted</a:t>
                      </a:r>
                    </a:p>
                  </a:txBody>
                  <a:tcPr anchor="ctr" marL="137160">
                    <a:solidFill>
                      <a:srgbClr val="DC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anchor="ctr" marL="137160">
                    <a:solidFill>
                      <a:srgbClr val="DC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Five weeks out</a:t>
                      </a:r>
                    </a:p>
                  </a:txBody>
                  <a:tcPr anchor="ctr" marL="137160">
                    <a:solidFill>
                      <a:srgbClr val="DCEAE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Vendor confirmations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Two weeks out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Day of timeline printed</a:t>
                      </a:r>
                    </a:p>
                  </a:txBody>
                  <a:tcPr anchor="ctr" marL="137160">
                    <a:solidFill>
                      <a:srgbClr val="DC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anchor="ctr" marL="137160">
                    <a:solidFill>
                      <a:srgbClr val="DC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The week of</a:t>
                      </a:r>
                    </a:p>
                  </a:txBody>
                  <a:tcPr anchor="ctr" marL="137160">
                    <a:solidFill>
                      <a:srgbClr val="DCEAE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Rehearsal walkthrough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02C"/>
                          </a:solidFill>
                          <a:latin typeface="Calibri"/>
                        </a:rPr>
                        <a:t>Two days out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8B"/>
                </a:solidFill>
                <a:latin typeface="Calibri"/>
              </a:rPr>
              <a:t>THE PROOF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6202C"/>
                </a:solidFill>
                <a:latin typeface="Georgia"/>
              </a:rPr>
              <a:t>Couples served each year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828800"/>
          <a:ext cx="10424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182880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The day should feel like it ran itself.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9FB3C8"/>
                </a:solidFill>
                <a:latin typeface="Calibri"/>
              </a:rPr>
              <a:t>That only happens when every problem was solved before it arrived.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8B8B"/>
                </a:solidFill>
                <a:latin typeface="Calibri"/>
              </a:rPr>
              <a:t>mark.campbell@finthesiss.ai   (215) 555-0147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Client Journey</dc:title>
  <dc:subject>Campbell Events</dc:subject>
  <dc:creator>Mark Campbell</dc:creator>
  <cp:keywords/>
  <dc:description/>
  <cp:lastModifiedBy>Mark Campbell</cp:lastModifiedBy>
  <cp:revision>1</cp:revision>
  <dcterms:created xsi:type="dcterms:W3CDTF">2013-01-27T09:14:16Z</dcterms:created>
  <dcterms:modified xsi:type="dcterms:W3CDTF">2013-01-27T09:15:58Z</dcterms:modified>
  <cp:category>Campbell Events</cp:category>
</cp:coreProperties>
</file>