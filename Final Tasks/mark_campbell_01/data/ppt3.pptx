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thousands</c:v>
                </c:pt>
              </c:strCache>
            </c:strRef>
          </c:tx>
          <c:spPr>
            <a:solidFill>
              <a:srgbClr val="B5532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72</c:v>
                </c:pt>
                <c:pt idx="2">
                  <c:v>78</c:v>
                </c:pt>
                <c:pt idx="3">
                  <c:v>30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B5532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242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B5532F"/>
              </a:solidFill>
            </c:spPr>
          </c:dPt>
          <c:dPt>
            <c:idx val="1"/>
            <c:spPr>
              <a:solidFill>
                <a:srgbClr val="2B2B2B"/>
              </a:solidFill>
            </c:spPr>
          </c:dPt>
          <c:dPt>
            <c:idx val="2"/>
            <c:spPr>
              <a:solidFill>
                <a:srgbClr val="C9A24B"/>
              </a:solidFill>
            </c:spPr>
          </c:dPt>
          <c:cat>
            <c:strRef>
              <c:f>Sheet1!$A$2:$A$4</c:f>
              <c:strCache>
                <c:ptCount val="3"/>
                <c:pt idx="0">
                  <c:v>Referral</c:v>
                </c:pt>
                <c:pt idx="1">
                  <c:v>Website</c:v>
                </c:pt>
                <c:pt idx="2">
                  <c:v>Social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28</c:v>
                </c:pt>
                <c:pt idx="2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262420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0" b="1">
                <a:solidFill>
                  <a:srgbClr val="C9A24B"/>
                </a:solidFill>
                <a:latin typeface="Georgia"/>
              </a:rPr>
              <a:t>2025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Georgia"/>
              </a:rPr>
              <a:t>A year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235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Campbell Events, internal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5532F"/>
                </a:solidFill>
                <a:latin typeface="Calibri"/>
              </a:rPr>
              <a:t>THE HEADLINES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62420"/>
                </a:solidFill>
                <a:latin typeface="Georgia"/>
              </a:rPr>
              <a:t>A solid season, start to finish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46304" cy="2743200"/>
          </a:xfrm>
          <a:prstGeom prst="round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011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B5532F"/>
                </a:solidFill>
                <a:latin typeface="Georgia"/>
              </a:rPr>
              <a:t>35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E675E"/>
                </a:solidFill>
                <a:latin typeface="Calibri"/>
              </a:rPr>
              <a:t>weddings produced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10312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2103120"/>
            <a:ext cx="146304" cy="27432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651760"/>
            <a:ext cx="2011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2B2B2B"/>
                </a:solidFill>
                <a:latin typeface="Georgia"/>
              </a:rPr>
              <a:t>198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E675E"/>
                </a:solidFill>
                <a:latin typeface="Calibri"/>
              </a:rPr>
              <a:t>thousand in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146304" cy="27432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2011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C9A24B"/>
                </a:solidFill>
                <a:latin typeface="Georgia"/>
              </a:rPr>
              <a:t>98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E675E"/>
                </a:solidFill>
                <a:latin typeface="Calibri"/>
              </a:rPr>
              <a:t>percent from referral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210312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20" y="2103120"/>
            <a:ext cx="146304" cy="2743200"/>
          </a:xfrm>
          <a:prstGeom prst="round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651760"/>
            <a:ext cx="2011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B5532F"/>
                </a:solidFill>
                <a:latin typeface="Georgia"/>
              </a:rPr>
              <a:t>40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E675E"/>
                </a:solidFill>
                <a:latin typeface="Calibri"/>
              </a:rPr>
              <a:t>vendor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5532F"/>
                </a:solidFill>
                <a:latin typeface="Calibri"/>
              </a:rPr>
              <a:t>REVENUE BY QUARTER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62420"/>
                </a:solidFill>
                <a:latin typeface="Georgia"/>
              </a:rPr>
              <a:t>Where the year landed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82880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138160" y="1828800"/>
            <a:ext cx="3200400" cy="420624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2194560"/>
            <a:ext cx="2743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C9A24B"/>
                </a:solidFill>
                <a:latin typeface="Georgia"/>
              </a:rPr>
              <a:t>198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thousand, total for the year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2C8"/>
                </a:solidFill>
                <a:latin typeface="Calibri"/>
              </a:rPr>
              <a:t>Summer carried the year, the way it always does. Winter stays quiet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5532F"/>
                </a:solidFill>
                <a:latin typeface="Calibri"/>
              </a:rPr>
              <a:t>DEMAND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62420"/>
                </a:solidFill>
                <a:latin typeface="Georgia"/>
              </a:rPr>
              <a:t>How couples found 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737360"/>
          <a:ext cx="43891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94960" y="182880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46888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Season</a:t>
                      </a:r>
                    </a:p>
                  </a:txBody>
                  <a:tcPr anchor="ctr" marL="118872">
                    <a:solidFill>
                      <a:srgbClr val="B55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Weddings</a:t>
                      </a:r>
                    </a:p>
                  </a:txBody>
                  <a:tcPr anchor="ctr" marL="118872">
                    <a:solidFill>
                      <a:srgbClr val="B55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118872">
                    <a:solidFill>
                      <a:srgbClr val="B553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Winter</a:t>
                      </a:r>
                    </a:p>
                  </a:txBody>
                  <a:tcPr anchor="ctr" marL="1188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188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Quiet, planning and rest</a:t>
                      </a:r>
                    </a:p>
                  </a:txBody>
                  <a:tcPr anchor="ctr" marL="11887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Spring</a:t>
                      </a:r>
                    </a:p>
                  </a:txBody>
                  <a:tcPr anchor="ctr" marL="118872">
                    <a:solidFill>
                      <a:srgbClr val="E6DF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118872">
                    <a:solidFill>
                      <a:srgbClr val="E6DF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Season opens</a:t>
                      </a:r>
                    </a:p>
                  </a:txBody>
                  <a:tcPr anchor="ctr" marL="118872">
                    <a:solidFill>
                      <a:srgbClr val="E6DFD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Summer</a:t>
                      </a:r>
                    </a:p>
                  </a:txBody>
                  <a:tcPr anchor="ctr" marL="1188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1188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Peak, full Saturdays</a:t>
                      </a:r>
                    </a:p>
                  </a:txBody>
                  <a:tcPr anchor="ctr" marL="11887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Autumn</a:t>
                      </a:r>
                    </a:p>
                  </a:txBody>
                  <a:tcPr anchor="ctr" marL="118872">
                    <a:solidFill>
                      <a:srgbClr val="E6DF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118872">
                    <a:solidFill>
                      <a:srgbClr val="E6DF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420"/>
                          </a:solidFill>
                          <a:latin typeface="Calibri"/>
                        </a:rPr>
                        <a:t>The long finish</a:t>
                      </a:r>
                    </a:p>
                  </a:txBody>
                  <a:tcPr anchor="ctr" marL="118872">
                    <a:solidFill>
                      <a:srgbClr val="E6DF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82880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424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On to the next season.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8D2C8"/>
                </a:solidFill>
                <a:latin typeface="Calibri"/>
              </a:rPr>
              <a:t>Six weddings already on the books for 2026 and 2027.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mark.campbell@finthesiss.ai   (215) 555-0147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Year in Review</dc:title>
  <dc:subject>Campbell Events</dc:subject>
  <dc:creator>Mark Campbell</dc:creator>
  <cp:keywords/>
  <dc:description/>
  <cp:lastModifiedBy>Mark Campbell</cp:lastModifiedBy>
  <cp:revision>1</cp:revision>
  <dcterms:created xsi:type="dcterms:W3CDTF">2013-01-27T09:14:16Z</dcterms:created>
  <dcterms:modified xsi:type="dcterms:W3CDTF">2013-01-27T09:15:58Z</dcterms:modified>
  <cp:category>Campbell Events</cp:category>
</cp:coreProperties>
</file>