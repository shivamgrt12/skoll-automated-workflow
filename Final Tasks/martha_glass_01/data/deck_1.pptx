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SO2 flux (t/day)</c:v>
                </c:pt>
              </c:strCache>
            </c:strRef>
          </c:tx>
          <c:spPr>
            <a:ln w="31750">
              <a:solidFill>
                <a:srgbClr val="E0653A"/>
              </a:solidFill>
            </a:ln>
          </c:spPr>
          <c:cat>
            <c:strRef>
              <c:f>Sheet1!$A$2:$A$6</c:f>
              <c:strCache>
                <c:ptCount val="5"/>
                <c:pt idx="0">
                  <c:v>Oct 25</c:v>
                </c:pt>
                <c:pt idx="1">
                  <c:v>Nov 25</c:v>
                </c:pt>
                <c:pt idx="2">
                  <c:v>Dec 25</c:v>
                </c:pt>
                <c:pt idx="3">
                  <c:v>Jan 26</c:v>
                </c:pt>
                <c:pt idx="4">
                  <c:v>Feb 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48</c:v>
                </c:pt>
                <c:pt idx="2">
                  <c:v>51</c:v>
                </c:pt>
                <c:pt idx="3">
                  <c:v>46</c:v>
                </c:pt>
                <c:pt idx="4">
                  <c:v>42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4362C"/>
            </a:solidFill>
          </a:ln>
        </c:spPr>
        <c:txPr>
          <a:bodyPr/>
          <a:lstStyle/>
          <a:p>
            <a:pPr>
              <a:defRPr sz="1200">
                <a:solidFill>
                  <a:srgbClr val="A99A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3271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44362C"/>
            </a:solidFill>
          </a:ln>
        </c:spPr>
        <c:txPr>
          <a:bodyPr/>
          <a:lstStyle/>
          <a:p>
            <a:pPr>
              <a:defRPr sz="1200">
                <a:solidFill>
                  <a:srgbClr val="A99A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1097280"/>
            <a:ext cx="4572000" cy="4572000"/>
          </a:xfrm>
          <a:prstGeom prst="ellipse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1005840"/>
            <a:ext cx="2743200" cy="2743200"/>
          </a:xfrm>
          <a:prstGeom prst="ellipse">
            <a:avLst/>
          </a:prstGeom>
          <a:solidFill>
            <a:srgbClr val="2C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spc="300">
                <a:solidFill>
                  <a:srgbClr val="E0653A"/>
                </a:solidFill>
                <a:latin typeface="Segoe UI"/>
              </a:rPr>
              <a:t>EUROPEAN VOLCANIC GAS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 i="0">
                <a:solidFill>
                  <a:srgbClr val="F2ECE6"/>
                </a:solidFill>
                <a:latin typeface="Segoe UI"/>
              </a:rPr>
              <a:t>Reykjanes gas monitoring</a:t>
            </a:r>
          </a:p>
          <a:p>
            <a:pPr algn="l">
              <a:spcAft>
                <a:spcPts val="400"/>
              </a:spcAft>
            </a:pPr>
            <a:r>
              <a:rPr sz="2500" b="0" i="1">
                <a:solidFill>
                  <a:srgbClr val="D8B24A"/>
                </a:solidFill>
                <a:latin typeface="Segoe UI"/>
              </a:rPr>
              <a:t>Results from the inter-eruptive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99A8C"/>
                </a:solidFill>
                <a:latin typeface="Segoe UI"/>
              </a:rPr>
              <a:t>Annual consortium meeting, Naples, October 2025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F2ECE6"/>
                </a:solidFill>
                <a:latin typeface="Segoe UI"/>
              </a:rPr>
              <a:t>Martha Glass, Islenska jardedlisfraedistofnunin, Iceland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2ECE6"/>
                </a:solidFill>
                <a:latin typeface="Segoe UI"/>
              </a:rPr>
              <a:t>What this talk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1417320"/>
            <a:ext cx="1005840" cy="6400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10424160" cy="91440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74519"/>
            <a:ext cx="109728" cy="9144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020824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D8B24A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20824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2ECE6"/>
                </a:solidFill>
                <a:latin typeface="Segoe UI"/>
              </a:rPr>
              <a:t>Context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9A8C"/>
                </a:solidFill>
                <a:latin typeface="Segoe UI"/>
              </a:rPr>
              <a:t>Where the peninsula stands after the recent 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26079"/>
            <a:ext cx="10424160" cy="91440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926079"/>
            <a:ext cx="109728" cy="9144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072384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D8B24A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72384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2ECE6"/>
                </a:solidFill>
                <a:latin typeface="Segoe UI"/>
              </a:rPr>
              <a:t>Method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9A8C"/>
                </a:solidFill>
                <a:latin typeface="Segoe UI"/>
              </a:rPr>
              <a:t>Three lines of gas measurement in the field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77639"/>
            <a:ext cx="10424160" cy="91440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109728" cy="9144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123944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D8B24A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123944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2ECE6"/>
                </a:solidFill>
                <a:latin typeface="Segoe UI"/>
              </a:rPr>
              <a:t>Results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9A8C"/>
                </a:solidFill>
                <a:latin typeface="Segoe UI"/>
              </a:rPr>
              <a:t>The flux record across the present phase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029200"/>
            <a:ext cx="109728" cy="9144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175504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D8B24A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175504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2ECE6"/>
                </a:solidFill>
                <a:latin typeface="Segoe UI"/>
              </a:rPr>
              <a:t>What it means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9A8C"/>
                </a:solidFill>
                <a:latin typeface="Segoe UI"/>
              </a:rPr>
              <a:t>Reading the combination, carefully framed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99A8C"/>
                </a:solidFill>
                <a:latin typeface="Segoe UI"/>
              </a:rPr>
              <a:t>Reykjanes gas monitoring  .  EU-VGAS annual meeting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2ECE6"/>
                </a:solidFill>
                <a:latin typeface="Segoe UI"/>
              </a:rP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1417320"/>
            <a:ext cx="1005840" cy="6400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F2ECE6"/>
                </a:solidFill>
                <a:latin typeface="Segoe UI"/>
              </a:rPr>
              <a:t>The Reykjanes Peninsula returned to activity in 2021 after centuries of quiet, producing a series of eruptions near Grindavik. The system is now in an inter-eruptive phase, with elevated seismicity and continuing magma accumulation around Svartsengi.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14800"/>
            <a:ext cx="3291840" cy="155448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4114800"/>
            <a:ext cx="3291840" cy="91440"/>
          </a:xfrm>
          <a:prstGeom prst="rect">
            <a:avLst/>
          </a:prstGeom>
          <a:solidFill>
            <a:srgbClr val="D8B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4348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0653A"/>
                </a:solidFill>
                <a:latin typeface="Segoe UI"/>
              </a:rPr>
              <a:t>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5212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9A8C"/>
                </a:solidFill>
                <a:latin typeface="Segoe UI"/>
              </a:rPr>
              <a:t>activity resumed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4114800"/>
            <a:ext cx="3291840" cy="155448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4114800"/>
            <a:ext cx="3291840" cy="91440"/>
          </a:xfrm>
          <a:prstGeom prst="rect">
            <a:avLst/>
          </a:prstGeom>
          <a:solidFill>
            <a:srgbClr val="D8B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44348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0653A"/>
                </a:solidFill>
                <a:latin typeface="Segoe U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212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9A8C"/>
                </a:solidFill>
                <a:latin typeface="Segoe UI"/>
              </a:rPr>
              <a:t>reporting stations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3" y="4114800"/>
            <a:ext cx="3291840" cy="155448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72983" y="4114800"/>
            <a:ext cx="3291840" cy="91440"/>
          </a:xfrm>
          <a:prstGeom prst="rect">
            <a:avLst/>
          </a:prstGeom>
          <a:solidFill>
            <a:srgbClr val="D8B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44348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0653A"/>
                </a:solidFill>
                <a:latin typeface="Segoe UI"/>
              </a:rPr>
              <a:t>Svartsengi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5212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9A8C"/>
                </a:solidFill>
                <a:latin typeface="Segoe UI"/>
              </a:rPr>
              <a:t>present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99A8C"/>
                </a:solidFill>
                <a:latin typeface="Segoe UI"/>
              </a:rPr>
              <a:t>Reykjanes gas monitoring  .  EU-VGAS annual meeting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2ECE6"/>
                </a:solidFill>
                <a:latin typeface="Segoe UI"/>
              </a:rPr>
              <a:t>Three lines of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1417320"/>
            <a:ext cx="1005840" cy="6400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011680"/>
            <a:ext cx="3383280" cy="329184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3383280" cy="64008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5110F"/>
                </a:solidFill>
                <a:latin typeface="Segoe UI"/>
              </a:rPr>
              <a:t>Remote scanning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F2ECE6"/>
                </a:solidFill>
                <a:latin typeface="Segoe UI"/>
              </a:rPr>
              <a:t>Ground based scanning measures sulphur dioxide flux in any plume that clears the terrain.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2272" y="2011680"/>
            <a:ext cx="3383280" cy="329184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2011680"/>
            <a:ext cx="3383280" cy="640080"/>
          </a:xfrm>
          <a:prstGeom prst="rect">
            <a:avLst/>
          </a:prstGeom>
          <a:solidFill>
            <a:srgbClr val="D8B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13969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5110F"/>
                </a:solidFill>
                <a:latin typeface="Segoe UI"/>
              </a:rPr>
              <a:t>Direct 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97180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F2ECE6"/>
                </a:solidFill>
                <a:latin typeface="Segoe UI"/>
              </a:rPr>
              <a:t>Field instruments capture gas species ratios at fumaroles and vents during short windows.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2011680"/>
            <a:ext cx="3383280" cy="3291840"/>
          </a:xfrm>
          <a:prstGeom prst="rect">
            <a:avLst/>
          </a:prstGeom>
          <a:solidFill>
            <a:srgbClr val="22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2011680"/>
            <a:ext cx="3383280" cy="640080"/>
          </a:xfrm>
          <a:prstGeom prst="rect">
            <a:avLst/>
          </a:prstGeom>
          <a:solidFill>
            <a:srgbClr val="44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213969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5110F"/>
                </a:solidFill>
                <a:latin typeface="Segoe UI"/>
              </a:rPr>
              <a:t>Drone surveys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97180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F2ECE6"/>
                </a:solidFill>
                <a:latin typeface="Segoe UI"/>
              </a:rPr>
              <a:t>Sensor payloads reach plumes that are unsafe to sample on foot, extending coverage safely.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99A8C"/>
                </a:solidFill>
                <a:latin typeface="Segoe UI"/>
              </a:rPr>
              <a:t>Reykjanes gas monitoring  .  EU-VGAS annual meeting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2ECE6"/>
                </a:solidFill>
                <a:latin typeface="Segoe UI"/>
              </a:rPr>
              <a:t>Surface SO2 flux, recent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1417320"/>
            <a:ext cx="1005840" cy="6400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9A8C"/>
                </a:solidFill>
                <a:latin typeface="Segoe UI"/>
              </a:rPr>
              <a:t>Monthly summary, tonnes per day, October 2025 to February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2194560"/>
          <a:ext cx="10424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99A8C"/>
                </a:solidFill>
                <a:latin typeface="Segoe UI"/>
              </a:rPr>
              <a:t>Observation, not a forecast  .  EU-VGAS annual meeting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4206240"/>
            <a:ext cx="14630400" cy="3657600"/>
          </a:xfrm>
          <a:prstGeom prst="rect">
            <a:avLst/>
          </a:prstGeom>
          <a:solidFill>
            <a:srgbClr val="C9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spc="400">
                <a:solidFill>
                  <a:srgbClr val="3A1A10"/>
                </a:solidFill>
                <a:latin typeface="Segoe UI"/>
              </a:rPr>
              <a:t>THE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300" b="1" i="0">
                <a:solidFill>
                  <a:srgbClr val="F2ECE6"/>
                </a:solidFill>
                <a:latin typeface="Segoe UI"/>
              </a:rPr>
              <a:t>Elevated seismicity and continuing magma accumulation are not, so far, accompanied by a significant change in surface SO2 flux.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12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3A1A10"/>
                </a:solidFill>
                <a:latin typeface="Segoe UI"/>
              </a:rPr>
              <a:t>That combination is itself the result, and it is communicated to civil protection before anyone else.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2ECE6"/>
                </a:solidFill>
                <a:latin typeface="Segoe UI"/>
              </a:rPr>
              <a:t>What it means, and next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D8B24A"/>
                </a:solidFill>
                <a:latin typeface="Segoe UI"/>
              </a:rPr>
              <a:t>Gas remains a strong tool where shallow degassing is active, and a careful one where it is not.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A99A8C"/>
                </a:solidFill>
                <a:latin typeface="Segoe UI"/>
              </a:rPr>
              <a:t>Next: full eight-site protocol adoption, and the San Francisco presentation in November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E06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99A8C"/>
                </a:solidFill>
                <a:latin typeface="Segoe UI"/>
              </a:rPr>
              <a:t>Martha Glass  .  martha.glass@ije.is  .  Reykjavik, Iceland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