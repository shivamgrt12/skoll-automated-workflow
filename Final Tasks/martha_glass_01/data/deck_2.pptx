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monitoring weight</c:v>
                </c:pt>
              </c:strCache>
            </c:strRef>
          </c:tx>
          <c:spPr>
            <a:solidFill>
              <a:srgbClr val="1C8C7E"/>
            </a:solidFill>
          </c:spPr>
          <c:cat>
            <c:strRef>
              <c:f>Sheet1!$A$2:$A$4</c:f>
              <c:strCache>
                <c:ptCount val="3"/>
                <c:pt idx="0">
                  <c:v>SO2</c:v>
                </c:pt>
                <c:pt idx="1">
                  <c:v>CO2</c:v>
                </c:pt>
                <c:pt idx="2">
                  <c:v>H2S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7D3D8"/>
            </a:solidFill>
          </a:ln>
        </c:spPr>
        <c:txPr>
          <a:bodyPr/>
          <a:lstStyle/>
          <a:p>
            <a:pPr>
              <a:defRPr sz="1200">
                <a:solidFill>
                  <a:srgbClr val="5C6B7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</c:scaling>
        <c:delete val="0"/>
        <c:axPos val="l"/>
        <c:majorGridlines>
          <c:spPr>
            <a:ln>
              <a:solidFill>
                <a:srgbClr val="DDE6E9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7D3D8"/>
            </a:solidFill>
          </a:ln>
        </c:spPr>
        <c:txPr>
          <a:bodyPr/>
          <a:lstStyle/>
          <a:p>
            <a:pPr>
              <a:defRPr sz="1200">
                <a:solidFill>
                  <a:srgbClr val="5C6B74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4754880" cy="6858000"/>
          </a:xfrm>
          <a:prstGeom prst="rect">
            <a:avLst/>
          </a:prstGeom>
          <a:solidFill>
            <a:srgbClr val="1E3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6400800" y="0"/>
            <a:ext cx="2194560" cy="6858000"/>
          </a:xfrm>
          <a:prstGeom prst="rtTriangle">
            <a:avLst/>
          </a:prstGeom>
          <a:solidFill>
            <a:srgbClr val="1C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spc="250">
                <a:solidFill>
                  <a:srgbClr val="1C8C7E"/>
                </a:solidFill>
                <a:latin typeface="Segoe UI"/>
              </a:rPr>
              <a:t>VOLCANIC HAZARDS  .  EAR-512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011680"/>
            <a:ext cx="6583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</a:rPr>
              <a:t>From monitoring</a:t>
            </a:r>
          </a:p>
          <a:p>
            <a:pPr algn="l">
              <a:spcAft>
                <a:spcPts val="400"/>
              </a:spcAft>
            </a:pPr>
            <a:r>
              <a:rPr sz="4600" b="1" i="0">
                <a:solidFill>
                  <a:srgbClr val="D8A23A"/>
                </a:solidFill>
                <a:latin typeface="Segoe UI"/>
              </a:rPr>
              <a:t>to public guidance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9CAD3"/>
                </a:solidFill>
                <a:latin typeface="Segoe UI"/>
              </a:rPr>
              <a:t>Reykjavik University of Sciences, Faculty of Earth Sciences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Graduate seminar, autumn term  .  Martha Glass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Today, one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5324B"/>
                </a:solidFill>
                <a:latin typeface="Segoe UI"/>
              </a:rPr>
              <a:t>How does a single gas measurement become a hazard brief that a town can act 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5C6B74"/>
                </a:solidFill>
                <a:latin typeface="Segoe UI"/>
              </a:rPr>
              <a:t>We treat hazard communication as a core scientific skill, not an afterthought. The path from a number to public guidance has four steps, and each one can fail.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292608" cy="41148"/>
          </a:xfrm>
          <a:prstGeom prst="rect">
            <a:avLst/>
          </a:prstGeom>
          <a:solidFill>
            <a:srgbClr val="1C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63276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C6B74"/>
                </a:solidFill>
                <a:latin typeface="Segoe UI"/>
              </a:rPr>
              <a:t>Volcanic Hazards EAR-512  .  Reykjavik University of Sciences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5324B"/>
                </a:solidFill>
                <a:latin typeface="Segoe UI"/>
              </a:rPr>
              <a:t>The chain, monitoring to guidance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80160"/>
            <a:ext cx="1005840" cy="64008"/>
          </a:xfrm>
          <a:prstGeom prst="rect">
            <a:avLst/>
          </a:prstGeom>
          <a:solidFill>
            <a:srgbClr val="1C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2514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2514600" cy="777240"/>
          </a:xfrm>
          <a:prstGeom prst="rect">
            <a:avLst/>
          </a:prstGeom>
          <a:solidFill>
            <a:srgbClr val="1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5324B"/>
                </a:solidFill>
                <a:latin typeface="Segoe UI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5C6B74"/>
                </a:solidFill>
                <a:latin typeface="Segoe UI"/>
              </a:rPr>
              <a:t>Gather gas, ground, and seismic signals continuously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24612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AEBEC6"/>
                </a:solidFill>
                <a:latin typeface="Segoe UI"/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194560"/>
            <a:ext cx="2514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194560"/>
            <a:ext cx="2514600" cy="777240"/>
          </a:xfrm>
          <a:prstGeom prst="rect">
            <a:avLst/>
          </a:prstGeom>
          <a:solidFill>
            <a:srgbClr val="1C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33172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15468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5324B"/>
                </a:solidFill>
                <a:latin typeface="Segoe UI"/>
              </a:rPr>
              <a:t>Assess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65760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5C6B74"/>
                </a:solidFill>
                <a:latin typeface="Segoe UI"/>
              </a:rPr>
              <a:t>Turn signals into a hazard scenario with stated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24612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AEBEC6"/>
                </a:solidFill>
                <a:latin typeface="Segoe UI"/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194560"/>
            <a:ext cx="2514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194560"/>
            <a:ext cx="2514600" cy="777240"/>
          </a:xfrm>
          <a:prstGeom prst="rect">
            <a:avLst/>
          </a:prstGeom>
          <a:solidFill>
            <a:srgbClr val="D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33172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5468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5324B"/>
                </a:solidFill>
                <a:latin typeface="Segoe UI"/>
              </a:rPr>
              <a:t>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5760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5C6B74"/>
                </a:solidFill>
                <a:latin typeface="Segoe UI"/>
              </a:rPr>
              <a:t>Weigh exposure and urgency with civil protection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24612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AEBEC6"/>
                </a:solidFill>
                <a:latin typeface="Segoe UI"/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2194560"/>
            <a:ext cx="2514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2194560"/>
            <a:ext cx="2514600" cy="777240"/>
          </a:xfrm>
          <a:prstGeom prst="rect">
            <a:avLst/>
          </a:prstGeom>
          <a:solidFill>
            <a:srgbClr val="B54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233172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15468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5324B"/>
                </a:solidFill>
                <a:latin typeface="Segoe UI"/>
              </a:rPr>
              <a:t>Communicate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65760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5C6B74"/>
                </a:solidFill>
                <a:latin typeface="Segoe UI"/>
              </a:rPr>
              <a:t>Write a clear brief for a non-specialist audience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19088"/>
            <a:ext cx="292608" cy="41148"/>
          </a:xfrm>
          <a:prstGeom prst="rect">
            <a:avLst/>
          </a:prstGeom>
          <a:solidFill>
            <a:srgbClr val="1C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63276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C6B74"/>
                </a:solidFill>
                <a:latin typeface="Segoe UI"/>
              </a:rPr>
              <a:t>Volcanic Hazards EAR-512  .  Reykjavik University of Sciences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5324B"/>
                </a:solidFill>
                <a:latin typeface="Segoe UI"/>
              </a:rPr>
              <a:t>Gas as a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280160"/>
            <a:ext cx="1005840" cy="64008"/>
          </a:xfrm>
          <a:prstGeom prst="rect">
            <a:avLst/>
          </a:prstGeom>
          <a:solidFill>
            <a:srgbClr val="1C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54864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B2A33"/>
                </a:solidFill>
                <a:latin typeface="Segoe UI"/>
              </a:rPr>
              <a:t>Each species carries different information about the magma below: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0" i="0">
                <a:solidFill>
                  <a:srgbClr val="5C6B74"/>
                </a:solidFill>
                <a:latin typeface="Segoe UI"/>
              </a:rPr>
              <a:t>Sulphur dioxide, a marker of shallow degassing and fresh magma near the surface.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0" i="0">
                <a:solidFill>
                  <a:srgbClr val="5C6B74"/>
                </a:solidFill>
                <a:latin typeface="Segoe UI"/>
              </a:rPr>
              <a:t>Carbon dioxide, which can rise earlier and from deeper, before sulphur appears.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 i="0">
                <a:solidFill>
                  <a:srgbClr val="5C6B74"/>
                </a:solidFill>
                <a:latin typeface="Segoe UI"/>
              </a:rPr>
              <a:t>Hydrogen sulphide, read as a ratio against sulphur dioxide to track the system.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0" y="1737360"/>
          <a:ext cx="47548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6419088"/>
            <a:ext cx="292608" cy="41148"/>
          </a:xfrm>
          <a:prstGeom prst="rect">
            <a:avLst/>
          </a:prstGeom>
          <a:solidFill>
            <a:srgbClr val="1C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63276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C6B74"/>
                </a:solidFill>
                <a:latin typeface="Segoe UI"/>
              </a:rPr>
              <a:t>Volcanic Hazards EAR-512  .  Reykjavik University of Sciences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 worked case: Reykjanes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17320"/>
            <a:ext cx="1005840" cy="64008"/>
          </a:xfrm>
          <a:prstGeom prst="rect">
            <a:avLst/>
          </a:prstGeom>
          <a:solidFill>
            <a:srgbClr val="D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10515600" cy="1143000"/>
          </a:xfrm>
          <a:prstGeom prst="rect">
            <a:avLst/>
          </a:prstGeom>
          <a:solidFill>
            <a:srgbClr val="1E3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109728" cy="1143000"/>
          </a:xfrm>
          <a:prstGeom prst="rect">
            <a:avLst/>
          </a:prstGeom>
          <a:solidFill>
            <a:srgbClr val="1C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84832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8A23A"/>
                </a:solidFill>
                <a:latin typeface="Segoe UI"/>
              </a:rPr>
              <a:t>What we watched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084832"/>
            <a:ext cx="6583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Sulphur dioxide flux, gas ratios, seismicity, and ground deformation, together not alone.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46120"/>
            <a:ext cx="10515600" cy="1143000"/>
          </a:xfrm>
          <a:prstGeom prst="rect">
            <a:avLst/>
          </a:prstGeom>
          <a:solidFill>
            <a:srgbClr val="1E3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246120"/>
            <a:ext cx="109728" cy="1143000"/>
          </a:xfrm>
          <a:prstGeom prst="rect">
            <a:avLst/>
          </a:prstGeom>
          <a:solidFill>
            <a:srgbClr val="1C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410712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8A23A"/>
                </a:solidFill>
                <a:latin typeface="Segoe UI"/>
              </a:rPr>
              <a:t>What we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410712"/>
            <a:ext cx="6583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Strong seismic signals without a matching jump in surface sulphur dioxide flux.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572000"/>
            <a:ext cx="10515600" cy="1143000"/>
          </a:xfrm>
          <a:prstGeom prst="rect">
            <a:avLst/>
          </a:prstGeom>
          <a:solidFill>
            <a:srgbClr val="1E3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572000"/>
            <a:ext cx="109728" cy="1143000"/>
          </a:xfrm>
          <a:prstGeom prst="rect">
            <a:avLst/>
          </a:prstGeom>
          <a:solidFill>
            <a:srgbClr val="1C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736592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8A23A"/>
                </a:solidFill>
                <a:latin typeface="Segoe UI"/>
              </a:rPr>
              <a:t>What we said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736592"/>
            <a:ext cx="6583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We reported the combination plainly, and we did not turn it into a forecast.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19088"/>
            <a:ext cx="292608" cy="41148"/>
          </a:xfrm>
          <a:prstGeom prst="rect">
            <a:avLst/>
          </a:prstGeom>
          <a:solidFill>
            <a:srgbClr val="1C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63276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B9CAD3"/>
                </a:solidFill>
                <a:latin typeface="Segoe UI"/>
              </a:rPr>
              <a:t>Volcanic Hazards EAR-512  .  Reykjavik University of Sciences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31089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The ethics of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280160"/>
            <a:ext cx="69494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000" b="1" i="0">
                <a:solidFill>
                  <a:srgbClr val="15324B"/>
                </a:solidFill>
                <a:latin typeface="Segoe UI"/>
              </a:rPr>
              <a:t>A hazard brief that hides its limits is not safer, it is more dangerous.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 i="0">
                <a:solidFill>
                  <a:srgbClr val="5C6B74"/>
                </a:solidFill>
                <a:latin typeface="Segoe UI"/>
              </a:rPr>
              <a:t>State what is known, what is not, and what would change the picture.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 i="0">
                <a:solidFill>
                  <a:srgbClr val="5C6B74"/>
                </a:solidFill>
                <a:latin typeface="Segoe UI"/>
              </a:rPr>
              <a:t>Never let pressure for certainty turn an observation into a prediction.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5C6B74"/>
                </a:solidFill>
                <a:latin typeface="Segoe UI"/>
              </a:rPr>
              <a:t>The reader is a person making a decision, not an audience to impress.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292608" cy="41148"/>
          </a:xfrm>
          <a:prstGeom prst="rect">
            <a:avLst/>
          </a:prstGeom>
          <a:solidFill>
            <a:srgbClr val="1C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3276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C6B74"/>
                </a:solidFill>
                <a:latin typeface="Segoe UI"/>
              </a:rPr>
              <a:t>Volcanic Hazards EAR-512  .  Reykjavik University of Sciences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72000" cy="6858000"/>
          </a:xfrm>
          <a:prstGeom prst="rect">
            <a:avLst/>
          </a:prstGeom>
          <a:solidFill>
            <a:srgbClr val="1E3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6583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 spc="250">
                <a:solidFill>
                  <a:srgbClr val="1C8C7E"/>
                </a:solidFill>
                <a:latin typeface="Segoe UI"/>
              </a:rPr>
              <a:t>This week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Write a one page hazard brief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B9CAD3"/>
                </a:solidFill>
                <a:latin typeface="Segoe UI"/>
              </a:rPr>
              <a:t>Take a real monitoring signal and write for a town council, not a journal.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2743200"/>
            <a:ext cx="3657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8A23A"/>
                </a:solidFill>
                <a:latin typeface="Segoe UI"/>
              </a:rPr>
              <a:t>Office hours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By booking link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8A23A"/>
                </a:solidFill>
                <a:latin typeface="Segoe UI"/>
              </a:rPr>
              <a:t>Next session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Thursday, 13:00 to 16:00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292608" cy="41148"/>
          </a:xfrm>
          <a:prstGeom prst="rect">
            <a:avLst/>
          </a:prstGeom>
          <a:solidFill>
            <a:srgbClr val="1C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3276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B9CAD3"/>
                </a:solidFill>
                <a:latin typeface="Segoe UI"/>
              </a:rPr>
              <a:t>Martha Glass  .  martha.glass@rvsci.is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