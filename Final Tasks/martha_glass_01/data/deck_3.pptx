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10972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7FB2C9"/>
                </a:solidFill>
                <a:latin typeface="Segoe UI"/>
              </a:rPr>
              <a:t>CONFIDENTIAL WORKING DRAFT, v0.7  .  NOT FOR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4300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Katla Readiness Assessment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CFE0E8"/>
                </a:solidFill>
                <a:latin typeface="Segoe UI"/>
              </a:rPr>
              <a:t>Chapter 4: Volcanic gas geochemistry and monitoring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E707A"/>
                </a:solidFill>
                <a:latin typeface="Segoe UI"/>
              </a:rPr>
              <a:t>Prepared for institute management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33B"/>
                </a:solidFill>
                <a:latin typeface="Segoe UI"/>
              </a:rPr>
              <a:t>Author: Martha Glass, Natural Hazards Division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E707A"/>
                </a:solidFill>
                <a:latin typeface="Segoe UI"/>
              </a:rPr>
              <a:t>Contributing: Dr. Helgi Bjornsson, glaciology and jokulhlaup scenarios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3444F"/>
                </a:solidFill>
                <a:latin typeface="Segoe UI"/>
              </a:rPr>
              <a:t>Submission target: 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33444F"/>
                </a:solidFill>
                <a:latin typeface="Segoe UI"/>
              </a:rPr>
              <a:t>What this chapter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371600"/>
            <a:ext cx="1005840" cy="6400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0" i="0">
                <a:solidFill>
                  <a:srgbClr val="25333B"/>
                </a:solidFill>
                <a:latin typeface="Segoe UI"/>
              </a:rPr>
              <a:t>It states what gas geochemistry can currently measure at Katla, where the gaps are, and what must be in place so a change in degassing is recognised early and communicated cleanly to civil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657600"/>
            <a:ext cx="10424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657600"/>
            <a:ext cx="109728" cy="1143000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3444F"/>
                </a:solidFill>
                <a:latin typeface="Segoe UI"/>
              </a:rPr>
              <a:t>The complication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840480"/>
            <a:ext cx="6949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5E707A"/>
                </a:solidFill>
                <a:latin typeface="Segoe UI"/>
              </a:rPr>
              <a:t>Katla sits beneath an ice cap, which limits direct gas sensing and couples any escalation to rapid melt and flooding.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983480"/>
            <a:ext cx="10424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983480"/>
            <a:ext cx="109728" cy="1143000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3444F"/>
                </a:solidFill>
                <a:latin typeface="Segoe UI"/>
              </a:rPr>
              <a:t>The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166360"/>
            <a:ext cx="6949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5E707A"/>
                </a:solidFill>
                <a:latin typeface="Segoe UI"/>
              </a:rPr>
              <a:t>Narrow and practical: recognise a real change, and avoid both false alarms and missed onset.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707A"/>
                </a:solidFill>
                <a:latin typeface="Segoe UI"/>
              </a:rPr>
              <a:t>Katla Readiness Assessment  .  Chapter 4  .  Confidential working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33444F"/>
                </a:solidFill>
                <a:latin typeface="Segoe UI"/>
              </a:rPr>
              <a:t>Current monitoring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371600"/>
            <a:ext cx="1005840" cy="6400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3383280" cy="22860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FB2C9"/>
                </a:solidFill>
                <a:latin typeface="Segoe UI"/>
              </a:rPr>
              <a:t>Remote 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Sulphur dioxide flux in any plume that clears the 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2011680"/>
            <a:ext cx="3383280" cy="22860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2860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FB2C9"/>
                </a:solidFill>
                <a:latin typeface="Segoe UI"/>
              </a:rPr>
              <a:t>Direct 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9260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Species ratios when the caldera rim is accessible.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4" y="2011680"/>
            <a:ext cx="3383280" cy="22860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22860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FB2C9"/>
                </a:solidFill>
                <a:latin typeface="Segoe UI"/>
              </a:rPr>
              <a:t>Drone sensing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9260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Reach over terrain that is unsafe to approach on foot.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1">
                <a:solidFill>
                  <a:srgbClr val="5E707A"/>
                </a:solidFill>
                <a:latin typeface="Segoe UI"/>
              </a:rPr>
              <a:t>All three methods are constrained by the ice cap and by weather windows. None alone is sufficient, and the chapter treats them as one combined capability.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707A"/>
                </a:solidFill>
                <a:latin typeface="Segoe UI"/>
              </a:rPr>
              <a:t>Katla Readiness Assessment  .  Chapter 4  .  Confidential working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33444F"/>
                </a:solidFill>
                <a:latin typeface="Segoe UI"/>
              </a:rPr>
              <a:t>Capability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371600"/>
            <a:ext cx="1005840" cy="6400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69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3611880"/>
                <a:gridCol w="20116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anchor="ctr" marT="50800" marB="50800">
                    <a:solidFill>
                      <a:srgbClr val="3344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Detects</a:t>
                      </a:r>
                    </a:p>
                  </a:txBody>
                  <a:tcPr anchor="ctr" marT="50800" marB="50800">
                    <a:solidFill>
                      <a:srgbClr val="3344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Main limitation</a:t>
                      </a:r>
                    </a:p>
                  </a:txBody>
                  <a:tcPr anchor="ctr" marT="50800" marB="50800">
                    <a:solidFill>
                      <a:srgbClr val="3344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Readiness</a:t>
                      </a:r>
                    </a:p>
                  </a:txBody>
                  <a:tcPr anchor="ctr" marT="50800" marB="50800">
                    <a:solidFill>
                      <a:srgbClr val="33444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5333B"/>
                          </a:solidFill>
                          <a:latin typeface="Segoe UI"/>
                        </a:rPr>
                        <a:t>Plume scanning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SO2 flux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Needs a plume clear of ice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Operational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5333B"/>
                          </a:solidFill>
                          <a:latin typeface="Segoe UI"/>
                        </a:rPr>
                        <a:t>Direct sampling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Gas ratios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Rim access and weather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5333B"/>
                          </a:solidFill>
                          <a:latin typeface="Segoe UI"/>
                        </a:rPr>
                        <a:t>Drone payload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Local gas in plume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Battery and wind limits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Operational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5333B"/>
                          </a:solidFill>
                          <a:latin typeface="Segoe UI"/>
                        </a:rPr>
                        <a:t>Caldera baseline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Reference values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5333B"/>
                          </a:solidFill>
                          <a:latin typeface="Segoe UI"/>
                        </a:rPr>
                        <a:t>Updated data missing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2763A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anchor="ctr" marL="101600">
                    <a:solidFill>
                      <a:srgbClr val="E2EA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707A"/>
                </a:solidFill>
                <a:latin typeface="Segoe UI"/>
              </a:rPr>
              <a:t>Katla Readiness Assessment  .  Chapter 4  .  Confidential working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2194560" cy="640080"/>
          </a:xfrm>
          <a:prstGeom prst="rect">
            <a:avLst/>
          </a:prstGeom>
          <a:solidFill>
            <a:srgbClr val="C2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2412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spc="200">
                <a:solidFill>
                  <a:srgbClr val="FFFFFF"/>
                </a:solidFill>
                <a:latin typeface="Segoe UI"/>
              </a:rPr>
              <a:t>KNOWN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Updated baseline gas measurements from the caldera rim are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AFC2CC"/>
                </a:solidFill>
                <a:latin typeface="Segoe UI"/>
              </a:rPr>
              <a:t>Without a current baseline, a real change is harder to recognise quickly. The July 2025 highland campaign began this work at the rim, and a further visit is needed before the assessment is final.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C2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E929C"/>
                </a:solidFill>
                <a:latin typeface="Segoe UI"/>
              </a:rPr>
              <a:t>Katla Readiness Assessment  .  Chapter 4  .  Confidential working 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34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Recommendations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33444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3852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5333B"/>
                </a:solidFill>
                <a:latin typeface="Segoe UI"/>
              </a:rPr>
              <a:t>Close the caldera rim baseline gap in the next accessible field window.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33444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89864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5333B"/>
                </a:solidFill>
                <a:latin typeface="Segoe UI"/>
              </a:rPr>
              <a:t>Keep gas, deformation, and seismicity read together, never in isolation.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49039"/>
            <a:ext cx="640080" cy="640080"/>
          </a:xfrm>
          <a:prstGeom prst="ellipse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33444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5876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5333B"/>
                </a:solidFill>
                <a:latin typeface="Segoe UI"/>
              </a:rPr>
              <a:t>Hold the agreed communication path to civil protection, observation before forecast.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09159"/>
            <a:ext cx="640080" cy="640080"/>
          </a:xfrm>
          <a:prstGeom prst="ellipse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5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33444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1888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5333B"/>
                </a:solidFill>
                <a:latin typeface="Segoe UI"/>
              </a:rPr>
              <a:t>Finalise the chapter for submission on 2 October 2026.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7FB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707A"/>
                </a:solidFill>
                <a:latin typeface="Segoe UI"/>
              </a:rPr>
              <a:t>Martha Glass  .  Natural Hazards Division  .  Confidential working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