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A22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3291840"/>
            <a:ext cx="15087600" cy="4572000"/>
          </a:xfrm>
          <a:prstGeom prst="rect">
            <a:avLst/>
          </a:prstGeom>
          <a:solidFill>
            <a:srgbClr val="B54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778240" y="731520"/>
            <a:ext cx="2377440" cy="2377440"/>
          </a:xfrm>
          <a:prstGeom prst="ellipse">
            <a:avLst/>
          </a:prstGeom>
          <a:solidFill>
            <a:srgbClr val="D49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509760" y="1463040"/>
            <a:ext cx="1280160" cy="1280160"/>
          </a:xfrm>
          <a:prstGeom prst="ellipse">
            <a:avLst/>
          </a:prstGeom>
          <a:solidFill>
            <a:srgbClr val="3A22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914400"/>
            <a:ext cx="7315200" cy="457200"/>
          </a:xfrm>
          <a:prstGeom prst="rect">
            <a:avLst/>
          </a:prstGeom>
          <a:noFill/>
        </p:spPr>
        <p:txBody>
          <a:bodyPr wrap="square" anchor="t" lIns="0" rIns="0" tIns="0" bIns="0">
            <a:spAutoFit/>
          </a:bodyPr>
          <a:lstStyle/>
          <a:p>
            <a:pPr algn="l">
              <a:spcAft>
                <a:spcPts val="400"/>
              </a:spcAft>
            </a:pPr>
            <a:r>
              <a:rPr sz="1400" b="1" i="0" spc="350">
                <a:solidFill>
                  <a:srgbClr val="D49A3F"/>
                </a:solidFill>
                <a:latin typeface="Segoe UI"/>
              </a:rPr>
              <a:t>A PUBLIC EVENING</a:t>
            </a:r>
          </a:p>
        </p:txBody>
      </p:sp>
      <p:sp>
        <p:nvSpPr>
          <p:cNvPr id="7" name="TextBox 6"/>
          <p:cNvSpPr txBox="1"/>
          <p:nvPr/>
        </p:nvSpPr>
        <p:spPr>
          <a:xfrm>
            <a:off x="822960" y="1554480"/>
            <a:ext cx="7863840" cy="2194560"/>
          </a:xfrm>
          <a:prstGeom prst="rect">
            <a:avLst/>
          </a:prstGeom>
          <a:noFill/>
        </p:spPr>
        <p:txBody>
          <a:bodyPr wrap="square" anchor="t" lIns="0" rIns="0" tIns="0" bIns="0">
            <a:spAutoFit/>
          </a:bodyPr>
          <a:lstStyle/>
          <a:p>
            <a:pPr algn="l">
              <a:spcAft>
                <a:spcPts val="0"/>
              </a:spcAft>
            </a:pPr>
            <a:r>
              <a:rPr sz="4600" b="1" i="0">
                <a:solidFill>
                  <a:srgbClr val="FFF7EC"/>
                </a:solidFill>
                <a:latin typeface="Georgia"/>
              </a:rPr>
              <a:t>Reading Iceland's</a:t>
            </a:r>
          </a:p>
          <a:p>
            <a:pPr algn="l">
              <a:spcAft>
                <a:spcPts val="400"/>
              </a:spcAft>
            </a:pPr>
            <a:r>
              <a:rPr sz="4600" b="1" i="0">
                <a:solidFill>
                  <a:srgbClr val="D49A3F"/>
                </a:solidFill>
                <a:latin typeface="Georgia"/>
              </a:rPr>
              <a:t>restless ground</a:t>
            </a:r>
          </a:p>
        </p:txBody>
      </p:sp>
      <p:sp>
        <p:nvSpPr>
          <p:cNvPr id="8" name="TextBox 7"/>
          <p:cNvSpPr txBox="1"/>
          <p:nvPr/>
        </p:nvSpPr>
        <p:spPr>
          <a:xfrm>
            <a:off x="841248" y="4023360"/>
            <a:ext cx="10058400" cy="1463040"/>
          </a:xfrm>
          <a:prstGeom prst="rect">
            <a:avLst/>
          </a:prstGeom>
          <a:noFill/>
        </p:spPr>
        <p:txBody>
          <a:bodyPr wrap="square" anchor="t" lIns="0" rIns="0" tIns="0" bIns="0">
            <a:spAutoFit/>
          </a:bodyPr>
          <a:lstStyle/>
          <a:p>
            <a:pPr algn="l">
              <a:spcAft>
                <a:spcPts val="1000"/>
              </a:spcAft>
            </a:pPr>
            <a:r>
              <a:rPr sz="2100" b="0" i="1">
                <a:solidFill>
                  <a:srgbClr val="FFF7EC"/>
                </a:solidFill>
                <a:latin typeface="Georgia"/>
              </a:rPr>
              <a:t>How volcanic gas gives a town the hours it needs</a:t>
            </a:r>
          </a:p>
          <a:p>
            <a:pPr algn="l">
              <a:spcAft>
                <a:spcPts val="400"/>
              </a:spcAft>
            </a:pPr>
            <a:r>
              <a:rPr sz="1500" b="0" i="0">
                <a:solidFill>
                  <a:srgbClr val="F0D9C7"/>
                </a:solidFill>
                <a:latin typeface="Segoe UI"/>
              </a:rPr>
              <a:t>Martha Glass, volcanologist, Reykjavik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C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640080"/>
            <a:ext cx="10058400" cy="822960"/>
          </a:xfrm>
          <a:prstGeom prst="rect">
            <a:avLst/>
          </a:prstGeom>
          <a:noFill/>
        </p:spPr>
        <p:txBody>
          <a:bodyPr wrap="square" anchor="t" lIns="0" rIns="0" tIns="0" bIns="0">
            <a:spAutoFit/>
          </a:bodyPr>
          <a:lstStyle/>
          <a:p>
            <a:pPr algn="l">
              <a:spcAft>
                <a:spcPts val="400"/>
              </a:spcAft>
            </a:pPr>
            <a:r>
              <a:rPr sz="3000" b="1" i="0">
                <a:solidFill>
                  <a:srgbClr val="B5462A"/>
                </a:solidFill>
                <a:latin typeface="Georgia"/>
              </a:rPr>
              <a:t>One small country, a lot of fire</a:t>
            </a:r>
          </a:p>
        </p:txBody>
      </p:sp>
      <p:sp>
        <p:nvSpPr>
          <p:cNvPr id="4" name="Rectangle 3"/>
          <p:cNvSpPr/>
          <p:nvPr/>
        </p:nvSpPr>
        <p:spPr>
          <a:xfrm>
            <a:off x="868680" y="2011680"/>
            <a:ext cx="3383280" cy="3108960"/>
          </a:xfrm>
          <a:prstGeom prst="rect">
            <a:avLst/>
          </a:prstGeom>
          <a:solidFill>
            <a:srgbClr val="FFF7EC"/>
          </a:solidFill>
          <a:ln w="12700">
            <a:solidFill>
              <a:srgbClr val="E2D6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2011680"/>
            <a:ext cx="3383280" cy="128016"/>
          </a:xfrm>
          <a:prstGeom prst="rect">
            <a:avLst/>
          </a:prstGeom>
          <a:solidFill>
            <a:srgbClr val="B54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2651760"/>
            <a:ext cx="2834640" cy="1188720"/>
          </a:xfrm>
          <a:prstGeom prst="rect">
            <a:avLst/>
          </a:prstGeom>
          <a:noFill/>
        </p:spPr>
        <p:txBody>
          <a:bodyPr wrap="square" anchor="t" lIns="0" rIns="0" tIns="0" bIns="0">
            <a:spAutoFit/>
          </a:bodyPr>
          <a:lstStyle/>
          <a:p>
            <a:pPr algn="l">
              <a:spcAft>
                <a:spcPts val="400"/>
              </a:spcAft>
            </a:pPr>
            <a:r>
              <a:rPr sz="5400" b="1" i="0">
                <a:solidFill>
                  <a:srgbClr val="B5462A"/>
                </a:solidFill>
                <a:latin typeface="Georgia"/>
              </a:rPr>
              <a:t>30+</a:t>
            </a:r>
          </a:p>
        </p:txBody>
      </p:sp>
      <p:sp>
        <p:nvSpPr>
          <p:cNvPr id="7" name="TextBox 6"/>
          <p:cNvSpPr txBox="1"/>
          <p:nvPr/>
        </p:nvSpPr>
        <p:spPr>
          <a:xfrm>
            <a:off x="1161288" y="3977639"/>
            <a:ext cx="2834640" cy="914400"/>
          </a:xfrm>
          <a:prstGeom prst="rect">
            <a:avLst/>
          </a:prstGeom>
          <a:noFill/>
        </p:spPr>
        <p:txBody>
          <a:bodyPr wrap="square" anchor="t" lIns="0" rIns="0" tIns="0" bIns="0">
            <a:spAutoFit/>
          </a:bodyPr>
          <a:lstStyle/>
          <a:p>
            <a:pPr algn="l">
              <a:lnSpc>
                <a:spcPct val="120000"/>
              </a:lnSpc>
              <a:spcAft>
                <a:spcPts val="400"/>
              </a:spcAft>
            </a:pPr>
            <a:r>
              <a:rPr sz="1500" b="0" i="0">
                <a:solidFill>
                  <a:srgbClr val="6F665A"/>
                </a:solidFill>
                <a:latin typeface="Segoe UI"/>
              </a:rPr>
              <a:t>active volcanic systems across Iceland</a:t>
            </a:r>
          </a:p>
        </p:txBody>
      </p:sp>
      <p:sp>
        <p:nvSpPr>
          <p:cNvPr id="8" name="Rectangle 7"/>
          <p:cNvSpPr/>
          <p:nvPr/>
        </p:nvSpPr>
        <p:spPr>
          <a:xfrm>
            <a:off x="4462272" y="2011680"/>
            <a:ext cx="3383280" cy="3108960"/>
          </a:xfrm>
          <a:prstGeom prst="rect">
            <a:avLst/>
          </a:prstGeom>
          <a:solidFill>
            <a:srgbClr val="FFF7EC"/>
          </a:solidFill>
          <a:ln w="12700">
            <a:solidFill>
              <a:srgbClr val="E2D6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462272" y="2011680"/>
            <a:ext cx="3383280" cy="128016"/>
          </a:xfrm>
          <a:prstGeom prst="rect">
            <a:avLst/>
          </a:prstGeom>
          <a:solidFill>
            <a:srgbClr val="6D7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36592" y="2651760"/>
            <a:ext cx="2834640" cy="1188720"/>
          </a:xfrm>
          <a:prstGeom prst="rect">
            <a:avLst/>
          </a:prstGeom>
          <a:noFill/>
        </p:spPr>
        <p:txBody>
          <a:bodyPr wrap="square" anchor="t" lIns="0" rIns="0" tIns="0" bIns="0">
            <a:spAutoFit/>
          </a:bodyPr>
          <a:lstStyle/>
          <a:p>
            <a:pPr algn="l">
              <a:spcAft>
                <a:spcPts val="400"/>
              </a:spcAft>
            </a:pPr>
            <a:r>
              <a:rPr sz="5400" b="1" i="0">
                <a:solidFill>
                  <a:srgbClr val="6D7A3A"/>
                </a:solidFill>
                <a:latin typeface="Georgia"/>
              </a:rPr>
              <a:t>4</a:t>
            </a:r>
          </a:p>
        </p:txBody>
      </p:sp>
      <p:sp>
        <p:nvSpPr>
          <p:cNvPr id="11" name="TextBox 10"/>
          <p:cNvSpPr txBox="1"/>
          <p:nvPr/>
        </p:nvSpPr>
        <p:spPr>
          <a:xfrm>
            <a:off x="4754880" y="3977639"/>
            <a:ext cx="2834640" cy="914400"/>
          </a:xfrm>
          <a:prstGeom prst="rect">
            <a:avLst/>
          </a:prstGeom>
          <a:noFill/>
        </p:spPr>
        <p:txBody>
          <a:bodyPr wrap="square" anchor="t" lIns="0" rIns="0" tIns="0" bIns="0">
            <a:spAutoFit/>
          </a:bodyPr>
          <a:lstStyle/>
          <a:p>
            <a:pPr algn="l">
              <a:lnSpc>
                <a:spcPct val="120000"/>
              </a:lnSpc>
              <a:spcAft>
                <a:spcPts val="400"/>
              </a:spcAft>
            </a:pPr>
            <a:r>
              <a:rPr sz="1500" b="0" i="0">
                <a:solidFill>
                  <a:srgbClr val="6F665A"/>
                </a:solidFill>
                <a:latin typeface="Segoe UI"/>
              </a:rPr>
              <a:t>that this work watches most closely</a:t>
            </a:r>
          </a:p>
        </p:txBody>
      </p:sp>
      <p:sp>
        <p:nvSpPr>
          <p:cNvPr id="12" name="Rectangle 11"/>
          <p:cNvSpPr/>
          <p:nvPr/>
        </p:nvSpPr>
        <p:spPr>
          <a:xfrm>
            <a:off x="8055864" y="2011680"/>
            <a:ext cx="3383280" cy="3108960"/>
          </a:xfrm>
          <a:prstGeom prst="rect">
            <a:avLst/>
          </a:prstGeom>
          <a:solidFill>
            <a:srgbClr val="FFF7EC"/>
          </a:solidFill>
          <a:ln w="12700">
            <a:solidFill>
              <a:srgbClr val="E2D6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55864" y="2011680"/>
            <a:ext cx="3383280" cy="128016"/>
          </a:xfrm>
          <a:prstGeom prst="rect">
            <a:avLst/>
          </a:prstGeom>
          <a:solidFill>
            <a:srgbClr val="D49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30184" y="2651760"/>
            <a:ext cx="2834640" cy="1188720"/>
          </a:xfrm>
          <a:prstGeom prst="rect">
            <a:avLst/>
          </a:prstGeom>
          <a:noFill/>
        </p:spPr>
        <p:txBody>
          <a:bodyPr wrap="square" anchor="t" lIns="0" rIns="0" tIns="0" bIns="0">
            <a:spAutoFit/>
          </a:bodyPr>
          <a:lstStyle/>
          <a:p>
            <a:pPr algn="l">
              <a:spcAft>
                <a:spcPts val="400"/>
              </a:spcAft>
            </a:pPr>
            <a:r>
              <a:rPr sz="5400" b="1" i="0">
                <a:solidFill>
                  <a:srgbClr val="D49A3F"/>
                </a:solidFill>
                <a:latin typeface="Georgia"/>
              </a:rPr>
              <a:t>2021</a:t>
            </a:r>
          </a:p>
        </p:txBody>
      </p:sp>
      <p:sp>
        <p:nvSpPr>
          <p:cNvPr id="15" name="TextBox 14"/>
          <p:cNvSpPr txBox="1"/>
          <p:nvPr/>
        </p:nvSpPr>
        <p:spPr>
          <a:xfrm>
            <a:off x="8348472" y="3977639"/>
            <a:ext cx="2834640" cy="914400"/>
          </a:xfrm>
          <a:prstGeom prst="rect">
            <a:avLst/>
          </a:prstGeom>
          <a:noFill/>
        </p:spPr>
        <p:txBody>
          <a:bodyPr wrap="square" anchor="t" lIns="0" rIns="0" tIns="0" bIns="0">
            <a:spAutoFit/>
          </a:bodyPr>
          <a:lstStyle/>
          <a:p>
            <a:pPr algn="l">
              <a:lnSpc>
                <a:spcPct val="120000"/>
              </a:lnSpc>
              <a:spcAft>
                <a:spcPts val="400"/>
              </a:spcAft>
            </a:pPr>
            <a:r>
              <a:rPr sz="1500" b="0" i="0">
                <a:solidFill>
                  <a:srgbClr val="6F665A"/>
                </a:solidFill>
                <a:latin typeface="Segoe UI"/>
              </a:rPr>
              <a:t>the year the peninsula woke again</a:t>
            </a:r>
          </a:p>
        </p:txBody>
      </p:sp>
      <p:sp>
        <p:nvSpPr>
          <p:cNvPr id="16" name="Rectangle 15"/>
          <p:cNvSpPr/>
          <p:nvPr/>
        </p:nvSpPr>
        <p:spPr>
          <a:xfrm>
            <a:off x="502920" y="6419088"/>
            <a:ext cx="292608" cy="41148"/>
          </a:xfrm>
          <a:prstGeom prst="rect">
            <a:avLst/>
          </a:prstGeom>
          <a:solidFill>
            <a:srgbClr val="B54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6327648"/>
            <a:ext cx="10607040" cy="365760"/>
          </a:xfrm>
          <a:prstGeom prst="rect">
            <a:avLst/>
          </a:prstGeom>
          <a:noFill/>
        </p:spPr>
        <p:txBody>
          <a:bodyPr wrap="square" anchor="t" lIns="0" rIns="0" tIns="0" bIns="0">
            <a:spAutoFit/>
          </a:bodyPr>
          <a:lstStyle/>
          <a:p>
            <a:pPr algn="l">
              <a:spcAft>
                <a:spcPts val="400"/>
              </a:spcAft>
            </a:pPr>
            <a:r>
              <a:rPr sz="900" b="0" i="0">
                <a:solidFill>
                  <a:srgbClr val="6F665A"/>
                </a:solidFill>
                <a:latin typeface="Segoe UI"/>
              </a:rPr>
              <a:t>Reading Iceland's restless ground  .  a public evening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C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040880" y="0"/>
            <a:ext cx="5150815" cy="6858000"/>
          </a:xfrm>
          <a:prstGeom prst="rect">
            <a:avLst/>
          </a:prstGeom>
          <a:solidFill>
            <a:srgbClr val="6D7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06640" y="2011680"/>
            <a:ext cx="4389120" cy="2743200"/>
          </a:xfrm>
          <a:prstGeom prst="rect">
            <a:avLst/>
          </a:prstGeom>
          <a:noFill/>
        </p:spPr>
        <p:txBody>
          <a:bodyPr wrap="square" anchor="t" lIns="0" rIns="0" tIns="0" bIns="0">
            <a:spAutoFit/>
          </a:bodyPr>
          <a:lstStyle/>
          <a:p>
            <a:pPr algn="l">
              <a:lnSpc>
                <a:spcPct val="115000"/>
              </a:lnSpc>
              <a:spcAft>
                <a:spcPts val="1000"/>
              </a:spcAft>
            </a:pPr>
            <a:r>
              <a:rPr sz="2600" b="1" i="0">
                <a:solidFill>
                  <a:srgbClr val="FFF7EC"/>
                </a:solidFill>
                <a:latin typeface="Georgia"/>
              </a:rPr>
              <a:t>The work is not the eruption.</a:t>
            </a:r>
          </a:p>
          <a:p>
            <a:pPr algn="l">
              <a:spcAft>
                <a:spcPts val="400"/>
              </a:spcAft>
            </a:pPr>
            <a:r>
              <a:rPr sz="1900" b="0" i="1">
                <a:solidFill>
                  <a:srgbClr val="E7EAD6"/>
                </a:solidFill>
                <a:latin typeface="Georgia"/>
              </a:rPr>
              <a:t>It is the long quiet, read carefully.</a:t>
            </a:r>
          </a:p>
        </p:txBody>
      </p:sp>
      <p:sp>
        <p:nvSpPr>
          <p:cNvPr id="5" name="TextBox 4"/>
          <p:cNvSpPr txBox="1"/>
          <p:nvPr/>
        </p:nvSpPr>
        <p:spPr>
          <a:xfrm>
            <a:off x="868680" y="1280160"/>
            <a:ext cx="5760720" cy="822960"/>
          </a:xfrm>
          <a:prstGeom prst="rect">
            <a:avLst/>
          </a:prstGeom>
          <a:noFill/>
        </p:spPr>
        <p:txBody>
          <a:bodyPr wrap="square" anchor="t" lIns="0" rIns="0" tIns="0" bIns="0">
            <a:spAutoFit/>
          </a:bodyPr>
          <a:lstStyle/>
          <a:p>
            <a:pPr algn="l">
              <a:lnSpc>
                <a:spcPct val="105000"/>
              </a:lnSpc>
              <a:spcAft>
                <a:spcPts val="400"/>
              </a:spcAft>
            </a:pPr>
            <a:r>
              <a:rPr sz="2700" b="1" i="0">
                <a:solidFill>
                  <a:srgbClr val="B5462A"/>
                </a:solidFill>
                <a:latin typeface="Georgia"/>
              </a:rPr>
              <a:t>What a volcano does between eruptions</a:t>
            </a:r>
          </a:p>
        </p:txBody>
      </p:sp>
      <p:sp>
        <p:nvSpPr>
          <p:cNvPr id="6" name="TextBox 5"/>
          <p:cNvSpPr txBox="1"/>
          <p:nvPr/>
        </p:nvSpPr>
        <p:spPr>
          <a:xfrm>
            <a:off x="868680" y="2743200"/>
            <a:ext cx="5760720" cy="2743200"/>
          </a:xfrm>
          <a:prstGeom prst="rect">
            <a:avLst/>
          </a:prstGeom>
          <a:noFill/>
        </p:spPr>
        <p:txBody>
          <a:bodyPr wrap="square" anchor="t" lIns="0" rIns="0" tIns="0" bIns="0">
            <a:spAutoFit/>
          </a:bodyPr>
          <a:lstStyle/>
          <a:p>
            <a:pPr algn="l">
              <a:lnSpc>
                <a:spcPct val="135000"/>
              </a:lnSpc>
              <a:spcAft>
                <a:spcPts val="1200"/>
              </a:spcAft>
            </a:pPr>
            <a:r>
              <a:rPr sz="1700" b="0" i="0">
                <a:solidFill>
                  <a:srgbClr val="2B2620"/>
                </a:solidFill>
                <a:latin typeface="Segoe UI"/>
              </a:rPr>
              <a:t>Most people picture a single dramatic morning. Those of us who watch volcanoes know them as decades of small changes in gas and ground.</a:t>
            </a:r>
          </a:p>
          <a:p>
            <a:pPr algn="l">
              <a:lnSpc>
                <a:spcPct val="135000"/>
              </a:lnSpc>
              <a:spcAft>
                <a:spcPts val="400"/>
              </a:spcAft>
            </a:pPr>
            <a:r>
              <a:rPr sz="1700" b="0" i="0">
                <a:solidFill>
                  <a:srgbClr val="6F665A"/>
                </a:solidFill>
                <a:latin typeface="Segoe UI"/>
              </a:rPr>
              <a:t>Read those changes carefully enough, and you can give a town the hours it needs. That is the unglamorous truth worth an evening.</a:t>
            </a:r>
          </a:p>
        </p:txBody>
      </p:sp>
      <p:sp>
        <p:nvSpPr>
          <p:cNvPr id="7" name="Rectangle 6"/>
          <p:cNvSpPr/>
          <p:nvPr/>
        </p:nvSpPr>
        <p:spPr>
          <a:xfrm>
            <a:off x="502920" y="6419088"/>
            <a:ext cx="292608" cy="41148"/>
          </a:xfrm>
          <a:prstGeom prst="rect">
            <a:avLst/>
          </a:prstGeom>
          <a:solidFill>
            <a:srgbClr val="B54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6327648"/>
            <a:ext cx="10607040" cy="365760"/>
          </a:xfrm>
          <a:prstGeom prst="rect">
            <a:avLst/>
          </a:prstGeom>
          <a:noFill/>
        </p:spPr>
        <p:txBody>
          <a:bodyPr wrap="square" anchor="t" lIns="0" rIns="0" tIns="0" bIns="0">
            <a:spAutoFit/>
          </a:bodyPr>
          <a:lstStyle/>
          <a:p>
            <a:pPr algn="l">
              <a:spcAft>
                <a:spcPts val="400"/>
              </a:spcAft>
            </a:pPr>
            <a:r>
              <a:rPr sz="900" b="0" i="0">
                <a:solidFill>
                  <a:srgbClr val="6F665A"/>
                </a:solidFill>
                <a:latin typeface="Segoe UI"/>
              </a:rPr>
              <a:t>Reading Iceland's restless ground  .  a public evening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C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640080"/>
            <a:ext cx="10058400" cy="822960"/>
          </a:xfrm>
          <a:prstGeom prst="rect">
            <a:avLst/>
          </a:prstGeom>
          <a:noFill/>
        </p:spPr>
        <p:txBody>
          <a:bodyPr wrap="square" anchor="t" lIns="0" rIns="0" tIns="0" bIns="0">
            <a:spAutoFit/>
          </a:bodyPr>
          <a:lstStyle/>
          <a:p>
            <a:pPr algn="l">
              <a:spcAft>
                <a:spcPts val="400"/>
              </a:spcAft>
            </a:pPr>
            <a:r>
              <a:rPr sz="3000" b="1" i="0">
                <a:solidFill>
                  <a:srgbClr val="B5462A"/>
                </a:solidFill>
                <a:latin typeface="Georgia"/>
              </a:rPr>
              <a:t>How we listen</a:t>
            </a:r>
          </a:p>
        </p:txBody>
      </p:sp>
      <p:sp>
        <p:nvSpPr>
          <p:cNvPr id="4" name="Rectangle 3"/>
          <p:cNvSpPr/>
          <p:nvPr/>
        </p:nvSpPr>
        <p:spPr>
          <a:xfrm>
            <a:off x="868680" y="1920240"/>
            <a:ext cx="3383280" cy="3383280"/>
          </a:xfrm>
          <a:prstGeom prst="rect">
            <a:avLst/>
          </a:prstGeom>
          <a:solidFill>
            <a:srgbClr val="FFF7EC"/>
          </a:solidFill>
          <a:ln w="12700">
            <a:solidFill>
              <a:srgbClr val="E2D6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1920240"/>
            <a:ext cx="3383280" cy="914400"/>
          </a:xfrm>
          <a:prstGeom prst="rect">
            <a:avLst/>
          </a:prstGeom>
          <a:solidFill>
            <a:srgbClr val="B54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2121408"/>
            <a:ext cx="2834640" cy="548640"/>
          </a:xfrm>
          <a:prstGeom prst="rect">
            <a:avLst/>
          </a:prstGeom>
          <a:noFill/>
        </p:spPr>
        <p:txBody>
          <a:bodyPr wrap="square" anchor="t" lIns="0" rIns="0" tIns="0" bIns="0">
            <a:spAutoFit/>
          </a:bodyPr>
          <a:lstStyle/>
          <a:p>
            <a:pPr algn="l">
              <a:spcAft>
                <a:spcPts val="400"/>
              </a:spcAft>
            </a:pPr>
            <a:r>
              <a:rPr sz="2200" b="1" i="0">
                <a:solidFill>
                  <a:srgbClr val="FFF7EC"/>
                </a:solidFill>
                <a:latin typeface="Georgia"/>
              </a:rPr>
              <a:t>Gas</a:t>
            </a:r>
          </a:p>
        </p:txBody>
      </p:sp>
      <p:sp>
        <p:nvSpPr>
          <p:cNvPr id="7" name="TextBox 6"/>
          <p:cNvSpPr txBox="1"/>
          <p:nvPr/>
        </p:nvSpPr>
        <p:spPr>
          <a:xfrm>
            <a:off x="1143000" y="3108960"/>
            <a:ext cx="2834640" cy="2011680"/>
          </a:xfrm>
          <a:prstGeom prst="rect">
            <a:avLst/>
          </a:prstGeom>
          <a:noFill/>
        </p:spPr>
        <p:txBody>
          <a:bodyPr wrap="square" anchor="t" lIns="0" rIns="0" tIns="0" bIns="0">
            <a:spAutoFit/>
          </a:bodyPr>
          <a:lstStyle/>
          <a:p>
            <a:pPr algn="l">
              <a:lnSpc>
                <a:spcPct val="130000"/>
              </a:lnSpc>
              <a:spcAft>
                <a:spcPts val="400"/>
              </a:spcAft>
            </a:pPr>
            <a:r>
              <a:rPr sz="1500" b="0" i="0">
                <a:solidFill>
                  <a:srgbClr val="6F665A"/>
                </a:solidFill>
                <a:latin typeface="Segoe UI"/>
              </a:rPr>
              <a:t>The breath of the mountain. We measure the gases magma releases as it nears the surface.</a:t>
            </a:r>
          </a:p>
        </p:txBody>
      </p:sp>
      <p:sp>
        <p:nvSpPr>
          <p:cNvPr id="8" name="Rectangle 7"/>
          <p:cNvSpPr/>
          <p:nvPr/>
        </p:nvSpPr>
        <p:spPr>
          <a:xfrm>
            <a:off x="4462272" y="1920240"/>
            <a:ext cx="3383280" cy="3383280"/>
          </a:xfrm>
          <a:prstGeom prst="rect">
            <a:avLst/>
          </a:prstGeom>
          <a:solidFill>
            <a:srgbClr val="FFF7EC"/>
          </a:solidFill>
          <a:ln w="12700">
            <a:solidFill>
              <a:srgbClr val="E2D6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462272" y="1920240"/>
            <a:ext cx="3383280" cy="914400"/>
          </a:xfrm>
          <a:prstGeom prst="rect">
            <a:avLst/>
          </a:prstGeom>
          <a:solidFill>
            <a:srgbClr val="6D7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36592" y="2121408"/>
            <a:ext cx="2834640" cy="548640"/>
          </a:xfrm>
          <a:prstGeom prst="rect">
            <a:avLst/>
          </a:prstGeom>
          <a:noFill/>
        </p:spPr>
        <p:txBody>
          <a:bodyPr wrap="square" anchor="t" lIns="0" rIns="0" tIns="0" bIns="0">
            <a:spAutoFit/>
          </a:bodyPr>
          <a:lstStyle/>
          <a:p>
            <a:pPr algn="l">
              <a:spcAft>
                <a:spcPts val="400"/>
              </a:spcAft>
            </a:pPr>
            <a:r>
              <a:rPr sz="2200" b="1" i="0">
                <a:solidFill>
                  <a:srgbClr val="FFF7EC"/>
                </a:solidFill>
                <a:latin typeface="Georgia"/>
              </a:rPr>
              <a:t>Ground</a:t>
            </a:r>
          </a:p>
        </p:txBody>
      </p:sp>
      <p:sp>
        <p:nvSpPr>
          <p:cNvPr id="11" name="TextBox 10"/>
          <p:cNvSpPr txBox="1"/>
          <p:nvPr/>
        </p:nvSpPr>
        <p:spPr>
          <a:xfrm>
            <a:off x="4736592" y="3108960"/>
            <a:ext cx="2834640" cy="2011680"/>
          </a:xfrm>
          <a:prstGeom prst="rect">
            <a:avLst/>
          </a:prstGeom>
          <a:noFill/>
        </p:spPr>
        <p:txBody>
          <a:bodyPr wrap="square" anchor="t" lIns="0" rIns="0" tIns="0" bIns="0">
            <a:spAutoFit/>
          </a:bodyPr>
          <a:lstStyle/>
          <a:p>
            <a:pPr algn="l">
              <a:lnSpc>
                <a:spcPct val="130000"/>
              </a:lnSpc>
              <a:spcAft>
                <a:spcPts val="400"/>
              </a:spcAft>
            </a:pPr>
            <a:r>
              <a:rPr sz="1500" b="0" i="0">
                <a:solidFill>
                  <a:srgbClr val="6F665A"/>
                </a:solidFill>
                <a:latin typeface="Segoe UI"/>
              </a:rPr>
              <a:t>Tiny rises and tilts as magma gathers, measured to the millimetre.</a:t>
            </a:r>
          </a:p>
        </p:txBody>
      </p:sp>
      <p:sp>
        <p:nvSpPr>
          <p:cNvPr id="12" name="Rectangle 11"/>
          <p:cNvSpPr/>
          <p:nvPr/>
        </p:nvSpPr>
        <p:spPr>
          <a:xfrm>
            <a:off x="8055864" y="1920240"/>
            <a:ext cx="3383280" cy="3383280"/>
          </a:xfrm>
          <a:prstGeom prst="rect">
            <a:avLst/>
          </a:prstGeom>
          <a:solidFill>
            <a:srgbClr val="FFF7EC"/>
          </a:solidFill>
          <a:ln w="12700">
            <a:solidFill>
              <a:srgbClr val="E2D6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55864" y="1920240"/>
            <a:ext cx="3383280" cy="914400"/>
          </a:xfrm>
          <a:prstGeom prst="rect">
            <a:avLst/>
          </a:prstGeom>
          <a:solidFill>
            <a:srgbClr val="3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30184" y="2121408"/>
            <a:ext cx="2834640" cy="548640"/>
          </a:xfrm>
          <a:prstGeom prst="rect">
            <a:avLst/>
          </a:prstGeom>
          <a:noFill/>
        </p:spPr>
        <p:txBody>
          <a:bodyPr wrap="square" anchor="t" lIns="0" rIns="0" tIns="0" bIns="0">
            <a:spAutoFit/>
          </a:bodyPr>
          <a:lstStyle/>
          <a:p>
            <a:pPr algn="l">
              <a:spcAft>
                <a:spcPts val="400"/>
              </a:spcAft>
            </a:pPr>
            <a:r>
              <a:rPr sz="2200" b="1" i="0">
                <a:solidFill>
                  <a:srgbClr val="FFF7EC"/>
                </a:solidFill>
                <a:latin typeface="Georgia"/>
              </a:rPr>
              <a:t>Ice</a:t>
            </a:r>
          </a:p>
        </p:txBody>
      </p:sp>
      <p:sp>
        <p:nvSpPr>
          <p:cNvPr id="15" name="TextBox 14"/>
          <p:cNvSpPr txBox="1"/>
          <p:nvPr/>
        </p:nvSpPr>
        <p:spPr>
          <a:xfrm>
            <a:off x="8330184" y="3108960"/>
            <a:ext cx="2834640" cy="2011680"/>
          </a:xfrm>
          <a:prstGeom prst="rect">
            <a:avLst/>
          </a:prstGeom>
          <a:noFill/>
        </p:spPr>
        <p:txBody>
          <a:bodyPr wrap="square" anchor="t" lIns="0" rIns="0" tIns="0" bIns="0">
            <a:spAutoFit/>
          </a:bodyPr>
          <a:lstStyle/>
          <a:p>
            <a:pPr algn="l">
              <a:lnSpc>
                <a:spcPct val="130000"/>
              </a:lnSpc>
              <a:spcAft>
                <a:spcPts val="400"/>
              </a:spcAft>
            </a:pPr>
            <a:r>
              <a:rPr sz="1500" b="0" i="0">
                <a:solidFill>
                  <a:srgbClr val="6F665A"/>
                </a:solidFill>
                <a:latin typeface="Segoe UI"/>
              </a:rPr>
              <a:t>On glacier-capped systems, melt and flooding add a second clock to watch.</a:t>
            </a:r>
          </a:p>
        </p:txBody>
      </p:sp>
      <p:sp>
        <p:nvSpPr>
          <p:cNvPr id="16" name="Rectangle 15"/>
          <p:cNvSpPr/>
          <p:nvPr/>
        </p:nvSpPr>
        <p:spPr>
          <a:xfrm>
            <a:off x="502920" y="6419088"/>
            <a:ext cx="292608" cy="41148"/>
          </a:xfrm>
          <a:prstGeom prst="rect">
            <a:avLst/>
          </a:prstGeom>
          <a:solidFill>
            <a:srgbClr val="B54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6327648"/>
            <a:ext cx="10607040" cy="365760"/>
          </a:xfrm>
          <a:prstGeom prst="rect">
            <a:avLst/>
          </a:prstGeom>
          <a:noFill/>
        </p:spPr>
        <p:txBody>
          <a:bodyPr wrap="square" anchor="t" lIns="0" rIns="0" tIns="0" bIns="0">
            <a:spAutoFit/>
          </a:bodyPr>
          <a:lstStyle/>
          <a:p>
            <a:pPr algn="l">
              <a:spcAft>
                <a:spcPts val="400"/>
              </a:spcAft>
            </a:pPr>
            <a:r>
              <a:rPr sz="900" b="0" i="0">
                <a:solidFill>
                  <a:srgbClr val="6F665A"/>
                </a:solidFill>
                <a:latin typeface="Segoe UI"/>
              </a:rPr>
              <a:t>Reading Iceland's restless ground  .  a public evening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A22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822960"/>
            <a:ext cx="10058400" cy="548640"/>
          </a:xfrm>
          <a:prstGeom prst="rect">
            <a:avLst/>
          </a:prstGeom>
          <a:noFill/>
        </p:spPr>
        <p:txBody>
          <a:bodyPr wrap="square" anchor="t" lIns="0" rIns="0" tIns="0" bIns="0">
            <a:spAutoFit/>
          </a:bodyPr>
          <a:lstStyle/>
          <a:p>
            <a:pPr algn="l">
              <a:spcAft>
                <a:spcPts val="400"/>
              </a:spcAft>
            </a:pPr>
            <a:r>
              <a:rPr sz="1400" b="1" i="0" spc="350">
                <a:solidFill>
                  <a:srgbClr val="D49A3F"/>
                </a:solidFill>
                <a:latin typeface="Segoe UI"/>
              </a:rPr>
              <a:t>A STORY</a:t>
            </a:r>
          </a:p>
        </p:txBody>
      </p:sp>
      <p:sp>
        <p:nvSpPr>
          <p:cNvPr id="4" name="TextBox 3"/>
          <p:cNvSpPr txBox="1"/>
          <p:nvPr/>
        </p:nvSpPr>
        <p:spPr>
          <a:xfrm>
            <a:off x="841248" y="1463040"/>
            <a:ext cx="10424160" cy="1280160"/>
          </a:xfrm>
          <a:prstGeom prst="rect">
            <a:avLst/>
          </a:prstGeom>
          <a:noFill/>
        </p:spPr>
        <p:txBody>
          <a:bodyPr wrap="square" anchor="t" lIns="0" rIns="0" tIns="0" bIns="0">
            <a:spAutoFit/>
          </a:bodyPr>
          <a:lstStyle/>
          <a:p>
            <a:pPr algn="l">
              <a:spcAft>
                <a:spcPts val="400"/>
              </a:spcAft>
            </a:pPr>
            <a:r>
              <a:rPr sz="3400" b="1" i="0">
                <a:solidFill>
                  <a:srgbClr val="FFF7EC"/>
                </a:solidFill>
                <a:latin typeface="Georgia"/>
              </a:rPr>
              <a:t>The morning the peninsula woke</a:t>
            </a:r>
          </a:p>
        </p:txBody>
      </p:sp>
      <p:sp>
        <p:nvSpPr>
          <p:cNvPr id="5" name="TextBox 4"/>
          <p:cNvSpPr txBox="1"/>
          <p:nvPr/>
        </p:nvSpPr>
        <p:spPr>
          <a:xfrm>
            <a:off x="868680" y="2926080"/>
            <a:ext cx="10332720" cy="2743200"/>
          </a:xfrm>
          <a:prstGeom prst="rect">
            <a:avLst/>
          </a:prstGeom>
          <a:noFill/>
        </p:spPr>
        <p:txBody>
          <a:bodyPr wrap="square" anchor="t" lIns="0" rIns="0" tIns="0" bIns="0">
            <a:spAutoFit/>
          </a:bodyPr>
          <a:lstStyle/>
          <a:p>
            <a:pPr algn="l">
              <a:lnSpc>
                <a:spcPct val="140000"/>
              </a:lnSpc>
              <a:spcAft>
                <a:spcPts val="1200"/>
              </a:spcAft>
            </a:pPr>
            <a:r>
              <a:rPr sz="1900" b="0" i="0">
                <a:solidFill>
                  <a:srgbClr val="EAD7C8"/>
                </a:solidFill>
                <a:latin typeface="Segoe UI"/>
              </a:rPr>
              <a:t>After centuries of silence, the ground near Grindavik began to shift, then to open. For the monitoring side, the drama everyone photographed was the part we most hoped never to need.</a:t>
            </a:r>
          </a:p>
          <a:p>
            <a:pPr algn="l">
              <a:lnSpc>
                <a:spcPct val="135000"/>
              </a:lnSpc>
              <a:spcAft>
                <a:spcPts val="400"/>
              </a:spcAft>
            </a:pPr>
            <a:r>
              <a:rPr sz="1800" b="0" i="1">
                <a:solidFill>
                  <a:srgbClr val="D49A3F"/>
                </a:solidFill>
                <a:latin typeface="Segoe UI"/>
              </a:rPr>
              <a:t>Our job was quieter: read the gas, read the ground, and say clearly what we knew and what we did not.</a:t>
            </a:r>
          </a:p>
        </p:txBody>
      </p:sp>
      <p:sp>
        <p:nvSpPr>
          <p:cNvPr id="6" name="Rectangle 5"/>
          <p:cNvSpPr/>
          <p:nvPr/>
        </p:nvSpPr>
        <p:spPr>
          <a:xfrm>
            <a:off x="502920" y="6419088"/>
            <a:ext cx="292608" cy="41148"/>
          </a:xfrm>
          <a:prstGeom prst="rect">
            <a:avLst/>
          </a:prstGeom>
          <a:solidFill>
            <a:srgbClr val="D49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6327648"/>
            <a:ext cx="10607040" cy="365760"/>
          </a:xfrm>
          <a:prstGeom prst="rect">
            <a:avLst/>
          </a:prstGeom>
          <a:noFill/>
        </p:spPr>
        <p:txBody>
          <a:bodyPr wrap="square" anchor="t" lIns="0" rIns="0" tIns="0" bIns="0">
            <a:spAutoFit/>
          </a:bodyPr>
          <a:lstStyle/>
          <a:p>
            <a:pPr algn="l">
              <a:spcAft>
                <a:spcPts val="400"/>
              </a:spcAft>
            </a:pPr>
            <a:r>
              <a:rPr sz="900" b="0" i="0">
                <a:solidFill>
                  <a:srgbClr val="A98A78"/>
                </a:solidFill>
                <a:latin typeface="Segoe UI"/>
              </a:rPr>
              <a:t>Reading Iceland's restless ground  .  a public evening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B54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4389120"/>
            <a:ext cx="14630400" cy="3657600"/>
          </a:xfrm>
          <a:prstGeom prst="rect">
            <a:avLst/>
          </a:prstGeom>
          <a:solidFill>
            <a:srgbClr val="9A3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1463040"/>
            <a:ext cx="10058400" cy="548640"/>
          </a:xfrm>
          <a:prstGeom prst="rect">
            <a:avLst/>
          </a:prstGeom>
          <a:noFill/>
        </p:spPr>
        <p:txBody>
          <a:bodyPr wrap="square" anchor="t" lIns="0" rIns="0" tIns="0" bIns="0">
            <a:spAutoFit/>
          </a:bodyPr>
          <a:lstStyle/>
          <a:p>
            <a:pPr algn="l">
              <a:spcAft>
                <a:spcPts val="400"/>
              </a:spcAft>
            </a:pPr>
            <a:r>
              <a:rPr sz="1400" b="1" i="0" spc="350">
                <a:solidFill>
                  <a:srgbClr val="3A1A10"/>
                </a:solidFill>
                <a:latin typeface="Segoe UI"/>
              </a:rPr>
              <a:t>WHY IT MATTERS</a:t>
            </a:r>
          </a:p>
        </p:txBody>
      </p:sp>
      <p:sp>
        <p:nvSpPr>
          <p:cNvPr id="5" name="TextBox 4"/>
          <p:cNvSpPr txBox="1"/>
          <p:nvPr/>
        </p:nvSpPr>
        <p:spPr>
          <a:xfrm>
            <a:off x="914400" y="2194560"/>
            <a:ext cx="10332720" cy="2377440"/>
          </a:xfrm>
          <a:prstGeom prst="rect">
            <a:avLst/>
          </a:prstGeom>
          <a:noFill/>
        </p:spPr>
        <p:txBody>
          <a:bodyPr wrap="square" anchor="t" lIns="0" rIns="0" tIns="0" bIns="0">
            <a:spAutoFit/>
          </a:bodyPr>
          <a:lstStyle/>
          <a:p>
            <a:pPr algn="l">
              <a:lnSpc>
                <a:spcPct val="115000"/>
              </a:lnSpc>
              <a:spcAft>
                <a:spcPts val="400"/>
              </a:spcAft>
            </a:pPr>
            <a:r>
              <a:rPr sz="3200" b="1" i="0">
                <a:solidFill>
                  <a:srgbClr val="FFF7EC"/>
                </a:solidFill>
                <a:latin typeface="Georgia"/>
              </a:rPr>
              <a:t>Behind every hazard map are towns, flights, and families.</a:t>
            </a:r>
          </a:p>
        </p:txBody>
      </p:sp>
      <p:sp>
        <p:nvSpPr>
          <p:cNvPr id="6" name="TextBox 5"/>
          <p:cNvSpPr txBox="1"/>
          <p:nvPr/>
        </p:nvSpPr>
        <p:spPr>
          <a:xfrm>
            <a:off x="960120" y="4846320"/>
            <a:ext cx="10058400" cy="914400"/>
          </a:xfrm>
          <a:prstGeom prst="rect">
            <a:avLst/>
          </a:prstGeom>
          <a:noFill/>
        </p:spPr>
        <p:txBody>
          <a:bodyPr wrap="square" anchor="t" lIns="0" rIns="0" tIns="0" bIns="0">
            <a:spAutoFit/>
          </a:bodyPr>
          <a:lstStyle/>
          <a:p>
            <a:pPr algn="l">
              <a:spcAft>
                <a:spcPts val="400"/>
              </a:spcAft>
            </a:pPr>
            <a:r>
              <a:rPr sz="1700" b="0" i="1">
                <a:solidFill>
                  <a:srgbClr val="F4D9CB"/>
                </a:solidFill>
                <a:latin typeface="Segoe UI"/>
              </a:rPr>
              <a:t>Clear communication, given in time, is what turns a measurement into a margin of safety.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C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572000"/>
            <a:ext cx="12191695" cy="2286000"/>
          </a:xfrm>
          <a:prstGeom prst="rect">
            <a:avLst/>
          </a:prstGeom>
          <a:solidFill>
            <a:srgbClr val="6D7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554480"/>
            <a:ext cx="10058400" cy="1371600"/>
          </a:xfrm>
          <a:prstGeom prst="rect">
            <a:avLst/>
          </a:prstGeom>
          <a:noFill/>
        </p:spPr>
        <p:txBody>
          <a:bodyPr wrap="square" anchor="t" lIns="0" rIns="0" tIns="0" bIns="0">
            <a:spAutoFit/>
          </a:bodyPr>
          <a:lstStyle/>
          <a:p>
            <a:pPr algn="l">
              <a:spcAft>
                <a:spcPts val="800"/>
              </a:spcAft>
            </a:pPr>
            <a:r>
              <a:rPr sz="5000" b="1" i="0">
                <a:solidFill>
                  <a:srgbClr val="B5462A"/>
                </a:solidFill>
                <a:latin typeface="Georgia"/>
              </a:rPr>
              <a:t>Thank you</a:t>
            </a:r>
          </a:p>
          <a:p>
            <a:pPr algn="l">
              <a:spcAft>
                <a:spcPts val="400"/>
              </a:spcAft>
            </a:pPr>
            <a:r>
              <a:rPr sz="2000" b="0" i="1">
                <a:solidFill>
                  <a:srgbClr val="6F665A"/>
                </a:solidFill>
                <a:latin typeface="Georgia"/>
              </a:rPr>
              <a:t>Questions are the best part of the evening.</a:t>
            </a:r>
          </a:p>
        </p:txBody>
      </p:sp>
      <p:sp>
        <p:nvSpPr>
          <p:cNvPr id="5" name="TextBox 4"/>
          <p:cNvSpPr txBox="1"/>
          <p:nvPr/>
        </p:nvSpPr>
        <p:spPr>
          <a:xfrm>
            <a:off x="868680" y="4937760"/>
            <a:ext cx="10424160" cy="1463040"/>
          </a:xfrm>
          <a:prstGeom prst="rect">
            <a:avLst/>
          </a:prstGeom>
          <a:noFill/>
        </p:spPr>
        <p:txBody>
          <a:bodyPr wrap="square" anchor="t" lIns="0" rIns="0" tIns="0" bIns="0">
            <a:spAutoFit/>
          </a:bodyPr>
          <a:lstStyle/>
          <a:p>
            <a:pPr algn="l">
              <a:spcAft>
                <a:spcPts val="400"/>
              </a:spcAft>
            </a:pPr>
            <a:r>
              <a:rPr sz="1600" b="1" i="0">
                <a:solidFill>
                  <a:srgbClr val="FFF7EC"/>
                </a:solidFill>
                <a:latin typeface="Segoe UI"/>
              </a:rPr>
              <a:t>Follow the writing and field photography</a:t>
            </a:r>
          </a:p>
          <a:p>
            <a:pPr algn="l">
              <a:spcAft>
                <a:spcPts val="400"/>
              </a:spcAft>
            </a:pPr>
            <a:r>
              <a:rPr sz="1500" b="0" i="0">
                <a:solidFill>
                  <a:srgbClr val="FFF7EC"/>
                </a:solidFill>
                <a:latin typeface="Segoe UI"/>
              </a:rPr>
              <a:t>Reading the Mountain, a book in progress  .  Martha Glass, Reykjavik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