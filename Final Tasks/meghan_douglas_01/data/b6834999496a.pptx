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hours</c:v>
                </c:pt>
              </c:strCache>
            </c:strRef>
          </c:tx>
          <c:spPr>
            <a:solidFill>
              <a:srgbClr val="0F7B8A"/>
            </a:solidFill>
          </c:spPr>
          <c:cat>
            <c:strRef>
              <c:f>Sheet1!$A$2:$A$6</c:f>
              <c:strCache>
                <c:ptCount val="5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2710</c:v>
                </c:pt>
                <c:pt idx="1">
                  <c:v>2780</c:v>
                </c:pt>
                <c:pt idx="2">
                  <c:v>2855</c:v>
                </c:pt>
                <c:pt idx="3">
                  <c:v>2930</c:v>
                </c:pt>
                <c:pt idx="4">
                  <c:v>3000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55448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49039"/>
            <a:ext cx="12191695" cy="1097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CHT Certification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4EFE6"/>
                </a:solidFill>
                <a:latin typeface="Calibri"/>
              </a:rPr>
              <a:t>From 2,800 logged hours to the January 9, 2027 exam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07A5F"/>
                </a:solidFill>
                <a:latin typeface="Calibri"/>
              </a:rPr>
              <a:t>Meghan Yuki Douglas, OTR/L   |   Pacific Rehabilitation Associates, Honolulu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400">
                <a:solidFill>
                  <a:srgbClr val="0E3A40"/>
                </a:solidFill>
                <a:latin typeface="Calibri"/>
              </a:rPr>
              <a:t>1. Where the hour count stands today</a:t>
            </a: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0E3A40"/>
                </a:solidFill>
                <a:latin typeface="Calibri"/>
              </a:rPr>
              <a:t>2. The supervised and solo split</a:t>
            </a: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0E3A40"/>
                </a:solidFill>
                <a:latin typeface="Calibri"/>
              </a:rPr>
              <a:t>3. Domain readiness before the practice exam</a:t>
            </a: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0E3A40"/>
                </a:solidFill>
                <a:latin typeface="Calibri"/>
              </a:rPr>
              <a:t>4. Study cadence through the fall</a:t>
            </a: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0E3A40"/>
                </a:solidFill>
                <a:latin typeface="Calibri"/>
              </a:rPr>
              <a:t>5. Timeline to January 9, 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Hour count snapshot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54480"/>
          <a:ext cx="6858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743200"/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E3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E3A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E3A40"/>
                          </a:solidFill>
                        </a:rPr>
                        <a:t>Hours logged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E3A40"/>
                          </a:solidFill>
                        </a:rPr>
                        <a:t>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E3A40"/>
                          </a:solidFill>
                        </a:rPr>
                        <a:t>Hours required</a:t>
                      </a:r>
                    </a:p>
                  </a:txBody>
                  <a:tcPr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E3A40"/>
                          </a:solidFill>
                        </a:rPr>
                        <a:t>4,000</a:t>
                      </a:r>
                    </a:p>
                  </a:txBody>
                  <a:tcPr>
                    <a:solidFill>
                      <a:srgbClr val="E6EE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E3A40"/>
                          </a:solidFill>
                        </a:rPr>
                        <a:t>Hours remaining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E3A40"/>
                          </a:solidFill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E3A40"/>
                          </a:solidFill>
                        </a:rPr>
                        <a:t>Weekly hand therapy pace</a:t>
                      </a:r>
                    </a:p>
                  </a:txBody>
                  <a:tcPr>
                    <a:solidFill>
                      <a:srgbClr val="E6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E3A40"/>
                          </a:solidFill>
                        </a:rPr>
                        <a:t>22 hours</a:t>
                      </a:r>
                    </a:p>
                  </a:txBody>
                  <a:tcPr>
                    <a:solidFill>
                      <a:srgbClr val="E6EE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E3A40"/>
                          </a:solidFill>
                        </a:rPr>
                        <a:t>Practice exam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E3A40"/>
                          </a:solidFill>
                        </a:rPr>
                        <a:t>November 7,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828800"/>
            <a:ext cx="3108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07A5F"/>
                </a:solidFill>
                <a:latin typeface="Calibri"/>
              </a:rPr>
              <a:t>70 percent of the</a:t>
            </a:r>
          </a:p>
          <a:p>
            <a:pPr algn="l"/>
            <a:r>
              <a:rPr sz="2200" b="1">
                <a:solidFill>
                  <a:srgbClr val="E07A5F"/>
                </a:solidFill>
                <a:latin typeface="Calibri"/>
              </a:rPr>
              <a:t>practice requirement</a:t>
            </a:r>
          </a:p>
          <a:p>
            <a:pPr algn="l"/>
            <a:r>
              <a:rPr sz="2200" b="1">
                <a:solidFill>
                  <a:srgbClr val="E07A5F"/>
                </a:solidFill>
                <a:latin typeface="Calibri"/>
              </a:rPr>
              <a:t>is complete.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Hours logged by month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463040"/>
          <a:ext cx="10058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Study cadence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200">
                <a:solidFill>
                  <a:srgbClr val="0E3A40"/>
                </a:solidFill>
                <a:latin typeface="Calibri"/>
              </a:rPr>
              <a:t>Thursday evenings 6:00 to 8:00 PM, online hand therapy review course</a:t>
            </a:r>
          </a:p>
          <a:p>
            <a:pPr lvl="1">
              <a:spcAft>
                <a:spcPts val="700"/>
              </a:spcAft>
            </a:pPr>
            <a:r>
              <a:rPr sz="2200">
                <a:solidFill>
                  <a:srgbClr val="0E3A40"/>
                </a:solidFill>
                <a:latin typeface="Calibri"/>
              </a:rPr>
              <a:t>Module 7 complete, flexor tendon focus</a:t>
            </a:r>
          </a:p>
          <a:p>
            <a:pPr>
              <a:spcAft>
                <a:spcPts val="700"/>
              </a:spcAft>
            </a:pPr>
            <a:r>
              <a:rPr sz="2200">
                <a:solidFill>
                  <a:srgbClr val="0E3A40"/>
                </a:solidFill>
                <a:latin typeface="Calibri"/>
              </a:rPr>
              <a:t>Weekly 1:1 with Dr. Park, Thursdays 4:00 PM, 30 minutes</a:t>
            </a:r>
          </a:p>
          <a:p>
            <a:pPr lvl="1">
              <a:spcAft>
                <a:spcPts val="700"/>
              </a:spcAft>
            </a:pPr>
            <a:r>
              <a:rPr sz="2200">
                <a:solidFill>
                  <a:srgbClr val="0E3A40"/>
                </a:solidFill>
                <a:latin typeface="Calibri"/>
              </a:rPr>
              <a:t>Cosign solo sessions so they count toward the log</a:t>
            </a:r>
          </a:p>
          <a:p>
            <a:pPr>
              <a:spcAft>
                <a:spcPts val="700"/>
              </a:spcAft>
            </a:pPr>
            <a:r>
              <a:rPr sz="2200">
                <a:solidFill>
                  <a:srgbClr val="0E3A40"/>
                </a:solidFill>
                <a:latin typeface="Calibri"/>
              </a:rPr>
              <a:t>Drill weakest domains after the November 7 practice exam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097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The math is the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4EFE6"/>
                </a:solidFill>
                <a:latin typeface="Calibri"/>
              </a:rPr>
              <a:t>Steady pace, log every hour, exam day January 9, 2027.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07A5F"/>
                </a:solidFill>
                <a:latin typeface="Calibri"/>
              </a:rPr>
              <a:t>Prepared by Meghan Douglas, OTR/L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CHT Certification Roadmap</dc:title>
  <dc:subject/>
  <dc:creator>Meghan Yuki Douglas</dc:creator>
  <cp:keywords/>
  <dc:description/>
  <cp:lastModifiedBy/>
  <cp:revision>1</cp:revision>
  <dcterms:created xsi:type="dcterms:W3CDTF">2026-02-03T09:15:00Z</dcterms:created>
  <dcterms:modified xsi:type="dcterms:W3CDTF">2026-02-03T09:15:00Z</dcterms:modified>
  <cp:category/>
</cp:coreProperties>
</file>