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Composite flexion degrees</c:v>
                </c:pt>
              </c:strCache>
            </c:strRef>
          </c:tx>
          <c:spPr>
            <a:ln w="31750">
              <a:solidFill>
                <a:srgbClr val="D98BA6"/>
              </a:solidFill>
            </a:ln>
          </c:spPr>
          <c:cat>
            <c:strRef>
              <c:f>Sheet1!$A$2:$A$6</c:f>
              <c:strCache>
                <c:ptCount val="5"/>
                <c:pt idx="0">
                  <c:v>Wk2</c:v>
                </c:pt>
                <c:pt idx="1">
                  <c:v>Wk4</c:v>
                </c:pt>
                <c:pt idx="2">
                  <c:v>Wk6</c:v>
                </c:pt>
                <c:pt idx="3">
                  <c:v>Wk8</c:v>
                </c:pt>
                <c:pt idx="4">
                  <c:v>Wk10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165</c:v>
                </c:pt>
                <c:pt idx="2">
                  <c:v>205</c:v>
                </c:pt>
                <c:pt idx="3">
                  <c:v>235</c:v>
                </c:pt>
                <c:pt idx="4">
                  <c:v>255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1828800"/>
          </a:xfrm>
          <a:prstGeom prst="rect">
            <a:avLst/>
          </a:prstGeom>
          <a:solidFill>
            <a:srgbClr val="3F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4028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Hand Therapy Case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546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DF7F0"/>
                </a:solidFill>
                <a:latin typeface="Calibri"/>
              </a:rPr>
              <a:t>Flexor tendon protocols, protective phase to active motion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F7D6E"/>
                </a:solidFill>
                <a:latin typeface="Calibri"/>
              </a:rPr>
              <a:t>Meghan Douglas, OTR/L   |   Outpatient, Pacific Rehabilitation Associates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F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400">
                <a:solidFill>
                  <a:srgbClr val="352B30"/>
                </a:solidFill>
                <a:latin typeface="Calibri"/>
              </a:rPr>
              <a:t>Caseload mix this week</a:t>
            </a:r>
          </a:p>
          <a:p>
            <a:pPr>
              <a:spcAft>
                <a:spcPts val="700"/>
              </a:spcAft>
            </a:pPr>
            <a:r>
              <a:rPr sz="2400">
                <a:solidFill>
                  <a:srgbClr val="352B30"/>
                </a:solidFill>
                <a:latin typeface="Calibri"/>
              </a:rPr>
              <a:t>Flexor tendon staging</a:t>
            </a:r>
          </a:p>
          <a:p>
            <a:pPr>
              <a:spcAft>
                <a:spcPts val="700"/>
              </a:spcAft>
            </a:pPr>
            <a:r>
              <a:rPr sz="2400">
                <a:solidFill>
                  <a:srgbClr val="352B30"/>
                </a:solidFill>
                <a:latin typeface="Calibri"/>
              </a:rPr>
              <a:t>Stroke recovery plateau</a:t>
            </a:r>
          </a:p>
          <a:p>
            <a:pPr>
              <a:spcAft>
                <a:spcPts val="700"/>
              </a:spcAft>
            </a:pPr>
            <a:r>
              <a:rPr sz="2400">
                <a:solidFill>
                  <a:srgbClr val="352B30"/>
                </a:solidFill>
                <a:latin typeface="Calibri"/>
              </a:rPr>
              <a:t>Outcome measures</a:t>
            </a:r>
          </a:p>
          <a:p>
            <a:pPr>
              <a:spcAft>
                <a:spcPts val="700"/>
              </a:spcAft>
            </a:pPr>
            <a:r>
              <a:rPr sz="2400">
                <a:solidFill>
                  <a:srgbClr val="352B30"/>
                </a:solidFill>
                <a:latin typeface="Calibri"/>
              </a:rPr>
              <a:t>Plan for the 1:1 with Dr. Park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F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Caseload mix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554480"/>
          <a:ext cx="9144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65836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3F7D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Patients</a:t>
                      </a:r>
                    </a:p>
                  </a:txBody>
                  <a:tcPr>
                    <a:solidFill>
                      <a:srgbClr val="3F7D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3F7D6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52B30"/>
                          </a:solidFill>
                        </a:rPr>
                        <a:t>Post surgical hand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52B3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52B30"/>
                          </a:solidFill>
                        </a:rPr>
                        <a:t>Protective to 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52B30"/>
                          </a:solidFill>
                        </a:rPr>
                        <a:t>Stroke recovery</a:t>
                      </a:r>
                    </a:p>
                  </a:txBody>
                  <a:tcPr>
                    <a:solidFill>
                      <a:srgbClr val="F1E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52B3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1E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52B30"/>
                          </a:solidFill>
                        </a:rPr>
                        <a:t>Plateau, home program</a:t>
                      </a:r>
                    </a:p>
                  </a:txBody>
                  <a:tcPr>
                    <a:solidFill>
                      <a:srgbClr val="F1E7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52B30"/>
                          </a:solidFill>
                        </a:rPr>
                        <a:t>Workplace injury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52B3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52B30"/>
                          </a:solidFill>
                        </a:rPr>
                        <a:t>New referral, 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52B30"/>
                          </a:solidFill>
                        </a:rPr>
                        <a:t>Nerve compression</a:t>
                      </a:r>
                    </a:p>
                  </a:txBody>
                  <a:tcPr>
                    <a:solidFill>
                      <a:srgbClr val="F1E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52B3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1E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52B30"/>
                          </a:solidFill>
                        </a:rPr>
                        <a:t>Conservative</a:t>
                      </a:r>
                    </a:p>
                  </a:txBody>
                  <a:tcPr>
                    <a:solidFill>
                      <a:srgbClr val="F1E7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F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Active motion gains, sample case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463040"/>
          <a:ext cx="100584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F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Plan for the 1:1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200">
                <a:solidFill>
                  <a:srgbClr val="352B30"/>
                </a:solidFill>
                <a:latin typeface="Calibri"/>
              </a:rPr>
              <a:t>Move two flexor tendon cases to active motion</a:t>
            </a:r>
          </a:p>
          <a:p>
            <a:pPr>
              <a:spcAft>
                <a:spcPts val="700"/>
              </a:spcAft>
            </a:pPr>
            <a:r>
              <a:rPr sz="2200">
                <a:solidFill>
                  <a:srgbClr val="352B30"/>
                </a:solidFill>
                <a:latin typeface="Calibri"/>
              </a:rPr>
              <a:t>Discuss home program changes for the plateauing stroke patient</a:t>
            </a:r>
          </a:p>
          <a:p>
            <a:pPr>
              <a:spcAft>
                <a:spcPts val="700"/>
              </a:spcAft>
            </a:pPr>
            <a:r>
              <a:rPr sz="2200">
                <a:solidFill>
                  <a:srgbClr val="352B30"/>
                </a:solidFill>
                <a:latin typeface="Calibri"/>
              </a:rPr>
              <a:t>Confirm supervised versus solo split with Dr. Park</a:t>
            </a:r>
          </a:p>
          <a:p>
            <a:pPr lvl="1">
              <a:spcAft>
                <a:spcPts val="700"/>
              </a:spcAft>
            </a:pPr>
            <a:r>
              <a:rPr sz="2200">
                <a:solidFill>
                  <a:srgbClr val="352B30"/>
                </a:solidFill>
                <a:latin typeface="Calibri"/>
              </a:rPr>
              <a:t>Cosign Tuesday solo sessions for the hour log</a:t>
            </a:r>
          </a:p>
          <a:p>
            <a:pPr>
              <a:spcAft>
                <a:spcPts val="700"/>
              </a:spcAft>
            </a:pPr>
            <a:r>
              <a:rPr sz="2200">
                <a:solidFill>
                  <a:srgbClr val="352B30"/>
                </a:solidFill>
                <a:latin typeface="Calibri"/>
              </a:rPr>
              <a:t>Keep it to 30 minutes, lead with the numbers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09728"/>
          </a:xfrm>
          <a:prstGeom prst="rect">
            <a:avLst/>
          </a:prstGeom>
          <a:solidFill>
            <a:srgbClr val="D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Do the work, let the work speak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DF7F0"/>
                </a:solidFill>
                <a:latin typeface="Calibri"/>
              </a:rPr>
              <a:t>Concrete next steps, tangible gains.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98BA6"/>
                </a:solidFill>
                <a:latin typeface="Calibri"/>
              </a:rPr>
              <a:t>Notes by Meghan Douglas, OTR/L, January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 Therapy Case Review</dc:title>
  <dc:subject/>
  <dc:creator>Meghan Yuki Douglas</dc:creator>
  <cp:keywords/>
  <dc:description/>
  <cp:lastModifiedBy/>
  <cp:revision>1</cp:revision>
  <dcterms:created xsi:type="dcterms:W3CDTF">2026-01-26T16:45:00Z</dcterms:created>
  <dcterms:modified xsi:type="dcterms:W3CDTF">2026-01-26T16:45:00Z</dcterms:modified>
  <cp:category/>
</cp:coreProperties>
</file>