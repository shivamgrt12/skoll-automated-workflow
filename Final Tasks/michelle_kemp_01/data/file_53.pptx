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Closing balance</c:v>
                </c:pt>
              </c:strCache>
            </c:strRef>
          </c:tx>
          <c:spPr>
            <a:solidFill>
              <a:srgbClr val="2F6E8E"/>
            </a:solidFill>
            <a:ln w="28575">
              <a:solidFill>
                <a:srgbClr val="2F6E8E"/>
              </a:solidFill>
            </a:ln>
          </c:spPr>
          <c:cat>
            <c:strRef>
              <c:f>Sheet1!$A$2:$A$13</c:f>
              <c:strCache>
                <c:ptCount val="12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4062</c:v>
                </c:pt>
                <c:pt idx="1">
                  <c:v>4324.8</c:v>
                </c:pt>
                <c:pt idx="2">
                  <c:v>4638.3</c:v>
                </c:pt>
                <c:pt idx="3">
                  <c:v>4902.5</c:v>
                </c:pt>
                <c:pt idx="4">
                  <c:v>5167.4</c:v>
                </c:pt>
                <c:pt idx="5">
                  <c:v>5433</c:v>
                </c:pt>
                <c:pt idx="6">
                  <c:v>5749.4</c:v>
                </c:pt>
                <c:pt idx="7">
                  <c:v>6016.5</c:v>
                </c:pt>
                <c:pt idx="8">
                  <c:v>6284.3</c:v>
                </c:pt>
                <c:pt idx="9">
                  <c:v>6552.8</c:v>
                </c:pt>
                <c:pt idx="10">
                  <c:v>6872.1</c:v>
                </c:pt>
                <c:pt idx="11">
                  <c:v>7142.2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F6E8E"/>
            </a:solidFill>
            <a:ln w="28575">
              <a:solidFill>
                <a:srgbClr val="2F6E8E"/>
              </a:solidFill>
            </a:ln>
          </c:spPr>
          <c:cat>
            <c:strRef>
              <c:f>Sheet1!$A$2:$A$8</c:f>
              <c:strCache>
                <c:ptCount val="7"/>
                <c:pt idx="0">
                  <c:v>Build-out</c:v>
                </c:pt>
                <c:pt idx="1">
                  <c:v>Equipment</c:v>
                </c:pt>
                <c:pt idx="2">
                  <c:v>Occupancy</c:v>
                </c:pt>
                <c:pt idx="3">
                  <c:v>Legal</c:v>
                </c:pt>
                <c:pt idx="4">
                  <c:v>Brand</c:v>
                </c:pt>
                <c:pt idx="5">
                  <c:v>Software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4100</c:v>
                </c:pt>
                <c:pt idx="1">
                  <c:v>900</c:v>
                </c:pt>
                <c:pt idx="2">
                  <c:v>3900</c:v>
                </c:pt>
                <c:pt idx="3">
                  <c:v>1500</c:v>
                </c:pt>
                <c:pt idx="4">
                  <c:v>700</c:v>
                </c:pt>
                <c:pt idx="5">
                  <c:v>300</c:v>
                </c:pt>
                <c:pt idx="6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C79A3E"/>
            </a:solidFill>
            <a:ln w="28575">
              <a:solidFill>
                <a:srgbClr val="C79A3E"/>
              </a:solidFill>
            </a:ln>
          </c:spPr>
          <c:cat>
            <c:strRef>
              <c:f>Sheet1!$A$2:$A$8</c:f>
              <c:strCache>
                <c:ptCount val="7"/>
                <c:pt idx="0">
                  <c:v>Build-out</c:v>
                </c:pt>
                <c:pt idx="1">
                  <c:v>Equipment</c:v>
                </c:pt>
                <c:pt idx="2">
                  <c:v>Occupancy</c:v>
                </c:pt>
                <c:pt idx="3">
                  <c:v>Legal</c:v>
                </c:pt>
                <c:pt idx="4">
                  <c:v>Brand</c:v>
                </c:pt>
                <c:pt idx="5">
                  <c:v>Software</c:v>
                </c:pt>
                <c:pt idx="6">
                  <c:v>Contingency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6000</c:v>
                </c:pt>
                <c:pt idx="1">
                  <c:v>1500</c:v>
                </c:pt>
                <c:pt idx="2">
                  <c:v>5300</c:v>
                </c:pt>
                <c:pt idx="3">
                  <c:v>2400</c:v>
                </c:pt>
                <c:pt idx="4">
                  <c:v>1400</c:v>
                </c:pt>
                <c:pt idx="5">
                  <c:v>500</c:v>
                </c:pt>
                <c:pt idx="6">
                  <c:v>1700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C6B76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2F6E8E"/>
            </a:solidFill>
            <a:ln w="28575">
              <a:solidFill>
                <a:srgbClr val="2F6E8E"/>
              </a:solidFill>
            </a:ln>
          </c:spPr>
          <c:cat>
            <c:strRef>
              <c:f>Sheet1!$A$2:$A$13</c:f>
              <c:strCache>
                <c:ptCount val="12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390</c:v>
                </c:pt>
                <c:pt idx="1">
                  <c:v>530</c:v>
                </c:pt>
                <c:pt idx="2">
                  <c:v>2178</c:v>
                </c:pt>
                <c:pt idx="3">
                  <c:v>833</c:v>
                </c:pt>
                <c:pt idx="4">
                  <c:v>995</c:v>
                </c:pt>
                <c:pt idx="5">
                  <c:v>1167</c:v>
                </c:pt>
                <c:pt idx="6">
                  <c:v>1347</c:v>
                </c:pt>
                <c:pt idx="7">
                  <c:v>3338</c:v>
                </c:pt>
                <c:pt idx="8">
                  <c:v>1737</c:v>
                </c:pt>
                <c:pt idx="9">
                  <c:v>1948</c:v>
                </c:pt>
                <c:pt idx="10">
                  <c:v>2169</c:v>
                </c:pt>
                <c:pt idx="11">
                  <c:v>4402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B7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463040" cy="14630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Open Floor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C79A3E"/>
                </a:solidFill>
                <a:latin typeface="Segoe UI"/>
              </a:rPr>
              <a:t>A community dance-fitness studio for Hartford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9E2EA"/>
                </a:solidFill>
                <a:latin typeface="Segoe UI"/>
              </a:rPr>
              <a:t>Business plan, working draft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AFC0CC"/>
                </a:solidFill>
                <a:latin typeface="Segoe UI"/>
              </a:rPr>
              <a:t>Prepared by Michelle Kemp  |  November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work is showing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22303A"/>
                </a:solidFill>
                <a:latin typeface="Segoe UI"/>
              </a:rPr>
              <a:t>A welcoming, affordable studio where the work is showing up, and the room makes showing up easy.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09728" cy="237744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Built on twelve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An existing, loyal student base from Hartford Dance Collective.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38328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383280"/>
            <a:ext cx="109728" cy="237744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58444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Beginners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041648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Low-pressure nights beside a performance team, same floor.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38328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3383280"/>
            <a:ext cx="109728" cy="237744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58444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A patient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041648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No lease until the rent is right and the cushion is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Pre-lease planning document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Where it 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400800" cy="3657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303A"/>
                </a:solidFill>
                <a:latin typeface="Segoe UI"/>
              </a:rPr>
              <a:t>•  Parkville and Frog Hollow have steady demand for affordable movement classes.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303A"/>
                </a:solidFill>
                <a:latin typeface="Segoe UI"/>
              </a:rPr>
              <a:t>•  Limited dedicated studio space in the immediate neighborhood.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303A"/>
                </a:solidFill>
                <a:latin typeface="Segoe UI"/>
              </a:rPr>
              <a:t>•  Current roster forms a ready launch base.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22303A"/>
                </a:solidFill>
                <a:latin typeface="Segoe UI"/>
              </a:rPr>
              <a:t>•  About 2,100 followers and an established class newsletter seed early enrollment.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9202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79A3E"/>
                </a:solidFill>
                <a:latin typeface="Segoe UI"/>
              </a:rPr>
              <a:t>Launch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B76"/>
                </a:solidFill>
                <a:latin typeface="Segoe UI"/>
              </a:rPr>
              <a:t>Followers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7432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2303A"/>
                </a:solidFill>
                <a:latin typeface="Segoe UI"/>
              </a:rPr>
              <a:t>~2,100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015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B76"/>
                </a:solidFill>
                <a:latin typeface="Segoe UI"/>
              </a:rPr>
              <a:t>Newsletter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4015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2303A"/>
                </a:solidFill>
                <a:latin typeface="Segoe UI"/>
              </a:rPr>
              <a:t>Active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059935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B76"/>
                </a:solidFill>
                <a:latin typeface="Segoe UI"/>
              </a:rPr>
              <a:t>Tours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059935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2303A"/>
                </a:solidFill>
                <a:latin typeface="Segoe UI"/>
              </a:rPr>
              <a:t>Parkville, Frog Hollow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71830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C6B76"/>
                </a:solidFill>
                <a:latin typeface="Segoe UI"/>
              </a:rPr>
              <a:t>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71830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2303A"/>
                </a:solidFill>
                <a:latin typeface="Segoe UI"/>
              </a:rPr>
              <a:t>Not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Market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OFFERING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Classes for every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Beginner Nights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No experience needed, joyful and low pressure.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8716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Clean lines and the confidence to take the front.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Advanced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8716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Performance choreography, lifts, showcase spot.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Private Lessons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One-on-one, booked through the scheduler.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02336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02336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22452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Seasonal Intensives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8172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Winter and summer, three focused Saturdays.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402336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4023360"/>
            <a:ext cx="109728" cy="196596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2452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Drop-in and Packs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81728"/>
            <a:ext cx="297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C6B76"/>
                </a:solidFill>
                <a:latin typeface="Segoe UI"/>
              </a:rPr>
              <a:t>Single classes or multi-class packs.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Offering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dream fund is growing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6809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1828800"/>
            <a:ext cx="2834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1031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79A3E"/>
                </a:solidFill>
                <a:latin typeface="Segoe UI"/>
              </a:rPr>
              <a:t>Held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69748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Now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2303A"/>
                </a:solidFill>
                <a:latin typeface="Segoe UI"/>
              </a:rPr>
              <a:t>$3,800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Projected Sep 2027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2303A"/>
                </a:solidFill>
                <a:latin typeface="Segoe UI"/>
              </a:rPr>
              <a:t>$7,142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Dream fund, illustrative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First-year startup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10881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B76"/>
                </a:solidFill>
                <a:latin typeface="Segoe UI"/>
              </a:rPr>
              <a:t>Working estimate $12,600 to $18,800. The contingency line is not optional.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Startup costs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Year-1 monthly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10881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B76"/>
                </a:solidFill>
                <a:latin typeface="Segoe UI"/>
              </a:rPr>
              <a:t>Illustrative model, revenue minus fixed monthly expenses of $2,310. Showcase months lift the 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Year-1 projection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Class passes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2303A"/>
                </a:solidFill>
                <a:latin typeface="Segoe UI"/>
              </a:rPr>
              <a:t>Drop-in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C3A57"/>
                </a:solidFill>
                <a:latin typeface="Segoe UI"/>
              </a:rPr>
              <a:t>$18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One class, no commitment.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29184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C79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291840" cy="45720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2303A"/>
                </a:solidFill>
                <a:latin typeface="Segoe UI"/>
              </a:rPr>
              <a:t>5-Class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C3A57"/>
                </a:solidFill>
                <a:latin typeface="Segoe UI"/>
              </a:rPr>
              <a:t>$80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Five classes at $16 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974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2303A"/>
                </a:solidFill>
                <a:latin typeface="Segoe UI"/>
              </a:rPr>
              <a:t>10-Class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C3A57"/>
                </a:solidFill>
                <a:latin typeface="Segoe UI"/>
              </a:rPr>
              <a:t>$150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97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Ten classes at $15 each.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Pricing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79A3E"/>
                </a:solidFill>
                <a:latin typeface="Segoe U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0332720" cy="45720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3063240"/>
            <a:ext cx="411480" cy="411480"/>
          </a:xfrm>
          <a:prstGeom prst="ellipse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Re-walk Parkville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Pull updated lease comps.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3063240"/>
            <a:ext cx="411480" cy="411480"/>
          </a:xfrm>
          <a:prstGeom prst="ellipse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Lock the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65760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Reserve the matching domain.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3063240"/>
            <a:ext cx="411480" cy="411480"/>
          </a:xfrm>
          <a:prstGeom prst="ellipse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One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Move from comparison to a single platform.</a:t>
            </a:r>
          </a:p>
        </p:txBody>
      </p:sp>
      <p:sp>
        <p:nvSpPr>
          <p:cNvPr id="17" name="Oval 16"/>
          <p:cNvSpPr/>
          <p:nvPr/>
        </p:nvSpPr>
        <p:spPr>
          <a:xfrm>
            <a:off x="9921240" y="3063240"/>
            <a:ext cx="411480" cy="411480"/>
          </a:xfrm>
          <a:prstGeom prst="ellipse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116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2303A"/>
                </a:solidFill>
                <a:latin typeface="Segoe UI"/>
              </a:rPr>
              <a:t>January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65760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B76"/>
                </a:solidFill>
                <a:latin typeface="Segoe UI"/>
              </a:rPr>
              <a:t>Launch-readiness at the new-year push.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Open Floor Studio  |  Roadmap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0" cy="146304"/>
          </a:xfrm>
          <a:prstGeom prst="rect">
            <a:avLst/>
          </a:prstGeom>
          <a:solidFill>
            <a:srgbClr val="C7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The launch decision is one gate.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C79A3E"/>
                </a:solidFill>
                <a:latin typeface="Segoe UI"/>
              </a:rPr>
              <a:t>A signed lease at the right rent, and a three-month cushion.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9E2EA"/>
                </a:solidFill>
                <a:latin typeface="Segoe UI"/>
              </a:rPr>
              <a:t>Eighteen-plus months of planning. No lease signed. Still moving.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Floor Studio Business Plan</dc:title>
  <dc:subject/>
  <dc:creator>Michelle Kemp</dc:creator>
  <cp:keywords/>
  <dc:description/>
  <cp:lastModifiedBy>Michelle Kemp</cp:lastModifiedBy>
  <cp:revision>1</cp:revision>
  <dcterms:created xsi:type="dcterms:W3CDTF">2013-01-27T09:14:16Z</dcterms:created>
  <dcterms:modified xsi:type="dcterms:W3CDTF">2013-01-27T09:15:58Z</dcterms:modified>
  <cp:category/>
</cp:coreProperties>
</file>