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_confluenc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54880" y="4937760"/>
            <a:ext cx="7436815" cy="155448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4023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3E7CA6"/>
                </a:solidFill>
                <a:latin typeface="Calibri"/>
              </a:rPr>
              <a:t>SILVERLINE CORPORATION  |  LOBBY ART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02336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17242F"/>
                </a:solidFill>
                <a:latin typeface="Calibri"/>
              </a:rPr>
              <a:t>Confluence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40233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4A5A66"/>
                </a:solidFill>
                <a:latin typeface="Calibri"/>
              </a:rPr>
              <a:t>An original three-panel mixed-media work for the Market Street headquarters lobby, on the theme of Philadelphia rivers and industry.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074920"/>
            <a:ext cx="69494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AF1F6"/>
                </a:solidFill>
                <a:latin typeface="Calibri"/>
              </a:rPr>
              <a:t>Concept presentation by Nancy Crawford.   Commission fee $9,000.   Delivery and installation December 4, 2026.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A calm anchor for the lobby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A single, considered work to greet staff and visitors at Market Street.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Quiet and durable, not decorative noise. A piece people pass daily for years.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Rooted in Philadelphia: the meeting of rivers, industry, and light.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Scaled to the lobby wall as a horizontal set of three panels.</a:t>
            </a:r>
          </a:p>
        </p:txBody>
      </p:sp>
      <p:pic>
        <p:nvPicPr>
          <p:cNvPr id="8" name="Picture 7" descr="art_confluenc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93776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Confluence, where the waters 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7242F"/>
                </a:solidFill>
                <a:latin typeface="Calibri"/>
              </a:rPr>
              <a:t>The Schuylkill and the Delaware meet below the city. Confluence reads that meeting as three movements across three panels: the upstream register, the turning, and the open tide. Industry appears as trace, not subject: rolled steel, rivet marks, and the soft rust the riverfront leaves on everything it touches.</a:t>
            </a:r>
          </a:p>
        </p:txBody>
      </p:sp>
      <p:pic>
        <p:nvPicPr>
          <p:cNvPr id="8" name="Picture 7" descr="art_confluenc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34747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89320"/>
            <a:ext cx="3474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4A5A66"/>
                </a:solidFill>
                <a:latin typeface="Calibri"/>
              </a:rPr>
              <a:t>Panel 1</a:t>
            </a:r>
          </a:p>
        </p:txBody>
      </p:sp>
      <p:pic>
        <p:nvPicPr>
          <p:cNvPr id="10" name="Picture 9" descr="art_confluenc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657600"/>
            <a:ext cx="34747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4840" y="5989320"/>
            <a:ext cx="3474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4A5A66"/>
                </a:solidFill>
                <a:latin typeface="Calibri"/>
              </a:rPr>
              <a:t>Panel 2</a:t>
            </a:r>
          </a:p>
        </p:txBody>
      </p:sp>
      <p:pic>
        <p:nvPicPr>
          <p:cNvPr id="12" name="Picture 11" descr="art_confluenc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34747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5989320"/>
            <a:ext cx="3474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4A5A66"/>
                </a:solidFill>
                <a:latin typeface="Calibri"/>
              </a:rPr>
              <a:t>Panel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THE THREE PANELS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Read left to 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" cy="100584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6576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7242F"/>
                </a:solidFill>
                <a:latin typeface="Calibri"/>
              </a:rPr>
              <a:t>Panel 1, Upstream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676656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4A5A66"/>
                </a:solidFill>
                <a:latin typeface="Calibri"/>
              </a:rPr>
              <a:t>Cooler greys and slate, vertical marks. The quiet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09728" cy="100584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6576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7242F"/>
                </a:solidFill>
                <a:latin typeface="Calibri"/>
              </a:rPr>
              <a:t>Panel 2, The turning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676656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4A5A66"/>
                </a:solidFill>
                <a:latin typeface="Calibri"/>
              </a:rPr>
              <a:t>Warmer centre, the rust seam, where the two waters fold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97679"/>
            <a:ext cx="109728" cy="100584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79"/>
            <a:ext cx="36576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7242F"/>
                </a:solidFill>
                <a:latin typeface="Calibri"/>
              </a:rPr>
              <a:t>Panel 3, Open tide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79"/>
            <a:ext cx="676656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4A5A66"/>
                </a:solidFill>
                <a:latin typeface="Calibri"/>
              </a:rPr>
              <a:t>Lighter and wider, horizontal light opening toward the river mouth.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MATERIALS AND PALETTE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Built to last in a public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4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Mixed media on sealed birch panel, cradled for depth.</a:t>
            </a:r>
          </a:p>
          <a:p>
            <a:pPr indent="-228600" marL="228600">
              <a:spcBef>
                <a:spcPts val="0"/>
              </a:spcBef>
              <a:spcAft>
                <a:spcPts val="14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Archival monotype, collage, and found riverfront material.</a:t>
            </a:r>
          </a:p>
          <a:p>
            <a:pPr indent="-228600" marL="228600">
              <a:spcBef>
                <a:spcPts val="0"/>
              </a:spcBef>
              <a:spcAft>
                <a:spcPts val="14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Matte conservation varnish, stable under lobby lighting.</a:t>
            </a:r>
          </a:p>
          <a:p>
            <a:pPr indent="-228600" marL="228600">
              <a:spcBef>
                <a:spcPts val="0"/>
              </a:spcBef>
              <a:spcAft>
                <a:spcPts val="14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Cleated French hanging system, concealed and secure.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737360"/>
            <a:ext cx="822960" cy="64008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737360"/>
            <a:ext cx="3657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Slate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560320"/>
            <a:ext cx="822960" cy="64008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560320"/>
            <a:ext cx="3657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River 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383280"/>
            <a:ext cx="822960" cy="640080"/>
          </a:xfrm>
          <a:prstGeom prst="rect">
            <a:avLst/>
          </a:prstGeom>
          <a:solidFill>
            <a:srgbClr val="8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383280"/>
            <a:ext cx="3657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Mist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4206240"/>
            <a:ext cx="822960" cy="640080"/>
          </a:xfrm>
          <a:prstGeom prst="rect">
            <a:avLst/>
          </a:prstGeom>
          <a:solidFill>
            <a:srgbClr val="B57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206240"/>
            <a:ext cx="3657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5029200"/>
            <a:ext cx="822960" cy="64008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5029200"/>
            <a:ext cx="36576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Paper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DIMENSIONS AND HANGING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Scaled to the lobby 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"/>
          </a:xfrm>
          <a:prstGeom prst="rect">
            <a:avLst/>
          </a:prstGeom>
          <a:solidFill>
            <a:srgbClr val="4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310896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3108960" cy="2331720"/>
          </a:xfrm>
          <a:prstGeom prst="rect">
            <a:avLst/>
          </a:prstGeom>
          <a:noFill/>
          <a:ln w="28575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17242F"/>
                </a:solidFill>
                <a:latin typeface="Calibri"/>
              </a:rPr>
              <a:t>Panel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4A5A66"/>
                </a:solidFill>
                <a:latin typeface="Calibri"/>
              </a:rPr>
              <a:t>48 in H x 36 in 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77440"/>
            <a:ext cx="310896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377440"/>
            <a:ext cx="3108960" cy="2331720"/>
          </a:xfrm>
          <a:prstGeom prst="rect">
            <a:avLst/>
          </a:prstGeom>
          <a:noFill/>
          <a:ln w="28575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17242F"/>
                </a:solidFill>
                <a:latin typeface="Calibri"/>
              </a:rPr>
              <a:t>Panel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39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4A5A66"/>
                </a:solidFill>
                <a:latin typeface="Calibri"/>
              </a:rPr>
              <a:t>48 in H x 36 in 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377440"/>
            <a:ext cx="310896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377440"/>
            <a:ext cx="3108960" cy="2331720"/>
          </a:xfrm>
          <a:prstGeom prst="rect">
            <a:avLst/>
          </a:prstGeom>
          <a:noFill/>
          <a:ln w="28575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200400"/>
            <a:ext cx="3108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 i="0">
                <a:solidFill>
                  <a:srgbClr val="17242F"/>
                </a:solidFill>
                <a:latin typeface="Calibri"/>
              </a:rPr>
              <a:t>Panel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749039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4A5A66"/>
                </a:solidFill>
                <a:latin typeface="Calibri"/>
              </a:rPr>
              <a:t>48 in H x 36 in 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Overall set, hung with a 3 inch reveal between panels: 48 inches high by 114 inches wide. Centre line at 60 inches from the floor. Final wall measurement to be confirmed on site before install.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FABRICATION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From approval to install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54864" cy="365760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11680"/>
            <a:ext cx="256032" cy="256032"/>
          </a:xfrm>
          <a:prstGeom prst="ellipse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2011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3E7CA6"/>
                </a:solidFill>
                <a:latin typeface="Calibri"/>
              </a:rPr>
              <a:t>Jan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0240"/>
            <a:ext cx="7863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Agreement signed, deposit received, maquette approved.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26080"/>
            <a:ext cx="256032" cy="256032"/>
          </a:xfrm>
          <a:prstGeom prst="ellipse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2011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3E7CA6"/>
                </a:solidFill>
                <a:latin typeface="Calibri"/>
              </a:rPr>
              <a:t>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7863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Panels fabricated and surfaces built in studio.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40480"/>
            <a:ext cx="256032" cy="256032"/>
          </a:xfrm>
          <a:prstGeom prst="ellipse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40"/>
            <a:ext cx="2011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3E7CA6"/>
                </a:solidFill>
                <a:latin typeface="Calibri"/>
              </a:rPr>
              <a:t>Nov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40"/>
            <a:ext cx="7863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Sealing, varnish, and final photography.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54880"/>
            <a:ext cx="256032" cy="256032"/>
          </a:xfrm>
          <a:prstGeom prst="ellipse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663440"/>
            <a:ext cx="2011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3E7CA6"/>
                </a:solidFill>
                <a:latin typeface="Calibri"/>
              </a:rPr>
              <a:t>Dec 4,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663440"/>
            <a:ext cx="7863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Delivery and installation at Market Street.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COMMISSION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Fees and schedule, in US dollars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419856" cy="792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7242F"/>
                </a:solidFill>
                <a:latin typeface="Calibri"/>
              </a:rPr>
              <a:t>Total commission fee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9936" y="2026920"/>
            <a:ext cx="5815584" cy="396240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59936" y="2026920"/>
            <a:ext cx="5815584" cy="39624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1828800"/>
            <a:ext cx="777240" cy="792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7242F"/>
                </a:solidFill>
                <a:latin typeface="Calibri"/>
              </a:rPr>
              <a:t>$9,000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1280"/>
            <a:ext cx="3419856" cy="792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7242F"/>
                </a:solidFill>
                <a:latin typeface="Calibri"/>
              </a:rPr>
              <a:t>Deposit on signing, 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2819400"/>
            <a:ext cx="5815584" cy="396240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59936" y="2819400"/>
            <a:ext cx="2326233" cy="39624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621280"/>
            <a:ext cx="777240" cy="792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7242F"/>
                </a:solidFill>
                <a:latin typeface="Calibri"/>
              </a:rPr>
              <a:t>$3,600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13760"/>
            <a:ext cx="3419856" cy="792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7242F"/>
                </a:solidFill>
                <a:latin typeface="Calibri"/>
              </a:rPr>
              <a:t>Balance on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9936" y="3611880"/>
            <a:ext cx="5815584" cy="396240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59936" y="3611880"/>
            <a:ext cx="3489350" cy="396240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3413760"/>
            <a:ext cx="777240" cy="792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7242F"/>
                </a:solidFill>
                <a:latin typeface="Calibri"/>
              </a:rPr>
              <a:t>$5,400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17242F"/>
                </a:solidFill>
                <a:latin typeface="Calibri"/>
              </a:rPr>
              <a:t>Deposit of $3,600 received January 20, 2026. Balance of $5,400 due on delivery and installation. Scope changes after maquette approval are billed at $65 per hour, agreed in writing in advance.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3E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3E7CA6"/>
                </a:solidFill>
                <a:latin typeface="Calibri"/>
              </a:rPr>
              <a:t>OWNERSHIP AND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AF1F6"/>
                </a:solidFill>
                <a:latin typeface="Calibri"/>
              </a:rPr>
              <a:t>After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On payment of the balance, Silverline owns the physical work and may display it at the headquarters.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The artist retains copyright and the right to reproduce images for portfolio, press, and exhibition history, with credit.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Dust gently with a soft dry cloth. Keep out of direct sunlight and away from vents.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7242F"/>
                </a:solidFill>
                <a:latin typeface="Calibri"/>
              </a:rPr>
              <a:t>The artist is available for one conservation check within the first year, by arrangement.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AF1F6"/>
                </a:solidFill>
                <a:latin typeface="Calibri"/>
              </a:rPr>
              <a:t>Confluence  |  Nancy Crawford for Silverline Corporation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AF1F6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confluenc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2103120"/>
            <a:ext cx="658368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EAF1F6"/>
                </a:solidFill>
                <a:latin typeface="Calibri"/>
              </a:rPr>
              <a:t>Confluence</a:t>
            </a:r>
          </a:p>
          <a:p>
            <a:pPr algn="l">
              <a:spcBef>
                <a:spcPts val="1400"/>
              </a:spcBef>
            </a:pPr>
            <a:r>
              <a:rPr sz="1700" b="0" i="0">
                <a:solidFill>
                  <a:srgbClr val="EAF1F6"/>
                </a:solidFill>
                <a:latin typeface="Calibri"/>
              </a:rPr>
              <a:t>I would welcome your notes on this concept. One round of maquette revisions is included before fabrication begins.</a:t>
            </a:r>
          </a:p>
          <a:p>
            <a:pPr algn="l">
              <a:spcBef>
                <a:spcPts val="1800"/>
              </a:spcBef>
            </a:pPr>
            <a:r>
              <a:rPr sz="1500" b="0" i="0">
                <a:solidFill>
                  <a:srgbClr val="EAF1F6"/>
                </a:solidFill>
                <a:latin typeface="Calibri"/>
              </a:rPr>
              <a:t>Nancy Crawford   |   nancy.crawford@finthesiss.ai   |   nancycrawford.com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