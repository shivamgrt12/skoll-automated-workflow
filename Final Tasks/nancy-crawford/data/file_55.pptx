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44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t_t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0"/>
            <a:ext cx="743681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754880" y="4937760"/>
            <a:ext cx="7436815" cy="1554480"/>
          </a:xfrm>
          <a:prstGeom prst="rect">
            <a:avLst/>
          </a:prstGeom>
          <a:solidFill>
            <a:srgbClr val="144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4023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8A86"/>
                </a:solidFill>
                <a:latin typeface="Constantia"/>
              </a:rPr>
              <a:t>ATELIER LITORAL RESIDENCY  |  PORTO, PORTUGAL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402336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10302E"/>
                </a:solidFill>
                <a:latin typeface="Constantia"/>
              </a:rPr>
              <a:t>Tidal Registers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402336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0" i="0">
                <a:solidFill>
                  <a:srgbClr val="3E5C59"/>
                </a:solidFill>
                <a:latin typeface="Calibri"/>
              </a:rPr>
              <a:t>A residency proposal extending a long interest in industrial waterfronts from the Delaware River to the Douro estuary.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5074920"/>
            <a:ext cx="694944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E8F4F2"/>
                </a:solidFill>
                <a:latin typeface="Calibri"/>
              </a:rPr>
              <a:t>Application by Nancy Crawford, Philadelphia.   Spring 2027 cohort, March to May 2027.   Eight weeks, self-funded travel.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4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F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8A86"/>
                </a:solidFill>
                <a:latin typeface="Constantia"/>
              </a:rPr>
              <a:t>ABOUT THE ARTIST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E8F4F2"/>
                </a:solidFill>
                <a:latin typeface="Constantia"/>
              </a:rPr>
              <a:t>Thirty years at the water's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28600">
              <a:spcBef>
                <a:spcPts val="0"/>
              </a:spcBef>
              <a:spcAft>
                <a:spcPts val="1500"/>
              </a:spcAft>
              <a:buFont typeface="Arial"/>
              <a:buChar char="▪"/>
            </a:pPr>
            <a:r>
              <a:rPr sz="1800">
                <a:solidFill>
                  <a:srgbClr val="10302E"/>
                </a:solidFill>
                <a:latin typeface="Calibri"/>
              </a:rPr>
              <a:t>Mixed-media artist in printmaking, collage, and found materials, based in Philadelphia.</a:t>
            </a:r>
          </a:p>
          <a:p>
            <a:pPr indent="-228600" marL="228600">
              <a:spcBef>
                <a:spcPts val="0"/>
              </a:spcBef>
              <a:spcAft>
                <a:spcPts val="1500"/>
              </a:spcAft>
              <a:buFont typeface="Arial"/>
              <a:buChar char="▪"/>
            </a:pPr>
            <a:r>
              <a:rPr sz="1800">
                <a:solidFill>
                  <a:srgbClr val="10302E"/>
                </a:solidFill>
                <a:latin typeface="Calibri"/>
              </a:rPr>
              <a:t>MFA, Northfield Institute of the Arts. Three decades exhibiting in Philadelphia and Brooklyn.</a:t>
            </a:r>
          </a:p>
          <a:p>
            <a:pPr indent="-228600" marL="228600">
              <a:spcBef>
                <a:spcPts val="0"/>
              </a:spcBef>
              <a:spcAft>
                <a:spcPts val="1500"/>
              </a:spcAft>
              <a:buFont typeface="Arial"/>
              <a:buChar char="▪"/>
            </a:pPr>
            <a:r>
              <a:rPr sz="1800">
                <a:solidFill>
                  <a:srgbClr val="10302E"/>
                </a:solidFill>
                <a:latin typeface="Calibri"/>
              </a:rPr>
              <a:t>Represented by Ironwork Gallery, Philadelphia, and Sable and Thread Gallery, Brooklyn.</a:t>
            </a:r>
          </a:p>
          <a:p>
            <a:pPr indent="-228600" marL="228600">
              <a:spcBef>
                <a:spcPts val="0"/>
              </a:spcBef>
              <a:spcAft>
                <a:spcPts val="1500"/>
              </a:spcAft>
              <a:buFont typeface="Arial"/>
              <a:buChar char="▪"/>
            </a:pPr>
            <a:r>
              <a:rPr sz="1800">
                <a:solidFill>
                  <a:srgbClr val="10302E"/>
                </a:solidFill>
                <a:latin typeface="Calibri"/>
              </a:rPr>
              <a:t>Reads French at conversational fluency; building working Portuguese for source reading.</a:t>
            </a:r>
          </a:p>
        </p:txBody>
      </p:sp>
      <p:pic>
        <p:nvPicPr>
          <p:cNvPr id="8" name="Picture 7" descr="art_qui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937760" cy="411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4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E8F4F2"/>
                </a:solidFill>
                <a:latin typeface="Calibri"/>
              </a:rPr>
              <a:t>Tidal Registers  |  Nancy Crawford  |  Residency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E8F4F2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4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F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8A86"/>
                </a:solidFill>
                <a:latin typeface="Constantia"/>
              </a:rPr>
              <a:t>PROJECT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E8F4F2"/>
                </a:solidFill>
                <a:latin typeface="Constantia"/>
              </a:rPr>
              <a:t>Tidal Registers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881360" cy="2926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900" b="0" i="0">
                <a:solidFill>
                  <a:srgbClr val="10302E"/>
                </a:solidFill>
                <a:latin typeface="Calibri"/>
              </a:rPr>
              <a:t>Tidal Registers extends my work on industrial waterfronts from the Delaware River in Philadelphia to the Douro estuary in Porto. I would gather found papers, rust, and printed ephemera along the river and translate them into a series of layered works on paper. The two rivers share an industrial memory and a particular northern light. The residency would let me read one against the other, away from the pull of the local calendar.</a:t>
            </a:r>
          </a:p>
        </p:txBody>
      </p:sp>
      <p:pic>
        <p:nvPicPr>
          <p:cNvPr id="8" name="Picture 7" descr="art_dela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06240"/>
            <a:ext cx="10881360" cy="1828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4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E8F4F2"/>
                </a:solidFill>
                <a:latin typeface="Calibri"/>
              </a:rPr>
              <a:t>Tidal Registers  |  Nancy Crawford  |  Residency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E8F4F2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4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F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8A86"/>
                </a:solidFill>
                <a:latin typeface="Constantia"/>
              </a:rPr>
              <a:t>WHY PORTO, 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E8F4F2"/>
                </a:solidFill>
                <a:latin typeface="Constantia"/>
              </a:rPr>
              <a:t>The right moment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47472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3474720" cy="109728"/>
          </a:xfrm>
          <a:prstGeom prst="rect">
            <a:avLst/>
          </a:prstGeom>
          <a:solidFill>
            <a:srgbClr val="1F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29260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10302E"/>
                </a:solidFill>
                <a:latin typeface="Constantia"/>
              </a:rPr>
              <a:t>The 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2926080" cy="2468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3E5C59"/>
                </a:solidFill>
                <a:latin typeface="Calibri"/>
              </a:rPr>
              <a:t>The Douro estuary and its working edge are a close echo of the Delaware riverfront.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347472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3474720" cy="109728"/>
          </a:xfrm>
          <a:prstGeom prst="rect">
            <a:avLst/>
          </a:prstGeom>
          <a:solidFill>
            <a:srgbClr val="1F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103120"/>
            <a:ext cx="29260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10302E"/>
                </a:solidFill>
                <a:latin typeface="Constantia"/>
              </a:rPr>
              <a:t>The studio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926080"/>
            <a:ext cx="2926080" cy="2468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3E5C59"/>
                </a:solidFill>
                <a:latin typeface="Calibri"/>
              </a:rPr>
              <a:t>The residency print facilities fit the next phase of the work directly.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737360"/>
            <a:ext cx="347472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737360"/>
            <a:ext cx="3474720" cy="109728"/>
          </a:xfrm>
          <a:prstGeom prst="rect">
            <a:avLst/>
          </a:prstGeom>
          <a:solidFill>
            <a:srgbClr val="1F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103120"/>
            <a:ext cx="29260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10302E"/>
                </a:solidFill>
                <a:latin typeface="Constantia"/>
              </a:rPr>
              <a:t>The calendar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926080"/>
            <a:ext cx="2926080" cy="2468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3E5C59"/>
                </a:solidFill>
                <a:latin typeface="Calibri"/>
              </a:rPr>
              <a:t>Spring 2027 falls between teaching terms, after a solo show and a delivered commission.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4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E8F4F2"/>
                </a:solidFill>
                <a:latin typeface="Calibri"/>
              </a:rPr>
              <a:t>Tidal Registers  |  Nancy Crawford  |  Residency 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E8F4F2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4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F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8A86"/>
                </a:solidFill>
                <a:latin typeface="Constantia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E8F4F2"/>
                </a:solidFill>
                <a:latin typeface="Constantia"/>
              </a:rPr>
              <a:t>Gather, print, translate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856232"/>
            <a:ext cx="256032" cy="256032"/>
          </a:xfrm>
          <a:prstGeom prst="ellipse">
            <a:avLst/>
          </a:prstGeom>
          <a:solidFill>
            <a:srgbClr val="1F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237744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10302E"/>
                </a:solidFill>
                <a:latin typeface="Constantia"/>
              </a:rPr>
              <a:t>Gather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691640"/>
            <a:ext cx="786384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3E5C59"/>
                </a:solidFill>
                <a:latin typeface="Calibri"/>
              </a:rPr>
              <a:t>Walk the Douro edge; collect papers, rust, and ephemera, logged by place and date.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935224"/>
            <a:ext cx="256032" cy="256032"/>
          </a:xfrm>
          <a:prstGeom prst="ellipse">
            <a:avLst/>
          </a:prstGeom>
          <a:solidFill>
            <a:srgbClr val="1F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237744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10302E"/>
                </a:solidFill>
                <a:latin typeface="Constantia"/>
              </a:rPr>
              <a:t>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70632"/>
            <a:ext cx="786384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3E5C59"/>
                </a:solidFill>
                <a:latin typeface="Calibri"/>
              </a:rPr>
              <a:t>Pull monotypes from collected surfaces in the residency print studio.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014216"/>
            <a:ext cx="256032" cy="256032"/>
          </a:xfrm>
          <a:prstGeom prst="ellipse">
            <a:avLst/>
          </a:prstGeom>
          <a:solidFill>
            <a:srgbClr val="1F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849624"/>
            <a:ext cx="237744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10302E"/>
                </a:solidFill>
                <a:latin typeface="Constantia"/>
              </a:rPr>
              <a:t>Translate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849624"/>
            <a:ext cx="786384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3E5C59"/>
                </a:solidFill>
                <a:latin typeface="Calibri"/>
              </a:rPr>
              <a:t>Layer Porto and Philadelphia material in paired registers.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093208"/>
            <a:ext cx="256032" cy="256032"/>
          </a:xfrm>
          <a:prstGeom prst="ellipse">
            <a:avLst/>
          </a:prstGeom>
          <a:solidFill>
            <a:srgbClr val="1F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928616"/>
            <a:ext cx="237744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10302E"/>
                </a:solidFill>
                <a:latin typeface="Constantia"/>
              </a:rPr>
              <a:t>Reflect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928616"/>
            <a:ext cx="786384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3E5C59"/>
                </a:solidFill>
                <a:latin typeface="Calibri"/>
              </a:rPr>
              <a:t>Keep a process journal; read French and Portuguese source texts alongside the work.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4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E8F4F2"/>
                </a:solidFill>
                <a:latin typeface="Calibri"/>
              </a:rPr>
              <a:t>Tidal Registers  |  Nancy Crawford  |  Residency 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E8F4F2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4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F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8A86"/>
                </a:solidFill>
                <a:latin typeface="Constantia"/>
              </a:rPr>
              <a:t>RELATED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E8F4F2"/>
                </a:solidFill>
                <a:latin typeface="Constantia"/>
              </a:rPr>
              <a:t>From the Delaware series</a:t>
            </a:r>
          </a:p>
        </p:txBody>
      </p:sp>
      <p:pic>
        <p:nvPicPr>
          <p:cNvPr id="7" name="Picture 6" descr="art_t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260604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617720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 i="1">
                <a:solidFill>
                  <a:srgbClr val="3E5C59"/>
                </a:solidFill>
                <a:latin typeface="Calibri"/>
              </a:rPr>
              <a:t>Tide Register I</a:t>
            </a:r>
          </a:p>
        </p:txBody>
      </p:sp>
      <p:pic>
        <p:nvPicPr>
          <p:cNvPr id="9" name="Picture 8" descr="art_schuylk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87" y="1920240"/>
            <a:ext cx="260604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47287" y="4617720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 i="1">
                <a:solidFill>
                  <a:srgbClr val="3E5C59"/>
                </a:solidFill>
                <a:latin typeface="Calibri"/>
              </a:rPr>
              <a:t>Schuylkill Trace</a:t>
            </a:r>
          </a:p>
        </p:txBody>
      </p:sp>
      <p:pic>
        <p:nvPicPr>
          <p:cNvPr id="11" name="Picture 10" descr="art_delaw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920240"/>
            <a:ext cx="2606040" cy="2606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54496" y="4617720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 i="1">
                <a:solidFill>
                  <a:srgbClr val="3E5C59"/>
                </a:solidFill>
                <a:latin typeface="Calibri"/>
              </a:rPr>
              <a:t>Delaware Edge</a:t>
            </a:r>
          </a:p>
        </p:txBody>
      </p:sp>
      <p:pic>
        <p:nvPicPr>
          <p:cNvPr id="13" name="Picture 12" descr="art_penntrea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1703" y="1920240"/>
            <a:ext cx="2606040" cy="2606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61703" y="4617720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 i="1">
                <a:solidFill>
                  <a:srgbClr val="3E5C59"/>
                </a:solidFill>
                <a:latin typeface="Calibri"/>
              </a:rPr>
              <a:t>Penn Treaty Morning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4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E8F4F2"/>
                </a:solidFill>
                <a:latin typeface="Calibri"/>
              </a:rPr>
              <a:t>Tidal Registers  |  Nancy Crawford  |  Residency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E8F4F2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4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F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8A86"/>
                </a:solidFill>
                <a:latin typeface="Constantia"/>
              </a:rPr>
              <a:t>EIGHT WEEK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E8F4F2"/>
                </a:solidFill>
                <a:latin typeface="Constantia"/>
              </a:rPr>
              <a:t>March to May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5603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1F8A86"/>
                </a:solidFill>
                <a:latin typeface="Calibri"/>
              </a:rPr>
              <a:t>Weeks 1 to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77724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0" i="0">
                <a:solidFill>
                  <a:srgbClr val="10302E"/>
                </a:solidFill>
                <a:latin typeface="Calibri"/>
              </a:rPr>
              <a:t>Settle, walk the estuary, begin gathering and logging material.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10881360" cy="777240"/>
          </a:xfrm>
          <a:prstGeom prst="rect">
            <a:avLst/>
          </a:prstGeom>
          <a:solidFill>
            <a:srgbClr val="DC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25603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1F8A86"/>
                </a:solidFill>
                <a:latin typeface="Calibri"/>
              </a:rPr>
              <a:t>Weeks 3 to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43200"/>
            <a:ext cx="77724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0" i="0">
                <a:solidFill>
                  <a:srgbClr val="10302E"/>
                </a:solidFill>
                <a:latin typeface="Calibri"/>
              </a:rPr>
              <a:t>Core printmaking and the first paired registers in the studio.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03320"/>
            <a:ext cx="108813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03320"/>
            <a:ext cx="25603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1F8A86"/>
                </a:solidFill>
                <a:latin typeface="Calibri"/>
              </a:rPr>
              <a:t>Weeks 6 to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703320"/>
            <a:ext cx="77724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0" i="0">
                <a:solidFill>
                  <a:srgbClr val="10302E"/>
                </a:solidFill>
                <a:latin typeface="Calibri"/>
              </a:rPr>
              <a:t>Layering, editing, and a small set of resolved works on paper.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63440"/>
            <a:ext cx="10881360" cy="777240"/>
          </a:xfrm>
          <a:prstGeom prst="rect">
            <a:avLst/>
          </a:prstGeom>
          <a:solidFill>
            <a:srgbClr val="DC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25603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1F8A86"/>
                </a:solidFill>
                <a:latin typeface="Calibri"/>
              </a:rPr>
              <a:t>Week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663440"/>
            <a:ext cx="77724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0" i="0">
                <a:solidFill>
                  <a:srgbClr val="10302E"/>
                </a:solidFill>
                <a:latin typeface="Calibri"/>
              </a:rPr>
              <a:t>Open studio, documentation, and notes toward the next body of work.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4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E8F4F2"/>
                </a:solidFill>
                <a:latin typeface="Calibri"/>
              </a:rPr>
              <a:t>Tidal Registers  |  Nancy Crawford  |  Residency 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E8F4F2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4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F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8A86"/>
                </a:solidFill>
                <a:latin typeface="Constantia"/>
              </a:rPr>
              <a:t>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E8F4F2"/>
                </a:solidFill>
                <a:latin typeface="Constantia"/>
              </a:rPr>
              <a:t>What the residency produces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28600">
              <a:spcBef>
                <a:spcPts val="0"/>
              </a:spcBef>
              <a:spcAft>
                <a:spcPts val="1500"/>
              </a:spcAft>
              <a:buFont typeface="Arial"/>
              <a:buChar char="▪"/>
            </a:pPr>
            <a:r>
              <a:rPr sz="1800">
                <a:solidFill>
                  <a:srgbClr val="10302E"/>
                </a:solidFill>
                <a:latin typeface="Calibri"/>
              </a:rPr>
              <a:t>A series of eight to twelve resolved works on paper pairing the Douro and the Delaware.</a:t>
            </a:r>
          </a:p>
          <a:p>
            <a:pPr indent="-228600" marL="228600">
              <a:spcBef>
                <a:spcPts val="0"/>
              </a:spcBef>
              <a:spcAft>
                <a:spcPts val="1500"/>
              </a:spcAft>
              <a:buFont typeface="Arial"/>
              <a:buChar char="▪"/>
            </a:pPr>
            <a:r>
              <a:rPr sz="1800">
                <a:solidFill>
                  <a:srgbClr val="10302E"/>
                </a:solidFill>
                <a:latin typeface="Calibri"/>
              </a:rPr>
              <a:t>A documented body of source material and monotype plates for ongoing studio use.</a:t>
            </a:r>
          </a:p>
          <a:p>
            <a:pPr indent="-228600" marL="228600">
              <a:spcBef>
                <a:spcPts val="0"/>
              </a:spcBef>
              <a:spcAft>
                <a:spcPts val="1500"/>
              </a:spcAft>
              <a:buFont typeface="Arial"/>
              <a:buChar char="▪"/>
            </a:pPr>
            <a:r>
              <a:rPr sz="1800">
                <a:solidFill>
                  <a:srgbClr val="10302E"/>
                </a:solidFill>
                <a:latin typeface="Calibri"/>
              </a:rPr>
              <a:t>A process journal and reading notes in French and Portuguese.</a:t>
            </a:r>
          </a:p>
          <a:p>
            <a:pPr indent="-228600" marL="228600">
              <a:spcBef>
                <a:spcPts val="0"/>
              </a:spcBef>
              <a:spcAft>
                <a:spcPts val="1500"/>
              </a:spcAft>
              <a:buFont typeface="Arial"/>
              <a:buChar char="▪"/>
            </a:pPr>
            <a:r>
              <a:rPr sz="1800">
                <a:solidFill>
                  <a:srgbClr val="10302E"/>
                </a:solidFill>
                <a:latin typeface="Calibri"/>
              </a:rPr>
              <a:t>A short open studio and full photographic documentation for the gallery and portfolio.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4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E8F4F2"/>
                </a:solidFill>
                <a:latin typeface="Calibri"/>
              </a:rPr>
              <a:t>Tidal Registers  |  Nancy Crawford  |  Residency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E8F4F2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4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F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8A86"/>
                </a:solidFill>
                <a:latin typeface="Constantia"/>
              </a:rPr>
              <a:t>LOGISTICS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E8F4F2"/>
                </a:solidFill>
                <a:latin typeface="Constantia"/>
              </a:rPr>
              <a:t>Self-funded and self-sufficient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237744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10302E"/>
                </a:solidFill>
                <a:latin typeface="Constantia"/>
              </a:rPr>
              <a:t>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83080"/>
            <a:ext cx="82296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3E5C59"/>
                </a:solidFill>
                <a:latin typeface="Calibri"/>
              </a:rPr>
              <a:t>Full eight weeks of the spring 2027 cohort, March to May.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237744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10302E"/>
                </a:solidFill>
                <a:latin typeface="Constantia"/>
              </a:rPr>
              <a:t>Travel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743200"/>
            <a:ext cx="82296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3E5C59"/>
                </a:solidFill>
                <a:latin typeface="Calibri"/>
              </a:rPr>
              <a:t>From Philadelphia by a connecting flight to Porto, self-funded.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237744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10302E"/>
                </a:solidFill>
                <a:latin typeface="Constantia"/>
              </a:rPr>
              <a:t>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703320"/>
            <a:ext cx="82296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3E5C59"/>
                </a:solidFill>
                <a:latin typeface="Calibri"/>
              </a:rPr>
              <a:t>No studio assistance required beyond print facility access.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237744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10302E"/>
                </a:solidFill>
                <a:latin typeface="Constantia"/>
              </a:rPr>
              <a:t>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663440"/>
            <a:ext cx="82296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3E5C59"/>
                </a:solidFill>
                <a:latin typeface="Calibri"/>
              </a:rPr>
              <a:t>Application for the partial materials stipend only.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4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82296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E8F4F2"/>
                </a:solidFill>
                <a:latin typeface="Calibri"/>
              </a:rPr>
              <a:t>Tidal Registers  |  Nancy Crawford  |  Residency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10528"/>
            <a:ext cx="9144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E8F4F2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t_schuylk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48764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103120"/>
            <a:ext cx="640080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 i="0">
                <a:solidFill>
                  <a:srgbClr val="E8F4F2"/>
                </a:solidFill>
                <a:latin typeface="Constantia"/>
              </a:rPr>
              <a:t>At the water's edge</a:t>
            </a:r>
          </a:p>
          <a:p>
            <a:pPr algn="l">
              <a:spcBef>
                <a:spcPts val="1400"/>
              </a:spcBef>
            </a:pPr>
            <a:r>
              <a:rPr sz="1800" b="0" i="0">
                <a:solidFill>
                  <a:srgbClr val="E8F4F2"/>
                </a:solidFill>
                <a:latin typeface="Calibri"/>
              </a:rPr>
              <a:t>Thank you for considering this application. I would welcome the chance to work in Porto.</a:t>
            </a:r>
          </a:p>
          <a:p>
            <a:pPr algn="l">
              <a:spcBef>
                <a:spcPts val="1800"/>
              </a:spcBef>
            </a:pPr>
            <a:r>
              <a:rPr sz="1500" b="0" i="0">
                <a:solidFill>
                  <a:srgbClr val="E8F4F2"/>
                </a:solidFill>
                <a:latin typeface="Calibri"/>
              </a:rPr>
              <a:t>Nancy Crawford   |   nancy.crawford@finthesiss.ai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E8F4F2"/>
                </a:solidFill>
                <a:latin typeface="Calibri"/>
              </a:rPr>
              <a:t>References: Kim Albright, Ironwork Gallery, and a former faculty colleague.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100" dur="indefinite" nodeType="mainSeq">
                <p:childTnLst>
                  <p:par>
                    <p:cTn id="2" fill="hold">
                      <p:stCondLst>
                        <p:cond delay="0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