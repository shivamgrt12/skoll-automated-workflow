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t_penntrea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54880" y="4937760"/>
            <a:ext cx="7436815" cy="155448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4023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C68A2E"/>
                </a:solidFill>
                <a:latin typeface="Cambria"/>
              </a:rPr>
              <a:t>HARRINGTON ARTS ACADEMY  |  FOUNDATIONS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402336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221F28"/>
                </a:solidFill>
                <a:latin typeface="Cambria"/>
              </a:rPr>
              <a:t>Monotype and Collage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402336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0" i="0">
                <a:solidFill>
                  <a:srgbClr val="55505C"/>
                </a:solidFill>
                <a:latin typeface="Calibri"/>
              </a:rPr>
              <a:t>FND 104, Foundations of Mixed Media. A studio session on pulling a first print and building a considered surface.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074920"/>
            <a:ext cx="694944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FAF7F0"/>
                </a:solidFill>
                <a:latin typeface="Calibri"/>
              </a:rPr>
              <a:t>Instructor: Nancy Crawford.   Tuesday and Thursday, 10 a.m. to 1 p.m., Studio Building, Room 212.   Fall 2025.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C68A2E"/>
                </a:solidFill>
                <a:latin typeface="Cambria"/>
              </a:rPr>
              <a:t>SESSION 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AF7F0"/>
                </a:solidFill>
                <a:latin typeface="Cambria"/>
              </a:rPr>
              <a:t>What you leave knowing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Bef>
                <a:spcPts val="0"/>
              </a:spcBef>
              <a:spcAft>
                <a:spcPts val="1600"/>
              </a:spcAft>
              <a:buFont typeface="Arial"/>
              <a:buChar char="▪"/>
            </a:pPr>
            <a:r>
              <a:rPr sz="1900">
                <a:solidFill>
                  <a:srgbClr val="221F28"/>
                </a:solidFill>
                <a:latin typeface="Calibri"/>
              </a:rPr>
              <a:t>Pull a basic monotype and understand ink as a single breath on the plate.</a:t>
            </a:r>
          </a:p>
          <a:p>
            <a:pPr indent="-228600" marL="228600">
              <a:spcBef>
                <a:spcPts val="0"/>
              </a:spcBef>
              <a:spcAft>
                <a:spcPts val="1600"/>
              </a:spcAft>
              <a:buFont typeface="Arial"/>
              <a:buChar char="▪"/>
            </a:pPr>
            <a:r>
              <a:rPr sz="1900">
                <a:solidFill>
                  <a:srgbClr val="221F28"/>
                </a:solidFill>
                <a:latin typeface="Calibri"/>
              </a:rPr>
              <a:t>Compose with collage and found materials toward a considered surface.</a:t>
            </a:r>
          </a:p>
          <a:p>
            <a:pPr indent="-228600" marL="228600">
              <a:spcBef>
                <a:spcPts val="0"/>
              </a:spcBef>
              <a:spcAft>
                <a:spcPts val="1600"/>
              </a:spcAft>
              <a:buFont typeface="Arial"/>
              <a:buChar char="▪"/>
            </a:pPr>
            <a:r>
              <a:rPr sz="1900">
                <a:solidFill>
                  <a:srgbClr val="221F28"/>
                </a:solidFill>
                <a:latin typeface="Calibri"/>
              </a:rPr>
              <a:t>Speak clearly and generously in critique about your work and others'.</a:t>
            </a:r>
          </a:p>
          <a:p>
            <a:pPr indent="-228600" marL="228600">
              <a:spcBef>
                <a:spcPts val="0"/>
              </a:spcBef>
              <a:spcAft>
                <a:spcPts val="1600"/>
              </a:spcAft>
              <a:buFont typeface="Arial"/>
              <a:buChar char="▪"/>
            </a:pPr>
            <a:r>
              <a:rPr sz="1900">
                <a:solidFill>
                  <a:srgbClr val="221F28"/>
                </a:solidFill>
                <a:latin typeface="Calibri"/>
              </a:rPr>
              <a:t>Record decisions, not just results, in your process journal.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AF7F0"/>
                </a:solidFill>
                <a:latin typeface="Calibri"/>
              </a:rPr>
              <a:t>FND 104 Foundations of Mixed Media  |  N. Crawford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C68A2E"/>
                </a:solidFill>
                <a:latin typeface="Cambria"/>
              </a:rPr>
              <a:t>WHAT IS A MONOTYPE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AF7F0"/>
                </a:solidFill>
                <a:latin typeface="Cambria"/>
              </a:rPr>
              <a:t>One plate, one breath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85216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221F28"/>
                </a:solidFill>
                <a:latin typeface="Calibri"/>
              </a:rPr>
              <a:t>A monotype is a single printed image. You work ink directly on a smooth plate, then pull one strong impression. There is no edition. The plate keeps a ghost, never the same twice. That is the point: it teaches you to commit to a mark and to accept what the press gives back.</a:t>
            </a:r>
          </a:p>
        </p:txBody>
      </p:sp>
      <p:pic>
        <p:nvPicPr>
          <p:cNvPr id="8" name="Picture 7" descr="art_rustl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84632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AF7F0"/>
                </a:solidFill>
                <a:latin typeface="Calibri"/>
              </a:rPr>
              <a:t>FND 104 Foundations of Mixed Media  |  N. Crawford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C68A2E"/>
                </a:solidFill>
                <a:latin typeface="Cambria"/>
              </a:rPr>
              <a:t>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AF7F0"/>
                </a:solidFill>
                <a:latin typeface="Cambria"/>
              </a:rPr>
              <a:t>Five steps to a first pull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55648"/>
            <a:ext cx="256032" cy="256032"/>
          </a:xfrm>
          <a:prstGeom prst="ellipse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45920"/>
            <a:ext cx="31089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1" i="0">
                <a:solidFill>
                  <a:srgbClr val="221F28"/>
                </a:solidFill>
                <a:latin typeface="Cambria"/>
              </a:rPr>
              <a:t>Ink the 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6949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55505C"/>
                </a:solidFill>
                <a:latin typeface="Calibri"/>
              </a:rPr>
              <a:t>Roll a thin, even film. Less than you think.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70048"/>
            <a:ext cx="256032" cy="256032"/>
          </a:xfrm>
          <a:prstGeom prst="ellipse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60320"/>
            <a:ext cx="31089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1" i="0">
                <a:solidFill>
                  <a:srgbClr val="221F28"/>
                </a:solidFill>
                <a:latin typeface="Cambria"/>
              </a:rPr>
              <a:t>Work the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6949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55505C"/>
                </a:solidFill>
                <a:latin typeface="Calibri"/>
              </a:rPr>
              <a:t>Wipe, draw, and lift ink. Rags, brushes, your hands.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84448"/>
            <a:ext cx="256032" cy="256032"/>
          </a:xfrm>
          <a:prstGeom prst="ellipse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74720"/>
            <a:ext cx="31089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1" i="0">
                <a:solidFill>
                  <a:srgbClr val="221F28"/>
                </a:solidFill>
                <a:latin typeface="Cambria"/>
              </a:rPr>
              <a:t>Register the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74720"/>
            <a:ext cx="6949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55505C"/>
                </a:solidFill>
                <a:latin typeface="Calibri"/>
              </a:rPr>
              <a:t>Dampened paper, lined up square to the plate.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98848"/>
            <a:ext cx="256032" cy="256032"/>
          </a:xfrm>
          <a:prstGeom prst="ellipse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89120"/>
            <a:ext cx="31089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1" i="0">
                <a:solidFill>
                  <a:srgbClr val="221F28"/>
                </a:solidFill>
                <a:latin typeface="Cambria"/>
              </a:rPr>
              <a:t>Run the 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89120"/>
            <a:ext cx="6949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55505C"/>
                </a:solidFill>
                <a:latin typeface="Calibri"/>
              </a:rPr>
              <a:t>Even pressure, one steady pass. Do not peek.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413248"/>
            <a:ext cx="256032" cy="256032"/>
          </a:xfrm>
          <a:prstGeom prst="ellipse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303520"/>
            <a:ext cx="31089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1" i="0">
                <a:solidFill>
                  <a:srgbClr val="221F28"/>
                </a:solidFill>
                <a:latin typeface="Cambria"/>
              </a:rPr>
              <a:t>Pull and 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303520"/>
            <a:ext cx="6949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55505C"/>
                </a:solidFill>
                <a:latin typeface="Calibri"/>
              </a:rPr>
              <a:t>Lift slowly. Read what the plate told you.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AF7F0"/>
                </a:solidFill>
                <a:latin typeface="Calibri"/>
              </a:rPr>
              <a:t>FND 104 Foundations of Mixed Media  |  N. Crawford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C68A2E"/>
                </a:solidFill>
                <a:latin typeface="Cambria"/>
              </a:rPr>
              <a:t>COLLAGE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AF7F0"/>
                </a:solidFill>
                <a:latin typeface="Cambria"/>
              </a:rPr>
              <a:t>Holding two surfaces in one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221F28"/>
                </a:solidFill>
                <a:latin typeface="Calibri"/>
              </a:rPr>
              <a:t>Found material carries time. Let it stay a little dirty.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221F28"/>
                </a:solidFill>
                <a:latin typeface="Calibri"/>
              </a:rPr>
              <a:t>Two unrelated surfaces, held until they agree to be seen together.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221F28"/>
                </a:solidFill>
                <a:latin typeface="Calibri"/>
              </a:rPr>
              <a:t>Glue last. Compose dry, move things, then commit.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221F28"/>
                </a:solidFill>
                <a:latin typeface="Calibri"/>
              </a:rPr>
              <a:t>Edges matter. A torn edge speaks differently from a cut one.</a:t>
            </a:r>
          </a:p>
        </p:txBody>
      </p:sp>
      <p:pic>
        <p:nvPicPr>
          <p:cNvPr id="8" name="Picture 7" descr="art_qui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93776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AF7F0"/>
                </a:solidFill>
                <a:latin typeface="Calibri"/>
              </a:rPr>
              <a:t>FND 104 Foundations of Mixed Media  |  N. Crawford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C68A2E"/>
                </a:solidFill>
                <a:latin typeface="Cambria"/>
              </a:rPr>
              <a:t>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AF7F0"/>
                </a:solidFill>
                <a:latin typeface="Cambria"/>
              </a:rPr>
              <a:t>Where the eye goes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474720" cy="457200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AF7F0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30175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221F28"/>
                </a:solidFill>
                <a:latin typeface="Cambria"/>
              </a:rPr>
              <a:t>Weight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301752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55505C"/>
                </a:solidFill>
                <a:latin typeface="Calibri"/>
              </a:rPr>
              <a:t>Balance dark against light, busy against quiet.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3474720" cy="457200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AF7F0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77440"/>
            <a:ext cx="30175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221F28"/>
                </a:solidFill>
                <a:latin typeface="Cambria"/>
              </a:rPr>
              <a:t>Movement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00400"/>
            <a:ext cx="301752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55505C"/>
                </a:solidFill>
                <a:latin typeface="Calibri"/>
              </a:rPr>
              <a:t>Lead the eye in, around, and to a place of rest.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474720" cy="457200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828800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AF7F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377440"/>
            <a:ext cx="30175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221F28"/>
                </a:solidFill>
                <a:latin typeface="Cambria"/>
              </a:rPr>
              <a:t>Restraint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00400"/>
            <a:ext cx="301752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55505C"/>
                </a:solidFill>
                <a:latin typeface="Calibri"/>
              </a:rPr>
              <a:t>Leave room. Not every inch needs to work hard.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AF7F0"/>
                </a:solidFill>
                <a:latin typeface="Calibri"/>
              </a:rPr>
              <a:t>FND 104 Foundations of Mixed Media  |  N. Crawford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C68A2E"/>
                </a:solidFill>
                <a:latin typeface="Cambria"/>
              </a:rPr>
              <a:t>CRITIQUE NORMS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AF7F0"/>
                </a:solidFill>
                <a:latin typeface="Cambria"/>
              </a:rPr>
              <a:t>How we talk about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Bef>
                <a:spcPts val="0"/>
              </a:spcBef>
              <a:spcAft>
                <a:spcPts val="1600"/>
              </a:spcAft>
              <a:buFont typeface="Arial"/>
              <a:buChar char="▪"/>
            </a:pPr>
            <a:r>
              <a:rPr sz="1900">
                <a:solidFill>
                  <a:srgbClr val="221F28"/>
                </a:solidFill>
                <a:latin typeface="Calibri"/>
              </a:rPr>
              <a:t>Describe before you judge. Say what you see first.</a:t>
            </a:r>
          </a:p>
          <a:p>
            <a:pPr indent="-228600" marL="228600">
              <a:spcBef>
                <a:spcPts val="0"/>
              </a:spcBef>
              <a:spcAft>
                <a:spcPts val="1600"/>
              </a:spcAft>
              <a:buFont typeface="Arial"/>
              <a:buChar char="▪"/>
            </a:pPr>
            <a:r>
              <a:rPr sz="1900">
                <a:solidFill>
                  <a:srgbClr val="221F28"/>
                </a:solidFill>
                <a:latin typeface="Calibri"/>
              </a:rPr>
              <a:t>Speak to the work, not the person. Be generous and precise.</a:t>
            </a:r>
          </a:p>
          <a:p>
            <a:pPr indent="-228600" marL="228600">
              <a:spcBef>
                <a:spcPts val="0"/>
              </a:spcBef>
              <a:spcAft>
                <a:spcPts val="1600"/>
              </a:spcAft>
              <a:buFont typeface="Arial"/>
              <a:buChar char="▪"/>
            </a:pPr>
            <a:r>
              <a:rPr sz="1900">
                <a:solidFill>
                  <a:srgbClr val="221F28"/>
                </a:solidFill>
                <a:latin typeface="Calibri"/>
              </a:rPr>
              <a:t>Ask the maker one real question before offering advice.</a:t>
            </a:r>
          </a:p>
          <a:p>
            <a:pPr indent="-228600" marL="228600">
              <a:spcBef>
                <a:spcPts val="0"/>
              </a:spcBef>
              <a:spcAft>
                <a:spcPts val="1600"/>
              </a:spcAft>
              <a:buFont typeface="Arial"/>
              <a:buChar char="▪"/>
            </a:pPr>
            <a:r>
              <a:rPr sz="1900">
                <a:solidFill>
                  <a:srgbClr val="221F28"/>
                </a:solidFill>
                <a:latin typeface="Calibri"/>
              </a:rPr>
              <a:t>Take notes on your own piece. Listening is half the grade.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AF7F0"/>
                </a:solidFill>
                <a:latin typeface="Calibri"/>
              </a:rPr>
              <a:t>FND 104 Foundations of Mixed Media  |  N. Crawford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C68A2E"/>
                </a:solidFill>
                <a:latin typeface="Cambria"/>
              </a:rPr>
              <a:t>ASSIGNMENT AND GRADING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AF7F0"/>
                </a:solidFill>
                <a:latin typeface="Cambria"/>
              </a:rPr>
              <a:t>Due at the next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0" i="0">
                <a:solidFill>
                  <a:srgbClr val="221F28"/>
                </a:solidFill>
                <a:latin typeface="Calibri"/>
              </a:rPr>
              <a:t>Pull three monotypes and build one collage that incorporates at least one printed surface and one found material. Bring your process journal with notes on what you chose and why.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606393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21F28"/>
                </a:solidFill>
                <a:latin typeface="Calibri"/>
              </a:rPr>
              <a:t>Studio work and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6473" y="3806190"/>
            <a:ext cx="6177687" cy="29718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46473" y="3806190"/>
            <a:ext cx="6177687" cy="297180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69880" y="3657600"/>
            <a:ext cx="777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21F28"/>
                </a:solidFill>
                <a:latin typeface="Calibri"/>
              </a:rP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3606393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21F28"/>
                </a:solidFill>
                <a:latin typeface="Calibri"/>
              </a:rPr>
              <a:t>Participation and critique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6473" y="4400550"/>
            <a:ext cx="6177687" cy="29718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46473" y="4400550"/>
            <a:ext cx="3088843" cy="297180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4251960"/>
            <a:ext cx="777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21F28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606393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21F28"/>
                </a:solidFill>
                <a:latin typeface="Calibri"/>
              </a:rPr>
              <a:t>Process journal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6473" y="4994910"/>
            <a:ext cx="6177687" cy="29718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6473" y="4994910"/>
            <a:ext cx="1853306" cy="297180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4846320"/>
            <a:ext cx="777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21F28"/>
                </a:solidFill>
                <a:latin typeface="Calibri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40680"/>
            <a:ext cx="3606393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21F28"/>
                </a:solidFill>
                <a:latin typeface="Calibri"/>
              </a:rPr>
              <a:t>Final portfolio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6473" y="5589270"/>
            <a:ext cx="6177687" cy="29718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6473" y="5589270"/>
            <a:ext cx="1235537" cy="297180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5440680"/>
            <a:ext cx="777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21F28"/>
                </a:solidFill>
                <a:latin typeface="Calibri"/>
              </a:rPr>
              <a:t>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AF7F0"/>
                </a:solidFill>
                <a:latin typeface="Calibri"/>
              </a:rPr>
              <a:t>FND 104 Foundations of Mixed Media  |  N. Crawford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C68A2E"/>
                </a:solidFill>
                <a:latin typeface="Cambria"/>
              </a:rPr>
              <a:t>TERM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AF7F0"/>
                </a:solidFill>
                <a:latin typeface="Cambria"/>
              </a:rPr>
              <a:t>Fall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657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AF7F0"/>
                </a:solidFill>
                <a:latin typeface="Calibri"/>
              </a:rPr>
              <a:t>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54480"/>
            <a:ext cx="3657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AF7F0"/>
                </a:solidFill>
                <a:latin typeface="Calibri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19" y="1554480"/>
            <a:ext cx="3657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AF7F0"/>
                </a:solidFill>
                <a:latin typeface="Calibri"/>
              </a:rPr>
              <a:t>Due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23774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21F28"/>
                </a:solidFill>
                <a:latin typeface="Calibri"/>
              </a:rPr>
              <a:t>Weeks 1 to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03120"/>
            <a:ext cx="45720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55505C"/>
                </a:solidFill>
                <a:latin typeface="Calibri"/>
              </a:rPr>
              <a:t>Mark, surface, and the process journal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29260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05C"/>
                </a:solidFill>
                <a:latin typeface="Calibri"/>
              </a:rPr>
              <a:t>Journal check, week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52927"/>
            <a:ext cx="10881360" cy="713232"/>
          </a:xfrm>
          <a:prstGeom prst="rect">
            <a:avLst/>
          </a:prstGeom>
          <a:solidFill>
            <a:srgbClr val="F2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52927"/>
            <a:ext cx="23774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21F28"/>
                </a:solidFill>
                <a:latin typeface="Calibri"/>
              </a:rPr>
              <a:t>Weeks 4 to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52927"/>
            <a:ext cx="45720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55505C"/>
                </a:solidFill>
                <a:latin typeface="Calibri"/>
              </a:rPr>
              <a:t>Monotype and relief printmaking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52927"/>
            <a:ext cx="29260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05C"/>
                </a:solidFill>
                <a:latin typeface="Calibri"/>
              </a:rPr>
              <a:t>Print set, week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02735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02735"/>
            <a:ext cx="23774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21F28"/>
                </a:solidFill>
                <a:latin typeface="Calibri"/>
              </a:rPr>
              <a:t>Weeks 7 to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602735"/>
            <a:ext cx="45720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55505C"/>
                </a:solidFill>
                <a:latin typeface="Calibri"/>
              </a:rPr>
              <a:t>Collage and composition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602735"/>
            <a:ext cx="29260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05C"/>
                </a:solidFill>
                <a:latin typeface="Calibri"/>
              </a:rPr>
              <a:t>Collage study, week 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52544"/>
            <a:ext cx="10881360" cy="713232"/>
          </a:xfrm>
          <a:prstGeom prst="rect">
            <a:avLst/>
          </a:prstGeom>
          <a:solidFill>
            <a:srgbClr val="F2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52544"/>
            <a:ext cx="23774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21F28"/>
                </a:solidFill>
                <a:latin typeface="Calibri"/>
              </a:rPr>
              <a:t>Weeks 10 to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352544"/>
            <a:ext cx="45720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55505C"/>
                </a:solidFill>
                <a:latin typeface="Calibri"/>
              </a:rPr>
              <a:t>Found materials and assemblage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352544"/>
            <a:ext cx="29260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05C"/>
                </a:solidFill>
                <a:latin typeface="Calibri"/>
              </a:rPr>
              <a:t>Assemblage, week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102352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102352"/>
            <a:ext cx="23774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21F28"/>
                </a:solidFill>
                <a:latin typeface="Calibri"/>
              </a:rPr>
              <a:t>Weeks 13 to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102352"/>
            <a:ext cx="45720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55505C"/>
                </a:solidFill>
                <a:latin typeface="Calibri"/>
              </a:rPr>
              <a:t>Final portfolio and critique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102352"/>
            <a:ext cx="29260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55505C"/>
                </a:solidFill>
                <a:latin typeface="Calibri"/>
              </a:rPr>
              <a:t>Portfolio, December 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AF7F0"/>
                </a:solidFill>
                <a:latin typeface="Calibri"/>
              </a:rPr>
              <a:t>FND 104 Foundations of Mixed Media  |  N. Crawford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FAF7F0"/>
                </a:solidFill>
                <a:latin typeface="Cambria"/>
              </a:rPr>
              <a:t>Try things, and fail usefully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FAF7F0"/>
                </a:solidFill>
                <a:latin typeface="Calibri"/>
              </a:rPr>
              <a:t>Plain language, steady work, and respect for the room. Ask questions early.</a:t>
            </a:r>
          </a:p>
          <a:p>
            <a:pPr algn="l">
              <a:spcBef>
                <a:spcPts val="1800"/>
              </a:spcBef>
            </a:pPr>
            <a:r>
              <a:rPr sz="1500" b="0" i="0">
                <a:solidFill>
                  <a:srgbClr val="FAF7F0"/>
                </a:solidFill>
                <a:latin typeface="Calibri"/>
              </a:rPr>
              <a:t>Office hours Thursday after class, by arrangement.   ncrawford@harringtonartsacademy.edu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2926080" cy="64008"/>
          </a:xfrm>
          <a:prstGeom prst="rect">
            <a:avLst/>
          </a:prstGeom>
          <a:solidFill>
            <a:srgbClr val="C6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