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Requests</c:v>
                </c:pt>
              </c:strCache>
            </c:strRef>
          </c:tx>
          <c:spPr>
            <a:solidFill>
              <a:srgbClr val="A8D84A"/>
            </a:solidFill>
          </c:spPr>
          <c:cat>
            <c:strRef>
              <c:f>Sheet1!$A$2:$A$5</c:f>
              <c:strCache>
                <c:ptCount val="4"/>
                <c:pt idx="0">
                  <c:v>Finding sources</c:v>
                </c:pt>
                <c:pt idx="1">
                  <c:v>Citations</c:v>
                </c:pt>
                <c:pt idx="2">
                  <c:v>Reserves</c:v>
                </c:pt>
                <c:pt idx="3">
                  <c:v>Tech and printing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</c:v>
                </c:pt>
                <c:pt idx="1">
                  <c:v>21</c:v>
                </c:pt>
                <c:pt idx="2">
                  <c:v>18</c:v>
                </c:pt>
                <c:pt idx="3">
                  <c:v>12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 w="9525">
            <a:solidFill>
              <a:srgbClr val="B0A69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9525">
              <a:solidFill>
                <a:srgbClr val="B0A696">
                  <a:alpha val="16000"/>
                </a:srgbClr>
              </a:solidFill>
            </a:ln>
          </c:spPr>
        </c:majorGridlines>
        <c:majorTickMark val="out"/>
        <c:minorTickMark val="none"/>
        <c:tickLblPos val="nextTo"/>
        <c:spPr>
          <a:ln w="9525">
            <a:solidFill>
              <a:srgbClr val="B0A696"/>
            </a:solidFill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EDE6D6"/>
          </a:solidFill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A8D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 i="0">
                <a:solidFill>
                  <a:srgbClr val="F2F2EE"/>
                </a:solidFill>
              </a:rPr>
              <a:t>Research Help Desk Playbook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1">
                <a:solidFill>
                  <a:srgbClr val="A8D84A"/>
                </a:solidFill>
              </a:rPr>
              <a:t>How I run a Founders Library shift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A6A6A0"/>
                </a:solidFill>
              </a:rPr>
              <a:t>Nicole Pfeiffer  |  Library Assistant  |  CSU Founders Library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A8D84A"/>
                </a:solidFill>
              </a:rPr>
              <a:t>Shift 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212080" cy="4023360"/>
          </a:xfrm>
          <a:prstGeom prst="rect">
            <a:avLst/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4572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>
                <a:solidFill>
                  <a:srgbClr val="F2F2EE"/>
                </a:solidFill>
              </a:rPr>
              <a:t>-  Open the desk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F2F2EE"/>
                </a:solidFill>
              </a:rPr>
              <a:t>-  Catalogue searches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F2F2EE"/>
                </a:solidFill>
              </a:rPr>
              <a:t>-  Google Scholar help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645920"/>
            <a:ext cx="5212080" cy="4023360"/>
          </a:xfrm>
          <a:prstGeom prst="rect">
            <a:avLst/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2011680"/>
            <a:ext cx="4572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>
                <a:solidFill>
                  <a:srgbClr val="F2F2EE"/>
                </a:solidFill>
              </a:rPr>
              <a:t>-  Reserves and circulation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F2F2EE"/>
                </a:solidFill>
              </a:rPr>
              <a:t>-  Citation hygiene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F2F2EE"/>
                </a:solidFill>
              </a:rPr>
              <a:t>-  Close and handoff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A8D84A"/>
                </a:solidFill>
              </a:rPr>
              <a:t>Catalogue Search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F2F2EE"/>
                </a:solidFill>
              </a:rPr>
              <a:t>-  Confirm the patron topic and the kind of source they need.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F2F2EE"/>
                </a:solidFill>
              </a:rPr>
              <a:t>-  Start broad in the catalogue, then narrow by call number range.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F2F2EE"/>
                </a:solidFill>
              </a:rPr>
              <a:t>-  Cross check with Google Scholar for recent articles.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F2F2EE"/>
                </a:solidFill>
              </a:rPr>
              <a:t>-  Verify the item status before sending anyone to the stacks.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F2F2EE"/>
                </a:solidFill>
              </a:rPr>
              <a:t>-  Note any reserves request for Angela Price to confirm.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A8D84A"/>
                </a:solidFill>
              </a:rPr>
              <a:t>My Shift Schedule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solidFill>
            <a:srgbClr val="A8D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17904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C1C20"/>
                </a:solidFill>
              </a:rPr>
              <a:t>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517904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C1C20"/>
                </a:solidFill>
              </a:rPr>
              <a:t>Hours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517904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C1C20"/>
                </a:solidFill>
              </a:rPr>
              <a:t>Focus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57400"/>
            <a:ext cx="10698480" cy="868680"/>
          </a:xfrm>
          <a:prstGeom prst="rect">
            <a:avLst/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58568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2F2EE"/>
                </a:solidFill>
              </a:rPr>
              <a:t>Monday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58568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A6A6A0"/>
                </a:solidFill>
              </a:rPr>
              <a:t>2:00 to 6:00 PM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258568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A6A6A0"/>
                </a:solidFill>
              </a:rPr>
              <a:t>Circulation desk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017520"/>
            <a:ext cx="10698480" cy="868680"/>
          </a:xfrm>
          <a:prstGeom prst="rect">
            <a:avLst/>
          </a:prstGeom>
          <a:solidFill>
            <a:srgbClr val="23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18688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2F2EE"/>
                </a:solidFill>
              </a:rPr>
              <a:t>Wednesday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218688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A6A6A0"/>
                </a:solidFill>
              </a:rPr>
              <a:t>2:00 to 6:00 PM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218688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A6A6A0"/>
                </a:solidFill>
              </a:rPr>
              <a:t>Shelving and reserves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977640"/>
            <a:ext cx="10698480" cy="868680"/>
          </a:xfrm>
          <a:prstGeom prst="rect">
            <a:avLst/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78808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2F2EE"/>
                </a:solidFill>
              </a:rPr>
              <a:t>Friday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178808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A6A6A0"/>
                </a:solidFill>
              </a:rPr>
              <a:t>12:00 to 4:00 PM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178808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A6A6A0"/>
                </a:solidFill>
              </a:rPr>
              <a:t>Research help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8521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A8D84A"/>
                </a:solidFill>
              </a:rPr>
              <a:t>12 hours per week at 12.50 dollars per hour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A8D84A"/>
                </a:solidFill>
              </a:rPr>
              <a:t>Help Requests by Type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822960" y="1371600"/>
          <a:ext cx="105156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0" y="2560320"/>
            <a:ext cx="5760720" cy="91440"/>
          </a:xfrm>
          <a:prstGeom prst="rect">
            <a:avLst/>
          </a:prstGeom>
          <a:solidFill>
            <a:srgbClr val="A8D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F2F2EE"/>
                </a:solidFill>
              </a:rPr>
              <a:t>Steady Hands, Accurate 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65760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1">
                <a:solidFill>
                  <a:srgbClr val="A8D84A"/>
                </a:solidFill>
              </a:rPr>
              <a:t>Careful, repeatable work done right the first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A6A6A0"/>
                </a:solidFill>
              </a:rPr>
              <a:t>Nicole Pfeiffer  |  Founders Library  |  Cumberland State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Help Desk Playbook</dc:title>
  <dc:subject/>
  <dc:creator>Nicole Abena Pfeiffer</dc:creator>
  <cp:keywords/>
  <dc:description/>
  <cp:lastModifiedBy/>
  <cp:revision>1</cp:revision>
  <dcterms:created xsi:type="dcterms:W3CDTF">2026-02-09T11:00:00Z</dcterms:created>
  <dcterms:modified xsi:type="dcterms:W3CDTF">2026-02-09T11:00:00Z</dcterms:modified>
  <cp:category/>
</cp:coreProperties>
</file>