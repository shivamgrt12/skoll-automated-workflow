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E0A93B"/>
            </a:solidFill>
          </c:spPr>
          <c:cat>
            <c:strRef>
              <c:f>Sheet1!$A$2:$A$7</c:f>
              <c:strCache>
                <c:ptCount val="6"/>
                <c:pt idx="0">
                  <c:v>Rent</c:v>
                </c:pt>
                <c:pt idx="1">
                  <c:v>Groceries</c:v>
                </c:pt>
                <c:pt idx="2">
                  <c:v>Subscriptions</c:v>
                </c:pt>
                <c:pt idx="3">
                  <c:v>Dining</c:v>
                </c:pt>
                <c:pt idx="4">
                  <c:v>Other</c:v>
                </c:pt>
                <c:pt idx="5">
                  <c:v>Buffer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610</c:v>
                </c:pt>
                <c:pt idx="1">
                  <c:v>245</c:v>
                </c:pt>
                <c:pt idx="2">
                  <c:v>30</c:v>
                </c:pt>
                <c:pt idx="3">
                  <c:v>135</c:v>
                </c:pt>
                <c:pt idx="4">
                  <c:v>285</c:v>
                </c:pt>
                <c:pt idx="5">
                  <c:v>195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0A69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B0A696">
                  <a:alpha val="16000"/>
                </a:srgbClr>
              </a:solidFill>
            </a:ln>
          </c:spPr>
        </c:majorGridlines>
        <c:majorTickMark val="out"/>
        <c:minorTickMark val="none"/>
        <c:tickLblPos val="nextTo"/>
        <c:spPr>
          <a:ln w="9525">
            <a:solidFill>
              <a:srgbClr val="B0A696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DE6D6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606040"/>
            <a:ext cx="1463040" cy="109728"/>
          </a:xfrm>
          <a:prstGeom prst="rect">
            <a:avLst/>
          </a:prstGeom>
          <a:solidFill>
            <a:srgbClr val="F4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4EEF8"/>
                </a:solidFill>
              </a:rPr>
              <a:t>Junior Year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E0A93B"/>
                </a:solidFill>
              </a:rPr>
              <a:t>Mapping fall 2026 deadlines, money, and the pre-med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B6DA"/>
                </a:solidFill>
              </a:rPr>
              <a:t>Nicole Abena Pfeiffer  |  Cumberland State University  |  Nashville, TN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3F2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0A93B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4EEF8"/>
                </a:solidFill>
              </a:rPr>
              <a:t>-  Where I stand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EEF8"/>
                </a:solidFill>
              </a:rPr>
              <a:t>-  Fall course load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EEF8"/>
                </a:solidFill>
              </a:rPr>
              <a:t>-  Money and buffer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EEF8"/>
                </a:solidFill>
              </a:rPr>
              <a:t>-  The internship choice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EEF8"/>
                </a:solidFill>
              </a:rPr>
              <a:t>-  Health and bandwidth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EEF8"/>
                </a:solidFill>
              </a:rPr>
              <a:t>-  Next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4008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4EEF8"/>
                </a:solidFill>
              </a:rPr>
              <a:t>Why this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C9B6DA"/>
                </a:solidFill>
              </a:rPr>
              <a:t>-  Junior year is where the pre-med decision gets real.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9B6DA"/>
                </a:solidFill>
              </a:rPr>
              <a:t>-  Scholarship needs a 3.30 cumulative GPA. I am at 3.66.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9B6DA"/>
                </a:solidFill>
              </a:rPr>
              <a:t>-  Housing is the one gap aid does not cover, so the budget has to hold.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9B6DA"/>
                </a:solidFill>
              </a:rPr>
              <a:t>-  I want to protect time and skin while keeping the Dean's List 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F2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A93B"/>
                </a:solidFill>
              </a:rPr>
              <a:t>Fall 2026 Course 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960120"/>
          </a:xfrm>
          <a:prstGeom prst="rect">
            <a:avLst/>
          </a:prstGeom>
          <a:solidFill>
            <a:srgbClr val="3F2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46304" cy="96012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A93B"/>
                </a:solidFill>
              </a:rPr>
              <a:t>BIO 220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90472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4EEF8"/>
                </a:solidFill>
              </a:rPr>
              <a:t>Cell Biology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36192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B6DA"/>
                </a:solidFill>
              </a:rPr>
              <a:t>Mon, Wed 9:00 to 10:15 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11064240" cy="960120"/>
          </a:xfrm>
          <a:prstGeom prst="rect">
            <a:avLst/>
          </a:prstGeom>
          <a:solidFill>
            <a:srgbClr val="4A3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146304" cy="96012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A93B"/>
                </a:solidFill>
              </a:rPr>
              <a:t>CHEM 301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87752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4EEF8"/>
                </a:solidFill>
              </a:rPr>
              <a:t>Organic Chemistry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33472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B6DA"/>
                </a:solidFill>
              </a:rPr>
              <a:t>Tue, Thu 11:00 to 12:15 PM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1064240" cy="960120"/>
          </a:xfrm>
          <a:prstGeom prst="rect">
            <a:avLst/>
          </a:prstGeom>
          <a:solidFill>
            <a:srgbClr val="3F2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146304" cy="96012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2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A93B"/>
                </a:solidFill>
              </a:rPr>
              <a:t>CLST 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685032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4EEF8"/>
                </a:solidFill>
              </a:rPr>
              <a:t>Cultural Studies Literature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30752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B6DA"/>
                </a:solidFill>
              </a:rPr>
              <a:t>Tue, Thu 2:00 to 3:15 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11064240" cy="960120"/>
          </a:xfrm>
          <a:prstGeom prst="rect">
            <a:avLst/>
          </a:prstGeom>
          <a:solidFill>
            <a:srgbClr val="4A3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146304" cy="96012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82312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A93B"/>
                </a:solidFill>
              </a:rPr>
              <a:t>MATH 215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782312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4EEF8"/>
                </a:solidFill>
              </a:rPr>
              <a:t>Statistics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28032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9B6DA"/>
                </a:solidFill>
              </a:rPr>
              <a:t>Mon, Wed, Fri 11:00 to 11:50 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A93B"/>
                </a:solidFill>
              </a:rPr>
              <a:t>Monthly Budget Shape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10515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0A93B"/>
                </a:solidFill>
              </a:rPr>
              <a:t>The Summer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5212080" cy="4206240"/>
          </a:xfrm>
          <a:prstGeom prst="rect">
            <a:avLst/>
          </a:prstGeom>
          <a:solidFill>
            <a:srgbClr val="3F2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9360" y="1554480"/>
            <a:ext cx="5212080" cy="4206240"/>
          </a:xfrm>
          <a:prstGeom prst="rect">
            <a:avLst/>
          </a:prstGeom>
          <a:solidFill>
            <a:srgbClr val="4A3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4EEF8"/>
                </a:solidFill>
              </a:rPr>
              <a:t>Summer Research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C9B6DA"/>
                </a:solidFill>
              </a:rPr>
              <a:t>-  Summer 2027 research, local plants and pollinators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B6DA"/>
                </a:solidFill>
              </a:rPr>
              <a:t>-  Formal application later in the winter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B6DA"/>
                </a:solidFill>
              </a:rPr>
              <a:t>-  Program decision follows in the spring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B6DA"/>
                </a:solidFill>
              </a:rPr>
              <a:t>-  Tests the pre-med question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4EEF8"/>
                </a:solidFill>
              </a:rPr>
              <a:t>What it costs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4688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C9B6DA"/>
                </a:solidFill>
              </a:rPr>
              <a:t>-  A Nashville summer instead of Atlanta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B6DA"/>
                </a:solidFill>
              </a:rPr>
              <a:t>-  Reduced library hours for the season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B6DA"/>
                </a:solidFill>
              </a:rPr>
              <a:t>-  Full time lab schedule commitment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C9B6DA"/>
                </a:solidFill>
              </a:rPr>
              <a:t>-  Worth it to learn if research is the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3F2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E0A93B"/>
                </a:solidFill>
              </a:rPr>
              <a:t>Next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F4EEF8"/>
                </a:solidFill>
              </a:rPr>
              <a:t>Hold the GPA, hold the buffer, submit the application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C9B6DA"/>
                </a:solidFill>
              </a:rPr>
              <a:t>Nicole Abena Pfeiffer  |  npfeiffer@cumberlandstate.edu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Junior Year Roadmap</dc:title>
  <dc:subject/>
  <dc:creator>Nicole Abena Pfeiffer</dc:creator>
  <cp:keywords/>
  <dc:description/>
  <cp:lastModifiedBy/>
  <cp:revision>1</cp:revision>
  <dcterms:created xsi:type="dcterms:W3CDTF">2026-10-12T09:30:00Z</dcterms:created>
  <dcterms:modified xsi:type="dcterms:W3CDTF">2026-10-12T09:30:00Z</dcterms:modified>
  <cp:category/>
</cp:coreProperties>
</file>