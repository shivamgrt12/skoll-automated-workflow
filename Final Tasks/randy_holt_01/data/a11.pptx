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4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914400"/>
            <a:ext cx="1463040" cy="1463040"/>
          </a:xfrm>
          <a:prstGeom prst="ellipse">
            <a:avLst/>
          </a:prstGeom>
          <a:solidFill>
            <a:srgbClr val="508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47120" y="1828800"/>
            <a:ext cx="1005840" cy="1005840"/>
          </a:xfrm>
          <a:prstGeom prst="ellipse">
            <a:avLst/>
          </a:prstGeom>
          <a:solidFill>
            <a:srgbClr val="8CA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784080" y="1463040"/>
            <a:ext cx="822960" cy="822960"/>
          </a:xfrm>
          <a:prstGeom prst="ellipse">
            <a:avLst/>
          </a:prstGeom>
          <a:solidFill>
            <a:srgbClr val="3C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035040"/>
            <a:ext cx="12188952" cy="45720"/>
          </a:xfrm>
          <a:prstGeom prst="rect">
            <a:avLst/>
          </a:prstGeom>
          <a:solidFill>
            <a:srgbClr val="ACB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7315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ACBD9C"/>
                </a:solidFill>
                <a:latin typeface="Calibri"/>
              </a:rPr>
              <a:t>VOLUNTEER TRAINING .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Cambria"/>
              </a:rPr>
              <a:t>Trauma-Informed Advocacy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F0F4E9"/>
                </a:solidFill>
                <a:latin typeface="Cambria"/>
              </a:rPr>
              <a:t>Boundaries, language, and what to do when a survivor cries.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377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ACBD9C"/>
                </a:solidFill>
                <a:latin typeface="Calibri"/>
              </a:rPr>
              <a:t>Desert Bloom Women's Shelter  .  Tuesday + Thursday cohort  .  6:30 - 8:30 PM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4864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mbria"/>
              </a:rPr>
              <a:t>Led by Randy Holt and Diana Ochoa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217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ACBD9C"/>
                </a:solidFill>
                <a:latin typeface="Calibri"/>
              </a:rPr>
              <a:t>Internal training material. Confidentiality applies to every example in these slides.</a:t>
            </a:r>
          </a:p>
        </p:txBody>
      </p:sp>
    </p:spTree>
  </p:cSld>
  <p:clrMapOvr>
    <a:masterClrMapping/>
  </p:clrMapOvr>
  <p:transition xmlns:p="http://schemas.openxmlformats.org/presentationml/2006/main"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3E6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20403A"/>
                </a:solidFill>
                <a:latin typeface="Cambria"/>
              </a:rPr>
              <a:t>Ground rules, before anything else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E786E"/>
                </a:solidFill>
                <a:latin typeface="Calibri"/>
              </a:rPr>
              <a:t>Memorise these. The work below them only works because of them.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1645920"/>
            <a:ext cx="502920" cy="502920"/>
          </a:xfrm>
          <a:prstGeom prst="ellipse">
            <a:avLst/>
          </a:prstGeom>
          <a:solidFill>
            <a:srgbClr val="3E6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73352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5544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C2624"/>
                </a:solidFill>
                <a:latin typeface="Cambria"/>
              </a:rPr>
              <a:t>Confidentiality is the floor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01168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6504B"/>
                </a:solidFill>
                <a:latin typeface="Calibri"/>
              </a:rPr>
              <a:t>Resident names, photographs, and identifying details do not leave the building. Not to spouses, not to other volunteers, not to social media.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834640"/>
            <a:ext cx="502920" cy="502920"/>
          </a:xfrm>
          <a:prstGeom prst="ellipse">
            <a:avLst/>
          </a:prstGeom>
          <a:solidFill>
            <a:srgbClr val="3E6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862072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7432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C2624"/>
                </a:solidFill>
                <a:latin typeface="Cambria"/>
              </a:rPr>
              <a:t>Boundaries protect both sides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20040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6504B"/>
                </a:solidFill>
                <a:latin typeface="Calibri"/>
              </a:rPr>
              <a:t>We do not exchange personal phone numbers with residents. We do not offer rides, money, or housing. The shelter has channels for those.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023360"/>
            <a:ext cx="502920" cy="502920"/>
          </a:xfrm>
          <a:prstGeom prst="ellipse">
            <a:avLst/>
          </a:prstGeom>
          <a:solidFill>
            <a:srgbClr val="3E6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2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9319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C2624"/>
                </a:solidFill>
                <a:latin typeface="Cambria"/>
              </a:rPr>
              <a:t>We are not therapists or attorneys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38912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6504B"/>
                </a:solidFill>
                <a:latin typeface="Calibri"/>
              </a:rPr>
              <a:t>We explain process. We listen. We point to the clinic. We do not diagnose, prescribe, or advise on legal strategy.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5212080"/>
            <a:ext cx="502920" cy="502920"/>
          </a:xfrm>
          <a:prstGeom prst="ellipse">
            <a:avLst/>
          </a:prstGeom>
          <a:solidFill>
            <a:srgbClr val="3E6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39512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51206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C2624"/>
                </a:solidFill>
                <a:latin typeface="Cambria"/>
              </a:rPr>
              <a:t>Care for yourself counts as 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55778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6504B"/>
                </a:solidFill>
                <a:latin typeface="Calibri"/>
              </a:rPr>
              <a:t>Vicarious trauma is real. We debrief after every group. We use our supervision hour. We say when we are too tired to be useful.</a:t>
            </a:r>
          </a:p>
        </p:txBody>
      </p:sp>
    </p:spTree>
  </p:cSld>
  <p:clrMapOvr>
    <a:masterClrMapping/>
  </p:clrMapOvr>
  <p:transition xmlns:p="http://schemas.openxmlformats.org/presentationml/2006/main"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20403A"/>
                </a:solidFill>
                <a:latin typeface="Cambria"/>
              </a:rPr>
              <a:t>Language, side by side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787D78"/>
                </a:solidFill>
                <a:latin typeface="Calibri"/>
              </a:rPr>
              <a:t>What we say. What we do not. Why it lands differently.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5394960" cy="1188720"/>
          </a:xfrm>
          <a:prstGeom prst="rect">
            <a:avLst/>
          </a:prstGeom>
          <a:solidFill>
            <a:srgbClr val="EC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109728" cy="1188720"/>
          </a:xfrm>
          <a:prstGeom prst="rect">
            <a:avLst/>
          </a:prstGeom>
          <a:solidFill>
            <a:srgbClr val="3E6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5564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E6658"/>
                </a:solidFill>
                <a:latin typeface="Calibri"/>
              </a:rPr>
              <a:t>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03120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C2624"/>
                </a:solidFill>
                <a:latin typeface="Cambria"/>
              </a:rPr>
              <a:t>What is one thing that felt possible this week?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645920"/>
            <a:ext cx="5394960" cy="1188720"/>
          </a:xfrm>
          <a:prstGeom prst="rect">
            <a:avLst/>
          </a:prstGeom>
          <a:solidFill>
            <a:srgbClr val="FAE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645920"/>
            <a:ext cx="109728" cy="1188720"/>
          </a:xfrm>
          <a:prstGeom prst="rect">
            <a:avLst/>
          </a:prstGeom>
          <a:solidFill>
            <a:srgbClr val="A03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75564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A03C32"/>
                </a:solidFill>
                <a:latin typeface="Calibri"/>
              </a:rPr>
              <a:t>AVOID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103120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C2624"/>
                </a:solidFill>
                <a:latin typeface="Cambria"/>
              </a:rPr>
              <a:t>What did you accomplish this week?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108960"/>
            <a:ext cx="5394960" cy="1188720"/>
          </a:xfrm>
          <a:prstGeom prst="rect">
            <a:avLst/>
          </a:prstGeom>
          <a:solidFill>
            <a:srgbClr val="EC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108960"/>
            <a:ext cx="109728" cy="1188720"/>
          </a:xfrm>
          <a:prstGeom prst="rect">
            <a:avLst/>
          </a:prstGeom>
          <a:solidFill>
            <a:srgbClr val="3E6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21868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E6658"/>
                </a:solidFill>
                <a:latin typeface="Calibri"/>
              </a:rPr>
              <a:t>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566160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C2624"/>
                </a:solidFill>
                <a:latin typeface="Cambria"/>
              </a:rPr>
              <a:t>It makes sense that you feel that way.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108960"/>
            <a:ext cx="5394960" cy="1188720"/>
          </a:xfrm>
          <a:prstGeom prst="rect">
            <a:avLst/>
          </a:prstGeom>
          <a:solidFill>
            <a:srgbClr val="FAE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3108960"/>
            <a:ext cx="109728" cy="1188720"/>
          </a:xfrm>
          <a:prstGeom prst="rect">
            <a:avLst/>
          </a:prstGeom>
          <a:solidFill>
            <a:srgbClr val="A03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21868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A03C32"/>
                </a:solidFill>
                <a:latin typeface="Calibri"/>
              </a:rPr>
              <a:t>AVOID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566160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C2624"/>
                </a:solidFill>
                <a:latin typeface="Cambria"/>
              </a:rPr>
              <a:t>Everything happens for a reason.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572000"/>
            <a:ext cx="5394960" cy="1188720"/>
          </a:xfrm>
          <a:prstGeom prst="rect">
            <a:avLst/>
          </a:prstGeom>
          <a:solidFill>
            <a:srgbClr val="EC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572000"/>
            <a:ext cx="109728" cy="1188720"/>
          </a:xfrm>
          <a:prstGeom prst="rect">
            <a:avLst/>
          </a:prstGeom>
          <a:solidFill>
            <a:srgbClr val="3E6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68172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E6658"/>
                </a:solidFill>
                <a:latin typeface="Calibri"/>
              </a:rPr>
              <a:t>TRY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029200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C2624"/>
                </a:solidFill>
                <a:latin typeface="Cambria"/>
              </a:rPr>
              <a:t>Would you like a minute, or would you like to keep going?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4572000"/>
            <a:ext cx="5394960" cy="1188720"/>
          </a:xfrm>
          <a:prstGeom prst="rect">
            <a:avLst/>
          </a:prstGeom>
          <a:solidFill>
            <a:srgbClr val="FAE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4572000"/>
            <a:ext cx="109728" cy="1188720"/>
          </a:xfrm>
          <a:prstGeom prst="rect">
            <a:avLst/>
          </a:prstGeom>
          <a:solidFill>
            <a:srgbClr val="A03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468172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A03C32"/>
                </a:solidFill>
                <a:latin typeface="Calibri"/>
              </a:rPr>
              <a:t>AVOID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5029200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C2624"/>
                </a:solidFill>
                <a:latin typeface="Cambria"/>
              </a:rPr>
              <a:t>Don't cry. Be strong.</a:t>
            </a:r>
          </a:p>
        </p:txBody>
      </p:sp>
    </p:spTree>
  </p:cSld>
  <p:clrMapOvr>
    <a:masterClrMapping/>
  </p:clrMapOvr>
  <p:transition xmlns:p="http://schemas.openxmlformats.org/presentationml/2006/main"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20403A"/>
                </a:solidFill>
                <a:latin typeface="Cambria"/>
              </a:rPr>
              <a:t>Window of tolerance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E786E"/>
                </a:solidFill>
                <a:latin typeface="Calibri"/>
              </a:rPr>
              <a:t>A trauma-informed map of where a survivor's nervous system is on any given evening.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10972800" cy="1097280"/>
          </a:xfrm>
          <a:prstGeom prst="rect">
            <a:avLst/>
          </a:prstGeom>
          <a:solidFill>
            <a:srgbClr val="F0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A03C32"/>
                </a:solidFill>
                <a:latin typeface="Calibri"/>
              </a:rPr>
              <a:t>HYPERAROUSAL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C2624"/>
                </a:solidFill>
                <a:latin typeface="Cambria"/>
              </a:rPr>
              <a:t>Fight or flight . racing thoughts, panic, anger, restlessness. Slow the room. Lower the lights. Offer water.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834640"/>
            <a:ext cx="10972800" cy="1371600"/>
          </a:xfrm>
          <a:prstGeom prst="rect">
            <a:avLst/>
          </a:prstGeom>
          <a:solidFill>
            <a:srgbClr val="DCE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06324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3E6658"/>
                </a:solidFill>
                <a:latin typeface="Calibri"/>
              </a:rPr>
              <a:t>WINDOW OF TOLERANCE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383280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C2624"/>
                </a:solidFill>
                <a:latin typeface="Cambria"/>
              </a:rPr>
              <a:t>Present . able to feel and think at the same time. The work happens here. Most of group should aim for this band.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297680"/>
            <a:ext cx="10972800" cy="1097280"/>
          </a:xfrm>
          <a:prstGeom prst="rect">
            <a:avLst/>
          </a:prstGeom>
          <a:solidFill>
            <a:srgbClr val="DC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52628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465A8C"/>
                </a:solidFill>
                <a:latin typeface="Calibri"/>
              </a:rPr>
              <a:t>HYPOAROUSAL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846320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C2624"/>
                </a:solidFill>
                <a:latin typeface="Cambria"/>
              </a:rPr>
              <a:t>Freeze or shut-down . flat affect, dissociation, sleepiness. Ground gently. Name the present. Offer a short walk.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6692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1">
                <a:solidFill>
                  <a:srgbClr val="D0913C"/>
                </a:solidFill>
                <a:latin typeface="Cambria"/>
              </a:rPr>
              <a:t>Rule of thumb: notice the band first. Then choose what to do. Then check whether it worked.</a:t>
            </a:r>
          </a:p>
        </p:txBody>
      </p:sp>
    </p:spTree>
  </p:cSld>
  <p:clrMapOvr>
    <a:masterClrMapping/>
  </p:clrMapOvr>
  <p:transition xmlns:p="http://schemas.openxmlformats.org/presentationml/2006/main"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0403A"/>
                </a:solidFill>
                <a:latin typeface="Cambria"/>
              </a:rPr>
              <a:t>When a survivor cries, the next 90 seconds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E786E"/>
                </a:solidFill>
                <a:latin typeface="Calibri"/>
              </a:rPr>
              <a:t>Two decisions, in order. Practice both.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5394960" cy="2194560"/>
          </a:xfrm>
          <a:prstGeom prst="rect">
            <a:avLst/>
          </a:prstGeom>
          <a:solidFill>
            <a:srgbClr val="EC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109728" cy="2194560"/>
          </a:xfrm>
          <a:prstGeom prst="rect">
            <a:avLst/>
          </a:prstGeom>
          <a:solidFill>
            <a:srgbClr val="3E6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0403A"/>
                </a:solidFill>
                <a:latin typeface="Cambria"/>
              </a:rPr>
              <a:t>Decision A . pause or continue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40"/>
            <a:ext cx="49377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1C2624"/>
                </a:solidFill>
                <a:latin typeface="Calibri"/>
              </a:rPr>
              <a:t>* Offer water. Offer a quiet seat by the door.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C2624"/>
                </a:solidFill>
                <a:latin typeface="Calibri"/>
              </a:rPr>
              <a:t>* Ask: 'Would you like a minute, or would you like to keep going?'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C2624"/>
                </a:solidFill>
                <a:latin typeface="Calibri"/>
              </a:rPr>
              <a:t>* Honour either answer without commentary.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645920"/>
            <a:ext cx="5394960" cy="2194560"/>
          </a:xfrm>
          <a:prstGeom prst="rect">
            <a:avLst/>
          </a:prstGeom>
          <a:solidFill>
            <a:srgbClr val="F3E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1645920"/>
            <a:ext cx="109728" cy="2194560"/>
          </a:xfrm>
          <a:prstGeom prst="rect">
            <a:avLst/>
          </a:prstGeom>
          <a:solidFill>
            <a:srgbClr val="D09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8288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D0913C"/>
                </a:solidFill>
                <a:latin typeface="Cambria"/>
              </a:rPr>
              <a:t>Decision B . stay or escalate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377440"/>
            <a:ext cx="49377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1C2624"/>
                </a:solidFill>
                <a:latin typeface="Calibri"/>
              </a:rPr>
              <a:t>* Stay seated and present unless safety changes.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C2624"/>
                </a:solidFill>
                <a:latin typeface="Calibri"/>
              </a:rPr>
              <a:t>* If self-harm language appears, page on-call advocate.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C2624"/>
                </a:solidFill>
                <a:latin typeface="Calibri"/>
              </a:rPr>
              <a:t>* If a child is present, signal childcare to step in.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023360"/>
            <a:ext cx="10881360" cy="2194560"/>
          </a:xfrm>
          <a:prstGeom prst="rect">
            <a:avLst/>
          </a:prstGeom>
          <a:solidFill>
            <a:srgbClr val="204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2062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mbria"/>
              </a:rPr>
              <a:t>After group . the debrief is part of the 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70916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F0F4E9"/>
                </a:solidFill>
                <a:latin typeface="Calibri"/>
              </a:rPr>
              <a:t>* Co-facilitator check-in: name what you noticed without identifying the resident.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F0F4E9"/>
                </a:solidFill>
                <a:latin typeface="Calibri"/>
              </a:rPr>
              <a:t>* Coordinator log: counts only; no resident details.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F0F4E9"/>
                </a:solidFill>
                <a:latin typeface="Calibri"/>
              </a:rPr>
              <a:t>* Supervision: anything that stays with you on the drive home gets named in supervision.</a:t>
            </a:r>
          </a:p>
        </p:txBody>
      </p:sp>
    </p:spTree>
  </p:cSld>
  <p:clrMapOvr>
    <a:masterClrMapping/>
  </p:clrMapOvr>
  <p:transition xmlns:p="http://schemas.openxmlformats.org/presentationml/2006/main"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20403A"/>
                </a:solidFill>
                <a:latin typeface="Cambria"/>
              </a:rPr>
              <a:t>Practice scenario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E786E"/>
                </a:solidFill>
                <a:latin typeface="Calibri"/>
              </a:rPr>
              <a:t>Composite, not a real resident. Discuss in pairs for ten minutes.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10972800" cy="2011680"/>
          </a:xfrm>
          <a:prstGeom prst="rect">
            <a:avLst/>
          </a:prstGeom>
          <a:solidFill>
            <a:srgbClr val="EC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109728" cy="2011680"/>
          </a:xfrm>
          <a:prstGeom prst="rect">
            <a:avLst/>
          </a:prstGeom>
          <a:solidFill>
            <a:srgbClr val="3E6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E6658"/>
                </a:solidFill>
                <a:latin typeface="Calibri"/>
              </a:rPr>
              <a:t>Setting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94560"/>
            <a:ext cx="106070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C2624"/>
                </a:solidFill>
                <a:latin typeface="Cambria"/>
              </a:rPr>
              <a:t>A new participant joins group in week three. Forty minutes in, during a discussion of protective orders, she begins to cry quietly and says, "I do not think I can do this." Two other participants look to you.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840480"/>
            <a:ext cx="539496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977639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0403A"/>
                </a:solidFill>
                <a:latin typeface="Cambria"/>
              </a:rPr>
              <a:t>First, name the band.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434840"/>
            <a:ext cx="49377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1C2624"/>
                </a:solidFill>
                <a:latin typeface="Calibri"/>
              </a:rPr>
              <a:t>* What signs do you actually see?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C2624"/>
                </a:solidFill>
                <a:latin typeface="Calibri"/>
              </a:rPr>
              <a:t>* Hyper, window, or hypo?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C2624"/>
                </a:solidFill>
                <a:latin typeface="Calibri"/>
              </a:rPr>
              <a:t>* What does the room need first?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3840480"/>
            <a:ext cx="539496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3977639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D0913C"/>
                </a:solidFill>
                <a:latin typeface="Cambria"/>
              </a:rPr>
              <a:t>Then, choose the move.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4434840"/>
            <a:ext cx="49377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1C2624"/>
                </a:solidFill>
                <a:latin typeface="Calibri"/>
              </a:rPr>
              <a:t>* Decision A . pause or continue?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C2624"/>
                </a:solidFill>
                <a:latin typeface="Calibri"/>
              </a:rPr>
              <a:t>* Decision B . stay or escalate?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C2624"/>
                </a:solidFill>
                <a:latin typeface="Calibri"/>
              </a:rPr>
              <a:t>* What is the exact sentence you say?</a:t>
            </a:r>
          </a:p>
        </p:txBody>
      </p:sp>
    </p:spTree>
  </p:cSld>
  <p:clrMapOvr>
    <a:masterClrMapping/>
  </p:clrMapOvr>
  <p:transition xmlns:p="http://schemas.openxmlformats.org/presentationml/2006/main"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4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Red lines we do not cross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ACBD9C"/>
                </a:solidFill>
                <a:latin typeface="Calibri"/>
              </a:rPr>
              <a:t>Five sentences to memorise. Each is a firm 'no' for volunteer staff.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920240"/>
            <a:ext cx="411480" cy="411480"/>
          </a:xfrm>
          <a:prstGeom prst="rect">
            <a:avLst/>
          </a:prstGeom>
          <a:solidFill>
            <a:srgbClr val="A03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956816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mbria"/>
              </a:rPr>
              <a:t>We do not give legal advice in group. We point to the first-Wednesday clinic.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411480" cy="411480"/>
          </a:xfrm>
          <a:prstGeom prst="rect">
            <a:avLst/>
          </a:prstGeom>
          <a:solidFill>
            <a:srgbClr val="A03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734056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mbria"/>
              </a:rPr>
              <a:t>We do not promise outcomes. Process is honest; outcomes are not ours to grant.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474720"/>
            <a:ext cx="411480" cy="411480"/>
          </a:xfrm>
          <a:prstGeom prst="rect">
            <a:avLst/>
          </a:prstGeom>
          <a:solidFill>
            <a:srgbClr val="A03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520440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511296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mbria"/>
              </a:rPr>
              <a:t>We do not exchange personal contact information with residents.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251960"/>
            <a:ext cx="411480" cy="411480"/>
          </a:xfrm>
          <a:prstGeom prst="rect">
            <a:avLst/>
          </a:prstGeom>
          <a:solidFill>
            <a:srgbClr val="A03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297680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288536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mbria"/>
              </a:rPr>
              <a:t>We do not share resident names, photographs, or the shelter's address. Ever.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029200"/>
            <a:ext cx="411480" cy="411480"/>
          </a:xfrm>
          <a:prstGeom prst="rect">
            <a:avLst/>
          </a:prstGeom>
          <a:solidFill>
            <a:srgbClr val="A03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074920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065776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mbria"/>
              </a:rPr>
              <a:t>We do not work past our window of tolerance. We name it, hand off, and rest.</a:t>
            </a:r>
          </a:p>
        </p:txBody>
      </p:sp>
    </p:spTree>
  </p:cSld>
  <p:clrMapOvr>
    <a:masterClrMapping/>
  </p:clrMapOvr>
  <p:transition xmlns:p="http://schemas.openxmlformats.org/presentationml/2006/main"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1" i="0">
                <a:solidFill>
                  <a:srgbClr val="20403A"/>
                </a:solidFill>
                <a:latin typeface="Cambria"/>
              </a:rPr>
              <a:t>You will not get it perfect.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260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1">
                <a:solidFill>
                  <a:srgbClr val="D0913C"/>
                </a:solidFill>
                <a:latin typeface="Cambria"/>
              </a:rPr>
              <a:t>You will get it honest, and that is what survivors need.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E6658"/>
                </a:solidFill>
                <a:latin typeface="Calibri"/>
              </a:rPr>
              <a:t>Module 02 . listening, validation, and the silence after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E6658"/>
                </a:solidFill>
                <a:latin typeface="Calibri"/>
              </a:rPr>
              <a:t>Module 03 . safety planning vs. case management, where each ends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E6658"/>
                </a:solidFill>
                <a:latin typeface="Calibri"/>
              </a:rPr>
              <a:t>Module 04 . child witnesses, child resources, and when to hand off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8C968C"/>
                </a:solidFill>
                <a:latin typeface="Calibri"/>
              </a:rPr>
              <a:t>Questions go to Randy or Diana, in the volunteer Slack or face to face. - R.H.</a:t>
            </a:r>
          </a:p>
        </p:txBody>
      </p:sp>
    </p:spTree>
  </p:cSld>
  <p:clrMapOvr>
    <a:masterClrMapping/>
  </p:clrMapOvr>
  <p:transition xmlns:p="http://schemas.openxmlformats.org/presentationml/2006/main"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