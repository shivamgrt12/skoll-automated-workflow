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files per attorney</c:v>
                </c:pt>
              </c:strCache>
            </c:strRef>
          </c:tx>
          <c:spPr>
            <a:ln w="28575">
              <a:solidFill>
                <a:srgbClr val="8A2038"/>
              </a:solidFill>
            </a:ln>
          </c:spPr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</c:v>
                </c:pt>
                <c:pt idx="1">
                  <c:v>31</c:v>
                </c:pt>
                <c:pt idx="2">
                  <c:v>26</c:v>
                </c:pt>
                <c:pt idx="3">
                  <c:v>33</c:v>
                </c:pt>
                <c:pt idx="4">
                  <c:v>36</c:v>
                </c:pt>
                <c:pt idx="5">
                  <c:v>39</c:v>
                </c:pt>
                <c:pt idx="6">
                  <c:v>41</c:v>
                </c:pt>
                <c:pt idx="7">
                  <c:v>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Strickland ceiling (35)</c:v>
                </c:pt>
              </c:strCache>
            </c:strRef>
          </c:tx>
          <c:spPr>
            <a:ln w="19050">
              <a:solidFill>
                <a:srgbClr val="C59C4E"/>
              </a:solidFill>
            </a:ln>
          </c:spPr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35</c:v>
                </c:pt>
                <c:pt idx="1">
                  <c:v>35</c:v>
                </c:pt>
                <c:pt idx="2">
                  <c:v>35</c:v>
                </c:pt>
                <c:pt idx="3">
                  <c:v>35</c:v>
                </c:pt>
                <c:pt idx="4">
                  <c:v>35</c:v>
                </c:pt>
                <c:pt idx="5">
                  <c:v>35</c:v>
                </c:pt>
                <c:pt idx="6">
                  <c:v>35</c:v>
                </c:pt>
                <c:pt idx="7">
                  <c:v>35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54864" cy="6858000"/>
          </a:xfrm>
          <a:prstGeom prst="rect">
            <a:avLst/>
          </a:prstGeom>
          <a:solidFill>
            <a:srgbClr val="C59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C59C4E"/>
                </a:solidFill>
                <a:latin typeface="Calibri"/>
              </a:rPr>
              <a:t>CONTINUING LEGAL EDUCATION  .  3.0 CR  /  1.0 ETHICS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63040"/>
            <a:ext cx="7132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mbria"/>
              </a:rPr>
              <a:t>The Sixth Amendment, in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65760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4EBDA"/>
                </a:solidFill>
                <a:latin typeface="Cambria"/>
              </a:rPr>
              <a:t>What Gideon actually bought, and what it costs a 35-file desk to deliver.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59C4E"/>
                </a:solidFill>
                <a:latin typeface="Calibri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Randy Holt, Esq.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4EBDA"/>
                </a:solidFill>
                <a:latin typeface="Calibri"/>
              </a:rPr>
              <a:t>Senior Public Defender</a:t>
            </a:r>
          </a:p>
          <a:p>
            <a:pPr algn="l"/>
            <a:r>
              <a:rPr sz="1200" b="0" i="0">
                <a:solidFill>
                  <a:srgbClr val="F4EBDA"/>
                </a:solidFill>
                <a:latin typeface="Calibri"/>
              </a:rPr>
              <a:t>Pima County Office of the Legal Defender</a:t>
            </a:r>
          </a:p>
          <a:p>
            <a:pPr algn="l"/>
            <a:r>
              <a:rPr sz="1200" b="0" i="0">
                <a:solidFill>
                  <a:srgbClr val="F4EBDA"/>
                </a:solidFill>
                <a:latin typeface="Calibri"/>
              </a:rPr>
              <a:t>State Bar of Arizona . No. 026481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12648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AAAFBE"/>
                </a:solidFill>
                <a:latin typeface="Calibri"/>
              </a:rPr>
              <a:t>State Bar of Arizona  .  Spring 2026  .  Tucson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9260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4EBDA"/>
                </a:solidFill>
                <a:latin typeface="Calibri"/>
              </a:rPr>
              <a:t>Three hours, six moves.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822960" cy="64008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4813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Cambria"/>
              </a:rPr>
              <a:t>Gideon to Padilla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470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05A6E"/>
                </a:solidFill>
                <a:latin typeface="Calibri"/>
              </a:rPr>
              <a:t>the doctrinal arc you can recite at 2 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822960" cy="64008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1343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25856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Cambria"/>
              </a:rPr>
              <a:t>Strickland in the wild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24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05A6E"/>
                </a:solidFill>
                <a:latin typeface="Calibri"/>
              </a:rPr>
              <a:t>what 'effective' looks like on a 35-file desk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822960" cy="64008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9067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03580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Cambria"/>
              </a:rPr>
              <a:t>Confrontation after Crawford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4015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05A6E"/>
                </a:solidFill>
                <a:latin typeface="Calibri"/>
              </a:rPr>
              <a:t>the witness chair, then and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94760"/>
            <a:ext cx="822960" cy="64008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6791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81304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Cambria"/>
              </a:rPr>
              <a:t>Plea bargaining as the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788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05A6E"/>
                </a:solidFill>
                <a:latin typeface="Calibri"/>
              </a:rPr>
              <a:t>97% of dispositions never see a jury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572000"/>
            <a:ext cx="822960" cy="64008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4515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59028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Cambria"/>
              </a:rPr>
              <a:t>Ethics 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956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05A6E"/>
                </a:solidFill>
                <a:latin typeface="Calibri"/>
              </a:rPr>
              <a:t>loyalty, conflicts, and the funded-case problem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349240"/>
            <a:ext cx="822960" cy="64008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2239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53675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01828"/>
                </a:solidFill>
                <a:latin typeface="Cambria"/>
              </a:rPr>
              <a:t>Hypothetical and Q&amp;A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7332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05A6E"/>
                </a:solidFill>
                <a:latin typeface="Calibri"/>
              </a:rPr>
              <a:t>we work a real motion, top to bottom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01828"/>
                </a:solidFill>
                <a:latin typeface="Cambria"/>
              </a:rPr>
              <a:t>The doctrinal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7382"/>
                </a:solidFill>
                <a:latin typeface="Calibri"/>
              </a:rPr>
              <a:t>Six cases. Each tightened the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566160" cy="2103120"/>
          </a:xfrm>
          <a:prstGeom prst="rect">
            <a:avLst/>
          </a:prstGeom>
          <a:solidFill>
            <a:srgbClr val="F4EBDA"/>
          </a:solidFill>
          <a:ln w="9525">
            <a:solidFill>
              <a:srgbClr val="C59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137160" cy="210312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01828"/>
                </a:solidFill>
                <a:latin typeface="Cambria"/>
              </a:rPr>
              <a:t>Gideon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2038"/>
                </a:solidFill>
                <a:latin typeface="Calibri"/>
              </a:rPr>
              <a:t>1963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C4150"/>
                </a:solidFill>
                <a:latin typeface="Calibri"/>
              </a:rPr>
              <a:t>Right to counsel, state felonies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566160" cy="2103120"/>
          </a:xfrm>
          <a:prstGeom prst="rect">
            <a:avLst/>
          </a:prstGeom>
          <a:solidFill>
            <a:srgbClr val="F4EBDA"/>
          </a:solidFill>
          <a:ln w="9525">
            <a:solidFill>
              <a:srgbClr val="C59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137160" cy="210312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920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01828"/>
                </a:solidFill>
                <a:latin typeface="Cambria"/>
              </a:rPr>
              <a:t>Brady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423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2038"/>
                </a:solidFill>
                <a:latin typeface="Calibri"/>
              </a:rPr>
              <a:t>1963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889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C4150"/>
                </a:solidFill>
                <a:latin typeface="Calibri"/>
              </a:rPr>
              <a:t>Disclosure of exculpatory material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645920"/>
            <a:ext cx="3566160" cy="2103120"/>
          </a:xfrm>
          <a:prstGeom prst="rect">
            <a:avLst/>
          </a:prstGeom>
          <a:solidFill>
            <a:srgbClr val="F4EBDA"/>
          </a:solidFill>
          <a:ln w="9525">
            <a:solidFill>
              <a:srgbClr val="C59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645920"/>
            <a:ext cx="137160" cy="210312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920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01828"/>
                </a:solidFill>
                <a:latin typeface="Cambria"/>
              </a:rPr>
              <a:t>Argersinger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423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2038"/>
                </a:solidFill>
                <a:latin typeface="Calibri"/>
              </a:rPr>
              <a:t>1972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78892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C4150"/>
                </a:solidFill>
                <a:latin typeface="Calibri"/>
              </a:rPr>
              <a:t>Counsel in misdemeanours with jail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23360"/>
            <a:ext cx="3566160" cy="2103120"/>
          </a:xfrm>
          <a:prstGeom prst="rect">
            <a:avLst/>
          </a:prstGeom>
          <a:solidFill>
            <a:srgbClr val="F4EBDA"/>
          </a:solidFill>
          <a:ln w="9525">
            <a:solidFill>
              <a:srgbClr val="C59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023360"/>
            <a:ext cx="137160" cy="210312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297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01828"/>
                </a:solidFill>
                <a:latin typeface="Cambria"/>
              </a:rPr>
              <a:t>Strickland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00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2038"/>
                </a:solidFill>
                <a:latin typeface="Calibri"/>
              </a:rPr>
              <a:t>1984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663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C4150"/>
                </a:solidFill>
                <a:latin typeface="Calibri"/>
              </a:rPr>
              <a:t>Effective assistance standard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4023360"/>
            <a:ext cx="3566160" cy="2103120"/>
          </a:xfrm>
          <a:prstGeom prst="rect">
            <a:avLst/>
          </a:prstGeom>
          <a:solidFill>
            <a:srgbClr val="F4EBDA"/>
          </a:solidFill>
          <a:ln w="9525">
            <a:solidFill>
              <a:srgbClr val="C59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34840" y="4023360"/>
            <a:ext cx="137160" cy="210312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4297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01828"/>
                </a:solidFill>
                <a:latin typeface="Cambria"/>
              </a:rPr>
              <a:t>Crawford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800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2038"/>
                </a:solidFill>
                <a:latin typeface="Calibri"/>
              </a:rPr>
              <a:t>2004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1663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C4150"/>
                </a:solidFill>
                <a:latin typeface="Calibri"/>
              </a:rPr>
              <a:t>Confrontation re-anchored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023360"/>
            <a:ext cx="3566160" cy="2103120"/>
          </a:xfrm>
          <a:prstGeom prst="rect">
            <a:avLst/>
          </a:prstGeom>
          <a:solidFill>
            <a:srgbClr val="F4EBDA"/>
          </a:solidFill>
          <a:ln w="9525">
            <a:solidFill>
              <a:srgbClr val="C59C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4023360"/>
            <a:ext cx="137160" cy="210312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42976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01828"/>
                </a:solidFill>
                <a:latin typeface="Cambria"/>
              </a:rPr>
              <a:t>Padilla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800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A2038"/>
                </a:solidFill>
                <a:latin typeface="Calibri"/>
              </a:rPr>
              <a:t>2010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51663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C4150"/>
                </a:solidFill>
                <a:latin typeface="Calibri"/>
              </a:rPr>
              <a:t>Counsel on collateral consequences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828"/>
                </a:solidFill>
                <a:latin typeface="Cambria"/>
              </a:rPr>
              <a:t>Strickland in the wild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E7382"/>
                </a:solidFill>
                <a:latin typeface="Calibri"/>
              </a:rPr>
              <a:t>Active felony files per attorney, Pima County PD office. 35 is the ceiling Strickland practice can stomach.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7772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869680" y="1554480"/>
            <a:ext cx="2743200" cy="438912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C59C4E"/>
                </a:solidFill>
                <a:latin typeface="Calibri"/>
              </a:rPr>
              <a:t>PULL QUOTE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2148840"/>
            <a:ext cx="23774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mbria"/>
              </a:rPr>
              <a:t>"Effective is not a feeling. It is hours per file. When the file count crosses thirty-five, the math gets ugly fast."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5120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EBDA"/>
                </a:solidFill>
                <a:latin typeface="Calibri"/>
              </a:rPr>
              <a:t>- the speaker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828"/>
                </a:solidFill>
                <a:latin typeface="Cambria"/>
              </a:rPr>
              <a:t>Plea bargaining is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E7382"/>
                </a:solidFill>
                <a:latin typeface="Calibri"/>
              </a:rPr>
              <a:t>Numbers from our own quarterly office report. The trial number does not lie.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Disposition</a:t>
                      </a:r>
                    </a:p>
                  </a:txBody>
                  <a:tcPr>
                    <a:solidFill>
                      <a:srgbClr val="8A2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Q1 2025</a:t>
                      </a:r>
                    </a:p>
                  </a:txBody>
                  <a:tcPr>
                    <a:solidFill>
                      <a:srgbClr val="8A2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Q2 2025</a:t>
                      </a:r>
                    </a:p>
                  </a:txBody>
                  <a:tcPr>
                    <a:solidFill>
                      <a:srgbClr val="8A2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Q3 2025</a:t>
                      </a:r>
                    </a:p>
                  </a:txBody>
                  <a:tcPr>
                    <a:solidFill>
                      <a:srgbClr val="8A20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Q4 2025</a:t>
                      </a:r>
                    </a:p>
                  </a:txBody>
                  <a:tcPr>
                    <a:solidFill>
                      <a:srgbClr val="8A203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Plea agreement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61.4%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63.2%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62.8%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64.1%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Dismissal / no-file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26.8%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24.9%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25.3%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23.1%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Diversion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8.6%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8.5%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9.2%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Jury or bench trial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01828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696A0"/>
                </a:solidFill>
                <a:latin typeface="Calibri"/>
              </a:rPr>
              <a:t>Source: Pima County Office of the Legal Defender, internal disposition report (2025).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Ethics block . 1.0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4EBDA"/>
                </a:solidFill>
                <a:latin typeface="Calibri"/>
              </a:rPr>
              <a:t>Loyalty, conflicts, and the funded-case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657600" cy="4114800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657600" cy="109728"/>
          </a:xfrm>
          <a:prstGeom prst="rect">
            <a:avLst/>
          </a:prstGeom>
          <a:solidFill>
            <a:srgbClr val="C59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Loyalty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9C4E"/>
                </a:solidFill>
                <a:latin typeface="Calibri"/>
              </a:rPr>
              <a:t>ER 1.7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EBDA"/>
                </a:solidFill>
                <a:latin typeface="Calibri"/>
              </a:rPr>
              <a:t>Concurrent conflicts. Co-defendant fact patterns are the usual trap. Screen and decline early.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3657600" cy="4114800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3657600" cy="109728"/>
          </a:xfrm>
          <a:prstGeom prst="rect">
            <a:avLst/>
          </a:prstGeom>
          <a:solidFill>
            <a:srgbClr val="C59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Candor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06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9C4E"/>
                </a:solidFill>
                <a:latin typeface="Calibri"/>
              </a:rPr>
              <a:t>ER 3.3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10896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EBDA"/>
                </a:solidFill>
                <a:latin typeface="Calibri"/>
              </a:rPr>
              <a:t>Tribunal candor. Do not finesse a misstatement that landed in a brief by accident. Correct in writing.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3657600" cy="4114800"/>
          </a:xfrm>
          <a:prstGeom prst="rect">
            <a:avLst/>
          </a:prstGeom>
          <a:solidFill>
            <a:srgbClr val="1C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657600" cy="109728"/>
          </a:xfrm>
          <a:prstGeom prst="rect">
            <a:avLst/>
          </a:prstGeom>
          <a:solidFill>
            <a:srgbClr val="C59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mbria"/>
              </a:rPr>
              <a:t>Caseload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6060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9C4E"/>
                </a:solidFill>
                <a:latin typeface="Calibri"/>
              </a:rPr>
              <a:t>ER 1.1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108960"/>
            <a:ext cx="31089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F4EBDA"/>
                </a:solidFill>
                <a:latin typeface="Calibri"/>
              </a:rPr>
              <a:t>Competence requires time. If the file count makes Strickland-quality work impossible, document, escalate, decline.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01828"/>
                </a:solidFill>
                <a:latin typeface="Cambria"/>
              </a:rPr>
              <a:t>Hypothetical: State v. Cordero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E7382"/>
                </a:solidFill>
                <a:latin typeface="Calibri"/>
              </a:rPr>
              <a:t>Fact pattern is composite, drawn from three real files. No identifying detail.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solidFill>
            <a:srgbClr val="F4E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" cy="457200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01828"/>
                </a:solidFill>
                <a:latin typeface="Cambria"/>
              </a:rPr>
              <a:t>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323746"/>
                </a:solidFill>
                <a:latin typeface="Calibri"/>
              </a:rPr>
              <a:t>* Aggravated assault charge, single complainant.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23746"/>
                </a:solidFill>
                <a:latin typeface="Calibri"/>
              </a:rPr>
              <a:t>* Self-defence theory, two unrelated witnesses.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23746"/>
                </a:solidFill>
                <a:latin typeface="Calibri"/>
              </a:rPr>
              <a:t>* Officer body-cam: 11 minutes, audio cuts at 4:12.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23746"/>
                </a:solidFill>
                <a:latin typeface="Calibri"/>
              </a:rPr>
              <a:t>* Late-disclosed text messages from the complainant.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323746"/>
                </a:solidFill>
                <a:latin typeface="Calibri"/>
              </a:rPr>
              <a:t>* Prior conviction, 2017, prosecutor wants to admit.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554480"/>
            <a:ext cx="4937760" cy="45720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691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First three motions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240280"/>
            <a:ext cx="44805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F4EBDA"/>
                </a:solidFill>
                <a:latin typeface="Calibri"/>
              </a:rPr>
              <a:t>* Brady demand on the audio cut, with a Crawford sub-argument.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4EBDA"/>
                </a:solidFill>
                <a:latin typeface="Calibri"/>
              </a:rPr>
              <a:t>* 404(b) opposition on the 2017 prior, balancing-test brief.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4EBDA"/>
                </a:solidFill>
                <a:latin typeface="Calibri"/>
              </a:rPr>
              <a:t>* Motion in limine, complainant texts, foundation and authentication.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Effective representation is hours per file.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4EBDA"/>
                </a:solidFill>
                <a:latin typeface="Cambria"/>
              </a:rPr>
              <a:t>The Sixth Amendment is not aspirational. It is countable.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59C4E"/>
                </a:solidFill>
                <a:latin typeface="Calibri"/>
              </a:rPr>
              <a:t>QUESTIONS  .  randy.holt@Finthesiss.ai  .  State Bar of Arizona No. 026481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4EBDA"/>
                </a:solidFill>
                <a:latin typeface="Calibri"/>
              </a:rPr>
              <a:t>(c) 2026 R. Holt . prepared for the State Bar of Arizona CLE programme</a:t>
            </a:r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