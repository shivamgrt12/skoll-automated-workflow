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Protection orders</c:v>
                </c:pt>
              </c:strCache>
            </c:strRef>
          </c:tx>
          <c:spPr>
            <a:solidFill>
              <a:srgbClr val="C84F6E"/>
            </a:solidFill>
          </c:spPr>
          <c:cat>
            <c:strRef>
              <c:f>Sheet1!$A$2:$A$9</c:f>
              <c:strCache>
                <c:ptCount val="8"/>
                <c:pt idx="0">
                  <c:v>Oct '25</c:v>
                </c:pt>
                <c:pt idx="1">
                  <c:v>Nov</c:v>
                </c:pt>
                <c:pt idx="2">
                  <c:v>Dec</c:v>
                </c:pt>
                <c:pt idx="3">
                  <c:v>Jan '26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Custody / parenting</c:v>
                </c:pt>
              </c:strCache>
            </c:strRef>
          </c:tx>
          <c:spPr>
            <a:solidFill>
              <a:srgbClr val="DC7432"/>
            </a:solidFill>
          </c:spPr>
          <c:cat>
            <c:strRef>
              <c:f>Sheet1!$A$2:$A$9</c:f>
              <c:strCache>
                <c:ptCount val="8"/>
                <c:pt idx="0">
                  <c:v>Oct '25</c:v>
                </c:pt>
                <c:pt idx="1">
                  <c:v>Nov</c:v>
                </c:pt>
                <c:pt idx="2">
                  <c:v>Dec</c:v>
                </c:pt>
                <c:pt idx="3">
                  <c:v>Jan '26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Housing / tenant</c:v>
                </c:pt>
              </c:strCache>
            </c:strRef>
          </c:tx>
          <c:spPr>
            <a:solidFill>
              <a:srgbClr val="6B8A60"/>
            </a:solidFill>
          </c:spPr>
          <c:cat>
            <c:strRef>
              <c:f>Sheet1!$A$2:$A$9</c:f>
              <c:strCache>
                <c:ptCount val="8"/>
                <c:pt idx="0">
                  <c:v>Oct '25</c:v>
                </c:pt>
                <c:pt idx="1">
                  <c:v>Nov</c:v>
                </c:pt>
                <c:pt idx="2">
                  <c:v>Dec</c:v>
                </c:pt>
                <c:pt idx="3">
                  <c:v>Jan '26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rgbClr val="6B8A60"/>
            </a:solidFill>
          </c:spPr>
          <c:cat>
            <c:strRef>
              <c:f>Sheet1!$A$2:$A$8</c:f>
              <c:strCache>
                <c:ptCount val="7"/>
                <c:pt idx="0">
                  <c:v>Venue</c:v>
                </c:pt>
                <c:pt idx="1">
                  <c:v>Catering</c:v>
                </c:pt>
                <c:pt idx="2">
                  <c:v>Centerpieces</c:v>
                </c:pt>
                <c:pt idx="3">
                  <c:v>Printing</c:v>
                </c:pt>
                <c:pt idx="4">
                  <c:v>Auction shipping</c:v>
                </c:pt>
                <c:pt idx="5">
                  <c:v>AV / lighting</c:v>
                </c:pt>
                <c:pt idx="6">
                  <c:v>Permits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6500</c:v>
                </c:pt>
                <c:pt idx="1">
                  <c:v>0</c:v>
                </c:pt>
                <c:pt idx="2">
                  <c:v>0</c:v>
                </c:pt>
                <c:pt idx="3">
                  <c:v>120</c:v>
                </c:pt>
                <c:pt idx="4">
                  <c:v>0</c:v>
                </c:pt>
                <c:pt idx="5">
                  <c:v>0</c:v>
                </c:pt>
                <c:pt idx="6">
                  <c:v>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Estimated</c:v>
                </c:pt>
              </c:strCache>
            </c:strRef>
          </c:tx>
          <c:spPr>
            <a:solidFill>
              <a:srgbClr val="DC7432"/>
            </a:solidFill>
          </c:spPr>
          <c:cat>
            <c:strRef>
              <c:f>Sheet1!$A$2:$A$8</c:f>
              <c:strCache>
                <c:ptCount val="7"/>
                <c:pt idx="0">
                  <c:v>Venue</c:v>
                </c:pt>
                <c:pt idx="1">
                  <c:v>Catering</c:v>
                </c:pt>
                <c:pt idx="2">
                  <c:v>Centerpieces</c:v>
                </c:pt>
                <c:pt idx="3">
                  <c:v>Printing</c:v>
                </c:pt>
                <c:pt idx="4">
                  <c:v>Auction shipping</c:v>
                </c:pt>
                <c:pt idx="5">
                  <c:v>AV / lighting</c:v>
                </c:pt>
                <c:pt idx="6">
                  <c:v>Permits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6500</c:v>
                </c:pt>
                <c:pt idx="1">
                  <c:v>7200</c:v>
                </c:pt>
                <c:pt idx="2">
                  <c:v>540</c:v>
                </c:pt>
                <c:pt idx="3">
                  <c:v>380</c:v>
                </c:pt>
                <c:pt idx="4">
                  <c:v>300</c:v>
                </c:pt>
                <c:pt idx="5">
                  <c:v>1100</c:v>
                </c:pt>
                <c:pt idx="6">
                  <c:v>450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52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1463040"/>
          </a:xfrm>
          <a:prstGeom prst="rect">
            <a:avLst/>
          </a:prstGeom>
          <a:solidFill>
            <a:srgbClr val="7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A04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12188952" cy="1463040"/>
          </a:xfrm>
          <a:prstGeom prst="rect">
            <a:avLst/>
          </a:prstGeom>
          <a:solidFill>
            <a:srgbClr val="C8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88952" cy="1463040"/>
          </a:xfrm>
          <a:prstGeom prst="rect">
            <a:avLst/>
          </a:prstGeom>
          <a:solidFill>
            <a:srgbClr val="E18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3D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0" y="457200"/>
            <a:ext cx="2286000" cy="2286000"/>
          </a:xfrm>
          <a:prstGeom prst="ellipse">
            <a:avLst/>
          </a:prstGeom>
          <a:solidFill>
            <a:srgbClr val="FFC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8E9"/>
                </a:solidFill>
                <a:latin typeface="Calibri"/>
              </a:rPr>
              <a:t>DESERT BLOOM WOMEN'S SHELTER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Georgia"/>
              </a:rPr>
              <a:t>Q1 2026 Board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8E9"/>
                </a:solidFill>
                <a:latin typeface="Georgia"/>
              </a:rPr>
              <a:t>Programme metrics, gala progress, volunteer health, and what we need from the 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88C"/>
                </a:solidFill>
                <a:latin typeface="Calibri"/>
              </a:rPr>
              <a:t>PREPARED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R. Holt, Volunteer Programme Coordinator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8E9"/>
                </a:solidFill>
                <a:latin typeface="Calibri"/>
              </a:rPr>
              <a:t>Third-Thursday board meeting . 20 February 2026 . Tucson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7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146"/>
                </a:solidFill>
                <a:latin typeface="Georgia"/>
              </a:rPr>
              <a:t>Where we are, in five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85A78"/>
                </a:solidFill>
                <a:latin typeface="Calibri"/>
              </a:rPr>
              <a:t>October 2025 through February 2026. All figures internal, no resident identifiers.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103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103120" cy="109728"/>
          </a:xfrm>
          <a:prstGeom prst="rect">
            <a:avLst/>
          </a:prstGeom>
          <a:solidFill>
            <a:srgbClr val="DC7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DC7432"/>
                </a:solidFill>
                <a:latin typeface="Georgia"/>
              </a:rPr>
              <a:t>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81E23"/>
                </a:solidFill>
                <a:latin typeface="Calibri"/>
              </a:rPr>
              <a:t>VOLUNTEER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E506E"/>
                </a:solidFill>
                <a:latin typeface="Calibri"/>
              </a:rPr>
              <a:t>May only; on pace for 540 in 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828800"/>
            <a:ext cx="2103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828800"/>
            <a:ext cx="2103120" cy="109728"/>
          </a:xfrm>
          <a:prstGeom prst="rect">
            <a:avLst/>
          </a:prstGeom>
          <a:solidFill>
            <a:srgbClr val="C8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2860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84F6E"/>
                </a:solidFill>
                <a:latin typeface="Georgia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383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81E23"/>
                </a:solidFill>
                <a:latin typeface="Calibri"/>
              </a:rPr>
              <a:t>CLINIC CONSULTS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E506E"/>
                </a:solidFill>
                <a:latin typeface="Calibri"/>
              </a:rPr>
              <a:t>April + May. June Wednesday upcoming.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28800"/>
            <a:ext cx="2103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828800"/>
            <a:ext cx="2103120" cy="109728"/>
          </a:xfrm>
          <a:prstGeom prst="rect">
            <a:avLst/>
          </a:prstGeom>
          <a:solidFill>
            <a:srgbClr val="6B8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860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6B8A60"/>
                </a:solidFill>
                <a:latin typeface="Georgia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83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81E23"/>
                </a:solidFill>
                <a:latin typeface="Calibri"/>
              </a:rPr>
              <a:t>ACTIVE VOLUNTEERS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7490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E506E"/>
                </a:solidFill>
                <a:latin typeface="Calibri"/>
              </a:rPr>
              <a:t>Two new co-facilitators cleared.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1828800"/>
            <a:ext cx="2103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1828800"/>
            <a:ext cx="2103120" cy="109728"/>
          </a:xfrm>
          <a:prstGeom prst="rect">
            <a:avLst/>
          </a:prstGeom>
          <a:solidFill>
            <a:srgbClr val="3D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2860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3D2146"/>
                </a:solidFill>
                <a:latin typeface="Georgia"/>
              </a:rPr>
              <a:t>$31.4k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383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81E23"/>
                </a:solidFill>
                <a:latin typeface="Calibri"/>
              </a:rPr>
              <a:t>PLEDGED TO GALA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7490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E506E"/>
                </a:solidFill>
                <a:latin typeface="Calibri"/>
              </a:rPr>
              <a:t>Of $45k target; 70% to goal.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828800"/>
            <a:ext cx="2103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1828800"/>
            <a:ext cx="2103120" cy="109728"/>
          </a:xfrm>
          <a:prstGeom prst="rect">
            <a:avLst/>
          </a:prstGeom>
          <a:solidFill>
            <a:srgbClr val="5A7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2860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5A7850"/>
                </a:solidFill>
                <a:latin typeface="Georgia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383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81E23"/>
                </a:solidFill>
                <a:latin typeface="Calibri"/>
              </a:rPr>
              <a:t>BACKGROUND-CHECK LAPSES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7490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E506E"/>
                </a:solidFill>
                <a:latin typeface="Calibri"/>
              </a:rPr>
              <a:t>First quarter in two years.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146"/>
                </a:solidFill>
                <a:latin typeface="Georgia"/>
              </a:rPr>
              <a:t>First-Wednesday legal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86478"/>
                </a:solidFill>
                <a:latin typeface="Calibri"/>
              </a:rPr>
              <a:t>Consults by matter type. Protection-order line still growing; a fourth attorney may be needed by August.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10972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146"/>
                </a:solidFill>
                <a:latin typeface="Georgia"/>
              </a:rPr>
              <a:t>Gala: $31,400 of $45,000 pledged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86478"/>
                </a:solidFill>
                <a:latin typeface="Calibri"/>
              </a:rPr>
              <a:t>Of the pledged figure, $21,500 has been collected through Stripe and one check; $9,900 is still pending.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solidFill>
            <a:srgbClr val="FF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44998" cy="822960"/>
          </a:xfrm>
          <a:prstGeom prst="rect">
            <a:avLst/>
          </a:prstGeom>
          <a:solidFill>
            <a:srgbClr val="6B8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85078" y="1828800"/>
            <a:ext cx="2414016" cy="822960"/>
          </a:xfrm>
          <a:prstGeom prst="rect">
            <a:avLst/>
          </a:prstGeom>
          <a:solidFill>
            <a:srgbClr val="DC7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60"/>
                </a:solidFill>
                <a:latin typeface="Calibri"/>
              </a:rPr>
              <a:t>Collected . $21,500 . 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C7432"/>
                </a:solidFill>
                <a:latin typeface="Calibri"/>
              </a:rPr>
              <a:t>Pledged not yet paid . $9,900 . 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86E78"/>
                </a:solidFill>
                <a:latin typeface="Calibri"/>
              </a:rPr>
              <a:t>To raise . $13,600 . 30%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4747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1828800"/>
                <a:gridCol w="274320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>
                    <a:solidFill>
                      <a:srgbClr val="3D21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3D21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3D21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3D214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Catalina Foothills Dental Group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Saguaro (Title)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$10,000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Old Pueblo Title &amp; Trust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Ocotillo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$5,000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Reyna Tax &amp; Advisory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Ocotillo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$5,000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Partial - $2,500 outstanding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Sonoran Desert Credit Union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Mesquite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$2,500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Tanque Verde Veterinary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Mesquite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$2,500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Pledged</a:t>
                      </a:r>
                    </a:p>
                  </a:txBody>
                  <a:tcPr>
                    <a:solidFill>
                      <a:srgbClr val="FFF8E9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Barrio Bread Co.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Marigold (In-Kind)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1E23"/>
                          </a:solidFill>
                          <a:latin typeface="Calibri"/>
                        </a:rPr>
                        <a:t>In-kind</a:t>
                      </a:r>
                    </a:p>
                  </a:txBody>
                  <a:tcPr>
                    <a:solidFill>
                      <a:srgbClr val="FCF2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146"/>
                </a:solidFill>
                <a:latin typeface="Georgia"/>
              </a:rPr>
              <a:t>Volunteer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86478"/>
                </a:solidFill>
                <a:latin typeface="Calibri"/>
              </a:rPr>
              <a:t>Eleven active, two onboarding, one on leave. Background checks all current.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C84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C84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Shifts</a:t>
                      </a:r>
                    </a:p>
                  </a:txBody>
                  <a:tcPr>
                    <a:solidFill>
                      <a:srgbClr val="C84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>
                    <a:solidFill>
                      <a:srgbClr val="C84F6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Group facilitators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Tue / Thu evenings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R. Holt + P. Nunez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Clinic attorneys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First Wednesday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T. Aldama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Intake / front desk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Rotating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S. Begay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Childcare during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Tue / Thu evenings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Lupe Estrella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Onboarding (shadowing)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Empowerment Tue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R. Holt</a:t>
                      </a:r>
                    </a:p>
                  </a:txBody>
                  <a:tcPr>
                    <a:solidFill>
                      <a:srgbClr val="FCF0E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On leave (medical)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Returns spring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1E23"/>
                          </a:solidFill>
                          <a:latin typeface="Calibri"/>
                        </a:rPr>
                        <a:t>Ray Whitfield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B8A60"/>
                </a:solidFill>
                <a:latin typeface="Calibri"/>
              </a:rPr>
              <a:t>Ask: clear a Saturday in late August for a volunteer thank-you breakfast before gala week.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146"/>
                </a:solidFill>
                <a:latin typeface="Georgia"/>
              </a:rPr>
              <a:t>Programme budget, planning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86478"/>
                </a:solidFill>
                <a:latin typeface="Calibri"/>
              </a:rPr>
              <a:t>Estimates from the Sponsors + Budget tracker, current to mid-February.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10972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What we need from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FDCB4"/>
                </a:solidFill>
                <a:latin typeface="Calibri"/>
              </a:rPr>
              <a:t>Three decisions, one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103120" cy="1371600"/>
          </a:xfrm>
          <a:prstGeom prst="rect">
            <a:avLst/>
          </a:prstGeom>
          <a:solidFill>
            <a:srgbClr val="DC7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Decision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Vote at this meeting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8778240" cy="1371600"/>
          </a:xfrm>
          <a:prstGeom prst="rect">
            <a:avLst/>
          </a:prstGeom>
          <a:solidFill>
            <a:srgbClr val="341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Approve the fourth clinic attorney slot for July - December.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146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DCB4"/>
                </a:solidFill>
                <a:latin typeface="Calibri"/>
              </a:rPr>
              <a:t>Protection-order line is growing. We have a name (Marisol Vega, civil practice, ten-year volunteer). Background check cleared.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2103120" cy="1371600"/>
          </a:xfrm>
          <a:prstGeom prst="rect">
            <a:avLst/>
          </a:prstGeom>
          <a:solidFill>
            <a:srgbClr val="DC7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Decision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Vote at this meeting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383280"/>
            <a:ext cx="8778240" cy="1371600"/>
          </a:xfrm>
          <a:prstGeom prst="rect">
            <a:avLst/>
          </a:prstGeom>
          <a:solidFill>
            <a:srgbClr val="341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Sign the 2026 Pima County Bar Association MOU at $1,500 honorarium.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0690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DCB4"/>
                </a:solidFill>
                <a:latin typeface="Calibri"/>
              </a:rPr>
              <a:t>Up from $1,200 in 2025. Already countersigned by the Bar; needs board signature this month.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2103120" cy="1371600"/>
          </a:xfrm>
          <a:prstGeom prst="rect">
            <a:avLst/>
          </a:prstGeom>
          <a:solidFill>
            <a:srgbClr val="DC7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Decision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Vote at this meeting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4937760"/>
            <a:ext cx="8778240" cy="1371600"/>
          </a:xfrm>
          <a:prstGeom prst="rect">
            <a:avLst/>
          </a:prstGeom>
          <a:solidFill>
            <a:srgbClr val="341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1206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Move the donor newsletter Q3 send up one week to seed gala RSVPs.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6235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DCB4"/>
                </a:solidFill>
                <a:latin typeface="Calibri"/>
              </a:rPr>
              <a:t>Diana drafts by 1 Aug, SendGrid send 8 Aug. Targeting Bronze and Silver tier prospects.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