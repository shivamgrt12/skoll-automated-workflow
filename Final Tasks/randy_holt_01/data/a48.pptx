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programme revenue</c:v>
                </c:pt>
              </c:strCache>
            </c:strRef>
          </c:tx>
          <c:dPt>
            <c:idx val="0"/>
            <c:spPr>
              <a:solidFill>
                <a:srgbClr val="C59F4E"/>
              </a:solidFill>
            </c:spPr>
          </c:dPt>
          <c:dPt>
            <c:idx val="1"/>
            <c:spPr>
              <a:solidFill>
                <a:srgbClr val="AA465A"/>
              </a:solidFill>
            </c:spPr>
          </c:dPt>
          <c:dPt>
            <c:idx val="2"/>
            <c:spPr>
              <a:solidFill>
                <a:srgbClr val="6E5A96"/>
              </a:solidFill>
            </c:spPr>
          </c:dPt>
          <c:dPt>
            <c:idx val="3"/>
            <c:spPr>
              <a:solidFill>
                <a:srgbClr val="505A6E"/>
              </a:solidFill>
            </c:spPr>
          </c:dPt>
          <c:cat>
            <c:strRef>
              <c:f>Sheet1!$A$2:$A$5</c:f>
              <c:strCache>
                <c:ptCount val="4"/>
                <c:pt idx="0">
                  <c:v>Gala (this evening)</c:v>
                </c:pt>
                <c:pt idx="1">
                  <c:v>Quarterly newsletter giving</c:v>
                </c:pt>
                <c:pt idx="2">
                  <c:v>Grants</c:v>
                </c:pt>
                <c:pt idx="3">
                  <c:v>Other individual gifts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14</c:v>
                </c:pt>
                <c:pt idx="2">
                  <c:v>11</c:v>
                </c:pt>
                <c:pt idx="3">
                  <c:v>7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36576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64224"/>
            <a:ext cx="11274552" cy="36576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95176" y="457200"/>
            <a:ext cx="36576" cy="594360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0" y="914400"/>
            <a:ext cx="457200" cy="457200"/>
          </a:xfrm>
          <a:prstGeom prst="ellipse">
            <a:avLst/>
          </a:prstGeom>
          <a:solidFill>
            <a:srgbClr val="C5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59F4E"/>
                </a:solidFill>
                <a:latin typeface="Calibri"/>
              </a:rPr>
              <a:t>DESERT BLOOM UNDER THE STARS 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 i="1">
                <a:solidFill>
                  <a:srgbClr val="FFFFFF"/>
                </a:solidFill>
                <a:latin typeface="Didot"/>
              </a:rPr>
              <a:t>An invitation to 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1">
                <a:solidFill>
                  <a:srgbClr val="E4C88A"/>
                </a:solidFill>
                <a:latin typeface="Didot"/>
              </a:rPr>
              <a:t>with survivors.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F2E8CF"/>
                </a:solidFill>
                <a:latin typeface="Cambria"/>
              </a:rPr>
              <a:t>A sponsor proposal for the October 17 benefit at Cottonwood Bend Guest Ranch, Tucson.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59F4E"/>
                </a:solidFill>
                <a:latin typeface="Calibri"/>
              </a:rPr>
              <a:t>Prepared by Randy Holt, Volunteer Programme 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4AA8C"/>
                </a:solidFill>
                <a:latin typeface="Calibri"/>
              </a:rPr>
              <a:t>On behalf of the Desert Bloom Women's Shelter, EIN 86-0734519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1">
                <a:solidFill>
                  <a:srgbClr val="0C0C0E"/>
                </a:solidFill>
                <a:latin typeface="Didot"/>
              </a:rPr>
              <a:t>The night,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A465A"/>
                </a:solidFill>
                <a:latin typeface="Calibri"/>
              </a:rPr>
              <a:t>Saturday, October 17, 2026 . Cottonwood Bend Guest Ranch . desert formal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59F4E"/>
                </a:solidFill>
                <a:latin typeface="Didot"/>
              </a:rPr>
              <a:t>5:30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C0C0E"/>
                </a:solidFill>
                <a:latin typeface="Cambria"/>
              </a:rPr>
              <a:t>Doors open . cocktails in the saguaro courtyard . string trio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59F4E"/>
                </a:solidFill>
                <a:latin typeface="Didot"/>
              </a:rPr>
              <a:t>6:30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97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C0C0E"/>
                </a:solidFill>
                <a:latin typeface="Cambria"/>
              </a:rPr>
              <a:t>Dinner plated . table-side conversation with the programme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59F4E"/>
                </a:solidFill>
                <a:latin typeface="Didot"/>
              </a:rPr>
              <a:t>7:30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474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C0C0E"/>
                </a:solidFill>
                <a:latin typeface="Cambria"/>
              </a:rPr>
              <a:t>Welcome from the Executive Director and two returning volunteers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59F4E"/>
                </a:solidFill>
                <a:latin typeface="Didot"/>
              </a:rPr>
              <a:t>8:00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251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C0C0E"/>
                </a:solidFill>
                <a:latin typeface="Cambria"/>
              </a:rPr>
              <a:t>Live auction and sponsor recognition under the string 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59F4E"/>
                </a:solidFill>
                <a:latin typeface="Didot"/>
              </a:rPr>
              <a:t>9:15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029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C0C0E"/>
                </a:solidFill>
                <a:latin typeface="Cambria"/>
              </a:rPr>
              <a:t>Dessert, coffee, and a slow walk through the Sonoran sunset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Didot"/>
              </a:rPr>
              <a:t>Why this evening underwrites the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4C88A"/>
                </a:solidFill>
                <a:latin typeface="Cambria"/>
              </a:rPr>
              <a:t>412 survivors served in 2025. 68% of that year's programme budget came from this single benefit.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040880" y="1554480"/>
            <a:ext cx="4572000" cy="4754880"/>
          </a:xfrm>
          <a:prstGeom prst="rect">
            <a:avLst/>
          </a:prstGeom>
          <a:solidFill>
            <a:srgbClr val="18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0" y="1554480"/>
            <a:ext cx="109728" cy="475488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59F4E"/>
                </a:solidFill>
                <a:latin typeface="Calibri"/>
              </a:rPr>
              <a:t>ONE BENEFIT, MANY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2E8CF"/>
                </a:solidFill>
                <a:latin typeface="Cambria"/>
              </a:rPr>
              <a:t>"The gala is not a party. It is the line item that funds the Tuesday group, the Thursday group, the first-Wednesday clinic, and the emergency safety plans, from October through June. We do not have a second one."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8521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4C88A"/>
                </a:solidFill>
                <a:latin typeface="Calibri"/>
              </a:rPr>
              <a:t>- Diana Ochoa, Executive Director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1">
                <a:solidFill>
                  <a:srgbClr val="0C0C0E"/>
                </a:solidFill>
                <a:latin typeface="Didot"/>
              </a:rPr>
              <a:t>Sponsorship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04B41"/>
                </a:solidFill>
                <a:latin typeface="Calibri"/>
              </a:rPr>
              <a:t>Pricing in USD. All recognition appears on programme, donor wall, and quarterly newsletter.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011680"/>
                <a:gridCol w="2011680"/>
                <a:gridCol w="2377440"/>
                <a:gridCol w="1645920"/>
              </a:tblGrid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59F4E"/>
                          </a:solidFill>
                          <a:latin typeface="Cambria"/>
                        </a:rPr>
                        <a:t>Tier</a:t>
                      </a:r>
                    </a:p>
                  </a:txBody>
                  <a:tcPr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59F4E"/>
                          </a:solidFill>
                          <a:latin typeface="Cambria"/>
                        </a:rPr>
                        <a:t>Seats</a:t>
                      </a:r>
                    </a:p>
                  </a:txBody>
                  <a:tcPr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59F4E"/>
                          </a:solidFill>
                          <a:latin typeface="Cambria"/>
                        </a:rPr>
                        <a:t>Print</a:t>
                      </a:r>
                    </a:p>
                  </a:txBody>
                  <a:tcPr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59F4E"/>
                          </a:solidFill>
                          <a:latin typeface="Cambria"/>
                        </a:rPr>
                        <a:t>Stage</a:t>
                      </a:r>
                    </a:p>
                  </a:txBody>
                  <a:tcPr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59F4E"/>
                          </a:solidFill>
                          <a:latin typeface="Cambria"/>
                        </a:rPr>
                        <a:t>Year-round</a:t>
                      </a:r>
                    </a:p>
                  </a:txBody>
                  <a:tcPr>
                    <a:solidFill>
                      <a:srgbClr val="0C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59F4E"/>
                          </a:solidFill>
                          <a:latin typeface="Cambria"/>
                        </a:rPr>
                        <a:t>Price</a:t>
                      </a:r>
                    </a:p>
                  </a:txBody>
                  <a:tcPr>
                    <a:solidFill>
                      <a:srgbClr val="0C0C0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0C0E"/>
                          </a:solidFill>
                          <a:latin typeface="Cambria"/>
                        </a:rPr>
                        <a:t>Marigold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Programme listing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Newsletter mention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$1,200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0C0E"/>
                          </a:solidFill>
                          <a:latin typeface="Cambria"/>
                        </a:rPr>
                        <a:t>Mesquite</a:t>
                      </a:r>
                    </a:p>
                  </a:txBody>
                  <a:tcPr>
                    <a:solidFill>
                      <a:srgbClr val="FC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4</a:t>
                      </a:r>
                    </a:p>
                  </a:txBody>
                  <a:tcPr>
                    <a:solidFill>
                      <a:srgbClr val="FC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Quarter page</a:t>
                      </a:r>
                    </a:p>
                  </a:txBody>
                  <a:tcPr>
                    <a:solidFill>
                      <a:srgbClr val="FCF8F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C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Logo on slideshow</a:t>
                      </a:r>
                    </a:p>
                  </a:txBody>
                  <a:tcPr>
                    <a:solidFill>
                      <a:srgbClr val="FC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$2,500</a:t>
                      </a:r>
                    </a:p>
                  </a:txBody>
                  <a:tcPr>
                    <a:solidFill>
                      <a:srgbClr val="FCF8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0C0E"/>
                          </a:solidFill>
                          <a:latin typeface="Cambria"/>
                        </a:rPr>
                        <a:t>Ocotillo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Half page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Entry signage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Quarterly briefing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$5,000</a:t>
                      </a:r>
                    </a:p>
                  </a:txBody>
                  <a:tcPr>
                    <a:solidFill>
                      <a:srgbClr val="FCF4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0C0E"/>
                          </a:solidFill>
                          <a:latin typeface="Cambria"/>
                        </a:rPr>
                        <a:t>Saguaro (Title)</a:t>
                      </a:r>
                    </a:p>
                  </a:txBody>
                  <a:tcPr>
                    <a:solidFill>
                      <a:srgbClr val="E4C8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>
                    <a:solidFill>
                      <a:srgbClr val="E4C8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Full page</a:t>
                      </a:r>
                    </a:p>
                  </a:txBody>
                  <a:tcPr>
                    <a:solidFill>
                      <a:srgbClr val="E4C8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Stage thank-you</a:t>
                      </a:r>
                    </a:p>
                  </a:txBody>
                  <a:tcPr>
                    <a:solidFill>
                      <a:srgbClr val="E4C8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Year-long brand presence</a:t>
                      </a:r>
                    </a:p>
                  </a:txBody>
                  <a:tcPr>
                    <a:solidFill>
                      <a:srgbClr val="E4C8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0C0E"/>
                          </a:solidFill>
                          <a:latin typeface="Cambria"/>
                        </a:rPr>
                        <a:t>$10,000</a:t>
                      </a:r>
                    </a:p>
                  </a:txBody>
                  <a:tcPr>
                    <a:solidFill>
                      <a:srgbClr val="E4C88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8643C"/>
                </a:solidFill>
                <a:latin typeface="Calibri"/>
              </a:rPr>
              <a:t>All gifts are tax-deductible under IRC 501(c)(3); EIN 86-0734519.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1">
                <a:solidFill>
                  <a:srgbClr val="FFFFFF"/>
                </a:solidFill>
                <a:latin typeface="Didot"/>
              </a:rPr>
              <a:t>What your sponsorship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4C88A"/>
                </a:solidFill>
                <a:latin typeface="Calibri"/>
              </a:rPr>
              <a:t>Tied to programmes, not overhead. Every line traceable to a survivor we serve.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18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" cy="210312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Didot"/>
              </a:rPr>
              <a:t>Empowerment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E8CF"/>
                </a:solidFill>
                <a:latin typeface="Cambria"/>
              </a:rPr>
              <a:t>Funds Tuesday + Thursday groups for one month, including facilitator stipend and childcare.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59F4E"/>
                </a:solidFill>
                <a:latin typeface="Didot"/>
              </a:rPr>
              <a:t>$1,200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2103120"/>
          </a:xfrm>
          <a:prstGeom prst="rect">
            <a:avLst/>
          </a:prstGeom>
          <a:solidFill>
            <a:srgbClr val="18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09728" cy="210312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Didot"/>
              </a:rPr>
              <a:t>Legal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E8CF"/>
                </a:solidFill>
                <a:latin typeface="Cambria"/>
              </a:rPr>
              <a:t>Funds one first-Wednesday clinic for a calendar year, including attorney stipends and intake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103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59F4E"/>
                </a:solidFill>
                <a:latin typeface="Didot"/>
              </a:rPr>
              <a:t>$2,500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18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109728" cy="210312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Didot"/>
              </a:rPr>
              <a:t>Safety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920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E8CF"/>
                </a:solidFill>
                <a:latin typeface="Cambria"/>
              </a:rPr>
              <a:t>Funds twelve months of emergency safety-planning consults for residents in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89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59F4E"/>
                </a:solidFill>
                <a:latin typeface="Didot"/>
              </a:rPr>
              <a:t>$5,000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14800"/>
            <a:ext cx="5394960" cy="2103120"/>
          </a:xfrm>
          <a:prstGeom prst="rect">
            <a:avLst/>
          </a:prstGeom>
          <a:solidFill>
            <a:srgbClr val="18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114800"/>
            <a:ext cx="109728" cy="2103120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Didot"/>
              </a:rPr>
              <a:t>Year of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8920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E8CF"/>
                </a:solidFill>
                <a:latin typeface="Cambria"/>
              </a:rPr>
              <a:t>Underwrites one full programme year of one of the above, with sponsor recognition throughout.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389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59F4E"/>
                </a:solidFill>
                <a:latin typeface="Didot"/>
              </a:rPr>
              <a:t>$10,000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1">
                <a:solidFill>
                  <a:srgbClr val="0C0C0E"/>
                </a:solidFill>
                <a:latin typeface="Didot"/>
              </a:rPr>
              <a:t>From commitment to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04B41"/>
                </a:solidFill>
                <a:latin typeface="Calibri"/>
              </a:rPr>
              <a:t>The path from a yes to a stage thank-you.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54864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0352" y="1737360"/>
            <a:ext cx="274320" cy="274320"/>
          </a:xfrm>
          <a:prstGeom prst="ellipse">
            <a:avLst/>
          </a:prstGeom>
          <a:solidFill>
            <a:srgbClr val="AA465A"/>
          </a:solidFill>
          <a:ln w="19050">
            <a:solidFill>
              <a:srgbClr val="C59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A465A"/>
                </a:solidFill>
                <a:latin typeface="Calibri"/>
              </a:rPr>
              <a:t>Now - 30 September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C0C0E"/>
                </a:solidFill>
                <a:latin typeface="Cambria"/>
              </a:rPr>
              <a:t>Sponsorship pledge confirmed via DocuSign.</a:t>
            </a:r>
          </a:p>
        </p:txBody>
      </p:sp>
      <p:sp>
        <p:nvSpPr>
          <p:cNvPr id="9" name="Oval 8"/>
          <p:cNvSpPr/>
          <p:nvPr/>
        </p:nvSpPr>
        <p:spPr>
          <a:xfrm>
            <a:off x="2359152" y="1737360"/>
            <a:ext cx="274320" cy="274320"/>
          </a:xfrm>
          <a:prstGeom prst="ellipse">
            <a:avLst/>
          </a:prstGeom>
          <a:solidFill>
            <a:srgbClr val="AA465A"/>
          </a:solidFill>
          <a:ln w="19050">
            <a:solidFill>
              <a:srgbClr val="C59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A465A"/>
                </a:solidFill>
                <a:latin typeface="Calibri"/>
              </a:rPr>
              <a:t>1 - 14 October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60604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C0C0E"/>
                </a:solidFill>
                <a:latin typeface="Cambria"/>
              </a:rPr>
              <a:t>Logos and copy due for programme designer.</a:t>
            </a:r>
          </a:p>
        </p:txBody>
      </p:sp>
      <p:sp>
        <p:nvSpPr>
          <p:cNvPr id="12" name="Oval 11"/>
          <p:cNvSpPr/>
          <p:nvPr/>
        </p:nvSpPr>
        <p:spPr>
          <a:xfrm>
            <a:off x="4187952" y="1737360"/>
            <a:ext cx="274320" cy="274320"/>
          </a:xfrm>
          <a:prstGeom prst="ellipse">
            <a:avLst/>
          </a:prstGeom>
          <a:solidFill>
            <a:srgbClr val="AA465A"/>
          </a:solidFill>
          <a:ln w="19050">
            <a:solidFill>
              <a:srgbClr val="C59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A465A"/>
                </a:solidFill>
                <a:latin typeface="Calibri"/>
              </a:rPr>
              <a:t>15 - 30 September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0604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C0C0E"/>
                </a:solidFill>
                <a:latin typeface="Cambria"/>
              </a:rPr>
              <a:t>Stripe invoice or check; tax letter issued.</a:t>
            </a:r>
          </a:p>
        </p:txBody>
      </p:sp>
      <p:sp>
        <p:nvSpPr>
          <p:cNvPr id="15" name="Oval 14"/>
          <p:cNvSpPr/>
          <p:nvPr/>
        </p:nvSpPr>
        <p:spPr>
          <a:xfrm>
            <a:off x="6016752" y="1737360"/>
            <a:ext cx="274320" cy="274320"/>
          </a:xfrm>
          <a:prstGeom prst="ellipse">
            <a:avLst/>
          </a:prstGeom>
          <a:solidFill>
            <a:srgbClr val="AA465A"/>
          </a:solidFill>
          <a:ln w="19050">
            <a:solidFill>
              <a:srgbClr val="C59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A465A"/>
                </a:solidFill>
                <a:latin typeface="Calibri"/>
              </a:rPr>
              <a:t>1 - 16 October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0604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C0C0E"/>
                </a:solidFill>
                <a:latin typeface="Cambria"/>
              </a:rPr>
              <a:t>Final RSVP list; seating chart prepared.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1" y="1737360"/>
            <a:ext cx="274320" cy="274320"/>
          </a:xfrm>
          <a:prstGeom prst="ellipse">
            <a:avLst/>
          </a:prstGeom>
          <a:solidFill>
            <a:srgbClr val="AA465A"/>
          </a:solidFill>
          <a:ln w="19050">
            <a:solidFill>
              <a:srgbClr val="C59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A465A"/>
                </a:solidFill>
                <a:latin typeface="Calibri"/>
              </a:rPr>
              <a:t>17 October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260604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C0C0E"/>
                </a:solidFill>
                <a:latin typeface="Cambria"/>
              </a:rPr>
              <a:t>Stage recognition and donor wall on the evening.</a:t>
            </a:r>
          </a:p>
        </p:txBody>
      </p:sp>
      <p:sp>
        <p:nvSpPr>
          <p:cNvPr id="21" name="Oval 20"/>
          <p:cNvSpPr/>
          <p:nvPr/>
        </p:nvSpPr>
        <p:spPr>
          <a:xfrm>
            <a:off x="9674352" y="1737360"/>
            <a:ext cx="274320" cy="274320"/>
          </a:xfrm>
          <a:prstGeom prst="ellipse">
            <a:avLst/>
          </a:prstGeom>
          <a:solidFill>
            <a:srgbClr val="AA465A"/>
          </a:solidFill>
          <a:ln w="19050">
            <a:solidFill>
              <a:srgbClr val="C59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A465A"/>
                </a:solidFill>
                <a:latin typeface="Calibri"/>
              </a:rPr>
              <a:t>Within 30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0604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C0C0E"/>
                </a:solidFill>
                <a:latin typeface="Cambria"/>
              </a:rPr>
              <a:t>Hand-written thank-you and impact briefing.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9F4E"/>
                </a:solidFill>
                <a:latin typeface="Calibri"/>
              </a:rPr>
              <a:t>- from a 2024 participant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  <a:latin typeface="Didot"/>
              </a:rPr>
              <a:t>"Before the protection order I did not sleep. The first-Wednesday clinic walked me through it. The Tuesday group taught me how to breathe again. The shelter did not save me. It gave me back to myself."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4C88A"/>
                </a:solidFill>
                <a:latin typeface="Calibri"/>
              </a:rPr>
              <a:t>Anonymised per shelter policy. Quote used with written permission.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1">
                <a:solidFill>
                  <a:srgbClr val="C59F4E"/>
                </a:solidFill>
                <a:latin typeface="Didot"/>
              </a:rPr>
              <a:t>Say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1">
                <a:solidFill>
                  <a:srgbClr val="0C0C0E"/>
                </a:solidFill>
                <a:latin typeface="Didot"/>
              </a:rPr>
              <a:t>Three ways to commit,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9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3657600" cy="109728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0C0E"/>
                </a:solidFill>
                <a:latin typeface="Didot"/>
              </a:rPr>
              <a:t>Sign the DocuSign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3C41"/>
                </a:solidFill>
                <a:latin typeface="Cambria"/>
              </a:rPr>
              <a:t>Open the link in your inbox. Two-minute pledge form, tier selectable.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7432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9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743200"/>
            <a:ext cx="3657600" cy="109728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0C0E"/>
                </a:solidFill>
                <a:latin typeface="Didot"/>
              </a:rPr>
              <a:t>Wire or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118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3C41"/>
                </a:solidFill>
                <a:latin typeface="Cambria"/>
              </a:rPr>
              <a:t>Make payable to Desert Bloom Women's Shelter. PO Box 42890, Tucson, AZ 85733.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7432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9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743200"/>
            <a:ext cx="3657600" cy="109728"/>
          </a:xfrm>
          <a:prstGeom prst="rect">
            <a:avLst/>
          </a:prstGeom>
          <a:solidFill>
            <a:srgbClr val="C59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017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0C0E"/>
                </a:solidFill>
                <a:latin typeface="Didot"/>
              </a:rPr>
              <a:t>Talk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6118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3C41"/>
                </a:solidFill>
                <a:latin typeface="Cambria"/>
              </a:rPr>
              <a:t>Diana Ochoa or Randy Holt will walk you through the programme on a 15-minute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AA465A"/>
                </a:solidFill>
                <a:latin typeface="Calibri"/>
              </a:rPr>
              <a:t>diana.ochoa@desertbloomtucson.org  .  randy.holt@Finthesiss.ai  .  Desert Bloom Women's Shelter . 501(c)(3) . EIN 86-0734519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