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263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4A7AA3"/>
                </a:solidFill>
                <a:latin typeface="Calibri"/>
              </a:rPr>
              <a:t>A PATIENT'S OWN SYSTEM</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Running a Steady Lupus Routine</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2A3340"/>
                </a:solidFill>
                <a:latin typeface="Calibri"/>
              </a:rPr>
              <a:t>Medications, bloodwork, and the small disciplines that keep a flare a memory</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7C8896"/>
                </a:solidFill>
                <a:latin typeface="Calibri"/>
              </a:rPr>
              <a:t>Samantha Thomas Long</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63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Daily Medication Frame</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63445"/>
                </a:solidFill>
                <a:latin typeface="Calibri"/>
              </a:rPr>
              <a:t>Morning, around eight</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A3340"/>
                </a:solidFill>
                <a:latin typeface="Calibri"/>
              </a:rPr>
              <a:t>Hydroxychloroquine 200 mg, prednisone 5 mg, the calcium citrate 600 mg with D3, folic acid 1 mg, and the fish oil 1200 mg. All of it taken with the first coffee so the order never breaks. The phone reminder backs up the habit, not the other way around.</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63445"/>
                </a:solidFill>
                <a:latin typeface="Calibri"/>
              </a:rPr>
              <a:t>Evening, around nine</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A3340"/>
                </a:solidFill>
                <a:latin typeface="Calibri"/>
              </a:rPr>
              <a:t>The second hydroxychloroquine 200 mg and the gabapentin 300 mg for the neuropathy. The gabapentin is also what lets the night run from ten to a quarter to six without the feet waking the rest of the body up.</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63445"/>
                </a:solidFill>
                <a:latin typeface="Calibri"/>
              </a:rPr>
              <a:t>Why the windows are fixed</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A3340"/>
                </a:solidFill>
                <a:latin typeface="Calibri"/>
              </a:rPr>
              <a:t>Twice-daily means twelve hours apart, not whenever the day allows. A drifting dose is a drifting blood level, and a drifting blood level is how a quiet disease stops being quiet. The clock is the treatment as much as the pill is.</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63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Refill Arithmetic</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63445"/>
                </a:solidFill>
                <a:latin typeface="Calibri"/>
              </a:rPr>
              <a:t>Count the doses, not the days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A3340"/>
                </a:solidFill>
                <a:latin typeface="Calibri"/>
              </a:rPr>
              <a:t>Hydroxychloroquine at two a day is 60 a month and 180 in a 90-day supply. Last filled the 22nd of January, next fill the 21st of February, two refills left on the script. The math is checked against the calendar, never guessed.</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63445"/>
                </a:solidFill>
                <a:latin typeface="Calibri"/>
              </a:rPr>
              <a:t>The one that runs short</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A3340"/>
                </a:solidFill>
                <a:latin typeface="Calibri"/>
              </a:rPr>
              <a:t>Prednisone fills on a different clock, last on the 4th and due the 4th of the next month, three refills left. It is the one most likely to slip a day, so it gets its own line and its own reminder rather than riding along with the others.</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63445"/>
                </a:solidFill>
                <a:latin typeface="Calibri"/>
              </a:rPr>
              <a:t>The pharmacy is phone only</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A3340"/>
                </a:solidFill>
                <a:latin typeface="Calibri"/>
              </a:rPr>
              <a:t>Refills go through the pharmacy by phone, in Samantha's own voice, never handed off. Insurance detail stays with her. A reminder that a refill is due is useful; a refill placed without her word is a line that does not get crossed.</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63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Quarterly Bloodwork</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63445"/>
                </a:solidFill>
                <a:latin typeface="Calibri"/>
              </a:rPr>
              <a:t>What gets drawn</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A3340"/>
                </a:solidFill>
                <a:latin typeface="Calibri"/>
              </a:rPr>
              <a:t>A CBC, a CMP, and complement levels every quarter under Dr. Anwar at Edgewood Medical Associates. The complement number is the early-warning light; it moves before the joints do, which is the whole reason to keep drawing it on schedule.</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63445"/>
                </a:solidFill>
                <a:latin typeface="Calibri"/>
              </a:rPr>
              <a:t>Reading the trend</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A3340"/>
                </a:solidFill>
                <a:latin typeface="Calibri"/>
              </a:rPr>
              <a:t>One value is noise; three in a row is a signal. The results get filed in order so a follow-up reading is compared against the corrected sheet, not last quarter's first draft. The latest revision is the one that counts.</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4A7A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63445"/>
                </a:solidFill>
                <a:latin typeface="Calibri"/>
              </a:rPr>
              <a:t>The two specialists</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A3340"/>
                </a:solidFill>
                <a:latin typeface="Calibri"/>
              </a:rPr>
              <a:t>Dr. Tierney in Providence holds the rheumatology view and the medication decisions; Dr. Lopes runs the annual retinal screening that hydroxychloroquine requires. Last eye exam in November, the next one a full year out.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F5"/>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634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Staying Ahead of a Flare</a:t>
            </a:r>
          </a:p>
        </p:txBody>
      </p:sp>
      <p:sp>
        <p:nvSpPr>
          <p:cNvPr id="7" name="Rectangle 6"/>
          <p:cNvSpPr/>
          <p:nvPr/>
        </p:nvSpPr>
        <p:spPr>
          <a:xfrm>
            <a:off x="502920" y="160020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263445"/>
                </a:solidFill>
                <a:latin typeface="Calibri"/>
              </a:rPr>
              <a:t>Sun is the trigger</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2A3340"/>
                </a:solidFill>
                <a:latin typeface="Calibri"/>
              </a:rPr>
              <a:t>Hat and long sleeves outdoors, every time, garden or walk. The sensitivity is not vanity and it is not optional; a careless afternoon in the sun can cost a week. The clothing is part of the prescription.</a:t>
            </a:r>
          </a:p>
        </p:txBody>
      </p:sp>
      <p:sp>
        <p:nvSpPr>
          <p:cNvPr id="11" name="Rectangle 10"/>
          <p:cNvSpPr/>
          <p:nvPr/>
        </p:nvSpPr>
        <p:spPr>
          <a:xfrm>
            <a:off x="502920" y="323088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263445"/>
                </a:solidFill>
                <a:latin typeface="Calibri"/>
              </a:rPr>
              <a:t>The walk is medicine too</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2A3340"/>
                </a:solidFill>
                <a:latin typeface="Calibri"/>
              </a:rPr>
              <a:t>Three mornings a week with Frank at the park, plus the daily balance exercises for the neuropathy. Movement on the good days is what buys range of motion on the bad ones. The cane comes along when the feet say so.</a:t>
            </a:r>
          </a:p>
        </p:txBody>
      </p:sp>
      <p:sp>
        <p:nvSpPr>
          <p:cNvPr id="15" name="Rectangle 14"/>
          <p:cNvSpPr/>
          <p:nvPr/>
        </p:nvSpPr>
        <p:spPr>
          <a:xfrm>
            <a:off x="502920" y="4861560"/>
            <a:ext cx="1115568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9C6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263445"/>
                </a:solidFill>
                <a:latin typeface="Calibri"/>
              </a:rPr>
              <a:t>The record since 2024</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2A3340"/>
                </a:solidFill>
                <a:latin typeface="Calibri"/>
              </a:rPr>
              <a:t>No major flare since 2024, which is not luck. It is fixed dose windows, sun discipline, quarterly labs read honestly, and a refusal to skip a step because a day got busy. Stable is a thing you maintain, not a thing you are given.</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a Steady Lupus Routine</dc:title>
  <dc:subject/>
  <dc:creator>Samantha Long</dc:creator>
  <cp:keywords/>
  <dc:description>generated using </dc:description>
  <cp:lastModifiedBy>Samantha Long</cp:lastModifiedBy>
  <cp:revision>1</cp:revision>
  <dcterms:created xsi:type="dcterms:W3CDTF">2026-01-28T11:00:00Z</dcterms:created>
  <dcterms:modified xsi:type="dcterms:W3CDTF">2026-01-28T11:00:00Z</dcterms:modified>
  <cp:category/>
</cp:coreProperties>
</file>