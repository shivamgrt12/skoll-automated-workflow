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2194560"/>
          </a:xfrm>
          <a:prstGeom prst="rect">
            <a:avLst/>
          </a:prstGeom>
          <a:solidFill>
            <a:srgbClr val="3A2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0972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869680" y="3108960"/>
            <a:ext cx="2743200" cy="2743200"/>
          </a:xfrm>
          <a:prstGeom prst="ellipse">
            <a:avLst/>
          </a:prstGeom>
          <a:solidFill>
            <a:srgbClr val="5E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241280" y="5120640"/>
            <a:ext cx="1463040" cy="1463040"/>
          </a:xfrm>
          <a:prstGeom prst="ellipse">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02920"/>
            <a:ext cx="10058400" cy="457200"/>
          </a:xfrm>
          <a:prstGeom prst="rect">
            <a:avLst/>
          </a:prstGeom>
          <a:noFill/>
        </p:spPr>
        <p:txBody>
          <a:bodyPr wrap="square" anchor="t">
            <a:spAutoFit/>
          </a:bodyPr>
          <a:lstStyle/>
          <a:p>
            <a:pPr algn="l"/>
            <a:r>
              <a:rPr sz="1500" b="1">
                <a:solidFill>
                  <a:srgbClr val="9C6B2E"/>
                </a:solidFill>
                <a:latin typeface="Calibri"/>
              </a:rPr>
              <a:t>CRANSTON PUBLIC LIBRARY, VOLUNTEER BENCH</a:t>
            </a:r>
          </a:p>
        </p:txBody>
      </p:sp>
      <p:sp>
        <p:nvSpPr>
          <p:cNvPr id="7" name="TextBox 6"/>
          <p:cNvSpPr txBox="1"/>
          <p:nvPr/>
        </p:nvSpPr>
        <p:spPr>
          <a:xfrm>
            <a:off x="640080" y="914400"/>
            <a:ext cx="10789920" cy="1188720"/>
          </a:xfrm>
          <a:prstGeom prst="rect">
            <a:avLst/>
          </a:prstGeom>
          <a:noFill/>
        </p:spPr>
        <p:txBody>
          <a:bodyPr wrap="square" anchor="t">
            <a:spAutoFit/>
          </a:bodyPr>
          <a:lstStyle/>
          <a:p>
            <a:pPr algn="l"/>
            <a:r>
              <a:rPr sz="4000" b="1">
                <a:solidFill>
                  <a:srgbClr val="FFFFFF"/>
                </a:solidFill>
                <a:latin typeface="Calibri"/>
              </a:rPr>
              <a:t>Sorting, Shelving, and the Annual Sale</a:t>
            </a:r>
          </a:p>
        </p:txBody>
      </p:sp>
      <p:sp>
        <p:nvSpPr>
          <p:cNvPr id="8" name="TextBox 7"/>
          <p:cNvSpPr txBox="1"/>
          <p:nvPr/>
        </p:nvSpPr>
        <p:spPr>
          <a:xfrm>
            <a:off x="640080" y="2468880"/>
            <a:ext cx="10515600" cy="914400"/>
          </a:xfrm>
          <a:prstGeom prst="rect">
            <a:avLst/>
          </a:prstGeom>
          <a:noFill/>
        </p:spPr>
        <p:txBody>
          <a:bodyPr wrap="square" anchor="t">
            <a:spAutoFit/>
          </a:bodyPr>
          <a:lstStyle/>
          <a:p>
            <a:pPr algn="l"/>
            <a:r>
              <a:rPr sz="2000" b="0">
                <a:solidFill>
                  <a:srgbClr val="332B20"/>
                </a:solidFill>
                <a:latin typeface="Calibri"/>
              </a:rPr>
              <a:t>A retired carrier's second route, run two Saturdays a month</a:t>
            </a:r>
          </a:p>
        </p:txBody>
      </p:sp>
      <p:sp>
        <p:nvSpPr>
          <p:cNvPr id="9" name="TextBox 8"/>
          <p:cNvSpPr txBox="1"/>
          <p:nvPr/>
        </p:nvSpPr>
        <p:spPr>
          <a:xfrm>
            <a:off x="640080" y="5852160"/>
            <a:ext cx="10058400" cy="457200"/>
          </a:xfrm>
          <a:prstGeom prst="rect">
            <a:avLst/>
          </a:prstGeom>
          <a:noFill/>
        </p:spPr>
        <p:txBody>
          <a:bodyPr wrap="square" anchor="t">
            <a:spAutoFit/>
          </a:bodyPr>
          <a:lstStyle/>
          <a:p>
            <a:pPr algn="l"/>
            <a:r>
              <a:rPr sz="1300" b="1">
                <a:solidFill>
                  <a:srgbClr val="8A7C66"/>
                </a:solidFill>
                <a:latin typeface="Calibri"/>
              </a:rPr>
              <a:t>Samantha Thomas Long</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600"/>
                                        <p:tgtEl>
                                          <p:spTgt spid="7"/>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7" grpId="0"/>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3A2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01</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The Volunteer Rhythm</a:t>
            </a:r>
          </a:p>
        </p:txBody>
      </p:sp>
      <p:sp>
        <p:nvSpPr>
          <p:cNvPr id="7" name="Rectangle 6"/>
          <p:cNvSpPr/>
          <p:nvPr/>
        </p:nvSpPr>
        <p:spPr>
          <a:xfrm>
            <a:off x="502920" y="160020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3A2E22"/>
                </a:solidFill>
                <a:latin typeface="Calibri"/>
              </a:rPr>
              <a:t>Second and fourth Saturday</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332B20"/>
                </a:solidFill>
                <a:latin typeface="Calibri"/>
              </a:rPr>
              <a:t>Two and a half hours a shift, twice a month, mostly sorting donations and shelving by section. The cadence is fixed the same way the medication windows are: a thing you can count on does not have to be remembered.</a:t>
            </a:r>
          </a:p>
        </p:txBody>
      </p:sp>
      <p:sp>
        <p:nvSpPr>
          <p:cNvPr id="11" name="Rectangle 10"/>
          <p:cNvSpPr/>
          <p:nvPr/>
        </p:nvSpPr>
        <p:spPr>
          <a:xfrm>
            <a:off x="502920" y="323088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3A2E22"/>
                </a:solidFill>
                <a:latin typeface="Calibri"/>
              </a:rPr>
              <a:t>Who runs the floor</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332B20"/>
                </a:solidFill>
                <a:latin typeface="Calibri"/>
              </a:rPr>
              <a:t>M. Reyes coordinates most shifts; D. Khoury covers the holiday cleanup and the off weeks. Thirty years of reading a postal route turns out to transfer cleanly to reading a sorting table: you learn the regulars and the strays fast.</a:t>
            </a:r>
          </a:p>
        </p:txBody>
      </p:sp>
      <p:sp>
        <p:nvSpPr>
          <p:cNvPr id="15" name="Rectangle 14"/>
          <p:cNvSpPr/>
          <p:nvPr/>
        </p:nvSpPr>
        <p:spPr>
          <a:xfrm>
            <a:off x="502920" y="486156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3A2E22"/>
                </a:solidFill>
                <a:latin typeface="Calibri"/>
              </a:rPr>
              <a:t>The work that suits</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332B20"/>
                </a:solidFill>
                <a:latin typeface="Calibri"/>
              </a:rPr>
              <a:t>Sorting donations rewards a steady eye and a personal taxonomy, which is exactly what three home bookshelves of history, philosophy, and fiction have been training for years. The library just pays in different coin.</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3A2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5E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5E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02</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The Annual Book Sale</a:t>
            </a:r>
          </a:p>
        </p:txBody>
      </p:sp>
      <p:sp>
        <p:nvSpPr>
          <p:cNvPr id="7" name="Rectangle 6"/>
          <p:cNvSpPr/>
          <p:nvPr/>
        </p:nvSpPr>
        <p:spPr>
          <a:xfrm>
            <a:off x="502920" y="160020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5E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3A2E22"/>
                </a:solidFill>
                <a:latin typeface="Calibri"/>
              </a:rPr>
              <a:t>The one big shift</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332B20"/>
                </a:solidFill>
                <a:latin typeface="Calibri"/>
              </a:rPr>
              <a:t>The sale runs the last Saturday of its month, an open-to-close shift on the floor. It is the busiest day on the volunteer calendar and the one that needs the most hands, so it gets blocked out well ahead and worked around no appointment.</a:t>
            </a:r>
          </a:p>
        </p:txBody>
      </p:sp>
      <p:sp>
        <p:nvSpPr>
          <p:cNvPr id="11" name="Rectangle 10"/>
          <p:cNvSpPr/>
          <p:nvPr/>
        </p:nvSpPr>
        <p:spPr>
          <a:xfrm>
            <a:off x="502920" y="323088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5E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3A2E22"/>
                </a:solidFill>
                <a:latin typeface="Calibri"/>
              </a:rPr>
              <a:t>Sorting toward the sale</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332B20"/>
                </a:solidFill>
                <a:latin typeface="Calibri"/>
              </a:rPr>
              <a:t>The weeks before the sale shift from ordinary shelving to pricing and crating, so a January sort and an April sort do not look the same. Drafts of the volunteer roster go around early and get revised twice before the final.</a:t>
            </a:r>
          </a:p>
        </p:txBody>
      </p:sp>
      <p:sp>
        <p:nvSpPr>
          <p:cNvPr id="15" name="Rectangle 14"/>
          <p:cNvSpPr/>
          <p:nvPr/>
        </p:nvSpPr>
        <p:spPr>
          <a:xfrm>
            <a:off x="502920" y="486156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5E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3A2E22"/>
                </a:solidFill>
                <a:latin typeface="Calibri"/>
              </a:rPr>
              <a:t>What the sale funds</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332B20"/>
                </a:solidFill>
                <a:latin typeface="Calibri"/>
              </a:rPr>
              <a:t>The proceeds keep the large-print collection stocked and the children's room supplied, which closes a personal loop: the large-print copies that come home on a library card are the same collection the sale keeps alive.</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3A2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03</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A Reader's Taxonomy</a:t>
            </a:r>
          </a:p>
        </p:txBody>
      </p:sp>
      <p:sp>
        <p:nvSpPr>
          <p:cNvPr id="7" name="Rectangle 6"/>
          <p:cNvSpPr/>
          <p:nvPr/>
        </p:nvSpPr>
        <p:spPr>
          <a:xfrm>
            <a:off x="502920" y="160020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3A2E22"/>
                </a:solidFill>
                <a:latin typeface="Calibri"/>
              </a:rPr>
              <a:t>Four to five a month</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332B20"/>
                </a:solidFill>
                <a:latin typeface="Calibri"/>
              </a:rPr>
              <a:t>History, philosophy, biography, and good literary fiction, drawn from the library and a digital subscription. Physical first, the screen second, and no podcasts. A current title sits on the reading chair by the window under the floor lamp.</a:t>
            </a:r>
          </a:p>
        </p:txBody>
      </p:sp>
      <p:sp>
        <p:nvSpPr>
          <p:cNvPr id="11" name="Rectangle 10"/>
          <p:cNvSpPr/>
          <p:nvPr/>
        </p:nvSpPr>
        <p:spPr>
          <a:xfrm>
            <a:off x="502920" y="323088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3A2E22"/>
                </a:solidFill>
                <a:latin typeface="Calibri"/>
              </a:rPr>
              <a:t>The shelves at home</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332B20"/>
                </a:solidFill>
                <a:latin typeface="Calibri"/>
              </a:rPr>
              <a:t>Three bookshelves arranged by a personal scheme, not the Dewey one: history on the left wall, philosophy in the middle, fiction by the window. A system nobody else has to understand, which is rather the point of it.</a:t>
            </a:r>
          </a:p>
        </p:txBody>
      </p:sp>
      <p:sp>
        <p:nvSpPr>
          <p:cNvPr id="15" name="Rectangle 14"/>
          <p:cNvSpPr/>
          <p:nvPr/>
        </p:nvSpPr>
        <p:spPr>
          <a:xfrm>
            <a:off x="502920" y="486156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3A2E22"/>
                </a:solidFill>
                <a:latin typeface="Calibri"/>
              </a:rPr>
              <a:t>Recommendations both ways</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332B20"/>
                </a:solidFill>
                <a:latin typeface="Calibri"/>
              </a:rPr>
              <a:t>Lily, the nine-year-old granddaughter, is bookish the same way, so the two of them swap titles across the gap of sixty years. A juvenile hold and a large-print biography can ride home on the same library card.</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3A2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5E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5E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04</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Why the Second Route</a:t>
            </a:r>
          </a:p>
        </p:txBody>
      </p:sp>
      <p:sp>
        <p:nvSpPr>
          <p:cNvPr id="7" name="Rectangle 6"/>
          <p:cNvSpPr/>
          <p:nvPr/>
        </p:nvSpPr>
        <p:spPr>
          <a:xfrm>
            <a:off x="502920" y="160020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5E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3A2E22"/>
                </a:solidFill>
                <a:latin typeface="Calibri"/>
              </a:rPr>
              <a:t>A carrier without a route</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332B20"/>
                </a:solidFill>
                <a:latin typeface="Calibri"/>
              </a:rPr>
              <a:t>Thirty years walking Route 106 ended in retirement in 2019, and a person who walked eight to twelve miles a day for three decades does not sit still gracefully. The library shift is a route with a roof and lighter bags.</a:t>
            </a:r>
          </a:p>
        </p:txBody>
      </p:sp>
      <p:sp>
        <p:nvSpPr>
          <p:cNvPr id="11" name="Rectangle 10"/>
          <p:cNvSpPr/>
          <p:nvPr/>
        </p:nvSpPr>
        <p:spPr>
          <a:xfrm>
            <a:off x="502920" y="323088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5E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3A2E22"/>
                </a:solidFill>
                <a:latin typeface="Calibri"/>
              </a:rPr>
              <a:t>Small, on purpose</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332B20"/>
                </a:solidFill>
                <a:latin typeface="Calibri"/>
              </a:rPr>
              <a:t>Two shifts a month is the right size: enough to be useful and known, not so much that a flare week derails a commitment to other people. The volunteering is built to survive a bad health stretch without an apology.</a:t>
            </a:r>
          </a:p>
        </p:txBody>
      </p:sp>
      <p:sp>
        <p:nvSpPr>
          <p:cNvPr id="15" name="Rectangle 14"/>
          <p:cNvSpPr/>
          <p:nvPr/>
        </p:nvSpPr>
        <p:spPr>
          <a:xfrm>
            <a:off x="502920" y="486156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5E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3A2E22"/>
                </a:solidFill>
                <a:latin typeface="Calibri"/>
              </a:rPr>
              <a:t>The quiet return</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332B20"/>
                </a:solidFill>
                <a:latin typeface="Calibri"/>
              </a:rPr>
              <a:t>Sorting a donation table is unglamorous, useful, and finite, which is most of what a good morning needs to be. The books go where they belong, the sale funds the next shelf, and nobody has to be thanked for it.</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theme/theme1.xml><?xml version="1.0" encoding="utf-8"?>
<a:theme xmlns:a="http://schemas.openxmlformats.org/drawingml/2006/main" name="Studio Theme">
  <a:themeElements>
    <a:clrScheme name="Stud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ud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Studio    Yi Baiti"/>
        <a:font script="Tibt" typeface="Studio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Studio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Studio    Yi Baiti"/>
        <a:font script="Tibt" typeface="Studio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Studio    Uighur"/>
        <a:font script="Geor" typeface="Sylfaen"/>
      </a:minorFont>
    </a:fontScheme>
    <a:fmtScheme name="Stud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Document Editor</Application>
  <PresentationFormat>On-screen Show (16:9)</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Studio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Sorting, Shelving, and the Annual Sale</dc:title>
  <dc:subject/>
  <dc:creator>Samantha Long</dc:creator>
  <cp:keywords/>
  <dc:description>generated using </dc:description>
  <cp:lastModifiedBy>Samantha Long</cp:lastModifiedBy>
  <cp:revision>1</cp:revision>
  <dcterms:created xsi:type="dcterms:W3CDTF">2025-12-18T10:15:00Z</dcterms:created>
  <dcterms:modified xsi:type="dcterms:W3CDTF">2025-12-18T10:15:00Z</dcterms:modified>
  <cp:category/>
</cp:coreProperties>
</file>