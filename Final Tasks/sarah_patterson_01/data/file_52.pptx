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engagements</c:v>
                </c:pt>
              </c:strCache>
            </c:strRef>
          </c:tx>
          <c:spPr>
            <a:solidFill>
              <a:srgbClr val="C2603A"/>
            </a:solidFill>
            <a:ln>
              <a:solidFill>
                <a:srgbClr val="C2603A"/>
              </a:solidFill>
            </a:ln>
          </c:spPr>
          <c:cat>
            <c:strRef>
              <c:f>Sheet1!$A$2:$A$5</c:f>
              <c:strCache>
                <c:ptCount val="4"/>
                <c:pt idx="0">
                  <c:v>Teaser</c:v>
                </c:pt>
                <c:pt idx="1">
                  <c:v>Soft launch</c:v>
                </c:pt>
                <c:pt idx="2">
                  <c:v>Weekly features</c:v>
                </c:pt>
                <c:pt idx="3">
                  <c:v>Gala tie 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</c:v>
                </c:pt>
                <c:pt idx="1">
                  <c:v>5200</c:v>
                </c:pt>
                <c:pt idx="2">
                  <c:v>3600</c:v>
                </c:pt>
                <c:pt idx="3">
                  <c:v>6400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3840480" cy="146304"/>
          </a:xfrm>
          <a:prstGeom prst="rect">
            <a:avLst/>
          </a:prstGeom>
          <a:solidFill>
            <a:srgbClr val="E0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VOICES</a:t>
            </a:r>
          </a:p>
          <a:p>
            <a:pPr algn="l"/>
            <a:r>
              <a:rPr sz="4000" b="1">
                <a:solidFill>
                  <a:srgbClr val="F7E9DF"/>
                </a:solidFill>
                <a:latin typeface="Georgia"/>
              </a:rPr>
              <a:t>UNHEARD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94560"/>
            <a:ext cx="71323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A2018"/>
                </a:solidFill>
                <a:latin typeface="Georgia"/>
              </a:rPr>
              <a:t>Community Story Collection</a:t>
            </a:r>
          </a:p>
          <a:p>
            <a:pPr algn="l"/>
            <a:r>
              <a:rPr sz="1600" b="0">
                <a:solidFill>
                  <a:srgbClr val="7D746A"/>
                </a:solidFill>
                <a:latin typeface="Calibri"/>
              </a:rPr>
              <a:t>A first person storytelling campaign for autumn 2026, building toward the November gala.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5760720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B7A5E"/>
                </a:solidFill>
                <a:latin typeface="Calibri"/>
              </a:rPr>
              <a:t>Prepared by Sarah Patterson, Social Media Coordinator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2603A"/>
                </a:solidFill>
                <a:latin typeface="Georgia"/>
              </a:rPr>
              <a:t>The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109728"/>
          </a:xfrm>
          <a:prstGeom prst="rect">
            <a:avLst/>
          </a:prstGeom>
          <a:solidFill>
            <a:srgbClr val="E0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7665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A2018"/>
                </a:solidFill>
                <a:latin typeface="Calibri"/>
              </a:rPr>
              <a:t>Collect and amplify first person stories from the communities we serve.</a:t>
            </a:r>
          </a:p>
          <a:p>
            <a:pPr algn="l"/>
            <a:r>
              <a:rPr sz="1600" b="0">
                <a:solidFill>
                  <a:srgbClr val="7D746A"/>
                </a:solidFill>
                <a:latin typeface="Calibri"/>
              </a:rPr>
              <a:t>The series runs alongside our ongoing voter education content and feeds the gala fundraising push.</a:t>
            </a:r>
          </a:p>
          <a:p>
            <a:pPr algn="l"/>
            <a:r>
              <a:rPr sz="1600" b="0">
                <a:solidFill>
                  <a:srgbClr val="7D746A"/>
                </a:solidFill>
                <a:latin typeface="Calibri"/>
              </a:rPr>
              <a:t>Tone is warm, direct, and plain. No performative optimism. The people we serve tell their own stories, in their own 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6576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011680"/>
            <a:ext cx="31089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2603A"/>
                </a:solidFill>
                <a:latin typeface="Calibri"/>
              </a:rPr>
              <a:t>What success looks like</a:t>
            </a:r>
          </a:p>
          <a:p>
            <a:pPr algn="l"/>
            <a:r>
              <a:rPr sz="1400" b="0">
                <a:solidFill>
                  <a:srgbClr val="2A2018"/>
                </a:solidFill>
                <a:latin typeface="Calibri"/>
              </a:rPr>
              <a:t>Reach beyond our usual audience</a:t>
            </a:r>
          </a:p>
          <a:p>
            <a:pPr algn="l"/>
            <a:r>
              <a:rPr sz="1400" b="0">
                <a:solidFill>
                  <a:srgbClr val="2A2018"/>
                </a:solidFill>
                <a:latin typeface="Calibri"/>
              </a:rPr>
              <a:t>Stories that donors remember at the gala</a:t>
            </a:r>
          </a:p>
          <a:p>
            <a:pPr algn="l"/>
            <a:r>
              <a:rPr sz="1400" b="0">
                <a:solidFill>
                  <a:srgbClr val="2A2018"/>
                </a:solidFill>
                <a:latin typeface="Calibri"/>
              </a:rPr>
              <a:t>A library we can reuse all year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2603A"/>
                </a:solidFill>
                <a:latin typeface="Georgia"/>
              </a:rPr>
              <a:t>Audience and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109728"/>
          </a:xfrm>
          <a:prstGeom prst="rect">
            <a:avLst/>
          </a:prstGeom>
          <a:solidFill>
            <a:srgbClr val="E0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2603A"/>
                </a:solidFill>
                <a:latin typeface="Calibri"/>
              </a:rPr>
              <a:t>Photo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47088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A2018"/>
                </a:solidFill>
                <a:latin typeface="Calibri"/>
              </a:rPr>
              <a:t>Stories and carousels, the core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39"/>
            <a:ext cx="10881360" cy="749808"/>
          </a:xfrm>
          <a:prstGeom prst="roundRect">
            <a:avLst/>
          </a:prstGeom>
          <a:solidFill>
            <a:srgbClr val="F1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2603A"/>
                </a:solidFill>
                <a:latin typeface="Calibri"/>
              </a:rPr>
              <a:t>Short Video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15768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A2018"/>
                </a:solidFill>
                <a:latin typeface="Calibri"/>
              </a:rPr>
              <a:t>Behind the scenes and story clips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108813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2603A"/>
                </a:solidFill>
                <a:latin typeface="Calibri"/>
              </a:rPr>
              <a:t>Social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84448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A2018"/>
                </a:solidFill>
                <a:latin typeface="Calibri"/>
              </a:rPr>
              <a:t>Longer captions, event tie 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10881360" cy="749808"/>
          </a:xfrm>
          <a:prstGeom prst="roundRect">
            <a:avLst/>
          </a:prstGeom>
          <a:solidFill>
            <a:srgbClr val="F1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2603A"/>
                </a:solidFill>
                <a:latin typeface="Calibri"/>
              </a:rPr>
              <a:t>Professional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53128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A2018"/>
                </a:solidFill>
                <a:latin typeface="Calibri"/>
              </a:rPr>
              <a:t>Partner and funder facing posts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108813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2180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2603A"/>
                </a:solidFill>
                <a:latin typeface="Calibri"/>
              </a:rPr>
              <a:t>Microblog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321808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A2018"/>
                </a:solidFill>
                <a:latin typeface="Calibri"/>
              </a:rPr>
              <a:t>Live quote threads on launch and gala nights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2603A"/>
                </a:solidFill>
                <a:latin typeface="Georgia"/>
              </a:rPr>
              <a:t>Content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109728"/>
          </a:xfrm>
          <a:prstGeom prst="rect">
            <a:avLst/>
          </a:prstGeom>
          <a:solidFill>
            <a:srgbClr val="E0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640080" y="1828800"/>
            <a:ext cx="3520440" cy="457200"/>
          </a:xfrm>
          <a:prstGeom prst="round2SameRect">
            <a:avLst/>
          </a:prstGeom>
          <a:solidFill>
            <a:srgbClr val="C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A2018"/>
                </a:solidFill>
                <a:latin typeface="Calibri"/>
              </a:rPr>
              <a:t>A person, a moment, in their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4343400" y="1828800"/>
            <a:ext cx="3520440" cy="457200"/>
          </a:xfrm>
          <a:prstGeom prst="round2SameRect">
            <a:avLst/>
          </a:prstGeom>
          <a:solidFill>
            <a:srgbClr val="6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A2018"/>
                </a:solidFill>
                <a:latin typeface="Calibri"/>
              </a:rPr>
              <a:t>How the work changed the day to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8046720" y="1828800"/>
            <a:ext cx="3520440" cy="457200"/>
          </a:xfrm>
          <a:prstGeom prst="round2SameRect">
            <a:avLst/>
          </a:prstGeom>
          <a:solidFill>
            <a:srgbClr val="E0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A2018"/>
                </a:solidFill>
                <a:latin typeface="Calibri"/>
              </a:rPr>
              <a:t>A clear, kind way to help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2603A"/>
                </a:solidFill>
                <a:latin typeface="Georgia"/>
              </a:rPr>
              <a:t>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109728"/>
          </a:xfrm>
          <a:prstGeom prst="rect">
            <a:avLst/>
          </a:prstGeom>
          <a:solidFill>
            <a:srgbClr val="E0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01952"/>
            <a:ext cx="201168" cy="457200"/>
          </a:xfrm>
          <a:prstGeom prst="rect">
            <a:avLst/>
          </a:prstGeom>
          <a:solidFill>
            <a:srgbClr val="C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2018"/>
                </a:solidFill>
                <a:latin typeface="Calibri"/>
              </a:rPr>
              <a:t>Oct 6 to Oct 15,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6400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D746A"/>
                </a:solidFill>
                <a:latin typeface="Calibri"/>
              </a:rPr>
              <a:t>Teasers and a call for stories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201168" cy="457200"/>
          </a:xfrm>
          <a:prstGeom prst="rect">
            <a:avLst/>
          </a:prstGeom>
          <a:solidFill>
            <a:srgbClr val="C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2018"/>
                </a:solidFill>
                <a:latin typeface="Calibri"/>
              </a:rPr>
              <a:t>Oct 16,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6400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D746A"/>
                </a:solidFill>
                <a:latin typeface="Calibri"/>
              </a:rPr>
              <a:t>Soft launch, hero post across all channels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30752"/>
            <a:ext cx="201168" cy="457200"/>
          </a:xfrm>
          <a:prstGeom prst="rect">
            <a:avLst/>
          </a:prstGeom>
          <a:solidFill>
            <a:srgbClr val="C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6576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2018"/>
                </a:solidFill>
                <a:latin typeface="Calibri"/>
              </a:rPr>
              <a:t>Oct 20 to Nov 7,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6400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D746A"/>
                </a:solidFill>
                <a:latin typeface="Calibri"/>
              </a:rPr>
              <a:t>One feature story per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45152"/>
            <a:ext cx="201168" cy="457200"/>
          </a:xfrm>
          <a:prstGeom prst="rect">
            <a:avLst/>
          </a:prstGeom>
          <a:solidFill>
            <a:srgbClr val="C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5720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2018"/>
                </a:solidFill>
                <a:latin typeface="Calibri"/>
              </a:rPr>
              <a:t>Nov 10 to Nov 14,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572000"/>
            <a:ext cx="6400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D746A"/>
                </a:solidFill>
                <a:latin typeface="Calibri"/>
              </a:rPr>
              <a:t>Gala tie in and live coverage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2603A"/>
                </a:solidFill>
                <a:latin typeface="Georgia"/>
              </a:rPr>
              <a:t>Engagement goals by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424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1645920"/>
          <a:ext cx="9966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Stories first. Everything else follows.</a:t>
            </a:r>
          </a:p>
          <a:p>
            <a:pPr algn="l"/>
            <a:r>
              <a:rPr sz="1600" b="0">
                <a:solidFill>
                  <a:srgbClr val="F7E9DF"/>
                </a:solidFill>
                <a:latin typeface="Calibri"/>
              </a:rPr>
              <a:t>Three story subjects confirmed by early October. Shot list with the programs team. All day monitoring on launch.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Sarah Patterson</dc:creator>
  <cp:keywords/>
  <dc:description/>
  <cp:lastModifiedBy>Sarah Patterson</cp:lastModifiedBy>
  <cp:revision>1</cp:revision>
  <dcterms:created xsi:type="dcterms:W3CDTF">2026-02-20T10:00:00Z</dcterms:created>
  <dcterms:modified xsi:type="dcterms:W3CDTF">2026-02-20T10:00:00Z</dcterms:modified>
  <cp:category/>
</cp:coreProperties>
</file>