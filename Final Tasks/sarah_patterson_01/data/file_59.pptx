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solidFill>
              <a:srgbClr val="2E8B8B"/>
            </a:solidFill>
            <a:ln>
              <a:solidFill>
                <a:srgbClr val="2E8B8B"/>
              </a:solidFill>
            </a:ln>
          </c:spPr>
          <c:cat>
            <c:strRef>
              <c:f>Sheet1!$A$2:$A$6</c:f>
              <c:strCache>
                <c:ptCount val="5"/>
                <c:pt idx="0">
                  <c:v>Strategy</c:v>
                </c:pt>
                <c:pt idx="1">
                  <c:v>Team leading</c:v>
                </c:pt>
                <c:pt idx="2">
                  <c:v>Fundraising comms</c:v>
                </c:pt>
                <c:pt idx="3">
                  <c:v>Budgeting</c:v>
                </c:pt>
                <c:pt idx="4">
                  <c:v>Analytics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F3A5F"/>
            </a:solidFill>
            <a:ln>
              <a:solidFill>
                <a:srgbClr val="1F3A5F"/>
              </a:solidFill>
            </a:ln>
          </c:spPr>
          <c:cat>
            <c:strRef>
              <c:f>Sheet1!$A$2:$A$6</c:f>
              <c:strCache>
                <c:ptCount val="5"/>
                <c:pt idx="0">
                  <c:v>Strategy</c:v>
                </c:pt>
                <c:pt idx="1">
                  <c:v>Team leading</c:v>
                </c:pt>
                <c:pt idx="2">
                  <c:v>Fundraising comms</c:v>
                </c:pt>
                <c:pt idx="3">
                  <c:v>Budgeting</c:v>
                </c:pt>
                <c:pt idx="4">
                  <c:v>Analytics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Where I am headed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 career roadmap, reviewed with my 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6B76"/>
                </a:solidFill>
                <a:latin typeface="Calibri"/>
              </a:rPr>
              <a:t>Honest about the ceiling, deliberate about the next move.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Georgia"/>
              </a:rPr>
              <a:t>Where I am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B2530"/>
                </a:solidFill>
                <a:latin typeface="Calibri"/>
              </a:rPr>
              <a:t>•  Two years owning content end to end for a fifteen person nonprofit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530"/>
                </a:solidFill>
                <a:latin typeface="Calibri"/>
              </a:rPr>
              <a:t>•  Proud of the work, but the title has not changed and the scope keeps growing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530"/>
                </a:solidFill>
                <a:latin typeface="Calibri"/>
              </a:rPr>
              <a:t>•  Running three campaigns at once, plus live coverage for the gala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B2530"/>
                </a:solidFill>
                <a:latin typeface="Calibri"/>
              </a:rPr>
              <a:t>•  Starting to see the burnout edge from here and choosing to talk about it early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Georgia"/>
              </a:rPr>
              <a:t>The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828800"/>
            <a:ext cx="5257800" cy="32918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8B8B"/>
                </a:solidFill>
                <a:latin typeface="Calibri"/>
              </a:rPr>
              <a:t>Grow the role here</a:t>
            </a:r>
          </a:p>
          <a:p>
            <a:pPr algn="l"/>
            <a:r>
              <a:rPr sz="1500" b="0">
                <a:solidFill>
                  <a:srgbClr val="1B2530"/>
                </a:solidFill>
                <a:latin typeface="Calibri"/>
              </a:rPr>
              <a:t>Build the director path inside the org I already believe in. Depends on whether there is bandwidth above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3B5B0"/>
                </a:solidFill>
                <a:latin typeface="Calibri"/>
              </a:rPr>
              <a:t>Make the external move</a:t>
            </a:r>
          </a:p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Apply out for a director role. The hard part is framing the jump while the title still says coordinator.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Georgia"/>
              </a:rPr>
              <a:t>One, three, five years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640080" y="1828800"/>
            <a:ext cx="3520440" cy="640080"/>
          </a:xfrm>
          <a:prstGeom prst="round2Same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Within a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108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530"/>
                </a:solidFill>
                <a:latin typeface="Calibri"/>
              </a:rPr>
              <a:t>Decide internal or external. Ship the gala. Open a retirement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4343400" y="1828800"/>
            <a:ext cx="3520440" cy="640080"/>
          </a:xfrm>
          <a:prstGeom prst="round2Same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Within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530"/>
                </a:solidFill>
                <a:latin typeface="Calibri"/>
              </a:rPr>
              <a:t>Lead strategy, not just execution. Mentor a junior. Grow a small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8046720" y="1828800"/>
            <a:ext cx="3520440" cy="640080"/>
          </a:xfrm>
          <a:prstGeom prst="round2SameRect">
            <a:avLst/>
          </a:prstGeom>
          <a:solidFill>
            <a:srgbClr val="6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Within five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43200"/>
            <a:ext cx="3108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530"/>
                </a:solidFill>
                <a:latin typeface="Calibri"/>
              </a:rPr>
              <a:t>Communications director at a mission driven organization.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Georgia"/>
              </a:rPr>
              <a:t>Skills to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24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Georgia"/>
              </a:rPr>
              <a:t>Decision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83664"/>
            <a:ext cx="201168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0"/>
                </a:solidFill>
                <a:latin typeface="Calibri"/>
              </a:rPr>
              <a:t>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B76"/>
                </a:solidFill>
                <a:latin typeface="Calibri"/>
              </a:rPr>
              <a:t>Ship Voices Unheard launch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98064"/>
            <a:ext cx="201168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0"/>
                </a:solidFill>
                <a:latin typeface="Calibri"/>
              </a:rPr>
              <a:t>November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B76"/>
                </a:solidFill>
                <a:latin typeface="Calibri"/>
              </a:rPr>
              <a:t>Run the gala, then breathe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12463"/>
            <a:ext cx="201168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0"/>
                </a:solidFill>
                <a:latin typeface="Calibri"/>
              </a:rPr>
              <a:t>December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B76"/>
                </a:solidFill>
                <a:latin typeface="Calibri"/>
              </a:rPr>
              <a:t>Decide internal or external, with the lease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26864"/>
            <a:ext cx="201168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57200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0"/>
                </a:solidFill>
                <a:latin typeface="Calibri"/>
              </a:rPr>
              <a:t>Q1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B76"/>
                </a:solidFill>
                <a:latin typeface="Calibri"/>
              </a:rPr>
              <a:t>Open the retirement account, start applying if external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Do not drift into year three by accident.</a:t>
            </a:r>
          </a:p>
          <a:p>
            <a:pPr algn="ctr"/>
            <a:r>
              <a:rPr sz="1600" b="0">
                <a:solidFill>
                  <a:srgbClr val="CBD8E2"/>
                </a:solidFill>
                <a:latin typeface="Calibri"/>
              </a:rPr>
              <a:t>Decide by the end of the year. Bring Taylor and the mentor into the loop.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Patterson</dc:creator>
  <cp:keywords/>
  <dc:description/>
  <cp:lastModifiedBy>Sarah Patterson</cp:lastModifiedBy>
  <cp:revision>1</cp:revision>
  <dcterms:created xsi:type="dcterms:W3CDTF">2026-02-20T10:00:00Z</dcterms:created>
  <dcterms:modified xsi:type="dcterms:W3CDTF">2026-02-20T10:00:00Z</dcterms:modified>
  <cp:category/>
</cp:coreProperties>
</file>