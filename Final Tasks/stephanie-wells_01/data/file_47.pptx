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E6EA8"/>
            </a:solidFill>
          </c:spPr>
          <c:cat>
            <c:strRef>
              <c:f>Sheet1!$A$2:$A$5</c:f>
              <c:strCache>
                <c:ptCount val="4"/>
                <c:pt idx="0">
                  <c:v>NPS</c:v>
                </c:pt>
                <c:pt idx="1">
                  <c:v>30-day adoption %</c:v>
                </c:pt>
                <c:pt idx="2">
                  <c:v>P95 latency (sec)</c:v>
                </c:pt>
                <c:pt idx="3">
                  <c:v>Pilot sign-off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40.0</c:v>
                </c:pt>
                <c:pt idx="2">
                  <c:v>2.0</c:v>
                </c:pt>
                <c:pt idx="3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6A39E"/>
            </a:solidFill>
          </c:spPr>
          <c:cat>
            <c:strRef>
              <c:f>Sheet1!$A$2:$A$5</c:f>
              <c:strCache>
                <c:ptCount val="4"/>
                <c:pt idx="0">
                  <c:v>NPS</c:v>
                </c:pt>
                <c:pt idx="1">
                  <c:v>30-day adoption %</c:v>
                </c:pt>
                <c:pt idx="2">
                  <c:v>P95 latency (sec)</c:v>
                </c:pt>
                <c:pt idx="3">
                  <c:v>Pilot sign-off 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9.0</c:v>
                </c:pt>
                <c:pt idx="1">
                  <c:v>47.0</c:v>
                </c:pt>
                <c:pt idx="2">
                  <c:v>1.4</c:v>
                </c:pt>
                <c:pt idx="3">
                  <c:v>100.0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F2F6F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F6F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2F6F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dPt>
            <c:idx val="0"/>
            <c:spPr>
              <a:solidFill>
                <a:srgbClr val="16A39E"/>
              </a:solidFill>
            </c:spPr>
          </c:dPt>
          <c:dPt>
            <c:idx val="1"/>
            <c:spPr>
              <a:solidFill>
                <a:srgbClr val="2E6EA8"/>
              </a:solidFill>
            </c:spPr>
          </c:dPt>
          <c:dPt>
            <c:idx val="2"/>
            <c:spPr>
              <a:solidFill>
                <a:srgbClr val="E9A82E"/>
              </a:solidFill>
            </c:spPr>
          </c:dPt>
          <c:cat>
            <c:strRef>
              <c:f>Sheet1!$A$2:$A$4</c:f>
              <c:strCache>
                <c:ptCount val="3"/>
                <c:pt idx="0">
                  <c:v>S12 (3 features)</c:v>
                </c:pt>
                <c:pt idx="1">
                  <c:v>S13 (2 features)</c:v>
                </c:pt>
                <c:pt idx="2">
                  <c:v>S14 (3 features)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2F6FA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>
              <a:solidFill>
                <a:srgbClr val="F2F6F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accounts</c:v>
                </c:pt>
              </c:strCache>
            </c:strRef>
          </c:tx>
          <c:spPr>
            <a:solidFill>
              <a:srgbClr val="4ECDC4"/>
            </a:solidFill>
          </c:spP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110</c:v>
                </c:pt>
                <c:pt idx="2">
                  <c:v>158</c:v>
                </c:pt>
                <c:pt idx="3">
                  <c:v>197</c:v>
                </c:pt>
                <c:pt idx="4">
                  <c:v>224</c:v>
                </c:pt>
                <c:pt idx="5">
                  <c:v>241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F2F6F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F6F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2F6FA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16A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2F6FA"/>
                </a:solidFill>
                <a:latin typeface="Calibri"/>
              </a:rPr>
              <a:t>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4ECDC4"/>
                </a:solidFill>
                <a:latin typeface="Calibri"/>
              </a:rPr>
              <a:t>General Availability Launch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3C8"/>
                </a:solidFill>
                <a:latin typeface="Calibri"/>
              </a:rPr>
              <a:t>Growth and Analytics Pod  |  Vantage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Stephanie Wells, Senior Product Manager</a:t>
            </a:r>
          </a:p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Shipped November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The Problem and the Bet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303520" cy="4480560"/>
          </a:xfrm>
          <a:prstGeom prst="rect">
            <a:avLst/>
          </a:prstGeom>
          <a:solidFill>
            <a:srgbClr val="1B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9A82E"/>
                </a:solidFill>
                <a:latin typeface="Calibri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Enterprise customers waited 2 to 3 days for the data team to pull custom reports.</a:t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No self-serve export, no shareable views, no scheduled digests.</a:t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Three pilot accounts flagged reporting friction as the top churn risk in renewal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80160"/>
            <a:ext cx="5303520" cy="4480560"/>
          </a:xfrm>
          <a:prstGeom prst="rect">
            <a:avLst/>
          </a:prstGeom>
          <a:solidFill>
            <a:srgbClr val="1B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DC4"/>
                </a:solidFill>
                <a:latin typeface="Calibri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Eight self-serve features shipped across three sprints.</a:t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Reporting workflows moved fully in product: export, shared links, funnels, digests, alerts.</a:t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2F6FA"/>
                </a:solidFill>
                <a:latin typeface="Calibri"/>
              </a:rPr>
              <a:t>All three pilot accounts signed off before GA and named the funnel view a top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Launch Metrics: Actual vs Target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463040"/>
            <a:ext cx="3291840" cy="4480560"/>
          </a:xfrm>
          <a:prstGeom prst="rect">
            <a:avLst/>
          </a:prstGeom>
          <a:solidFill>
            <a:srgbClr val="1B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2834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Every launch target was met or beaten.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NPS came in at 9.0 against a target of 8.0.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Adoption reached 47 percent of eligible accounts in 30 days.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P95 latency landed at 1.4 seconds, well under the 2 second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Where the Work Went: Features by Sprint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58521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0" y="1463040"/>
            <a:ext cx="4663440" cy="4480560"/>
          </a:xfrm>
          <a:prstGeom prst="rect">
            <a:avLst/>
          </a:prstGeom>
          <a:solidFill>
            <a:srgbClr val="1B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459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DC4"/>
                </a:solidFill>
                <a:latin typeface="Calibri"/>
              </a:rPr>
              <a:t>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286000"/>
            <a:ext cx="4206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S12 cleared the highest-RICE quick wins: CSV export, custom date range, user drill-down.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S13 delivered shared links and the funnel visualization that pilots rated top-3.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S14 closed digests, messaging alerts, and cohort comparison before feature freeze.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Shipped Features Scorecard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RICE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Test cov.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Custom date range filter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532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ENT-PC-003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Export to CSV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ENT-PC-001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Shared dashboard links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ENT-PC-001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Funnel visualization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Cohort comparison table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ENT-PC-003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Messaging alert integration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ENT-PC-002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User-level drill-down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ENT-PC-002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Email digest reports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ENT-PC-001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Adoption Trend: Weekly Active Accounts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463040"/>
            <a:ext cx="3291840" cy="4480560"/>
          </a:xfrm>
          <a:prstGeom prst="rect">
            <a:avLst/>
          </a:prstGeom>
          <a:solidFill>
            <a:srgbClr val="1B3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2834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Active accounts grew from 62 in launch week to 241 by week six.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Hypercare closed November 27, 2026 with zero P1 incidents.</a:t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2F6FA"/>
                </a:solidFill>
                <a:latin typeface="Calibri"/>
              </a:rPr>
              <a:t>Week-four jump tracks the email digest rollout.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6FA"/>
                </a:solidFill>
                <a:latin typeface="Calibri"/>
              </a:rPr>
              <a:t>What Is Next: 2027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Initiative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E1B2E"/>
                          </a:solidFill>
                          <a:latin typeface="Calibri"/>
                        </a:rPr>
                        <a:t>Pilot demand</a:t>
                      </a:r>
                    </a:p>
                  </a:txBody>
                  <a:tcPr marL="73152" marR="73152" marT="27432" marB="27432" anchor="ctr">
                    <a:solidFill>
                      <a:srgbClr val="16A39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Enterprise API access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Q1 2027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Security review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High (all 3)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Benchmark overlay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Q1 2027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Scoping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Annotation layer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Q1 2027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1B325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White-label branding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Q2 2027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2F6F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162A4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Calibri"/>
              </a:rPr>
              <a:t>Enterprise API is the number one requested follow-on and is blocked only on a four week security review backlog requested November 10,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