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Sends</c:v>
                </c:pt>
              </c:strCache>
            </c:strRef>
          </c:tx>
          <c:spPr>
            <a:solidFill>
              <a:srgbClr val="2E7D4F"/>
            </a:solidFill>
          </c:spPr>
          <c:cat>
            <c:strRef>
              <c:f>Sheet1!$A$2:$A$5</c:f>
              <c:strCache>
                <c:ptCount val="4"/>
                <c:pt idx="0">
                  <c:v>V4</c:v>
                </c:pt>
                <c:pt idx="1">
                  <c:v>V5</c:v>
                </c:pt>
                <c:pt idx="2">
                  <c:v>V6</c:v>
                </c:pt>
                <c:pt idx="3">
                  <c:v>V7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</c:v>
                </c:pt>
                <c:pt idx="1">
                  <c:v>96</c:v>
                </c:pt>
                <c:pt idx="2">
                  <c:v>31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Attempts not sent</c:v>
                </c:pt>
              </c:strCache>
            </c:strRef>
          </c:tx>
          <c:spPr>
            <a:solidFill>
              <a:srgbClr val="CEB37A"/>
            </a:solidFill>
          </c:spPr>
          <c:cat>
            <c:strRef>
              <c:f>Sheet1!$A$2:$A$5</c:f>
              <c:strCache>
                <c:ptCount val="4"/>
                <c:pt idx="0">
                  <c:v>V4</c:v>
                </c:pt>
                <c:pt idx="1">
                  <c:v>V5</c:v>
                </c:pt>
                <c:pt idx="2">
                  <c:v>V6</c:v>
                </c:pt>
                <c:pt idx="3">
                  <c:v>V7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6</c:v>
                </c:pt>
                <c:pt idx="2">
                  <c:v>22</c:v>
                </c:pt>
                <c:pt idx="3">
                  <c:v>47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F3F7F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F3F7F1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F3F7F1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dPt>
            <c:idx val="0"/>
            <c:spPr>
              <a:solidFill>
                <a:srgbClr val="2E7D4F"/>
              </a:solidFill>
            </c:spPr>
          </c:dPt>
          <c:dPt>
            <c:idx val="1"/>
            <c:spPr>
              <a:solidFill>
                <a:srgbClr val="57A863"/>
              </a:solidFill>
            </c:spPr>
          </c:dPt>
          <c:dPt>
            <c:idx val="2"/>
            <c:spPr>
              <a:solidFill>
                <a:srgbClr val="CEB37A"/>
              </a:solidFill>
            </c:spPr>
          </c:dPt>
          <c:dPt>
            <c:idx val="3"/>
            <c:spPr>
              <a:solidFill>
                <a:srgbClr val="8FB98A"/>
              </a:solidFill>
            </c:spPr>
          </c:dPt>
          <c:dPt>
            <c:idx val="4"/>
            <c:spPr>
              <a:solidFill>
                <a:srgbClr val="C06E3F"/>
              </a:solidFill>
            </c:spPr>
          </c:dPt>
          <c:cat>
            <c:strRef>
              <c:f>Sheet1!$A$2:$A$6</c:f>
              <c:strCache>
                <c:ptCount val="5"/>
                <c:pt idx="0">
                  <c:v>Power endurance</c:v>
                </c:pt>
                <c:pt idx="1">
                  <c:v>Technique</c:v>
                </c:pt>
                <c:pt idx="2">
                  <c:v>Project work</c:v>
                </c:pt>
                <c:pt idx="3">
                  <c:v>Volume</c:v>
                </c:pt>
                <c:pt idx="4">
                  <c:v>PT and mobility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30</c:v>
                </c:pt>
                <c:pt idx="2">
                  <c:v>22</c:v>
                </c:pt>
                <c:pt idx="3">
                  <c:v>18</c:v>
                </c:pt>
                <c:pt idx="4">
                  <c:v>12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F3F7F1"/>
                  </a:solidFill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200">
              <a:solidFill>
                <a:srgbClr val="F3F7F1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Shoulder load (0-5)</c:v>
                </c:pt>
              </c:strCache>
            </c:strRef>
          </c:tx>
          <c:spPr>
            <a:solidFill>
              <a:srgbClr val="C06E3F"/>
            </a:solidFill>
          </c:spPr>
          <c:cat>
            <c:strRef>
              <c:f>Sheet1!$A$2:$A$8</c:f>
              <c:strCache>
                <c:ptCount val="7"/>
                <c:pt idx="0">
                  <c:v>10/01</c:v>
                </c:pt>
                <c:pt idx="1">
                  <c:v>10/05</c:v>
                </c:pt>
                <c:pt idx="2">
                  <c:v>10/08</c:v>
                </c:pt>
                <c:pt idx="3">
                  <c:v>10/10</c:v>
                </c:pt>
                <c:pt idx="4">
                  <c:v>10/11</c:v>
                </c:pt>
                <c:pt idx="5">
                  <c:v>10/14</c:v>
                </c:pt>
                <c:pt idx="6">
                  <c:v>10/24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  <c:pt idx="5">
                  <c:v>2</c:v>
                </c:pt>
                <c:pt idx="6">
                  <c:v>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000" b="1">
                  <a:solidFill>
                    <a:srgbClr val="F3F7F1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F3F7F1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F3F7F1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54864"/>
          </a:xfrm>
          <a:prstGeom prst="rect">
            <a:avLst/>
          </a:prstGeom>
          <a:solidFill>
            <a:srgbClr val="CEB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3F7F1"/>
                </a:solidFill>
                <a:latin typeface="Calibri"/>
              </a:rPr>
              <a:t>Climbing Season Retrospective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14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8FB98A"/>
                </a:solidFill>
                <a:latin typeface="Calibri"/>
              </a:rPr>
              <a:t>Pre-Competition Block and Fall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3949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C6B4"/>
                </a:solidFill>
                <a:latin typeface="Calibri"/>
              </a:rPr>
              <a:t>Stephanie Wells  |  Ridgeline Climbing Collective, San Francisco</a:t>
            </a:r>
          </a:p>
          <a:p>
            <a:pPr algn="l"/>
            <a:r>
              <a:rPr sz="1400" b="0">
                <a:solidFill>
                  <a:srgbClr val="B4C6B4"/>
                </a:solidFill>
                <a:latin typeface="Calibri"/>
              </a:rPr>
              <a:t>Season review through November 30,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3F7F1"/>
                </a:solidFill>
                <a:latin typeface="Calibri"/>
              </a:rPr>
              <a:t>Season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606040" cy="1828800"/>
          </a:xfrm>
          <a:prstGeom prst="rect">
            <a:avLst/>
          </a:prstGeom>
          <a:solidFill>
            <a:srgbClr val="213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CEB37A"/>
                </a:solidFill>
                <a:latin typeface="Calibri"/>
              </a:rPr>
              <a:t>187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4C6B4"/>
                </a:solidFill>
                <a:latin typeface="Calibri"/>
              </a:rPr>
              <a:t>Total sessions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463040"/>
            <a:ext cx="2606040" cy="1828800"/>
          </a:xfrm>
          <a:prstGeom prst="rect">
            <a:avLst/>
          </a:prstGeom>
          <a:solidFill>
            <a:srgbClr val="213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627632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CEB37A"/>
                </a:solidFill>
                <a:latin typeface="Calibri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788920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4C6B4"/>
                </a:solidFill>
                <a:latin typeface="Calibri"/>
              </a:rPr>
              <a:t>V6 sends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463040"/>
            <a:ext cx="2606040" cy="1828800"/>
          </a:xfrm>
          <a:prstGeom prst="rect">
            <a:avLst/>
          </a:prstGeom>
          <a:solidFill>
            <a:srgbClr val="213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627632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CEB37A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788920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4C6B4"/>
                </a:solidFill>
                <a:latin typeface="Calibri"/>
              </a:rPr>
              <a:t>Competitions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463040"/>
            <a:ext cx="2606040" cy="1828800"/>
          </a:xfrm>
          <a:prstGeom prst="rect">
            <a:avLst/>
          </a:prstGeom>
          <a:solidFill>
            <a:srgbClr val="213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1627632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CEB37A"/>
                </a:solidFill>
                <a:latin typeface="Calibri"/>
              </a:rPr>
              <a:t>3rd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788920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4C6B4"/>
                </a:solidFill>
                <a:latin typeface="Calibri"/>
              </a:rPr>
              <a:t>Best 2026 place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57600"/>
            <a:ext cx="108813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3F7F1"/>
                </a:solidFill>
                <a:latin typeface="Calibri"/>
              </a:rPr>
              <a:t>The pre-competition block ran October 1 to October 24 with a goal of sharpening V6 consistency and landing a first competition V7. Two outdoor V6 sends at Castle Rock on October 10 and 11 and a V7 top in finals on October 24 made it the strongest block of the year.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3F7F1"/>
                </a:solidFill>
                <a:latin typeface="Calibri"/>
              </a:rPr>
              <a:t>Sends by Grade, 2026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280160"/>
          <a:ext cx="7315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0" y="1463040"/>
            <a:ext cx="3291840" cy="4480560"/>
          </a:xfrm>
          <a:prstGeom prst="rect">
            <a:avLst/>
          </a:prstGeom>
          <a:solidFill>
            <a:srgbClr val="213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58200" y="1645920"/>
            <a:ext cx="28346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3F7F1"/>
                </a:solidFill>
                <a:latin typeface="Calibri"/>
              </a:rPr>
              <a:t>V6 is now a reliable send grade at 31 confirmed sends.</a:t>
            </a:r>
          </a:p>
          <a:p>
            <a:pPr algn="l"/>
            <a:r>
              <a:rPr sz="1400" b="0">
                <a:solidFill>
                  <a:srgbClr val="F3F7F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3F7F1"/>
                </a:solidFill>
                <a:latin typeface="Calibri"/>
              </a:rPr>
              <a:t>V7 remains the project grade: 48 attempts, one competition top, no gym red-point yet.</a:t>
            </a:r>
          </a:p>
          <a:p>
            <a:pPr algn="l"/>
            <a:r>
              <a:rPr sz="1400" b="0">
                <a:solidFill>
                  <a:srgbClr val="F3F7F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3F7F1"/>
                </a:solidFill>
                <a:latin typeface="Calibri"/>
              </a:rPr>
              <a:t>The send to attempt ratio at V6 confirms readiness to move the V7 line in 2027.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3F7F1"/>
                </a:solidFill>
                <a:latin typeface="Calibri"/>
              </a:rPr>
              <a:t>Training Time Breakdown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280160"/>
          <a:ext cx="585216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6858000" y="1463040"/>
            <a:ext cx="4663440" cy="4480560"/>
          </a:xfrm>
          <a:prstGeom prst="rect">
            <a:avLst/>
          </a:prstGeom>
          <a:solidFill>
            <a:srgbClr val="213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86600" y="1645920"/>
            <a:ext cx="42062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3F7F1"/>
                </a:solidFill>
                <a:latin typeface="Calibri"/>
              </a:rPr>
              <a:t>Power endurance led the block to build the lock-off strength the V7 crux demands.</a:t>
            </a:r>
          </a:p>
          <a:p>
            <a:pPr algn="l"/>
            <a:r>
              <a:rPr sz="1400" b="0">
                <a:solidFill>
                  <a:srgbClr val="F3F7F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3F7F1"/>
                </a:solidFill>
                <a:latin typeface="Calibri"/>
              </a:rPr>
              <a:t>PT and mobility were protected every session to keep the left shoulder within a 3 of 5 load ceiling. No training days were lost to injury this year.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3F7F1"/>
                </a:solidFill>
                <a:latin typeface="Calibri"/>
              </a:rPr>
              <a:t>Fall Competition: October 24, 2026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73152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3F7F1"/>
                          </a:solidFill>
                          <a:latin typeface="Calibri"/>
                        </a:rPr>
                        <a:t>Round</a:t>
                      </a:r>
                    </a:p>
                  </a:txBody>
                  <a:tcPr marL="73152" marR="73152" marT="27432" marB="27432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3F7F1"/>
                          </a:solidFill>
                          <a:latin typeface="Calibri"/>
                        </a:rPr>
                        <a:t>Problem</a:t>
                      </a:r>
                    </a:p>
                  </a:txBody>
                  <a:tcPr marL="73152" marR="73152" marT="27432" marB="27432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3F7F1"/>
                          </a:solidFill>
                          <a:latin typeface="Calibri"/>
                        </a:rPr>
                        <a:t>Grade</a:t>
                      </a:r>
                    </a:p>
                  </a:txBody>
                  <a:tcPr marL="73152" marR="73152" marT="27432" marB="27432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3F7F1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73152" marR="73152" marT="27432" marB="27432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3F7F1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 marL="73152" marR="73152" marT="27432" marB="27432" anchor="ctr">
                    <a:solidFill>
                      <a:srgbClr val="2E7D4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Qualifying</a:t>
                      </a:r>
                    </a:p>
                  </a:txBody>
                  <a:tcPr marL="73152" marR="73152" marT="27432" marB="27432" anchor="ctr">
                    <a:solidFill>
                      <a:srgbClr val="213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73152" marR="73152" marT="27432" marB="27432" anchor="ctr">
                    <a:solidFill>
                      <a:srgbClr val="213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V6</a:t>
                      </a:r>
                    </a:p>
                  </a:txBody>
                  <a:tcPr marL="73152" marR="73152" marT="27432" marB="27432" anchor="ctr">
                    <a:solidFill>
                      <a:srgbClr val="213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Top</a:t>
                      </a:r>
                    </a:p>
                  </a:txBody>
                  <a:tcPr marL="73152" marR="73152" marT="27432" marB="27432" anchor="ctr">
                    <a:solidFill>
                      <a:srgbClr val="213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21362A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Qualifying</a:t>
                      </a:r>
                    </a:p>
                  </a:txBody>
                  <a:tcPr marL="73152" marR="73152" marT="27432" marB="27432" anchor="ctr">
                    <a:solidFill>
                      <a:srgbClr val="1B2C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Q2</a:t>
                      </a:r>
                    </a:p>
                  </a:txBody>
                  <a:tcPr marL="73152" marR="73152" marT="27432" marB="27432" anchor="ctr">
                    <a:solidFill>
                      <a:srgbClr val="1B2C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V6</a:t>
                      </a:r>
                    </a:p>
                  </a:txBody>
                  <a:tcPr marL="73152" marR="73152" marT="27432" marB="27432" anchor="ctr">
                    <a:solidFill>
                      <a:srgbClr val="1B2C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Top</a:t>
                      </a:r>
                    </a:p>
                  </a:txBody>
                  <a:tcPr marL="73152" marR="73152" marT="27432" marB="27432" anchor="ctr">
                    <a:solidFill>
                      <a:srgbClr val="1B2C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1B2C22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Qualifying</a:t>
                      </a:r>
                    </a:p>
                  </a:txBody>
                  <a:tcPr marL="73152" marR="73152" marT="27432" marB="27432" anchor="ctr">
                    <a:solidFill>
                      <a:srgbClr val="213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Q4</a:t>
                      </a:r>
                    </a:p>
                  </a:txBody>
                  <a:tcPr marL="73152" marR="73152" marT="27432" marB="27432" anchor="ctr">
                    <a:solidFill>
                      <a:srgbClr val="213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V6</a:t>
                      </a:r>
                    </a:p>
                  </a:txBody>
                  <a:tcPr marL="73152" marR="73152" marT="27432" marB="27432" anchor="ctr">
                    <a:solidFill>
                      <a:srgbClr val="213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Top</a:t>
                      </a:r>
                    </a:p>
                  </a:txBody>
                  <a:tcPr marL="73152" marR="73152" marT="27432" marB="27432" anchor="ctr">
                    <a:solidFill>
                      <a:srgbClr val="213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21362A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Qualifying</a:t>
                      </a:r>
                    </a:p>
                  </a:txBody>
                  <a:tcPr marL="73152" marR="73152" marT="27432" marB="27432" anchor="ctr">
                    <a:solidFill>
                      <a:srgbClr val="1B2C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Q3 / Q5</a:t>
                      </a:r>
                    </a:p>
                  </a:txBody>
                  <a:tcPr marL="73152" marR="73152" marT="27432" marB="27432" anchor="ctr">
                    <a:solidFill>
                      <a:srgbClr val="1B2C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V6</a:t>
                      </a:r>
                    </a:p>
                  </a:txBody>
                  <a:tcPr marL="73152" marR="73152" marT="27432" marB="27432" anchor="ctr">
                    <a:solidFill>
                      <a:srgbClr val="1B2C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 marL="73152" marR="73152" marT="27432" marB="27432" anchor="ctr">
                    <a:solidFill>
                      <a:srgbClr val="1B2C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3152" marR="73152" marT="27432" marB="27432" anchor="ctr">
                    <a:solidFill>
                      <a:srgbClr val="1B2C22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Finals</a:t>
                      </a:r>
                    </a:p>
                  </a:txBody>
                  <a:tcPr marL="73152" marR="73152" marT="27432" marB="27432" anchor="ctr">
                    <a:solidFill>
                      <a:srgbClr val="213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F2</a:t>
                      </a:r>
                    </a:p>
                  </a:txBody>
                  <a:tcPr marL="73152" marR="73152" marT="27432" marB="27432" anchor="ctr">
                    <a:solidFill>
                      <a:srgbClr val="213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V7</a:t>
                      </a:r>
                    </a:p>
                  </a:txBody>
                  <a:tcPr marL="73152" marR="73152" marT="27432" marB="27432" anchor="ctr">
                    <a:solidFill>
                      <a:srgbClr val="213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Top (flash)</a:t>
                      </a:r>
                    </a:p>
                  </a:txBody>
                  <a:tcPr marL="73152" marR="73152" marT="27432" marB="27432" anchor="ctr">
                    <a:solidFill>
                      <a:srgbClr val="213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21362A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Finals</a:t>
                      </a:r>
                    </a:p>
                  </a:txBody>
                  <a:tcPr marL="73152" marR="73152" marT="27432" marB="27432" anchor="ctr">
                    <a:solidFill>
                      <a:srgbClr val="1B2C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73152" marR="73152" marT="27432" marB="27432" anchor="ctr">
                    <a:solidFill>
                      <a:srgbClr val="1B2C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V7</a:t>
                      </a:r>
                    </a:p>
                  </a:txBody>
                  <a:tcPr marL="73152" marR="73152" marT="27432" marB="27432" anchor="ctr">
                    <a:solidFill>
                      <a:srgbClr val="1B2C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 marL="73152" marR="73152" marT="27432" marB="27432" anchor="ctr">
                    <a:solidFill>
                      <a:srgbClr val="1B2C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1B2C22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Finals</a:t>
                      </a:r>
                    </a:p>
                  </a:txBody>
                  <a:tcPr marL="73152" marR="73152" marT="27432" marB="27432" anchor="ctr">
                    <a:solidFill>
                      <a:srgbClr val="213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F3</a:t>
                      </a:r>
                    </a:p>
                  </a:txBody>
                  <a:tcPr marL="73152" marR="73152" marT="27432" marB="27432" anchor="ctr">
                    <a:solidFill>
                      <a:srgbClr val="213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V7</a:t>
                      </a:r>
                    </a:p>
                  </a:txBody>
                  <a:tcPr marL="73152" marR="73152" marT="27432" marB="27432" anchor="ctr">
                    <a:solidFill>
                      <a:srgbClr val="213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No hold</a:t>
                      </a:r>
                    </a:p>
                  </a:txBody>
                  <a:tcPr marL="73152" marR="73152" marT="27432" marB="27432" anchor="ctr">
                    <a:solidFill>
                      <a:srgbClr val="213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21362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0" y="1463040"/>
            <a:ext cx="3291840" cy="4114800"/>
          </a:xfrm>
          <a:prstGeom prst="rect">
            <a:avLst/>
          </a:prstGeom>
          <a:solidFill>
            <a:srgbClr val="213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58200" y="164592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EB37A"/>
                </a:solidFill>
                <a:latin typeface="Calibri"/>
              </a:rPr>
              <a:t>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2286000"/>
            <a:ext cx="28346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3F7F1"/>
                </a:solidFill>
                <a:latin typeface="Calibri"/>
              </a:rPr>
              <a:t>2nd in qualifying, 3rd overall in V6 women open.</a:t>
            </a:r>
          </a:p>
          <a:p>
            <a:pPr algn="l"/>
            <a:r>
              <a:rPr sz="1400" b="0">
                <a:solidFill>
                  <a:srgbClr val="F3F7F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3F7F1"/>
                </a:solidFill>
                <a:latin typeface="Calibri"/>
              </a:rPr>
              <a:t>Finals F2 was the best V7 flash of the season.</a:t>
            </a:r>
          </a:p>
          <a:p>
            <a:pPr algn="l"/>
            <a:r>
              <a:rPr sz="1400" b="0">
                <a:solidFill>
                  <a:srgbClr val="F3F7F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3F7F1"/>
                </a:solidFill>
                <a:latin typeface="Calibri"/>
              </a:rPr>
              <a:t>Shoulder held throughout at a 3 of 5 load.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3F7F1"/>
                </a:solidFill>
                <a:latin typeface="Calibri"/>
              </a:rPr>
              <a:t>Shoulder Load Across the Block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280160"/>
          <a:ext cx="7315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0" y="1463040"/>
            <a:ext cx="3291840" cy="4480560"/>
          </a:xfrm>
          <a:prstGeom prst="rect">
            <a:avLst/>
          </a:prstGeom>
          <a:solidFill>
            <a:srgbClr val="213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58200" y="1645920"/>
            <a:ext cx="28346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3F7F1"/>
                </a:solidFill>
                <a:latin typeface="Calibri"/>
              </a:rPr>
              <a:t>Load peaked at 3 of 5 on the two outdoor days and competition day.</a:t>
            </a:r>
          </a:p>
          <a:p>
            <a:pPr algn="l"/>
            <a:r>
              <a:rPr sz="1400" b="0">
                <a:solidFill>
                  <a:srgbClr val="F3F7F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3F7F1"/>
                </a:solidFill>
                <a:latin typeface="Calibri"/>
              </a:rPr>
              <a:t>The tape and PT protocol held the ceiling all block.</a:t>
            </a:r>
          </a:p>
          <a:p>
            <a:pPr algn="l"/>
            <a:r>
              <a:rPr sz="1400" b="0">
                <a:solidFill>
                  <a:srgbClr val="F3F7F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3F7F1"/>
                </a:solidFill>
                <a:latin typeface="Calibri"/>
              </a:rPr>
              <a:t>Target for 2027 is the same ceiling with a higher V7 volume.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3F7F1"/>
                </a:solidFill>
                <a:latin typeface="Calibri"/>
              </a:rPr>
              <a:t>2027 Goals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3F7F1"/>
                          </a:solidFill>
                          <a:latin typeface="Calibri"/>
                        </a:rPr>
                        <a:t>Goal</a:t>
                      </a:r>
                    </a:p>
                  </a:txBody>
                  <a:tcPr marL="73152" marR="73152" marT="27432" marB="27432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3F7F1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27432" marB="27432" anchor="ctr">
                    <a:solidFill>
                      <a:srgbClr val="2E7D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3F7F1"/>
                          </a:solidFill>
                          <a:latin typeface="Calibri"/>
                        </a:rPr>
                        <a:t>By when</a:t>
                      </a:r>
                    </a:p>
                  </a:txBody>
                  <a:tcPr marL="73152" marR="73152" marT="27432" marB="27432" anchor="ctr">
                    <a:solidFill>
                      <a:srgbClr val="2E7D4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First outdoor V7 send</a:t>
                      </a:r>
                    </a:p>
                  </a:txBody>
                  <a:tcPr marL="73152" marR="73152" marT="27432" marB="27432" anchor="ctr">
                    <a:solidFill>
                      <a:srgbClr val="213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1 confirmed send</a:t>
                      </a:r>
                    </a:p>
                  </a:txBody>
                  <a:tcPr marL="73152" marR="73152" marT="27432" marB="27432" anchor="ctr">
                    <a:solidFill>
                      <a:srgbClr val="213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Fall 2027</a:t>
                      </a:r>
                    </a:p>
                  </a:txBody>
                  <a:tcPr marL="73152" marR="73152" marT="27432" marB="27432" anchor="ctr">
                    <a:solidFill>
                      <a:srgbClr val="21362A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First gym V7 red-point</a:t>
                      </a:r>
                    </a:p>
                  </a:txBody>
                  <a:tcPr marL="73152" marR="73152" marT="27432" marB="27432" anchor="ctr">
                    <a:solidFill>
                      <a:srgbClr val="1B2C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1 confirmed send</a:t>
                      </a:r>
                    </a:p>
                  </a:txBody>
                  <a:tcPr marL="73152" marR="73152" marT="27432" marB="27432" anchor="ctr">
                    <a:solidFill>
                      <a:srgbClr val="1B2C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Spring 2027</a:t>
                      </a:r>
                    </a:p>
                  </a:txBody>
                  <a:tcPr marL="73152" marR="73152" marT="27432" marB="27432" anchor="ctr">
                    <a:solidFill>
                      <a:srgbClr val="1B2C22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Regional podium</a:t>
                      </a:r>
                    </a:p>
                  </a:txBody>
                  <a:tcPr marL="73152" marR="73152" marT="27432" marB="27432" anchor="ctr">
                    <a:solidFill>
                      <a:srgbClr val="213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Top 3 finish</a:t>
                      </a:r>
                    </a:p>
                  </a:txBody>
                  <a:tcPr marL="73152" marR="73152" marT="27432" marB="27432" anchor="ctr">
                    <a:solidFill>
                      <a:srgbClr val="213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2027 circuit</a:t>
                      </a:r>
                    </a:p>
                  </a:txBody>
                  <a:tcPr marL="73152" marR="73152" marT="27432" marB="27432" anchor="ctr">
                    <a:solidFill>
                      <a:srgbClr val="21362A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Shoulder durability</a:t>
                      </a:r>
                    </a:p>
                  </a:txBody>
                  <a:tcPr marL="73152" marR="73152" marT="27432" marB="27432" anchor="ctr">
                    <a:solidFill>
                      <a:srgbClr val="1B2C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Load ceiling 3 of 5</a:t>
                      </a:r>
                    </a:p>
                  </a:txBody>
                  <a:tcPr marL="73152" marR="73152" marT="27432" marB="27432" anchor="ctr">
                    <a:solidFill>
                      <a:srgbClr val="1B2C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3F7F1"/>
                          </a:solidFill>
                          <a:latin typeface="Calibri"/>
                        </a:rPr>
                        <a:t>All year</a:t>
                      </a:r>
                    </a:p>
                  </a:txBody>
                  <a:tcPr marL="73152" marR="73152" marT="27432" marB="27432" anchor="ctr">
                    <a:solidFill>
                      <a:srgbClr val="1B2C2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75488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4C6B4"/>
                </a:solidFill>
                <a:latin typeface="Calibri"/>
              </a:rPr>
              <a:t>The competition V7 top arrived ahead of a gym red-point, so the 2027 plan front-loads outdoor projecting in cool conditions while protecting shoulder load.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