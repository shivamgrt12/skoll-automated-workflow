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Self rating</c:v>
                </c:pt>
              </c:strCache>
            </c:strRef>
          </c:tx>
          <c:spPr>
            <a:solidFill>
              <a:srgbClr val="C85A7E"/>
            </a:solidFill>
          </c:spPr>
          <c:cat>
            <c:strRef>
              <c:f>Sheet1!$A$2:$A$7</c:f>
              <c:strCache>
                <c:ptCount val="6"/>
                <c:pt idx="0">
                  <c:v>Execution and delivery</c:v>
                </c:pt>
                <c:pt idx="1">
                  <c:v>Product strategy</c:v>
                </c:pt>
                <c:pt idx="2">
                  <c:v>Data and analytics</c:v>
                </c:pt>
                <c:pt idx="3">
                  <c:v>Stakeholder management</c:v>
                </c:pt>
                <c:pt idx="4">
                  <c:v>Team leadership</c:v>
                </c:pt>
                <c:pt idx="5">
                  <c:v>Technical depth</c:v>
                </c:pt>
              </c:strCache>
            </c:strRef>
          </c:cat>
          <c:val>
            <c:numRef>
              <c:f>Sheet1!$B$2:$B$7</c:f>
              <c:numCache>
                <c:formatCode>General</c:formatCode>
                <c:ptCount val="6"/>
                <c:pt idx="0">
                  <c:v>4.6</c:v>
                </c:pt>
                <c:pt idx="1">
                  <c:v>4.2</c:v>
                </c:pt>
                <c:pt idx="2">
                  <c:v>4.8</c:v>
                </c:pt>
                <c:pt idx="3">
                  <c:v>4.3</c:v>
                </c:pt>
                <c:pt idx="4">
                  <c:v>4.0</c:v>
                </c:pt>
                <c:pt idx="5">
                  <c:v>4.1</c:v>
                </c:pt>
              </c:numCache>
            </c:numRef>
          </c:val>
        </c:ser>
        <c:dLbls>
          <c:numFmt formatCode="0.0" sourceLinked="0"/>
          <c:txPr>
            <a:bodyPr/>
            <a:lstStyle/>
            <a:p>
              <a:pPr>
                <a:defRPr sz="1000" b="1">
                  <a:solidFill>
                    <a:srgbClr val="F6F1F4"/>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F6F1F4"/>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F6F1F4"/>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c:v>
                </c:pt>
              </c:strCache>
            </c:strRef>
          </c:tx>
          <c:dPt>
            <c:idx val="0"/>
            <c:spPr>
              <a:solidFill>
                <a:srgbClr val="C85A7E"/>
              </a:solidFill>
            </c:spPr>
          </c:dPt>
          <c:dPt>
            <c:idx val="1"/>
            <c:spPr>
              <a:solidFill>
                <a:srgbClr val="D7A84B"/>
              </a:solidFill>
            </c:spPr>
          </c:dPt>
          <c:dPt>
            <c:idx val="2"/>
            <c:spPr>
              <a:solidFill>
                <a:srgbClr val="7A5CA8"/>
              </a:solidFill>
            </c:spPr>
          </c:dPt>
          <c:dPt>
            <c:idx val="3"/>
            <c:spPr>
              <a:solidFill>
                <a:srgbClr val="4C9A8E"/>
              </a:solidFill>
            </c:spPr>
          </c:dPt>
          <c:dPt>
            <c:idx val="4"/>
            <c:spPr>
              <a:solidFill>
                <a:srgbClr val="9A6B53"/>
              </a:solidFill>
            </c:spPr>
          </c:dPt>
          <c:cat>
            <c:strRef>
              <c:f>Sheet1!$A$2:$A$6</c:f>
              <c:strCache>
                <c:ptCount val="5"/>
                <c:pt idx="0">
                  <c:v>Delivery and launch</c:v>
                </c:pt>
                <c:pt idx="1">
                  <c:v>Discovery and scoping</c:v>
                </c:pt>
                <c:pt idx="2">
                  <c:v>Stakeholder and pilots</c:v>
                </c:pt>
                <c:pt idx="3">
                  <c:v>Mentoring</c:v>
                </c:pt>
                <c:pt idx="4">
                  <c:v>Operations and hypercare</c:v>
                </c:pt>
              </c:strCache>
            </c:strRef>
          </c:cat>
          <c:val>
            <c:numRef>
              <c:f>Sheet1!$B$2:$B$6</c:f>
              <c:numCache>
                <c:formatCode>General</c:formatCode>
                <c:ptCount val="5"/>
                <c:pt idx="0">
                  <c:v>40</c:v>
                </c:pt>
                <c:pt idx="1">
                  <c:v>22</c:v>
                </c:pt>
                <c:pt idx="2">
                  <c:v>18</c:v>
                </c:pt>
                <c:pt idx="3">
                  <c:v>10</c:v>
                </c:pt>
                <c:pt idx="4">
                  <c:v>10</c:v>
                </c:pt>
              </c:numCache>
            </c:numRef>
          </c:val>
        </c:ser>
        <c:dLbls>
          <c:txPr>
            <a:bodyPr/>
            <a:lstStyle/>
            <a:p>
              <a:pPr>
                <a:defRPr sz="1100" b="1">
                  <a:solidFill>
                    <a:srgbClr val="F6F1F4"/>
                  </a:solidFill>
                </a:defRPr>
              </a:pPr>
            </a:p>
          </c:txPr>
          <c:dLblPos val="inEnd"/>
          <c:showLegendKey val="0"/>
          <c:showVal val="0"/>
          <c:showCatName val="0"/>
          <c:showSerName val="0"/>
          <c:showPercent val="1"/>
          <c:showBubbleSize val="0"/>
          <c:showLeaderLines val="1"/>
        </c:dLbls>
      </c:pieChart>
    </c:plotArea>
    <c:legend>
      <c:legendPos/>
      <c:overlay val="0"/>
      <c:txPr>
        <a:bodyPr/>
        <a:lstStyle/>
        <a:p>
          <a:pPr>
            <a:defRPr sz="1200">
              <a:solidFill>
                <a:srgbClr val="F6F1F4"/>
              </a:solidFill>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54864"/>
          </a:xfrm>
          <a:prstGeom prst="rect">
            <a:avLst/>
          </a:prstGeom>
          <a:solidFill>
            <a:srgbClr val="D7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25880"/>
            <a:ext cx="10515600" cy="914400"/>
          </a:xfrm>
          <a:prstGeom prst="rect">
            <a:avLst/>
          </a:prstGeom>
          <a:noFill/>
        </p:spPr>
        <p:txBody>
          <a:bodyPr wrap="square" anchor="t">
            <a:spAutoFit/>
          </a:bodyPr>
          <a:lstStyle/>
          <a:p>
            <a:pPr algn="l"/>
            <a:r>
              <a:rPr sz="4400" b="1">
                <a:solidFill>
                  <a:srgbClr val="F6F1F4"/>
                </a:solidFill>
                <a:latin typeface="Calibri"/>
              </a:rPr>
              <a:t>Q4 2026 Performance Review</a:t>
            </a:r>
          </a:p>
        </p:txBody>
      </p:sp>
      <p:sp>
        <p:nvSpPr>
          <p:cNvPr id="5" name="TextBox 4"/>
          <p:cNvSpPr txBox="1"/>
          <p:nvPr/>
        </p:nvSpPr>
        <p:spPr>
          <a:xfrm>
            <a:off x="841248" y="2514600"/>
            <a:ext cx="10515600" cy="548640"/>
          </a:xfrm>
          <a:prstGeom prst="rect">
            <a:avLst/>
          </a:prstGeom>
          <a:noFill/>
        </p:spPr>
        <p:txBody>
          <a:bodyPr wrap="square" anchor="t">
            <a:spAutoFit/>
          </a:bodyPr>
          <a:lstStyle/>
          <a:p>
            <a:pPr algn="l"/>
            <a:r>
              <a:rPr sz="2200" b="0">
                <a:solidFill>
                  <a:srgbClr val="C85A7E"/>
                </a:solidFill>
                <a:latin typeface="Calibri"/>
              </a:rPr>
              <a:t>Self-Evaluation and 2027 Goals</a:t>
            </a:r>
          </a:p>
        </p:txBody>
      </p:sp>
      <p:sp>
        <p:nvSpPr>
          <p:cNvPr id="6" name="TextBox 5"/>
          <p:cNvSpPr txBox="1"/>
          <p:nvPr/>
        </p:nvSpPr>
        <p:spPr>
          <a:xfrm>
            <a:off x="841248" y="5394960"/>
            <a:ext cx="10515600" cy="822960"/>
          </a:xfrm>
          <a:prstGeom prst="rect">
            <a:avLst/>
          </a:prstGeom>
          <a:noFill/>
        </p:spPr>
        <p:txBody>
          <a:bodyPr wrap="square" anchor="t">
            <a:spAutoFit/>
          </a:bodyPr>
          <a:lstStyle/>
          <a:p>
            <a:pPr algn="l"/>
            <a:r>
              <a:rPr sz="1400" b="0">
                <a:solidFill>
                  <a:srgbClr val="C2B2C0"/>
                </a:solidFill>
                <a:latin typeface="Calibri"/>
              </a:rPr>
              <a:t>Stephanie Wells, Senior Product Manager</a:t>
            </a:r>
          </a:p>
          <a:p>
            <a:pPr algn="l"/>
            <a:r>
              <a:rPr sz="1400" b="0">
                <a:solidFill>
                  <a:srgbClr val="C2B2C0"/>
                </a:solidFill>
                <a:latin typeface="Calibri"/>
              </a:rPr>
              <a:t>Growth and Analytics Pod, Vantage Loop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anchor="t">
            <a:spAutoFit/>
          </a:bodyPr>
          <a:lstStyle/>
          <a:p>
            <a:pPr algn="l"/>
            <a:r>
              <a:rPr sz="3000" b="1">
                <a:solidFill>
                  <a:srgbClr val="F6F1F4"/>
                </a:solidFill>
                <a:latin typeface="Calibri"/>
              </a:rPr>
              <a:t>Year in Numbers</a:t>
            </a:r>
          </a:p>
        </p:txBody>
      </p:sp>
      <p:sp>
        <p:nvSpPr>
          <p:cNvPr id="4" name="Rectangle 3"/>
          <p:cNvSpPr/>
          <p:nvPr/>
        </p:nvSpPr>
        <p:spPr>
          <a:xfrm>
            <a:off x="640080" y="1463040"/>
            <a:ext cx="2606040" cy="1828800"/>
          </a:xfrm>
          <a:prstGeom prst="rect">
            <a:avLst/>
          </a:prstGeom>
          <a:solidFill>
            <a:srgbClr val="35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27632"/>
            <a:ext cx="2606040" cy="640080"/>
          </a:xfrm>
          <a:prstGeom prst="rect">
            <a:avLst/>
          </a:prstGeom>
          <a:noFill/>
        </p:spPr>
        <p:txBody>
          <a:bodyPr wrap="square" anchor="t">
            <a:spAutoFit/>
          </a:bodyPr>
          <a:lstStyle/>
          <a:p>
            <a:pPr algn="ctr"/>
            <a:r>
              <a:rPr sz="3000" b="1">
                <a:solidFill>
                  <a:srgbClr val="D7A84B"/>
                </a:solidFill>
                <a:latin typeface="Calibri"/>
              </a:rPr>
              <a:t>8</a:t>
            </a:r>
          </a:p>
        </p:txBody>
      </p:sp>
      <p:sp>
        <p:nvSpPr>
          <p:cNvPr id="6" name="TextBox 5"/>
          <p:cNvSpPr txBox="1"/>
          <p:nvPr/>
        </p:nvSpPr>
        <p:spPr>
          <a:xfrm>
            <a:off x="640080" y="2788920"/>
            <a:ext cx="2606040" cy="411480"/>
          </a:xfrm>
          <a:prstGeom prst="rect">
            <a:avLst/>
          </a:prstGeom>
          <a:noFill/>
        </p:spPr>
        <p:txBody>
          <a:bodyPr wrap="square" anchor="t">
            <a:spAutoFit/>
          </a:bodyPr>
          <a:lstStyle/>
          <a:p>
            <a:pPr algn="ctr"/>
            <a:r>
              <a:rPr sz="1100" b="0">
                <a:solidFill>
                  <a:srgbClr val="C2B2C0"/>
                </a:solidFill>
                <a:latin typeface="Calibri"/>
              </a:rPr>
              <a:t>Features shipped</a:t>
            </a:r>
          </a:p>
        </p:txBody>
      </p:sp>
      <p:sp>
        <p:nvSpPr>
          <p:cNvPr id="7" name="Rectangle 6"/>
          <p:cNvSpPr/>
          <p:nvPr/>
        </p:nvSpPr>
        <p:spPr>
          <a:xfrm>
            <a:off x="3383280" y="1463040"/>
            <a:ext cx="2606040" cy="1828800"/>
          </a:xfrm>
          <a:prstGeom prst="rect">
            <a:avLst/>
          </a:prstGeom>
          <a:solidFill>
            <a:srgbClr val="35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627632"/>
            <a:ext cx="2606040" cy="640080"/>
          </a:xfrm>
          <a:prstGeom prst="rect">
            <a:avLst/>
          </a:prstGeom>
          <a:noFill/>
        </p:spPr>
        <p:txBody>
          <a:bodyPr wrap="square" anchor="t">
            <a:spAutoFit/>
          </a:bodyPr>
          <a:lstStyle/>
          <a:p>
            <a:pPr algn="ctr"/>
            <a:r>
              <a:rPr sz="3000" b="1">
                <a:solidFill>
                  <a:srgbClr val="D7A84B"/>
                </a:solidFill>
                <a:latin typeface="Calibri"/>
              </a:rPr>
              <a:t>9.0</a:t>
            </a:r>
          </a:p>
        </p:txBody>
      </p:sp>
      <p:sp>
        <p:nvSpPr>
          <p:cNvPr id="9" name="TextBox 8"/>
          <p:cNvSpPr txBox="1"/>
          <p:nvPr/>
        </p:nvSpPr>
        <p:spPr>
          <a:xfrm>
            <a:off x="3383280" y="2788920"/>
            <a:ext cx="2606040" cy="411480"/>
          </a:xfrm>
          <a:prstGeom prst="rect">
            <a:avLst/>
          </a:prstGeom>
          <a:noFill/>
        </p:spPr>
        <p:txBody>
          <a:bodyPr wrap="square" anchor="t">
            <a:spAutoFit/>
          </a:bodyPr>
          <a:lstStyle/>
          <a:p>
            <a:pPr algn="ctr"/>
            <a:r>
              <a:rPr sz="1100" b="0">
                <a:solidFill>
                  <a:srgbClr val="C2B2C0"/>
                </a:solidFill>
                <a:latin typeface="Calibri"/>
              </a:rPr>
              <a:t>Launch NPS</a:t>
            </a:r>
          </a:p>
        </p:txBody>
      </p:sp>
      <p:sp>
        <p:nvSpPr>
          <p:cNvPr id="10" name="Rectangle 9"/>
          <p:cNvSpPr/>
          <p:nvPr/>
        </p:nvSpPr>
        <p:spPr>
          <a:xfrm>
            <a:off x="6126480" y="1463040"/>
            <a:ext cx="2606040" cy="1828800"/>
          </a:xfrm>
          <a:prstGeom prst="rect">
            <a:avLst/>
          </a:prstGeom>
          <a:solidFill>
            <a:srgbClr val="35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627632"/>
            <a:ext cx="2606040" cy="640080"/>
          </a:xfrm>
          <a:prstGeom prst="rect">
            <a:avLst/>
          </a:prstGeom>
          <a:noFill/>
        </p:spPr>
        <p:txBody>
          <a:bodyPr wrap="square" anchor="t">
            <a:spAutoFit/>
          </a:bodyPr>
          <a:lstStyle/>
          <a:p>
            <a:pPr algn="ctr"/>
            <a:r>
              <a:rPr sz="3000" b="1">
                <a:solidFill>
                  <a:srgbClr val="D7A84B"/>
                </a:solidFill>
                <a:latin typeface="Calibri"/>
              </a:rPr>
              <a:t>100%</a:t>
            </a:r>
          </a:p>
        </p:txBody>
      </p:sp>
      <p:sp>
        <p:nvSpPr>
          <p:cNvPr id="12" name="TextBox 11"/>
          <p:cNvSpPr txBox="1"/>
          <p:nvPr/>
        </p:nvSpPr>
        <p:spPr>
          <a:xfrm>
            <a:off x="6126480" y="2788920"/>
            <a:ext cx="2606040" cy="411480"/>
          </a:xfrm>
          <a:prstGeom prst="rect">
            <a:avLst/>
          </a:prstGeom>
          <a:noFill/>
        </p:spPr>
        <p:txBody>
          <a:bodyPr wrap="square" anchor="t">
            <a:spAutoFit/>
          </a:bodyPr>
          <a:lstStyle/>
          <a:p>
            <a:pPr algn="ctr"/>
            <a:r>
              <a:rPr sz="1100" b="0">
                <a:solidFill>
                  <a:srgbClr val="C2B2C0"/>
                </a:solidFill>
                <a:latin typeface="Calibri"/>
              </a:rPr>
              <a:t>Pilot sign-off</a:t>
            </a:r>
          </a:p>
        </p:txBody>
      </p:sp>
      <p:sp>
        <p:nvSpPr>
          <p:cNvPr id="13" name="Rectangle 12"/>
          <p:cNvSpPr/>
          <p:nvPr/>
        </p:nvSpPr>
        <p:spPr>
          <a:xfrm>
            <a:off x="8869680" y="1463040"/>
            <a:ext cx="2606040" cy="1828800"/>
          </a:xfrm>
          <a:prstGeom prst="rect">
            <a:avLst/>
          </a:prstGeom>
          <a:solidFill>
            <a:srgbClr val="35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1627632"/>
            <a:ext cx="2606040" cy="640080"/>
          </a:xfrm>
          <a:prstGeom prst="rect">
            <a:avLst/>
          </a:prstGeom>
          <a:noFill/>
        </p:spPr>
        <p:txBody>
          <a:bodyPr wrap="square" anchor="t">
            <a:spAutoFit/>
          </a:bodyPr>
          <a:lstStyle/>
          <a:p>
            <a:pPr algn="ctr"/>
            <a:r>
              <a:rPr sz="3000" b="1">
                <a:solidFill>
                  <a:srgbClr val="D7A84B"/>
                </a:solidFill>
                <a:latin typeface="Calibri"/>
              </a:rPr>
              <a:t>0</a:t>
            </a:r>
          </a:p>
        </p:txBody>
      </p:sp>
      <p:sp>
        <p:nvSpPr>
          <p:cNvPr id="15" name="TextBox 14"/>
          <p:cNvSpPr txBox="1"/>
          <p:nvPr/>
        </p:nvSpPr>
        <p:spPr>
          <a:xfrm>
            <a:off x="8869680" y="2788920"/>
            <a:ext cx="2606040" cy="411480"/>
          </a:xfrm>
          <a:prstGeom prst="rect">
            <a:avLst/>
          </a:prstGeom>
          <a:noFill/>
        </p:spPr>
        <p:txBody>
          <a:bodyPr wrap="square" anchor="t">
            <a:spAutoFit/>
          </a:bodyPr>
          <a:lstStyle/>
          <a:p>
            <a:pPr algn="ctr"/>
            <a:r>
              <a:rPr sz="1100" b="0">
                <a:solidFill>
                  <a:srgbClr val="C2B2C0"/>
                </a:solidFill>
                <a:latin typeface="Calibri"/>
              </a:rPr>
              <a:t>P1 incidents</a:t>
            </a:r>
          </a:p>
        </p:txBody>
      </p:sp>
      <p:sp>
        <p:nvSpPr>
          <p:cNvPr id="16" name="TextBox 15"/>
          <p:cNvSpPr txBox="1"/>
          <p:nvPr/>
        </p:nvSpPr>
        <p:spPr>
          <a:xfrm>
            <a:off x="640080" y="3657600"/>
            <a:ext cx="10881360" cy="2286000"/>
          </a:xfrm>
          <a:prstGeom prst="rect">
            <a:avLst/>
          </a:prstGeom>
          <a:noFill/>
        </p:spPr>
        <p:txBody>
          <a:bodyPr wrap="square" anchor="t">
            <a:spAutoFit/>
          </a:bodyPr>
          <a:lstStyle/>
          <a:p>
            <a:pPr algn="l"/>
            <a:r>
              <a:rPr sz="1600" b="0">
                <a:solidFill>
                  <a:srgbClr val="F6F1F4"/>
                </a:solidFill>
                <a:latin typeface="Calibri"/>
              </a:rPr>
              <a:t>Led the Analytics Dashboard from discovery to general availability on November 13, 2026. Eight features shipped across three sprints, every launch target met, and all three enterprise pilot accounts signed off before feature freeze.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anchor="t">
            <a:spAutoFit/>
          </a:bodyPr>
          <a:lstStyle/>
          <a:p>
            <a:pPr algn="l"/>
            <a:r>
              <a:rPr sz="3000" b="1">
                <a:solidFill>
                  <a:srgbClr val="F6F1F4"/>
                </a:solidFill>
                <a:latin typeface="Calibri"/>
              </a:rPr>
              <a:t>Competency Ratings (out of 5)</a:t>
            </a:r>
          </a:p>
        </p:txBody>
      </p:sp>
      <p:graphicFrame>
        <p:nvGraphicFramePr>
          <p:cNvPr id="4" name="Chart 3"/>
          <p:cNvGraphicFramePr>
            <a:graphicFrameLocks noGrp="1"/>
          </p:cNvGraphicFramePr>
          <p:nvPr/>
        </p:nvGraphicFramePr>
        <p:xfrm>
          <a:off x="640080" y="1280160"/>
          <a:ext cx="7498079" cy="4937760"/>
        </p:xfrm>
        <a:graphic>
          <a:graphicData uri="http://schemas.openxmlformats.org/drawingml/2006/chart">
            <c:chart xmlns:c="http://schemas.openxmlformats.org/drawingml/2006/chart" r:id="rId2"/>
          </a:graphicData>
        </a:graphic>
      </p:graphicFrame>
      <p:sp>
        <p:nvSpPr>
          <p:cNvPr id="5" name="Rectangle 4"/>
          <p:cNvSpPr/>
          <p:nvPr/>
        </p:nvSpPr>
        <p:spPr>
          <a:xfrm>
            <a:off x="8412480" y="1463040"/>
            <a:ext cx="3108960" cy="4480560"/>
          </a:xfrm>
          <a:prstGeom prst="rect">
            <a:avLst/>
          </a:prstGeom>
          <a:solidFill>
            <a:srgbClr val="35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1645920"/>
            <a:ext cx="2651760" cy="4206240"/>
          </a:xfrm>
          <a:prstGeom prst="rect">
            <a:avLst/>
          </a:prstGeom>
          <a:noFill/>
        </p:spPr>
        <p:txBody>
          <a:bodyPr wrap="square" anchor="t">
            <a:spAutoFit/>
          </a:bodyPr>
          <a:lstStyle/>
          <a:p>
            <a:pPr algn="l"/>
            <a:r>
              <a:rPr sz="1400" b="0">
                <a:solidFill>
                  <a:srgbClr val="F6F1F4"/>
                </a:solidFill>
                <a:latin typeface="Calibri"/>
              </a:rPr>
              <a:t>Strongest in data and analytics, reading dashboards faster than most engineers on the pod.</a:t>
            </a:r>
          </a:p>
          <a:p>
            <a:pPr algn="l"/>
            <a:r>
              <a:rPr sz="1400" b="0">
                <a:solidFill>
                  <a:srgbClr val="F6F1F4"/>
                </a:solidFill>
                <a:latin typeface="Calibri"/>
              </a:rPr>
              <a:t/>
            </a:r>
          </a:p>
          <a:p>
            <a:pPr algn="l"/>
            <a:r>
              <a:rPr sz="1400" b="0">
                <a:solidFill>
                  <a:srgbClr val="F6F1F4"/>
                </a:solidFill>
                <a:latin typeface="Calibri"/>
              </a:rPr>
              <a:t>Growth focus for 2027 is team leadership as the pod scales with two new hires.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anchor="t">
            <a:spAutoFit/>
          </a:bodyPr>
          <a:lstStyle/>
          <a:p>
            <a:pPr algn="l"/>
            <a:r>
              <a:rPr sz="3000" b="1">
                <a:solidFill>
                  <a:srgbClr val="F6F1F4"/>
                </a:solidFill>
                <a:latin typeface="Calibri"/>
              </a:rPr>
              <a:t>Where the Quarter Went</a:t>
            </a:r>
          </a:p>
        </p:txBody>
      </p:sp>
      <p:graphicFrame>
        <p:nvGraphicFramePr>
          <p:cNvPr id="4" name="Chart 3"/>
          <p:cNvGraphicFramePr>
            <a:graphicFrameLocks noGrp="1"/>
          </p:cNvGraphicFramePr>
          <p:nvPr/>
        </p:nvGraphicFramePr>
        <p:xfrm>
          <a:off x="640080" y="1280160"/>
          <a:ext cx="5852160" cy="4937760"/>
        </p:xfrm>
        <a:graphic>
          <a:graphicData uri="http://schemas.openxmlformats.org/drawingml/2006/chart">
            <c:chart xmlns:c="http://schemas.openxmlformats.org/drawingml/2006/chart" r:id="rId2"/>
          </a:graphicData>
        </a:graphic>
      </p:graphicFrame>
      <p:sp>
        <p:nvSpPr>
          <p:cNvPr id="5" name="Rectangle 4"/>
          <p:cNvSpPr/>
          <p:nvPr/>
        </p:nvSpPr>
        <p:spPr>
          <a:xfrm>
            <a:off x="6858000" y="1463040"/>
            <a:ext cx="4663440" cy="4480560"/>
          </a:xfrm>
          <a:prstGeom prst="rect">
            <a:avLst/>
          </a:prstGeom>
          <a:solidFill>
            <a:srgbClr val="35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86600" y="1645920"/>
            <a:ext cx="4206240" cy="4206240"/>
          </a:xfrm>
          <a:prstGeom prst="rect">
            <a:avLst/>
          </a:prstGeom>
          <a:noFill/>
        </p:spPr>
        <p:txBody>
          <a:bodyPr wrap="square" anchor="t">
            <a:spAutoFit/>
          </a:bodyPr>
          <a:lstStyle/>
          <a:p>
            <a:pPr algn="l"/>
            <a:r>
              <a:rPr sz="1400" b="0">
                <a:solidFill>
                  <a:srgbClr val="F6F1F4"/>
                </a:solidFill>
                <a:latin typeface="Calibri"/>
              </a:rPr>
              <a:t>Delivery dominated Q4 as three sprints landed back to back into the November GA.</a:t>
            </a:r>
          </a:p>
          <a:p>
            <a:pPr algn="l"/>
            <a:r>
              <a:rPr sz="1400" b="0">
                <a:solidFill>
                  <a:srgbClr val="F6F1F4"/>
                </a:solidFill>
                <a:latin typeface="Calibri"/>
              </a:rPr>
              <a:t/>
            </a:r>
          </a:p>
          <a:p>
            <a:pPr algn="l"/>
            <a:r>
              <a:rPr sz="1400" b="0">
                <a:solidFill>
                  <a:srgbClr val="F6F1F4"/>
                </a:solidFill>
                <a:latin typeface="Calibri"/>
              </a:rPr>
              <a:t>Pilot management stayed high to protect the three reference accounts through launch.</a:t>
            </a:r>
          </a:p>
          <a:p>
            <a:pPr algn="l"/>
            <a:r>
              <a:rPr sz="1400" b="0">
                <a:solidFill>
                  <a:srgbClr val="F6F1F4"/>
                </a:solidFill>
                <a:latin typeface="Calibri"/>
              </a:rPr>
              <a:t/>
            </a:r>
          </a:p>
          <a:p>
            <a:pPr algn="l"/>
            <a:r>
              <a:rPr sz="1400" b="0">
                <a:solidFill>
                  <a:srgbClr val="F6F1F4"/>
                </a:solidFill>
                <a:latin typeface="Calibri"/>
              </a:rPr>
              <a:t>2027 rebalances toward discovery for the API and benchmark initiatives.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anchor="t">
            <a:spAutoFit/>
          </a:bodyPr>
          <a:lstStyle/>
          <a:p>
            <a:pPr algn="l"/>
            <a:r>
              <a:rPr sz="3000" b="1">
                <a:solidFill>
                  <a:srgbClr val="F6F1F4"/>
                </a:solidFill>
                <a:latin typeface="Calibri"/>
              </a:rPr>
              <a:t>2027 Development Goals</a:t>
            </a:r>
          </a:p>
        </p:txBody>
      </p:sp>
      <p:graphicFrame>
        <p:nvGraphicFramePr>
          <p:cNvPr id="4" name="Table 3"/>
          <p:cNvGraphicFramePr>
            <a:graphicFrameLocks noGrp="1"/>
          </p:cNvGraphicFramePr>
          <p:nvPr/>
        </p:nvGraphicFramePr>
        <p:xfrm>
          <a:off x="640080" y="1371600"/>
          <a:ext cx="10881360" cy="2926080"/>
        </p:xfrm>
        <a:graphic>
          <a:graphicData uri="http://schemas.openxmlformats.org/drawingml/2006/table">
            <a:tbl>
              <a:tblPr firstRow="1" bandRow="1">
                <a:tableStyleId>{5C22544A-7EE6-4342-B048-85BDC9FD1C3A}</a:tableStyleId>
              </a:tblPr>
              <a:tblGrid>
                <a:gridCol w="3627120"/>
                <a:gridCol w="3627120"/>
                <a:gridCol w="3627120"/>
              </a:tblGrid>
              <a:tr h="585216">
                <a:tc>
                  <a:txBody>
                    <a:bodyPr wrap="square"/>
                    <a:lstStyle/>
                    <a:p>
                      <a:pPr algn="l"/>
                      <a:r>
                        <a:rPr sz="1100" b="1">
                          <a:solidFill>
                            <a:srgbClr val="F6F1F4"/>
                          </a:solidFill>
                          <a:latin typeface="Calibri"/>
                        </a:rPr>
                        <a:t>Goal</a:t>
                      </a:r>
                    </a:p>
                  </a:txBody>
                  <a:tcPr marL="73152" marR="73152" marT="27432" marB="27432" anchor="ctr">
                    <a:solidFill>
                      <a:srgbClr val="C85A7E"/>
                    </a:solidFill>
                  </a:tcPr>
                </a:tc>
                <a:tc>
                  <a:txBody>
                    <a:bodyPr wrap="square"/>
                    <a:lstStyle/>
                    <a:p>
                      <a:pPr algn="ctr"/>
                      <a:r>
                        <a:rPr sz="1100" b="1">
                          <a:solidFill>
                            <a:srgbClr val="F6F1F4"/>
                          </a:solidFill>
                          <a:latin typeface="Calibri"/>
                        </a:rPr>
                        <a:t>Success measure</a:t>
                      </a:r>
                    </a:p>
                  </a:txBody>
                  <a:tcPr marL="73152" marR="73152" marT="27432" marB="27432" anchor="ctr">
                    <a:solidFill>
                      <a:srgbClr val="C85A7E"/>
                    </a:solidFill>
                  </a:tcPr>
                </a:tc>
                <a:tc>
                  <a:txBody>
                    <a:bodyPr wrap="square"/>
                    <a:lstStyle/>
                    <a:p>
                      <a:pPr algn="ctr"/>
                      <a:r>
                        <a:rPr sz="1100" b="1">
                          <a:solidFill>
                            <a:srgbClr val="F6F1F4"/>
                          </a:solidFill>
                          <a:latin typeface="Calibri"/>
                        </a:rPr>
                        <a:t>Timeline</a:t>
                      </a:r>
                    </a:p>
                  </a:txBody>
                  <a:tcPr marL="73152" marR="73152" marT="27432" marB="27432" anchor="ctr">
                    <a:solidFill>
                      <a:srgbClr val="C85A7E"/>
                    </a:solidFill>
                  </a:tcPr>
                </a:tc>
              </a:tr>
              <a:tr h="585216">
                <a:tc>
                  <a:txBody>
                    <a:bodyPr wrap="square"/>
                    <a:lstStyle/>
                    <a:p>
                      <a:pPr algn="l"/>
                      <a:r>
                        <a:rPr sz="1000" b="0">
                          <a:solidFill>
                            <a:srgbClr val="F6F1F4"/>
                          </a:solidFill>
                          <a:latin typeface="Calibri"/>
                        </a:rPr>
                        <a:t>Ship Enterprise API</a:t>
                      </a:r>
                    </a:p>
                  </a:txBody>
                  <a:tcPr marL="73152" marR="73152" marT="27432" marB="27432" anchor="ctr">
                    <a:solidFill>
                      <a:srgbClr val="352340"/>
                    </a:solidFill>
                  </a:tcPr>
                </a:tc>
                <a:tc>
                  <a:txBody>
                    <a:bodyPr wrap="square"/>
                    <a:lstStyle/>
                    <a:p>
                      <a:pPr algn="ctr"/>
                      <a:r>
                        <a:rPr sz="1000" b="0">
                          <a:solidFill>
                            <a:srgbClr val="F6F1F4"/>
                          </a:solidFill>
                          <a:latin typeface="Calibri"/>
                        </a:rPr>
                        <a:t>GA with 3 pilot integrations</a:t>
                      </a:r>
                    </a:p>
                  </a:txBody>
                  <a:tcPr marL="73152" marR="73152" marT="27432" marB="27432" anchor="ctr">
                    <a:solidFill>
                      <a:srgbClr val="352340"/>
                    </a:solidFill>
                  </a:tcPr>
                </a:tc>
                <a:tc>
                  <a:txBody>
                    <a:bodyPr wrap="square"/>
                    <a:lstStyle/>
                    <a:p>
                      <a:pPr algn="ctr"/>
                      <a:r>
                        <a:rPr sz="1000" b="0">
                          <a:solidFill>
                            <a:srgbClr val="F6F1F4"/>
                          </a:solidFill>
                          <a:latin typeface="Calibri"/>
                        </a:rPr>
                        <a:t>H1 2027</a:t>
                      </a:r>
                    </a:p>
                  </a:txBody>
                  <a:tcPr marL="73152" marR="73152" marT="27432" marB="27432" anchor="ctr">
                    <a:solidFill>
                      <a:srgbClr val="352340"/>
                    </a:solidFill>
                  </a:tcPr>
                </a:tc>
              </a:tr>
              <a:tr h="585216">
                <a:tc>
                  <a:txBody>
                    <a:bodyPr wrap="square"/>
                    <a:lstStyle/>
                    <a:p>
                      <a:pPr algn="l"/>
                      <a:r>
                        <a:rPr sz="1000" b="0">
                          <a:solidFill>
                            <a:srgbClr val="F6F1F4"/>
                          </a:solidFill>
                          <a:latin typeface="Calibri"/>
                        </a:rPr>
                        <a:t>Grow the pod</a:t>
                      </a:r>
                    </a:p>
                  </a:txBody>
                  <a:tcPr marL="73152" marR="73152" marT="27432" marB="27432" anchor="ctr">
                    <a:solidFill>
                      <a:srgbClr val="33213D"/>
                    </a:solidFill>
                  </a:tcPr>
                </a:tc>
                <a:tc>
                  <a:txBody>
                    <a:bodyPr wrap="square"/>
                    <a:lstStyle/>
                    <a:p>
                      <a:pPr algn="ctr"/>
                      <a:r>
                        <a:rPr sz="1000" b="0">
                          <a:solidFill>
                            <a:srgbClr val="F6F1F4"/>
                          </a:solidFill>
                          <a:latin typeface="Calibri"/>
                        </a:rPr>
                        <a:t>Onboard 2 PMs to full ramp</a:t>
                      </a:r>
                    </a:p>
                  </a:txBody>
                  <a:tcPr marL="73152" marR="73152" marT="27432" marB="27432" anchor="ctr">
                    <a:solidFill>
                      <a:srgbClr val="33213D"/>
                    </a:solidFill>
                  </a:tcPr>
                </a:tc>
                <a:tc>
                  <a:txBody>
                    <a:bodyPr wrap="square"/>
                    <a:lstStyle/>
                    <a:p>
                      <a:pPr algn="ctr"/>
                      <a:r>
                        <a:rPr sz="1000" b="0">
                          <a:solidFill>
                            <a:srgbClr val="F6F1F4"/>
                          </a:solidFill>
                          <a:latin typeface="Calibri"/>
                        </a:rPr>
                        <a:t>Q1 2027</a:t>
                      </a:r>
                    </a:p>
                  </a:txBody>
                  <a:tcPr marL="73152" marR="73152" marT="27432" marB="27432" anchor="ctr">
                    <a:solidFill>
                      <a:srgbClr val="33213D"/>
                    </a:solidFill>
                  </a:tcPr>
                </a:tc>
              </a:tr>
              <a:tr h="585216">
                <a:tc>
                  <a:txBody>
                    <a:bodyPr wrap="square"/>
                    <a:lstStyle/>
                    <a:p>
                      <a:pPr algn="l"/>
                      <a:r>
                        <a:rPr sz="1000" b="0">
                          <a:solidFill>
                            <a:srgbClr val="F6F1F4"/>
                          </a:solidFill>
                          <a:latin typeface="Calibri"/>
                        </a:rPr>
                        <a:t>Deepen leadership</a:t>
                      </a:r>
                    </a:p>
                  </a:txBody>
                  <a:tcPr marL="73152" marR="73152" marT="27432" marB="27432" anchor="ctr">
                    <a:solidFill>
                      <a:srgbClr val="352340"/>
                    </a:solidFill>
                  </a:tcPr>
                </a:tc>
                <a:tc>
                  <a:txBody>
                    <a:bodyPr wrap="square"/>
                    <a:lstStyle/>
                    <a:p>
                      <a:pPr algn="ctr"/>
                      <a:r>
                        <a:rPr sz="1000" b="0">
                          <a:solidFill>
                            <a:srgbClr val="F6F1F4"/>
                          </a:solidFill>
                          <a:latin typeface="Calibri"/>
                        </a:rPr>
                        <a:t>Run pod planning end to end</a:t>
                      </a:r>
                    </a:p>
                  </a:txBody>
                  <a:tcPr marL="73152" marR="73152" marT="27432" marB="27432" anchor="ctr">
                    <a:solidFill>
                      <a:srgbClr val="352340"/>
                    </a:solidFill>
                  </a:tcPr>
                </a:tc>
                <a:tc>
                  <a:txBody>
                    <a:bodyPr wrap="square"/>
                    <a:lstStyle/>
                    <a:p>
                      <a:pPr algn="ctr"/>
                      <a:r>
                        <a:rPr sz="1000" b="0">
                          <a:solidFill>
                            <a:srgbClr val="F6F1F4"/>
                          </a:solidFill>
                          <a:latin typeface="Calibri"/>
                        </a:rPr>
                        <a:t>Ongoing</a:t>
                      </a:r>
                    </a:p>
                  </a:txBody>
                  <a:tcPr marL="73152" marR="73152" marT="27432" marB="27432" anchor="ctr">
                    <a:solidFill>
                      <a:srgbClr val="352340"/>
                    </a:solidFill>
                  </a:tcPr>
                </a:tc>
              </a:tr>
              <a:tr h="585216">
                <a:tc>
                  <a:txBody>
                    <a:bodyPr wrap="square"/>
                    <a:lstStyle/>
                    <a:p>
                      <a:pPr algn="l"/>
                      <a:r>
                        <a:rPr sz="1000" b="0">
                          <a:solidFill>
                            <a:srgbClr val="F6F1F4"/>
                          </a:solidFill>
                          <a:latin typeface="Calibri"/>
                        </a:rPr>
                        <a:t>Benchmark overlay</a:t>
                      </a:r>
                    </a:p>
                  </a:txBody>
                  <a:tcPr marL="73152" marR="73152" marT="27432" marB="27432" anchor="ctr">
                    <a:solidFill>
                      <a:srgbClr val="33213D"/>
                    </a:solidFill>
                  </a:tcPr>
                </a:tc>
                <a:tc>
                  <a:txBody>
                    <a:bodyPr wrap="square"/>
                    <a:lstStyle/>
                    <a:p>
                      <a:pPr algn="ctr"/>
                      <a:r>
                        <a:rPr sz="1000" b="0">
                          <a:solidFill>
                            <a:srgbClr val="F6F1F4"/>
                          </a:solidFill>
                          <a:latin typeface="Calibri"/>
                        </a:rPr>
                        <a:t>Privacy-safe peer benchmark live</a:t>
                      </a:r>
                    </a:p>
                  </a:txBody>
                  <a:tcPr marL="73152" marR="73152" marT="27432" marB="27432" anchor="ctr">
                    <a:solidFill>
                      <a:srgbClr val="33213D"/>
                    </a:solidFill>
                  </a:tcPr>
                </a:tc>
                <a:tc>
                  <a:txBody>
                    <a:bodyPr wrap="square"/>
                    <a:lstStyle/>
                    <a:p>
                      <a:pPr algn="ctr"/>
                      <a:r>
                        <a:rPr sz="1000" b="0">
                          <a:solidFill>
                            <a:srgbClr val="F6F1F4"/>
                          </a:solidFill>
                          <a:latin typeface="Calibri"/>
                        </a:rPr>
                        <a:t>Q2 2027</a:t>
                      </a:r>
                    </a:p>
                  </a:txBody>
                  <a:tcPr marL="73152" marR="73152" marT="27432" marB="27432" anchor="ctr">
                    <a:solidFill>
                      <a:srgbClr val="33213D"/>
                    </a:solidFill>
                  </a:tcPr>
                </a:tc>
              </a:tr>
            </a:tbl>
          </a:graphicData>
        </a:graphic>
      </p:graphicFrame>
      <p:sp>
        <p:nvSpPr>
          <p:cNvPr id="5" name="TextBox 4"/>
          <p:cNvSpPr txBox="1"/>
          <p:nvPr/>
        </p:nvSpPr>
        <p:spPr>
          <a:xfrm>
            <a:off x="640080" y="4754880"/>
            <a:ext cx="10881360" cy="1280160"/>
          </a:xfrm>
          <a:prstGeom prst="rect">
            <a:avLst/>
          </a:prstGeom>
          <a:noFill/>
        </p:spPr>
        <p:txBody>
          <a:bodyPr wrap="square" anchor="t">
            <a:spAutoFit/>
          </a:bodyPr>
          <a:lstStyle/>
          <a:p>
            <a:pPr algn="l"/>
            <a:r>
              <a:rPr sz="1500" b="0">
                <a:solidFill>
                  <a:srgbClr val="C2B2C0"/>
                </a:solidFill>
                <a:latin typeface="Calibri"/>
              </a:rPr>
              <a:t>Priorities balance a major delivery, the Enterprise API, against the leadership growth needed as the Growth and Analytics pod doubles in 2027.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anchor="t">
            <a:spAutoFit/>
          </a:bodyPr>
          <a:lstStyle/>
          <a:p>
            <a:pPr algn="l"/>
            <a:r>
              <a:rPr sz="3000" b="1">
                <a:solidFill>
                  <a:srgbClr val="F6F1F4"/>
                </a:solidFill>
                <a:latin typeface="Calibri"/>
              </a:rPr>
              <a:t>Beyond the Numbers</a:t>
            </a:r>
          </a:p>
        </p:txBody>
      </p:sp>
      <p:sp>
        <p:nvSpPr>
          <p:cNvPr id="4" name="Rectangle 3"/>
          <p:cNvSpPr/>
          <p:nvPr/>
        </p:nvSpPr>
        <p:spPr>
          <a:xfrm>
            <a:off x="640080" y="1371600"/>
            <a:ext cx="10881360" cy="4206240"/>
          </a:xfrm>
          <a:prstGeom prst="rect">
            <a:avLst/>
          </a:prstGeom>
          <a:solidFill>
            <a:srgbClr val="35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3657600"/>
          </a:xfrm>
          <a:prstGeom prst="rect">
            <a:avLst/>
          </a:prstGeom>
          <a:noFill/>
        </p:spPr>
        <p:txBody>
          <a:bodyPr wrap="square" anchor="t">
            <a:spAutoFit/>
          </a:bodyPr>
          <a:lstStyle/>
          <a:p>
            <a:pPr algn="l"/>
            <a:r>
              <a:rPr sz="1600" b="0">
                <a:solidFill>
                  <a:srgbClr val="F6F1F4"/>
                </a:solidFill>
                <a:latin typeface="Calibri"/>
              </a:rPr>
              <a:t>Q4 was delivered alongside a demanding personal quarter and the work still hit every launch bar.</a:t>
            </a:r>
          </a:p>
          <a:p>
            <a:pPr algn="l"/>
            <a:r>
              <a:rPr sz="1600" b="0">
                <a:solidFill>
                  <a:srgbClr val="F6F1F4"/>
                </a:solidFill>
                <a:latin typeface="Calibri"/>
              </a:rPr>
              <a:t/>
            </a:r>
          </a:p>
          <a:p>
            <a:pPr algn="l"/>
            <a:r>
              <a:rPr sz="1600" b="0">
                <a:solidFill>
                  <a:srgbClr val="F6F1F4"/>
                </a:solidFill>
                <a:latin typeface="Calibri"/>
              </a:rPr>
              <a:t>The team held a clean hypercare with zero P1 incidents and closed on November 27, 2026.</a:t>
            </a:r>
          </a:p>
          <a:p>
            <a:pPr algn="l"/>
            <a:r>
              <a:rPr sz="1600" b="0">
                <a:solidFill>
                  <a:srgbClr val="F6F1F4"/>
                </a:solidFill>
                <a:latin typeface="Calibri"/>
              </a:rPr>
              <a:t/>
            </a:r>
          </a:p>
          <a:p>
            <a:pPr algn="l"/>
            <a:r>
              <a:rPr sz="1600" b="0">
                <a:solidFill>
                  <a:srgbClr val="F6F1F4"/>
                </a:solidFill>
                <a:latin typeface="Calibri"/>
              </a:rPr>
              <a:t>The clearest signal of impact: all three pilot accounts cited specific features by name in their feedback, and the cohort comparison table was named the reason for a perfect pilot satisfaction score.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