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lbs</c:v>
                </c:pt>
              </c:strCache>
            </c:strRef>
          </c:tx>
          <c:spPr>
            <a:solidFill>
              <a:srgbClr val="E0A526"/>
            </a:solidFill>
          </c:spPr>
          <c:cat>
            <c:strRef>
              <c:f>Sheet1!$A$2:$A$13</c:f>
              <c:strCache>
                <c:ptCount val="12"/>
                <c:pt idx="0">
                  <c:v>H01</c:v>
                </c:pt>
                <c:pt idx="1">
                  <c:v>H02</c:v>
                </c:pt>
                <c:pt idx="2">
                  <c:v>H03</c:v>
                </c:pt>
                <c:pt idx="3">
                  <c:v>H04</c:v>
                </c:pt>
                <c:pt idx="4">
                  <c:v>H05</c:v>
                </c:pt>
                <c:pt idx="5">
                  <c:v>H06</c:v>
                </c:pt>
                <c:pt idx="6">
                  <c:v>H07</c:v>
                </c:pt>
                <c:pt idx="7">
                  <c:v>H08</c:v>
                </c:pt>
                <c:pt idx="8">
                  <c:v>H09</c:v>
                </c:pt>
                <c:pt idx="9">
                  <c:v>H10</c:v>
                </c:pt>
                <c:pt idx="10">
                  <c:v>H11</c:v>
                </c:pt>
                <c:pt idx="11">
                  <c:v>H12</c:v>
                </c:pt>
              </c:strCache>
            </c:strRef>
          </c:cat>
          <c:val>
            <c:numRef>
              <c:f>Sheet1!$B$2:$B$13</c:f>
              <c:numCache>
                <c:formatCode>General</c:formatCode>
                <c:ptCount val="12"/>
                <c:pt idx="0">
                  <c:v>56</c:v>
                </c:pt>
                <c:pt idx="1">
                  <c:v>62</c:v>
                </c:pt>
                <c:pt idx="2">
                  <c:v>38</c:v>
                </c:pt>
                <c:pt idx="3">
                  <c:v>52</c:v>
                </c:pt>
                <c:pt idx="4">
                  <c:v>58</c:v>
                </c:pt>
                <c:pt idx="5">
                  <c:v>26</c:v>
                </c:pt>
                <c:pt idx="6">
                  <c:v>72</c:v>
                </c:pt>
                <c:pt idx="7">
                  <c:v>52</c:v>
                </c:pt>
                <c:pt idx="8">
                  <c:v>48</c:v>
                </c:pt>
                <c:pt idx="9">
                  <c:v>62</c:v>
                </c:pt>
                <c:pt idx="10">
                  <c:v>30</c:v>
                </c:pt>
                <c:pt idx="11">
                  <c:v>46</c:v>
                </c:pt>
              </c:numCache>
            </c:numRef>
          </c:val>
        </c:ser>
        <c:dLbls>
          <c:txPr>
            <a:bodyPr/>
            <a:lstStyle/>
            <a:p>
              <a:pPr>
                <a:defRPr sz="900">
                  <a:solidFill>
                    <a:srgbClr val="33302A"/>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solidFill>
            <a:srgbClr val="33302A"/>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Revenue</c:v>
                </c:pt>
              </c:strCache>
            </c:strRef>
          </c:tx>
          <c:dPt>
            <c:idx val="0"/>
            <c:spPr>
              <a:solidFill>
                <a:srgbClr val="E0A526"/>
              </a:solidFill>
            </c:spPr>
          </c:dPt>
          <c:dPt>
            <c:idx val="1"/>
            <c:spPr>
              <a:solidFill>
                <a:srgbClr val="3C7A3A"/>
              </a:solidFill>
            </c:spPr>
          </c:dPt>
          <c:dPt>
            <c:idx val="2"/>
            <c:spPr>
              <a:solidFill>
                <a:srgbClr val="2F4A2C"/>
              </a:solidFill>
            </c:spPr>
          </c:dPt>
          <c:cat>
            <c:strRef>
              <c:f>Sheet1!$A$2:$A$4</c:f>
              <c:strCache>
                <c:ptCount val="3"/>
                <c:pt idx="0">
                  <c:v>Farmers market</c:v>
                </c:pt>
                <c:pt idx="1">
                  <c:v>General store, wholesale</c:v>
                </c:pt>
                <c:pt idx="2">
                  <c:v>Co-op, wholesale</c:v>
                </c:pt>
              </c:strCache>
            </c:strRef>
          </c:cat>
          <c:val>
            <c:numRef>
              <c:f>Sheet1!$B$2:$B$4</c:f>
              <c:numCache>
                <c:formatCode>General</c:formatCode>
                <c:ptCount val="3"/>
                <c:pt idx="0">
                  <c:v>4816</c:v>
                </c:pt>
                <c:pt idx="1">
                  <c:v>1360</c:v>
                </c:pt>
                <c:pt idx="2">
                  <c:v>980</c:v>
                </c:pt>
              </c:numCache>
            </c:numRef>
          </c:val>
        </c:ser>
        <c:dLbls>
          <c:txPr>
            <a:bodyPr/>
            <a:lstStyle/>
            <a:p>
              <a:pPr>
                <a:defRPr sz="1200" b="1">
                  <a:solidFill>
                    <a:srgbClr val="FFFFFF"/>
                  </a:solidFill>
                </a:defRPr>
              </a:pPr>
            </a:p>
          </c:txPr>
          <c:showLegendKey val="0"/>
          <c:showVal val="0"/>
          <c:showCatName val="0"/>
          <c:showSerName val="0"/>
          <c:showPercent val="1"/>
          <c:showBubbleSize val="0"/>
          <c:showLeaderLines val="1"/>
        </c:dLbls>
      </c:pieChart>
    </c:plotArea>
    <c:legend>
      <c:legendPos val="b"/>
      <c:overlay val="0"/>
      <c:txPr>
        <a:bodyPr/>
        <a:lstStyle/>
        <a:p>
          <a:pPr>
            <a:defRPr sz="1100">
              <a:solidFill>
                <a:srgbClr val="33302A"/>
              </a:solidFill>
            </a:defRPr>
          </a:pPr>
        </a:p>
      </c:txPr>
    </c:legend>
    <c:dispBlanksAs val="gap"/>
  </c:chart>
  <c:txPr>
    <a:bodyPr/>
    <a:lstStyle/>
    <a:p>
      <a:pPr>
        <a:defRPr sz="1100">
          <a:solidFill>
            <a:srgbClr val="33302A"/>
          </a:solidFil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4A2C"/>
        </a:solidFill>
        <a:effectLst/>
      </p:bgPr>
    </p:bg>
    <p:spTree>
      <p:nvGrpSpPr>
        <p:cNvPr id="1" name=""/>
        <p:cNvGrpSpPr/>
        <p:nvPr/>
      </p:nvGrpSpPr>
      <p:grpSpPr/>
      <p:sp>
        <p:nvSpPr>
          <p:cNvPr id="2" name="Rectangle 1"/>
          <p:cNvSpPr/>
          <p:nvPr/>
        </p:nvSpPr>
        <p:spPr>
          <a:xfrm>
            <a:off x="0" y="2468880"/>
            <a:ext cx="12191695" cy="8229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822960" y="1371600"/>
            <a:ext cx="502920" cy="502920"/>
          </a:xfrm>
          <a:prstGeom prst="hexag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325880" y="1691640"/>
            <a:ext cx="502920" cy="502920"/>
          </a:xfrm>
          <a:prstGeom prst="hexagon">
            <a:avLst/>
          </a:prstGeom>
          <a:solidFill>
            <a:srgbClr val="C88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822960" y="2011680"/>
            <a:ext cx="502920" cy="502920"/>
          </a:xfrm>
          <a:prstGeom prst="hexagon">
            <a:avLst/>
          </a:prstGeom>
          <a:solidFill>
            <a:srgbClr val="3C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743200"/>
            <a:ext cx="10607040" cy="1280160"/>
          </a:xfrm>
          <a:prstGeom prst="rect">
            <a:avLst/>
          </a:prstGeom>
          <a:noFill/>
        </p:spPr>
        <p:txBody>
          <a:bodyPr wrap="square" anchor="t">
            <a:spAutoFit/>
          </a:bodyPr>
          <a:lstStyle/>
          <a:p>
            <a:pPr algn="l"/>
            <a:r>
              <a:rPr sz="4800" b="1" i="0">
                <a:solidFill>
                  <a:srgbClr val="FBF4E6"/>
                </a:solidFill>
                <a:latin typeface="Georgia"/>
              </a:rPr>
              <a:t>2025 Apiary Season Review</a:t>
            </a:r>
          </a:p>
        </p:txBody>
      </p:sp>
      <p:sp>
        <p:nvSpPr>
          <p:cNvPr id="7" name="TextBox 6"/>
          <p:cNvSpPr txBox="1"/>
          <p:nvPr/>
        </p:nvSpPr>
        <p:spPr>
          <a:xfrm>
            <a:off x="822960" y="4023360"/>
            <a:ext cx="10058400" cy="548640"/>
          </a:xfrm>
          <a:prstGeom prst="rect">
            <a:avLst/>
          </a:prstGeom>
          <a:noFill/>
        </p:spPr>
        <p:txBody>
          <a:bodyPr wrap="square" anchor="t">
            <a:spAutoFit/>
          </a:bodyPr>
          <a:lstStyle/>
          <a:p>
            <a:pPr algn="l"/>
            <a:r>
              <a:rPr sz="2000" b="0" i="0">
                <a:solidFill>
                  <a:srgbClr val="E0A526"/>
                </a:solidFill>
                <a:latin typeface="Georgia"/>
              </a:rPr>
              <a:t>Twelve colonies, Fox Chase, Philadelphia</a:t>
            </a:r>
          </a:p>
        </p:txBody>
      </p:sp>
      <p:sp>
        <p:nvSpPr>
          <p:cNvPr id="8" name="TextBox 7"/>
          <p:cNvSpPr txBox="1"/>
          <p:nvPr/>
        </p:nvSpPr>
        <p:spPr>
          <a:xfrm>
            <a:off x="822960" y="5943600"/>
            <a:ext cx="10058400" cy="457200"/>
          </a:xfrm>
          <a:prstGeom prst="rect">
            <a:avLst/>
          </a:prstGeom>
          <a:noFill/>
        </p:spPr>
        <p:txBody>
          <a:bodyPr wrap="square" anchor="t">
            <a:spAutoFit/>
          </a:bodyPr>
          <a:lstStyle/>
          <a:p>
            <a:pPr algn="l"/>
            <a:r>
              <a:rPr sz="1300" b="0" i="0">
                <a:solidFill>
                  <a:srgbClr val="D9C9A3"/>
                </a:solidFill>
                <a:latin typeface="Calibri"/>
              </a:rPr>
              <a:t>Brandon Kelly  |  Southeastern Pennsylvania Beekeepers Guild, member SEPBG-0461</a:t>
            </a:r>
          </a:p>
        </p:txBody>
      </p:sp>
    </p:spTree>
  </p:cSld>
  <p:clrMapOvr>
    <a:masterClrMapping/>
  </p:clrMapOvr>
  <p:transition xmlns:p14="http://schemas.microsoft.com/office/powerpoint/2010/main" spd="med" p14:dur="500">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4E6"/>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F4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640080"/>
          </a:xfrm>
          <a:prstGeom prst="rect">
            <a:avLst/>
          </a:prstGeom>
          <a:noFill/>
        </p:spPr>
        <p:txBody>
          <a:bodyPr wrap="square" anchor="t">
            <a:spAutoFit/>
          </a:bodyPr>
          <a:lstStyle/>
          <a:p>
            <a:pPr algn="l"/>
            <a:r>
              <a:rPr sz="3000" b="1" i="0">
                <a:solidFill>
                  <a:srgbClr val="FBF4E6"/>
                </a:solidFill>
                <a:latin typeface="Georgia"/>
              </a:rPr>
              <a:t>The Season at a Glance</a:t>
            </a:r>
          </a:p>
        </p:txBody>
      </p:sp>
      <p:sp>
        <p:nvSpPr>
          <p:cNvPr id="4" name="Rectangle 3"/>
          <p:cNvSpPr/>
          <p:nvPr/>
        </p:nvSpPr>
        <p:spPr>
          <a:xfrm>
            <a:off x="548640" y="173736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01952"/>
            <a:ext cx="2606040" cy="868680"/>
          </a:xfrm>
          <a:prstGeom prst="rect">
            <a:avLst/>
          </a:prstGeom>
          <a:noFill/>
        </p:spPr>
        <p:txBody>
          <a:bodyPr wrap="square" anchor="ctr">
            <a:spAutoFit/>
          </a:bodyPr>
          <a:lstStyle/>
          <a:p>
            <a:pPr algn="ctr"/>
            <a:r>
              <a:rPr sz="4000" b="1" i="0">
                <a:solidFill>
                  <a:srgbClr val="3C7A3A"/>
                </a:solidFill>
                <a:latin typeface="Calibri"/>
              </a:rPr>
              <a:t>12</a:t>
            </a:r>
          </a:p>
        </p:txBody>
      </p:sp>
      <p:sp>
        <p:nvSpPr>
          <p:cNvPr id="6" name="TextBox 5"/>
          <p:cNvSpPr txBox="1"/>
          <p:nvPr/>
        </p:nvSpPr>
        <p:spPr>
          <a:xfrm>
            <a:off x="548640" y="2761488"/>
            <a:ext cx="2606040" cy="457200"/>
          </a:xfrm>
          <a:prstGeom prst="rect">
            <a:avLst/>
          </a:prstGeom>
          <a:noFill/>
        </p:spPr>
        <p:txBody>
          <a:bodyPr wrap="square" anchor="ctr">
            <a:spAutoFit/>
          </a:bodyPr>
          <a:lstStyle/>
          <a:p>
            <a:pPr algn="ctr"/>
            <a:r>
              <a:rPr sz="1300" b="0" i="0">
                <a:solidFill>
                  <a:srgbClr val="33302A"/>
                </a:solidFill>
                <a:latin typeface="Calibri"/>
              </a:rPr>
              <a:t>Colonies wintered</a:t>
            </a:r>
          </a:p>
        </p:txBody>
      </p:sp>
      <p:sp>
        <p:nvSpPr>
          <p:cNvPr id="7" name="Rectangle 6"/>
          <p:cNvSpPr/>
          <p:nvPr/>
        </p:nvSpPr>
        <p:spPr>
          <a:xfrm>
            <a:off x="3337560" y="173736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901952"/>
            <a:ext cx="2606040" cy="868680"/>
          </a:xfrm>
          <a:prstGeom prst="rect">
            <a:avLst/>
          </a:prstGeom>
          <a:noFill/>
        </p:spPr>
        <p:txBody>
          <a:bodyPr wrap="square" anchor="ctr">
            <a:spAutoFit/>
          </a:bodyPr>
          <a:lstStyle/>
          <a:p>
            <a:pPr algn="ctr"/>
            <a:r>
              <a:rPr sz="4000" b="1" i="0">
                <a:solidFill>
                  <a:srgbClr val="C8841A"/>
                </a:solidFill>
                <a:latin typeface="Calibri"/>
              </a:rPr>
              <a:t>602</a:t>
            </a:r>
          </a:p>
        </p:txBody>
      </p:sp>
      <p:sp>
        <p:nvSpPr>
          <p:cNvPr id="9" name="TextBox 8"/>
          <p:cNvSpPr txBox="1"/>
          <p:nvPr/>
        </p:nvSpPr>
        <p:spPr>
          <a:xfrm>
            <a:off x="3337560" y="2761488"/>
            <a:ext cx="2606040" cy="457200"/>
          </a:xfrm>
          <a:prstGeom prst="rect">
            <a:avLst/>
          </a:prstGeom>
          <a:noFill/>
        </p:spPr>
        <p:txBody>
          <a:bodyPr wrap="square" anchor="ctr">
            <a:spAutoFit/>
          </a:bodyPr>
          <a:lstStyle/>
          <a:p>
            <a:pPr algn="ctr"/>
            <a:r>
              <a:rPr sz="1300" b="0" i="0">
                <a:solidFill>
                  <a:srgbClr val="33302A"/>
                </a:solidFill>
                <a:latin typeface="Calibri"/>
              </a:rPr>
              <a:t>Pounds harvested</a:t>
            </a:r>
          </a:p>
        </p:txBody>
      </p:sp>
      <p:sp>
        <p:nvSpPr>
          <p:cNvPr id="10" name="Rectangle 9"/>
          <p:cNvSpPr/>
          <p:nvPr/>
        </p:nvSpPr>
        <p:spPr>
          <a:xfrm>
            <a:off x="6126480" y="173736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901952"/>
            <a:ext cx="2606040" cy="868680"/>
          </a:xfrm>
          <a:prstGeom prst="rect">
            <a:avLst/>
          </a:prstGeom>
          <a:noFill/>
        </p:spPr>
        <p:txBody>
          <a:bodyPr wrap="square" anchor="ctr">
            <a:spAutoFit/>
          </a:bodyPr>
          <a:lstStyle/>
          <a:p>
            <a:pPr algn="ctr"/>
            <a:r>
              <a:rPr sz="4000" b="1" i="0">
                <a:solidFill>
                  <a:srgbClr val="3C7A3A"/>
                </a:solidFill>
                <a:latin typeface="Calibri"/>
              </a:rPr>
              <a:t>$7,156</a:t>
            </a:r>
          </a:p>
        </p:txBody>
      </p:sp>
      <p:sp>
        <p:nvSpPr>
          <p:cNvPr id="12" name="TextBox 11"/>
          <p:cNvSpPr txBox="1"/>
          <p:nvPr/>
        </p:nvSpPr>
        <p:spPr>
          <a:xfrm>
            <a:off x="6126480" y="2761488"/>
            <a:ext cx="2606040" cy="457200"/>
          </a:xfrm>
          <a:prstGeom prst="rect">
            <a:avLst/>
          </a:prstGeom>
          <a:noFill/>
        </p:spPr>
        <p:txBody>
          <a:bodyPr wrap="square" anchor="ctr">
            <a:spAutoFit/>
          </a:bodyPr>
          <a:lstStyle/>
          <a:p>
            <a:pPr algn="ctr"/>
            <a:r>
              <a:rPr sz="1300" b="0" i="0">
                <a:solidFill>
                  <a:srgbClr val="33302A"/>
                </a:solidFill>
                <a:latin typeface="Calibri"/>
              </a:rPr>
              <a:t>Total honey revenue</a:t>
            </a:r>
          </a:p>
        </p:txBody>
      </p:sp>
      <p:sp>
        <p:nvSpPr>
          <p:cNvPr id="13" name="Rectangle 12"/>
          <p:cNvSpPr/>
          <p:nvPr/>
        </p:nvSpPr>
        <p:spPr>
          <a:xfrm>
            <a:off x="8915400" y="1737360"/>
            <a:ext cx="269748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901952"/>
            <a:ext cx="2697480" cy="868680"/>
          </a:xfrm>
          <a:prstGeom prst="rect">
            <a:avLst/>
          </a:prstGeom>
          <a:noFill/>
        </p:spPr>
        <p:txBody>
          <a:bodyPr wrap="square" anchor="ctr">
            <a:spAutoFit/>
          </a:bodyPr>
          <a:lstStyle/>
          <a:p>
            <a:pPr algn="ctr"/>
            <a:r>
              <a:rPr sz="4000" b="1" i="0">
                <a:solidFill>
                  <a:srgbClr val="C8841A"/>
                </a:solidFill>
                <a:latin typeface="Calibri"/>
              </a:rPr>
              <a:t>2</a:t>
            </a:r>
          </a:p>
        </p:txBody>
      </p:sp>
      <p:sp>
        <p:nvSpPr>
          <p:cNvPr id="15" name="TextBox 14"/>
          <p:cNvSpPr txBox="1"/>
          <p:nvPr/>
        </p:nvSpPr>
        <p:spPr>
          <a:xfrm>
            <a:off x="8915400" y="2761488"/>
            <a:ext cx="2697480" cy="457200"/>
          </a:xfrm>
          <a:prstGeom prst="rect">
            <a:avLst/>
          </a:prstGeom>
          <a:noFill/>
        </p:spPr>
        <p:txBody>
          <a:bodyPr wrap="square" anchor="ctr">
            <a:spAutoFit/>
          </a:bodyPr>
          <a:lstStyle/>
          <a:p>
            <a:pPr algn="ctr"/>
            <a:r>
              <a:rPr sz="1300" b="0" i="0">
                <a:solidFill>
                  <a:srgbClr val="33302A"/>
                </a:solidFill>
                <a:latin typeface="Calibri"/>
              </a:rPr>
              <a:t>Extractions, spring and summer</a:t>
            </a:r>
          </a:p>
        </p:txBody>
      </p:sp>
      <p:sp>
        <p:nvSpPr>
          <p:cNvPr id="16" name="TextBox 15"/>
          <p:cNvSpPr txBox="1"/>
          <p:nvPr/>
        </p:nvSpPr>
        <p:spPr>
          <a:xfrm>
            <a:off x="548640" y="3749039"/>
            <a:ext cx="10972800" cy="2377440"/>
          </a:xfrm>
          <a:prstGeom prst="rect">
            <a:avLst/>
          </a:prstGeom>
          <a:noFill/>
        </p:spPr>
        <p:txBody>
          <a:bodyPr wrap="square" anchor="t">
            <a:spAutoFit/>
          </a:bodyPr>
          <a:lstStyle/>
          <a:p>
            <a:pPr algn="l">
              <a:lnSpc>
                <a:spcPct val="130000"/>
              </a:lnSpc>
            </a:pPr>
            <a:r>
              <a:rPr sz="1700" b="0" i="0">
                <a:solidFill>
                  <a:srgbClr val="33302A"/>
                </a:solidFill>
                <a:latin typeface="Calibri"/>
              </a:rPr>
              <a:t>Spring extraction ran late May into early June, the summer pull in August. Stores held through the cold and eleven of twelve colonies came through winter strong. The light boxes, H03, H06, and H11, carried fondant from January on. H06 runs on an old queen with a spotty pattern and is first in line to requeen or combine.</a:t>
            </a:r>
          </a:p>
        </p:txBody>
      </p:sp>
      <p:sp>
        <p:nvSpPr>
          <p:cNvPr id="17" name="Rectangle 16"/>
          <p:cNvSpPr/>
          <p:nvPr/>
        </p:nvSpPr>
        <p:spPr>
          <a:xfrm>
            <a:off x="548640" y="6309360"/>
            <a:ext cx="2926080" cy="54864"/>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spd="med" p14:dur="500">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4E6"/>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3C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640080"/>
          </a:xfrm>
          <a:prstGeom prst="rect">
            <a:avLst/>
          </a:prstGeom>
          <a:noFill/>
        </p:spPr>
        <p:txBody>
          <a:bodyPr wrap="square" anchor="t">
            <a:spAutoFit/>
          </a:bodyPr>
          <a:lstStyle/>
          <a:p>
            <a:pPr algn="l"/>
            <a:r>
              <a:rPr sz="3000" b="1" i="0">
                <a:solidFill>
                  <a:srgbClr val="FFFFFF"/>
                </a:solidFill>
                <a:latin typeface="Georgia"/>
              </a:rPr>
              <a:t>Yield by Colony, 2025</a:t>
            </a:r>
          </a:p>
        </p:txBody>
      </p:sp>
      <p:graphicFrame>
        <p:nvGraphicFramePr>
          <p:cNvPr id="4" name="Chart 3"/>
          <p:cNvGraphicFramePr>
            <a:graphicFrameLocks noGrp="1"/>
          </p:cNvGraphicFramePr>
          <p:nvPr/>
        </p:nvGraphicFramePr>
        <p:xfrm>
          <a:off x="548640" y="1417320"/>
          <a:ext cx="11064240" cy="4023360"/>
        </p:xfrm>
        <a:graphic>
          <a:graphicData uri="http://schemas.openxmlformats.org/drawingml/2006/chart">
            <c:chart xmlns:c="http://schemas.openxmlformats.org/drawingml/2006/chart" r:id="rId2"/>
          </a:graphicData>
        </a:graphic>
      </p:graphicFrame>
      <p:sp>
        <p:nvSpPr>
          <p:cNvPr id="5" name="TextBox 4"/>
          <p:cNvSpPr txBox="1"/>
          <p:nvPr/>
        </p:nvSpPr>
        <p:spPr>
          <a:xfrm>
            <a:off x="548640" y="5669280"/>
            <a:ext cx="10972800" cy="822960"/>
          </a:xfrm>
          <a:prstGeom prst="rect">
            <a:avLst/>
          </a:prstGeom>
          <a:noFill/>
        </p:spPr>
        <p:txBody>
          <a:bodyPr wrap="square" anchor="t">
            <a:spAutoFit/>
          </a:bodyPr>
          <a:lstStyle/>
          <a:p>
            <a:pPr algn="l"/>
            <a:r>
              <a:rPr sz="1500" b="0" i="1">
                <a:solidFill>
                  <a:srgbClr val="33302A"/>
                </a:solidFill>
                <a:latin typeface="Calibri"/>
              </a:rPr>
              <a:t>H07 leads the row again and is the source for spring splits. H06 and H11 trail and need attention before the flow.</a:t>
            </a:r>
          </a:p>
        </p:txBody>
      </p:sp>
    </p:spTree>
  </p:cSld>
  <p:clrMapOvr>
    <a:masterClrMapping/>
  </p:clrMapOvr>
  <p:transition xmlns:p14="http://schemas.microsoft.com/office/powerpoint/2010/main" spd="med" p14:dur="500">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4E6"/>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F4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640080"/>
          </a:xfrm>
          <a:prstGeom prst="rect">
            <a:avLst/>
          </a:prstGeom>
          <a:noFill/>
        </p:spPr>
        <p:txBody>
          <a:bodyPr wrap="square" anchor="t">
            <a:spAutoFit/>
          </a:bodyPr>
          <a:lstStyle/>
          <a:p>
            <a:pPr algn="l"/>
            <a:r>
              <a:rPr sz="3000" b="1" i="0">
                <a:solidFill>
                  <a:srgbClr val="FBF4E6"/>
                </a:solidFill>
                <a:latin typeface="Georgia"/>
              </a:rPr>
              <a:t>Where the Honey Sold</a:t>
            </a:r>
          </a:p>
        </p:txBody>
      </p:sp>
      <p:graphicFrame>
        <p:nvGraphicFramePr>
          <p:cNvPr id="4" name="Chart 3"/>
          <p:cNvGraphicFramePr>
            <a:graphicFrameLocks noGrp="1"/>
          </p:cNvGraphicFramePr>
          <p:nvPr/>
        </p:nvGraphicFramePr>
        <p:xfrm>
          <a:off x="548640" y="1463040"/>
          <a:ext cx="6035040" cy="4572000"/>
        </p:xfrm>
        <a:graphic>
          <a:graphicData uri="http://schemas.openxmlformats.org/drawingml/2006/chart">
            <c:chart xmlns:c="http://schemas.openxmlformats.org/drawingml/2006/chart" r:id="rId2"/>
          </a:graphicData>
        </a:graphic>
      </p:graphicFrame>
      <p:sp>
        <p:nvSpPr>
          <p:cNvPr id="5" name="TextBox 4"/>
          <p:cNvSpPr txBox="1"/>
          <p:nvPr/>
        </p:nvSpPr>
        <p:spPr>
          <a:xfrm>
            <a:off x="6949440" y="1737360"/>
            <a:ext cx="4754880" cy="548640"/>
          </a:xfrm>
          <a:prstGeom prst="rect">
            <a:avLst/>
          </a:prstGeom>
          <a:noFill/>
        </p:spPr>
        <p:txBody>
          <a:bodyPr wrap="square" anchor="t">
            <a:spAutoFit/>
          </a:bodyPr>
          <a:lstStyle/>
          <a:p>
            <a:pPr algn="l"/>
            <a:r>
              <a:rPr sz="2000" b="1" i="0">
                <a:solidFill>
                  <a:srgbClr val="2F4A2C"/>
                </a:solidFill>
                <a:latin typeface="Georgia"/>
              </a:rPr>
              <a:t>Saturdays carry the season</a:t>
            </a:r>
          </a:p>
        </p:txBody>
      </p:sp>
      <p:sp>
        <p:nvSpPr>
          <p:cNvPr id="6" name="Rectangle 5"/>
          <p:cNvSpPr/>
          <p:nvPr/>
        </p:nvSpPr>
        <p:spPr>
          <a:xfrm>
            <a:off x="6949440" y="2560320"/>
            <a:ext cx="146304" cy="54864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69480" y="2514600"/>
            <a:ext cx="4206240" cy="365760"/>
          </a:xfrm>
          <a:prstGeom prst="rect">
            <a:avLst/>
          </a:prstGeom>
          <a:noFill/>
        </p:spPr>
        <p:txBody>
          <a:bodyPr wrap="square" anchor="t">
            <a:spAutoFit/>
          </a:bodyPr>
          <a:lstStyle/>
          <a:p>
            <a:pPr algn="l"/>
            <a:r>
              <a:rPr sz="1500" b="1" i="0">
                <a:solidFill>
                  <a:srgbClr val="33302A"/>
                </a:solidFill>
                <a:latin typeface="Calibri"/>
              </a:rPr>
              <a:t>Briarwood Farmers Market</a:t>
            </a:r>
          </a:p>
        </p:txBody>
      </p:sp>
      <p:sp>
        <p:nvSpPr>
          <p:cNvPr id="8" name="TextBox 7"/>
          <p:cNvSpPr txBox="1"/>
          <p:nvPr/>
        </p:nvSpPr>
        <p:spPr>
          <a:xfrm>
            <a:off x="7269480" y="2852928"/>
            <a:ext cx="4206240" cy="365760"/>
          </a:xfrm>
          <a:prstGeom prst="rect">
            <a:avLst/>
          </a:prstGeom>
          <a:noFill/>
        </p:spPr>
        <p:txBody>
          <a:bodyPr wrap="square" anchor="t">
            <a:spAutoFit/>
          </a:bodyPr>
          <a:lstStyle/>
          <a:p>
            <a:pPr algn="l"/>
            <a:r>
              <a:rPr sz="1400" b="0" i="0">
                <a:solidFill>
                  <a:srgbClr val="C8841A"/>
                </a:solidFill>
                <a:latin typeface="Calibri"/>
              </a:rPr>
              <a:t>$4,816</a:t>
            </a:r>
          </a:p>
        </p:txBody>
      </p:sp>
      <p:sp>
        <p:nvSpPr>
          <p:cNvPr id="9" name="Rectangle 8"/>
          <p:cNvSpPr/>
          <p:nvPr/>
        </p:nvSpPr>
        <p:spPr>
          <a:xfrm>
            <a:off x="6949440" y="3429000"/>
            <a:ext cx="146304" cy="548640"/>
          </a:xfrm>
          <a:prstGeom prst="rect">
            <a:avLst/>
          </a:prstGeom>
          <a:solidFill>
            <a:srgbClr val="3C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3383280"/>
            <a:ext cx="4206240" cy="365760"/>
          </a:xfrm>
          <a:prstGeom prst="rect">
            <a:avLst/>
          </a:prstGeom>
          <a:noFill/>
        </p:spPr>
        <p:txBody>
          <a:bodyPr wrap="square" anchor="t">
            <a:spAutoFit/>
          </a:bodyPr>
          <a:lstStyle/>
          <a:p>
            <a:pPr algn="l"/>
            <a:r>
              <a:rPr sz="1500" b="1" i="0">
                <a:solidFill>
                  <a:srgbClr val="33302A"/>
                </a:solidFill>
                <a:latin typeface="Calibri"/>
              </a:rPr>
              <a:t>Cedarbrook General Store</a:t>
            </a:r>
          </a:p>
        </p:txBody>
      </p:sp>
      <p:sp>
        <p:nvSpPr>
          <p:cNvPr id="11" name="TextBox 10"/>
          <p:cNvSpPr txBox="1"/>
          <p:nvPr/>
        </p:nvSpPr>
        <p:spPr>
          <a:xfrm>
            <a:off x="7269480" y="3721608"/>
            <a:ext cx="4206240" cy="365760"/>
          </a:xfrm>
          <a:prstGeom prst="rect">
            <a:avLst/>
          </a:prstGeom>
          <a:noFill/>
        </p:spPr>
        <p:txBody>
          <a:bodyPr wrap="square" anchor="t">
            <a:spAutoFit/>
          </a:bodyPr>
          <a:lstStyle/>
          <a:p>
            <a:pPr algn="l"/>
            <a:r>
              <a:rPr sz="1400" b="0" i="0">
                <a:solidFill>
                  <a:srgbClr val="C8841A"/>
                </a:solidFill>
                <a:latin typeface="Calibri"/>
              </a:rPr>
              <a:t>$1,360</a:t>
            </a:r>
          </a:p>
        </p:txBody>
      </p:sp>
      <p:sp>
        <p:nvSpPr>
          <p:cNvPr id="12" name="Rectangle 11"/>
          <p:cNvSpPr/>
          <p:nvPr/>
        </p:nvSpPr>
        <p:spPr>
          <a:xfrm>
            <a:off x="6949440" y="4297679"/>
            <a:ext cx="146304" cy="548640"/>
          </a:xfrm>
          <a:prstGeom prst="rect">
            <a:avLst/>
          </a:prstGeom>
          <a:solidFill>
            <a:srgbClr val="2F4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4251959"/>
            <a:ext cx="4206240" cy="365760"/>
          </a:xfrm>
          <a:prstGeom prst="rect">
            <a:avLst/>
          </a:prstGeom>
          <a:noFill/>
        </p:spPr>
        <p:txBody>
          <a:bodyPr wrap="square" anchor="t">
            <a:spAutoFit/>
          </a:bodyPr>
          <a:lstStyle/>
          <a:p>
            <a:pPr algn="l"/>
            <a:r>
              <a:rPr sz="1500" b="1" i="0">
                <a:solidFill>
                  <a:srgbClr val="33302A"/>
                </a:solidFill>
                <a:latin typeface="Calibri"/>
              </a:rPr>
              <a:t>Ridgemont Co-op</a:t>
            </a:r>
          </a:p>
        </p:txBody>
      </p:sp>
      <p:sp>
        <p:nvSpPr>
          <p:cNvPr id="14" name="TextBox 13"/>
          <p:cNvSpPr txBox="1"/>
          <p:nvPr/>
        </p:nvSpPr>
        <p:spPr>
          <a:xfrm>
            <a:off x="7269480" y="4590287"/>
            <a:ext cx="4206240" cy="365760"/>
          </a:xfrm>
          <a:prstGeom prst="rect">
            <a:avLst/>
          </a:prstGeom>
          <a:noFill/>
        </p:spPr>
        <p:txBody>
          <a:bodyPr wrap="square" anchor="t">
            <a:spAutoFit/>
          </a:bodyPr>
          <a:lstStyle/>
          <a:p>
            <a:pPr algn="l"/>
            <a:r>
              <a:rPr sz="1400" b="0" i="0">
                <a:solidFill>
                  <a:srgbClr val="C8841A"/>
                </a:solidFill>
                <a:latin typeface="Calibri"/>
              </a:rPr>
              <a:t>$980</a:t>
            </a:r>
          </a:p>
        </p:txBody>
      </p:sp>
      <p:sp>
        <p:nvSpPr>
          <p:cNvPr id="15" name="TextBox 14"/>
          <p:cNvSpPr txBox="1"/>
          <p:nvPr/>
        </p:nvSpPr>
        <p:spPr>
          <a:xfrm>
            <a:off x="6949440" y="5303520"/>
            <a:ext cx="4754880" cy="1097280"/>
          </a:xfrm>
          <a:prstGeom prst="rect">
            <a:avLst/>
          </a:prstGeom>
          <a:noFill/>
        </p:spPr>
        <p:txBody>
          <a:bodyPr wrap="square" anchor="t">
            <a:spAutoFit/>
          </a:bodyPr>
          <a:lstStyle/>
          <a:p>
            <a:pPr algn="l"/>
            <a:r>
              <a:rPr sz="1400" b="0" i="1">
                <a:solidFill>
                  <a:srgbClr val="33302A"/>
                </a:solidFill>
                <a:latin typeface="Calibri"/>
              </a:rPr>
              <a:t>The market is the heart of it. The wholesale accounts keep the slow weeks even.</a:t>
            </a:r>
          </a:p>
        </p:txBody>
      </p:sp>
    </p:spTree>
  </p:cSld>
  <p:clrMapOvr>
    <a:masterClrMapping/>
  </p:clrMapOvr>
  <p:transition xmlns:p14="http://schemas.microsoft.com/office/powerpoint/2010/main" spd="med" p14:dur="500">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F4A2C"/>
        </a:solidFill>
        <a:effectLst/>
      </p:bgPr>
    </p:bg>
    <p:spTree>
      <p:nvGrpSpPr>
        <p:cNvPr id="1" name=""/>
        <p:cNvGrpSpPr/>
        <p:nvPr/>
      </p:nvGrpSpPr>
      <p:grpSpPr/>
      <p:sp>
        <p:nvSpPr>
          <p:cNvPr id="2" name="TextBox 1"/>
          <p:cNvSpPr txBox="1"/>
          <p:nvPr/>
        </p:nvSpPr>
        <p:spPr>
          <a:xfrm>
            <a:off x="548640" y="411480"/>
            <a:ext cx="10058400" cy="731520"/>
          </a:xfrm>
          <a:prstGeom prst="rect">
            <a:avLst/>
          </a:prstGeom>
          <a:noFill/>
        </p:spPr>
        <p:txBody>
          <a:bodyPr wrap="square" anchor="t">
            <a:spAutoFit/>
          </a:bodyPr>
          <a:lstStyle/>
          <a:p>
            <a:pPr algn="l"/>
            <a:r>
              <a:rPr sz="3200" b="1" i="0">
                <a:solidFill>
                  <a:srgbClr val="FBF4E6"/>
                </a:solidFill>
                <a:latin typeface="Georgia"/>
              </a:rPr>
              <a:t>The Plan for 2026</a:t>
            </a:r>
          </a:p>
        </p:txBody>
      </p:sp>
      <p:sp>
        <p:nvSpPr>
          <p:cNvPr id="3" name="Rectangle 2"/>
          <p:cNvSpPr/>
          <p:nvPr/>
        </p:nvSpPr>
        <p:spPr>
          <a:xfrm>
            <a:off x="548640" y="1234440"/>
            <a:ext cx="2377440" cy="6400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548640" y="1691640"/>
            <a:ext cx="457200" cy="457200"/>
          </a:xfrm>
          <a:prstGeom prst="hexag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746504"/>
            <a:ext cx="365760" cy="365760"/>
          </a:xfrm>
          <a:prstGeom prst="rect">
            <a:avLst/>
          </a:prstGeom>
          <a:noFill/>
        </p:spPr>
        <p:txBody>
          <a:bodyPr wrap="square" anchor="t">
            <a:spAutoFit/>
          </a:bodyPr>
          <a:lstStyle/>
          <a:p>
            <a:pPr algn="ctr"/>
            <a:r>
              <a:rPr sz="1600" b="1" i="0">
                <a:solidFill>
                  <a:srgbClr val="2F4A2C"/>
                </a:solidFill>
                <a:latin typeface="Calibri"/>
              </a:rPr>
              <a:t>1</a:t>
            </a:r>
          </a:p>
        </p:txBody>
      </p:sp>
      <p:sp>
        <p:nvSpPr>
          <p:cNvPr id="6" name="TextBox 5"/>
          <p:cNvSpPr txBox="1"/>
          <p:nvPr/>
        </p:nvSpPr>
        <p:spPr>
          <a:xfrm>
            <a:off x="1234440" y="1645920"/>
            <a:ext cx="10058400" cy="411480"/>
          </a:xfrm>
          <a:prstGeom prst="rect">
            <a:avLst/>
          </a:prstGeom>
          <a:noFill/>
        </p:spPr>
        <p:txBody>
          <a:bodyPr wrap="square" anchor="t">
            <a:spAutoFit/>
          </a:bodyPr>
          <a:lstStyle/>
          <a:p>
            <a:pPr algn="l"/>
            <a:r>
              <a:rPr sz="1800" b="1" i="0">
                <a:solidFill>
                  <a:srgbClr val="E0A526"/>
                </a:solidFill>
                <a:latin typeface="Calibri"/>
              </a:rPr>
              <a:t>Requeen or combine H06</a:t>
            </a:r>
          </a:p>
        </p:txBody>
      </p:sp>
      <p:sp>
        <p:nvSpPr>
          <p:cNvPr id="7" name="TextBox 6"/>
          <p:cNvSpPr txBox="1"/>
          <p:nvPr/>
        </p:nvSpPr>
        <p:spPr>
          <a:xfrm>
            <a:off x="1234440" y="2039112"/>
            <a:ext cx="10241280" cy="457200"/>
          </a:xfrm>
          <a:prstGeom prst="rect">
            <a:avLst/>
          </a:prstGeom>
          <a:noFill/>
        </p:spPr>
        <p:txBody>
          <a:bodyPr wrap="square" anchor="t">
            <a:spAutoFit/>
          </a:bodyPr>
          <a:lstStyle/>
          <a:p>
            <a:pPr algn="l"/>
            <a:r>
              <a:rPr sz="1350" b="0" i="0">
                <a:solidFill>
                  <a:srgbClr val="E4DAC2"/>
                </a:solidFill>
                <a:latin typeface="Calibri"/>
              </a:rPr>
              <a:t>Old queen, spotty fall pattern. Do it early, before the first strong flow.</a:t>
            </a:r>
          </a:p>
        </p:txBody>
      </p:sp>
      <p:sp>
        <p:nvSpPr>
          <p:cNvPr id="8" name="Hexagon 7"/>
          <p:cNvSpPr/>
          <p:nvPr/>
        </p:nvSpPr>
        <p:spPr>
          <a:xfrm>
            <a:off x="548640" y="2624328"/>
            <a:ext cx="457200" cy="457200"/>
          </a:xfrm>
          <a:prstGeom prst="hexag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679192"/>
            <a:ext cx="365760" cy="365760"/>
          </a:xfrm>
          <a:prstGeom prst="rect">
            <a:avLst/>
          </a:prstGeom>
          <a:noFill/>
        </p:spPr>
        <p:txBody>
          <a:bodyPr wrap="square" anchor="t">
            <a:spAutoFit/>
          </a:bodyPr>
          <a:lstStyle/>
          <a:p>
            <a:pPr algn="ctr"/>
            <a:r>
              <a:rPr sz="1600" b="1" i="0">
                <a:solidFill>
                  <a:srgbClr val="2F4A2C"/>
                </a:solidFill>
                <a:latin typeface="Calibri"/>
              </a:rPr>
              <a:t>2</a:t>
            </a:r>
          </a:p>
        </p:txBody>
      </p:sp>
      <p:sp>
        <p:nvSpPr>
          <p:cNvPr id="10" name="TextBox 9"/>
          <p:cNvSpPr txBox="1"/>
          <p:nvPr/>
        </p:nvSpPr>
        <p:spPr>
          <a:xfrm>
            <a:off x="1234440" y="2578608"/>
            <a:ext cx="10058400" cy="411480"/>
          </a:xfrm>
          <a:prstGeom prst="rect">
            <a:avLst/>
          </a:prstGeom>
          <a:noFill/>
        </p:spPr>
        <p:txBody>
          <a:bodyPr wrap="square" anchor="t">
            <a:spAutoFit/>
          </a:bodyPr>
          <a:lstStyle/>
          <a:p>
            <a:pPr algn="l"/>
            <a:r>
              <a:rPr sz="1800" b="1" i="0">
                <a:solidFill>
                  <a:srgbClr val="E0A526"/>
                </a:solidFill>
                <a:latin typeface="Calibri"/>
              </a:rPr>
              <a:t>Splits from H07</a:t>
            </a:r>
          </a:p>
        </p:txBody>
      </p:sp>
      <p:sp>
        <p:nvSpPr>
          <p:cNvPr id="11" name="TextBox 10"/>
          <p:cNvSpPr txBox="1"/>
          <p:nvPr/>
        </p:nvSpPr>
        <p:spPr>
          <a:xfrm>
            <a:off x="1234440" y="2971800"/>
            <a:ext cx="10241280" cy="457200"/>
          </a:xfrm>
          <a:prstGeom prst="rect">
            <a:avLst/>
          </a:prstGeom>
          <a:noFill/>
        </p:spPr>
        <p:txBody>
          <a:bodyPr wrap="square" anchor="t">
            <a:spAutoFit/>
          </a:bodyPr>
          <a:lstStyle/>
          <a:p>
            <a:pPr algn="l"/>
            <a:r>
              <a:rPr sz="1350" b="0" i="0">
                <a:solidFill>
                  <a:srgbClr val="E4DAC2"/>
                </a:solidFill>
                <a:latin typeface="Calibri"/>
              </a:rPr>
              <a:t>The strongest colony carries the new stock. Two splits planned.</a:t>
            </a:r>
          </a:p>
        </p:txBody>
      </p:sp>
      <p:sp>
        <p:nvSpPr>
          <p:cNvPr id="12" name="Hexagon 11"/>
          <p:cNvSpPr/>
          <p:nvPr/>
        </p:nvSpPr>
        <p:spPr>
          <a:xfrm>
            <a:off x="548640" y="3557016"/>
            <a:ext cx="457200" cy="457200"/>
          </a:xfrm>
          <a:prstGeom prst="hexag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611880"/>
            <a:ext cx="365760" cy="365760"/>
          </a:xfrm>
          <a:prstGeom prst="rect">
            <a:avLst/>
          </a:prstGeom>
          <a:noFill/>
        </p:spPr>
        <p:txBody>
          <a:bodyPr wrap="square" anchor="t">
            <a:spAutoFit/>
          </a:bodyPr>
          <a:lstStyle/>
          <a:p>
            <a:pPr algn="ctr"/>
            <a:r>
              <a:rPr sz="1600" b="1" i="0">
                <a:solidFill>
                  <a:srgbClr val="2F4A2C"/>
                </a:solidFill>
                <a:latin typeface="Calibri"/>
              </a:rPr>
              <a:t>3</a:t>
            </a:r>
          </a:p>
        </p:txBody>
      </p:sp>
      <p:sp>
        <p:nvSpPr>
          <p:cNvPr id="14" name="TextBox 13"/>
          <p:cNvSpPr txBox="1"/>
          <p:nvPr/>
        </p:nvSpPr>
        <p:spPr>
          <a:xfrm>
            <a:off x="1234440" y="3511296"/>
            <a:ext cx="10058400" cy="411480"/>
          </a:xfrm>
          <a:prstGeom prst="rect">
            <a:avLst/>
          </a:prstGeom>
          <a:noFill/>
        </p:spPr>
        <p:txBody>
          <a:bodyPr wrap="square" anchor="t">
            <a:spAutoFit/>
          </a:bodyPr>
          <a:lstStyle/>
          <a:p>
            <a:pPr algn="l"/>
            <a:r>
              <a:rPr sz="1800" b="1" i="0">
                <a:solidFill>
                  <a:srgbClr val="E0A526"/>
                </a:solidFill>
                <a:latin typeface="Calibri"/>
              </a:rPr>
              <a:t>Build ahead</a:t>
            </a:r>
          </a:p>
        </p:txBody>
      </p:sp>
      <p:sp>
        <p:nvSpPr>
          <p:cNvPr id="15" name="TextBox 14"/>
          <p:cNvSpPr txBox="1"/>
          <p:nvPr/>
        </p:nvSpPr>
        <p:spPr>
          <a:xfrm>
            <a:off x="1234440" y="3904488"/>
            <a:ext cx="10241280" cy="457200"/>
          </a:xfrm>
          <a:prstGeom prst="rect">
            <a:avLst/>
          </a:prstGeom>
          <a:noFill/>
        </p:spPr>
        <p:txBody>
          <a:bodyPr wrap="square" anchor="t">
            <a:spAutoFit/>
          </a:bodyPr>
          <a:lstStyle/>
          <a:p>
            <a:pPr algn="l"/>
            <a:r>
              <a:rPr sz="1350" b="0" i="0">
                <a:solidFill>
                  <a:srgbClr val="E4DAC2"/>
                </a:solidFill>
                <a:latin typeface="Calibri"/>
              </a:rPr>
              <a:t>Ten deep bodies and forty medium frames already cut so equipment is not the bottleneck.</a:t>
            </a:r>
          </a:p>
        </p:txBody>
      </p:sp>
      <p:sp>
        <p:nvSpPr>
          <p:cNvPr id="16" name="Hexagon 15"/>
          <p:cNvSpPr/>
          <p:nvPr/>
        </p:nvSpPr>
        <p:spPr>
          <a:xfrm>
            <a:off x="548640" y="4489704"/>
            <a:ext cx="457200" cy="457200"/>
          </a:xfrm>
          <a:prstGeom prst="hexag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544568"/>
            <a:ext cx="365760" cy="365760"/>
          </a:xfrm>
          <a:prstGeom prst="rect">
            <a:avLst/>
          </a:prstGeom>
          <a:noFill/>
        </p:spPr>
        <p:txBody>
          <a:bodyPr wrap="square" anchor="t">
            <a:spAutoFit/>
          </a:bodyPr>
          <a:lstStyle/>
          <a:p>
            <a:pPr algn="ctr"/>
            <a:r>
              <a:rPr sz="1600" b="1" i="0">
                <a:solidFill>
                  <a:srgbClr val="2F4A2C"/>
                </a:solidFill>
                <a:latin typeface="Calibri"/>
              </a:rPr>
              <a:t>4</a:t>
            </a:r>
          </a:p>
        </p:txBody>
      </p:sp>
      <p:sp>
        <p:nvSpPr>
          <p:cNvPr id="18" name="TextBox 17"/>
          <p:cNvSpPr txBox="1"/>
          <p:nvPr/>
        </p:nvSpPr>
        <p:spPr>
          <a:xfrm>
            <a:off x="1234440" y="4443984"/>
            <a:ext cx="10058400" cy="411480"/>
          </a:xfrm>
          <a:prstGeom prst="rect">
            <a:avLst/>
          </a:prstGeom>
          <a:noFill/>
        </p:spPr>
        <p:txBody>
          <a:bodyPr wrap="square" anchor="t">
            <a:spAutoFit/>
          </a:bodyPr>
          <a:lstStyle/>
          <a:p>
            <a:pPr algn="l"/>
            <a:r>
              <a:rPr sz="1800" b="1" i="0">
                <a:solidFill>
                  <a:srgbClr val="E0A526"/>
                </a:solidFill>
                <a:latin typeface="Calibri"/>
              </a:rPr>
              <a:t>Order packages early</a:t>
            </a:r>
          </a:p>
        </p:txBody>
      </p:sp>
      <p:sp>
        <p:nvSpPr>
          <p:cNvPr id="19" name="TextBox 18"/>
          <p:cNvSpPr txBox="1"/>
          <p:nvPr/>
        </p:nvSpPr>
        <p:spPr>
          <a:xfrm>
            <a:off x="1234440" y="4837176"/>
            <a:ext cx="10241280" cy="457200"/>
          </a:xfrm>
          <a:prstGeom prst="rect">
            <a:avLst/>
          </a:prstGeom>
          <a:noFill/>
        </p:spPr>
        <p:txBody>
          <a:bodyPr wrap="square" anchor="t">
            <a:spAutoFit/>
          </a:bodyPr>
          <a:lstStyle/>
          <a:p>
            <a:pPr algn="l"/>
            <a:r>
              <a:rPr sz="1350" b="0" i="0">
                <a:solidFill>
                  <a:srgbClr val="E4DAC2"/>
                </a:solidFill>
                <a:latin typeface="Calibri"/>
              </a:rPr>
              <a:t>A spare queen or two before the suppliers sell out.</a:t>
            </a:r>
          </a:p>
        </p:txBody>
      </p:sp>
      <p:sp>
        <p:nvSpPr>
          <p:cNvPr id="20" name="Hexagon 19"/>
          <p:cNvSpPr/>
          <p:nvPr/>
        </p:nvSpPr>
        <p:spPr>
          <a:xfrm>
            <a:off x="548640" y="5422392"/>
            <a:ext cx="457200" cy="457200"/>
          </a:xfrm>
          <a:prstGeom prst="hexag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5477256"/>
            <a:ext cx="365760" cy="365760"/>
          </a:xfrm>
          <a:prstGeom prst="rect">
            <a:avLst/>
          </a:prstGeom>
          <a:noFill/>
        </p:spPr>
        <p:txBody>
          <a:bodyPr wrap="square" anchor="t">
            <a:spAutoFit/>
          </a:bodyPr>
          <a:lstStyle/>
          <a:p>
            <a:pPr algn="ctr"/>
            <a:r>
              <a:rPr sz="1600" b="1" i="0">
                <a:solidFill>
                  <a:srgbClr val="2F4A2C"/>
                </a:solidFill>
                <a:latin typeface="Calibri"/>
              </a:rPr>
              <a:t>5</a:t>
            </a:r>
          </a:p>
        </p:txBody>
      </p:sp>
      <p:sp>
        <p:nvSpPr>
          <p:cNvPr id="22" name="TextBox 21"/>
          <p:cNvSpPr txBox="1"/>
          <p:nvPr/>
        </p:nvSpPr>
        <p:spPr>
          <a:xfrm>
            <a:off x="1234440" y="5376672"/>
            <a:ext cx="10058400" cy="411480"/>
          </a:xfrm>
          <a:prstGeom prst="rect">
            <a:avLst/>
          </a:prstGeom>
          <a:noFill/>
        </p:spPr>
        <p:txBody>
          <a:bodyPr wrap="square" anchor="t">
            <a:spAutoFit/>
          </a:bodyPr>
          <a:lstStyle/>
          <a:p>
            <a:pPr algn="l"/>
            <a:r>
              <a:rPr sz="1800" b="1" i="0">
                <a:solidFill>
                  <a:srgbClr val="E0A526"/>
                </a:solidFill>
                <a:latin typeface="Calibri"/>
              </a:rPr>
              <a:t>Hold the market table</a:t>
            </a:r>
          </a:p>
        </p:txBody>
      </p:sp>
      <p:sp>
        <p:nvSpPr>
          <p:cNvPr id="23" name="TextBox 22"/>
          <p:cNvSpPr txBox="1"/>
          <p:nvPr/>
        </p:nvSpPr>
        <p:spPr>
          <a:xfrm>
            <a:off x="1234440" y="5769864"/>
            <a:ext cx="10241280" cy="457200"/>
          </a:xfrm>
          <a:prstGeom prst="rect">
            <a:avLst/>
          </a:prstGeom>
          <a:noFill/>
        </p:spPr>
        <p:txBody>
          <a:bodyPr wrap="square" anchor="t">
            <a:spAutoFit/>
          </a:bodyPr>
          <a:lstStyle/>
          <a:p>
            <a:pPr algn="l"/>
            <a:r>
              <a:rPr sz="1350" b="0" i="0">
                <a:solidFill>
                  <a:srgbClr val="E4DAC2"/>
                </a:solidFill>
                <a:latin typeface="Calibri"/>
              </a:rPr>
              <a:t>Section B, table 14, full season paid in advance again.</a:t>
            </a:r>
          </a:p>
        </p:txBody>
      </p:sp>
    </p:spTree>
  </p:cSld>
  <p:clrMapOvr>
    <a:masterClrMapping/>
  </p:clrMapOvr>
  <p:transition xmlns:p14="http://schemas.microsoft.com/office/powerpoint/2010/main" spd="med"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