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thousands</c:v>
                </c:pt>
              </c:strCache>
            </c:strRef>
          </c:tx>
          <c:spPr>
            <a:solidFill>
              <a:srgbClr val="2DD4BF"/>
            </a:solidFill>
            <a:ln>
              <a:solidFill>
                <a:srgbClr val="2DD4BF"/>
              </a:solidFill>
            </a:ln>
          </c:spPr>
          <c:cat>
            <c:strRef>
              <c:f>Sheet1!$A$2:$A$6</c:f>
              <c:strCache>
                <c:ptCount val="5"/>
                <c:pt idx="0">
                  <c:v>Construction</c:v>
                </c:pt>
                <c:pt idx="1">
                  <c:v>Force plate</c:v>
                </c:pt>
                <c:pt idx="2">
                  <c:v>AlterG</c:v>
                </c:pt>
                <c:pt idx="3">
                  <c:v>VALD hub</c:v>
                </c:pt>
                <c:pt idx="4">
                  <c:v>NordBord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45.5</c:v>
                </c:pt>
                <c:pt idx="1">
                  <c:v>18</c:v>
                </c:pt>
                <c:pt idx="2">
                  <c:v>35</c:v>
                </c:pt>
                <c:pt idx="3">
                  <c:v>12</c:v>
                </c:pt>
                <c:pt idx="4">
                  <c:v>9.5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7F0"/>
            </a:solidFill>
          </a:ln>
        </c:spPr>
        <c:txPr>
          <a:bodyPr/>
          <a:lstStyle/>
          <a:p>
            <a:pPr>
              <a:defRPr sz="1000">
                <a:solidFill>
                  <a:srgbClr val="DCE7F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DCE7F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DCE7F0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4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219456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</a:rPr>
              <a:t>PEAK PERFORMANCE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Sports Performance Lab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DCE7F0"/>
                </a:solidFill>
                <a:latin typeface="Segoe UI"/>
              </a:rPr>
              <a:t>Buildout Status and Launch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996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B4CE"/>
                </a:solidFill>
                <a:latin typeface="Segoe UI"/>
              </a:rPr>
              <a:t>Owner review, prepared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Budget and Schedule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2606040" cy="1554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2578608"/>
            <a:ext cx="73152" cy="11521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$120,000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DB4CE"/>
                </a:solidFill>
                <a:latin typeface="Segoe UI"/>
              </a:rPr>
              <a:t>Total project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377440"/>
            <a:ext cx="2606040" cy="1554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76472" y="2578608"/>
            <a:ext cx="73152" cy="11521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92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$52,000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DB4CE"/>
                </a:solidFill>
                <a:latin typeface="Segoe UI"/>
              </a:rPr>
              <a:t>Spent to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377440"/>
            <a:ext cx="2606040" cy="1554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1112" y="2578608"/>
            <a:ext cx="73152" cy="11521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$68,000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DB4CE"/>
                </a:solidFill>
                <a:latin typeface="Segoe UI"/>
              </a:rPr>
              <a:t>Remaining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377440"/>
            <a:ext cx="2103120" cy="1554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45752" y="2578608"/>
            <a:ext cx="73152" cy="11521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8" y="2542032"/>
            <a:ext cx="16459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2DD4BF"/>
                </a:solidFill>
                <a:latin typeface="Segoe UI"/>
              </a:rPr>
              <a:t>October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8" y="3364991"/>
            <a:ext cx="164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DB4CE"/>
                </a:solidFill>
                <a:latin typeface="Segoe UI"/>
              </a:rPr>
              <a:t>Target opening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DD4BF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DCE7F0"/>
                </a:solidFill>
                <a:latin typeface="Segoe UI"/>
              </a:rPr>
              <a:t>  Capital project tracked separately from clinic operating figures</a:t>
            </a:r>
          </a:p>
          <a:p>
            <a:pPr>
              <a:buClr>
                <a:srgbClr val="2DD4BF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DCE7F0"/>
                </a:solidFill>
                <a:latin typeface="Segoe UI"/>
              </a:rPr>
              <a:t>  Demolition of the old storage suite complete, framing underway</a:t>
            </a:r>
          </a:p>
          <a:p>
            <a:pPr>
              <a:buClr>
                <a:srgbClr val="2DD4BF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DCE7F0"/>
                </a:solidFill>
                <a:latin typeface="Segoe UI"/>
              </a:rPr>
              <a:t>  Flooring locked, a poured rubber surface rated for the plate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DB4CE"/>
                </a:solidFill>
                <a:latin typeface="Segoe UI"/>
              </a:rPr>
              <a:t>Peak Performance PT | Performance Lab Buildout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Testing Equipment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86000"/>
          <a:ext cx="106070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marL="91440" marR="73152" marT="36576" marB="36576" anchor="ctr">
                    <a:solidFill>
                      <a:srgbClr val="1430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Vendor</a:t>
                      </a:r>
                    </a:p>
                  </a:txBody>
                  <a:tcPr marL="91440" marR="73152" marT="36576" marB="36576" anchor="ctr">
                    <a:solidFill>
                      <a:srgbClr val="1430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Quote USD</a:t>
                      </a:r>
                    </a:p>
                  </a:txBody>
                  <a:tcPr marL="91440" marR="73152" marT="36576" marB="36576" anchor="ctr">
                    <a:solidFill>
                      <a:srgbClr val="1430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91440" marR="73152" marT="36576" marB="36576" anchor="ctr">
                    <a:solidFill>
                      <a:srgbClr val="14305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Force plate system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VALD Performance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18,000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Approved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Hamstring testing, NordBord</a:t>
                      </a:r>
                    </a:p>
                  </a:txBody>
                  <a:tcPr marL="91440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VALD Performance</a:t>
                      </a:r>
                    </a:p>
                  </a:txBody>
                  <a:tcPr marL="91440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9,500</a:t>
                      </a:r>
                    </a:p>
                  </a:txBody>
                  <a:tcPr marL="91440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Approved</a:t>
                      </a:r>
                    </a:p>
                  </a:txBody>
                  <a:tcPr marL="91440" marR="73152" marT="36576" marB="36576" anchor="ctr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Anti gravity treadmill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AlterG dealer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35,000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Approved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Performance testing hub</a:t>
                      </a:r>
                    </a:p>
                  </a:txBody>
                  <a:tcPr marL="91440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VALD Performance</a:t>
                      </a:r>
                    </a:p>
                  </a:txBody>
                  <a:tcPr marL="91440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12,000</a:t>
                      </a:r>
                    </a:p>
                  </a:txBody>
                  <a:tcPr marL="91440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Pending final quote</a:t>
                      </a:r>
                    </a:p>
                  </a:txBody>
                  <a:tcPr marL="91440" marR="73152" marT="36576" marB="36576" anchor="ctr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Total, four systems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74,500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DCE7F0"/>
                          </a:solidFill>
                          <a:latin typeface="Segoe UI"/>
                        </a:rPr>
                        <a:t>Three approved</a:t>
                      </a:r>
                    </a:p>
                  </a:txBody>
                  <a:tcPr marL="91440" marR="73152" marT="36576" marB="36576" anchor="ctr">
                    <a:solidFill>
                      <a:srgbClr val="15314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DB4CE"/>
                </a:solidFill>
                <a:latin typeface="Segoe UI"/>
              </a:rPr>
              <a:t>Combined insured value reported to the property carrier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Path to Open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DD4BF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DCE7F0"/>
                </a:solidFill>
                <a:latin typeface="Segoe UI"/>
              </a:rPr>
              <a:t>  February 20, demolition finished, framing for the testing bay begins</a:t>
            </a:r>
          </a:p>
          <a:p>
            <a:pPr>
              <a:buClr>
                <a:srgbClr val="2DD4BF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DCE7F0"/>
                </a:solidFill>
                <a:latin typeface="Segoe UI"/>
              </a:rPr>
              <a:t>  Rough electrical staged for the force plate pit and the AlterG circuits</a:t>
            </a:r>
          </a:p>
          <a:p>
            <a:pPr>
              <a:buClr>
                <a:srgbClr val="2DD4BF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DCE7F0"/>
                </a:solidFill>
                <a:latin typeface="Segoe UI"/>
              </a:rPr>
              <a:t>  October 9, substantial completion targeted</a:t>
            </a:r>
          </a:p>
          <a:p>
            <a:pPr>
              <a:buClr>
                <a:srgbClr val="2DD4BF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DCE7F0"/>
                </a:solidFill>
                <a:latin typeface="Segoe UI"/>
              </a:rPr>
              <a:t>  Week of October 12, equipment delivery and install</a:t>
            </a:r>
          </a:p>
          <a:p>
            <a:pPr>
              <a:buClr>
                <a:srgbClr val="2DD4BF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DCE7F0"/>
                </a:solidFill>
                <a:latin typeface="Segoe UI"/>
              </a:rPr>
              <a:t>  Following week, staff training and a soft open</a:t>
            </a:r>
          </a:p>
          <a:p>
            <a:pPr>
              <a:buClr>
                <a:srgbClr val="2DD4BF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DCE7F0"/>
                </a:solidFill>
                <a:latin typeface="Segoe UI"/>
              </a:rPr>
              <a:t>  Late October, community open house and athlete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DB4CE"/>
                </a:solidFill>
                <a:latin typeface="Segoe UI"/>
              </a:rPr>
              <a:t>The covered patio at the house follows, same crew</a:t>
            </a:r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Where the Budget Goes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86000"/>
          <a:ext cx="106070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DB4CE"/>
                </a:solidFill>
                <a:latin typeface="Segoe UI"/>
              </a:rPr>
              <a:t>Equipment financed under SBA 7a, construction from operating capital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Segoe UI"/>
              </a:rPr>
              <a:t>FINANCING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Equipment Loan Terms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2606040" cy="1554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2578608"/>
            <a:ext cx="73152" cy="11521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$74,500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DB4CE"/>
                </a:solidFill>
                <a:latin typeface="Segoe UI"/>
              </a:rPr>
              <a:t>Loan 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377440"/>
            <a:ext cx="2606040" cy="1554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76472" y="2578608"/>
            <a:ext cx="73152" cy="11521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92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7.10%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DB4CE"/>
                </a:solidFill>
                <a:latin typeface="Segoe UI"/>
              </a:rPr>
              <a:t>Fixed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377440"/>
            <a:ext cx="2606040" cy="1554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1112" y="2578608"/>
            <a:ext cx="73152" cy="11521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120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DB4CE"/>
                </a:solidFill>
                <a:latin typeface="Segoe UI"/>
              </a:rPr>
              <a:t>Term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377440"/>
            <a:ext cx="2103120" cy="1554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45752" y="2578608"/>
            <a:ext cx="73152" cy="11521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8" y="2542032"/>
            <a:ext cx="16459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2DD4BF"/>
                </a:solidFill>
                <a:latin typeface="Segoe UI"/>
              </a:rPr>
              <a:t>$868.85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8" y="3364991"/>
            <a:ext cx="164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DB4CE"/>
                </a:solidFill>
                <a:latin typeface="Segoe UI"/>
              </a:rPr>
              <a:t>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DD4BF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DCE7F0"/>
                </a:solidFill>
                <a:latin typeface="Segoe UI"/>
              </a:rPr>
              <a:t>  SBA 7a equipment financing, best rate of four lenders quoted</a:t>
            </a:r>
          </a:p>
          <a:p>
            <a:pPr>
              <a:buClr>
                <a:srgbClr val="2DD4BF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DCE7F0"/>
                </a:solidFill>
                <a:latin typeface="Segoe UI"/>
              </a:rPr>
              <a:t>  Estimated total interest 29,762.50 over the life of the loan</a:t>
            </a:r>
          </a:p>
          <a:p>
            <a:pPr>
              <a:buClr>
                <a:srgbClr val="2DD4BF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DCE7F0"/>
                </a:solidFill>
                <a:latin typeface="Segoe UI"/>
              </a:rPr>
              <a:t>  First payment November 2026, aligned with equipment 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DB4CE"/>
                </a:solidFill>
                <a:latin typeface="Segoe UI"/>
              </a:rPr>
              <a:t>Preliminary terms, reconfirmed at closing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D4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F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F2742"/>
                </a:solidFill>
                <a:latin typeface="Segoe UI"/>
              </a:rPr>
              <a:t>From feel to numbers.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3052"/>
                </a:solidFill>
                <a:latin typeface="Segoe UI"/>
              </a:rPr>
              <a:t>Objective testing behind every return to play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43052"/>
                </a:solidFill>
                <a:latin typeface="Segoe UI"/>
              </a:rPr>
              <a:t>Next step, confirm the slab recess with VALD before electrical is closed in.</a:t>
            </a:r>
          </a:p>
        </p:txBody>
      </p:sp>
    </p:spTree>
  </p:cSld>
  <p:clrMapOvr>
    <a:masterClrMapping/>
  </p:clrMapOvr>
  <p:transition spd="med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Brian Hall</dc:creator>
  <cp:lastModifiedBy>Brian Hall</cp:lastModifiedBy>
  <dcterms:created xsi:type="dcterms:W3CDTF">2026-02-12T09:00:00Z</dcterms:created>
  <dcterms:modified xsi:type="dcterms:W3CDTF">2026-02-12T09:00:00Z</dcterms:modified>
</cp:coreProperties>
</file>