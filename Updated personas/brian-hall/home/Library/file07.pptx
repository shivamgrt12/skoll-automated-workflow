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Limb symmetry index percent</c:v>
                </c:pt>
              </c:strCache>
            </c:strRef>
          </c:tx>
          <c:spPr>
            <a:solidFill>
              <a:srgbClr val="A3E635"/>
            </a:solidFill>
            <a:ln>
              <a:solidFill>
                <a:srgbClr val="A3E635"/>
              </a:solidFill>
            </a:ln>
          </c:spPr>
          <c:cat>
            <c:strRef>
              <c:f>Sheet1!$A$2:$A$6</c:f>
              <c:strCache>
                <c:ptCount val="5"/>
                <c:pt idx="0">
                  <c:v>Week 6</c:v>
                </c:pt>
                <c:pt idx="1">
                  <c:v>Week 12</c:v>
                </c:pt>
                <c:pt idx="2">
                  <c:v>Week 18</c:v>
                </c:pt>
                <c:pt idx="3">
                  <c:v>Week 24</c:v>
                </c:pt>
                <c:pt idx="4">
                  <c:v>Week 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74</c:v>
                </c:pt>
                <c:pt idx="2">
                  <c:v>83</c:v>
                </c:pt>
                <c:pt idx="3">
                  <c:v>89</c:v>
                </c:pt>
                <c:pt idx="4">
                  <c:v>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F2DA"/>
            </a:solidFill>
          </a:ln>
        </c:spPr>
        <c:txPr>
          <a:bodyPr/>
          <a:lstStyle/>
          <a:p>
            <a:pPr>
              <a:defRPr sz="1000">
                <a:solidFill>
                  <a:srgbClr val="E4F2D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E4F2DA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E4F2DA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09728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3E635"/>
                </a:solidFill>
                <a:latin typeface="Segoe UI"/>
              </a:rPr>
              <a:t>CLINICAL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Return to Sport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4F2DA"/>
                </a:solidFill>
                <a:latin typeface="Segoe UI"/>
              </a:rPr>
              <a:t>Testing and Decision Making at Peak Performance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C9A6"/>
                </a:solidFill>
                <a:latin typeface="Segoe UI"/>
              </a:rPr>
              <a:t>Prepared by Brian Hall, DPT, for the clinical team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3E635"/>
                </a:solidFill>
                <a:latin typeface="Segoe UI"/>
              </a:rPr>
              <a:t>WHY WE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 Date Is Not a Clearance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A3E635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4F2DA"/>
                </a:solidFill>
                <a:latin typeface="Segoe UI"/>
              </a:rPr>
              <a:t>  Coming back is about hitting strength and movement targets, not a number of weeks</a:t>
            </a:r>
          </a:p>
          <a:p>
            <a:pPr>
              <a:buClr>
                <a:srgbClr val="A3E635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4F2DA"/>
                </a:solidFill>
                <a:latin typeface="Segoe UI"/>
              </a:rPr>
              <a:t>  Objective testing protects the athlete and protects the clinic decision</a:t>
            </a:r>
          </a:p>
          <a:p>
            <a:pPr>
              <a:buClr>
                <a:srgbClr val="A3E635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4F2DA"/>
                </a:solidFill>
                <a:latin typeface="Segoe UI"/>
              </a:rPr>
              <a:t>  The same battery makes progress visible to the athlete and the coach</a:t>
            </a:r>
          </a:p>
          <a:p>
            <a:pPr>
              <a:buClr>
                <a:srgbClr val="A3E635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4F2DA"/>
                </a:solidFill>
                <a:latin typeface="Segoe UI"/>
              </a:rPr>
              <a:t>  It is the reason the performance lab exists, turn a guess into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C9A6"/>
                </a:solidFill>
                <a:latin typeface="Segoe UI"/>
              </a:rPr>
              <a:t>Return to Sport | clinical playbook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3E635"/>
                </a:solidFill>
                <a:latin typeface="Segoe UI"/>
              </a:rPr>
              <a:t>THE BATTERY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We Measure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86000"/>
          <a:ext cx="1060704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91440" marR="73152" marT="36576" marB="36576" anchor="ctr">
                    <a:solidFill>
                      <a:srgbClr val="1C6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it shows</a:t>
                      </a:r>
                    </a:p>
                  </a:txBody>
                  <a:tcPr marL="91440" marR="73152" marT="36576" marB="36576" anchor="ctr">
                    <a:solidFill>
                      <a:srgbClr val="1C6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Pass target</a:t>
                      </a:r>
                    </a:p>
                  </a:txBody>
                  <a:tcPr marL="91440" marR="73152" marT="36576" marB="36576" anchor="ctr">
                    <a:solidFill>
                      <a:srgbClr val="1C6B3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Limb symmetry index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Side to side strength balance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90 percent or better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Single hop for distance</a:t>
                      </a:r>
                    </a:p>
                  </a:txBody>
                  <a:tcPr marL="91440" marR="73152" marT="36576" marB="36576" anchor="ctr">
                    <a:solidFill>
                      <a:srgbClr val="1A52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Power symmetry</a:t>
                      </a:r>
                    </a:p>
                  </a:txBody>
                  <a:tcPr marL="91440" marR="73152" marT="36576" marB="36576" anchor="ctr">
                    <a:solidFill>
                      <a:srgbClr val="1A52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90 percent or better</a:t>
                      </a:r>
                    </a:p>
                  </a:txBody>
                  <a:tcPr marL="91440" marR="73152" marT="36576" marB="36576" anchor="ctr">
                    <a:solidFill>
                      <a:srgbClr val="1A52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Triple and crossover hop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Control under repeated load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90 percent or better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Force plate jump</a:t>
                      </a:r>
                    </a:p>
                  </a:txBody>
                  <a:tcPr marL="91440" marR="73152" marT="36576" marB="36576" anchor="ctr">
                    <a:solidFill>
                      <a:srgbClr val="1A52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Landing asymmetry</a:t>
                      </a:r>
                    </a:p>
                  </a:txBody>
                  <a:tcPr marL="91440" marR="73152" marT="36576" marB="36576" anchor="ctr">
                    <a:solidFill>
                      <a:srgbClr val="1A52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Under 10 percent</a:t>
                      </a:r>
                    </a:p>
                  </a:txBody>
                  <a:tcPr marL="91440" marR="73152" marT="36576" marB="36576" anchor="ctr">
                    <a:solidFill>
                      <a:srgbClr val="1A523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Isokinetic strength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Quad and hamstring output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4F2DA"/>
                          </a:solidFill>
                          <a:latin typeface="Segoe UI"/>
                        </a:rPr>
                        <a:t>90 percent or better</a:t>
                      </a:r>
                    </a:p>
                  </a:txBody>
                  <a:tcPr marL="91440" marR="73152" marT="36576" marB="36576" anchor="ctr">
                    <a:solidFill>
                      <a:srgbClr val="123F2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C9A6"/>
                </a:solidFill>
                <a:latin typeface="Segoe UI"/>
              </a:rPr>
              <a:t>Targets confirmed across two sessions before clearance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3E635"/>
                </a:solidFill>
                <a:latin typeface="Segoe UI"/>
              </a:rPr>
              <a:t>THE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Clearance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68880"/>
            <a:ext cx="3383280" cy="1645920"/>
          </a:xfrm>
          <a:prstGeom prst="roundRect">
            <a:avLst/>
          </a:prstGeom>
          <a:solidFill>
            <a:srgbClr val="1E5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2670048"/>
            <a:ext cx="73152" cy="124358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633472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A3E635"/>
                </a:solidFill>
                <a:latin typeface="Segoe UI"/>
              </a:rP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54787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9C9A6"/>
                </a:solidFill>
                <a:latin typeface="Segoe UI"/>
              </a:rPr>
              <a:t>Limb symmetry index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68880"/>
            <a:ext cx="3383280" cy="1645920"/>
          </a:xfrm>
          <a:prstGeom prst="roundRect">
            <a:avLst/>
          </a:prstGeom>
          <a:solidFill>
            <a:srgbClr val="1E5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7992" y="2670048"/>
            <a:ext cx="73152" cy="124358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2633472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A3E635"/>
                </a:solidFill>
                <a:latin typeface="Segoe UI"/>
              </a:rPr>
              <a:t>&lt;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54787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9C9A6"/>
                </a:solidFill>
                <a:latin typeface="Segoe UI"/>
              </a:rPr>
              <a:t>Force plate landing asymmetry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468880"/>
            <a:ext cx="3474720" cy="1645920"/>
          </a:xfrm>
          <a:prstGeom prst="roundRect">
            <a:avLst/>
          </a:prstGeom>
          <a:solidFill>
            <a:srgbClr val="1E5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4152" y="2670048"/>
            <a:ext cx="73152" cy="124358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633472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A3E635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5478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9C9A6"/>
                </a:solidFill>
                <a:latin typeface="Segoe UI"/>
              </a:rPr>
              <a:t>Sessions to confirm a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8056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A3E635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E4F2DA"/>
                </a:solidFill>
                <a:latin typeface="Segoe UI"/>
              </a:rPr>
              <a:t>  A reading of 85 percent is not 90 percent, the gap is the whole decision</a:t>
            </a:r>
          </a:p>
          <a:p>
            <a:pPr>
              <a:buClr>
                <a:srgbClr val="A3E635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E4F2DA"/>
                </a:solidFill>
                <a:latin typeface="Segoe UI"/>
              </a:rPr>
              <a:t>  Psychological readiness is screened alongside the physical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C9A6"/>
                </a:solidFill>
                <a:latin typeface="Segoe UI"/>
              </a:rPr>
              <a:t>Return to Sport | clinical playbook</a:t>
            </a:r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3E635"/>
                </a:solidFill>
                <a:latin typeface="Segoe UI"/>
              </a:rPr>
              <a:t>A CASE IN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Limb Symmetry Over a Rehab Block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86000"/>
          <a:ext cx="10607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C9A6"/>
                </a:solidFill>
                <a:latin typeface="Segoe UI"/>
              </a:rPr>
              <a:t>Anonymized post ACL athlete, cleared once symmetry held above target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3E635"/>
                </a:solidFill>
                <a:latin typeface="Segoe UI"/>
              </a:rPr>
              <a:t>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How We Call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A3E635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4F2DA"/>
                </a:solidFill>
                <a:latin typeface="Segoe UI"/>
              </a:rPr>
              <a:t>  Green, all targets met across two sessions, progress to return with monitoring</a:t>
            </a:r>
          </a:p>
          <a:p>
            <a:pPr>
              <a:buClr>
                <a:srgbClr val="A3E635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4F2DA"/>
                </a:solidFill>
                <a:latin typeface="Segoe UI"/>
              </a:rPr>
              <a:t>  Yellow, one target short, hold and reload that quality, retest in two weeks</a:t>
            </a:r>
          </a:p>
          <a:p>
            <a:pPr>
              <a:buClr>
                <a:srgbClr val="A3E635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4F2DA"/>
                </a:solidFill>
                <a:latin typeface="Segoe UI"/>
              </a:rPr>
              <a:t>  Red, multiple targets short or pain present, stay in the current phase</a:t>
            </a:r>
          </a:p>
          <a:p>
            <a:pPr>
              <a:buClr>
                <a:srgbClr val="A3E635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4F2DA"/>
                </a:solidFill>
                <a:latin typeface="Segoe UI"/>
              </a:rPr>
              <a:t>  Document every decision in the clinic playbook so the next clinician sees the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9C9A6"/>
                </a:solidFill>
                <a:latin typeface="Segoe UI"/>
              </a:rPr>
              <a:t>Charts and treatment records stay inside the clinic context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3E6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800" b="1">
                <a:solidFill>
                  <a:srgbClr val="14532D"/>
                </a:solidFill>
                <a:latin typeface="Segoe UI"/>
              </a:rPr>
              <a:t>Train the number, then trust it.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C6B3C"/>
                </a:solidFill>
                <a:latin typeface="Segoe UI"/>
              </a:rPr>
              <a:t>Objective, repeatable, and the same for every athlete who walks in.</a:t>
            </a:r>
          </a:p>
        </p:txBody>
      </p:sp>
    </p:spTree>
  </p:cSld>
  <p:clrMapOvr>
    <a:masterClrMapping/>
  </p:clrMapOvr>
  <p:transition spd="med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Brian Hall</dc:creator>
  <cp:lastModifiedBy>Brian Hall</cp:lastModifiedBy>
  <dcterms:created xsi:type="dcterms:W3CDTF">2026-02-12T09:00:00Z</dcterms:created>
  <dcterms:modified xsi:type="dcterms:W3CDTF">2026-02-12T09:00:00Z</dcterms:modified>
</cp:coreProperties>
</file>