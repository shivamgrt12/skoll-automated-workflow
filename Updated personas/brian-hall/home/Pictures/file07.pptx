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Monthly USD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60A5FA"/>
              </a:solidFill>
            </c:spPr>
          </c:dPt>
          <c:dPt>
            <c:idx val="2"/>
            <c:spPr>
              <a:solidFill>
                <a:srgbClr val="34D399"/>
              </a:solidFill>
            </c:spPr>
          </c:dPt>
          <c:dPt>
            <c:idx val="3"/>
            <c:spPr>
              <a:solidFill>
                <a:srgbClr val="A78BFA"/>
              </a:solidFill>
            </c:spPr>
          </c:dPt>
          <c:dPt>
            <c:idx val="4"/>
            <c:spPr>
              <a:solidFill>
                <a:srgbClr val="FB7185"/>
              </a:solidFill>
            </c:spPr>
          </c:dPt>
          <c:dPt>
            <c:idx val="5"/>
            <c:spPr>
              <a:solidFill>
                <a:srgbClr val="64748B"/>
              </a:solidFill>
            </c:spPr>
          </c:dPt>
          <c:cat>
            <c:strRef>
              <c:f>Sheet1!$A$2:$A$7</c:f>
              <c:strCache>
                <c:ptCount val="6"/>
                <c:pt idx="0">
                  <c:v>Mortgage</c:v>
                </c:pt>
                <c:pt idx="1">
                  <c:v>Student loans</c:v>
                </c:pt>
                <c:pt idx="2">
                  <c:v>Childcare</c:v>
                </c:pt>
                <c:pt idx="3">
                  <c:v>Groceries</c:v>
                </c:pt>
                <c:pt idx="4">
                  <c:v>Investing</c:v>
                </c:pt>
                <c:pt idx="5">
                  <c:v>Everything else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2800</c:v>
                </c:pt>
                <c:pt idx="1">
                  <c:v>2000</c:v>
                </c:pt>
                <c:pt idx="2">
                  <c:v>1800</c:v>
                </c:pt>
                <c:pt idx="3">
                  <c:v>1100</c:v>
                </c:pt>
                <c:pt idx="4">
                  <c:v>1500</c:v>
                </c:pt>
                <c:pt idx="5">
                  <c:v>2905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100">
          <a:solidFill>
            <a:srgbClr val="E7ECF2"/>
          </a:solidFill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 7 percent, USD thousands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Sheet1!$A$2:$A$6</c:f>
              <c:strCache>
                <c:ptCount val="5"/>
                <c:pt idx="0">
                  <c:v>Today</c:v>
                </c:pt>
                <c:pt idx="1">
                  <c:v>Year 5</c:v>
                </c:pt>
                <c:pt idx="2">
                  <c:v>Year 10</c:v>
                </c:pt>
                <c:pt idx="3">
                  <c:v>Year 15</c:v>
                </c:pt>
                <c:pt idx="4">
                  <c:v>Year 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434</c:v>
                </c:pt>
                <c:pt idx="1">
                  <c:v>759</c:v>
                </c:pt>
                <c:pt idx="2">
                  <c:v>1180</c:v>
                </c:pt>
                <c:pt idx="3">
                  <c:v>1718</c:v>
                </c:pt>
                <c:pt idx="4">
                  <c:v>2403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CF2"/>
            </a:solidFill>
          </a:ln>
        </c:spPr>
        <c:txPr>
          <a:bodyPr/>
          <a:lstStyle/>
          <a:p>
            <a:pPr>
              <a:defRPr sz="1000">
                <a:solidFill>
                  <a:srgbClr val="E7ECF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7ECF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E7ECF2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2194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Segoe UI"/>
              </a:rPr>
              <a:t>HOUSEHOLD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Path to Financial Independence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E7ECF2"/>
                </a:solidFill>
                <a:latin typeface="Segoe UI"/>
              </a:rPr>
              <a:t>Brian and Karen Hall, the long game on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7B6"/>
                </a:solidFill>
                <a:latin typeface="Segoe UI"/>
              </a:rPr>
              <a:t>Private planning document, snapshot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Where We 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606040" cy="1554480"/>
          </a:xfrm>
          <a:prstGeom prst="roundRect">
            <a:avLst/>
          </a:prstGeom>
          <a:solidFill>
            <a:srgbClr val="2B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1832" y="2578608"/>
            <a:ext cx="73152" cy="11521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$313,000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A7B6"/>
                </a:solidFill>
                <a:latin typeface="Segoe UI"/>
              </a:rPr>
              <a:t>Gross household, annual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377440"/>
            <a:ext cx="2606040" cy="1554480"/>
          </a:xfrm>
          <a:prstGeom prst="roundRect">
            <a:avLst/>
          </a:prstGeom>
          <a:solidFill>
            <a:srgbClr val="2B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76472" y="2578608"/>
            <a:ext cx="73152" cy="11521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9592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$434,294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A7B6"/>
                </a:solidFill>
                <a:latin typeface="Segoe UI"/>
              </a:rPr>
              <a:t>Invested assets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377440"/>
            <a:ext cx="2606040" cy="1554480"/>
          </a:xfrm>
          <a:prstGeom prst="roundRect">
            <a:avLst/>
          </a:prstGeom>
          <a:solidFill>
            <a:srgbClr val="2B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2578608"/>
            <a:ext cx="73152" cy="11521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542032"/>
            <a:ext cx="2148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$58,000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364991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A7B6"/>
                </a:solidFill>
                <a:latin typeface="Segoe UI"/>
              </a:rPr>
              <a:t>Emergency fund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377440"/>
            <a:ext cx="2103120" cy="1554480"/>
          </a:xfrm>
          <a:prstGeom prst="roundRect">
            <a:avLst/>
          </a:prstGeom>
          <a:solidFill>
            <a:srgbClr val="2B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45752" y="2578608"/>
            <a:ext cx="73152" cy="11521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5208" y="2542032"/>
            <a:ext cx="16459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Segoe UI"/>
              </a:rPr>
              <a:t>$5,845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3364991"/>
            <a:ext cx="164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A7B6"/>
                </a:solidFill>
                <a:latin typeface="Segoe UI"/>
              </a:rPr>
              <a:t>Monthly surplus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59E0B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E7ECF2"/>
                </a:solidFill>
                <a:latin typeface="Segoe UI"/>
              </a:rPr>
              <a:t>  Two incomes, a clinic owner draw and a pharmacist salary</a:t>
            </a:r>
          </a:p>
          <a:p>
            <a:pPr>
              <a:buClr>
                <a:srgbClr val="F59E0B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E7ECF2"/>
                </a:solidFill>
                <a:latin typeface="Segoe UI"/>
              </a:rPr>
              <a:t>  About six months of expenses held in high yield savings</a:t>
            </a:r>
          </a:p>
          <a:p>
            <a:pPr>
              <a:buClr>
                <a:srgbClr val="F59E0B"/>
              </a:buClr>
              <a:buChar char="▪"/>
              <a:spcAft>
                <a:spcPts val="1000"/>
              </a:spcAft>
            </a:pPr>
            <a:r>
              <a:rPr sz="1600">
                <a:solidFill>
                  <a:srgbClr val="E7ECF2"/>
                </a:solidFill>
                <a:latin typeface="Segoe UI"/>
              </a:rPr>
              <a:t>  Surplus swept to taxable index funds on the first of the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7B6"/>
                </a:solidFill>
                <a:latin typeface="Segoe UI"/>
              </a:rPr>
              <a:t>Reviewed jointly, first of each month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THE OUTFLOW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Monthly Budget Allocation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463040" y="2286000"/>
          <a:ext cx="9144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7B6"/>
                </a:solidFill>
                <a:latin typeface="Segoe UI"/>
              </a:rPr>
              <a:t>Total monthly outflow 12,105, against 17,950 net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THE HOLDINGS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Portfolio, Seven Positions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1060704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Account</a:t>
                      </a:r>
                    </a:p>
                  </a:txBody>
                  <a:tcPr marL="91440" marR="73152" marT="36576" marB="36576" anchor="ctr">
                    <a:solidFill>
                      <a:srgbClr val="2732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Holding</a:t>
                      </a:r>
                    </a:p>
                  </a:txBody>
                  <a:tcPr marL="91440" marR="73152" marT="36576" marB="36576" anchor="ctr">
                    <a:solidFill>
                      <a:srgbClr val="2732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Market value USD</a:t>
                      </a:r>
                    </a:p>
                  </a:txBody>
                  <a:tcPr marL="91440" marR="73152" marT="36576" marB="36576" anchor="ctr">
                    <a:solidFill>
                      <a:srgbClr val="27324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Brian Roth IRA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Total Stock Market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96,428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Karen Roth IRA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Total Stock Market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91,164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Taxable brokerage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Total Stock Market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139,956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Taxable brokerage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Total International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47,978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Taxable brokerage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Total Bond Market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21,968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529 plans, both twins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Age based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36,800</a:t>
                      </a:r>
                    </a:p>
                  </a:txBody>
                  <a:tcPr marL="91440" marR="73152" marT="36576" marB="36576" anchor="ctr">
                    <a:solidFill>
                      <a:srgbClr val="2B364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Combined portfolio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E7ECF2"/>
                          </a:solidFill>
                          <a:latin typeface="Segoe UI"/>
                        </a:rPr>
                        <a:t>434,294</a:t>
                      </a:r>
                    </a:p>
                  </a:txBody>
                  <a:tcPr marL="91440" marR="73152" marT="36576" marB="36576" anchor="ctr">
                    <a:solidFill>
                      <a:srgbClr val="222C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7B6"/>
                </a:solidFill>
                <a:latin typeface="Segoe UI"/>
              </a:rPr>
              <a:t>Low cost index funds, no single stock picking</a:t>
            </a:r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THE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Projected Invested Assets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2286000"/>
          <a:ext cx="106070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7B6"/>
                </a:solidFill>
                <a:latin typeface="Segoe UI"/>
              </a:rPr>
              <a:t>Current balance plus 7,345 monthly contributions, 7 percent assumed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Segoe UI"/>
              </a:rPr>
              <a:t>THE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How We Keep It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F59E0B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7ECF2"/>
                </a:solidFill>
                <a:latin typeface="Segoe UI"/>
              </a:rPr>
              <a:t>  Buy broad, low cost index funds and hold through the noise</a:t>
            </a:r>
          </a:p>
          <a:p>
            <a:pPr>
              <a:buClr>
                <a:srgbClr val="F59E0B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7ECF2"/>
                </a:solidFill>
                <a:latin typeface="Segoe UI"/>
              </a:rPr>
              <a:t>  Max both Roth accounts every year, then fund the taxable sleeve</a:t>
            </a:r>
          </a:p>
          <a:p>
            <a:pPr>
              <a:buClr>
                <a:srgbClr val="F59E0B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7ECF2"/>
                </a:solidFill>
                <a:latin typeface="Segoe UI"/>
              </a:rPr>
              <a:t>  Fund each twin 529 at 250 a month, steady regardless of the market</a:t>
            </a:r>
          </a:p>
          <a:p>
            <a:pPr>
              <a:buClr>
                <a:srgbClr val="F59E0B"/>
              </a:buClr>
              <a:buChar char="▪"/>
              <a:spcAft>
                <a:spcPts val="1300"/>
              </a:spcAft>
            </a:pPr>
            <a:r>
              <a:rPr sz="1700">
                <a:solidFill>
                  <a:srgbClr val="E7ECF2"/>
                </a:solidFill>
                <a:latin typeface="Segoe UI"/>
              </a:rPr>
              <a:t>  Keep the savings rate high, let time and compounding do the heavy lifting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7B6"/>
                </a:solidFill>
                <a:latin typeface="Segoe UI"/>
              </a:rPr>
              <a:t>Same discipline as training, applied to money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2937"/>
                </a:solidFill>
                <a:latin typeface="Segoe UI"/>
              </a:rPr>
              <a:t>Boring on purpose.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73241"/>
                </a:solidFill>
                <a:latin typeface="Segoe UI"/>
              </a:rPr>
              <a:t>Steady savings, broad index funds, and a long enough timeline.</a:t>
            </a:r>
          </a:p>
        </p:txBody>
      </p:sp>
    </p:spTree>
  </p:cSld>
  <p:clrMapOvr>
    <a:masterClrMapping/>
  </p:clrMapOvr>
  <p:transition spd="med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Brian Hall</dc:creator>
  <cp:lastModifiedBy>Brian Hall</cp:lastModifiedBy>
  <dcterms:created xsi:type="dcterms:W3CDTF">2026-02-12T09:00:00Z</dcterms:created>
  <dcterms:modified xsi:type="dcterms:W3CDTF">2026-02-12T09:00:00Z</dcterms:modified>
</cp:coreProperties>
</file>