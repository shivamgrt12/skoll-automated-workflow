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revenue, USD thousands</c:v>
                </c:pt>
              </c:strCache>
            </c:strRef>
          </c:tx>
          <c:spPr>
            <a:solidFill>
              <a:srgbClr val="FBBF24"/>
            </a:solidFill>
            <a:ln>
              <a:solidFill>
                <a:srgbClr val="FBBF24"/>
              </a:solidFill>
            </a:ln>
          </c:spPr>
          <c:cat>
            <c:strRef>
              <c:f>Sheet1!$A$2:$A$7</c:f>
              <c:strCache>
                <c:ptCount val="6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73.7</c:v>
                </c:pt>
                <c:pt idx="1">
                  <c:v>75.3</c:v>
                </c:pt>
                <c:pt idx="2">
                  <c:v>71.1</c:v>
                </c:pt>
                <c:pt idx="3">
                  <c:v>69.4</c:v>
                </c:pt>
                <c:pt idx="4">
                  <c:v>77.9</c:v>
                </c:pt>
                <c:pt idx="5">
                  <c:v>76.0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3E6E6"/>
            </a:solidFill>
          </a:ln>
        </c:spPr>
        <c:txPr>
          <a:bodyPr/>
          <a:lstStyle/>
          <a:p>
            <a:pPr>
              <a:defRPr sz="1000">
                <a:solidFill>
                  <a:srgbClr val="F3E6E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3E6E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F3E6E6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2194560" cy="1097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Segoe UI"/>
              </a:rPr>
              <a:t>PEAK PERFORMANCE 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Year in Review and Growth Plan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3E6E6"/>
                </a:solidFill>
                <a:latin typeface="Segoe UI"/>
              </a:rPr>
              <a:t>A strong base, and a bigger year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D9B6B6"/>
                </a:solidFill>
                <a:latin typeface="Segoe UI"/>
              </a:rPr>
              <a:t>Owner summary, prepared February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Segoe UI"/>
              </a:rPr>
              <a:t>THE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The Practice by the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77440"/>
            <a:ext cx="2606040" cy="1554480"/>
          </a:xfrm>
          <a:prstGeom prst="roundRect">
            <a:avLst/>
          </a:prstGeom>
          <a:solidFill>
            <a:srgbClr val="8E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" y="2578608"/>
            <a:ext cx="73152" cy="115214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542032"/>
            <a:ext cx="2148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$850K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3364991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D9B6B6"/>
                </a:solidFill>
                <a:latin typeface="Segoe UI"/>
              </a:rPr>
              <a:t>Annual clinic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377440"/>
            <a:ext cx="2606040" cy="1554480"/>
          </a:xfrm>
          <a:prstGeom prst="roundRect">
            <a:avLst/>
          </a:prstGeom>
          <a:solidFill>
            <a:srgbClr val="8E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76472" y="2578608"/>
            <a:ext cx="73152" cy="115214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95928" y="2542032"/>
            <a:ext cx="2148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12%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3364991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D9B6B6"/>
                </a:solidFill>
                <a:latin typeface="Segoe UI"/>
              </a:rPr>
              <a:t>Growth year over 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377440"/>
            <a:ext cx="2606040" cy="1554480"/>
          </a:xfrm>
          <a:prstGeom prst="roundRect">
            <a:avLst/>
          </a:prstGeom>
          <a:solidFill>
            <a:srgbClr val="8E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11112" y="2578608"/>
            <a:ext cx="73152" cy="115214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2542032"/>
            <a:ext cx="2148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~60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3364991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D9B6B6"/>
                </a:solidFill>
                <a:latin typeface="Segoe UI"/>
              </a:rPr>
              <a:t>Patient visits a week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377440"/>
            <a:ext cx="2103120" cy="1554480"/>
          </a:xfrm>
          <a:prstGeom prst="roundRect">
            <a:avLst/>
          </a:prstGeom>
          <a:solidFill>
            <a:srgbClr val="8E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45752" y="2578608"/>
            <a:ext cx="73152" cy="115214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65208" y="2542032"/>
            <a:ext cx="16459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BBF24"/>
                </a:solidFill>
                <a:latin typeface="Segoe UI"/>
              </a:rPr>
              <a:t>14%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5208" y="3364991"/>
            <a:ext cx="164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D9B6B6"/>
                </a:solidFill>
                <a:latin typeface="Segoe UI"/>
              </a:rPr>
              <a:t>Operating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BBF24"/>
              </a:buClr>
              <a:buChar char="▪"/>
              <a:spcAft>
                <a:spcPts val="1000"/>
              </a:spcAft>
            </a:pPr>
            <a:r>
              <a:rPr sz="1600">
                <a:solidFill>
                  <a:srgbClr val="F3E6E6"/>
                </a:solidFill>
                <a:latin typeface="Segoe UI"/>
              </a:rPr>
              <a:t>  Three doctors of physical therapy and a full support team</a:t>
            </a:r>
          </a:p>
          <a:p>
            <a:pPr>
              <a:buClr>
                <a:srgbClr val="FBBF24"/>
              </a:buClr>
              <a:buChar char="▪"/>
              <a:spcAft>
                <a:spcPts val="1000"/>
              </a:spcAft>
            </a:pPr>
            <a:r>
              <a:rPr sz="1600">
                <a:solidFill>
                  <a:srgbClr val="F3E6E6"/>
                </a:solidFill>
                <a:latin typeface="Segoe UI"/>
              </a:rPr>
              <a:t>  Margin holding at 14 percent, with a clear path to lift it</a:t>
            </a:r>
          </a:p>
          <a:p>
            <a:pPr>
              <a:buClr>
                <a:srgbClr val="FBBF24"/>
              </a:buClr>
              <a:buChar char="▪"/>
              <a:spcAft>
                <a:spcPts val="1000"/>
              </a:spcAft>
            </a:pPr>
            <a:r>
              <a:rPr sz="1600">
                <a:solidFill>
                  <a:srgbClr val="F3E6E6"/>
                </a:solidFill>
                <a:latin typeface="Segoe UI"/>
              </a:rPr>
              <a:t>  The performance lab is the lever for the next stage of 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D9B6B6"/>
                </a:solidFill>
                <a:latin typeface="Segoe UI"/>
              </a:rPr>
              <a:t>Peak Performance PT | year in review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Segoe UI"/>
              </a:rPr>
              <a:t>THE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Monthly Revenue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2286000"/>
          <a:ext cx="106070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D9B6B6"/>
                </a:solidFill>
                <a:latin typeface="Segoe UI"/>
              </a:rPr>
              <a:t>Six month trailing view, winter build season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Segoe UI"/>
              </a:rPr>
              <a:t>THE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What Went Right This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BBF24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F3E6E6"/>
                </a:solidFill>
                <a:latin typeface="Segoe UI"/>
              </a:rPr>
              <a:t>  Added a major insurer to the credentialing roster, more in progress</a:t>
            </a:r>
          </a:p>
          <a:p>
            <a:pPr>
              <a:buClr>
                <a:srgbClr val="FBBF24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F3E6E6"/>
                </a:solidFill>
                <a:latin typeface="Segoe UI"/>
              </a:rPr>
              <a:t>  Signed the academy screening contract with the local football club</a:t>
            </a:r>
          </a:p>
          <a:p>
            <a:pPr>
              <a:buClr>
                <a:srgbClr val="FBBF24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F3E6E6"/>
                </a:solidFill>
                <a:latin typeface="Segoe UI"/>
              </a:rPr>
              <a:t>  Two strong clinical rotation students added depth to the team</a:t>
            </a:r>
          </a:p>
          <a:p>
            <a:pPr>
              <a:buClr>
                <a:srgbClr val="FBBF24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F3E6E6"/>
                </a:solidFill>
                <a:latin typeface="Segoe UI"/>
              </a:rPr>
              <a:t>  Broke ground on the performance lab, the biggest investment yet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D9B6B6"/>
                </a:solidFill>
                <a:latin typeface="Segoe UI"/>
              </a:rPr>
              <a:t>Built on referrals and results</a:t>
            </a:r>
          </a:p>
        </p:txBody>
      </p:sp>
    </p:spTree>
  </p:cSld>
  <p:clrMapOvr>
    <a:masterClrMapping/>
  </p:clrMapOvr>
  <p:transition spd="med">
    <p:wipe dir="d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Segoe UI"/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Growth Levers Ahead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286000"/>
          <a:ext cx="1060704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Lever</a:t>
                      </a:r>
                    </a:p>
                  </a:txBody>
                  <a:tcPr marL="91440" marR="73152" marT="36576" marB="36576" anchor="ctr">
                    <a:solidFill>
                      <a:srgbClr val="9B2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Move</a:t>
                      </a:r>
                    </a:p>
                  </a:txBody>
                  <a:tcPr marL="91440" marR="73152" marT="36576" marB="36576" anchor="ctr">
                    <a:solidFill>
                      <a:srgbClr val="9B2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 marL="91440" marR="73152" marT="36576" marB="36576" anchor="ctr">
                    <a:solidFill>
                      <a:srgbClr val="9B2C2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3E6E6"/>
                          </a:solidFill>
                          <a:latin typeface="Segoe UI"/>
                        </a:rPr>
                        <a:t>Performance lab</a:t>
                      </a:r>
                    </a:p>
                  </a:txBody>
                  <a:tcPr marL="91440" marR="73152" marT="36576" marB="36576" anchor="ctr">
                    <a:solidFill>
                      <a:srgbClr val="6E18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3E6E6"/>
                          </a:solidFill>
                          <a:latin typeface="Segoe UI"/>
                        </a:rPr>
                        <a:t>Open testing services this fall</a:t>
                      </a:r>
                    </a:p>
                  </a:txBody>
                  <a:tcPr marL="91440" marR="73152" marT="36576" marB="36576" anchor="ctr">
                    <a:solidFill>
                      <a:srgbClr val="6E181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F3E6E6"/>
                          </a:solidFill>
                          <a:latin typeface="Segoe UI"/>
                        </a:rPr>
                        <a:t>New revenue line</a:t>
                      </a:r>
                    </a:p>
                  </a:txBody>
                  <a:tcPr marL="91440" marR="73152" marT="36576" marB="36576" anchor="ctr">
                    <a:solidFill>
                      <a:srgbClr val="6E181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3E6E6"/>
                          </a:solidFill>
                          <a:latin typeface="Segoe UI"/>
                        </a:rPr>
                        <a:t>Operating margin</a:t>
                      </a:r>
                    </a:p>
                  </a:txBody>
                  <a:tcPr marL="91440" marR="73152" marT="36576" marB="36576" anchor="ctr">
                    <a:solidFill>
                      <a:srgbClr val="8E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3E6E6"/>
                          </a:solidFill>
                          <a:latin typeface="Segoe UI"/>
                        </a:rPr>
                        <a:t>Add high value testing packages</a:t>
                      </a:r>
                    </a:p>
                  </a:txBody>
                  <a:tcPr marL="91440" marR="73152" marT="36576" marB="36576" anchor="ctr">
                    <a:solidFill>
                      <a:srgbClr val="8E25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F3E6E6"/>
                          </a:solidFill>
                          <a:latin typeface="Segoe UI"/>
                        </a:rPr>
                        <a:t>Lift toward 18 percent</a:t>
                      </a:r>
                    </a:p>
                  </a:txBody>
                  <a:tcPr marL="91440" marR="73152" marT="36576" marB="36576" anchor="ctr">
                    <a:solidFill>
                      <a:srgbClr val="8E252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3E6E6"/>
                          </a:solidFill>
                          <a:latin typeface="Segoe UI"/>
                        </a:rPr>
                        <a:t>Staffing</a:t>
                      </a:r>
                    </a:p>
                  </a:txBody>
                  <a:tcPr marL="91440" marR="73152" marT="36576" marB="36576" anchor="ctr">
                    <a:solidFill>
                      <a:srgbClr val="6E18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3E6E6"/>
                          </a:solidFill>
                          <a:latin typeface="Segoe UI"/>
                        </a:rPr>
                        <a:t>Hire an additional aide</a:t>
                      </a:r>
                    </a:p>
                  </a:txBody>
                  <a:tcPr marL="91440" marR="73152" marT="36576" marB="36576" anchor="ctr">
                    <a:solidFill>
                      <a:srgbClr val="6E181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F3E6E6"/>
                          </a:solidFill>
                          <a:latin typeface="Segoe UI"/>
                        </a:rPr>
                        <a:t>Add clinic capacity</a:t>
                      </a:r>
                    </a:p>
                  </a:txBody>
                  <a:tcPr marL="91440" marR="73152" marT="36576" marB="36576" anchor="ctr">
                    <a:solidFill>
                      <a:srgbClr val="6E181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3E6E6"/>
                          </a:solidFill>
                          <a:latin typeface="Segoe UI"/>
                        </a:rPr>
                        <a:t>Partnerships</a:t>
                      </a:r>
                    </a:p>
                  </a:txBody>
                  <a:tcPr marL="91440" marR="73152" marT="36576" marB="36576" anchor="ctr">
                    <a:solidFill>
                      <a:srgbClr val="8E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3E6E6"/>
                          </a:solidFill>
                          <a:latin typeface="Segoe UI"/>
                        </a:rPr>
                        <a:t>Grow the academy screening work</a:t>
                      </a:r>
                    </a:p>
                  </a:txBody>
                  <a:tcPr marL="91440" marR="73152" marT="36576" marB="36576" anchor="ctr">
                    <a:solidFill>
                      <a:srgbClr val="8E25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F3E6E6"/>
                          </a:solidFill>
                          <a:latin typeface="Segoe UI"/>
                        </a:rPr>
                        <a:t>Recurring contracts</a:t>
                      </a:r>
                    </a:p>
                  </a:txBody>
                  <a:tcPr marL="91440" marR="73152" marT="36576" marB="36576" anchor="ctr">
                    <a:solidFill>
                      <a:srgbClr val="8E252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D9B6B6"/>
                </a:solidFill>
                <a:latin typeface="Segoe UI"/>
              </a:rPr>
              <a:t>Each lever ties back to the lab opening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Segoe UI"/>
              </a:rPr>
              <a:t>THE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What I Am Watching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BBF24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F3E6E6"/>
                </a:solidFill>
                <a:latin typeface="Segoe UI"/>
              </a:rPr>
              <a:t>  Hit the late October lab opening without slipping the schedule</a:t>
            </a:r>
          </a:p>
          <a:p>
            <a:pPr>
              <a:buClr>
                <a:srgbClr val="FBBF24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F3E6E6"/>
                </a:solidFill>
                <a:latin typeface="Segoe UI"/>
              </a:rPr>
              <a:t>  Keep payroll efficient as capacity grows</a:t>
            </a:r>
          </a:p>
          <a:p>
            <a:pPr>
              <a:buClr>
                <a:srgbClr val="FBBF24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F3E6E6"/>
                </a:solidFill>
                <a:latin typeface="Segoe UI"/>
              </a:rPr>
              <a:t>  Protect the patient experience while the practice scales</a:t>
            </a:r>
          </a:p>
          <a:p>
            <a:pPr>
              <a:buClr>
                <a:srgbClr val="FBBF24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F3E6E6"/>
                </a:solidFill>
                <a:latin typeface="Segoe UI"/>
              </a:rPr>
              <a:t>  Finish my continuing education hours before the December deadline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D9B6B6"/>
                </a:solidFill>
                <a:latin typeface="Segoe UI"/>
              </a:rPr>
              <a:t>Steady backbone, ambitious year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B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800" b="1">
                <a:solidFill>
                  <a:srgbClr val="7F1D1D"/>
                </a:solidFill>
                <a:latin typeface="Segoe UI"/>
              </a:rPr>
              <a:t>Win, and lift everyone up.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9B2C2C"/>
                </a:solidFill>
                <a:latin typeface="Segoe UI"/>
              </a:rPr>
              <a:t>A clinic that competes on results and grows with intent.</a:t>
            </a:r>
          </a:p>
        </p:txBody>
      </p:sp>
    </p:spTree>
  </p:cSld>
  <p:clrMapOvr>
    <a:masterClrMapping/>
  </p:clrMapOvr>
  <p:transition spd="med">
    <p:cover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Brian Hall</dc:creator>
  <cp:lastModifiedBy>Brian Hall</cp:lastModifiedBy>
  <dcterms:created xsi:type="dcterms:W3CDTF">2026-02-12T09:00:00Z</dcterms:created>
  <dcterms:modified xsi:type="dcterms:W3CDTF">2026-02-12T09:00:00Z</dcterms:modified>
</cp:coreProperties>
</file>