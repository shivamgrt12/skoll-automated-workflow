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Spring Forum on Advising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D7ECE5"/>
                </a:solidFill>
                <a:latin typeface="Georgia"/>
              </a:rPr>
              <a:t>Planning brief and run of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0302B"/>
                </a:solidFill>
                <a:latin typeface="Calibri"/>
              </a:rPr>
              <a:t>Hosted by the Student Association, Academic Affairs Committee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B6F68"/>
                </a:solidFill>
                <a:latin typeface="Calibri"/>
              </a:rPr>
              <a:t>Prepared by Brian Patterson, Vice President of Academic Affairs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302A"/>
                </a:solidFill>
                <a:latin typeface="Georgia"/>
              </a:rPr>
              <a:t>The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71600"/>
            <a:ext cx="1828800" cy="73152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4028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20302B"/>
                </a:solidFill>
                <a:latin typeface="Calibri"/>
              </a:rPr>
              <a:t>Give students one honest hour on advising and course planning, then turn the most common gaps into a short list the faculty senate can act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F6F5C"/>
                </a:solidFill>
                <a:latin typeface="Calibri"/>
              </a:rPr>
              <a:t>Who it serves   </a:t>
            </a:r>
            <a:r>
              <a:rPr sz="1500" b="0" i="0">
                <a:solidFill>
                  <a:srgbClr val="5B6F68"/>
                </a:solidFill>
                <a:latin typeface="Calibri"/>
              </a:rPr>
              <a:t>undergraduates choosing a path, especially first and second years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F6F5C"/>
                </a:solidFill>
                <a:latin typeface="Calibri"/>
              </a:rPr>
              <a:t>What success looks like   </a:t>
            </a:r>
            <a:r>
              <a:rPr sz="1500" b="0" i="0">
                <a:solidFill>
                  <a:srgbClr val="5B6F68"/>
                </a:solidFill>
                <a:latin typeface="Calibri"/>
              </a:rPr>
              <a:t>a packed room and three concrete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F68"/>
                </a:solidFill>
                <a:latin typeface="Calibri"/>
              </a:rPr>
              <a:t>Academic Affairs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F6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302A"/>
                </a:solidFill>
                <a:latin typeface="Georgia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25880"/>
            <a:ext cx="1828800" cy="73152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10332720" cy="36576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0511" y="2267712"/>
            <a:ext cx="256032" cy="256032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6F5C"/>
                </a:solidFill>
                <a:latin typeface="Calibri"/>
              </a:rPr>
              <a:t>Oct 26,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302B"/>
                </a:solidFill>
                <a:latin typeface="Calibri"/>
              </a:rPr>
              <a:t>Planning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F68"/>
                </a:solidFill>
                <a:latin typeface="Calibri"/>
              </a:rPr>
              <a:t>Lock the date and confirm Goldstein Auditorium</a:t>
            </a:r>
          </a:p>
        </p:txBody>
      </p:sp>
      <p:sp>
        <p:nvSpPr>
          <p:cNvPr id="9" name="Oval 8"/>
          <p:cNvSpPr/>
          <p:nvPr/>
        </p:nvSpPr>
        <p:spPr>
          <a:xfrm>
            <a:off x="4023359" y="2267712"/>
            <a:ext cx="256032" cy="256032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2651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6F5C"/>
                </a:solidFill>
                <a:latin typeface="Calibri"/>
              </a:rPr>
              <a:t>Nov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3063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302B"/>
                </a:solidFill>
                <a:latin typeface="Calibri"/>
              </a:rPr>
              <a:t>Panel invitations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361188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F68"/>
                </a:solidFill>
                <a:latin typeface="Calibri"/>
              </a:rPr>
              <a:t>Advising office and two faculty advisors</a:t>
            </a:r>
          </a:p>
        </p:txBody>
      </p:sp>
      <p:sp>
        <p:nvSpPr>
          <p:cNvPr id="13" name="Oval 12"/>
          <p:cNvSpPr/>
          <p:nvPr/>
        </p:nvSpPr>
        <p:spPr>
          <a:xfrm>
            <a:off x="6236207" y="2267712"/>
            <a:ext cx="256032" cy="256032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4376" y="2651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6F5C"/>
                </a:solidFill>
                <a:latin typeface="Calibri"/>
              </a:rPr>
              <a:t>Jan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063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302B"/>
                </a:solidFill>
                <a:latin typeface="Calibri"/>
              </a:rPr>
              <a:t>Promotion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361188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F68"/>
                </a:solidFill>
                <a:latin typeface="Calibri"/>
              </a:rPr>
              <a:t>Flyers, residence halls, and the events page</a:t>
            </a:r>
          </a:p>
        </p:txBody>
      </p:sp>
      <p:sp>
        <p:nvSpPr>
          <p:cNvPr id="17" name="Oval 16"/>
          <p:cNvSpPr/>
          <p:nvPr/>
        </p:nvSpPr>
        <p:spPr>
          <a:xfrm>
            <a:off x="8449056" y="2267712"/>
            <a:ext cx="256032" cy="256032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7223" y="2651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6F5C"/>
                </a:solidFill>
                <a:latin typeface="Calibri"/>
              </a:rPr>
              <a:t>Feb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3" y="3063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302B"/>
                </a:solidFill>
                <a:latin typeface="Calibri"/>
              </a:rPr>
              <a:t>Forum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3" y="361188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F68"/>
                </a:solidFill>
                <a:latin typeface="Calibri"/>
              </a:rPr>
              <a:t>The event, with notes taken for the senate brief</a:t>
            </a:r>
          </a:p>
        </p:txBody>
      </p:sp>
      <p:sp>
        <p:nvSpPr>
          <p:cNvPr id="21" name="Oval 20"/>
          <p:cNvSpPr/>
          <p:nvPr/>
        </p:nvSpPr>
        <p:spPr>
          <a:xfrm>
            <a:off x="10661904" y="2267712"/>
            <a:ext cx="256032" cy="256032"/>
          </a:xfrm>
          <a:prstGeom prst="ellipse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2651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6F5C"/>
                </a:solidFill>
                <a:latin typeface="Calibri"/>
              </a:rPr>
              <a:t>Mar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3063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0302B"/>
                </a:solidFill>
                <a:latin typeface="Calibri"/>
              </a:rPr>
              <a:t>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361188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F68"/>
                </a:solidFill>
                <a:latin typeface="Calibri"/>
              </a:rPr>
              <a:t>Short list delivered to the faculty senate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F6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302A"/>
                </a:solidFill>
                <a:latin typeface="Georgia"/>
              </a:rPr>
              <a:t>Budget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1828800" cy="73152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1828800"/>
          </a:xfrm>
          <a:prstGeom prst="rect">
            <a:avLst/>
          </a:prstGeom>
          <a:solidFill>
            <a:srgbClr val="FFFFFF"/>
          </a:solidFill>
          <a:ln w="1651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F6F5C"/>
                </a:solidFill>
                <a:latin typeface="Georgia"/>
              </a:rPr>
              <a:t>$945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F68"/>
                </a:solidFill>
                <a:latin typeface="Calibri"/>
              </a:rPr>
              <a:t>Total income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337560" cy="1828800"/>
          </a:xfrm>
          <a:prstGeom prst="rect">
            <a:avLst/>
          </a:prstGeom>
          <a:solidFill>
            <a:srgbClr val="FFFFFF"/>
          </a:solidFill>
          <a:ln w="16510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057400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C98A2B"/>
                </a:solidFill>
                <a:latin typeface="Georgia"/>
              </a:rPr>
              <a:t>$800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632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F68"/>
                </a:solidFill>
                <a:latin typeface="Calibri"/>
              </a:rPr>
              <a:t>Total expenses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828800"/>
            <a:ext cx="3337560" cy="1828800"/>
          </a:xfrm>
          <a:prstGeom prst="rect">
            <a:avLst/>
          </a:prstGeom>
          <a:solidFill>
            <a:srgbClr val="FFFFFF"/>
          </a:solidFill>
          <a:ln w="16510">
            <a:solidFill>
              <a:srgbClr val="203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057400"/>
            <a:ext cx="3337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20302B"/>
                </a:solidFill>
                <a:latin typeface="Georgia"/>
              </a:rPr>
              <a:t>$145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0632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F68"/>
                </a:solidFill>
                <a:latin typeface="Calibri"/>
              </a:rPr>
              <a:t>Balance held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0302B"/>
                </a:solidFill>
                <a:latin typeface="Calibri"/>
              </a:rPr>
              <a:t>Largest line is the speaker travel stipend at $350. Refreshments at $210 keep the room full to the last question. The balance carries to the next committee event.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F6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302A"/>
                </a:solidFill>
                <a:latin typeface="Georgia"/>
              </a:rPr>
              <a:t>Volunteer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25880"/>
            <a:ext cx="1828800" cy="73152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91640"/>
          <a:ext cx="10424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108960"/>
                <a:gridCol w="1828800"/>
                <a:gridCol w="1828800"/>
              </a:tblGrid>
              <a:tr h="5747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109728" marR="73152" marT="36576" marB="36576" anchor="ctr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Slot</a:t>
                      </a:r>
                    </a:p>
                  </a:txBody>
                  <a:tcPr marL="109728" marR="73152" marT="36576" marB="36576" anchor="ctr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Needed</a:t>
                      </a:r>
                    </a:p>
                  </a:txBody>
                  <a:tcPr marL="109728" marR="73152" marT="36576" marB="36576" anchor="ctr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Signed up</a:t>
                      </a:r>
                    </a:p>
                  </a:txBody>
                  <a:tcPr marL="109728" marR="73152" marT="36576" marB="36576" anchor="ctr">
                    <a:solidFill>
                      <a:srgbClr val="1F6F5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4:30 to 5:30 PM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Greeting and sign in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5:15 to 6:00 PM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Microphone runner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5:30 to 7:00 PM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Refreshments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5:00 to 7:00 PM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Note taking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5:30 to 7:00 PM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Cleanup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7:00 to 7:45 PM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30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73152" marT="36576" marB="36576" anchor="ctr">
                    <a:solidFill>
                      <a:srgbClr val="E6F1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F68"/>
                </a:solidFill>
                <a:latin typeface="Calibri"/>
              </a:rPr>
              <a:t>18 slots, 16 filled. Two open: one refreshments, one cleanup.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F6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302A"/>
                </a:solidFill>
                <a:latin typeface="Georgia"/>
              </a:rPr>
              <a:t>Run of 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1828800" cy="73152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98A2B"/>
                </a:solidFill>
                <a:latin typeface="Calibri"/>
              </a:rPr>
              <a:t>5:30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0302B"/>
                </a:solidFill>
                <a:latin typeface="Calibri"/>
              </a:rPr>
              <a:t>Doors and sign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98A2B"/>
                </a:solidFill>
                <a:latin typeface="Calibri"/>
              </a:rPr>
              <a:t>5:45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8716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0302B"/>
                </a:solidFill>
                <a:latin typeface="Calibri"/>
              </a:rPr>
              <a:t>Welcome and the three priorities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45535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98A2B"/>
                </a:solidFill>
                <a:latin typeface="Calibri"/>
              </a:rPr>
              <a:t>6:00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45535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0302B"/>
                </a:solidFill>
                <a:latin typeface="Calibri"/>
              </a:rPr>
              <a:t>Advising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03903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98A2B"/>
                </a:solidFill>
                <a:latin typeface="Calibri"/>
              </a:rPr>
              <a:t>6:35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803903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0302B"/>
                </a:solidFill>
                <a:latin typeface="Calibri"/>
              </a:rPr>
              <a:t>Open questions from the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1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98A2B"/>
                </a:solidFill>
                <a:latin typeface="Calibri"/>
              </a:rPr>
              <a:t>6:55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462271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0302B"/>
                </a:solidFill>
                <a:latin typeface="Calibri"/>
              </a:rPr>
              <a:t>Wrap and how to stay involved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39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98A2B"/>
                </a:solidFill>
                <a:latin typeface="Calibri"/>
              </a:rPr>
              <a:t>7:00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120639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0302B"/>
                </a:solidFill>
                <a:latin typeface="Calibri"/>
              </a:rPr>
              <a:t>Close and cleanup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F6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0"/>
            <a:ext cx="12191695" cy="9144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1">
                <a:solidFill>
                  <a:srgbClr val="FFFFFF"/>
                </a:solidFill>
                <a:latin typeface="Georgia"/>
              </a:rPr>
              <a:t>Stop by, or shape it with 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7ECE5"/>
                </a:solidFill>
                <a:latin typeface="Calibri"/>
              </a:rPr>
              <a:t>Academic affairs desk, Schine Student Center   .   the committee meets every other Monday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Patterson</dc:creator>
  <cp:lastModifiedBy>Brian Patterson</cp:lastModifiedBy>
  <cp:revision>1</cp:revision>
  <dcterms:created xsi:type="dcterms:W3CDTF">2025-11-05T10:00:00Z</dcterms:created>
  <dcterms:modified xsi:type="dcterms:W3CDTF">2025-11-05T10:00:00Z</dcterms:modified>
</cp:coreProperties>
</file>