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affected</c:v>
                </c:pt>
              </c:strCache>
            </c:strRef>
          </c:tx>
          <c:spPr>
            <a:solidFill>
              <a:srgbClr val="E0902A"/>
            </a:solidFill>
          </c:spPr>
          <c:cat>
            <c:strRef>
              <c:f>Sheet1!$A$2:$A$6</c:f>
              <c:strCache>
                <c:ptCount val="5"/>
                <c:pt idx="0">
                  <c:v>Arts and Sciences</c:v>
                </c:pt>
                <c:pt idx="1">
                  <c:v>Maxwell</c:v>
                </c:pt>
                <c:pt idx="2">
                  <c:v>Engineering</c:v>
                </c:pt>
                <c:pt idx="3">
                  <c:v>Management</c:v>
                </c:pt>
                <c:pt idx="4">
                  <c:v>Education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28</c:v>
                </c:pt>
                <c:pt idx="2">
                  <c:v>19</c:v>
                </c:pt>
                <c:pt idx="3">
                  <c:v>15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F0EEE9"/>
            </a:solidFill>
          </a:ln>
        </c:spPr>
        <c:txPr>
          <a:bodyPr/>
          <a:lstStyle/>
          <a:p>
            <a:pPr>
              <a:defRPr sz="1000">
                <a:solidFill>
                  <a:srgbClr val="F0EEE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F0EEE9"/>
            </a:solidFill>
          </a:ln>
        </c:spPr>
        <c:txPr>
          <a:bodyPr/>
          <a:lstStyle/>
          <a:p>
            <a:pPr>
              <a:defRPr sz="1000">
                <a:solidFill>
                  <a:srgbClr val="F0EEE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EEE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151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280160" cy="128016"/>
          </a:xfrm>
          <a:prstGeom prst="rect">
            <a:avLst/>
          </a:prstGeom>
          <a:solidFill>
            <a:srgbClr val="E0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0EEE9"/>
                </a:solidFill>
                <a:latin typeface="Calibri"/>
              </a:rPr>
              <a:t>Academic Affairs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E0902A"/>
                </a:solidFill>
                <a:latin typeface="Calibri"/>
              </a:rPr>
              <a:t>Fall priorities and where each one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7A39B"/>
                </a:solidFill>
                <a:latin typeface="Calibri"/>
              </a:rPr>
              <a:t>Student Association   .   Brian Patterson, Vice President of Academic Affairs   .   Fall 2025</a:t>
            </a:r>
          </a:p>
        </p:txBody>
      </p:sp>
    </p:spTree>
  </p:cSld>
  <p:clrMapOvr>
    <a:masterClrMapping/>
  </p:clrMapOvr>
  <p:transition spd="med">
    <p:cover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0EEE9"/>
                </a:solidFill>
                <a:latin typeface="Calibri"/>
              </a:rPr>
              <a:t>Three things moving this 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234440"/>
            <a:ext cx="1828800" cy="73152"/>
          </a:xfrm>
          <a:prstGeom prst="rect">
            <a:avLst/>
          </a:prstGeom>
          <a:solidFill>
            <a:srgbClr val="E0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3520440" cy="3657600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520440" cy="146304"/>
          </a:xfrm>
          <a:prstGeom prst="rect">
            <a:avLst/>
          </a:prstGeom>
          <a:solidFill>
            <a:srgbClr val="54B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286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0EEE9"/>
                </a:solidFill>
                <a:latin typeface="Calibri"/>
              </a:rPr>
              <a:t>Syllabus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2004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7A39B"/>
                </a:solidFill>
                <a:latin typeface="Calibri"/>
              </a:rPr>
              <a:t>Post syllabi a week before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4846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4B585"/>
                </a:solidFill>
                <a:latin typeface="Calibri"/>
              </a:rPr>
              <a:t>ON TRACK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1828800"/>
            <a:ext cx="3520440" cy="3657600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0288" y="1828800"/>
            <a:ext cx="3520440" cy="146304"/>
          </a:xfrm>
          <a:prstGeom prst="rect">
            <a:avLst/>
          </a:prstGeom>
          <a:solidFill>
            <a:srgbClr val="E0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2286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0EEE9"/>
                </a:solidFill>
                <a:latin typeface="Calibri"/>
              </a:rPr>
              <a:t>Exam relief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32004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7A39B"/>
                </a:solidFill>
                <a:latin typeface="Calibri"/>
              </a:rPr>
              <a:t>A fair policy for three finals in one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4846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902A"/>
                </a:solidFill>
                <a:latin typeface="Calibri"/>
              </a:rPr>
              <a:t>GATHERING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6" y="1828800"/>
            <a:ext cx="3520440" cy="3657600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11896" y="1828800"/>
            <a:ext cx="3520440" cy="146304"/>
          </a:xfrm>
          <a:prstGeom prst="rect">
            <a:avLst/>
          </a:prstGeom>
          <a:solidFill>
            <a:srgbClr val="D2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1936" y="2286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0EEE9"/>
                </a:solidFill>
                <a:latin typeface="Calibri"/>
              </a:rPr>
              <a:t>Spring forum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2004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7A39B"/>
                </a:solidFill>
                <a:latin typeface="Calibri"/>
              </a:rPr>
              <a:t>A student forum on advising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846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2728A"/>
                </a:solidFill>
                <a:latin typeface="Calibri"/>
              </a:rPr>
              <a:t>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7A39B"/>
                </a:solidFill>
                <a:latin typeface="Calibri"/>
              </a:rPr>
              <a:t>Schine Student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7A39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4B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EEE9"/>
                </a:solidFill>
                <a:latin typeface="Calibri"/>
              </a:rPr>
              <a:t>Syllabus access before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54B585"/>
                </a:solidFill>
                <a:latin typeface="Calibri"/>
              </a:rPr>
              <a:t>70%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7A39B"/>
                </a:solidFill>
                <a:latin typeface="Calibri"/>
              </a:rPr>
              <a:t>of the path to a faculty senate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F0EEE9"/>
                </a:solidFill>
                <a:latin typeface="Calibri"/>
              </a:rPr>
              <a:t>Students pick classes blind.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A7A39B"/>
                </a:solidFill>
                <a:latin typeface="Calibri"/>
              </a:rPr>
              <a:t>The draft recommendation asks that syllabi post at least one week before registration opens, so workload and books are known before a student commits.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1">
                <a:solidFill>
                  <a:srgbClr val="54B585"/>
                </a:solidFill>
                <a:latin typeface="Calibri"/>
              </a:rPr>
              <a:t>Draft goes to the faculty senate this 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7A39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EEE9"/>
                </a:solidFill>
                <a:latin typeface="Calibri"/>
              </a:rPr>
              <a:t>Exam scheduling relief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7A39B"/>
                </a:solidFill>
                <a:latin typeface="Calibri"/>
              </a:rPr>
              <a:t>Reported cases of three or more finals in a single day, by college, from the registrar pull.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20240"/>
          <a:ext cx="10515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7A39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EEE9"/>
                </a:solidFill>
                <a:latin typeface="Calibri"/>
              </a:rPr>
              <a:t>A spring forum on advising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74519"/>
            <a:ext cx="146304" cy="640080"/>
          </a:xfrm>
          <a:prstGeom prst="rect">
            <a:avLst/>
          </a:prstGeom>
          <a:solidFill>
            <a:srgbClr val="D2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0EEE9"/>
                </a:solidFill>
                <a:latin typeface="Calibri"/>
              </a:rPr>
              <a:t>Theme   </a:t>
            </a:r>
            <a:r>
              <a:rPr sz="1500" b="0" i="0">
                <a:solidFill>
                  <a:srgbClr val="A7A39B"/>
                </a:solidFill>
                <a:latin typeface="Calibri"/>
              </a:rPr>
              <a:t>Advising and course planning, set with the committee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46304" cy="640080"/>
          </a:xfrm>
          <a:prstGeom prst="rect">
            <a:avLst/>
          </a:prstGeom>
          <a:solidFill>
            <a:srgbClr val="D2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0EEE9"/>
                </a:solidFill>
                <a:latin typeface="Calibri"/>
              </a:rPr>
              <a:t>Planning meeting   </a:t>
            </a:r>
            <a:r>
              <a:rPr sz="1500" b="0" i="0">
                <a:solidFill>
                  <a:srgbClr val="A7A39B"/>
                </a:solidFill>
                <a:latin typeface="Calibri"/>
              </a:rPr>
              <a:t>October 26, 2026, with Amara Williams confirming the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886200"/>
            <a:ext cx="146304" cy="640080"/>
          </a:xfrm>
          <a:prstGeom prst="rect">
            <a:avLst/>
          </a:prstGeom>
          <a:solidFill>
            <a:srgbClr val="D2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0EEE9"/>
                </a:solidFill>
                <a:latin typeface="Calibri"/>
              </a:rPr>
              <a:t>Format   </a:t>
            </a:r>
            <a:r>
              <a:rPr sz="1500" b="0" i="0">
                <a:solidFill>
                  <a:srgbClr val="A7A39B"/>
                </a:solidFill>
                <a:latin typeface="Calibri"/>
              </a:rPr>
              <a:t>A panel from the advising office and an open question floor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892040"/>
            <a:ext cx="146304" cy="640080"/>
          </a:xfrm>
          <a:prstGeom prst="rect">
            <a:avLst/>
          </a:prstGeom>
          <a:solidFill>
            <a:srgbClr val="D2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0EEE9"/>
                </a:solidFill>
                <a:latin typeface="Calibri"/>
              </a:rPr>
              <a:t>Goal   </a:t>
            </a:r>
            <a:r>
              <a:rPr sz="1500" b="0" i="0">
                <a:solidFill>
                  <a:srgbClr val="A7A39B"/>
                </a:solidFill>
                <a:latin typeface="Calibri"/>
              </a:rPr>
              <a:t>Turn common advising gaps into a short list for the faculty senate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7A39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0EEE9"/>
                </a:solidFill>
                <a:latin typeface="Calibri"/>
              </a:rPr>
              <a:t>Forum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280160"/>
            <a:ext cx="1828800" cy="73152"/>
          </a:xfrm>
          <a:prstGeom prst="rect">
            <a:avLst/>
          </a:prstGeom>
          <a:solidFill>
            <a:srgbClr val="E0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45920"/>
          <a:ext cx="10424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286000"/>
                <a:gridCol w="228600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4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109728" marR="73152" marT="36576" marB="36576" anchor="ctr">
                    <a:solidFill>
                      <a:srgbClr val="E09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4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109728" marR="73152" marT="36576" marB="36576" anchor="ctr">
                    <a:solidFill>
                      <a:srgbClr val="E09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4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109728" marR="73152" marT="36576" marB="36576" anchor="ctr">
                    <a:solidFill>
                      <a:srgbClr val="E090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Student Association allocation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Income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$600.00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Bake sale proceeds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Income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$145.00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Department co sponsor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Income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$200.00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Room and audiovisual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Expense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$120.00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Speaker travel stipend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Expense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$350.00</a:t>
                      </a:r>
                    </a:p>
                  </a:txBody>
                  <a:tcPr marL="109728" marR="73152" marT="36576" marB="36576" anchor="ctr">
                    <a:solidFill>
                      <a:srgbClr val="2626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Refreshments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Expense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0EEE9"/>
                          </a:solidFill>
                          <a:latin typeface="Calibri"/>
                        </a:rPr>
                        <a:t>$210.00</a:t>
                      </a:r>
                    </a:p>
                  </a:txBody>
                  <a:tcPr marL="109728" marR="73152" marT="36576" marB="36576" anchor="ctr">
                    <a:solidFill>
                      <a:srgbClr val="2A2A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4B585"/>
                          </a:solidFill>
                          <a:latin typeface="Calibri"/>
                        </a:rPr>
                        <a:t>Balance held</a:t>
                      </a:r>
                    </a:p>
                  </a:txBody>
                  <a:tcPr marL="109728" marR="73152" marT="36576" marB="36576" anchor="ctr">
                    <a:solidFill>
                      <a:srgbClr val="33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4B585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9728" marR="73152" marT="36576" marB="36576" anchor="ctr">
                    <a:solidFill>
                      <a:srgbClr val="33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4B585"/>
                          </a:solidFill>
                          <a:latin typeface="Calibri"/>
                        </a:rPr>
                        <a:t>$145.00</a:t>
                      </a:r>
                    </a:p>
                  </a:txBody>
                  <a:tcPr marL="109728" marR="73152" marT="36576" marB="36576" anchor="ctr">
                    <a:solidFill>
                      <a:srgbClr val="3332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7A39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E09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EEE9"/>
                </a:solidFill>
                <a:latin typeface="Calibri"/>
              </a:rPr>
              <a:t>Bring your questions. We will take them to the senate.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0902A"/>
                </a:solidFill>
                <a:latin typeface="Calibri"/>
              </a:rPr>
              <a:t>Town hall: October 22, 2026, Goldstein Auditorium, 5:30 PM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7A39B"/>
                </a:solidFill>
                <a:latin typeface="Calibri"/>
              </a:rPr>
              <a:t>Academic affairs desk   .   Student Association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Patterson</dc:creator>
  <cp:lastModifiedBy>Brian Patterson</cp:lastModifiedBy>
  <cp:revision>1</cp:revision>
  <dcterms:created xsi:type="dcterms:W3CDTF">2025-11-05T10:00:00Z</dcterms:created>
  <dcterms:modified xsi:type="dcterms:W3CDTF">2025-11-05T10:00:00Z</dcterms:modified>
</cp:coreProperties>
</file>