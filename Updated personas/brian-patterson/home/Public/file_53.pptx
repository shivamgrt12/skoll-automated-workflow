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Before vote</c:v>
                </c:pt>
              </c:strCache>
            </c:strRef>
          </c:tx>
          <c:spPr>
            <a:solidFill>
              <a:srgbClr val="5E6B7A"/>
            </a:solidFill>
          </c:spPr>
          <c:cat>
            <c:strRef>
              <c:f>Sheet1!$A$2:$A$4</c:f>
              <c:strCache>
                <c:ptCount val="3"/>
                <c:pt idx="0">
                  <c:v>River City</c:v>
                </c:pt>
                <c:pt idx="1">
                  <c:v>Lakeside</c:v>
                </c:pt>
                <c:pt idx="2">
                  <c:v>Mill Town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</c:v>
                </c:pt>
                <c:pt idx="1">
                  <c:v>38</c:v>
                </c:pt>
                <c:pt idx="2">
                  <c:v>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vote and report</c:v>
                </c:pt>
              </c:strCache>
            </c:strRef>
          </c:tx>
          <c:spPr>
            <a:solidFill>
              <a:srgbClr val="2F8F8A"/>
            </a:solidFill>
          </c:spPr>
          <c:cat>
            <c:strRef>
              <c:f>Sheet1!$A$2:$A$4</c:f>
              <c:strCache>
                <c:ptCount val="3"/>
                <c:pt idx="0">
                  <c:v>River City</c:v>
                </c:pt>
                <c:pt idx="1">
                  <c:v>Lakeside</c:v>
                </c:pt>
                <c:pt idx="2">
                  <c:v>Mill Town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57</c:v>
                </c:pt>
                <c:pt idx="1">
                  <c:v>50</c:v>
                </c:pt>
                <c:pt idx="2">
                  <c:v>43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1D2733"/>
            </a:solidFill>
          </a:ln>
        </c:spPr>
        <c:txPr>
          <a:bodyPr/>
          <a:lstStyle/>
          <a:p>
            <a:pPr>
              <a:defRPr sz="1000">
                <a:solidFill>
                  <a:srgbClr val="1D2733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spPr>
          <a:ln>
            <a:solidFill>
              <a:srgbClr val="1D2733"/>
            </a:solidFill>
          </a:ln>
        </c:spPr>
        <c:txPr>
          <a:bodyPr/>
          <a:lstStyle/>
          <a:p>
            <a:pPr>
              <a:defRPr sz="1000">
                <a:solidFill>
                  <a:srgbClr val="1D2733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1D2733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109728"/>
          </a:xfrm>
          <a:prstGeom prst="rect">
            <a:avLst/>
          </a:prstGeom>
          <a:solidFill>
            <a:srgbClr val="2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Participatory Budgeting and Trust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in Midsize City Governments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1">
                <a:solidFill>
                  <a:srgbClr val="BFE3DF"/>
                </a:solidFill>
                <a:latin typeface="Georgia"/>
              </a:rPr>
              <a:t>When the vote builds trust, and when the results report is what does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9496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CDD8E6"/>
                </a:solidFill>
                <a:latin typeface="Calibri"/>
              </a:rPr>
              <a:t>Brian Patterson   .   Research assistant to Dr. Helen Voss   .   Department of Political Science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F3A63"/>
                </a:solidFill>
                <a:latin typeface="Georgia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325880"/>
            <a:ext cx="1828800" cy="73152"/>
          </a:xfrm>
          <a:prstGeom prst="rect">
            <a:avLst/>
          </a:prstGeom>
          <a:solidFill>
            <a:srgbClr val="2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2F8F8A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737360"/>
            <a:ext cx="9326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D2733"/>
                </a:solidFill>
                <a:latin typeface="Calibri"/>
              </a:rPr>
              <a:t>The question   </a:t>
            </a:r>
            <a:r>
              <a:rPr sz="1400" b="0" i="0">
                <a:solidFill>
                  <a:srgbClr val="5E6B7A"/>
                </a:solidFill>
                <a:latin typeface="Calibri"/>
              </a:rPr>
              <a:t>Why budgeting and trust, and why midsize cities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2F8F8A"/>
                </a:solidFill>
                <a:latin typeface="Georgia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651760"/>
            <a:ext cx="9326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D2733"/>
                </a:solidFill>
                <a:latin typeface="Calibri"/>
              </a:rPr>
              <a:t>Thesis   </a:t>
            </a:r>
            <a:r>
              <a:rPr sz="1400" b="0" i="0">
                <a:solidFill>
                  <a:srgbClr val="5E6B7A"/>
                </a:solidFill>
                <a:latin typeface="Calibri"/>
              </a:rPr>
              <a:t>What closes the loop between a vote and trust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2F8F8A"/>
                </a:solidFill>
                <a:latin typeface="Georgia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3566160"/>
            <a:ext cx="9326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D2733"/>
                </a:solidFill>
                <a:latin typeface="Calibri"/>
              </a:rPr>
              <a:t>Method   </a:t>
            </a:r>
            <a:r>
              <a:rPr sz="1400" b="0" i="0">
                <a:solidFill>
                  <a:srgbClr val="5E6B7A"/>
                </a:solidFill>
                <a:latin typeface="Calibri"/>
              </a:rPr>
              <a:t>Three cases, five years, coded for a results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48056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2F8F8A"/>
                </a:solidFill>
                <a:latin typeface="Georgia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4480560"/>
            <a:ext cx="9326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D2733"/>
                </a:solidFill>
                <a:latin typeface="Calibri"/>
              </a:rPr>
              <a:t>Findings   </a:t>
            </a:r>
            <a:r>
              <a:rPr sz="1400" b="0" i="0">
                <a:solidFill>
                  <a:srgbClr val="5E6B7A"/>
                </a:solidFill>
                <a:latin typeface="Calibri"/>
              </a:rPr>
              <a:t>Where the trust gains concentrate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9496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2F8F8A"/>
                </a:solidFill>
                <a:latin typeface="Georgia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5394960"/>
            <a:ext cx="9326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D2733"/>
                </a:solidFill>
                <a:latin typeface="Calibri"/>
              </a:rPr>
              <a:t>Limitations   </a:t>
            </a:r>
            <a:r>
              <a:rPr sz="1400" b="0" i="0">
                <a:solidFill>
                  <a:srgbClr val="5E6B7A"/>
                </a:solidFill>
                <a:latin typeface="Calibri"/>
              </a:rPr>
              <a:t>What the design cannot yet show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E6B7A"/>
                </a:solidFill>
                <a:latin typeface="Calibri"/>
              </a:rPr>
              <a:t>Municipal governance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0080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E6B7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F8F8A"/>
                </a:solidFill>
                <a:latin typeface="Calibri"/>
              </a:rPr>
              <a:t>THE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Does opening a share of capital spending to a direct resident vote raise trust in city government,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or does trust depend on what the city does after the vote?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FB3C9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Georgia"/>
              </a:rPr>
              <a:t>Thesis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37360"/>
            <a:ext cx="5120640" cy="4023360"/>
          </a:xfrm>
          <a:prstGeom prst="rect">
            <a:avLst/>
          </a:prstGeom>
          <a:solidFill>
            <a:srgbClr val="EEF4F3"/>
          </a:solidFill>
          <a:ln w="19050">
            <a:solidFill>
              <a:srgbClr val="2F8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057400"/>
            <a:ext cx="457200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F8F8A"/>
                </a:solidFill>
                <a:latin typeface="Calibri"/>
              </a:rPr>
              <a:t>Claim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D2733"/>
                </a:solidFill>
                <a:latin typeface="Calibri"/>
              </a:rPr>
              <a:t>Trust gains concentrate in cities that close the loop with a public results report, not in cities that hold the vote alone.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737360"/>
            <a:ext cx="5029200" cy="4023360"/>
          </a:xfrm>
          <a:prstGeom prst="rect">
            <a:avLst/>
          </a:prstGeom>
          <a:solidFill>
            <a:srgbClr val="F6F1E8"/>
          </a:solidFill>
          <a:ln w="19050">
            <a:solidFill>
              <a:srgbClr val="C98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400" y="2057400"/>
            <a:ext cx="448056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C98A2B"/>
                </a:solidFill>
                <a:latin typeface="Calibri"/>
              </a:rPr>
              <a:t>Why it matters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D2733"/>
                </a:solidFill>
                <a:latin typeface="Calibri"/>
              </a:rPr>
              <a:t>A vote raises expectations. If residents never see what was funded and built, the process can erode the very trust it was meant to grow.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E6B7A"/>
                </a:solidFill>
                <a:latin typeface="Calibri"/>
              </a:rPr>
              <a:t>Brian Patterson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0080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E6B7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  <p:transition spd="med">
    <p:wip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F3A63"/>
                </a:solidFill>
                <a:latin typeface="Georgia"/>
              </a:rPr>
              <a:t>Method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325880"/>
            <a:ext cx="1828800" cy="73152"/>
          </a:xfrm>
          <a:prstGeom prst="rect">
            <a:avLst/>
          </a:prstGeom>
          <a:solidFill>
            <a:srgbClr val="2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5E6B7A"/>
                </a:solidFill>
                <a:latin typeface="Calibri"/>
              </a:rPr>
              <a:t>Three city cases over a five year window, using published budget documents and resident survey data.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2377440"/>
          <a:ext cx="104241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474720"/>
                <a:gridCol w="2286000"/>
                <a:gridCol w="2286000"/>
              </a:tblGrid>
              <a:tr h="6858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City case</a:t>
                      </a:r>
                    </a:p>
                  </a:txBody>
                  <a:tcPr marL="109728" marR="73152" marT="36576" marB="36576" anchor="ctr">
                    <a:solidFill>
                      <a:srgbClr val="1F3A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Population band</a:t>
                      </a:r>
                    </a:p>
                  </a:txBody>
                  <a:tcPr marL="109728" marR="73152" marT="36576" marB="36576" anchor="ctr">
                    <a:solidFill>
                      <a:srgbClr val="1F3A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Results report</a:t>
                      </a:r>
                    </a:p>
                  </a:txBody>
                  <a:tcPr marL="109728" marR="73152" marT="36576" marB="36576" anchor="ctr">
                    <a:solidFill>
                      <a:srgbClr val="1F3A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Trust change</a:t>
                      </a:r>
                    </a:p>
                  </a:txBody>
                  <a:tcPr marL="109728" marR="73152" marT="36576" marB="36576" anchor="ctr">
                    <a:solidFill>
                      <a:srgbClr val="1F3A6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D2733"/>
                          </a:solidFill>
                          <a:latin typeface="Calibri"/>
                        </a:rPr>
                        <a:t>River City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D2733"/>
                          </a:solidFill>
                          <a:latin typeface="Calibri"/>
                        </a:rPr>
                        <a:t>180,000 to 220,000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D273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D2733"/>
                          </a:solidFill>
                          <a:latin typeface="Calibri"/>
                        </a:rPr>
                        <a:t>plus 16 points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D2733"/>
                          </a:solidFill>
                          <a:latin typeface="Calibri"/>
                        </a:rPr>
                        <a:t>Lakeside</a:t>
                      </a:r>
                    </a:p>
                  </a:txBody>
                  <a:tcPr marL="109728" marR="73152" marT="36576" marB="36576" anchor="ctr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D2733"/>
                          </a:solidFill>
                          <a:latin typeface="Calibri"/>
                        </a:rPr>
                        <a:t>250,000 to 300,000</a:t>
                      </a:r>
                    </a:p>
                  </a:txBody>
                  <a:tcPr marL="109728" marR="73152" marT="36576" marB="36576" anchor="ctr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D273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109728" marR="73152" marT="36576" marB="36576" anchor="ctr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D2733"/>
                          </a:solidFill>
                          <a:latin typeface="Calibri"/>
                        </a:rPr>
                        <a:t>plus 12 points</a:t>
                      </a:r>
                    </a:p>
                  </a:txBody>
                  <a:tcPr marL="109728" marR="73152" marT="36576" marB="36576" anchor="ctr">
                    <a:solidFill>
                      <a:srgbClr val="EEF4F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D2733"/>
                          </a:solidFill>
                          <a:latin typeface="Calibri"/>
                        </a:rPr>
                        <a:t>Mill Town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D2733"/>
                          </a:solidFill>
                          <a:latin typeface="Calibri"/>
                        </a:rPr>
                        <a:t>120,000 to 160,000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D2733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D2733"/>
                          </a:solidFill>
                          <a:latin typeface="Calibri"/>
                        </a:rPr>
                        <a:t>plus 3 points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338560" y="640080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E6B7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  <p:transition spd="med">
    <p:push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F3A63"/>
                </a:solidFill>
                <a:latin typeface="Georgia"/>
              </a:rPr>
              <a:t>Process trust, before and after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325880"/>
            <a:ext cx="1828800" cy="73152"/>
          </a:xfrm>
          <a:prstGeom prst="rect">
            <a:avLst/>
          </a:prstGeom>
          <a:solidFill>
            <a:srgbClr val="2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68680" y="1645920"/>
          <a:ext cx="1042416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338560" y="640080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E6B7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Georgia"/>
              </a:rPr>
              <a:t>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91640"/>
            <a:ext cx="164592" cy="822960"/>
          </a:xfrm>
          <a:prstGeom prst="rect">
            <a:avLst/>
          </a:prstGeom>
          <a:solidFill>
            <a:srgbClr val="2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6459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D2733"/>
                </a:solidFill>
                <a:latin typeface="Calibri"/>
              </a:rPr>
              <a:t>Closing the loop is the lever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E6B7A"/>
                </a:solidFill>
                <a:latin typeface="Calibri"/>
              </a:rPr>
              <a:t>Both cities that issued a results report saw double digit trust gains. The city that skipped it barely moved.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108960"/>
            <a:ext cx="164592" cy="822960"/>
          </a:xfrm>
          <a:prstGeom prst="rect">
            <a:avLst/>
          </a:prstGeom>
          <a:solidFill>
            <a:srgbClr val="2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0632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D2733"/>
                </a:solidFill>
                <a:latin typeface="Calibri"/>
              </a:rPr>
              <a:t>The vote alone is not enough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E6B7A"/>
                </a:solidFill>
                <a:latin typeface="Calibri"/>
              </a:rPr>
              <a:t>Turnout rose everywhere, but trust tracked the report, not the ballot count.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526280"/>
            <a:ext cx="164592" cy="822960"/>
          </a:xfrm>
          <a:prstGeom prst="rect">
            <a:avLst/>
          </a:prstGeom>
          <a:solidFill>
            <a:srgbClr val="2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4805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D2733"/>
                </a:solidFill>
                <a:latin typeface="Calibri"/>
              </a:rPr>
              <a:t>Reporting is cheap relative to effect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E6B7A"/>
                </a:solidFill>
                <a:latin typeface="Calibri"/>
              </a:rPr>
              <a:t>A short public summary of what was funded carried most of the measured gain.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0080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E6B7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  <p:transition spd="med">
    <p:wip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F3A63"/>
                </a:solidFill>
                <a:latin typeface="Georgia"/>
              </a:rPr>
              <a:t>Limitations and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325880"/>
            <a:ext cx="1828800" cy="73152"/>
          </a:xfrm>
          <a:prstGeom prst="rect">
            <a:avLst/>
          </a:prstGeom>
          <a:solidFill>
            <a:srgbClr val="2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 i="0">
                <a:solidFill>
                  <a:srgbClr val="2F8F8A"/>
                </a:solidFill>
                <a:latin typeface="Calibri"/>
              </a:rPr>
              <a:t>Survey timing.  </a:t>
            </a:r>
            <a:r>
              <a:rPr sz="1600" b="0" i="0">
                <a:solidFill>
                  <a:srgbClr val="1D2733"/>
                </a:solidFill>
                <a:latin typeface="Calibri"/>
              </a:rPr>
              <a:t>Post vote surveys may capture excitement rather than durable trust.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 i="0">
                <a:solidFill>
                  <a:srgbClr val="2F8F8A"/>
                </a:solidFill>
                <a:latin typeface="Calibri"/>
              </a:rPr>
              <a:t>Self selection.  </a:t>
            </a:r>
            <a:r>
              <a:rPr sz="1600" b="0" i="0">
                <a:solidFill>
                  <a:srgbClr val="1D2733"/>
                </a:solidFill>
                <a:latin typeface="Calibri"/>
              </a:rPr>
              <a:t>Residents who vote may already trust the city more than those who do not.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 i="0">
                <a:solidFill>
                  <a:srgbClr val="2F8F8A"/>
                </a:solidFill>
                <a:latin typeface="Calibri"/>
              </a:rPr>
              <a:t>Small case count.  </a:t>
            </a:r>
            <a:r>
              <a:rPr sz="1600" b="0" i="0">
                <a:solidFill>
                  <a:srgbClr val="1D2733"/>
                </a:solidFill>
                <a:latin typeface="Calibri"/>
              </a:rPr>
              <a:t>Three cases show a pattern, not a population estimate.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 i="0">
                <a:solidFill>
                  <a:srgbClr val="C98A2B"/>
                </a:solidFill>
                <a:latin typeface="Calibri"/>
              </a:rPr>
              <a:t>Next phase.  </a:t>
            </a:r>
            <a:r>
              <a:rPr sz="1600" b="0" i="0">
                <a:solidFill>
                  <a:srgbClr val="1D2733"/>
                </a:solidFill>
                <a:latin typeface="Calibri"/>
              </a:rPr>
              <a:t>Add resident interviews to test why the results report changes trust, and widen to six cases.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0080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E6B7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  <p:transition spd="med">
    <p:push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91440"/>
          </a:xfrm>
          <a:prstGeom prst="rect">
            <a:avLst/>
          </a:prstGeom>
          <a:solidFill>
            <a:srgbClr val="2F8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1">
                <a:solidFill>
                  <a:srgbClr val="FFFFFF"/>
                </a:solidFill>
                <a:latin typeface="Georgia"/>
              </a:rPr>
              <a:t>Open the books, then show the receipts.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DD8E6"/>
                </a:solidFill>
                <a:latin typeface="Calibri"/>
              </a:rPr>
              <a:t>Brian Patterson   .   bpatterson@syr.edu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Brian Patterson</dc:creator>
  <cp:lastModifiedBy>Brian Patterson</cp:lastModifiedBy>
  <cp:revision>1</cp:revision>
  <dcterms:created xsi:type="dcterms:W3CDTF">2025-11-05T10:00:00Z</dcterms:created>
  <dcterms:modified xsi:type="dcterms:W3CDTF">2025-11-05T10:00:00Z</dcterms:modified>
</cp:coreProperties>
</file>