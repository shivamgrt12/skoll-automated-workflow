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Speed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Wk Jan 6</c:v>
                </c:pt>
                <c:pt idx="1">
                  <c:v>Wk Jan 13</c:v>
                </c:pt>
                <c:pt idx="2">
                  <c:v>Wk Jan 20</c:v>
                </c:pt>
                <c:pt idx="3">
                  <c:v>Wk Feb 3</c:v>
                </c:pt>
                <c:pt idx="4">
                  <c:v>Wk Feb 12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5.0</c:v>
                </c:pt>
                <c:pt idx="1">
                  <c:v>5.2</c:v>
                </c:pt>
                <c:pt idx="2">
                  <c:v>0.0</c:v>
                </c:pt>
                <c:pt idx="3">
                  <c:v>5.0</c:v>
                </c:pt>
                <c:pt idx="4">
                  <c:v>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Tempo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Wk Jan 6</c:v>
                </c:pt>
                <c:pt idx="1">
                  <c:v>Wk Jan 13</c:v>
                </c:pt>
                <c:pt idx="2">
                  <c:v>Wk Jan 20</c:v>
                </c:pt>
                <c:pt idx="3">
                  <c:v>Wk Feb 3</c:v>
                </c:pt>
                <c:pt idx="4">
                  <c:v>Wk Feb 12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6.2</c:v>
                </c:pt>
                <c:pt idx="1">
                  <c:v>0.0</c:v>
                </c:pt>
                <c:pt idx="2">
                  <c:v>7.0</c:v>
                </c:pt>
                <c:pt idx="3">
                  <c:v>0.0</c:v>
                </c:pt>
                <c:pt idx="4">
                  <c:v>6.5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Long Run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Wk Jan 6</c:v>
                </c:pt>
                <c:pt idx="1">
                  <c:v>Wk Jan 13</c:v>
                </c:pt>
                <c:pt idx="2">
                  <c:v>Wk Jan 20</c:v>
                </c:pt>
                <c:pt idx="3">
                  <c:v>Wk Feb 3</c:v>
                </c:pt>
                <c:pt idx="4">
                  <c:v>Wk Feb 12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12.0</c:v>
                </c:pt>
                <c:pt idx="1">
                  <c:v>13.1</c:v>
                </c:pt>
                <c:pt idx="2">
                  <c:v>11.0</c:v>
                </c:pt>
                <c:pt idx="3">
                  <c:v>12.5</c:v>
                </c:pt>
                <c:pt idx="4">
                  <c:v>10.0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Recovery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Wk Jan 6</c:v>
                </c:pt>
                <c:pt idx="1">
                  <c:v>Wk Jan 13</c:v>
                </c:pt>
                <c:pt idx="2">
                  <c:v>Wk Jan 20</c:v>
                </c:pt>
                <c:pt idx="3">
                  <c:v>Wk Feb 3</c:v>
                </c:pt>
                <c:pt idx="4">
                  <c:v>Wk Feb 12</c:v>
                </c:pt>
              </c:strCache>
            </c:strRef>
          </c:cat>
          <c:val>
            <c:numRef>
              <c:f>Sheet1!$E$2:$E$6</c:f>
              <c:numCache>
                <c:formatCode>General</c:formatCode>
                <c:ptCount val="5"/>
                <c:pt idx="0">
                  <c:v>3.1</c:v>
                </c:pt>
                <c:pt idx="1">
                  <c:v>0.0</c:v>
                </c:pt>
                <c:pt idx="2">
                  <c:v>0.0</c:v>
                </c:pt>
                <c:pt idx="3">
                  <c:v>0.0</c:v>
                </c:pt>
                <c:pt idx="4">
                  <c:v>0.0</c:v>
                </c:pt>
              </c:numCache>
            </c:numRef>
          </c:val>
        </c:ser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tr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Long Run Avg Pace (min/mi)</c:v>
                </c:pt>
              </c:strCache>
            </c:strRef>
          </c:tx>
          <c:marker>
            <c:symbol val="none"/>
          </c:marker>
          <c:cat>
            <c:strRef>
              <c:f>Sheet1!$A$2:$A$6</c:f>
              <c:strCache>
                <c:ptCount val="5"/>
                <c:pt idx="0">
                  <c:v>Jan 10</c:v>
                </c:pt>
                <c:pt idx="1">
                  <c:v>Jan 17</c:v>
                </c:pt>
                <c:pt idx="2">
                  <c:v>Jan 24</c:v>
                </c:pt>
                <c:pt idx="3">
                  <c:v>Feb 7</c:v>
                </c:pt>
                <c:pt idx="4">
                  <c:v>Feb 21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8.07</c:v>
                </c:pt>
                <c:pt idx="1">
                  <c:v>7.93</c:v>
                </c:pt>
                <c:pt idx="2">
                  <c:v>8.1</c:v>
                </c:pt>
                <c:pt idx="3">
                  <c:v>7.95</c:v>
                </c:pt>
                <c:pt idx="4">
                  <c:v>8.1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Goal Pace (7:47/mi)</c:v>
                </c:pt>
              </c:strCache>
            </c:strRef>
          </c:tx>
          <c:marker>
            <c:symbol val="none"/>
          </c:marker>
          <c:cat>
            <c:strRef>
              <c:f>Sheet1!$A$2:$A$6</c:f>
              <c:strCache>
                <c:ptCount val="5"/>
                <c:pt idx="0">
                  <c:v>Jan 10</c:v>
                </c:pt>
                <c:pt idx="1">
                  <c:v>Jan 17</c:v>
                </c:pt>
                <c:pt idx="2">
                  <c:v>Jan 24</c:v>
                </c:pt>
                <c:pt idx="3">
                  <c:v>Feb 7</c:v>
                </c:pt>
                <c:pt idx="4">
                  <c:v>Feb 21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7.78</c:v>
                </c:pt>
                <c:pt idx="1">
                  <c:v>7.78</c:v>
                </c:pt>
                <c:pt idx="2">
                  <c:v>7.78</c:v>
                </c:pt>
                <c:pt idx="3">
                  <c:v>7.78</c:v>
                </c:pt>
                <c:pt idx="4">
                  <c:v>7.78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Relationship Id="rId3" Type="http://schemas.openxmlformats.org/officeDocument/2006/relationships/image" Target="../media/image2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hicago_lakefron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0"/>
            <a:ext cx="5925312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217920" y="0"/>
            <a:ext cx="64008" cy="6858000"/>
          </a:xfrm>
          <a:prstGeom prst="rect">
            <a:avLst/>
          </a:prstGeom>
          <a:solidFill>
            <a:srgbClr val="F46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46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777240"/>
            <a:ext cx="5669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Lakefront Half-Marathon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2286000"/>
            <a:ext cx="5669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B0C4DE"/>
                </a:solidFill>
              </a:rPr>
              <a:t>Race Preparation and Goal-Setting Plan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3063240"/>
            <a:ext cx="2651760" cy="1188720"/>
          </a:xfrm>
          <a:prstGeom prst="rect">
            <a:avLst/>
          </a:prstGeom>
          <a:solidFill>
            <a:srgbClr val="1A3D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" y="3154680"/>
            <a:ext cx="2423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B0C4DE"/>
                </a:solidFill>
              </a:rPr>
              <a:t>Race Date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" y="3566160"/>
            <a:ext cx="2423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November 1, 2026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0" y="3063240"/>
            <a:ext cx="2651760" cy="1188720"/>
          </a:xfrm>
          <a:prstGeom prst="rect">
            <a:avLst/>
          </a:prstGeom>
          <a:solidFill>
            <a:srgbClr val="1A3D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19272" y="3154680"/>
            <a:ext cx="2423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B0C4DE"/>
                </a:solidFill>
              </a:rPr>
              <a:t>Start Time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19272" y="3566160"/>
            <a:ext cx="2423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7:30 AM · Grant Park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4434840"/>
            <a:ext cx="2651760" cy="1188720"/>
          </a:xfrm>
          <a:prstGeom prst="rect">
            <a:avLst/>
          </a:prstGeom>
          <a:solidFill>
            <a:srgbClr val="1A3D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8912" y="4526279"/>
            <a:ext cx="2423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B0C4DE"/>
                </a:solidFill>
              </a:rPr>
              <a:t>Goal Time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" y="4937759"/>
            <a:ext cx="2423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1:42:00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0" y="4434840"/>
            <a:ext cx="2651760" cy="1188720"/>
          </a:xfrm>
          <a:prstGeom prst="rect">
            <a:avLst/>
          </a:prstGeom>
          <a:solidFill>
            <a:srgbClr val="1A3D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19272" y="4526279"/>
            <a:ext cx="2423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B0C4DE"/>
                </a:solidFill>
              </a:rPr>
              <a:t>Bib Number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19272" y="4937759"/>
            <a:ext cx="2423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4417 · Corral 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" y="6400800"/>
            <a:ext cx="5669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09AB8"/>
                </a:solidFill>
              </a:rPr>
              <a:t>Calvin Maxwell Roth  ·  Lakefront Pacers, Chicago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46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Training Volume by Week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C4DE"/>
                </a:solidFill>
              </a:rPr>
              <a:t>Miles logged per training week — January to February 2026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463040"/>
          <a:ext cx="7772400" cy="5029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Rectangle 5"/>
          <p:cNvSpPr/>
          <p:nvPr/>
        </p:nvSpPr>
        <p:spPr>
          <a:xfrm>
            <a:off x="8503920" y="1645920"/>
            <a:ext cx="3383280" cy="1280160"/>
          </a:xfrm>
          <a:prstGeom prst="rect">
            <a:avLst/>
          </a:prstGeom>
          <a:solidFill>
            <a:srgbClr val="1A3D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41080" y="173736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</a:rPr>
              <a:t>Peak Week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41080" y="2194560"/>
            <a:ext cx="3108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46.5 mi</a:t>
            </a:r>
          </a:p>
        </p:txBody>
      </p:sp>
      <p:sp>
        <p:nvSpPr>
          <p:cNvPr id="9" name="Rectangle 8"/>
          <p:cNvSpPr/>
          <p:nvPr/>
        </p:nvSpPr>
        <p:spPr>
          <a:xfrm>
            <a:off x="8503920" y="3154680"/>
            <a:ext cx="3383280" cy="1280160"/>
          </a:xfrm>
          <a:prstGeom prst="rect">
            <a:avLst/>
          </a:prstGeom>
          <a:solidFill>
            <a:srgbClr val="1A3D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41080" y="324612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</a:rPr>
              <a:t>Best Tempo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41080" y="3703320"/>
            <a:ext cx="3108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7:32 /mi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03920" y="4663440"/>
            <a:ext cx="3383280" cy="1280160"/>
          </a:xfrm>
          <a:prstGeom prst="rect">
            <a:avLst/>
          </a:prstGeom>
          <a:solidFill>
            <a:srgbClr val="1A3D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41080" y="47548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</a:rPr>
              <a:t>Long PR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41080" y="5212080"/>
            <a:ext cx="3108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13.1 mi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46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Target Race-Day Split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C4DE"/>
                </a:solidFill>
              </a:rPr>
              <a:t>Goal finish: 1:42:00  ·  Average pace 7:47 per mile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508760"/>
          <a:ext cx="11430000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737360"/>
                <a:gridCol w="1737360"/>
                <a:gridCol w="6126480"/>
              </a:tblGrid>
              <a:tr h="73152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Segment</a:t>
                      </a:r>
                    </a:p>
                  </a:txBody>
                  <a:tcPr>
                    <a:solidFill>
                      <a:srgbClr val="F464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Target Pace</a:t>
                      </a:r>
                    </a:p>
                  </a:txBody>
                  <a:tcPr>
                    <a:solidFill>
                      <a:srgbClr val="F464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Cumul. Time</a:t>
                      </a:r>
                    </a:p>
                  </a:txBody>
                  <a:tcPr>
                    <a:solidFill>
                      <a:srgbClr val="F464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Notes</a:t>
                      </a:r>
                    </a:p>
                  </a:txBody>
                  <a:tcPr>
                    <a:solidFill>
                      <a:srgbClr val="F4642D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2E"/>
                          </a:solidFill>
                        </a:rPr>
                        <a:t>Mile 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2E"/>
                          </a:solidFill>
                        </a:rPr>
                        <a:t>8:05 / mi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2E"/>
                          </a:solidFill>
                        </a:rPr>
                        <a:t>0:08:05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2E"/>
                          </a:solidFill>
                        </a:rPr>
                        <a:t>Conservative start, let crowd settle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2E"/>
                          </a:solidFill>
                        </a:rPr>
                        <a:t>Miles 2-4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2E"/>
                          </a:solidFill>
                        </a:rPr>
                        <a:t>7:55 / mi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2E"/>
                          </a:solidFill>
                        </a:rPr>
                        <a:t>0:31:50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2E"/>
                          </a:solidFill>
                        </a:rPr>
                        <a:t>Settle into rhythm, stay comfortable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2E"/>
                          </a:solidFill>
                        </a:rPr>
                        <a:t>Miles 5-7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2E"/>
                          </a:solidFill>
                        </a:rPr>
                        <a:t>7:47 / mi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2E"/>
                          </a:solidFill>
                        </a:rPr>
                        <a:t>0:55:10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2E"/>
                          </a:solidFill>
                        </a:rPr>
                        <a:t>Lock in goal pace, monitor effort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2E"/>
                          </a:solidFill>
                        </a:rPr>
                        <a:t>Miles 8-10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2E"/>
                          </a:solidFill>
                        </a:rPr>
                        <a:t>7:45 / mi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2E"/>
                          </a:solidFill>
                        </a:rPr>
                        <a:t>1:18:25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2E"/>
                          </a:solidFill>
                        </a:rPr>
                        <a:t>Hold form, fuel at mile 8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2E"/>
                          </a:solidFill>
                        </a:rPr>
                        <a:t>Miles 11-12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2E"/>
                          </a:solidFill>
                        </a:rPr>
                        <a:t>7:40 / mi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2E"/>
                          </a:solidFill>
                        </a:rPr>
                        <a:t>1:33:45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2E"/>
                          </a:solidFill>
                        </a:rPr>
                        <a:t>Push on strong legs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2E"/>
                          </a:solidFill>
                        </a:rPr>
                        <a:t>Mile 13.1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2E"/>
                          </a:solidFill>
                        </a:rPr>
                        <a:t>7:35 / mi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2E"/>
                          </a:solidFill>
                        </a:rPr>
                        <a:t>1:42:00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2E"/>
                          </a:solidFill>
                        </a:rPr>
                        <a:t>Empty the tank at the finish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46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Race Week Schedule  ·  October 26 – November 1,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1430000" cy="777240"/>
          </a:xfrm>
          <a:prstGeom prst="rect">
            <a:avLst/>
          </a:prstGeom>
          <a:solidFill>
            <a:srgbClr val="1A3D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143000"/>
            <a:ext cx="2103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Mon Oct 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34640" y="1143000"/>
            <a:ext cx="2926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Full rest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1170432"/>
            <a:ext cx="5760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0E8F0"/>
                </a:solidFill>
              </a:rPr>
              <a:t>No running. Final case prep wrap-up before trial window.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011680"/>
            <a:ext cx="11430000" cy="777240"/>
          </a:xfrm>
          <a:prstGeom prst="rect">
            <a:avLst/>
          </a:prstGeom>
          <a:solidFill>
            <a:srgbClr val="1A3D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2057400"/>
            <a:ext cx="2103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Tue Oct 27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34640" y="2057400"/>
            <a:ext cx="2926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Easy shakeout — 4 miles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2084832"/>
            <a:ext cx="5760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0E8F0"/>
                </a:solidFill>
              </a:rPr>
              <a:t>Very light run, no intensity. Gear check for race day.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926080"/>
            <a:ext cx="11430000" cy="777240"/>
          </a:xfrm>
          <a:prstGeom prst="rect">
            <a:avLst/>
          </a:prstGeom>
          <a:solidFill>
            <a:srgbClr val="1A3D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2971800"/>
            <a:ext cx="2103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Wed Oct 28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34640" y="2971800"/>
            <a:ext cx="2926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Rest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0" y="2999232"/>
            <a:ext cx="5760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0E8F0"/>
                </a:solidFill>
              </a:rPr>
              <a:t>Yoga and stretching only. Hydrate well.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840480"/>
            <a:ext cx="11430000" cy="777240"/>
          </a:xfrm>
          <a:prstGeom prst="rect">
            <a:avLst/>
          </a:prstGeom>
          <a:solidFill>
            <a:srgbClr val="1A3D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3886200"/>
            <a:ext cx="2103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Thu Oct 29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34640" y="3886200"/>
            <a:ext cx="2926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Strides — 3 miles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0" y="3913632"/>
            <a:ext cx="5760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0E8F0"/>
                </a:solidFill>
              </a:rPr>
              <a:t>Easy 3 miles with 4×20-second strides to keep legs fresh.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754880"/>
            <a:ext cx="11430000" cy="777240"/>
          </a:xfrm>
          <a:prstGeom prst="rect">
            <a:avLst/>
          </a:prstGeom>
          <a:solidFill>
            <a:srgbClr val="1A3D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4800600"/>
            <a:ext cx="2103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Fri Oct 30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34640" y="4800600"/>
            <a:ext cx="2926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Rest + packet pickup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0" y="4828032"/>
            <a:ext cx="5760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0E8F0"/>
                </a:solidFill>
              </a:rPr>
              <a:t>Grant Park expo for bib 4417. Lay out race-day kit.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5669280"/>
            <a:ext cx="11430000" cy="777240"/>
          </a:xfrm>
          <a:prstGeom prst="rect">
            <a:avLst/>
          </a:prstGeom>
          <a:solidFill>
            <a:srgbClr val="F46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5715000"/>
            <a:ext cx="2103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Sat Nov 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834640" y="5715000"/>
            <a:ext cx="2926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RACE DAY — 7:30 AM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0" y="5742432"/>
            <a:ext cx="5760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0E8F0"/>
                </a:solidFill>
              </a:rPr>
              <a:t>Grant Park, Corral B. Goal: 1:42:00. Bib 4417.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46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Long Run Pace Progression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C4DE"/>
                </a:solidFill>
              </a:rPr>
              <a:t>Average pace per mile across long runs — trending toward goal pace of 7:47 / mi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417320"/>
          <a:ext cx="8046720" cy="51206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Rectangle 5"/>
          <p:cNvSpPr/>
          <p:nvPr/>
        </p:nvSpPr>
        <p:spPr>
          <a:xfrm>
            <a:off x="8869680" y="1554480"/>
            <a:ext cx="3017520" cy="1920240"/>
          </a:xfrm>
          <a:prstGeom prst="rect">
            <a:avLst/>
          </a:prstGeom>
          <a:solidFill>
            <a:srgbClr val="1A3D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06840" y="1664208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B0C4DE"/>
                </a:solidFill>
              </a:rPr>
              <a:t>Key Insight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06840" y="2084831"/>
            <a:ext cx="2743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</a:pPr>
            <a:r>
              <a:rPr sz="1200">
                <a:solidFill>
                  <a:srgbClr val="FFFFFF"/>
                </a:solidFill>
              </a:rPr>
              <a:t>Best long run: 7:57 / mi</a:t>
            </a:r>
          </a:p>
          <a:p>
            <a:pPr>
              <a:spcBef>
                <a:spcPts val="100"/>
              </a:spcBef>
            </a:pPr>
            <a:r>
              <a:rPr sz="1200">
                <a:solidFill>
                  <a:srgbClr val="FFFFFF"/>
                </a:solidFill>
              </a:rPr>
              <a:t>over 12.5 miles</a:t>
            </a:r>
          </a:p>
          <a:p>
            <a:pPr>
              <a:spcBef>
                <a:spcPts val="100"/>
              </a:spcBef>
            </a:pPr>
            <a:r>
              <a:rPr sz="1200">
                <a:solidFill>
                  <a:srgbClr val="FFFFFF"/>
                </a:solidFill>
              </a:rPr>
              <a:t/>
            </a:r>
          </a:p>
          <a:p>
            <a:pPr>
              <a:spcBef>
                <a:spcPts val="100"/>
              </a:spcBef>
            </a:pPr>
            <a:r>
              <a:rPr sz="1200">
                <a:solidFill>
                  <a:srgbClr val="FFFFFF"/>
                </a:solidFill>
              </a:rPr>
              <a:t>Gap to goal: only 10 sec/mi</a:t>
            </a:r>
          </a:p>
        </p:txBody>
      </p:sp>
      <p:pic>
        <p:nvPicPr>
          <p:cNvPr id="9" name="Picture 8" descr="running_trail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8240" y="3657600"/>
            <a:ext cx="3200400" cy="292608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8778240" y="6263640"/>
            <a:ext cx="3200400" cy="320040"/>
          </a:xfrm>
          <a:prstGeom prst="rect">
            <a:avLst/>
          </a:prstGeom>
          <a:solidFill>
            <a:srgbClr val="0A2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23960" y="6291072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B0C4DE"/>
                </a:solidFill>
              </a:rPr>
              <a:t>Lakefront Trail, Chicago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46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Race Day Protocol  ·  November 1,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</a:pPr>
            <a:r>
              <a:rPr sz="1200">
                <a:solidFill>
                  <a:srgbClr val="FFFFFF"/>
                </a:solidFill>
              </a:rPr>
              <a:t>MORNING LOGISTICS</a:t>
            </a:r>
          </a:p>
          <a:p>
            <a:pPr>
              <a:spcBef>
                <a:spcPts val="100"/>
              </a:spcBef>
            </a:pPr>
            <a:r>
              <a:rPr sz="1200">
                <a:solidFill>
                  <a:srgbClr val="FFFFFF"/>
                </a:solidFill>
              </a:rPr>
              <a:t>- Wake: 5:30 AM</a:t>
            </a:r>
          </a:p>
          <a:p>
            <a:pPr>
              <a:spcBef>
                <a:spcPts val="100"/>
              </a:spcBef>
            </a:pPr>
            <a:r>
              <a:rPr sz="1200">
                <a:solidFill>
                  <a:srgbClr val="FFFFFF"/>
                </a:solidFill>
              </a:rPr>
              <a:t>- Pre-race meal by 5:45 AM</a:t>
            </a:r>
          </a:p>
          <a:p>
            <a:pPr>
              <a:spcBef>
                <a:spcPts val="100"/>
              </a:spcBef>
            </a:pPr>
            <a:r>
              <a:rPr sz="1200">
                <a:solidFill>
                  <a:srgbClr val="FFFFFF"/>
                </a:solidFill>
              </a:rPr>
              <a:t>- Leave for Grant Park: 6:30 AM</a:t>
            </a:r>
          </a:p>
          <a:p>
            <a:pPr>
              <a:spcBef>
                <a:spcPts val="100"/>
              </a:spcBef>
            </a:pPr>
            <a:r>
              <a:rPr sz="1200">
                <a:solidFill>
                  <a:srgbClr val="FFFFFF"/>
                </a:solidFill>
              </a:rPr>
              <a:t>- Corral B check-in: 7:00 AM</a:t>
            </a:r>
          </a:p>
          <a:p>
            <a:pPr>
              <a:spcBef>
                <a:spcPts val="100"/>
              </a:spcBef>
            </a:pPr>
            <a:r>
              <a:rPr sz="1200">
                <a:solidFill>
                  <a:srgbClr val="FFFFFF"/>
                </a:solidFill>
              </a:rPr>
              <a:t>- Start gun: 7:30 AM</a:t>
            </a:r>
          </a:p>
          <a:p>
            <a:pPr>
              <a:spcBef>
                <a:spcPts val="100"/>
              </a:spcBef>
            </a:pPr>
            <a:r>
              <a:rPr sz="1200">
                <a:solidFill>
                  <a:srgbClr val="FFFFFF"/>
                </a:solidFill>
              </a:rPr>
              <a:t/>
            </a:r>
          </a:p>
          <a:p>
            <a:pPr>
              <a:spcBef>
                <a:spcPts val="100"/>
              </a:spcBef>
            </a:pPr>
            <a:r>
              <a:rPr sz="1200">
                <a:solidFill>
                  <a:srgbClr val="FFFFFF"/>
                </a:solidFill>
              </a:rPr>
              <a:t>RACE KIT</a:t>
            </a:r>
          </a:p>
          <a:p>
            <a:pPr>
              <a:spcBef>
                <a:spcPts val="100"/>
              </a:spcBef>
            </a:pPr>
            <a:r>
              <a:rPr sz="1200">
                <a:solidFill>
                  <a:srgbClr val="FFFFFF"/>
                </a:solidFill>
              </a:rPr>
              <a:t>- Brooks race day shoes (fresh pair)</a:t>
            </a:r>
          </a:p>
          <a:p>
            <a:pPr>
              <a:spcBef>
                <a:spcPts val="100"/>
              </a:spcBef>
            </a:pPr>
            <a:r>
              <a:rPr sz="1200">
                <a:solidFill>
                  <a:srgbClr val="FFFFFF"/>
                </a:solidFill>
              </a:rPr>
              <a:t>- Garmin Forerunner 255</a:t>
            </a:r>
          </a:p>
          <a:p>
            <a:pPr>
              <a:spcBef>
                <a:spcPts val="100"/>
              </a:spcBef>
            </a:pPr>
            <a:r>
              <a:rPr sz="1200">
                <a:solidFill>
                  <a:srgbClr val="FFFFFF"/>
                </a:solidFill>
              </a:rPr>
              <a:t>- Bib 4417 pinned race morning</a:t>
            </a:r>
          </a:p>
          <a:p>
            <a:pPr>
              <a:spcBef>
                <a:spcPts val="100"/>
              </a:spcBef>
            </a:pPr>
            <a:r>
              <a:rPr sz="1200">
                <a:solidFill>
                  <a:srgbClr val="FFFFFF"/>
                </a:solidFill>
              </a:rPr>
              <a:t>- AirPods Pro — playlist preloaded</a:t>
            </a:r>
          </a:p>
        </p:txBody>
      </p:sp>
      <p:sp>
        <p:nvSpPr>
          <p:cNvPr id="5" name="Rectangle 4"/>
          <p:cNvSpPr/>
          <p:nvPr/>
        </p:nvSpPr>
        <p:spPr>
          <a:xfrm>
            <a:off x="6126480" y="1005840"/>
            <a:ext cx="9144" cy="5029200"/>
          </a:xfrm>
          <a:prstGeom prst="rect">
            <a:avLst/>
          </a:prstGeom>
          <a:solidFill>
            <a:srgbClr val="3A54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63640" y="100584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</a:pPr>
            <a:r>
              <a:rPr sz="1200">
                <a:solidFill>
                  <a:srgbClr val="FFFFFF"/>
                </a:solidFill>
              </a:rPr>
              <a:t>FUELING PLAN</a:t>
            </a:r>
          </a:p>
          <a:p>
            <a:pPr>
              <a:spcBef>
                <a:spcPts val="100"/>
              </a:spcBef>
            </a:pPr>
            <a:r>
              <a:rPr sz="1200">
                <a:solidFill>
                  <a:srgbClr val="FFFFFF"/>
                </a:solidFill>
              </a:rPr>
              <a:t>- Pre-race: oats and banana at 5:45 AM</a:t>
            </a:r>
          </a:p>
          <a:p>
            <a:pPr>
              <a:spcBef>
                <a:spcPts val="100"/>
              </a:spcBef>
            </a:pPr>
            <a:r>
              <a:rPr sz="1200">
                <a:solidFill>
                  <a:srgbClr val="FFFFFF"/>
                </a:solidFill>
              </a:rPr>
              <a:t>- Mile 5: half gel</a:t>
            </a:r>
          </a:p>
          <a:p>
            <a:pPr>
              <a:spcBef>
                <a:spcPts val="100"/>
              </a:spcBef>
            </a:pPr>
            <a:r>
              <a:rPr sz="1200">
                <a:solidFill>
                  <a:srgbClr val="FFFFFF"/>
                </a:solidFill>
              </a:rPr>
              <a:t>- Mile 8: full gel + water station</a:t>
            </a:r>
          </a:p>
          <a:p>
            <a:pPr>
              <a:spcBef>
                <a:spcPts val="100"/>
              </a:spcBef>
            </a:pPr>
            <a:r>
              <a:rPr sz="1200">
                <a:solidFill>
                  <a:srgbClr val="FFFFFF"/>
                </a:solidFill>
              </a:rPr>
              <a:t>- Mile 11: final gel if needed</a:t>
            </a:r>
          </a:p>
          <a:p>
            <a:pPr>
              <a:spcBef>
                <a:spcPts val="100"/>
              </a:spcBef>
            </a:pPr>
            <a:r>
              <a:rPr sz="1200">
                <a:solidFill>
                  <a:srgbClr val="FFFFFF"/>
                </a:solidFill>
              </a:rPr>
              <a:t/>
            </a:r>
          </a:p>
          <a:p>
            <a:pPr>
              <a:spcBef>
                <a:spcPts val="100"/>
              </a:spcBef>
            </a:pPr>
            <a:r>
              <a:rPr sz="1200">
                <a:solidFill>
                  <a:srgbClr val="FFFFFF"/>
                </a:solidFill>
              </a:rPr>
              <a:t>EMERGENCY CONTACT</a:t>
            </a:r>
          </a:p>
          <a:p>
            <a:pPr>
              <a:spcBef>
                <a:spcPts val="100"/>
              </a:spcBef>
            </a:pPr>
            <a:r>
              <a:rPr sz="1200">
                <a:solidFill>
                  <a:srgbClr val="FFFFFF"/>
                </a:solidFill>
              </a:rPr>
              <a:t>- Naomi Roth: (312) 555-6149</a:t>
            </a:r>
          </a:p>
          <a:p>
            <a:pPr>
              <a:spcBef>
                <a:spcPts val="100"/>
              </a:spcBef>
            </a:pPr>
            <a:r>
              <a:rPr sz="1200">
                <a:solidFill>
                  <a:srgbClr val="FFFFFF"/>
                </a:solidFill>
              </a:rPr>
              <a:t>- Will track live from phone</a:t>
            </a:r>
          </a:p>
          <a:p>
            <a:pPr>
              <a:spcBef>
                <a:spcPts val="100"/>
              </a:spcBef>
            </a:pPr>
            <a:r>
              <a:rPr sz="1200">
                <a:solidFill>
                  <a:srgbClr val="FFFFFF"/>
                </a:solidFill>
              </a:rPr>
              <a:t/>
            </a:r>
          </a:p>
          <a:p>
            <a:pPr>
              <a:spcBef>
                <a:spcPts val="100"/>
              </a:spcBef>
            </a:pPr>
            <a:r>
              <a:rPr sz="1200">
                <a:solidFill>
                  <a:srgbClr val="FFFFFF"/>
                </a:solidFill>
              </a:rPr>
              <a:t>POST-RACE</a:t>
            </a:r>
          </a:p>
          <a:p>
            <a:pPr>
              <a:spcBef>
                <a:spcPts val="100"/>
              </a:spcBef>
            </a:pPr>
            <a:r>
              <a:rPr sz="1200">
                <a:solidFill>
                  <a:srgbClr val="FFFFFF"/>
                </a:solidFill>
              </a:rPr>
              <a:t>- Recovery at Cozy Corner</a:t>
            </a:r>
          </a:p>
          <a:p>
            <a:pPr>
              <a:spcBef>
                <a:spcPts val="100"/>
              </a:spcBef>
            </a:pPr>
            <a:r>
              <a:rPr sz="1200">
                <a:solidFill>
                  <a:srgbClr val="FFFFFF"/>
                </a:solidFill>
              </a:rPr>
              <a:t>- Celebrate with Naomi</a:t>
            </a:r>
          </a:p>
        </p:txBody>
      </p:sp>
      <p:pic>
        <p:nvPicPr>
          <p:cNvPr id="7" name="Picture 6" descr="running_sho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5532120"/>
            <a:ext cx="11430000" cy="109728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532120"/>
            <a:ext cx="11430000" cy="256032"/>
          </a:xfrm>
          <a:prstGeom prst="rect">
            <a:avLst/>
          </a:prstGeom>
          <a:solidFill>
            <a:srgbClr val="0A2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555955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B0C4DE"/>
                </a:solidFill>
              </a:rPr>
              <a:t>Brooks Glycerin GTS — race day footwear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46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</a:rPr>
              <a:t>Everything Points Here.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92024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B0C4DE"/>
                </a:solidFill>
              </a:rPr>
              <a:t>Lakefront Half-Marathon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2743200"/>
            <a:ext cx="2377440" cy="2103120"/>
          </a:xfrm>
          <a:prstGeom prst="rect">
            <a:avLst/>
          </a:prstGeom>
          <a:solidFill>
            <a:srgbClr val="1A3D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28346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B0C4DE"/>
                </a:solidFill>
              </a:rPr>
              <a:t>Date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246120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</a:rPr>
              <a:t>November 1,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3566160" y="2743200"/>
            <a:ext cx="2377440" cy="2103120"/>
          </a:xfrm>
          <a:prstGeom prst="rect">
            <a:avLst/>
          </a:prstGeom>
          <a:solidFill>
            <a:srgbClr val="1A3D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03320" y="28346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B0C4DE"/>
                </a:solidFill>
              </a:rPr>
              <a:t>Goal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3246120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</a:rPr>
              <a:t>1:42:00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2743200"/>
            <a:ext cx="2377440" cy="2103120"/>
          </a:xfrm>
          <a:prstGeom prst="rect">
            <a:avLst/>
          </a:prstGeom>
          <a:solidFill>
            <a:srgbClr val="1A3D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28346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B0C4DE"/>
                </a:solidFill>
              </a:rPr>
              <a:t>Bib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3246120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</a:rPr>
              <a:t>4417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869680" y="2743200"/>
            <a:ext cx="2377440" cy="2103120"/>
          </a:xfrm>
          <a:prstGeom prst="rect">
            <a:avLst/>
          </a:prstGeom>
          <a:solidFill>
            <a:srgbClr val="1A3D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06840" y="28346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B0C4DE"/>
                </a:solidFill>
              </a:rPr>
              <a:t>Club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0" y="3246120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</a:rPr>
              <a:t>Lakefront Pacers</a:t>
            </a:r>
          </a:p>
        </p:txBody>
      </p:sp>
      <p:pic>
        <p:nvPicPr>
          <p:cNvPr id="17" name="Picture 16" descr="chicago_lakefron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5029200"/>
            <a:ext cx="11274552" cy="1417320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457200" y="5029200"/>
            <a:ext cx="11274552" cy="274320"/>
          </a:xfrm>
          <a:prstGeom prst="rect">
            <a:avLst/>
          </a:prstGeom>
          <a:solidFill>
            <a:srgbClr val="0A2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5056632"/>
            <a:ext cx="8229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B0C4DE"/>
                </a:solidFill>
              </a:rPr>
              <a:t>Chicago Lakefront  ·  November 1, 2026  ·  Bib 4417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0" y="6492240"/>
            <a:ext cx="121889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080A0"/>
                </a:solidFill>
              </a:rPr>
              <a:t>Calvin Maxwell Roth  ·  Lakefront Pacers  ·  Wicker Park, Chicago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