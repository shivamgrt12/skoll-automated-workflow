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Attorneys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8 Wks Out</c:v>
                </c:pt>
                <c:pt idx="1">
                  <c:v>7 Wks Out</c:v>
                </c:pt>
                <c:pt idx="2">
                  <c:v>6 Wks Out</c:v>
                </c:pt>
                <c:pt idx="3">
                  <c:v>5 Wks Out</c:v>
                </c:pt>
                <c:pt idx="4">
                  <c:v>4 Wks Out</c:v>
                </c:pt>
                <c:pt idx="5">
                  <c:v>3 Wks Out</c:v>
                </c:pt>
                <c:pt idx="6">
                  <c:v>2 Wks 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36</c:v>
                </c:pt>
                <c:pt idx="2">
                  <c:v>62</c:v>
                </c:pt>
                <c:pt idx="3">
                  <c:v>85</c:v>
                </c:pt>
                <c:pt idx="4">
                  <c:v>104</c:v>
                </c:pt>
                <c:pt idx="5">
                  <c:v>121</c:v>
                </c:pt>
                <c:pt idx="6">
                  <c:v>138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icago_sky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27648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Annual CLE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C870"/>
                </a:solidFill>
              </a:rPr>
              <a:t>Planning and Logistics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C"/>
                </a:solidFill>
              </a:rPr>
              <a:t>Chicago Bar 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B4CC"/>
                </a:solidFill>
              </a:rPr>
              <a:t>Continuing Legal Education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98B8"/>
                </a:solidFill>
              </a:rPr>
              <a:t>Prepared by: Calvin M. Roth, Committee Member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51960"/>
            <a:ext cx="29260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637336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B4B"/>
                </a:solidFill>
              </a:rPr>
              <a:t>October 16, 2026  ·  Chicago Bar Association Hall  ·  321 S Plymouth 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Event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338560" cy="6583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Event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984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Chicago Bar Association Annual CLE Symposium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11096"/>
            <a:ext cx="11338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208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2082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October 16,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33472"/>
            <a:ext cx="11338560" cy="6583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Chicago Bar Association Hall, 321 S Plymouth Ct, Chicago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55848"/>
            <a:ext cx="11338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655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46557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In-person with live-stream 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78224"/>
            <a:ext cx="11338560" cy="6583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87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Expected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879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130 to 150 registered attorneys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113385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10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MCLE Credit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91032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6.0 general, 1.0 professional responsibility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22976"/>
            <a:ext cx="11338560" cy="658368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6327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2B4B"/>
                </a:solidFill>
              </a:rPr>
              <a:t>Committee 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63270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Calvin M. Roth — calvin.roth@Finthesiss.ai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Session Schedule — October 16,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07899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560320"/>
                <a:gridCol w="1554480"/>
                <a:gridCol w="1188720"/>
              </a:tblGrid>
              <a:tr h="4343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Session Title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Speaker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Credits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8:30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Registration and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9:00 AM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Opening Remarks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Committee Chair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Plenary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9:15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Evidence Updates in Criminal Courts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Hon. Reyes (ret.)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10:30 AM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Break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10:45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Ethics in Indigent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Lorraine Okafor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1.0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12:00 PM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Lunch Break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1:00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Effective Cross-Examination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Marcus Traylor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Workshop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2:45 PM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Sentencing Advocacy Strategies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TBD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4:15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Break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4:30 PM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Closing Panel and Q+A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Committee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Panel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5:30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Reception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08080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Registration Progress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097280"/>
          <a:ext cx="73152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046720" y="1280160"/>
            <a:ext cx="3840480" cy="493776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2B4B"/>
                </a:solidFill>
              </a:rPr>
              <a:t>Registration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Current Registrations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920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Target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6060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Remaining Capacity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32918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Pace vs Prior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977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+14%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Early-Bird Closes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4663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Oct 2,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577"/>
                </a:solidFill>
              </a:rPr>
              <a:t>Walk-ins Allowed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5349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C2B4B"/>
                </a:solidFill>
              </a:rPr>
              <a:t>Yes (limited)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Event Budget Overview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28600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Budgeted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Projected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Variance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Venue Rental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$4,200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Catering and Coffee Service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$2,800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$2,650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+$150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AV and Live-Stream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$1,520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-$20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Speaker Honoraria (2 speakers)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$1,800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$1,800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Confirmed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Printed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+$60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Event Admin and Misc.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$400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$385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+$15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2E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4B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4B"/>
                          </a:solidFill>
                        </a:rPr>
                        <a:t>$11,300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4B"/>
                          </a:solidFill>
                        </a:rPr>
                        <a:t>$11,095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4B"/>
                          </a:solidFill>
                        </a:rPr>
                        <a:t>+$205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4B"/>
                          </a:solidFill>
                        </a:rPr>
                        <a:t>Under Budget</a:t>
                      </a:r>
                    </a:p>
                  </a:txBody>
                  <a:tcPr>
                    <a:solidFill>
                      <a:srgbClr val="C9A84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2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Action Items and Responsibilities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56032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 Item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Due Date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C2B4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Finalize venue contract and insurance certificate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Committee Chair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1,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Confirm live-stream vendor and test connection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AV Lead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5, 2026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8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Send speaker confirmation and prep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Calvin M. Roth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3,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D1FAD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Publish final session schedule to CBA website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Calvin M. Roth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7, 2026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0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Coordinate catering headcount with 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Admin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10,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8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Prepare name badges and printed programs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Admin Lead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12, 2026</a:t>
                      </a:r>
                    </a:p>
                  </a:txBody>
                  <a:tcPr>
                    <a:solidFill>
                      <a:srgbClr val="EF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8EE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Send final reminder email to all registrants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Calvin M. Roth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</a:rPr>
                        <a:t>Oct 14,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E"/>
                          </a:solidFill>
                        </a:rPr>
                        <a:t>Pending</a:t>
                      </a:r>
                    </a:p>
                  </a:txBody>
                  <a:tcPr>
                    <a:solidFill>
                      <a:srgbClr val="F8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aw_premi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291840" cy="2560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4320" y="2651760"/>
            <a:ext cx="3291840" cy="274320"/>
          </a:xfrm>
          <a:prstGeom prst="rect">
            <a:avLst/>
          </a:prstGeom>
          <a:solidFill>
            <a:srgbClr val="0C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0B060"/>
                </a:solidFill>
              </a:rPr>
              <a:t>Chicago Bar 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7315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Chicago Bar Association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C870"/>
                </a:solidFill>
              </a:rPr>
              <a:t>Annual CLE Symposium — October 16,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286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4CC"/>
                </a:solidFill>
              </a:rPr>
              <a:t>321 S Plymouth Ct, Chicago, Illinois  ·  6.0 MCLE Credits  ·  9:00 AM – 5:30 PM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017520"/>
            <a:ext cx="4572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429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B4CC"/>
                </a:solidFill>
              </a:rPr>
              <a:t>Questions — contact the committee 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97763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calvin.roth@Finthesiss.ai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01675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C2B4B"/>
                </a:solidFill>
              </a:rPr>
              <a:t>Prepared by Calvin M. Roth  ·  Cook County Public Defender  ·  CLE Committee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