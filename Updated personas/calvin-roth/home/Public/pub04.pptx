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Spend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Rent</c:v>
                </c:pt>
                <c:pt idx="1">
                  <c:v>Student Loan</c:v>
                </c:pt>
                <c:pt idx="2">
                  <c:v>Groceries</c:v>
                </c:pt>
                <c:pt idx="3">
                  <c:v>Dining</c:v>
                </c:pt>
                <c:pt idx="4">
                  <c:v>Utilities</c:v>
                </c:pt>
                <c:pt idx="5">
                  <c:v>Running</c:v>
                </c:pt>
                <c:pt idx="6">
                  <c:v>Subscriptions</c:v>
                </c:pt>
                <c:pt idx="7">
                  <c:v>Personal</c:v>
                </c:pt>
                <c:pt idx="8">
                  <c:v>Transit</c:v>
                </c:pt>
                <c:pt idx="9">
                  <c:v>Phone</c:v>
                </c:pt>
                <c:pt idx="10">
                  <c:v>Insurance</c:v>
                </c:pt>
                <c:pt idx="11">
                  <c:v>Savings Transfer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1425</c:v>
                </c:pt>
                <c:pt idx="1">
                  <c:v>380</c:v>
                </c:pt>
                <c:pt idx="2">
                  <c:v>340</c:v>
                </c:pt>
                <c:pt idx="3">
                  <c:v>180</c:v>
                </c:pt>
                <c:pt idx="4">
                  <c:v>165</c:v>
                </c:pt>
                <c:pt idx="5">
                  <c:v>227</c:v>
                </c:pt>
                <c:pt idx="6">
                  <c:v>49</c:v>
                </c:pt>
                <c:pt idx="7">
                  <c:v>120</c:v>
                </c:pt>
                <c:pt idx="8">
                  <c:v>75</c:v>
                </c:pt>
                <c:pt idx="9">
                  <c:v>70</c:v>
                </c:pt>
                <c:pt idx="10">
                  <c:v>18</c:v>
                </c:pt>
                <c:pt idx="11">
                  <c:v>852</c:v>
                </c:pt>
              </c:numCache>
            </c:numRef>
          </c:val>
        </c:ser>
      </c:pieChart>
    </c:plotArea>
    <c:legend>
      <c:legendPos val="tr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Savings Balance ($)</c:v>
                </c:pt>
              </c:strCache>
            </c:strRef>
          </c:tx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Nov 2025</c:v>
                </c:pt>
                <c:pt idx="1">
                  <c:v>Dec 2025</c:v>
                </c:pt>
                <c:pt idx="2">
                  <c:v>Jan 2026</c:v>
                </c:pt>
                <c:pt idx="3">
                  <c:v>Feb 2026</c:v>
                </c:pt>
                <c:pt idx="4">
                  <c:v>Oct 2026*</c:v>
                </c:pt>
                <c:pt idx="5">
                  <c:v>Nov 2026*</c:v>
                </c:pt>
                <c:pt idx="6">
                  <c:v>Dec 2026*</c:v>
                </c:pt>
                <c:pt idx="7">
                  <c:v>Jan 2027*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12438</c:v>
                </c:pt>
                <c:pt idx="1">
                  <c:v>13303</c:v>
                </c:pt>
                <c:pt idx="2">
                  <c:v>13303</c:v>
                </c:pt>
                <c:pt idx="3">
                  <c:v>14200</c:v>
                </c:pt>
                <c:pt idx="4">
                  <c:v>18135</c:v>
                </c:pt>
                <c:pt idx="5">
                  <c:v>19000</c:v>
                </c:pt>
                <c:pt idx="6">
                  <c:v>19865</c:v>
                </c:pt>
                <c:pt idx="7">
                  <c:v>20730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Goal ($20,000)</c:v>
                </c:pt>
              </c:strCache>
            </c:strRef>
          </c:tx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Nov 2025</c:v>
                </c:pt>
                <c:pt idx="1">
                  <c:v>Dec 2025</c:v>
                </c:pt>
                <c:pt idx="2">
                  <c:v>Jan 2026</c:v>
                </c:pt>
                <c:pt idx="3">
                  <c:v>Feb 2026</c:v>
                </c:pt>
                <c:pt idx="4">
                  <c:v>Oct 2026*</c:v>
                </c:pt>
                <c:pt idx="5">
                  <c:v>Nov 2026*</c:v>
                </c:pt>
                <c:pt idx="6">
                  <c:v>Dec 2026*</c:v>
                </c:pt>
                <c:pt idx="7">
                  <c:v>Jan 2027*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20000</c:v>
                </c:pt>
                <c:pt idx="1">
                  <c:v>20000</c:v>
                </c:pt>
                <c:pt idx="2">
                  <c:v>20000</c:v>
                </c:pt>
                <c:pt idx="3">
                  <c:v>20000</c:v>
                </c:pt>
                <c:pt idx="4">
                  <c:v>20000</c:v>
                </c:pt>
                <c:pt idx="5">
                  <c:v>20000</c:v>
                </c:pt>
                <c:pt idx="6">
                  <c:v>20000</c:v>
                </c:pt>
                <c:pt idx="7">
                  <c:v>20000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ins_grow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881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36792" y="0"/>
            <a:ext cx="64008" cy="6858000"/>
          </a:xfrm>
          <a:prstGeom prst="rect">
            <a:avLst/>
          </a:prstGeom>
          <a:solidFill>
            <a:srgbClr val="14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4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2026 Financial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ECEB"/>
                </a:solidFill>
              </a:rPr>
              <a:t>Savings Progress, Student Loan Status, and Year-End Projections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060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D4D2"/>
                </a:solidFill>
              </a:rPr>
              <a:t>Calvin Maxwell Roth  ·  Wicker Park, Chicago  ·  As of February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154680"/>
            <a:ext cx="2514600" cy="1463040"/>
          </a:xfrm>
          <a:prstGeom prst="rect">
            <a:avLst/>
          </a:prstGeom>
          <a:solidFill>
            <a:srgbClr val="084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326440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D0CE"/>
                </a:solidFill>
              </a:rPr>
              <a:t>Annual Salary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721608"/>
            <a:ext cx="2331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$62,500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3154680"/>
            <a:ext cx="2514600" cy="1463040"/>
          </a:xfrm>
          <a:prstGeom prst="rect">
            <a:avLst/>
          </a:prstGeom>
          <a:solidFill>
            <a:srgbClr val="084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326440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D0CE"/>
                </a:solidFill>
              </a:rPr>
              <a:t>Monthly Take-Home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3721608"/>
            <a:ext cx="2331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$3,750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846320"/>
            <a:ext cx="2514600" cy="1463040"/>
          </a:xfrm>
          <a:prstGeom prst="rect">
            <a:avLst/>
          </a:prstGeom>
          <a:solidFill>
            <a:srgbClr val="084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495604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D0CE"/>
                </a:solidFill>
              </a:rPr>
              <a:t>Ally Savings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5413248"/>
            <a:ext cx="2331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$14,200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4846320"/>
            <a:ext cx="2514600" cy="1463040"/>
          </a:xfrm>
          <a:prstGeom prst="rect">
            <a:avLst/>
          </a:prstGeom>
          <a:solidFill>
            <a:srgbClr val="084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93008" y="495604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D0CE"/>
                </a:solidFill>
              </a:rPr>
              <a:t>Loan Balance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5413248"/>
            <a:ext cx="2331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$147,612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B0AE"/>
                </a:solidFill>
              </a:rPr>
              <a:t>Confidential — Personal Financial Record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4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Financial Snapshot — February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566160" cy="2103120"/>
          </a:xfrm>
          <a:prstGeom prst="rect">
            <a:avLst/>
          </a:prstGeom>
          <a:solidFill>
            <a:srgbClr val="EF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566160" cy="6400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A2A"/>
                </a:solidFill>
              </a:rPr>
              <a:t>Chase Checking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7377"/>
                </a:solidFill>
              </a:rPr>
              <a:t>$2,091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8080"/>
                </a:solidFill>
              </a:rPr>
              <a:t>(Jan 2026 ending balance)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188720"/>
            <a:ext cx="3566160" cy="2103120"/>
          </a:xfrm>
          <a:prstGeom prst="rect">
            <a:avLst/>
          </a:prstGeom>
          <a:solidFill>
            <a:srgbClr val="F5F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188720"/>
            <a:ext cx="3566160" cy="6400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325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A2A"/>
                </a:solidFill>
              </a:rPr>
              <a:t>Ally High-Yield Savings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7830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7377"/>
                </a:solidFill>
              </a:rPr>
              <a:t>$14,200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6060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8080"/>
                </a:solidFill>
              </a:rPr>
              <a:t>(4.20% APY, monthly transfer $852)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188720"/>
            <a:ext cx="3566160" cy="2103120"/>
          </a:xfrm>
          <a:prstGeom prst="rect">
            <a:avLst/>
          </a:prstGeom>
          <a:solidFill>
            <a:srgbClr val="EF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188720"/>
            <a:ext cx="3566160" cy="6400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325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A2A"/>
                </a:solidFill>
              </a:rPr>
              <a:t>Employer 403(b)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7830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7377"/>
                </a:solidFill>
              </a:rPr>
              <a:t>$3,800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060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8080"/>
                </a:solidFill>
              </a:rPr>
              <a:t>(4% contribution, Cook County)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57600"/>
            <a:ext cx="3566160" cy="2103120"/>
          </a:xfrm>
          <a:prstGeom prst="rect">
            <a:avLst/>
          </a:prstGeom>
          <a:solidFill>
            <a:srgbClr val="F5F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657600"/>
            <a:ext cx="3566160" cy="6400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794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A2A"/>
                </a:solidFill>
              </a:rPr>
              <a:t>Discover Card 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2519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7377"/>
                </a:solidFill>
              </a:rPr>
              <a:t>$612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0749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8080"/>
                </a:solidFill>
              </a:rPr>
              <a:t>(paid in full monthly, Dec 2025)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3657600"/>
            <a:ext cx="3566160" cy="2103120"/>
          </a:xfrm>
          <a:prstGeom prst="rect">
            <a:avLst/>
          </a:prstGeom>
          <a:solidFill>
            <a:srgbClr val="EF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3657600"/>
            <a:ext cx="356616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3794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A2A"/>
                </a:solidFill>
              </a:rPr>
              <a:t>Student Loan Balance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2519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7377"/>
                </a:solidFill>
              </a:rPr>
              <a:t>$147,612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749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8080"/>
                </a:solidFill>
              </a:rPr>
              <a:t>(IBR, 3.73% fixed, Great Lakes)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657600"/>
            <a:ext cx="3566160" cy="2103120"/>
          </a:xfrm>
          <a:prstGeom prst="rect">
            <a:avLst/>
          </a:prstGeom>
          <a:solidFill>
            <a:srgbClr val="F5F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3657600"/>
            <a:ext cx="3566160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3794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A2A"/>
                </a:solidFill>
              </a:rPr>
              <a:t>Monthly Savings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2519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7377"/>
                </a:solidFill>
              </a:rPr>
              <a:t>~$865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50749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8080"/>
                </a:solidFill>
              </a:rPr>
              <a:t>(after all expenses, variable)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4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Monthly Budget Breakdown — January 2026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1097280"/>
          <a:ext cx="685800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589520" y="1280160"/>
            <a:ext cx="4297680" cy="4937760"/>
          </a:xfrm>
          <a:prstGeom prst="rect">
            <a:avLst/>
          </a:prstGeom>
          <a:solidFill>
            <a:srgbClr val="F0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4630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7377"/>
                </a:solidFill>
              </a:rPr>
              <a:t>Budget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0116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2A2A"/>
                </a:solidFill>
              </a:rPr>
              <a:t>Monthly Take-Home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201168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D7377"/>
                </a:solidFill>
              </a:rPr>
              <a:t>$3,750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80720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2A2A"/>
                </a:solidFill>
              </a:rPr>
              <a:t>Total Expenses (Jan)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2807208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D7377"/>
                </a:solidFill>
              </a:rPr>
              <a:t>$3,064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60273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2A2A"/>
                </a:solidFill>
              </a:rPr>
              <a:t>Transfer to Savings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3602736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D7377"/>
                </a:solidFill>
              </a:rPr>
              <a:t>$852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39826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2A2A"/>
                </a:solidFill>
              </a:rPr>
              <a:t>Largest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4398264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D7377"/>
                </a:solidFill>
              </a:rPr>
              <a:t>Rent: $1,425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51937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2A2A"/>
                </a:solidFill>
              </a:rPr>
              <a:t>Goal Savings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519379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D7377"/>
                </a:solidFill>
              </a:rPr>
              <a:t>23% of take-home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4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Savings Growth Trajectory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Ally high-yield savings — past actuals and projected monthly accumulation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1325880"/>
          <a:ext cx="804672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686800" y="1463040"/>
            <a:ext cx="3200400" cy="4937760"/>
          </a:xfrm>
          <a:prstGeom prst="rect">
            <a:avLst/>
          </a:prstGeom>
          <a:solidFill>
            <a:srgbClr val="F0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1645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</a:rPr>
              <a:t>Savings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1031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7377"/>
                </a:solidFill>
              </a:rPr>
              <a:t>$20,000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2A2A"/>
                </a:solidFill>
              </a:rPr>
              <a:t>Target: January 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3520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Current: $14,200
(Feb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42519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2A2A"/>
                </a:solidFill>
              </a:rPr>
              <a:t>Monthly addition: ~$865
APY: 4.20%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5852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09090"/>
                </a:solidFill>
              </a:rPr>
              <a:t>* = projected values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4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Student Loan Status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6858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657600"/>
              </a:tblGrid>
              <a:tr h="4655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Detail</a:t>
                      </a:r>
                    </a:p>
                  </a:txBody>
                  <a:tcPr>
                    <a:solidFill>
                      <a:srgbClr val="0D7377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2A2A"/>
                          </a:solidFill>
                        </a:rPr>
                        <a:t>Loan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2A2A"/>
                          </a:solidFill>
                        </a:rPr>
                        <a:t>Federal Direct Consolidation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2A2A"/>
                          </a:solidFill>
                        </a:rPr>
                        <a:t>Servicer</a:t>
                      </a:r>
                    </a:p>
                  </a:txBody>
                  <a:tcPr>
                    <a:solidFill>
                      <a:srgbClr val="F0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2A2A"/>
                          </a:solidFill>
                        </a:rPr>
                        <a:t>Great Lakes Educational Loan Services</a:t>
                      </a:r>
                    </a:p>
                  </a:txBody>
                  <a:tcPr>
                    <a:solidFill>
                      <a:srgbClr val="F0FCFB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2A2A"/>
                          </a:solidFill>
                        </a:rPr>
                        <a:t>Account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2A2A"/>
                          </a:solidFill>
                        </a:rPr>
                        <a:t>GL-4471829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2A2A"/>
                          </a:solidFill>
                        </a:rPr>
                        <a:t>Repayment Plan</a:t>
                      </a:r>
                    </a:p>
                  </a:txBody>
                  <a:tcPr>
                    <a:solidFill>
                      <a:srgbClr val="F0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2A2A"/>
                          </a:solidFill>
                        </a:rPr>
                        <a:t>Income-Based Repayment (IBR)</a:t>
                      </a:r>
                    </a:p>
                  </a:txBody>
                  <a:tcPr>
                    <a:solidFill>
                      <a:srgbClr val="F0FCFB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2A2A"/>
                          </a:solidFill>
                        </a:rPr>
                        <a:t>Interest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2A2A"/>
                          </a:solidFill>
                        </a:rPr>
                        <a:t>3.73% fixed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2A2A"/>
                          </a:solidFill>
                        </a:rPr>
                        <a:t>Current Balance</a:t>
                      </a:r>
                    </a:p>
                  </a:txBody>
                  <a:tcPr>
                    <a:solidFill>
                      <a:srgbClr val="F0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2A2A"/>
                          </a:solidFill>
                        </a:rPr>
                        <a:t>$147,612.40 (Jan 2026)</a:t>
                      </a:r>
                    </a:p>
                  </a:txBody>
                  <a:tcPr>
                    <a:solidFill>
                      <a:srgbClr val="F0FCFB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2A2A"/>
                          </a:solidFill>
                        </a:rPr>
                        <a:t>Monthly Payment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2A2A"/>
                          </a:solidFill>
                        </a:rPr>
                        <a:t>$380.00 (auto-pay, 15th of each month)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2A2A"/>
                          </a:solidFill>
                        </a:rPr>
                        <a:t>Payment Source</a:t>
                      </a:r>
                    </a:p>
                  </a:txBody>
                  <a:tcPr>
                    <a:solidFill>
                      <a:srgbClr val="F0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2A2A"/>
                          </a:solidFill>
                        </a:rPr>
                        <a:t>Chase checking account ending 4821</a:t>
                      </a:r>
                    </a:p>
                  </a:txBody>
                  <a:tcPr>
                    <a:solidFill>
                      <a:srgbClr val="F0FCFB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2A2A"/>
                          </a:solidFill>
                        </a:rPr>
                        <a:t>Monthly Interest Accrual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2A2A"/>
                          </a:solidFill>
                        </a:rPr>
                        <a:t>~$502 (payment does not cover interest)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5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2A2A"/>
                          </a:solidFill>
                        </a:rPr>
                        <a:t>Original Balance</a:t>
                      </a:r>
                    </a:p>
                  </a:txBody>
                  <a:tcPr>
                    <a:solidFill>
                      <a:srgbClr val="F0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2A2A"/>
                          </a:solidFill>
                        </a:rPr>
                        <a:t>~$148,000 (law school debt)</a:t>
                      </a:r>
                    </a:p>
                  </a:txBody>
                  <a:tcPr>
                    <a:solidFill>
                      <a:srgbClr val="F0FCF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589520" y="1143000"/>
            <a:ext cx="4297680" cy="5120640"/>
          </a:xfrm>
          <a:prstGeom prst="rect">
            <a:avLst/>
          </a:prstGeom>
          <a:solidFill>
            <a:srgbClr val="FF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0" y="1143000"/>
            <a:ext cx="64008" cy="5120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2801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4F00"/>
                </a:solidFill>
              </a:rPr>
              <a:t>Key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828800"/>
            <a:ext cx="3840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100">
                <a:solidFill>
                  <a:srgbClr val="4A3010"/>
                </a:solidFill>
              </a:rPr>
              <a:t>Monthly interest (~$502) exceeds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A3010"/>
                </a:solidFill>
              </a:rPr>
              <a:t>the $380 IBR payment, so the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A3010"/>
                </a:solidFill>
              </a:rPr>
              <a:t>balance is currently growing.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A3010"/>
                </a:solidFill>
              </a:rPr>
              <a:t/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A3010"/>
                </a:solidFill>
              </a:rPr>
              <a:t>This is normal under IBR. Goal is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A3010"/>
                </a:solidFill>
              </a:rPr>
              <a:t>to maximize savings now and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A3010"/>
                </a:solidFill>
              </a:rPr>
              <a:t>reassess when income grows.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A3010"/>
                </a:solidFill>
              </a:rPr>
              <a:t/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A3010"/>
                </a:solidFill>
              </a:rPr>
              <a:t>Forgiveness eligibility may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A3010"/>
                </a:solidFill>
              </a:rPr>
              <a:t>apply after 20 years of IBR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4A3010"/>
                </a:solidFill>
              </a:rPr>
              <a:t>payments (review in 2041).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4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2026 Financial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0ECEB"/>
                </a:solidFill>
              </a:rPr>
              <a:t>Tracking toward year-end and beyond</a:t>
            </a:r>
          </a:p>
        </p:txBody>
      </p:sp>
      <p:pic>
        <p:nvPicPr>
          <p:cNvPr id="5" name="Picture 4" descr="coins_grow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1417320"/>
            <a:ext cx="2514600" cy="5074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418320" y="6263640"/>
            <a:ext cx="2514600" cy="274320"/>
          </a:xfrm>
          <a:prstGeom prst="rect">
            <a:avLst/>
          </a:prstGeom>
          <a:solidFill>
            <a:srgbClr val="084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36608" y="629107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14BDAC"/>
                </a:solidFill>
              </a:rPr>
              <a:t>Savings growth goal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920240"/>
            <a:ext cx="3931920" cy="1325880"/>
          </a:xfrm>
          <a:prstGeom prst="rect">
            <a:avLst/>
          </a:prstGeom>
          <a:solidFill>
            <a:srgbClr val="084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64008" cy="1325880"/>
          </a:xfrm>
          <a:prstGeom prst="rect">
            <a:avLst/>
          </a:prstGeom>
          <a:solidFill>
            <a:srgbClr val="14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Reach $20,000 in Ally savings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ECEB"/>
                </a:solidFill>
              </a:rPr>
              <a:t>By January 2027 at +$865/month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920240"/>
            <a:ext cx="3931920" cy="1325880"/>
          </a:xfrm>
          <a:prstGeom prst="rect">
            <a:avLst/>
          </a:prstGeom>
          <a:solidFill>
            <a:srgbClr val="084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37760" y="1920240"/>
            <a:ext cx="64008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0116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Maintain $380/month loan auto-pay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57860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ECEB"/>
                </a:solidFill>
              </a:rPr>
              <a:t>Avoid any missed payment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429000"/>
            <a:ext cx="3931920" cy="1325880"/>
          </a:xfrm>
          <a:prstGeom prst="rect">
            <a:avLst/>
          </a:prstGeom>
          <a:solidFill>
            <a:srgbClr val="084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429000"/>
            <a:ext cx="64008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5204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Keep monthly spend under $3,200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8736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ECEB"/>
                </a:solidFill>
              </a:rPr>
              <a:t>Non-shoe months target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3429000"/>
            <a:ext cx="3931920" cy="1325880"/>
          </a:xfrm>
          <a:prstGeom prst="rect">
            <a:avLst/>
          </a:prstGeom>
          <a:solidFill>
            <a:srgbClr val="084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3429000"/>
            <a:ext cx="64008" cy="13258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35204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Complete October trial block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08736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ECEB"/>
                </a:solidFill>
              </a:rPr>
              <a:t>Two felony cases — full prep needed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937760"/>
            <a:ext cx="3931920" cy="1325880"/>
          </a:xfrm>
          <a:prstGeom prst="rect">
            <a:avLst/>
          </a:prstGeom>
          <a:solidFill>
            <a:srgbClr val="084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4937760"/>
            <a:ext cx="64008" cy="1325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0292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New Orleans trip with Naomi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59612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ECEB"/>
                </a:solidFill>
              </a:rPr>
              <a:t>October 2026 — budget separately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4937760"/>
            <a:ext cx="3931920" cy="1325880"/>
          </a:xfrm>
          <a:prstGeom prst="rect">
            <a:avLst/>
          </a:prstGeom>
          <a:solidFill>
            <a:srgbClr val="084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37760" y="4937760"/>
            <a:ext cx="64008" cy="1325880"/>
          </a:xfrm>
          <a:prstGeom prst="rect">
            <a:avLst/>
          </a:prstGeom>
          <a:solidFill>
            <a:srgbClr val="14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50292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Lakefront Half-Marathon entry fee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559612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ECEB"/>
                </a:solidFill>
              </a:rPr>
              <a:t>$91.50 — already paid January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