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Charter gross</c:v>
                </c:pt>
              </c:strCache>
            </c:strRef>
          </c:tx>
          <c:spPr>
            <a:solidFill>
              <a:srgbClr val="2BB3C0"/>
            </a:solidFill>
            <a:ln>
              <a:solidFill>
                <a:srgbClr val="2BB3C0"/>
              </a:solidFill>
            </a:ln>
          </c:spPr>
          <c:cat>
            <c:strRef>
              <c:f>Sheet1!$A$2:$A$9</c:f>
              <c:strCache>
                <c:ptCount val="8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7000</c:v>
                </c:pt>
                <c:pt idx="1">
                  <c:v>11500</c:v>
                </c:pt>
                <c:pt idx="2">
                  <c:v>14500</c:v>
                </c:pt>
                <c:pt idx="3">
                  <c:v>15500</c:v>
                </c:pt>
                <c:pt idx="4">
                  <c:v>13000</c:v>
                </c:pt>
                <c:pt idx="5">
                  <c:v>9000</c:v>
                </c:pt>
                <c:pt idx="6">
                  <c:v>5500</c:v>
                </c:pt>
                <c:pt idx="7">
                  <c:v>4000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7485A"/>
            </a:solidFill>
          </a:ln>
        </c:spPr>
        <c:txPr>
          <a:bodyPr/>
          <a:lstStyle/>
          <a:p>
            <a:pPr>
              <a:defRPr sz="900">
                <a:solidFill>
                  <a:srgbClr val="8FB6C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27485A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FB6C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8FB6C2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_ch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0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529584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86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BB3C0"/>
                </a:solidFill>
                <a:latin typeface="Calibri"/>
              </a:rPr>
              <a:t>OPERATIONS BRIEF, 2026 SEASON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Lucky Strike Charters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CFE2E8"/>
                </a:solidFill>
                <a:latin typeface="Calibri"/>
              </a:rPr>
              <a:t>Gulf offshore, nearshore, and flats fishing out of Bayport Harbor, slip B-12.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8FB6C2"/>
                </a:solidFill>
                <a:latin typeface="Calibri"/>
              </a:rPr>
              <a:t>Captain Carlos Bennett, USCG Master 50 GT Near Coastal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ON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What is inside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6C2"/>
                </a:solidFill>
                <a:latin typeface="Calibri"/>
              </a:rPr>
              <a:t>Lucky Strike Charters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6C2"/>
                </a:solidFill>
                <a:latin typeface="Calibri"/>
              </a:rPr>
              <a:t>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349240" cy="91440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737360"/>
            <a:ext cx="566928" cy="566928"/>
          </a:xfrm>
          <a:prstGeom prst="ellipse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373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62029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70078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The vessel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66543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FB6C2"/>
                </a:solidFill>
                <a:latin typeface="Calibri"/>
              </a:rPr>
              <a:t>A 1991 forty-two foot sportfisher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54480"/>
            <a:ext cx="5349240" cy="91440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9672" y="1737360"/>
            <a:ext cx="566928" cy="566928"/>
          </a:xfrm>
          <a:prstGeom prst="ellipse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7373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62029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70078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Trips and 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066543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FB6C2"/>
                </a:solidFill>
                <a:latin typeface="Calibri"/>
              </a:rPr>
              <a:t>Offshore, nearshore, flats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633472"/>
            <a:ext cx="5349240" cy="91440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112" y="2816352"/>
            <a:ext cx="566928" cy="566928"/>
          </a:xfrm>
          <a:prstGeom prst="ellipse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8163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62029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277977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Crew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14553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FB6C2"/>
                </a:solidFill>
                <a:latin typeface="Calibri"/>
              </a:rPr>
              <a:t>Captain and mate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633472"/>
            <a:ext cx="5349240" cy="91440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9672" y="2816352"/>
            <a:ext cx="566928" cy="566928"/>
          </a:xfrm>
          <a:prstGeom prst="ellipse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28163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62029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77977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Season shape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14553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FB6C2"/>
                </a:solidFill>
                <a:latin typeface="Calibri"/>
              </a:rPr>
              <a:t>April through November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712463"/>
            <a:ext cx="5349240" cy="91440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6112" y="3895344"/>
            <a:ext cx="566928" cy="566928"/>
          </a:xfrm>
          <a:prstGeom prst="ellipse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389534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62029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38587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2025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224527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FB6C2"/>
                </a:solidFill>
                <a:latin typeface="Calibri"/>
              </a:rPr>
              <a:t>Revenue at a glance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3712463"/>
            <a:ext cx="5349240" cy="91440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19672" y="3895344"/>
            <a:ext cx="566928" cy="566928"/>
          </a:xfrm>
          <a:prstGeom prst="ellipse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389534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62029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8587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Booking and safety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224527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FB6C2"/>
                </a:solidFill>
                <a:latin typeface="Calibri"/>
              </a:rPr>
              <a:t>How a charter is run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THE BOAT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Lucky Strike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6C2"/>
                </a:solidFill>
                <a:latin typeface="Calibri"/>
              </a:rPr>
              <a:t>Lucky Strike Charters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6C2"/>
                </a:solidFill>
                <a:latin typeface="Calibri"/>
              </a:rP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560320" cy="137160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BB3C0"/>
                </a:solidFill>
                <a:latin typeface="Calibri"/>
              </a:rPr>
              <a:t>42 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FB6C2"/>
                </a:solidFill>
                <a:latin typeface="Calibri"/>
              </a:rPr>
              <a:t>Length overall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600200"/>
            <a:ext cx="2560320" cy="137160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17830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BB3C0"/>
                </a:solidFill>
                <a:latin typeface="Calibri"/>
              </a:rPr>
              <a:t>Twin diesel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4688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FB6C2"/>
                </a:solidFill>
                <a:latin typeface="Calibri"/>
              </a:rPr>
              <a:t>Inboard power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600200"/>
            <a:ext cx="2560320" cy="137160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59" y="17830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BB3C0"/>
                </a:solidFill>
                <a:latin typeface="Calibr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4688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FB6C2"/>
                </a:solidFill>
                <a:latin typeface="Calibri"/>
              </a:rPr>
              <a:t>Passengers max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600200"/>
            <a:ext cx="2560320" cy="137160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7830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2BB3C0"/>
                </a:solidFill>
                <a:latin typeface="Calibri"/>
              </a:rPr>
              <a:t>Since 1991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4688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8FB6C2"/>
                </a:solidFill>
                <a:latin typeface="Calibri"/>
              </a:rPr>
              <a:t>Hull built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46120"/>
            <a:ext cx="5349240" cy="265176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246120"/>
            <a:ext cx="91440" cy="2651760"/>
          </a:xfrm>
          <a:prstGeom prst="rect">
            <a:avLst/>
          </a:prstGeom>
          <a:solidFill>
            <a:srgbClr val="F0A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410712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Rigged and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3904487"/>
            <a:ext cx="4892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Outriggers, downriggers, and a full spread of trolling gear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Marine chartplotter, sounder, and VHF on board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Bait wells, fish boxes, and a clean cockpit for fighting fish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Maintained in house, two engine rebuilds over thirty-five seasons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246120"/>
            <a:ext cx="5074920" cy="265176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3246120"/>
            <a:ext cx="91440" cy="265176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11112" y="341071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Home water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3904487"/>
            <a:ext cx="4617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Bayport Harbor, slip B-12, on Florida's Gulf coast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Quick run to nearshore reefs and offshore bottom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Backcountry flats minutes from the dock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Thirty-five seasons of local knowledge</a:t>
            </a:r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PICK YOUR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Charter trips and 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6C2"/>
                </a:solidFill>
                <a:latin typeface="Calibri"/>
              </a:rPr>
              <a:t>Lucky Strike Charters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6C2"/>
                </a:solidFill>
                <a:latin typeface="Calibri"/>
              </a:rP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402336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429000" cy="914400"/>
          </a:xfrm>
          <a:prstGeom prst="round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103120"/>
            <a:ext cx="3429000" cy="457200"/>
          </a:xfrm>
          <a:prstGeom prst="rect">
            <a:avLst/>
          </a:prstGeom>
          <a:solidFill>
            <a:srgbClr val="14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3429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062029"/>
                </a:solidFill>
                <a:latin typeface="Calibri"/>
              </a:rPr>
              <a:t>Offshore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974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0A836"/>
                </a:solidFill>
                <a:latin typeface="Calibri"/>
              </a:rPr>
              <a:t>$</a:t>
            </a:r>
            <a:r>
              <a:rPr sz="3000" b="1" i="0">
                <a:solidFill>
                  <a:srgbClr val="FFFFFF"/>
                </a:solidFill>
                <a:latin typeface="Calibri"/>
              </a:rPr>
              <a:t>1,150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2834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FE2E8"/>
                </a:solidFill>
                <a:latin typeface="Calibri"/>
              </a:rPr>
              <a:t>8 hours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FE2E8"/>
                </a:solidFill>
                <a:latin typeface="Calibri"/>
              </a:rPr>
              <a:t>Up to 4 anglers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FE2E8"/>
                </a:solidFill>
                <a:latin typeface="Calibri"/>
              </a:rPr>
              <a:t>Bottom and trolling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45920"/>
            <a:ext cx="3429000" cy="402336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45920"/>
            <a:ext cx="3429000" cy="914400"/>
          </a:xfrm>
          <a:prstGeom prst="roundRect">
            <a:avLst/>
          </a:prstGeom>
          <a:solidFill>
            <a:srgbClr val="F0A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2103120"/>
            <a:ext cx="3429000" cy="457200"/>
          </a:xfrm>
          <a:prstGeom prst="rect">
            <a:avLst/>
          </a:prstGeom>
          <a:solidFill>
            <a:srgbClr val="14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755648"/>
            <a:ext cx="3429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062029"/>
                </a:solidFill>
                <a:latin typeface="Calibri"/>
              </a:rPr>
              <a:t>Nearshore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26974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0A836"/>
                </a:solidFill>
                <a:latin typeface="Calibri"/>
              </a:rPr>
              <a:t>$</a:t>
            </a:r>
            <a:r>
              <a:rPr sz="3000" b="1" i="0">
                <a:solidFill>
                  <a:srgbClr val="FFFFFF"/>
                </a:solidFill>
                <a:latin typeface="Calibri"/>
              </a:rPr>
              <a:t>850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657600"/>
            <a:ext cx="2834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FE2E8"/>
                </a:solidFill>
                <a:latin typeface="Calibri"/>
              </a:rPr>
              <a:t>6 hours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FE2E8"/>
                </a:solidFill>
                <a:latin typeface="Calibri"/>
              </a:rPr>
              <a:t>Up to 4 anglers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FE2E8"/>
                </a:solidFill>
                <a:latin typeface="Calibri"/>
              </a:rPr>
              <a:t>Reefs and wrecks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645920"/>
            <a:ext cx="3429000" cy="402336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0" y="1645920"/>
            <a:ext cx="3429000" cy="914400"/>
          </a:xfrm>
          <a:prstGeom prst="round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2103120"/>
            <a:ext cx="3429000" cy="457200"/>
          </a:xfrm>
          <a:prstGeom prst="rect">
            <a:avLst/>
          </a:prstGeom>
          <a:solidFill>
            <a:srgbClr val="14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755648"/>
            <a:ext cx="3429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062029"/>
                </a:solidFill>
                <a:latin typeface="Calibri"/>
              </a:rPr>
              <a:t>Flats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69748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0A836"/>
                </a:solidFill>
                <a:latin typeface="Calibri"/>
              </a:rPr>
              <a:t>$</a:t>
            </a:r>
            <a:r>
              <a:rPr sz="3000" b="1" i="0">
                <a:solidFill>
                  <a:srgbClr val="FFFFFF"/>
                </a:solidFill>
                <a:latin typeface="Calibri"/>
              </a:rPr>
              <a:t>550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657600"/>
            <a:ext cx="2834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FE2E8"/>
                </a:solidFill>
                <a:latin typeface="Calibri"/>
              </a:rPr>
              <a:t>4 hours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FE2E8"/>
                </a:solidFill>
                <a:latin typeface="Calibri"/>
              </a:rPr>
              <a:t>Up to 2 anglers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FE2E8"/>
                </a:solidFill>
                <a:latin typeface="Calibri"/>
              </a:rPr>
              <a:t>Redfish, snook, tarpon</a:t>
            </a:r>
          </a:p>
        </p:txBody>
      </p:sp>
    </p:spTree>
  </p:cSld>
  <p:clrMapOvr>
    <a:masterClrMapping/>
  </p:clrMapOvr>
  <p:transition spd="med">
    <p:cover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WHO RUNS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Captain and crew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6C2"/>
                </a:solidFill>
                <a:latin typeface="Calibri"/>
              </a:rPr>
              <a:t>Lucky Strike Charters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6C2"/>
                </a:solidFill>
                <a:latin typeface="Calibri"/>
              </a:rPr>
              <a:t>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303520" cy="402336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1965960"/>
            <a:ext cx="914400" cy="914400"/>
          </a:xfrm>
          <a:prstGeom prst="ellipse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659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62029"/>
                </a:solidFill>
                <a:latin typeface="Calibri"/>
              </a:rPr>
              <a:t>CB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0116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Captain Carlos Bennett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43230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0A836"/>
                </a:solidFill>
                <a:latin typeface="Calibri"/>
              </a:rPr>
              <a:t>USCG Master 50 GT Near Coastal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004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FE2E8"/>
                </a:solidFill>
                <a:latin typeface="Calibri"/>
              </a:rPr>
              <a:t>Thirty-five seasons on these waters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FE2E8"/>
                </a:solidFill>
                <a:latin typeface="Calibri"/>
              </a:rPr>
              <a:t>Reads weather, water, and engines by feel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FE2E8"/>
                </a:solidFill>
                <a:latin typeface="Calibri"/>
              </a:rPr>
              <a:t>Holds the weather call every morning by 5 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645920"/>
            <a:ext cx="5303520" cy="402336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29399" y="1965960"/>
            <a:ext cx="914400" cy="914400"/>
          </a:xfrm>
          <a:prstGeom prst="ellipse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399" y="19659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62029"/>
                </a:solidFill>
                <a:latin typeface="Calibri"/>
              </a:rPr>
              <a:t>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0116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Russ Taylor, first mate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43230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0A836"/>
                </a:solidFill>
                <a:latin typeface="Calibri"/>
              </a:rPr>
              <a:t>Eight seasons on the Lucky Strike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0040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FE2E8"/>
                </a:solidFill>
                <a:latin typeface="Calibri"/>
              </a:rPr>
              <a:t>Rigs, gaffs, and works the deck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FE2E8"/>
                </a:solidFill>
                <a:latin typeface="Calibri"/>
              </a:rPr>
              <a:t>Strong on the water, steady under a bent rod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FE2E8"/>
                </a:solidFill>
                <a:latin typeface="Calibri"/>
              </a:rPr>
              <a:t>Keeps the cockpit clean and the anglers fishing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ACROSS THE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Season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6C2"/>
                </a:solidFill>
                <a:latin typeface="Calibri"/>
              </a:rPr>
              <a:t>Lucky Strike Charters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6C2"/>
                </a:solidFill>
                <a:latin typeface="Calibri"/>
              </a:rPr>
              <a:t>06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10698480" cy="109728"/>
          </a:xfrm>
          <a:prstGeom prst="rect">
            <a:avLst/>
          </a:prstGeom>
          <a:solidFill>
            <a:srgbClr val="274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084831"/>
            <a:ext cx="237744" cy="237744"/>
          </a:xfrm>
          <a:prstGeom prst="ellipse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651760"/>
            <a:ext cx="2400300" cy="246888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88920"/>
            <a:ext cx="21259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Apr to Jun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54680"/>
            <a:ext cx="21259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Spring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11880"/>
            <a:ext cx="21717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 i="0">
                <a:solidFill>
                  <a:srgbClr val="CFE2E8"/>
                </a:solidFill>
                <a:latin typeface="Calibri"/>
              </a:rPr>
              <a:t>Season opens, bookings climb, grouper and snapper turn on</a:t>
            </a:r>
          </a:p>
        </p:txBody>
      </p:sp>
      <p:sp>
        <p:nvSpPr>
          <p:cNvPr id="14" name="Oval 13"/>
          <p:cNvSpPr/>
          <p:nvPr/>
        </p:nvSpPr>
        <p:spPr>
          <a:xfrm>
            <a:off x="3543299" y="2084831"/>
            <a:ext cx="237744" cy="237744"/>
          </a:xfrm>
          <a:prstGeom prst="ellipse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97579" y="2651760"/>
            <a:ext cx="2400300" cy="246888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0459" y="2788920"/>
            <a:ext cx="21259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Jul to Aug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0459" y="3154680"/>
            <a:ext cx="21259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0459" y="3611880"/>
            <a:ext cx="21717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 i="0">
                <a:solidFill>
                  <a:srgbClr val="CFE2E8"/>
                </a:solidFill>
                <a:latin typeface="Calibri"/>
              </a:rPr>
              <a:t>Busiest stretch, full calendar, best months of the year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084831"/>
            <a:ext cx="237744" cy="237744"/>
          </a:xfrm>
          <a:prstGeom prst="ellipse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199" y="2651760"/>
            <a:ext cx="2400300" cy="246888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2788920"/>
            <a:ext cx="21259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Sep to Nov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3154680"/>
            <a:ext cx="21259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Shoulder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3611880"/>
            <a:ext cx="21717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 i="0">
                <a:solidFill>
                  <a:srgbClr val="CFE2E8"/>
                </a:solidFill>
                <a:latin typeface="Calibri"/>
              </a:rPr>
              <a:t>Cooler water, steady offshore, wind-down into the close</a:t>
            </a:r>
          </a:p>
        </p:txBody>
      </p:sp>
      <p:sp>
        <p:nvSpPr>
          <p:cNvPr id="24" name="Oval 23"/>
          <p:cNvSpPr/>
          <p:nvPr/>
        </p:nvSpPr>
        <p:spPr>
          <a:xfrm>
            <a:off x="8892540" y="2084831"/>
            <a:ext cx="237744" cy="237744"/>
          </a:xfrm>
          <a:prstGeom prst="ellipse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46819" y="2651760"/>
            <a:ext cx="2400300" cy="246888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9700" y="2788920"/>
            <a:ext cx="21259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BB3C0"/>
                </a:solidFill>
                <a:latin typeface="Calibri"/>
              </a:rPr>
              <a:t>Dec to Mar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9700" y="3154680"/>
            <a:ext cx="21259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Off season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9700" y="3611880"/>
            <a:ext cx="21717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 i="0">
                <a:solidFill>
                  <a:srgbClr val="CFE2E8"/>
                </a:solidFill>
                <a:latin typeface="Calibri"/>
              </a:rPr>
              <a:t>Haul out, maintenance, and the guitar bench</a:t>
            </a:r>
          </a:p>
        </p:txBody>
      </p:sp>
    </p:spTree>
  </p:cSld>
  <p:clrMapOvr>
    <a:masterClrMapping/>
  </p:clrMapOvr>
  <p:transition spd="med">
    <p:push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LAST SEASON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2025 revenue by 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6C2"/>
                </a:solidFill>
                <a:latin typeface="Calibri"/>
              </a:rPr>
              <a:t>Lucky Strike Charters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6C2"/>
                </a:solidFill>
                <a:latin typeface="Calibri"/>
              </a:rPr>
              <a:t>07 / 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600200"/>
          <a:ext cx="7498079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595360" y="1691640"/>
            <a:ext cx="2834640" cy="118872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182880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0A836"/>
                </a:solidFill>
                <a:latin typeface="Calibri"/>
              </a:rPr>
              <a:t>$80,000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39572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8FB6C2"/>
                </a:solidFill>
                <a:latin typeface="Calibri"/>
              </a:rPr>
              <a:t>Season gross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3063240"/>
            <a:ext cx="2834640" cy="118872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320040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0A836"/>
                </a:solidFill>
                <a:latin typeface="Calibri"/>
              </a:rPr>
              <a:t>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376732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8FB6C2"/>
                </a:solidFill>
                <a:latin typeface="Calibri"/>
              </a:rPr>
              <a:t>Charters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4434840"/>
            <a:ext cx="2834640" cy="118872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457200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0A836"/>
                </a:solidFill>
                <a:latin typeface="Calibri"/>
              </a:rPr>
              <a:t>July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513892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8FB6C2"/>
                </a:solidFill>
                <a:latin typeface="Calibri"/>
              </a:rPr>
              <a:t>Best month</a:t>
            </a:r>
          </a:p>
        </p:txBody>
      </p:sp>
    </p:spTree>
  </p:cSld>
  <p:clrMapOvr>
    <a:masterClrMapping/>
  </p:clrMapOvr>
  <p:transition spd="med">
    <p:wipe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RUN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Safety and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6C2"/>
                </a:solidFill>
                <a:latin typeface="Calibri"/>
              </a:rPr>
              <a:t>Lucky Strike Charters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6C2"/>
                </a:solidFill>
                <a:latin typeface="Calibri"/>
              </a:rPr>
              <a:t>08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402336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91440" cy="402336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1051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Licensed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2971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USCG Master 50 GT Near Coastal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Renewal packet mailed October 3, 2026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Current through December 31, 2026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Annual vessel inspection passed February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429000" cy="402336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45920"/>
            <a:ext cx="91440" cy="4023360"/>
          </a:xfrm>
          <a:prstGeom prst="rect">
            <a:avLst/>
          </a:prstGeom>
          <a:solidFill>
            <a:srgbClr val="F0A8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81051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Weather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304288"/>
            <a:ext cx="29718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Forecast reviewed the night before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Final call made by 5 AM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No Friday departures on multi-day trips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Backup date held on every booking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291840" cy="402336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91440" cy="4023360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81051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On 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04288"/>
            <a:ext cx="28346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Coast Guard safety gear checked each season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Flares, extinguishers, and beacon current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Life jackets for every passenger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CFE2E8"/>
                </a:solidFill>
                <a:latin typeface="Calibri"/>
              </a:rPr>
              <a:t>First aid and a charged radio</a:t>
            </a:r>
          </a:p>
        </p:txBody>
      </p:sp>
    </p:spTree>
  </p:cSld>
  <p:clrMapOvr>
    <a:masterClrMapping/>
  </p:clrMapOvr>
  <p:transition spd="med">
    <p:cover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BB3C0"/>
                </a:solidFill>
                <a:latin typeface="Calibri"/>
              </a:rPr>
              <a:t>HOW TO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Booking and 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4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6C2"/>
                </a:solidFill>
                <a:latin typeface="Calibri"/>
              </a:rPr>
              <a:t>Lucky Strike Charters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FB6C2"/>
                </a:solidFill>
                <a:latin typeface="Calibri"/>
              </a:rPr>
              <a:t>09 / 10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62029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664208"/>
            <a:ext cx="4297680" cy="603504"/>
          </a:xfrm>
          <a:prstGeom prst="roundRect">
            <a:avLst/>
          </a:prstGeom>
          <a:solidFill>
            <a:srgbClr val="14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1664208"/>
            <a:ext cx="4023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FE2E8"/>
                </a:solidFill>
                <a:latin typeface="Calibri"/>
              </a:rPr>
              <a:t>Pick a date and trip type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06040"/>
            <a:ext cx="640080" cy="640080"/>
          </a:xfrm>
          <a:prstGeom prst="ellipse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62029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2624328"/>
            <a:ext cx="4297680" cy="603504"/>
          </a:xfrm>
          <a:prstGeom prst="roundRect">
            <a:avLst/>
          </a:prstGeom>
          <a:solidFill>
            <a:srgbClr val="14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2624328"/>
            <a:ext cx="4023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FE2E8"/>
                </a:solidFill>
                <a:latin typeface="Calibri"/>
              </a:rPr>
              <a:t>A 350 dollar deposit holds the slot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566160"/>
            <a:ext cx="640080" cy="640080"/>
          </a:xfrm>
          <a:prstGeom prst="ellipse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62029"/>
                </a:solidFill>
                <a:latin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3584448"/>
            <a:ext cx="4297680" cy="603504"/>
          </a:xfrm>
          <a:prstGeom prst="roundRect">
            <a:avLst/>
          </a:prstGeom>
          <a:solidFill>
            <a:srgbClr val="14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3584448"/>
            <a:ext cx="4023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FE2E8"/>
                </a:solidFill>
                <a:latin typeface="Calibri"/>
              </a:rPr>
              <a:t>Sign the liability waivers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526280"/>
            <a:ext cx="640080" cy="640080"/>
          </a:xfrm>
          <a:prstGeom prst="ellipse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62029"/>
                </a:solidFill>
                <a:latin typeface="Calibr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4544568"/>
            <a:ext cx="4297680" cy="603504"/>
          </a:xfrm>
          <a:prstGeom prst="roundRect">
            <a:avLst/>
          </a:prstGeom>
          <a:solidFill>
            <a:srgbClr val="144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83080" y="4544568"/>
            <a:ext cx="4023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CFE2E8"/>
                </a:solidFill>
                <a:latin typeface="Calibri"/>
              </a:rPr>
              <a:t>Balance due the day of the charter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309360" y="1645920"/>
          <a:ext cx="512064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Trip</a:t>
                      </a:r>
                    </a:p>
                  </a:txBody>
                  <a:tcPr marL="109728" marR="91440" marT="36576" marB="36576" anchor="ctr">
                    <a:solidFill>
                      <a:srgbClr val="2BB3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Hours</a:t>
                      </a:r>
                    </a:p>
                  </a:txBody>
                  <a:tcPr marL="109728" marR="91440" marT="36576" marB="36576" anchor="ctr">
                    <a:solidFill>
                      <a:srgbClr val="2BB3C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</a:rPr>
                        <a:t>Rate</a:t>
                      </a:r>
                    </a:p>
                  </a:txBody>
                  <a:tcPr marL="109728" marR="91440" marT="36576" marB="36576" anchor="ctr">
                    <a:solidFill>
                      <a:srgbClr val="2BB3C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CFE2E8"/>
                          </a:solidFill>
                        </a:rPr>
                        <a:t>Offshore</a:t>
                      </a:r>
                    </a:p>
                  </a:txBody>
                  <a:tcPr marL="109728" marR="91440" marT="36576" marB="36576" anchor="ctr">
                    <a:solidFill>
                      <a:srgbClr val="144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CFE2E8"/>
                          </a:solidFill>
                        </a:rPr>
                        <a:t>8</a:t>
                      </a:r>
                    </a:p>
                  </a:txBody>
                  <a:tcPr marL="109728" marR="91440" marT="36576" marB="36576" anchor="ctr">
                    <a:solidFill>
                      <a:srgbClr val="144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CFE2E8"/>
                          </a:solidFill>
                        </a:rPr>
                        <a:t>1,150</a:t>
                      </a:r>
                    </a:p>
                  </a:txBody>
                  <a:tcPr marL="109728" marR="91440" marT="36576" marB="36576" anchor="ctr">
                    <a:solidFill>
                      <a:srgbClr val="14455C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CFE2E8"/>
                          </a:solidFill>
                        </a:rPr>
                        <a:t>Nearshore</a:t>
                      </a:r>
                    </a:p>
                  </a:txBody>
                  <a:tcPr marL="109728" marR="91440" marT="36576" marB="36576" anchor="ctr">
                    <a:solidFill>
                      <a:srgbClr val="1B55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CFE2E8"/>
                          </a:solidFill>
                        </a:rPr>
                        <a:t>6</a:t>
                      </a:r>
                    </a:p>
                  </a:txBody>
                  <a:tcPr marL="109728" marR="91440" marT="36576" marB="36576" anchor="ctr">
                    <a:solidFill>
                      <a:srgbClr val="1B55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CFE2E8"/>
                          </a:solidFill>
                        </a:rPr>
                        <a:t>850</a:t>
                      </a:r>
                    </a:p>
                  </a:txBody>
                  <a:tcPr marL="109728" marR="91440" marT="36576" marB="36576" anchor="ctr">
                    <a:solidFill>
                      <a:srgbClr val="1B556E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CFE2E8"/>
                          </a:solidFill>
                        </a:rPr>
                        <a:t>Flats</a:t>
                      </a:r>
                    </a:p>
                  </a:txBody>
                  <a:tcPr marL="109728" marR="91440" marT="36576" marB="36576" anchor="ctr">
                    <a:solidFill>
                      <a:srgbClr val="144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CFE2E8"/>
                          </a:solidFill>
                        </a:rPr>
                        <a:t>4</a:t>
                      </a:r>
                    </a:p>
                  </a:txBody>
                  <a:tcPr marL="109728" marR="91440" marT="36576" marB="36576" anchor="ctr">
                    <a:solidFill>
                      <a:srgbClr val="1445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CFE2E8"/>
                          </a:solidFill>
                        </a:rPr>
                        <a:t>550</a:t>
                      </a:r>
                    </a:p>
                  </a:txBody>
                  <a:tcPr marL="109728" marR="91440" marT="36576" marB="36576" anchor="ctr">
                    <a:solidFill>
                      <a:srgbClr val="14455C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309360" y="457200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0">
                <a:solidFill>
                  <a:srgbClr val="8FB6C2"/>
                </a:solidFill>
                <a:latin typeface="Calibri"/>
              </a:rPr>
              <a:t>Bookings run through Walsh Charter Services. Deposits roll to the backup date or refund in full on a captain weather cancellation.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2BB3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BB3C0"/>
                </a:solidFill>
                <a:latin typeface="Calibri"/>
              </a:rPr>
              <a:t>TIGHT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Book the Lucky Strike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CFE2E8"/>
                </a:solidFill>
                <a:latin typeface="Calibri"/>
              </a:rPr>
              <a:t>Captain Carlos Bennett, Lucky Strike Charters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749039"/>
            <a:ext cx="2926080" cy="109728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38862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BB3C0"/>
                </a:solidFill>
                <a:latin typeface="Calibri"/>
              </a:rPr>
              <a:t>PHONE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422452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(352) 555-0144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749039"/>
            <a:ext cx="2926080" cy="109728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38862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BB3C0"/>
                </a:solidFill>
                <a:latin typeface="Calibri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422452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carlos.bennett@Finthesiss.ai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749039"/>
            <a:ext cx="2926080" cy="1097280"/>
          </a:xfrm>
          <a:prstGeom prst="roundRect">
            <a:avLst/>
          </a:prstGeom>
          <a:solidFill>
            <a:srgbClr val="14455C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38862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BB3C0"/>
                </a:solidFill>
                <a:latin typeface="Calibri"/>
              </a:rPr>
              <a:t>HARBOR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4224528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Bayport Harbor, slip B-12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