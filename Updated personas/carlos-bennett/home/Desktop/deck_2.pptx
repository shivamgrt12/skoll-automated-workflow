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Work order value</c:v>
                </c:pt>
              </c:strCache>
            </c:strRef>
          </c:tx>
          <c:spPr>
            <a:solidFill>
              <a:srgbClr val="D99A3A"/>
            </a:solidFill>
            <a:ln>
              <a:solidFill>
                <a:srgbClr val="D99A3A"/>
              </a:solidFill>
            </a:ln>
          </c:spPr>
          <c:cat>
            <c:strRef>
              <c:f>Sheet1!$A$2:$A$5</c:f>
              <c:strCache>
                <c:ptCount val="4"/>
                <c:pt idx="0">
                  <c:v>Restoration</c:v>
                </c:pt>
                <c:pt idx="1">
                  <c:v>Refret electric</c:v>
                </c:pt>
                <c:pt idx="2">
                  <c:v>Fret level</c:v>
                </c:pt>
                <c:pt idx="3">
                  <c:v>Delivered, fret and nut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1850</c:v>
                </c:pt>
                <c:pt idx="1">
                  <c:v>620</c:v>
                </c:pt>
                <c:pt idx="2">
                  <c:v>220</c:v>
                </c:pt>
                <c:pt idx="3">
                  <c:v>285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463520"/>
            </a:solidFill>
          </a:ln>
        </c:spPr>
        <c:txPr>
          <a:bodyPr/>
          <a:lstStyle/>
          <a:p>
            <a:pPr>
              <a:defRPr sz="900">
                <a:solidFill>
                  <a:srgbClr val="B39A7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463520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B39A7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B39A78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A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_gui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114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566160"/>
            <a:ext cx="12191695" cy="3291840"/>
          </a:xfrm>
          <a:prstGeom prst="rect">
            <a:avLst/>
          </a:prstGeom>
          <a:solidFill>
            <a:srgbClr val="281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529584"/>
            <a:ext cx="12191695" cy="54864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86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99A3A"/>
                </a:solidFill>
                <a:latin typeface="Calibri"/>
              </a:rPr>
              <a:t>REPAIR AND RESTORATION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6ECDC"/>
                </a:solidFill>
                <a:latin typeface="Calibri"/>
              </a:rPr>
              <a:t>Bennett Guitar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 i="0">
                <a:solidFill>
                  <a:srgbClr val="DCC8AC"/>
                </a:solidFill>
                <a:latin typeface="Calibri"/>
              </a:rPr>
              <a:t>Hand repair and restoration of acoustic, vintage electric, mandolin, and banjo.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1">
                <a:solidFill>
                  <a:srgbClr val="B39A78"/>
                </a:solidFill>
                <a:latin typeface="Calibri"/>
              </a:rPr>
              <a:t>Carlos Bennett, luthier, Bayport, Florida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ON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6ECDC"/>
                </a:solidFill>
                <a:latin typeface="Calibri"/>
              </a:rPr>
              <a:t>What is inside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A2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39A78"/>
                </a:solidFill>
                <a:latin typeface="Calibri"/>
              </a:rPr>
              <a:t>Bennett Guitar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39A78"/>
                </a:solidFill>
                <a:latin typeface="Calibri"/>
              </a:rPr>
              <a:t>02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349240" cy="91440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737360"/>
            <a:ext cx="566928" cy="566928"/>
          </a:xfrm>
          <a:prstGeom prst="ellipse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373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81A10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70078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CDC"/>
                </a:solidFill>
                <a:latin typeface="Calibri"/>
              </a:rPr>
              <a:t>The 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66543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B39A78"/>
                </a:solidFill>
                <a:latin typeface="Calibri"/>
              </a:rPr>
              <a:t>One bench, one instrument at a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554480"/>
            <a:ext cx="5349240" cy="91440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19672" y="1737360"/>
            <a:ext cx="566928" cy="566928"/>
          </a:xfrm>
          <a:prstGeom prst="ellipse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7373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81A10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70078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CDC"/>
                </a:solidFill>
                <a:latin typeface="Calibri"/>
              </a:rPr>
              <a:t>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066543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B39A78"/>
                </a:solidFill>
                <a:latin typeface="Calibri"/>
              </a:rPr>
              <a:t>Fret work to full restoration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633472"/>
            <a:ext cx="5349240" cy="91440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6112" y="2816352"/>
            <a:ext cx="566928" cy="566928"/>
          </a:xfrm>
          <a:prstGeom prst="ellipse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28163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81A10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277977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CDC"/>
                </a:solidFill>
                <a:latin typeface="Calibri"/>
              </a:rPr>
              <a:t>Process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14553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B39A78"/>
                </a:solidFill>
                <a:latin typeface="Calibri"/>
              </a:rPr>
              <a:t>From intake to pickup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633472"/>
            <a:ext cx="5349240" cy="91440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19672" y="2816352"/>
            <a:ext cx="566928" cy="566928"/>
          </a:xfrm>
          <a:prstGeom prst="ellipse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9672" y="281635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81A10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277977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CDC"/>
                </a:solidFill>
                <a:latin typeface="Calibri"/>
              </a:rPr>
              <a:t>A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14553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B39A78"/>
                </a:solidFill>
                <a:latin typeface="Calibri"/>
              </a:rPr>
              <a:t>1960s dreadnought restoration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712463"/>
            <a:ext cx="5349240" cy="91440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6112" y="3895344"/>
            <a:ext cx="566928" cy="566928"/>
          </a:xfrm>
          <a:prstGeom prst="ellipse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389534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81A10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38587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CDC"/>
                </a:solidFill>
                <a:latin typeface="Calibri"/>
              </a:rPr>
              <a:t>Pricing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224527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B39A78"/>
                </a:solidFill>
                <a:latin typeface="Calibri"/>
              </a:rPr>
              <a:t>What the work runs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3712463"/>
            <a:ext cx="5349240" cy="91440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19672" y="3895344"/>
            <a:ext cx="566928" cy="566928"/>
          </a:xfrm>
          <a:prstGeom prst="ellipse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389534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81A10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38587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CDC"/>
                </a:solidFill>
                <a:latin typeface="Calibri"/>
              </a:rPr>
              <a:t>Current pipeline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4224527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B39A78"/>
                </a:solidFill>
                <a:latin typeface="Calibri"/>
              </a:rPr>
              <a:t>What is on the bench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THE 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6ECDC"/>
                </a:solidFill>
                <a:latin typeface="Calibri"/>
              </a:rPr>
              <a:t>A climate-controlled 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A2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39A78"/>
                </a:solidFill>
                <a:latin typeface="Calibri"/>
              </a:rPr>
              <a:t>Bennett Guitar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39A78"/>
                </a:solidFill>
                <a:latin typeface="Calibri"/>
              </a:rPr>
              <a:t>03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349240" cy="406908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91440" cy="4069080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10512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CDC"/>
                </a:solidFill>
                <a:latin typeface="Calibri"/>
              </a:rPr>
              <a:t>Built for the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304288"/>
            <a:ext cx="489204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DCC8AC"/>
                </a:solidFill>
                <a:latin typeface="Calibri"/>
              </a:rPr>
              <a:t>Climate controlled against Gulf coast humidity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DCC8AC"/>
                </a:solidFill>
                <a:latin typeface="Calibri"/>
              </a:rPr>
              <a:t>Parts wall, setup bench, and a dedicated fret station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DCC8AC"/>
                </a:solidFill>
                <a:latin typeface="Calibri"/>
              </a:rPr>
              <a:t>Tools inherited and earned over thirty years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DCC8AC"/>
                </a:solidFill>
                <a:latin typeface="Calibri"/>
              </a:rPr>
              <a:t>Evenings at the bench with the porch fan running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645920"/>
            <a:ext cx="5074920" cy="118872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645920"/>
            <a:ext cx="109728" cy="1188720"/>
          </a:xfrm>
          <a:prstGeom prst="rect">
            <a:avLst/>
          </a:prstGeom>
          <a:solidFill>
            <a:srgbClr val="B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810512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D99A3A"/>
                </a:solidFill>
                <a:latin typeface="Calibri"/>
              </a:rPr>
              <a:t>30+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423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39A78"/>
                </a:solidFill>
                <a:latin typeface="Calibri"/>
              </a:rPr>
              <a:t>Years at the bench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017520"/>
            <a:ext cx="5074920" cy="118872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3017520"/>
            <a:ext cx="109728" cy="1188720"/>
          </a:xfrm>
          <a:prstGeom prst="rect">
            <a:avLst/>
          </a:prstGeom>
          <a:solidFill>
            <a:srgbClr val="B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182112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D99A3A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79475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39A78"/>
                </a:solidFill>
                <a:latin typeface="Calibri"/>
              </a:rPr>
              <a:t>Instrument families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389120"/>
            <a:ext cx="5074920" cy="118872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4389120"/>
            <a:ext cx="109728" cy="1188720"/>
          </a:xfrm>
          <a:prstGeom prst="rect">
            <a:avLst/>
          </a:prstGeom>
          <a:solidFill>
            <a:srgbClr val="B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553712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D99A3A"/>
                </a:solidFill>
                <a:latin typeface="Calibri"/>
              </a:rPr>
              <a:t>~3,000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16635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39A78"/>
                </a:solidFill>
                <a:latin typeface="Calibri"/>
              </a:rPr>
              <a:t>Parts on hand, dollars</a:t>
            </a:r>
          </a:p>
        </p:txBody>
      </p:sp>
    </p:spTree>
  </p:cSld>
  <p:clrMapOvr>
    <a:masterClrMapping/>
  </p:clrMapOvr>
  <p:transition spd="med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WHAT I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6ECDC"/>
                </a:solidFill>
                <a:latin typeface="Calibri"/>
              </a:rPr>
              <a:t>Bench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A2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39A78"/>
                </a:solidFill>
                <a:latin typeface="Calibri"/>
              </a:rPr>
              <a:t>Bennett Guitar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39A78"/>
                </a:solidFill>
                <a:latin typeface="Calibri"/>
              </a:rPr>
              <a:t>04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429000" cy="1874519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91440" cy="1874519"/>
          </a:xfrm>
          <a:prstGeom prst="rect">
            <a:avLst/>
          </a:prstGeom>
          <a:solidFill>
            <a:srgbClr val="B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1051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6ECDC"/>
                </a:solidFill>
                <a:latin typeface="Calibri"/>
              </a:rPr>
              <a:t>Fret level and crown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304288"/>
            <a:ext cx="2971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 i="0">
                <a:solidFill>
                  <a:srgbClr val="DCC8AC"/>
                </a:solidFill>
                <a:latin typeface="Calibri"/>
              </a:rPr>
              <a:t>Level, recrown, polish, full setup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645920"/>
            <a:ext cx="3429000" cy="1874519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645920"/>
            <a:ext cx="91440" cy="1874519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81051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6ECDC"/>
                </a:solidFill>
                <a:latin typeface="Calibri"/>
              </a:rPr>
              <a:t>Neck resets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304288"/>
            <a:ext cx="2971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 i="0">
                <a:solidFill>
                  <a:srgbClr val="DCC8AC"/>
                </a:solidFill>
                <a:latin typeface="Calibri"/>
              </a:rPr>
              <a:t>Steam, refit the dovetail, reset relief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45920"/>
            <a:ext cx="3429000" cy="1874519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91440" cy="1874519"/>
          </a:xfrm>
          <a:prstGeom prst="rect">
            <a:avLst/>
          </a:prstGeom>
          <a:solidFill>
            <a:srgbClr val="B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810512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6ECDC"/>
                </a:solidFill>
                <a:latin typeface="Calibri"/>
              </a:rPr>
              <a:t>Full restoration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304288"/>
            <a:ext cx="2971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 i="0">
                <a:solidFill>
                  <a:srgbClr val="DCC8AC"/>
                </a:solidFill>
                <a:latin typeface="Calibri"/>
              </a:rPr>
              <a:t>Cracks, bridge plate, finish, hardware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03320"/>
            <a:ext cx="3429000" cy="1874519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703320"/>
            <a:ext cx="91440" cy="1874519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3867911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6ECDC"/>
                </a:solidFill>
                <a:latin typeface="Calibri"/>
              </a:rPr>
              <a:t>Electronics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361688"/>
            <a:ext cx="2971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 i="0">
                <a:solidFill>
                  <a:srgbClr val="DCC8AC"/>
                </a:solidFill>
                <a:latin typeface="Calibri"/>
              </a:rPr>
              <a:t>Pickups, pots, and clean solder joints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703320"/>
            <a:ext cx="3429000" cy="1874519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703320"/>
            <a:ext cx="91440" cy="1874519"/>
          </a:xfrm>
          <a:prstGeom prst="rect">
            <a:avLst/>
          </a:prstGeom>
          <a:solidFill>
            <a:srgbClr val="B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3867911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6ECDC"/>
                </a:solidFill>
                <a:latin typeface="Calibri"/>
              </a:rPr>
              <a:t>Setups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2" y="4361688"/>
            <a:ext cx="2971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 i="0">
                <a:solidFill>
                  <a:srgbClr val="DCC8AC"/>
                </a:solidFill>
                <a:latin typeface="Calibri"/>
              </a:rPr>
              <a:t>Action, intonation, and fresh strings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703320"/>
            <a:ext cx="3429000" cy="1874519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703320"/>
            <a:ext cx="91440" cy="1874519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3867911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 i="0">
                <a:solidFill>
                  <a:srgbClr val="F6ECDC"/>
                </a:solidFill>
                <a:latin typeface="Calibri"/>
              </a:rPr>
              <a:t>Mandolin and banjo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4361688"/>
            <a:ext cx="29718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 i="0">
                <a:solidFill>
                  <a:srgbClr val="DCC8AC"/>
                </a:solidFill>
                <a:latin typeface="Calibri"/>
              </a:rPr>
              <a:t>Bridge fit, head tension, fretwork</a:t>
            </a:r>
          </a:p>
        </p:txBody>
      </p:sp>
    </p:spTree>
  </p:cSld>
  <p:clrMapOvr>
    <a:masterClrMapping/>
  </p:clrMapOvr>
  <p:transition spd="med">
    <p:cover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HOW IT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6ECDC"/>
                </a:solidFill>
                <a:latin typeface="Calibri"/>
              </a:rPr>
              <a:t>From drop off to pickup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A2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39A78"/>
                </a:solidFill>
                <a:latin typeface="Calibri"/>
              </a:rPr>
              <a:t>Bennett Guitar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39A78"/>
                </a:solidFill>
                <a:latin typeface="Calibri"/>
              </a:rPr>
              <a:t>05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2354579" cy="329184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" y="2103120"/>
            <a:ext cx="777240" cy="777240"/>
          </a:xfrm>
          <a:prstGeom prst="ellipse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1031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281A10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21259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CDC"/>
                </a:solidFill>
                <a:latin typeface="Calibri"/>
              </a:rPr>
              <a:t>Look it 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703320"/>
            <a:ext cx="21259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DCC8AC"/>
                </a:solidFill>
                <a:latin typeface="Calibri"/>
              </a:rPr>
              <a:t>Tell you what it needs and what it does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5244" y="315468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B9772F"/>
                </a:solidFill>
                <a:latin typeface="Calibr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7579" y="1828800"/>
            <a:ext cx="2354579" cy="329184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17620" y="2103120"/>
            <a:ext cx="777240" cy="777240"/>
          </a:xfrm>
          <a:prstGeom prst="ellipse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7620" y="21031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281A10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0459" y="3108960"/>
            <a:ext cx="21259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CDC"/>
                </a:solidFill>
                <a:latin typeface="Calibri"/>
              </a:rPr>
              <a:t>Quote and deposit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0459" y="3703320"/>
            <a:ext cx="21259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DCC8AC"/>
                </a:solidFill>
                <a:latin typeface="Calibri"/>
              </a:rPr>
              <a:t>Honest estimate, half down on restorations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9864" y="315468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B9772F"/>
                </a:solidFill>
                <a:latin typeface="Calibri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199" y="1828800"/>
            <a:ext cx="2354579" cy="329184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92240" y="2103120"/>
            <a:ext cx="777240" cy="777240"/>
          </a:xfrm>
          <a:prstGeom prst="ellipse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1031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281A10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79" y="3108960"/>
            <a:ext cx="21259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CDC"/>
                </a:solidFill>
                <a:latin typeface="Calibri"/>
              </a:rPr>
              <a:t>The bench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3703320"/>
            <a:ext cx="21259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DCC8AC"/>
                </a:solidFill>
                <a:latin typeface="Calibri"/>
              </a:rPr>
              <a:t>Any change over 350 dollars gets a call 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4484" y="315468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B9772F"/>
                </a:solidFill>
                <a:latin typeface="Calibri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6819" y="1828800"/>
            <a:ext cx="2354579" cy="329184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66859" y="2103120"/>
            <a:ext cx="777240" cy="777240"/>
          </a:xfrm>
          <a:prstGeom prst="ellipse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6859" y="210312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281A10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9700" y="3108960"/>
            <a:ext cx="21259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CDC"/>
                </a:solidFill>
                <a:latin typeface="Calibri"/>
              </a:rPr>
              <a:t>Setup and home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29700" y="3703320"/>
            <a:ext cx="212597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00" b="0" i="0">
                <a:solidFill>
                  <a:srgbClr val="DCC8AC"/>
                </a:solidFill>
                <a:latin typeface="Calibri"/>
              </a:rPr>
              <a:t>Leaves playing right for the local humidity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ON THE 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6ECDC"/>
                </a:solidFill>
                <a:latin typeface="Calibri"/>
              </a:rPr>
              <a:t>1960s dreadnought restoration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A2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39A78"/>
                </a:solidFill>
                <a:latin typeface="Calibri"/>
              </a:rPr>
              <a:t>Bennett Guitar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39A78"/>
                </a:solidFill>
                <a:latin typeface="Calibri"/>
              </a:rPr>
              <a:t>06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349240" cy="406908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91440" cy="4069080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10512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CDC"/>
                </a:solidFill>
                <a:latin typeface="Calibri"/>
              </a:rPr>
              <a:t>The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304288"/>
            <a:ext cx="489204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DCC8AC"/>
                </a:solidFill>
                <a:latin typeface="Calibri"/>
              </a:rPr>
              <a:t>Full neck reset, dovetail refit, relief to 0.010 inch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DCC8AC"/>
                </a:solidFill>
                <a:latin typeface="Calibri"/>
              </a:rPr>
              <a:t>New vintage correct maple bridge plate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DCC8AC"/>
                </a:solidFill>
                <a:latin typeface="Calibri"/>
              </a:rPr>
              <a:t>Refret with a fresh bone nut and saddle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DCC8AC"/>
                </a:solidFill>
                <a:latin typeface="Calibri"/>
              </a:rPr>
              <a:t>Crack repair cleated from inside, color matched touch up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DCC8AC"/>
                </a:solidFill>
                <a:latin typeface="Calibri"/>
              </a:rPr>
              <a:t>Full setup and restring, delivering October 17,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645920"/>
            <a:ext cx="5074920" cy="406908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CDC"/>
                </a:solidFill>
                <a:latin typeface="Calibri"/>
              </a:rPr>
              <a:t>Project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46888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9772F"/>
                </a:solidFill>
                <a:latin typeface="Calibri"/>
              </a:rPr>
              <a:t>Instrument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4688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DCC8AC"/>
                </a:solidFill>
                <a:latin typeface="Calibri"/>
              </a:rPr>
              <a:t>1960s dreadnought acoustic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07238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9772F"/>
                </a:solidFill>
                <a:latin typeface="Calibri"/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07238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DCC8AC"/>
                </a:solidFill>
                <a:latin typeface="Calibri"/>
              </a:rPr>
              <a:t>Full restoration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7588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9772F"/>
                </a:solidFill>
                <a:latin typeface="Calibri"/>
              </a:rPr>
              <a:t>Estimate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67588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DCC8AC"/>
                </a:solidFill>
                <a:latin typeface="Calibri"/>
              </a:rPr>
              <a:t>1,850 dollars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27939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9772F"/>
                </a:solidFill>
                <a:latin typeface="Calibri"/>
              </a:rPr>
              <a:t>Deposit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27939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DCC8AC"/>
                </a:solidFill>
                <a:latin typeface="Calibri"/>
              </a:rPr>
              <a:t>925 dollars, half 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88289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B9772F"/>
                </a:solidFill>
                <a:latin typeface="Calibri"/>
              </a:rPr>
              <a:t>Delivery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88289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DCC8AC"/>
                </a:solidFill>
                <a:latin typeface="Calibri"/>
              </a:rPr>
              <a:t>October 17, 2026</a:t>
            </a:r>
          </a:p>
        </p:txBody>
      </p:sp>
    </p:spTree>
  </p:cSld>
  <p:clrMapOvr>
    <a:masterClrMapping/>
  </p:clrMapOvr>
  <p:transition spd="med">
    <p:push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STRAIGHT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6ECDC"/>
                </a:solidFill>
                <a:latin typeface="Calibri"/>
              </a:rPr>
              <a:t>What the work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A2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39A78"/>
                </a:solidFill>
                <a:latin typeface="Calibri"/>
              </a:rPr>
              <a:t>Bennett Guitar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39A78"/>
                </a:solidFill>
                <a:latin typeface="Calibri"/>
              </a:rPr>
              <a:t>07 / 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69848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6ECDC"/>
                          </a:solidFill>
                        </a:rPr>
                        <a:t>Service</a:t>
                      </a:r>
                    </a:p>
                  </a:txBody>
                  <a:tcPr marL="109728" marR="91440" marT="36576" marB="36576" anchor="ctr">
                    <a:solidFill>
                      <a:srgbClr val="D99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6ECDC"/>
                          </a:solidFill>
                        </a:rPr>
                        <a:t>Includes</a:t>
                      </a:r>
                    </a:p>
                  </a:txBody>
                  <a:tcPr marL="109728" marR="91440" marT="36576" marB="36576" anchor="ctr">
                    <a:solidFill>
                      <a:srgbClr val="D99A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6ECDC"/>
                          </a:solidFill>
                        </a:rPr>
                        <a:t>Typical (USD)</a:t>
                      </a:r>
                    </a:p>
                  </a:txBody>
                  <a:tcPr marL="109728" marR="91440" marT="36576" marB="36576" anchor="ctr">
                    <a:solidFill>
                      <a:srgbClr val="D99A3A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CC8AC"/>
                          </a:solidFill>
                        </a:rPr>
                        <a:t>Setup</a:t>
                      </a:r>
                    </a:p>
                  </a:txBody>
                  <a:tcPr marL="109728" marR="91440" marT="36576" marB="36576" anchor="ctr">
                    <a:solidFill>
                      <a:srgbClr val="3A2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DCC8AC"/>
                          </a:solidFill>
                        </a:rPr>
                        <a:t>Action, intonation, fresh strings</a:t>
                      </a:r>
                    </a:p>
                  </a:txBody>
                  <a:tcPr marL="109728" marR="91440" marT="36576" marB="36576" anchor="ctr">
                    <a:solidFill>
                      <a:srgbClr val="3A2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DCC8AC"/>
                          </a:solidFill>
                        </a:rPr>
                        <a:t>45 to 90</a:t>
                      </a:r>
                    </a:p>
                  </a:txBody>
                  <a:tcPr marL="109728" marR="91440" marT="36576" marB="36576" anchor="ctr">
                    <a:solidFill>
                      <a:srgbClr val="3A2818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CC8AC"/>
                          </a:solidFill>
                        </a:rPr>
                        <a:t>Fret level and crown</a:t>
                      </a:r>
                    </a:p>
                  </a:txBody>
                  <a:tcPr marL="109728" marR="91440" marT="36576" marB="36576" anchor="ctr">
                    <a:solidFill>
                      <a:srgbClr val="4733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DCC8AC"/>
                          </a:solidFill>
                        </a:rPr>
                        <a:t>Level, recrown, polish, setup</a:t>
                      </a:r>
                    </a:p>
                  </a:txBody>
                  <a:tcPr marL="109728" marR="91440" marT="36576" marB="36576" anchor="ctr">
                    <a:solidFill>
                      <a:srgbClr val="4733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DCC8AC"/>
                          </a:solidFill>
                        </a:rPr>
                        <a:t>150 to 220</a:t>
                      </a:r>
                    </a:p>
                  </a:txBody>
                  <a:tcPr marL="109728" marR="91440" marT="36576" marB="36576" anchor="ctr">
                    <a:solidFill>
                      <a:srgbClr val="47331E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CC8AC"/>
                          </a:solidFill>
                        </a:rPr>
                        <a:t>Bone nut or saddle</a:t>
                      </a:r>
                    </a:p>
                  </a:txBody>
                  <a:tcPr marL="109728" marR="91440" marT="36576" marB="36576" anchor="ctr">
                    <a:solidFill>
                      <a:srgbClr val="3A2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DCC8AC"/>
                          </a:solidFill>
                        </a:rPr>
                        <a:t>Cut and fit from a blank</a:t>
                      </a:r>
                    </a:p>
                  </a:txBody>
                  <a:tcPr marL="109728" marR="91440" marT="36576" marB="36576" anchor="ctr">
                    <a:solidFill>
                      <a:srgbClr val="3A2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DCC8AC"/>
                          </a:solidFill>
                        </a:rPr>
                        <a:t>55 to 95</a:t>
                      </a:r>
                    </a:p>
                  </a:txBody>
                  <a:tcPr marL="109728" marR="91440" marT="36576" marB="36576" anchor="ctr">
                    <a:solidFill>
                      <a:srgbClr val="3A2818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CC8AC"/>
                          </a:solidFill>
                        </a:rPr>
                        <a:t>Neck reset</a:t>
                      </a:r>
                    </a:p>
                  </a:txBody>
                  <a:tcPr marL="109728" marR="91440" marT="36576" marB="36576" anchor="ctr">
                    <a:solidFill>
                      <a:srgbClr val="4733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DCC8AC"/>
                          </a:solidFill>
                        </a:rPr>
                        <a:t>Dovetail refit, relief reset</a:t>
                      </a:r>
                    </a:p>
                  </a:txBody>
                  <a:tcPr marL="109728" marR="91440" marT="36576" marB="36576" anchor="ctr">
                    <a:solidFill>
                      <a:srgbClr val="4733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DCC8AC"/>
                          </a:solidFill>
                        </a:rPr>
                        <a:t>300 to 450</a:t>
                      </a:r>
                    </a:p>
                  </a:txBody>
                  <a:tcPr marL="109728" marR="91440" marT="36576" marB="36576" anchor="ctr">
                    <a:solidFill>
                      <a:srgbClr val="47331E"/>
                    </a:solidFill>
                  </a:tcPr>
                </a:tc>
              </a:tr>
              <a:tr h="52251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CC8AC"/>
                          </a:solidFill>
                        </a:rPr>
                        <a:t>Refret</a:t>
                      </a:r>
                    </a:p>
                  </a:txBody>
                  <a:tcPr marL="109728" marR="91440" marT="36576" marB="36576" anchor="ctr">
                    <a:solidFill>
                      <a:srgbClr val="3A2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DCC8AC"/>
                          </a:solidFill>
                        </a:rPr>
                        <a:t>Pull, fill, refret, level, setup</a:t>
                      </a:r>
                    </a:p>
                  </a:txBody>
                  <a:tcPr marL="109728" marR="91440" marT="36576" marB="36576" anchor="ctr">
                    <a:solidFill>
                      <a:srgbClr val="3A281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DCC8AC"/>
                          </a:solidFill>
                        </a:rPr>
                        <a:t>320 to 620</a:t>
                      </a:r>
                    </a:p>
                  </a:txBody>
                  <a:tcPr marL="109728" marR="91440" marT="36576" marB="36576" anchor="ctr">
                    <a:solidFill>
                      <a:srgbClr val="3A2818"/>
                    </a:solidFill>
                  </a:tcPr>
                </a:tc>
              </a:tr>
              <a:tr h="52251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CC8AC"/>
                          </a:solidFill>
                        </a:rPr>
                        <a:t>Full restoration</a:t>
                      </a:r>
                    </a:p>
                  </a:txBody>
                  <a:tcPr marL="109728" marR="91440" marT="36576" marB="36576" anchor="ctr">
                    <a:solidFill>
                      <a:srgbClr val="4733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DCC8AC"/>
                          </a:solidFill>
                        </a:rPr>
                        <a:t>Structural, finish, hardware</a:t>
                      </a:r>
                    </a:p>
                  </a:txBody>
                  <a:tcPr marL="109728" marR="91440" marT="36576" marB="36576" anchor="ctr">
                    <a:solidFill>
                      <a:srgbClr val="4733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DCC8AC"/>
                          </a:solidFill>
                        </a:rPr>
                        <a:t>800 to 2,000</a:t>
                      </a:r>
                    </a:p>
                  </a:txBody>
                  <a:tcPr marL="109728" marR="91440" marT="36576" marB="36576" anchor="ctr">
                    <a:solidFill>
                      <a:srgbClr val="4733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CURRENT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6ECDC"/>
                </a:solidFill>
                <a:latin typeface="Calibri"/>
              </a:rPr>
              <a:t>What is on the bench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A2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39A78"/>
                </a:solidFill>
                <a:latin typeface="Calibri"/>
              </a:rPr>
              <a:t>Bennett Guitar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39A78"/>
                </a:solidFill>
                <a:latin typeface="Calibri"/>
              </a:rPr>
              <a:t>08 / 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1600200"/>
          <a:ext cx="67665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63840" y="1691640"/>
            <a:ext cx="3566160" cy="118872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D99A3A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39572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B39A78"/>
                </a:solidFill>
                <a:latin typeface="Calibri"/>
              </a:rPr>
              <a:t>Active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063240"/>
            <a:ext cx="3566160" cy="118872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32004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D99A3A"/>
                </a:solidFill>
                <a:latin typeface="Calibri"/>
              </a:rPr>
              <a:t>$2,690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76732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B39A78"/>
                </a:solidFill>
                <a:latin typeface="Calibri"/>
              </a:rPr>
              <a:t>Open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434840"/>
            <a:ext cx="3566160" cy="118872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45720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D99A3A"/>
                </a:solidFill>
                <a:latin typeface="Calibri"/>
              </a:rPr>
              <a:t>Oct 9,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513892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B39A78"/>
                </a:solidFill>
                <a:latin typeface="Calibri"/>
              </a:rPr>
              <a:t>Next due</a:t>
            </a:r>
          </a:p>
        </p:txBody>
      </p:sp>
    </p:spTree>
  </p:cSld>
  <p:clrMapOvr>
    <a:masterClrMapping/>
  </p:clrMapOvr>
  <p:transition spd="med">
    <p:cover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12064"/>
            <a:ext cx="118872" cy="603504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1148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WHERE PARTS COME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94944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F6ECDC"/>
                </a:solidFill>
                <a:latin typeface="Calibri"/>
              </a:rPr>
              <a:t>Materials and sourcing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3A2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7315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39A78"/>
                </a:solidFill>
                <a:latin typeface="Calibri"/>
              </a:rPr>
              <a:t>Bennett Guitar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92240"/>
            <a:ext cx="1508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B39A78"/>
                </a:solidFill>
                <a:latin typeface="Calibri"/>
              </a:rPr>
              <a:t>09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349240" cy="406908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91440" cy="4069080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10512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CDC"/>
                </a:solidFill>
                <a:latin typeface="Calibri"/>
              </a:rPr>
              <a:t>The parts wall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304288"/>
            <a:ext cx="489204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DCC8AC"/>
                </a:solidFill>
                <a:latin typeface="Calibri"/>
              </a:rPr>
              <a:t>Fret wire, bone blanks, and bridge plates kept in stock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DCC8AC"/>
                </a:solidFill>
                <a:latin typeface="Calibri"/>
              </a:rPr>
              <a:t>Tuning machines, pickups, and electronics on hand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DCC8AC"/>
                </a:solidFill>
                <a:latin typeface="Calibri"/>
              </a:rPr>
              <a:t>Salvage instruments mined for vintage correct parts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DCC8AC"/>
                </a:solidFill>
                <a:latin typeface="Calibri"/>
              </a:rPr>
              <a:t>Inventory counted and reconciled each off season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645920"/>
            <a:ext cx="5074920" cy="406908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645920"/>
            <a:ext cx="91440" cy="4069080"/>
          </a:xfrm>
          <a:prstGeom prst="rect">
            <a:avLst/>
          </a:prstGeom>
          <a:solidFill>
            <a:srgbClr val="B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1810512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6ECDC"/>
                </a:solidFill>
                <a:latin typeface="Calibri"/>
              </a:rPr>
              <a:t>How I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304288"/>
            <a:ext cx="4617720" cy="3246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DCC8AC"/>
                </a:solidFill>
                <a:latin typeface="Calibri"/>
              </a:rPr>
              <a:t>Original wood and finish preserved wherever the structure allows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DCC8AC"/>
                </a:solidFill>
                <a:latin typeface="Calibri"/>
              </a:rPr>
              <a:t>No overspray on a working instrument unless it earns it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DCC8AC"/>
                </a:solidFill>
                <a:latin typeface="Calibri"/>
              </a:rPr>
              <a:t>Specialty luthier suppliers for the parts that matter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00" b="1" i="0">
                <a:solidFill>
                  <a:srgbClr val="D99A3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DCC8AC"/>
                </a:solidFill>
                <a:latin typeface="Calibri"/>
              </a:rPr>
              <a:t>Every job leaves with a setup dialed to the season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D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99A3A"/>
                </a:solidFill>
                <a:latin typeface="Calibri"/>
              </a:rPr>
              <a:t>BRING IT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6ECDC"/>
                </a:solidFill>
                <a:latin typeface="Calibri"/>
              </a:rPr>
              <a:t>Let me get it playing again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DCC8AC"/>
                </a:solidFill>
                <a:latin typeface="Calibri"/>
              </a:rPr>
              <a:t>Bennett Guitar Works, by appointment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3749039"/>
            <a:ext cx="3017520" cy="109728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38862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D99A3A"/>
                </a:solidFill>
                <a:latin typeface="Calibri"/>
              </a:rPr>
              <a:t>PHONE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22452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6ECDC"/>
                </a:solidFill>
                <a:latin typeface="Calibri"/>
              </a:rPr>
              <a:t>(352) 555-0144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749039"/>
            <a:ext cx="3017520" cy="109728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38862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D99A3A"/>
                </a:solidFill>
                <a:latin typeface="Calibri"/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422452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6ECDC"/>
                </a:solidFill>
                <a:latin typeface="Calibri"/>
              </a:rPr>
              <a:t>carlos.bennett@Finthesiss.ai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749039"/>
            <a:ext cx="3017520" cy="1097280"/>
          </a:xfrm>
          <a:prstGeom prst="roundRect">
            <a:avLst/>
          </a:prstGeom>
          <a:solidFill>
            <a:srgbClr val="3A2818"/>
          </a:solidFill>
          <a:ln>
            <a:noFill/>
          </a:ln>
          <a:effectLst>
            <a:outerShdw blurRad="90000" dist="400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38862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 i="0">
                <a:solidFill>
                  <a:srgbClr val="D99A3A"/>
                </a:solidFill>
                <a:latin typeface="Calibri"/>
              </a:rPr>
              <a:t>SHOP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224528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6ECDC"/>
                </a:solidFill>
                <a:latin typeface="Calibri"/>
              </a:rPr>
              <a:t>14 Mariner's Point Road, Bayport, FL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