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Charter gross</c:v>
                </c:pt>
              </c:strCache>
            </c:strRef>
          </c:tx>
          <c:spPr>
            <a:solidFill>
              <a:srgbClr val="36C2C8"/>
            </a:solidFill>
            <a:ln>
              <a:solidFill>
                <a:srgbClr val="36C2C8"/>
              </a:solidFill>
            </a:ln>
          </c:spPr>
          <c:cat>
            <c:strRef>
              <c:f>Sheet1!$A$2:$A$9</c:f>
              <c:strCache>
                <c:ptCount val="8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7000</c:v>
                </c:pt>
                <c:pt idx="1">
                  <c:v>11500</c:v>
                </c:pt>
                <c:pt idx="2">
                  <c:v>14500</c:v>
                </c:pt>
                <c:pt idx="3">
                  <c:v>15500</c:v>
                </c:pt>
                <c:pt idx="4">
                  <c:v>13000</c:v>
                </c:pt>
                <c:pt idx="5">
                  <c:v>9000</c:v>
                </c:pt>
                <c:pt idx="6">
                  <c:v>5500</c:v>
                </c:pt>
                <c:pt idx="7">
                  <c:v>4000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C4E"/>
            </a:solidFill>
          </a:ln>
        </c:spPr>
        <c:txPr>
          <a:bodyPr/>
          <a:lstStyle/>
          <a:p>
            <a:pPr>
              <a:defRPr sz="900">
                <a:solidFill>
                  <a:srgbClr val="8AA0B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2A3C4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AA0B4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8AA0B4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Costs</c:v>
                </c:pt>
              </c:strCache>
            </c:strRef>
          </c:tx>
          <c:dPt>
            <c:idx val="0"/>
            <c:spPr>
              <a:solidFill>
                <a:srgbClr val="36C2C8"/>
              </a:solidFill>
            </c:spPr>
          </c:dPt>
          <c:dPt>
            <c:idx val="1"/>
            <c:spPr>
              <a:solidFill>
                <a:srgbClr val="46C07A"/>
              </a:solidFill>
            </c:spPr>
          </c:dPt>
          <c:dPt>
            <c:idx val="2"/>
            <c:spPr>
              <a:solidFill>
                <a:srgbClr val="F0A836"/>
              </a:solidFill>
            </c:spPr>
          </c:dPt>
          <c:dPt>
            <c:idx val="3"/>
            <c:spPr>
              <a:solidFill>
                <a:srgbClr val="E2685F"/>
              </a:solidFill>
            </c:spPr>
          </c:dPt>
          <c:dPt>
            <c:idx val="4"/>
            <c:spPr>
              <a:solidFill>
                <a:srgbClr val="5A9BE2"/>
              </a:solidFill>
            </c:spPr>
          </c:dPt>
          <c:cat>
            <c:strRef>
              <c:f>Sheet1!$A$2:$A$6</c:f>
              <c:strCache>
                <c:ptCount val="5"/>
                <c:pt idx="0">
                  <c:v>Fuel</c:v>
                </c:pt>
                <c:pt idx="1">
                  <c:v>Mate pay plus tips</c:v>
                </c:pt>
                <c:pt idx="2">
                  <c:v>Maintenance reserve</c:v>
                </c:pt>
                <c:pt idx="3">
                  <c:v>Dock fees</c:v>
                </c:pt>
                <c:pt idx="4">
                  <c:v>Insurance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22400</c:v>
                </c:pt>
                <c:pt idx="1">
                  <c:v>18800</c:v>
                </c:pt>
                <c:pt idx="2">
                  <c:v>4800</c:v>
                </c:pt>
                <c:pt idx="3">
                  <c:v>4200</c:v>
                </c:pt>
                <c:pt idx="4">
                  <c:v>4200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E9F1F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000">
          <a:solidFill>
            <a:srgbClr val="8AA0B4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before fixed</c:v>
                </c:pt>
              </c:strCache>
            </c:strRef>
          </c:tx>
          <c:spPr>
            <a:solidFill>
              <a:srgbClr val="46C07A"/>
            </a:solidFill>
            <a:ln>
              <a:solidFill>
                <a:srgbClr val="46C07A"/>
              </a:solidFill>
            </a:ln>
          </c:spPr>
          <c:cat>
            <c:strRef>
              <c:f>Sheet1!$A$2:$A$9</c:f>
              <c:strCache>
                <c:ptCount val="8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2600</c:v>
                </c:pt>
                <c:pt idx="1">
                  <c:v>5600</c:v>
                </c:pt>
                <c:pt idx="2">
                  <c:v>7500</c:v>
                </c:pt>
                <c:pt idx="3">
                  <c:v>8100</c:v>
                </c:pt>
                <c:pt idx="4">
                  <c:v>6700</c:v>
                </c:pt>
                <c:pt idx="5">
                  <c:v>4500</c:v>
                </c:pt>
                <c:pt idx="6">
                  <c:v>2600</c:v>
                </c:pt>
                <c:pt idx="7">
                  <c:v>1200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C4E"/>
            </a:solidFill>
          </a:ln>
        </c:spPr>
        <c:txPr>
          <a:bodyPr/>
          <a:lstStyle/>
          <a:p>
            <a:pPr>
              <a:defRPr sz="900">
                <a:solidFill>
                  <a:srgbClr val="8AA0B4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2A3C4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AA0B4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8AA0B4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</c:v>
                </c:pt>
              </c:strCache>
            </c:strRef>
          </c:tx>
          <c:spPr>
            <a:solidFill>
              <a:srgbClr val="46C07A"/>
            </a:solidFill>
            <a:ln>
              <a:solidFill>
                <a:srgbClr val="46C07A"/>
              </a:solidFill>
            </a:ln>
          </c:spPr>
          <c:cat>
            <c:strRef>
              <c:f>Sheet1!$A$2:$A$3</c:f>
              <c:strCache>
                <c:ptCount val="2"/>
                <c:pt idx="0">
                  <c:v>Charter</c:v>
                </c:pt>
                <c:pt idx="1">
                  <c:v>Guitar shop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25600</c:v>
                </c:pt>
                <c:pt idx="1">
                  <c:v>12000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C4E"/>
            </a:solidFill>
          </a:ln>
        </c:spPr>
        <c:txPr>
          <a:bodyPr/>
          <a:lstStyle/>
          <a:p>
            <a:pPr>
              <a:defRPr sz="900">
                <a:solidFill>
                  <a:srgbClr val="8AA0B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2A3C4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AA0B4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8AA0B4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_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14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566160"/>
            <a:ext cx="12191695" cy="3291840"/>
          </a:xfrm>
          <a:prstGeom prst="rect">
            <a:avLst/>
          </a:prstGeom>
          <a:solidFill>
            <a:srgbClr val="121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529584"/>
            <a:ext cx="12191695" cy="54864"/>
          </a:xfrm>
          <a:prstGeom prst="rect">
            <a:avLst/>
          </a:prstGeom>
          <a:solidFill>
            <a:srgbClr val="46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86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6C07A"/>
                </a:solidFill>
                <a:latin typeface="Calibri"/>
              </a:rPr>
              <a:t>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E9F1F7"/>
                </a:solidFill>
                <a:latin typeface="Calibri"/>
              </a:rPr>
              <a:t>2025 Season in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321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C4D4E0"/>
                </a:solidFill>
                <a:latin typeface="Calibri"/>
              </a:rPr>
              <a:t>Charter and guitar shop performance, reconciled January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8AA0B4"/>
                </a:solidFill>
                <a:latin typeface="Calibri"/>
              </a:rPr>
              <a:t>Carlos Bennett, sole proprietor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46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ON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E9F1F7"/>
                </a:solidFill>
                <a:latin typeface="Calibri"/>
              </a:rPr>
              <a:t>What is inside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D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A0B4"/>
                </a:solidFill>
                <a:latin typeface="Calibri"/>
              </a:rPr>
              <a:t>Season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A0B4"/>
                </a:solidFill>
                <a:latin typeface="Calibri"/>
              </a:rPr>
              <a:t>02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349240" cy="914400"/>
          </a:xfrm>
          <a:prstGeom prst="roundRect">
            <a:avLst/>
          </a:prstGeom>
          <a:solidFill>
            <a:srgbClr val="1D2B3A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737360"/>
            <a:ext cx="566928" cy="566928"/>
          </a:xfrm>
          <a:prstGeom prst="ellipse">
            <a:avLst/>
          </a:prstGeom>
          <a:solidFill>
            <a:srgbClr val="46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373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7251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70078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9F1F7"/>
                </a:solidFill>
                <a:latin typeface="Calibri"/>
              </a:rPr>
              <a:t>Headline 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066543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AA0B4"/>
                </a:solidFill>
                <a:latin typeface="Calibri"/>
              </a:rPr>
              <a:t>The season at a glance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554480"/>
            <a:ext cx="5349240" cy="914400"/>
          </a:xfrm>
          <a:prstGeom prst="roundRect">
            <a:avLst/>
          </a:prstGeom>
          <a:solidFill>
            <a:srgbClr val="1D2B3A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9672" y="1737360"/>
            <a:ext cx="566928" cy="566928"/>
          </a:xfrm>
          <a:prstGeom prst="ellipse">
            <a:avLst/>
          </a:prstGeom>
          <a:solidFill>
            <a:srgbClr val="46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7373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7251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70078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9F1F7"/>
                </a:solidFill>
                <a:latin typeface="Calibri"/>
              </a:rPr>
              <a:t>Revenue by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066543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AA0B4"/>
                </a:solidFill>
                <a:latin typeface="Calibri"/>
              </a:rPr>
              <a:t>Where the season peaked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633472"/>
            <a:ext cx="5349240" cy="914400"/>
          </a:xfrm>
          <a:prstGeom prst="roundRect">
            <a:avLst/>
          </a:prstGeom>
          <a:solidFill>
            <a:srgbClr val="1D2B3A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6112" y="2816352"/>
            <a:ext cx="566928" cy="566928"/>
          </a:xfrm>
          <a:prstGeom prst="ellipse">
            <a:avLst/>
          </a:prstGeom>
          <a:solidFill>
            <a:srgbClr val="46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8163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7251A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277977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9F1F7"/>
                </a:solidFill>
                <a:latin typeface="Calibri"/>
              </a:rPr>
              <a:t>Cost breakdown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14553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AA0B4"/>
                </a:solidFill>
                <a:latin typeface="Calibri"/>
              </a:rPr>
              <a:t>Where the money went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633472"/>
            <a:ext cx="5349240" cy="914400"/>
          </a:xfrm>
          <a:prstGeom prst="roundRect">
            <a:avLst/>
          </a:prstGeom>
          <a:solidFill>
            <a:srgbClr val="1D2B3A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19672" y="2816352"/>
            <a:ext cx="566928" cy="566928"/>
          </a:xfrm>
          <a:prstGeom prst="ellipse">
            <a:avLst/>
          </a:prstGeom>
          <a:solidFill>
            <a:srgbClr val="46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28163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7251A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277977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9F1F7"/>
                </a:solidFill>
                <a:latin typeface="Calibri"/>
              </a:rPr>
              <a:t>Net trend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14553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AA0B4"/>
                </a:solidFill>
                <a:latin typeface="Calibri"/>
              </a:rPr>
              <a:t>Profit through the season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712463"/>
            <a:ext cx="5349240" cy="914400"/>
          </a:xfrm>
          <a:prstGeom prst="roundRect">
            <a:avLst/>
          </a:prstGeom>
          <a:solidFill>
            <a:srgbClr val="1D2B3A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6112" y="3895344"/>
            <a:ext cx="566928" cy="566928"/>
          </a:xfrm>
          <a:prstGeom prst="ellipse">
            <a:avLst/>
          </a:prstGeom>
          <a:solidFill>
            <a:srgbClr val="46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389534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7251A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385876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9F1F7"/>
                </a:solidFill>
                <a:latin typeface="Calibri"/>
              </a:rPr>
              <a:t>Two businesses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224527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AA0B4"/>
                </a:solidFill>
                <a:latin typeface="Calibri"/>
              </a:rPr>
              <a:t>Charter plus the bench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3712463"/>
            <a:ext cx="5349240" cy="914400"/>
          </a:xfrm>
          <a:prstGeom prst="roundRect">
            <a:avLst/>
          </a:prstGeom>
          <a:solidFill>
            <a:srgbClr val="1D2B3A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19672" y="3895344"/>
            <a:ext cx="566928" cy="566928"/>
          </a:xfrm>
          <a:prstGeom prst="ellipse">
            <a:avLst/>
          </a:prstGeom>
          <a:solidFill>
            <a:srgbClr val="46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9672" y="389534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7251A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385876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9F1F7"/>
                </a:solidFill>
                <a:latin typeface="Calibri"/>
              </a:rPr>
              <a:t>Outlook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4224527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AA0B4"/>
                </a:solidFill>
                <a:latin typeface="Calibri"/>
              </a:rPr>
              <a:t>Looking to 2026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46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THE SEASON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E9F1F7"/>
                </a:solidFill>
                <a:latin typeface="Calibri"/>
              </a:rPr>
              <a:t>Headline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D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A0B4"/>
                </a:solidFill>
                <a:latin typeface="Calibri"/>
              </a:rPr>
              <a:t>Season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A0B4"/>
                </a:solidFill>
                <a:latin typeface="Calibri"/>
              </a:rPr>
              <a:t>03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476423" cy="1371600"/>
          </a:xfrm>
          <a:prstGeom prst="roundRect">
            <a:avLst/>
          </a:prstGeom>
          <a:solidFill>
            <a:srgbClr val="1D2B3A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935224"/>
            <a:ext cx="2476423" cy="128016"/>
          </a:xfrm>
          <a:prstGeom prst="rect">
            <a:avLst/>
          </a:prstGeom>
          <a:solidFill>
            <a:srgbClr val="36C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74520"/>
            <a:ext cx="21106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9F1F7"/>
                </a:solidFill>
                <a:latin typeface="Calibri"/>
              </a:rPr>
              <a:t>$80,000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2110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8AA0B4"/>
                </a:solidFill>
                <a:latin typeface="Calibri"/>
              </a:rPr>
              <a:t>Charter gross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2263" y="1691640"/>
            <a:ext cx="2476423" cy="1371600"/>
          </a:xfrm>
          <a:prstGeom prst="roundRect">
            <a:avLst/>
          </a:prstGeom>
          <a:solidFill>
            <a:srgbClr val="1D2B3A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82263" y="2935224"/>
            <a:ext cx="2476423" cy="128016"/>
          </a:xfrm>
          <a:prstGeom prst="rect">
            <a:avLst/>
          </a:prstGeom>
          <a:solidFill>
            <a:srgbClr val="46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0863" y="1874520"/>
            <a:ext cx="21106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9F1F7"/>
                </a:solidFill>
                <a:latin typeface="Calibri"/>
              </a:rPr>
              <a:t>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0863" y="2560320"/>
            <a:ext cx="2110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8AA0B4"/>
                </a:solidFill>
                <a:latin typeface="Calibri"/>
              </a:rPr>
              <a:t>Charters run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691640"/>
            <a:ext cx="2476423" cy="1371600"/>
          </a:xfrm>
          <a:prstGeom prst="roundRect">
            <a:avLst/>
          </a:prstGeom>
          <a:solidFill>
            <a:srgbClr val="1D2B3A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7" y="2935224"/>
            <a:ext cx="2476423" cy="128016"/>
          </a:xfrm>
          <a:prstGeom prst="rect">
            <a:avLst/>
          </a:prstGeom>
          <a:solidFill>
            <a:srgbClr val="36C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1874520"/>
            <a:ext cx="21106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9F1F7"/>
                </a:solidFill>
                <a:latin typeface="Calibri"/>
              </a:rPr>
              <a:t>$25,600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2560320"/>
            <a:ext cx="2110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8AA0B4"/>
                </a:solidFill>
                <a:latin typeface="Calibri"/>
              </a:rPr>
              <a:t>Charter 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3751" y="1691640"/>
            <a:ext cx="2476423" cy="1371600"/>
          </a:xfrm>
          <a:prstGeom prst="roundRect">
            <a:avLst/>
          </a:prstGeom>
          <a:solidFill>
            <a:srgbClr val="1D2B3A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83751" y="2935224"/>
            <a:ext cx="2476423" cy="128016"/>
          </a:xfrm>
          <a:prstGeom prst="rect">
            <a:avLst/>
          </a:prstGeom>
          <a:solidFill>
            <a:srgbClr val="46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2351" y="1874520"/>
            <a:ext cx="21106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9F1F7"/>
                </a:solidFill>
                <a:latin typeface="Calibri"/>
              </a:rPr>
              <a:t>$37,600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351" y="2560320"/>
            <a:ext cx="2110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8AA0B4"/>
                </a:solidFill>
                <a:latin typeface="Calibri"/>
              </a:rPr>
              <a:t>Combined take-home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383280"/>
            <a:ext cx="5349240" cy="2377440"/>
          </a:xfrm>
          <a:prstGeom prst="roundRect">
            <a:avLst/>
          </a:prstGeom>
          <a:solidFill>
            <a:srgbClr val="1D2B3A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383280"/>
            <a:ext cx="91440" cy="2377440"/>
          </a:xfrm>
          <a:prstGeom prst="rect">
            <a:avLst/>
          </a:prstGeom>
          <a:solidFill>
            <a:srgbClr val="46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3547872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9F1F7"/>
                </a:solidFill>
                <a:latin typeface="Calibri"/>
              </a:rPr>
              <a:t>What went right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4041648"/>
            <a:ext cx="4892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4D4E0"/>
                </a:solidFill>
                <a:latin typeface="Calibri"/>
              </a:rPr>
              <a:t>July was the strongest month at 15,500 gross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4D4E0"/>
                </a:solidFill>
                <a:latin typeface="Calibri"/>
              </a:rPr>
              <a:t>Charter count up from 58 the prior season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4D4E0"/>
                </a:solidFill>
                <a:latin typeface="Calibri"/>
              </a:rPr>
              <a:t>Costs held steady on fuel and insurance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3383280"/>
            <a:ext cx="5074920" cy="2377440"/>
          </a:xfrm>
          <a:prstGeom prst="roundRect">
            <a:avLst/>
          </a:prstGeom>
          <a:solidFill>
            <a:srgbClr val="1D2B3A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3383280"/>
            <a:ext cx="91440" cy="2377440"/>
          </a:xfrm>
          <a:prstGeom prst="rect">
            <a:avLst/>
          </a:prstGeom>
          <a:solidFill>
            <a:srgbClr val="36C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354787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9F1F7"/>
                </a:solidFill>
                <a:latin typeface="Calibri"/>
              </a:rPr>
              <a:t>Watch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4041648"/>
            <a:ext cx="4617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4D4E0"/>
                </a:solidFill>
                <a:latin typeface="Calibri"/>
              </a:rPr>
              <a:t>Fuel remains the largest single cost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4D4E0"/>
                </a:solidFill>
                <a:latin typeface="Calibri"/>
              </a:rPr>
              <a:t>Shoulder season softer than the peak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4D4E0"/>
                </a:solidFill>
                <a:latin typeface="Calibri"/>
              </a:rPr>
              <a:t>Guitar revenue steady but seasonal</a:t>
            </a:r>
          </a:p>
        </p:txBody>
      </p:sp>
    </p:spTree>
  </p:cSld>
  <p:clrMapOvr>
    <a:masterClrMapping/>
  </p:clrMapOvr>
  <p:transition spd="med">
    <p:wipe dir="d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46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MONTH BY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E9F1F7"/>
                </a:solidFill>
                <a:latin typeface="Calibri"/>
              </a:rPr>
              <a:t>Revenue by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D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A0B4"/>
                </a:solidFill>
                <a:latin typeface="Calibri"/>
              </a:rPr>
              <a:t>Season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A0B4"/>
                </a:solidFill>
                <a:latin typeface="Calibri"/>
              </a:rPr>
              <a:t>04 / 10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1600200"/>
          <a:ext cx="106984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cover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46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WHERE IT WENT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E9F1F7"/>
                </a:solidFill>
                <a:latin typeface="Calibri"/>
              </a:rPr>
              <a:t>Annual cost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D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A0B4"/>
                </a:solidFill>
                <a:latin typeface="Calibri"/>
              </a:rPr>
              <a:t>Season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A0B4"/>
                </a:solidFill>
                <a:latin typeface="Calibri"/>
              </a:rPr>
              <a:t>05 / 10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1600200"/>
          <a:ext cx="60350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132320" y="1920240"/>
            <a:ext cx="4297680" cy="3566160"/>
          </a:xfrm>
          <a:prstGeom prst="roundRect">
            <a:avLst/>
          </a:prstGeom>
          <a:solidFill>
            <a:srgbClr val="1D2B3A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10312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8AA0B4"/>
                </a:solidFill>
                <a:latin typeface="Calibri"/>
              </a:rPr>
              <a:t>Total operating and fixed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468880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9F1F7"/>
                </a:solidFill>
                <a:latin typeface="Calibri"/>
              </a:rPr>
              <a:t>$54,400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2918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C4D4E0"/>
                </a:solidFill>
                <a:latin typeface="Calibri"/>
              </a:rPr>
              <a:t>Fuel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329184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22,400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71246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C4D4E0"/>
                </a:solidFill>
                <a:latin typeface="Calibri"/>
              </a:rPr>
              <a:t>Mate pay plus tips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3712464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18,800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13308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C4D4E0"/>
                </a:solidFill>
                <a:latin typeface="Calibri"/>
              </a:rPr>
              <a:t>Maintenance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413308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4,800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5537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C4D4E0"/>
                </a:solidFill>
                <a:latin typeface="Calibri"/>
              </a:rPr>
              <a:t>Dock fees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4553712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4,200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97433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C4D4E0"/>
                </a:solidFill>
                <a:latin typeface="Calibri"/>
              </a:rPr>
              <a:t>Insurance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4974336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4,200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46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PROFIT THROUGH THE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E9F1F7"/>
                </a:solidFill>
                <a:latin typeface="Calibri"/>
              </a:rPr>
              <a:t>Net before fixed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D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A0B4"/>
                </a:solidFill>
                <a:latin typeface="Calibri"/>
              </a:rPr>
              <a:t>Season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A0B4"/>
                </a:solidFill>
                <a:latin typeface="Calibri"/>
              </a:rPr>
              <a:t>06 / 10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1600200"/>
          <a:ext cx="106984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push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46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TWO TRADES, ONE COTTAGE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E9F1F7"/>
                </a:solidFill>
                <a:latin typeface="Calibri"/>
              </a:rPr>
              <a:t>Charter plus the bench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D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A0B4"/>
                </a:solidFill>
                <a:latin typeface="Calibri"/>
              </a:rPr>
              <a:t>Season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A0B4"/>
                </a:solidFill>
                <a:latin typeface="Calibri"/>
              </a:rPr>
              <a:t>07 / 10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1600200"/>
          <a:ext cx="60350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040880" y="1691640"/>
            <a:ext cx="4389120" cy="1965960"/>
          </a:xfrm>
          <a:prstGeom prst="roundRect">
            <a:avLst/>
          </a:prstGeom>
          <a:solidFill>
            <a:srgbClr val="1D2B3A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0" y="1691640"/>
            <a:ext cx="91440" cy="1965960"/>
          </a:xfrm>
          <a:prstGeom prst="rect">
            <a:avLst/>
          </a:prstGeom>
          <a:solidFill>
            <a:srgbClr val="36C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85623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9F1F7"/>
                </a:solidFill>
                <a:latin typeface="Calibri"/>
              </a:rPr>
              <a:t>Charter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2350008"/>
            <a:ext cx="3931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4D4E0"/>
                </a:solidFill>
                <a:latin typeface="Calibri"/>
              </a:rPr>
              <a:t>80,000 gross, 25,600 net after fixed costs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4D4E0"/>
                </a:solidFill>
                <a:latin typeface="Calibri"/>
              </a:rPr>
              <a:t>April through November, 62 charters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3794760"/>
            <a:ext cx="4389120" cy="1920240"/>
          </a:xfrm>
          <a:prstGeom prst="roundRect">
            <a:avLst/>
          </a:prstGeom>
          <a:solidFill>
            <a:srgbClr val="1D2B3A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3794760"/>
            <a:ext cx="91440" cy="1920240"/>
          </a:xfrm>
          <a:prstGeom prst="rect">
            <a:avLst/>
          </a:prstGeom>
          <a:solidFill>
            <a:srgbClr val="46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96912" y="395935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9F1F7"/>
                </a:solidFill>
                <a:latin typeface="Calibri"/>
              </a:rPr>
              <a:t>Guitar shop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4453128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4D4E0"/>
                </a:solidFill>
                <a:latin typeface="Calibri"/>
              </a:rPr>
              <a:t>12,000 net, year round at the bench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4D4E0"/>
                </a:solidFill>
                <a:latin typeface="Calibri"/>
              </a:rPr>
              <a:t>Steady repair pipeline plus restorations</a:t>
            </a:r>
          </a:p>
        </p:txBody>
      </p:sp>
    </p:spTree>
  </p:cSld>
  <p:clrMapOvr>
    <a:masterClrMapping/>
  </p:clrMapOvr>
  <p:transition spd="med">
    <p:wipe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46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THE FULL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E9F1F7"/>
                </a:solidFill>
                <a:latin typeface="Calibri"/>
              </a:rPr>
              <a:t>Combined income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D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A0B4"/>
                </a:solidFill>
                <a:latin typeface="Calibri"/>
              </a:rPr>
              <a:t>Season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A0B4"/>
                </a:solidFill>
                <a:latin typeface="Calibri"/>
              </a:rPr>
              <a:t>08 / 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54480"/>
          <a:ext cx="10698480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E9F1F7"/>
                          </a:solidFill>
                        </a:rPr>
                        <a:t>Line</a:t>
                      </a:r>
                    </a:p>
                  </a:txBody>
                  <a:tcPr marL="109728" marR="91440" marT="36576" marB="36576" anchor="ctr">
                    <a:solidFill>
                      <a:srgbClr val="46C0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E9F1F7"/>
                          </a:solidFill>
                        </a:rPr>
                        <a:t>Charter</a:t>
                      </a:r>
                    </a:p>
                  </a:txBody>
                  <a:tcPr marL="109728" marR="91440" marT="36576" marB="36576" anchor="ctr">
                    <a:solidFill>
                      <a:srgbClr val="46C0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E9F1F7"/>
                          </a:solidFill>
                        </a:rPr>
                        <a:t>Guitar shop</a:t>
                      </a:r>
                    </a:p>
                  </a:txBody>
                  <a:tcPr marL="109728" marR="91440" marT="36576" marB="36576" anchor="ctr">
                    <a:solidFill>
                      <a:srgbClr val="46C0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E9F1F7"/>
                          </a:solidFill>
                        </a:rPr>
                        <a:t>Combined</a:t>
                      </a:r>
                    </a:p>
                  </a:txBody>
                  <a:tcPr marL="109728" marR="91440" marT="36576" marB="36576" anchor="ctr">
                    <a:solidFill>
                      <a:srgbClr val="46C07A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4D4E0"/>
                          </a:solidFill>
                        </a:rPr>
                        <a:t>Gross receipts</a:t>
                      </a:r>
                    </a:p>
                  </a:txBody>
                  <a:tcPr marL="109728" marR="91440" marT="36576" marB="36576" anchor="ctr">
                    <a:solidFill>
                      <a:srgbClr val="1D2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C4D4E0"/>
                          </a:solidFill>
                        </a:rPr>
                        <a:t>80,000</a:t>
                      </a:r>
                    </a:p>
                  </a:txBody>
                  <a:tcPr marL="109728" marR="91440" marT="36576" marB="36576" anchor="ctr">
                    <a:solidFill>
                      <a:srgbClr val="1D2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C4D4E0"/>
                          </a:solidFill>
                        </a:rPr>
                        <a:t>14,800</a:t>
                      </a:r>
                    </a:p>
                  </a:txBody>
                  <a:tcPr marL="109728" marR="91440" marT="36576" marB="36576" anchor="ctr">
                    <a:solidFill>
                      <a:srgbClr val="1D2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C4D4E0"/>
                          </a:solidFill>
                        </a:rPr>
                        <a:t>94,800</a:t>
                      </a:r>
                    </a:p>
                  </a:txBody>
                  <a:tcPr marL="109728" marR="91440" marT="36576" marB="36576" anchor="ctr">
                    <a:solidFill>
                      <a:srgbClr val="1D2B3A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4D4E0"/>
                          </a:solidFill>
                        </a:rPr>
                        <a:t>Direct costs</a:t>
                      </a:r>
                    </a:p>
                  </a:txBody>
                  <a:tcPr marL="109728" marR="91440" marT="36576" marB="36576" anchor="ctr">
                    <a:solidFill>
                      <a:srgbClr val="2536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C4D4E0"/>
                          </a:solidFill>
                        </a:rPr>
                        <a:t>41,200</a:t>
                      </a:r>
                    </a:p>
                  </a:txBody>
                  <a:tcPr marL="109728" marR="91440" marT="36576" marB="36576" anchor="ctr">
                    <a:solidFill>
                      <a:srgbClr val="2536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C4D4E0"/>
                          </a:solidFill>
                        </a:rPr>
                        <a:t>2,800</a:t>
                      </a:r>
                    </a:p>
                  </a:txBody>
                  <a:tcPr marL="109728" marR="91440" marT="36576" marB="36576" anchor="ctr">
                    <a:solidFill>
                      <a:srgbClr val="2536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C4D4E0"/>
                          </a:solidFill>
                        </a:rPr>
                        <a:t>44,000</a:t>
                      </a:r>
                    </a:p>
                  </a:txBody>
                  <a:tcPr marL="109728" marR="91440" marT="36576" marB="36576" anchor="ctr">
                    <a:solidFill>
                      <a:srgbClr val="25364A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4D4E0"/>
                          </a:solidFill>
                        </a:rPr>
                        <a:t>Fixed costs</a:t>
                      </a:r>
                    </a:p>
                  </a:txBody>
                  <a:tcPr marL="109728" marR="91440" marT="36576" marB="36576" anchor="ctr">
                    <a:solidFill>
                      <a:srgbClr val="1D2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C4D4E0"/>
                          </a:solidFill>
                        </a:rPr>
                        <a:t>13,200</a:t>
                      </a:r>
                    </a:p>
                  </a:txBody>
                  <a:tcPr marL="109728" marR="91440" marT="36576" marB="36576" anchor="ctr">
                    <a:solidFill>
                      <a:srgbClr val="1D2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C4D4E0"/>
                          </a:solidFill>
                        </a:rPr>
                        <a:t>0</a:t>
                      </a:r>
                    </a:p>
                  </a:txBody>
                  <a:tcPr marL="109728" marR="91440" marT="36576" marB="36576" anchor="ctr">
                    <a:solidFill>
                      <a:srgbClr val="1D2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C4D4E0"/>
                          </a:solidFill>
                        </a:rPr>
                        <a:t>13,200</a:t>
                      </a:r>
                    </a:p>
                  </a:txBody>
                  <a:tcPr marL="109728" marR="91440" marT="36576" marB="36576" anchor="ctr">
                    <a:solidFill>
                      <a:srgbClr val="1D2B3A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4D4E0"/>
                          </a:solidFill>
                        </a:rPr>
                        <a:t>Net profit</a:t>
                      </a:r>
                    </a:p>
                  </a:txBody>
                  <a:tcPr marL="109728" marR="91440" marT="36576" marB="36576" anchor="ctr">
                    <a:solidFill>
                      <a:srgbClr val="2536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C4D4E0"/>
                          </a:solidFill>
                        </a:rPr>
                        <a:t>25,600</a:t>
                      </a:r>
                    </a:p>
                  </a:txBody>
                  <a:tcPr marL="109728" marR="91440" marT="36576" marB="36576" anchor="ctr">
                    <a:solidFill>
                      <a:srgbClr val="2536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C4D4E0"/>
                          </a:solidFill>
                        </a:rPr>
                        <a:t>12,000</a:t>
                      </a:r>
                    </a:p>
                  </a:txBody>
                  <a:tcPr marL="109728" marR="91440" marT="36576" marB="36576" anchor="ctr">
                    <a:solidFill>
                      <a:srgbClr val="2536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C4D4E0"/>
                          </a:solidFill>
                        </a:rPr>
                        <a:t>37,600</a:t>
                      </a:r>
                    </a:p>
                  </a:txBody>
                  <a:tcPr marL="109728" marR="91440" marT="36576" marB="36576" anchor="ctr">
                    <a:solidFill>
                      <a:srgbClr val="2536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46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E9F1F7"/>
                </a:solidFill>
                <a:latin typeface="Calibri"/>
              </a:rPr>
              <a:t>2026 outlook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D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A0B4"/>
                </a:solidFill>
                <a:latin typeface="Calibri"/>
              </a:rPr>
              <a:t>Season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A0B4"/>
                </a:solidFill>
                <a:latin typeface="Calibri"/>
              </a:rPr>
              <a:t>09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29000" cy="4023360"/>
          </a:xfrm>
          <a:prstGeom prst="roundRect">
            <a:avLst/>
          </a:prstGeom>
          <a:solidFill>
            <a:srgbClr val="1D2B3A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91440" cy="4023360"/>
          </a:xfrm>
          <a:prstGeom prst="rect">
            <a:avLst/>
          </a:prstGeom>
          <a:solidFill>
            <a:srgbClr val="46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81051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9F1F7"/>
                </a:solidFill>
                <a:latin typeface="Calibri"/>
              </a:rPr>
              <a:t>Hold the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304288"/>
            <a:ext cx="29718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4D4E0"/>
                </a:solidFill>
                <a:latin typeface="Calibri"/>
              </a:rPr>
              <a:t>Keep the calendar full April through November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4D4E0"/>
                </a:solidFill>
                <a:latin typeface="Calibri"/>
              </a:rPr>
              <a:t>Returning parties already on the books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4D4E0"/>
                </a:solidFill>
                <a:latin typeface="Calibri"/>
              </a:rPr>
              <a:t>Backup dates on every confirmed charter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45920"/>
            <a:ext cx="3429000" cy="4023360"/>
          </a:xfrm>
          <a:prstGeom prst="roundRect">
            <a:avLst/>
          </a:prstGeom>
          <a:solidFill>
            <a:srgbClr val="1D2B3A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645920"/>
            <a:ext cx="91440" cy="4023360"/>
          </a:xfrm>
          <a:prstGeom prst="rect">
            <a:avLst/>
          </a:prstGeom>
          <a:solidFill>
            <a:srgbClr val="36C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181051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9F1F7"/>
                </a:solidFill>
                <a:latin typeface="Calibri"/>
              </a:rPr>
              <a:t>Manage costs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304288"/>
            <a:ext cx="29718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4D4E0"/>
                </a:solidFill>
                <a:latin typeface="Calibri"/>
              </a:rPr>
              <a:t>Fuel is the lever to watch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4D4E0"/>
                </a:solidFill>
                <a:latin typeface="Calibri"/>
              </a:rPr>
              <a:t>Maintenance reserve funded ahead of haul out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4D4E0"/>
                </a:solidFill>
                <a:latin typeface="Calibri"/>
              </a:rPr>
              <a:t>Insurance renews flat in December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45920"/>
            <a:ext cx="3291840" cy="4023360"/>
          </a:xfrm>
          <a:prstGeom prst="roundRect">
            <a:avLst/>
          </a:prstGeom>
          <a:solidFill>
            <a:srgbClr val="1D2B3A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45920"/>
            <a:ext cx="91440" cy="4023360"/>
          </a:xfrm>
          <a:prstGeom prst="rect">
            <a:avLst/>
          </a:prstGeom>
          <a:solidFill>
            <a:srgbClr val="46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81051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9F1F7"/>
                </a:solidFill>
                <a:latin typeface="Calibri"/>
              </a:rPr>
              <a:t>The bench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304288"/>
            <a:ext cx="28346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4D4E0"/>
                </a:solidFill>
                <a:latin typeface="Calibri"/>
              </a:rPr>
              <a:t>Restoration slot delivers October 17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4D4E0"/>
                </a:solidFill>
                <a:latin typeface="Calibri"/>
              </a:rPr>
              <a:t>Off season is the repair push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46C07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4D4E0"/>
                </a:solidFill>
                <a:latin typeface="Calibri"/>
              </a:rPr>
              <a:t>Parts wall reconciled and stocked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54864"/>
          </a:xfrm>
          <a:prstGeom prst="rect">
            <a:avLst/>
          </a:prstGeom>
          <a:solidFill>
            <a:srgbClr val="46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6C07A"/>
                </a:solidFill>
                <a:latin typeface="Calibri"/>
              </a:rPr>
              <a:t>2025 IN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E9F1F7"/>
                </a:solidFill>
                <a:latin typeface="Calibri"/>
              </a:rPr>
              <a:t>A steady season, both trades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C4D4E0"/>
                </a:solidFill>
                <a:latin typeface="Calibri"/>
              </a:rPr>
              <a:t>Combined take-home of 37,600 dollars across the charter and the guitar shop, reconciled January 2026.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