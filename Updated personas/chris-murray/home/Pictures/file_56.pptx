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Boxes sold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Large gift</c:v>
                </c:pt>
                <c:pt idx="1">
                  <c:v>Medium</c:v>
                </c:pt>
                <c:pt idx="2">
                  <c:v>Small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34</c:v>
                </c:pt>
                <c:pt idx="1">
                  <c:v>41</c:v>
                </c:pt>
                <c:pt idx="2">
                  <c:v>25</c:v>
                </c:pt>
              </c:numCache>
            </c:numRef>
          </c:val>
        </c:ser>
        <c:dLbls>
          <c:numFmt formatCode="0%" sourceLinked="0"/>
          <c:showLegendKey val="0"/>
          <c:showVal val="1"/>
          <c:showCatName val="0"/>
          <c:showSerName val="0"/>
          <c:showPercent val="1"/>
          <c:showBubbleSize val="0"/>
          <c:showLeaderLines val="1"/>
        </c:dLbls>
      </c:pieChart>
    </c:plotArea>
    <c:legend>
      <c:legendPos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194560"/>
          </a:xfrm>
          <a:prstGeom prst="rect">
            <a:avLst/>
          </a:prstGeom>
          <a:solidFill>
            <a:srgbClr val="9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194560"/>
            <a:ext cx="12191695" cy="109728"/>
          </a:xfrm>
          <a:prstGeom prst="rect">
            <a:avLst/>
          </a:prstGeom>
          <a:solidFill>
            <a:srgbClr val="E0B3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0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FF1DE"/>
                </a:solidFill>
                <a:latin typeface="Verdana"/>
              </a:rPr>
              <a:t>December Cookie Program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>
                <a:solidFill>
                  <a:srgbClr val="F3D9B0"/>
                </a:solidFill>
                <a:latin typeface="Verdana"/>
              </a:rPr>
              <a:t>Momentos by Chris seasonal boxes, baked by hand in Las Vegas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1F6B4A"/>
                </a:solidFill>
                <a:latin typeface="Verdana"/>
              </a:rPr>
              <a:t>Orders open after Thanksgiving. Pickup December 19 to 20, 2026.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8F94"/>
                </a:solidFill>
                <a:latin typeface="Calibri"/>
              </a:rPr>
              <a:t>Momentos by Chris  |  Cookie Program</a:t>
            </a:r>
          </a:p>
        </p:txBody>
      </p:sp>
    </p:spTree>
  </p:cSld>
  <p:clrMapOvr>
    <a:masterClrMapping/>
  </p:clrMapOvr>
  <p:transition xmlns:p14="http://schemas.microsoft.com/office/powerpoint/2010/main"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0"/>
                      </p:stCondLst>
                      <p:childTnLst>
                        <p:par>
                          <p:cTn id="23" fill="hold">
                            <p:stCondLst>
                              <p:cond delay="3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25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1DE"/>
                </a:solidFill>
                <a:latin typeface="Verdana"/>
              </a:rPr>
              <a:t>The Boxes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1554480"/>
            <a:ext cx="3291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1554480"/>
            <a:ext cx="3291840" cy="822960"/>
          </a:xfrm>
          <a:prstGeom prst="rect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</a:rPr>
              <a:t>Small 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9C2B3A"/>
                </a:solidFill>
                <a:latin typeface="Verdana"/>
              </a:rPr>
              <a:t>$18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33272A"/>
                </a:solidFill>
                <a:latin typeface="Verdana"/>
              </a:rPr>
              <a:t>One dozen mixed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26280" y="1554480"/>
            <a:ext cx="3291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26280" y="1554480"/>
            <a:ext cx="3291840" cy="822960"/>
          </a:xfrm>
          <a:prstGeom prst="rect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16916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</a:rPr>
              <a:t>Medium Box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9C2B3A"/>
                </a:solidFill>
                <a:latin typeface="Verdana"/>
              </a:rPr>
              <a:t>$32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749039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33272A"/>
                </a:solidFill>
                <a:latin typeface="Verdana"/>
              </a:rPr>
              <a:t>Two dozen, ribbon tied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720" y="1554480"/>
            <a:ext cx="329184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B3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46720" y="1554480"/>
            <a:ext cx="3291840" cy="822960"/>
          </a:xfrm>
          <a:prstGeom prst="rect">
            <a:avLst/>
          </a:prstGeom>
          <a:solidFill>
            <a:srgbClr val="1F6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1691640"/>
            <a:ext cx="3291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Verdana"/>
              </a:rPr>
              <a:t>Large Gift Box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2651760"/>
            <a:ext cx="32918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9C2B3A"/>
                </a:solidFill>
                <a:latin typeface="Verdana"/>
              </a:rPr>
              <a:t>$45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3749039"/>
            <a:ext cx="32918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33272A"/>
                </a:solidFill>
                <a:latin typeface="Verdana"/>
              </a:rPr>
              <a:t>Three dozen with ribbon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8F94"/>
                </a:solidFill>
                <a:latin typeface="Calibri"/>
              </a:rPr>
              <a:t>Momentos by Chris  |  Cookie Program</a:t>
            </a:r>
          </a:p>
        </p:txBody>
      </p:sp>
    </p:spTree>
  </p:cSld>
  <p:clrMapOvr>
    <a:masterClrMapping/>
  </p:clrMapOvr>
  <p:transition xmlns:p14="http://schemas.microsoft.com/office/powerpoint/2010/main"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1DE"/>
                </a:solidFill>
                <a:latin typeface="Verdana"/>
              </a:rPr>
              <a:t>Last Year by the Box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280160"/>
          <a:ext cx="54864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675120" y="1645920"/>
            <a:ext cx="502920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>
                <a:solidFill>
                  <a:srgbClr val="33272A"/>
                </a:solidFill>
                <a:latin typeface="Verdana"/>
              </a:rPr>
              <a:t>•  Sold out by December 15 last year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3272A"/>
                </a:solidFill>
                <a:latin typeface="Verdana"/>
              </a:rPr>
              <a:t>•  Cap the run at two ovens and three evenings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3272A"/>
                </a:solidFill>
                <a:latin typeface="Verdana"/>
              </a:rPr>
              <a:t>•  Close orders once the calendar is full</a:t>
            </a:r>
          </a:p>
          <a:p>
            <a:pPr>
              <a:spcAft>
                <a:spcPts val="1400"/>
              </a:spcAft>
            </a:pPr>
            <a:r>
              <a:rPr sz="1700">
                <a:solidFill>
                  <a:srgbClr val="33272A"/>
                </a:solidFill>
                <a:latin typeface="Verdana"/>
              </a:rPr>
              <a:t>•  Tired hands make ugly cookies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8F94"/>
                </a:solidFill>
                <a:latin typeface="Calibri"/>
              </a:rPr>
              <a:t>Momentos by Chris  |  Cookie Program</a:t>
            </a:r>
          </a:p>
        </p:txBody>
      </p:sp>
    </p:spTree>
  </p:cSld>
  <p:clrMapOvr>
    <a:masterClrMapping/>
  </p:clrMapOvr>
  <p:transition xmlns:p14="http://schemas.microsoft.com/office/powerpoint/2010/main" spd="med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8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9C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01168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FFF1DE"/>
                </a:solidFill>
                <a:latin typeface="Verdana"/>
              </a:rPr>
              <a:t>Logistics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900">
                <a:solidFill>
                  <a:srgbClr val="33272A"/>
                </a:solidFill>
                <a:latin typeface="Verdana"/>
              </a:rPr>
              <a:t>•  Order case of chocolate chips and bulk flour in November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33272A"/>
                </a:solidFill>
                <a:latin typeface="Verdana"/>
              </a:rPr>
              <a:t>•  Real vanilla only, the cheap stuff ruins the sugar cookies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33272A"/>
                </a:solidFill>
                <a:latin typeface="Verdana"/>
              </a:rPr>
              <a:t>•  Royal icing in red, green, and white, dried overnight before boxing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33272A"/>
                </a:solidFill>
                <a:latin typeface="Verdana"/>
              </a:rPr>
              <a:t>•  Pickup at the apartment, pay by cash or QuickPay</a:t>
            </a:r>
          </a:p>
          <a:p>
            <a:pPr>
              <a:spcAft>
                <a:spcPts val="1400"/>
              </a:spcAft>
            </a:pPr>
            <a:r>
              <a:rPr sz="1900">
                <a:solidFill>
                  <a:srgbClr val="33272A"/>
                </a:solidFill>
                <a:latin typeface="Verdana"/>
              </a:rPr>
              <a:t>•  Top raffle prize, one large gift box donated to the block party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B98F94"/>
                </a:solidFill>
                <a:latin typeface="Calibri"/>
              </a:rPr>
              <a:t>Momentos by Chris  |  Cookie Program</a:t>
            </a:r>
          </a:p>
        </p:txBody>
      </p:sp>
    </p:spTree>
  </p:cSld>
  <p:clrMapOvr>
    <a:masterClrMapping/>
  </p:clrMapOvr>
  <p:transition xmlns:p14="http://schemas.microsoft.com/office/powerpoint/2010/main" spd="med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3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