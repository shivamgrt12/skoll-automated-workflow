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First Officer</c:v>
                </c:pt>
              </c:strCache>
            </c:strRef>
          </c:tx>
          <c:spPr>
            <a:solidFill>
              <a:srgbClr val="2E5A88"/>
            </a:solidFill>
          </c:spPr>
          <c:cat>
            <c:strRef>
              <c:f>Sheet1!$A$2:$A$4</c:f>
              <c:strCache>
                <c:ptCount val="3"/>
                <c:pt idx="0">
                  <c:v>Annual gross</c:v>
                </c:pt>
                <c:pt idx="1">
                  <c:v>Monthly gross</c:v>
                </c:pt>
                <c:pt idx="2">
                  <c:v>Retirement set aside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175000</c:v>
                </c:pt>
                <c:pt idx="1">
                  <c:v>14583</c:v>
                </c:pt>
                <c:pt idx="2">
                  <c:v>35000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Captain, projected</c:v>
                </c:pt>
              </c:strCache>
            </c:strRef>
          </c:tx>
          <c:spPr>
            <a:solidFill>
              <a:srgbClr val="C88A2E"/>
            </a:solidFill>
          </c:spPr>
          <c:cat>
            <c:strRef>
              <c:f>Sheet1!$A$2:$A$4</c:f>
              <c:strCache>
                <c:ptCount val="3"/>
                <c:pt idx="0">
                  <c:v>Annual gross</c:v>
                </c:pt>
                <c:pt idx="1">
                  <c:v>Monthly gross</c:v>
                </c:pt>
                <c:pt idx="2">
                  <c:v>Retirement set aside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250000</c:v>
                </c:pt>
                <c:pt idx="1">
                  <c:v>20833</c:v>
                </c:pt>
                <c:pt idx="2">
                  <c:v>50000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annual</c:v>
                </c:pt>
              </c:strCache>
            </c:strRef>
          </c:tx>
          <c:dPt>
            <c:idx val="0"/>
            <c:spPr>
              <a:solidFill>
                <a:srgbClr val="2E5A88"/>
              </a:solidFill>
            </c:spPr>
          </c:dPt>
          <c:dPt>
            <c:idx val="1"/>
            <c:spPr>
              <a:solidFill>
                <a:srgbClr val="C88A2E"/>
              </a:solidFill>
            </c:spPr>
          </c:dPt>
          <c:dPt>
            <c:idx val="2"/>
            <c:spPr>
              <a:solidFill>
                <a:srgbClr val="9CA9B4"/>
              </a:solidFill>
            </c:spPr>
          </c:dPt>
          <c:cat>
            <c:strRef>
              <c:f>Sheet1!$A$2:$A$4</c:f>
              <c:strCache>
                <c:ptCount val="3"/>
                <c:pt idx="0">
                  <c:v>Employee pre tax, 12%</c:v>
                </c:pt>
                <c:pt idx="1">
                  <c:v>Employer match, 8%</c:v>
                </c:pt>
                <c:pt idx="2">
                  <c:v>Other savings vehicles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21000</c:v>
                </c:pt>
                <c:pt idx="1">
                  <c:v>14000</c:v>
                </c:pt>
                <c:pt idx="2">
                  <c:v>16800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v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10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46304" cy="21031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600" b="1">
                <a:solidFill>
                  <a:srgbClr val="C88A2E"/>
                </a:solidFill>
                <a:latin typeface="Consolas"/>
              </a:rPr>
              <a:t>RIDGECREST AIR  /  FLIGHT CREW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24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200" b="1">
                <a:solidFill>
                  <a:srgbClr val="FFFFFF"/>
                </a:solidFill>
                <a:latin typeface="Georgia"/>
              </a:rPr>
              <a:t>Captain Upgrade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500" b="0">
                <a:solidFill>
                  <a:srgbClr val="DDDDDD"/>
                </a:solidFill>
                <a:latin typeface="Calibri"/>
              </a:rPr>
              <a:t>Personal preparation and income model  .  Prepared January 2026  .  Daichi Mosley, First Officer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C88A2E"/>
                </a:solidFill>
                <a:latin typeface="Consolas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Where I 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2560320" cy="10972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2E5A88"/>
                </a:solidFill>
                <a:latin typeface="Consolas"/>
              </a:rPr>
              <a:t>SENIORITY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000" b="1">
                <a:solidFill>
                  <a:srgbClr val="102144"/>
                </a:solidFill>
                <a:latin typeface="Georgia"/>
              </a:rPr>
              <a:t>847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of about 4,200 pilots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5544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554480"/>
            <a:ext cx="2560320" cy="10972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8308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2E5A88"/>
                </a:solidFill>
                <a:latin typeface="Consolas"/>
              </a:rPr>
              <a:t>EQUIPMENT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176272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000" b="1">
                <a:solidFill>
                  <a:srgbClr val="102144"/>
                </a:solidFill>
                <a:latin typeface="Georgia"/>
              </a:rPr>
              <a:t>737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5292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type rated, twelve years on the 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2560320" cy="10972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2E5A88"/>
                </a:solidFill>
                <a:latin typeface="Consolas"/>
              </a:rPr>
              <a:t>MEDICAL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76272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000" b="1">
                <a:solidFill>
                  <a:srgbClr val="102144"/>
                </a:solidFill>
                <a:latin typeface="Georgia"/>
              </a:rPr>
              <a:t>First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5292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current, renews early 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39" y="15544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06839" y="1554480"/>
            <a:ext cx="2560320" cy="10972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19" y="178308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2E5A88"/>
                </a:solidFill>
                <a:latin typeface="Consolas"/>
              </a:rPr>
              <a:t>RECURRENT 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2176272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000" b="1">
                <a:solidFill>
                  <a:srgbClr val="102144"/>
                </a:solidFill>
                <a:latin typeface="Georgia"/>
              </a:rPr>
              <a:t>Oct 17,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2852928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SeaTac full flight 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70332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The bid window opens October 2026 and runs through March 2027. The plan is to fly clean, keep the paperwork current, and let the seniority do its 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17720"/>
            <a:ext cx="10881360" cy="502920"/>
          </a:xfrm>
          <a:prstGeom prst="rect">
            <a:avLst/>
          </a:prstGeom>
          <a:solidFill>
            <a:srgbClr val="E7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617720"/>
            <a:ext cx="8686952" cy="50292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636008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1">
                <a:solidFill>
                  <a:srgbClr val="FFFFFF"/>
                </a:solidFill>
                <a:latin typeface="Consolas"/>
              </a:rPr>
              <a:t>Seniority standing, lower is more senior  .  position 847 of 4,200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C88A2E"/>
                </a:solidFill>
                <a:latin typeface="Consolas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Income, current line versus captain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371600"/>
          <a:ext cx="70408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955279" y="1463040"/>
            <a:ext cx="3566160" cy="4754880"/>
          </a:xfrm>
          <a:prstGeom prst="rect">
            <a:avLst/>
          </a:prstGeom>
          <a:solidFill>
            <a:srgbClr val="10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3200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C88A2E"/>
                </a:solidFill>
                <a:latin typeface="Consolas"/>
              </a:rPr>
              <a:t>THE UPLIFT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Georgia"/>
              </a:rPr>
              <a:t>+ 75,000</a:t>
            </a:r>
          </a:p>
          <a:p>
            <a:pPr algn="l">
              <a:lnSpc>
                <a:spcPct val="104000"/>
              </a:lnSpc>
              <a:spcAft>
                <a:spcPts val="1400"/>
              </a:spcAft>
            </a:pPr>
            <a:r>
              <a:rPr sz="1200" b="0">
                <a:solidFill>
                  <a:srgbClr val="CCCCCC"/>
                </a:solidFill>
                <a:latin typeface="Calibri"/>
              </a:rPr>
              <a:t>gross per year</a:t>
            </a:r>
          </a:p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Captain year one lifts base, per diem, and the match. The retirement set aside grows from 35,000 to about 50,000 a year at the same rates.</a:t>
            </a:r>
          </a:p>
          <a:p>
            <a:pPr algn="l">
              <a:lnSpc>
                <a:spcPct val="104000"/>
              </a:lnSpc>
            </a:pPr>
            <a:r>
              <a:rPr sz="1200" b="0">
                <a:solidFill>
                  <a:srgbClr val="DDDDDD"/>
                </a:solidFill>
                <a:latin typeface="Calibri"/>
              </a:rPr>
              <a:t>Plan the higher college contributions and the mortgage acceleration once the new pay is real, not before.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C88A2E"/>
                </a:solidFill>
                <a:latin typeface="Consolas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Retirement contribution mix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371600"/>
          <a:ext cx="58521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0" y="1554480"/>
            <a:ext cx="47548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2E5A88"/>
                </a:solidFill>
                <a:latin typeface="Consolas"/>
              </a:rPr>
              <a:t>CURRENT YEAR</a:t>
            </a:r>
          </a:p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retirement account closed the fourth quarter of 2025 at 185,000, vested in full.</a:t>
            </a:r>
          </a:p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Employee contributions ran 21,000 for the year at twelve percent, with an eight percent employer match of 14,000 on top.</a:t>
            </a:r>
          </a:p>
          <a:p>
            <a:pPr algn="l">
              <a:lnSpc>
                <a:spcPct val="104000"/>
              </a:lnSpc>
            </a:pPr>
            <a:r>
              <a:rPr sz="1300" b="0">
                <a:solidFill>
                  <a:srgbClr val="1A1A1A"/>
                </a:solidFill>
                <a:latin typeface="Calibri"/>
              </a:rPr>
              <a:t>Allocation stays broad market with a target date sleeve for the long horizon. No changes planned before the upgrade.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1">
                <a:solidFill>
                  <a:srgbClr val="C88A2E"/>
                </a:solidFill>
                <a:latin typeface="Consolas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600" b="1">
                <a:solidFill>
                  <a:srgbClr val="FFFFFF"/>
                </a:solidFill>
                <a:latin typeface="Georgia"/>
              </a:rPr>
              <a:t>The road to the left seat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46120"/>
            <a:ext cx="10515600" cy="5486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108960"/>
            <a:ext cx="310896" cy="3108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2E5A88"/>
                </a:solidFill>
                <a:latin typeface="Consolas"/>
              </a:rPr>
              <a:t>Jan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102144"/>
                </a:solidFill>
                <a:latin typeface="Georgia"/>
              </a:rPr>
              <a:t>Currency 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Medical, type rating, and block hours pulled and filed.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3108960"/>
            <a:ext cx="310896" cy="3108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15544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2E5A88"/>
                </a:solidFill>
                <a:latin typeface="Consolas"/>
              </a:rPr>
              <a:t>Oct 17,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1874519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102144"/>
                </a:solidFill>
                <a:latin typeface="Georgia"/>
              </a:rPr>
              <a:t>Recurrent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365760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Maneuvers validation in the full flight simulator.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68696" y="3108960"/>
            <a:ext cx="310896" cy="3108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776" y="15544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2E5A88"/>
                </a:solidFill>
                <a:latin typeface="Consolas"/>
              </a:rPr>
              <a:t>Oct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5776" y="1874519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102144"/>
                </a:solidFill>
                <a:latin typeface="Georgia"/>
              </a:rPr>
              <a:t>Bid opens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65760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Submit the upgrade bid letter, reviewed beforehand.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81544" y="3108960"/>
            <a:ext cx="310896" cy="3108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8624" y="15544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2E5A88"/>
                </a:solidFill>
                <a:latin typeface="Consolas"/>
              </a:rPr>
              <a:t>Jan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1874519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102144"/>
                </a:solidFill>
                <a:latin typeface="Georgia"/>
              </a:rPr>
              <a:t>Medical renews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365760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First Class renewal well ahead of any class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94392" y="3108960"/>
            <a:ext cx="310896" cy="310896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155448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200" b="1">
                <a:solidFill>
                  <a:srgbClr val="2E5A88"/>
                </a:solidFill>
                <a:latin typeface="Consolas"/>
              </a:rPr>
              <a:t>by Mar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1874519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500" b="1">
                <a:solidFill>
                  <a:srgbClr val="102144"/>
                </a:solidFill>
                <a:latin typeface="Georgia"/>
              </a:rPr>
              <a:t>Upgrade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3657600"/>
            <a:ext cx="2057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1100" b="0">
                <a:solidFill>
                  <a:srgbClr val="5A5A5A"/>
                </a:solidFill>
                <a:latin typeface="Calibri"/>
              </a:rPr>
              <a:t>Award expected inside the winter bid cycle.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v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02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C88A2E"/>
                </a:solidFill>
                <a:latin typeface="Consolas"/>
              </a:rPr>
              <a:t>THE FIXED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FFF"/>
                </a:solidFill>
                <a:latin typeface="Georgia"/>
              </a:rPr>
              <a:t>Father first either way. Fly the trips, keep the body and the medical clean, and prepare the 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