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subtotal</c:v>
                </c:pt>
              </c:strCache>
            </c:strRef>
          </c:tx>
          <c:dPt>
            <c:idx val="0"/>
            <c:spPr>
              <a:solidFill>
                <a:srgbClr val="6E161A"/>
              </a:solidFill>
            </c:spPr>
          </c:dPt>
          <c:dPt>
            <c:idx val="1"/>
            <c:spPr>
              <a:solidFill>
                <a:srgbClr val="B6532B"/>
              </a:solidFill>
            </c:spPr>
          </c:dPt>
          <c:dPt>
            <c:idx val="2"/>
            <c:spPr>
              <a:solidFill>
                <a:srgbClr val="C98022"/>
              </a:solidFill>
            </c:spPr>
          </c:dPt>
          <c:dPt>
            <c:idx val="3"/>
            <c:spPr>
              <a:solidFill>
                <a:srgbClr val="8A6D3B"/>
              </a:solidFill>
            </c:spPr>
          </c:dPt>
          <c:dPt>
            <c:idx val="4"/>
            <c:spPr>
              <a:solidFill>
                <a:srgbClr val="C9A86A"/>
              </a:solidFill>
            </c:spPr>
          </c:dPt>
          <c:cat>
            <c:strRef>
              <c:f>Sheet1!$A$2:$A$6</c:f>
              <c:strCache>
                <c:ptCount val="5"/>
                <c:pt idx="0">
                  <c:v>Facility</c:v>
                </c:pt>
                <c:pt idx="1">
                  <c:v>Equipment</c:v>
                </c:pt>
                <c:pt idx="2">
                  <c:v>Performer stipends</c:v>
                </c:pt>
                <c:pt idx="3">
                  <c:v>Marketing</c:v>
                </c:pt>
                <c:pt idx="4">
                  <c:v>Hospitality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</c:v>
                </c:pt>
                <c:pt idx="1">
                  <c:v>1005</c:v>
                </c:pt>
                <c:pt idx="2">
                  <c:v>200</c:v>
                </c:pt>
                <c:pt idx="3">
                  <c:v>145</c:v>
                </c:pt>
                <c:pt idx="4">
                  <c:v>160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ik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2A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46304" cy="2103120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B6532B"/>
                </a:solidFill>
                <a:latin typeface="Consolas"/>
              </a:rPr>
              <a:t>RAIDEN TAIKO DOJO  /  KUMIDAIKO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FFF"/>
                </a:solidFill>
                <a:latin typeface="Georgia"/>
              </a:rPr>
              <a:t>Student Showcase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0">
                <a:solidFill>
                  <a:srgbClr val="DDDDDD"/>
                </a:solidFill>
                <a:latin typeface="Calibri"/>
              </a:rPr>
              <a:t>Eight performer ensemble number  .  November 14, 2026  .  Choreography and production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D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B6532B"/>
                </a:solidFill>
                <a:latin typeface="Consolas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The piece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60320" cy="109728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6E161A"/>
                </a:solidFill>
                <a:latin typeface="Consolas"/>
              </a:rPr>
              <a:t>PERFORMERS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6E161A"/>
                </a:solidFill>
                <a:latin typeface="Georgia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intermediate group plus two rising beginners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2560320" cy="109728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6E161A"/>
                </a:solidFill>
                <a:latin typeface="Consolas"/>
              </a:rPr>
              <a:t>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4884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6E161A"/>
                </a:solidFill>
                <a:latin typeface="Georgia"/>
              </a:rPr>
              <a:t>3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4320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four sections, call to unison drive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560320" cy="109728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6E161A"/>
                </a:solidFill>
                <a:latin typeface="Consolas"/>
              </a:rPr>
              <a:t>TEMPO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6E161A"/>
                </a:solidFill>
                <a:latin typeface="Georgia"/>
              </a:rPr>
              <a:t>120 to 132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base lifts for the final drive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39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39" y="1554480"/>
            <a:ext cx="2560320" cy="109728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6E161A"/>
                </a:solidFill>
                <a:latin typeface="Consolas"/>
              </a:rPr>
              <a:t>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14884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6E161A"/>
                </a:solidFill>
                <a:latin typeface="Georgia"/>
              </a:rPr>
              <a:t>Hall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74320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four hour block, evening of the show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03320"/>
            <a:ext cx="640080" cy="54864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0332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Georgia"/>
              </a:rPr>
              <a:t>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70332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6E161A"/>
                </a:solidFill>
                <a:latin typeface="Georgia"/>
              </a:rPr>
              <a:t>Call and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703320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Sora opens alone on the shime, the chu daiko line answers on bar five, soft.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61688"/>
            <a:ext cx="640080" cy="54864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61688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Georgia"/>
              </a:rPr>
              <a:t>Two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361688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6E161A"/>
                </a:solidFill>
                <a:latin typeface="Georgia"/>
              </a:rPr>
              <a:t>Ensemble entrance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361688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All eight enter on the downbeat, steady ji underneath, strikes from the shoulder.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020056"/>
            <a:ext cx="640080" cy="54864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020056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Georgia"/>
              </a:rPr>
              <a:t>Three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020056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6E161A"/>
                </a:solidFill>
                <a:latin typeface="Georgia"/>
              </a:rPr>
              <a:t>Pairs trading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020056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Four pairs trade two bar phrases with one improvised bar inside the frame.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678424"/>
            <a:ext cx="640080" cy="54864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678424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Georgia"/>
              </a:rPr>
              <a:t>Four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5678424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6E161A"/>
                </a:solidFill>
                <a:latin typeface="Georgia"/>
              </a:rPr>
              <a:t>Unison drive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678424"/>
            <a:ext cx="7680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Build the volume in three steps and finish on a hard cut with a sharp kiai.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D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B6532B"/>
                </a:solidFill>
                <a:latin typeface="Consola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Production budget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040880" y="1463040"/>
            <a:ext cx="4480560" cy="47548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3931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ECDDC2"/>
                </a:solidFill>
                <a:latin typeface="Consolas"/>
              </a:rPr>
              <a:t>THE NUMBERS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Subtotal      2,460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onsolas"/>
              </a:rPr>
              <a:t>Contingency      369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2000" b="1">
                <a:solidFill>
                  <a:srgbClr val="B6532B"/>
                </a:solidFill>
                <a:latin typeface="Consolas"/>
              </a:rPr>
              <a:t>Total      2,829</a:t>
            </a:r>
          </a:p>
          <a:p>
            <a:pPr algn="l">
              <a:lnSpc>
                <a:spcPct val="104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Equipment carries the most, the drum, the sound system, and the stage wash. A fifteen percent buffer sits on the subtotal in case a rental runs long.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D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B6532B"/>
                </a:solidFill>
                <a:latin typeface="Consolas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Rehearsal runway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058400" cy="54864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108960"/>
            <a:ext cx="310896" cy="310896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6E161A"/>
                </a:solidFill>
                <a:latin typeface="Consolas"/>
              </a:rPr>
              <a:t>Tue and Thu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6E161A"/>
                </a:solidFill>
                <a:latin typeface="Georgia"/>
              </a:rPr>
              <a:t>Weekly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Section drilling inside the regular evening class blocks.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3108960"/>
            <a:ext cx="310896" cy="310896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6E161A"/>
                </a:solidFill>
                <a:latin typeface="Consolas"/>
              </a:rPr>
              <a:t>Oct 24,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7451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6E161A"/>
                </a:solidFill>
                <a:latin typeface="Georgia"/>
              </a:rPr>
              <a:t>Saturday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576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First full run at 1 PM, pairs section under the microscope.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108960"/>
            <a:ext cx="310896" cy="310896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6E161A"/>
                </a:solidFill>
                <a:latin typeface="Consolas"/>
              </a:rPr>
              <a:t>Nov 7,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7451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6E161A"/>
                </a:solidFill>
                <a:latin typeface="Georgia"/>
              </a:rPr>
              <a:t>Saturday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Second full run, lock the cut and the kiai together.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108960"/>
            <a:ext cx="310896" cy="310896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6E161A"/>
                </a:solidFill>
                <a:latin typeface="Consolas"/>
              </a:rPr>
              <a:t>Nov 14,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87451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6E161A"/>
                </a:solidFill>
                <a:latin typeface="Georgia"/>
              </a:rPr>
              <a:t>Showcase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65760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Doors and warm up, then the ensemble number on the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D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B6532B"/>
                </a:solidFill>
                <a:latin typeface="Consolas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Stage layout and roster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solidFill>
            <a:srgbClr val="33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00" b="1">
                <a:solidFill>
                  <a:srgbClr val="ECDDC2"/>
                </a:solidFill>
                <a:latin typeface="Consolas"/>
              </a:rPr>
              <a:t>STAGE, AUDIENCE AT BOTTOM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Amara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83464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83464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Owen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83464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83464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Nina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84048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84048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84048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Rosa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57200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57200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Mateo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572000"/>
            <a:ext cx="868680" cy="640080"/>
          </a:xfrm>
          <a:prstGeom prst="rect">
            <a:avLst/>
          </a:prstGeom>
          <a:solidFill>
            <a:srgbClr val="6E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572000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Priya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1783080"/>
            <a:ext cx="914400" cy="164592"/>
          </a:xfrm>
          <a:prstGeom prst="rect">
            <a:avLst/>
          </a:prstGeom>
          <a:solidFill>
            <a:srgbClr val="B65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5727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900" b="1">
                <a:solidFill>
                  <a:srgbClr val="B6532B"/>
                </a:solidFill>
                <a:latin typeface="Consolas"/>
              </a:rPr>
              <a:t>shime,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5448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200" b="1">
                <a:solidFill>
                  <a:srgbClr val="6E161A"/>
                </a:solidFill>
                <a:latin typeface="Consolas"/>
              </a:rPr>
              <a:t>PAIRS FOR THE TRADING SECTION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Georgia"/>
              </a:rPr>
              <a:t>Sora and Amara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Georgia"/>
              </a:rPr>
              <a:t>Owen and Nina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400" b="1">
                <a:solidFill>
                  <a:srgbClr val="1A1A1A"/>
                </a:solidFill>
                <a:latin typeface="Georgia"/>
              </a:rPr>
              <a:t>Ken and Rosa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400" b="1">
                <a:solidFill>
                  <a:srgbClr val="1A1A1A"/>
                </a:solidFill>
                <a:latin typeface="Georgia"/>
              </a:rPr>
              <a:t>Mateo and Priya, the two rising beginners</a:t>
            </a:r>
          </a:p>
          <a:p>
            <a:pPr algn="l">
              <a:lnSpc>
                <a:spcPct val="104000"/>
              </a:lnSpc>
            </a:pPr>
            <a:r>
              <a:rPr sz="1200" b="0">
                <a:solidFill>
                  <a:srgbClr val="5A5A5A"/>
                </a:solidFill>
                <a:latin typeface="Calibri"/>
              </a:rPr>
              <a:t>Keep eye contact across the circle. Each pair gets one improvised bar inside the frame, then the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