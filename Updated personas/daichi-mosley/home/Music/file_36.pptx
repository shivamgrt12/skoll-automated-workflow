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gross</c:v>
                </c:pt>
              </c:strCache>
            </c:strRef>
          </c:tx>
          <c:dPt>
            <c:idx val="0"/>
            <c:spPr>
              <a:solidFill>
                <a:srgbClr val="0E4B52"/>
              </a:solidFill>
            </c:spPr>
          </c:dPt>
          <c:dPt>
            <c:idx val="1"/>
            <c:spPr>
              <a:solidFill>
                <a:srgbClr val="C98022"/>
              </a:solidFill>
            </c:spPr>
          </c:dPt>
          <c:dPt>
            <c:idx val="2"/>
            <c:spPr>
              <a:solidFill>
                <a:srgbClr val="24444A"/>
              </a:solidFill>
            </c:spPr>
          </c:dPt>
          <c:cat>
            <c:strRef>
              <c:f>Sheet1!$A$2:$A$4</c:f>
              <c:strCache>
                <c:ptCount val="3"/>
                <c:pt idx="0">
                  <c:v>First Officer line</c:v>
                </c:pt>
                <c:pt idx="1">
                  <c:v>Taiko instruction</c:v>
                </c:pt>
                <c:pt idx="2">
                  <c:v>Real estate, Aisha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175000</c:v>
                </c:pt>
                <c:pt idx="1">
                  <c:v>7520</c:v>
                </c:pt>
                <c:pt idx="2">
                  <c:v>95000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Mortgage</c:v>
                </c:pt>
                <c:pt idx="1">
                  <c:v>Tuition</c:v>
                </c:pt>
                <c:pt idx="2">
                  <c:v>Auto, loan and cover</c:v>
                </c:pt>
                <c:pt idx="3">
                  <c:v>Groceries</c:v>
                </c:pt>
                <c:pt idx="4">
                  <c:v>Property tax</c:v>
                </c:pt>
                <c:pt idx="5">
                  <c:v>Activities</c:v>
                </c:pt>
                <c:pt idx="6">
                  <c:v>Family support</c:v>
                </c:pt>
                <c:pt idx="7">
                  <c:v>Dining</c:v>
                </c:pt>
                <c:pt idx="8">
                  <c:v>Health cover</c:v>
                </c:pt>
                <c:pt idx="9">
                  <c:v>Utilities and 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40800</c:v>
                </c:pt>
                <c:pt idx="1">
                  <c:v>21600</c:v>
                </c:pt>
                <c:pt idx="2">
                  <c:v>10320</c:v>
                </c:pt>
                <c:pt idx="3">
                  <c:v>9600</c:v>
                </c:pt>
                <c:pt idx="4">
                  <c:v>7800</c:v>
                </c:pt>
                <c:pt idx="5">
                  <c:v>7800</c:v>
                </c:pt>
                <c:pt idx="6">
                  <c:v>6000</c:v>
                </c:pt>
                <c:pt idx="7">
                  <c:v>6000</c:v>
                </c:pt>
                <c:pt idx="8">
                  <c:v>4560</c:v>
                </c:pt>
                <c:pt idx="9">
                  <c:v>11520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dPt>
            <c:idx val="0"/>
            <c:spPr>
              <a:solidFill>
                <a:srgbClr val="0E4B52"/>
              </a:solidFill>
            </c:spPr>
          </c:dPt>
          <c:dPt>
            <c:idx val="1"/>
            <c:spPr>
              <a:solidFill>
                <a:srgbClr val="C98022"/>
              </a:solidFill>
            </c:spPr>
          </c:dPt>
          <c:dPt>
            <c:idx val="2"/>
            <c:spPr>
              <a:solidFill>
                <a:srgbClr val="24444A"/>
              </a:solidFill>
            </c:spPr>
          </c:dPt>
          <c:dPt>
            <c:idx val="3"/>
            <c:spPr>
              <a:solidFill>
                <a:srgbClr val="6F9A9E"/>
              </a:solidFill>
            </c:spPr>
          </c:dPt>
          <c:cat>
            <c:strRef>
              <c:f>Sheet1!$A$2:$A$5</c:f>
              <c:strCache>
                <c:ptCount val="4"/>
                <c:pt idx="0">
                  <c:v>Retirement 401k</c:v>
                </c:pt>
                <c:pt idx="1">
                  <c:v>Cash reserve</c:v>
                </c:pt>
                <c:pt idx="2">
                  <c:v>College, two plans</c:v>
                </c:pt>
                <c:pt idx="3">
                  <c:v>Aisha SEP IRA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185000</c:v>
                </c:pt>
                <c:pt idx="1">
                  <c:v>52000</c:v>
                </c:pt>
                <c:pt idx="2">
                  <c:v>42000</c:v>
                </c:pt>
                <c:pt idx="3">
                  <c:v>45000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ln w="31750">
              <a:solidFill>
                <a:srgbClr val="0E4B52"/>
              </a:solidFill>
            </a:ln>
          </c:spPr>
          <c:cat>
            <c:strRef>
              <c:f>Sheet1!$A$2:$A$5</c:f>
              <c:strCache>
                <c:ptCount val="4"/>
                <c:pt idx="0">
                  <c:v>September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49308</c:v>
                </c:pt>
                <c:pt idx="1">
                  <c:v>49968</c:v>
                </c:pt>
                <c:pt idx="2">
                  <c:v>50631</c:v>
                </c:pt>
                <c:pt idx="3">
                  <c:v>51295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244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46304" cy="2103120"/>
          </a:xfrm>
          <a:prstGeom prst="rect">
            <a:avLst/>
          </a:prstGeom>
          <a:solidFill>
            <a:srgbClr val="C9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C98022"/>
                </a:solidFill>
                <a:latin typeface="Consolas"/>
              </a:rPr>
              <a:t>MOSLEY HOUSEHOLD  /  BELLEVUE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FFF"/>
                </a:solidFill>
                <a:latin typeface="Georgia"/>
              </a:rPr>
              <a:t>Household Financial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0">
                <a:solidFill>
                  <a:srgbClr val="DDDDDD"/>
                </a:solidFill>
                <a:latin typeface="Calibri"/>
              </a:rPr>
              <a:t>Calendar year 2025  .  Prepared January 2026  .  Income, outflow, and the savings picture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98022"/>
                </a:solidFill>
                <a:latin typeface="Consolas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Where the income comes from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463040"/>
            <a:ext cx="3840480" cy="475488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737360"/>
            <a:ext cx="3383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C98022"/>
                </a:solidFill>
                <a:latin typeface="Consolas"/>
              </a:rPr>
              <a:t>COMBINED GROSS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277,520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200" b="0">
                <a:solidFill>
                  <a:srgbClr val="CCCCCC"/>
                </a:solidFill>
                <a:latin typeface="Calibri"/>
              </a:rPr>
              <a:t>per year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flying line carries the household. Taiko income is reported on Schedule C and runs steady through the year.</a:t>
            </a:r>
          </a:p>
          <a:p>
            <a:pPr algn="l">
              <a:lnSpc>
                <a:spcPct val="104000"/>
              </a:lnSpc>
            </a:pPr>
            <a:r>
              <a:rPr sz="1300" b="0">
                <a:solidFill>
                  <a:srgbClr val="DDDDDD"/>
                </a:solidFill>
                <a:latin typeface="Calibri"/>
              </a:rPr>
              <a:t>Aisha's real estate income is a commission average and varies with the season.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98022"/>
                </a:solidFill>
                <a:latin typeface="Consola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Where it goes, annual outflow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2588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1463040"/>
            <a:ext cx="4206240" cy="475488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737360"/>
            <a:ext cx="3749039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C98022"/>
                </a:solidFill>
                <a:latin typeface="Consolas"/>
              </a:rPr>
              <a:t>TOTAL OUTFLOW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126,000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200" b="0">
                <a:solidFill>
                  <a:srgbClr val="CCCCCC"/>
                </a:solidFill>
                <a:latin typeface="Calibri"/>
              </a:rPr>
              <a:t>per year, about 10,500 a month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home and the children lead, mortgage and tuition together are just under half of all spending.</a:t>
            </a:r>
          </a:p>
          <a:p>
            <a:pPr algn="l">
              <a:lnSpc>
                <a:spcPct val="104000"/>
              </a:lnSpc>
            </a:pPr>
            <a:r>
              <a:rPr sz="1300" b="0">
                <a:solidFill>
                  <a:srgbClr val="DDDDDD"/>
                </a:solidFill>
                <a:latin typeface="Calibri"/>
              </a:rPr>
              <a:t>Everything autopays from the one checking account so nothing slips while I am on a trip.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98022"/>
                </a:solidFill>
                <a:latin typeface="Consolas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The savings picture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463040"/>
            <a:ext cx="3840480" cy="475488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737360"/>
            <a:ext cx="3383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C98022"/>
                </a:solidFill>
                <a:latin typeface="Consolas"/>
              </a:rPr>
              <a:t>SET ASIDE MONTHLY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3,550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200" b="0">
                <a:solidFill>
                  <a:srgbClr val="CCCCCC"/>
                </a:solidFill>
                <a:latin typeface="Calibri"/>
              </a:rPr>
              <a:t>across five vehicles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cash reserve is closing on the 55,000 goal. Each college plan takes 400 a month, one per child.</a:t>
            </a:r>
          </a:p>
          <a:p>
            <a:pPr algn="l">
              <a:lnSpc>
                <a:spcPct val="104000"/>
              </a:lnSpc>
            </a:pPr>
            <a:r>
              <a:rPr sz="1300" b="0">
                <a:solidFill>
                  <a:srgbClr val="DDDDDD"/>
                </a:solidFill>
                <a:latin typeface="Calibri"/>
              </a:rPr>
              <a:t>The retirement match is the best return in the plan, so it stays fully funded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98022"/>
                </a:solidFill>
                <a:latin typeface="Consolas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Cash reserve, late 2025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55448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0E4B52"/>
                </a:solidFill>
                <a:latin typeface="Consolas"/>
              </a:rPr>
              <a:t>STEADY CLIMB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high yield reserve grew every month on a 500 monthly top up plus interest.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It closed December near 51,300 and crossed 52,000 early in the new year.</a:t>
            </a:r>
          </a:p>
          <a:p>
            <a:pPr algn="l">
              <a:lnSpc>
                <a:spcPct val="104000"/>
              </a:lnSpc>
            </a:pPr>
            <a:r>
              <a:rPr sz="1300" b="1">
                <a:solidFill>
                  <a:srgbClr val="0E4B52"/>
                </a:solidFill>
                <a:latin typeface="Calibri"/>
              </a:rPr>
              <a:t>Goal is 55,000, a six month cushion for the household.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