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chart>
    <c:autoTitleDeleted val="1"/>
    <c:plotArea>
      <c:pieChart>
        <c:varyColors val="1"/>
        <c:ser>
          <c:idx val="0"/>
          <c:order val="0"/>
          <c:tx>
            <c:strRef>
              <c:f>Sheet1!$B$1</c:f>
              <c:strCache>
                <c:ptCount val="1"/>
                <c:pt idx="0">
                  <c:v>Cost</c:v>
                </c:pt>
              </c:strCache>
            </c:strRef>
          </c:tx>
          <c:dPt>
            <c:idx val="0"/>
            <c:spPr>
              <a:solidFill>
                <a:srgbClr val="E0B441"/>
              </a:solidFill>
            </c:spPr>
          </c:dPt>
          <c:dPt>
            <c:idx val="1"/>
            <c:spPr>
              <a:solidFill>
                <a:srgbClr val="3F7FB0"/>
              </a:solidFill>
            </c:spPr>
          </c:dPt>
          <c:dPt>
            <c:idx val="2"/>
            <c:spPr>
              <a:solidFill>
                <a:srgbClr val="6DB58F"/>
              </a:solidFill>
            </c:spPr>
          </c:dPt>
          <c:dPt>
            <c:idx val="3"/>
            <c:spPr>
              <a:solidFill>
                <a:srgbClr val="C8694A"/>
              </a:solidFill>
            </c:spPr>
          </c:dPt>
          <c:cat>
            <c:strRef>
              <c:f>Sheet1!$A$2:$A$5</c:f>
              <c:strCache>
                <c:ptCount val="4"/>
                <c:pt idx="0">
                  <c:v>Second bay</c:v>
                </c:pt>
                <c:pt idx="1">
                  <c:v>Lift</c:v>
                </c:pt>
                <c:pt idx="2">
                  <c:v>Electrical</c:v>
                </c:pt>
                <c:pt idx="3">
                  <c:v>Permits</c:v>
                </c:pt>
              </c:strCache>
            </c:strRef>
          </c:cat>
          <c:val>
            <c:numRef>
              <c:f>Sheet1!$B$2:$B$5</c:f>
              <c:numCache>
                <c:formatCode>General</c:formatCode>
                <c:ptCount val="4"/>
                <c:pt idx="0">
                  <c:v>35000</c:v>
                </c:pt>
                <c:pt idx="1">
                  <c:v>8000</c:v>
                </c:pt>
                <c:pt idx="2">
                  <c:v>5000</c:v>
                </c:pt>
                <c:pt idx="3">
                  <c:v>2000</c:v>
                </c:pt>
              </c:numCache>
            </c:numRef>
          </c:val>
        </c:ser>
        <c:dLbls>
          <c:numFmt formatCode="$#,##0" sourceLinked="0"/>
          <c:txPr>
            <a:bodyPr/>
            <a:lstStyle/>
            <a:p>
              <a:pPr>
                <a:defRPr sz="1100" b="1">
                  <a:solidFill>
                    <a:srgbClr val="FFFFFF"/>
                  </a:solidFill>
                </a:defRPr>
              </a:pPr>
            </a:p>
          </c:txPr>
          <c:dLblPos val="outEnd"/>
          <c:showLegendKey val="0"/>
          <c:showVal val="1"/>
          <c:showCatName val="0"/>
          <c:showSerName val="0"/>
          <c:showPercent val="0"/>
          <c:showBubbleSize val="0"/>
          <c:showLeaderLines val="1"/>
        </c:dLbls>
      </c:pieChart>
    </c:plotArea>
    <c:legend>
      <c:legendPos val="b"/>
      <c:overlay val="0"/>
      <c:txPr>
        <a:bodyPr/>
        <a:lstStyle/>
        <a:p>
          <a:pPr>
            <a:defRPr sz="1200">
              <a:solidFill>
                <a:srgbClr val="EAF1F7"/>
              </a:solidFill>
              <a:latin typeface="Calibri"/>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Revenue</c:v>
                </c:pt>
              </c:strCache>
            </c:strRef>
          </c:tx>
          <c:spPr>
            <a:solidFill>
              <a:srgbClr val="3F7FB0"/>
            </a:solidFill>
          </c:spPr>
          <c:cat>
            <c:strRef>
              <c:f>Sheet1!$A$2:$A$7</c:f>
              <c:strCache>
                <c:ptCount val="6"/>
                <c:pt idx="0">
                  <c:v>Sep</c:v>
                </c:pt>
                <c:pt idx="1">
                  <c:v>Oct</c:v>
                </c:pt>
                <c:pt idx="2">
                  <c:v>Nov</c:v>
                </c:pt>
                <c:pt idx="3">
                  <c:v>Dec</c:v>
                </c:pt>
                <c:pt idx="4">
                  <c:v>Jan</c:v>
                </c:pt>
                <c:pt idx="5">
                  <c:v>Feb</c:v>
                </c:pt>
              </c:strCache>
            </c:strRef>
          </c:cat>
          <c:val>
            <c:numRef>
              <c:f>Sheet1!$B$2:$B$7</c:f>
              <c:numCache>
                <c:formatCode>General</c:formatCode>
                <c:ptCount val="6"/>
                <c:pt idx="0">
                  <c:v>27.4</c:v>
                </c:pt>
                <c:pt idx="1">
                  <c:v>28.9</c:v>
                </c:pt>
                <c:pt idx="2">
                  <c:v>26.7</c:v>
                </c:pt>
                <c:pt idx="3">
                  <c:v>24.8</c:v>
                </c:pt>
                <c:pt idx="4">
                  <c:v>26.9</c:v>
                </c:pt>
                <c:pt idx="5">
                  <c:v>27.3</c:v>
                </c:pt>
              </c:numCache>
            </c:numRef>
          </c:val>
        </c:ser>
        <c:ser>
          <c:idx val="1"/>
          <c:order val="1"/>
          <c:tx>
            <c:strRef>
              <c:f>Sheet1!$C$1</c:f>
              <c:strCache>
                <c:ptCount val="1"/>
                <c:pt idx="0">
                  <c:v>Net to owner</c:v>
                </c:pt>
              </c:strCache>
            </c:strRef>
          </c:tx>
          <c:spPr>
            <a:solidFill>
              <a:srgbClr val="E0B441"/>
            </a:solidFill>
          </c:spPr>
          <c:cat>
            <c:strRef>
              <c:f>Sheet1!$A$2:$A$7</c:f>
              <c:strCache>
                <c:ptCount val="6"/>
                <c:pt idx="0">
                  <c:v>Sep</c:v>
                </c:pt>
                <c:pt idx="1">
                  <c:v>Oct</c:v>
                </c:pt>
                <c:pt idx="2">
                  <c:v>Nov</c:v>
                </c:pt>
                <c:pt idx="3">
                  <c:v>Dec</c:v>
                </c:pt>
                <c:pt idx="4">
                  <c:v>Jan</c:v>
                </c:pt>
                <c:pt idx="5">
                  <c:v>Feb</c:v>
                </c:pt>
              </c:strCache>
            </c:strRef>
          </c:cat>
          <c:val>
            <c:numRef>
              <c:f>Sheet1!$C$2:$C$7</c:f>
              <c:numCache>
                <c:formatCode>General</c:formatCode>
                <c:ptCount val="6"/>
                <c:pt idx="0">
                  <c:v>6.0</c:v>
                </c:pt>
                <c:pt idx="1">
                  <c:v>6.9</c:v>
                </c:pt>
                <c:pt idx="2">
                  <c:v>5.7</c:v>
                </c:pt>
                <c:pt idx="3">
                  <c:v>4.6</c:v>
                </c:pt>
                <c:pt idx="4">
                  <c:v>5.7</c:v>
                </c:pt>
                <c:pt idx="5">
                  <c:v>6.0</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200">
                <a:solidFill>
                  <a:srgbClr val="EAF1F7"/>
                </a:solidFill>
                <a:latin typeface="Calibri"/>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200">
                <a:solidFill>
                  <a:srgbClr val="EAF1F7"/>
                </a:solidFill>
                <a:latin typeface="Calibri"/>
              </a:defRPr>
            </a:pPr>
          </a:p>
        </c:txPr>
        <c:crossAx val="-2068027336"/>
        <c:crosses val="autoZero"/>
      </c:valAx>
    </c:plotArea>
    <c:legend>
      <c:legendPos val="b"/>
      <c:overlay val="0"/>
      <c:txPr>
        <a:bodyPr/>
        <a:lstStyle/>
        <a:p>
          <a:pPr>
            <a:defRPr sz="1200">
              <a:solidFill>
                <a:srgbClr val="EAF1F7"/>
              </a:solidFill>
              <a:latin typeface="Calibri"/>
            </a:defRPr>
          </a:pPr>
        </a:p>
      </c:txPr>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4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577840"/>
            <a:ext cx="12191695" cy="146304"/>
          </a:xfrm>
          <a:prstGeom prst="rect">
            <a:avLst/>
          </a:prstGeom>
          <a:solidFill>
            <a:srgbClr val="E0B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509760" y="-1463040"/>
            <a:ext cx="4206240" cy="4206240"/>
          </a:xfrm>
          <a:prstGeom prst="ellipse">
            <a:avLst/>
          </a:prstGeom>
          <a:solidFill>
            <a:srgbClr val="153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424160" y="-548640"/>
            <a:ext cx="2377440" cy="2377440"/>
          </a:xfrm>
          <a:prstGeom prst="ellipse">
            <a:avLst/>
          </a:prstGeom>
          <a:solidFill>
            <a:srgbClr val="3F7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011680"/>
            <a:ext cx="8229600" cy="1097280"/>
          </a:xfrm>
          <a:prstGeom prst="rect">
            <a:avLst/>
          </a:prstGeom>
          <a:noFill/>
        </p:spPr>
        <p:txBody>
          <a:bodyPr wrap="square" anchor="t">
            <a:spAutoFit/>
          </a:bodyPr>
          <a:lstStyle/>
          <a:p>
            <a:pPr algn="l">
              <a:lnSpc>
                <a:spcPct val="100000"/>
              </a:lnSpc>
              <a:spcAft>
                <a:spcPts val="400"/>
              </a:spcAft>
            </a:pPr>
            <a:r>
              <a:rPr sz="1600" b="1">
                <a:solidFill>
                  <a:srgbClr val="E0B441"/>
                </a:solidFill>
                <a:latin typeface="Calibri"/>
              </a:rPr>
              <a:t>HAYES AUTO WORKS</a:t>
            </a:r>
          </a:p>
        </p:txBody>
      </p:sp>
      <p:sp>
        <p:nvSpPr>
          <p:cNvPr id="7" name="TextBox 6"/>
          <p:cNvSpPr txBox="1"/>
          <p:nvPr/>
        </p:nvSpPr>
        <p:spPr>
          <a:xfrm>
            <a:off x="822960" y="2468880"/>
            <a:ext cx="10058400" cy="1828800"/>
          </a:xfrm>
          <a:prstGeom prst="rect">
            <a:avLst/>
          </a:prstGeom>
          <a:noFill/>
        </p:spPr>
        <p:txBody>
          <a:bodyPr wrap="square" anchor="t">
            <a:spAutoFit/>
          </a:bodyPr>
          <a:lstStyle/>
          <a:p>
            <a:pPr algn="l">
              <a:lnSpc>
                <a:spcPct val="100000"/>
              </a:lnSpc>
              <a:spcAft>
                <a:spcPts val="400"/>
              </a:spcAft>
            </a:pPr>
            <a:r>
              <a:rPr sz="4600" b="1">
                <a:solidFill>
                  <a:srgbClr val="EAF1F7"/>
                </a:solidFill>
                <a:latin typeface="Georgia"/>
              </a:rPr>
              <a:t>Third Bay Expansion</a:t>
            </a:r>
          </a:p>
        </p:txBody>
      </p:sp>
      <p:sp>
        <p:nvSpPr>
          <p:cNvPr id="8" name="TextBox 7"/>
          <p:cNvSpPr txBox="1"/>
          <p:nvPr/>
        </p:nvSpPr>
        <p:spPr>
          <a:xfrm>
            <a:off x="841248" y="3657600"/>
            <a:ext cx="9144000" cy="914400"/>
          </a:xfrm>
          <a:prstGeom prst="rect">
            <a:avLst/>
          </a:prstGeom>
          <a:noFill/>
        </p:spPr>
        <p:txBody>
          <a:bodyPr wrap="square" anchor="t">
            <a:spAutoFit/>
          </a:bodyPr>
          <a:lstStyle/>
          <a:p>
            <a:pPr algn="l">
              <a:lnSpc>
                <a:spcPct val="100000"/>
              </a:lnSpc>
              <a:spcAft>
                <a:spcPts val="400"/>
              </a:spcAft>
            </a:pPr>
            <a:r>
              <a:rPr sz="1800" b="0">
                <a:solidFill>
                  <a:srgbClr val="9FB6C9"/>
                </a:solidFill>
                <a:latin typeface="Calibri"/>
              </a:rPr>
              <a:t>SBA 7(a) loan proposal prepared for Brightpath Financial</a:t>
            </a:r>
          </a:p>
        </p:txBody>
      </p:sp>
      <p:sp>
        <p:nvSpPr>
          <p:cNvPr id="9" name="TextBox 8"/>
          <p:cNvSpPr txBox="1"/>
          <p:nvPr/>
        </p:nvSpPr>
        <p:spPr>
          <a:xfrm>
            <a:off x="841248" y="5897880"/>
            <a:ext cx="10058400" cy="548640"/>
          </a:xfrm>
          <a:prstGeom prst="rect">
            <a:avLst/>
          </a:prstGeom>
          <a:noFill/>
        </p:spPr>
        <p:txBody>
          <a:bodyPr wrap="square" anchor="t">
            <a:spAutoFit/>
          </a:bodyPr>
          <a:lstStyle/>
          <a:p>
            <a:pPr algn="l">
              <a:lnSpc>
                <a:spcPct val="100000"/>
              </a:lnSpc>
              <a:spcAft>
                <a:spcPts val="400"/>
              </a:spcAft>
            </a:pPr>
            <a:r>
              <a:rPr sz="1200" b="0">
                <a:solidFill>
                  <a:srgbClr val="9FB6C9"/>
                </a:solidFill>
                <a:latin typeface="Calibri"/>
              </a:rPr>
              <a:t>David Hayes, Owner   |   February 2026   |   Ref BPF-SBA-2026-1457</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4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48640"/>
            <a:ext cx="10058400" cy="914400"/>
          </a:xfrm>
          <a:prstGeom prst="rect">
            <a:avLst/>
          </a:prstGeom>
          <a:noFill/>
        </p:spPr>
        <p:txBody>
          <a:bodyPr wrap="square" anchor="t">
            <a:spAutoFit/>
          </a:bodyPr>
          <a:lstStyle/>
          <a:p>
            <a:pPr algn="l">
              <a:lnSpc>
                <a:spcPct val="100000"/>
              </a:lnSpc>
              <a:spcAft>
                <a:spcPts val="400"/>
              </a:spcAft>
            </a:pPr>
            <a:r>
              <a:rPr sz="3000" b="1">
                <a:solidFill>
                  <a:srgbClr val="EAF1F7"/>
                </a:solidFill>
                <a:latin typeface="Georgia"/>
              </a:rPr>
              <a:t>The opportunity</a:t>
            </a:r>
          </a:p>
        </p:txBody>
      </p:sp>
      <p:sp>
        <p:nvSpPr>
          <p:cNvPr id="4" name="Rectangle 3"/>
          <p:cNvSpPr/>
          <p:nvPr/>
        </p:nvSpPr>
        <p:spPr>
          <a:xfrm>
            <a:off x="868680" y="1325880"/>
            <a:ext cx="1280160" cy="82296"/>
          </a:xfrm>
          <a:prstGeom prst="rect">
            <a:avLst/>
          </a:prstGeom>
          <a:solidFill>
            <a:srgbClr val="E0B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68680" y="1828800"/>
            <a:ext cx="5303520" cy="1737360"/>
          </a:xfrm>
          <a:prstGeom prst="roundRect">
            <a:avLst/>
          </a:prstGeom>
          <a:solidFill>
            <a:srgbClr val="153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43000" y="2148840"/>
            <a:ext cx="502920" cy="502920"/>
          </a:xfrm>
          <a:prstGeom prst="ellipse">
            <a:avLst/>
          </a:prstGeom>
          <a:solidFill>
            <a:srgbClr val="E0B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88719" y="2157984"/>
            <a:ext cx="457200" cy="457200"/>
          </a:xfrm>
          <a:prstGeom prst="rect">
            <a:avLst/>
          </a:prstGeom>
          <a:noFill/>
        </p:spPr>
        <p:txBody>
          <a:bodyPr wrap="square" anchor="ctr">
            <a:spAutoFit/>
          </a:bodyPr>
          <a:lstStyle/>
          <a:p>
            <a:pPr algn="ctr">
              <a:lnSpc>
                <a:spcPct val="100000"/>
              </a:lnSpc>
              <a:spcAft>
                <a:spcPts val="400"/>
              </a:spcAft>
            </a:pPr>
            <a:r>
              <a:rPr sz="1600" b="1">
                <a:solidFill>
                  <a:srgbClr val="0E2436"/>
                </a:solidFill>
                <a:latin typeface="Calibri"/>
              </a:rPr>
              <a:t>1</a:t>
            </a:r>
          </a:p>
        </p:txBody>
      </p:sp>
      <p:sp>
        <p:nvSpPr>
          <p:cNvPr id="8" name="TextBox 7"/>
          <p:cNvSpPr txBox="1"/>
          <p:nvPr/>
        </p:nvSpPr>
        <p:spPr>
          <a:xfrm>
            <a:off x="1874519" y="2084832"/>
            <a:ext cx="4023360" cy="1371600"/>
          </a:xfrm>
          <a:prstGeom prst="rect">
            <a:avLst/>
          </a:prstGeom>
          <a:noFill/>
        </p:spPr>
        <p:txBody>
          <a:bodyPr wrap="square" anchor="t">
            <a:spAutoFit/>
          </a:bodyPr>
          <a:lstStyle/>
          <a:p>
            <a:pPr algn="l">
              <a:lnSpc>
                <a:spcPct val="100000"/>
              </a:lnSpc>
              <a:spcAft>
                <a:spcPts val="400"/>
              </a:spcAft>
            </a:pPr>
            <a:r>
              <a:rPr sz="1600" b="1">
                <a:solidFill>
                  <a:srgbClr val="E0B441"/>
                </a:solidFill>
                <a:latin typeface="Calibri"/>
              </a:rPr>
              <a:t>At capacity by Tuesday</a:t>
            </a:r>
          </a:p>
          <a:p>
            <a:pPr algn="l">
              <a:lnSpc>
                <a:spcPct val="100000"/>
              </a:lnSpc>
              <a:spcAft>
                <a:spcPts val="400"/>
              </a:spcAft>
            </a:pPr>
            <a:r>
              <a:rPr sz="1250" b="0">
                <a:solidFill>
                  <a:srgbClr val="9FB6C9"/>
                </a:solidFill>
                <a:latin typeface="Calibri"/>
              </a:rPr>
              <a:t>Two bays fill most weeks and good jobs get pushed several days.</a:t>
            </a:r>
          </a:p>
        </p:txBody>
      </p:sp>
      <p:sp>
        <p:nvSpPr>
          <p:cNvPr id="9" name="Rounded Rectangle 8"/>
          <p:cNvSpPr/>
          <p:nvPr/>
        </p:nvSpPr>
        <p:spPr>
          <a:xfrm>
            <a:off x="6492240" y="1828800"/>
            <a:ext cx="5303520" cy="1737360"/>
          </a:xfrm>
          <a:prstGeom prst="roundRect">
            <a:avLst/>
          </a:prstGeom>
          <a:solidFill>
            <a:srgbClr val="153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766560" y="2148840"/>
            <a:ext cx="502920" cy="502920"/>
          </a:xfrm>
          <a:prstGeom prst="ellipse">
            <a:avLst/>
          </a:prstGeom>
          <a:solidFill>
            <a:srgbClr val="E0B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12280" y="2157984"/>
            <a:ext cx="457200" cy="457200"/>
          </a:xfrm>
          <a:prstGeom prst="rect">
            <a:avLst/>
          </a:prstGeom>
          <a:noFill/>
        </p:spPr>
        <p:txBody>
          <a:bodyPr wrap="square" anchor="ctr">
            <a:spAutoFit/>
          </a:bodyPr>
          <a:lstStyle/>
          <a:p>
            <a:pPr algn="ctr">
              <a:lnSpc>
                <a:spcPct val="100000"/>
              </a:lnSpc>
              <a:spcAft>
                <a:spcPts val="400"/>
              </a:spcAft>
            </a:pPr>
            <a:r>
              <a:rPr sz="1600" b="1">
                <a:solidFill>
                  <a:srgbClr val="0E2436"/>
                </a:solidFill>
                <a:latin typeface="Calibri"/>
              </a:rPr>
              <a:t>2</a:t>
            </a:r>
          </a:p>
        </p:txBody>
      </p:sp>
      <p:sp>
        <p:nvSpPr>
          <p:cNvPr id="12" name="TextBox 11"/>
          <p:cNvSpPr txBox="1"/>
          <p:nvPr/>
        </p:nvSpPr>
        <p:spPr>
          <a:xfrm>
            <a:off x="7498080" y="2084832"/>
            <a:ext cx="4023360" cy="1371600"/>
          </a:xfrm>
          <a:prstGeom prst="rect">
            <a:avLst/>
          </a:prstGeom>
          <a:noFill/>
        </p:spPr>
        <p:txBody>
          <a:bodyPr wrap="square" anchor="t">
            <a:spAutoFit/>
          </a:bodyPr>
          <a:lstStyle/>
          <a:p>
            <a:pPr algn="l">
              <a:lnSpc>
                <a:spcPct val="100000"/>
              </a:lnSpc>
              <a:spcAft>
                <a:spcPts val="400"/>
              </a:spcAft>
            </a:pPr>
            <a:r>
              <a:rPr sz="1600" b="1">
                <a:solidFill>
                  <a:srgbClr val="E0B441"/>
                </a:solidFill>
                <a:latin typeface="Calibri"/>
              </a:rPr>
              <a:t>Turning away work</a:t>
            </a:r>
          </a:p>
          <a:p>
            <a:pPr algn="l">
              <a:lnSpc>
                <a:spcPct val="100000"/>
              </a:lnSpc>
              <a:spcAft>
                <a:spcPts val="400"/>
              </a:spcAft>
            </a:pPr>
            <a:r>
              <a:rPr sz="1250" b="0">
                <a:solidFill>
                  <a:srgbClr val="9FB6C9"/>
                </a:solidFill>
                <a:latin typeface="Calibri"/>
              </a:rPr>
              <a:t>Winter prep season pushes some customers to wait or go elsewhere.</a:t>
            </a:r>
          </a:p>
        </p:txBody>
      </p:sp>
      <p:sp>
        <p:nvSpPr>
          <p:cNvPr id="13" name="Rounded Rectangle 12"/>
          <p:cNvSpPr/>
          <p:nvPr/>
        </p:nvSpPr>
        <p:spPr>
          <a:xfrm>
            <a:off x="868680" y="3840480"/>
            <a:ext cx="5303520" cy="1737360"/>
          </a:xfrm>
          <a:prstGeom prst="roundRect">
            <a:avLst/>
          </a:prstGeom>
          <a:solidFill>
            <a:srgbClr val="153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43000" y="4160520"/>
            <a:ext cx="502920" cy="502920"/>
          </a:xfrm>
          <a:prstGeom prst="ellipse">
            <a:avLst/>
          </a:prstGeom>
          <a:solidFill>
            <a:srgbClr val="E0B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88719" y="4169664"/>
            <a:ext cx="457200" cy="457200"/>
          </a:xfrm>
          <a:prstGeom prst="rect">
            <a:avLst/>
          </a:prstGeom>
          <a:noFill/>
        </p:spPr>
        <p:txBody>
          <a:bodyPr wrap="square" anchor="ctr">
            <a:spAutoFit/>
          </a:bodyPr>
          <a:lstStyle/>
          <a:p>
            <a:pPr algn="ctr">
              <a:lnSpc>
                <a:spcPct val="100000"/>
              </a:lnSpc>
              <a:spcAft>
                <a:spcPts val="400"/>
              </a:spcAft>
            </a:pPr>
            <a:r>
              <a:rPr sz="1600" b="1">
                <a:solidFill>
                  <a:srgbClr val="0E2436"/>
                </a:solidFill>
                <a:latin typeface="Calibri"/>
              </a:rPr>
              <a:t>3</a:t>
            </a:r>
          </a:p>
        </p:txBody>
      </p:sp>
      <p:sp>
        <p:nvSpPr>
          <p:cNvPr id="16" name="TextBox 15"/>
          <p:cNvSpPr txBox="1"/>
          <p:nvPr/>
        </p:nvSpPr>
        <p:spPr>
          <a:xfrm>
            <a:off x="1874519" y="4096512"/>
            <a:ext cx="4023360" cy="1371600"/>
          </a:xfrm>
          <a:prstGeom prst="rect">
            <a:avLst/>
          </a:prstGeom>
          <a:noFill/>
        </p:spPr>
        <p:txBody>
          <a:bodyPr wrap="square" anchor="t">
            <a:spAutoFit/>
          </a:bodyPr>
          <a:lstStyle/>
          <a:p>
            <a:pPr algn="l">
              <a:lnSpc>
                <a:spcPct val="100000"/>
              </a:lnSpc>
              <a:spcAft>
                <a:spcPts val="400"/>
              </a:spcAft>
            </a:pPr>
            <a:r>
              <a:rPr sz="1600" b="1">
                <a:solidFill>
                  <a:srgbClr val="E0B441"/>
                </a:solidFill>
                <a:latin typeface="Calibri"/>
              </a:rPr>
              <a:t>Demand is loyal</a:t>
            </a:r>
          </a:p>
          <a:p>
            <a:pPr algn="l">
              <a:lnSpc>
                <a:spcPct val="100000"/>
              </a:lnSpc>
              <a:spcAft>
                <a:spcPts val="400"/>
              </a:spcAft>
            </a:pPr>
            <a:r>
              <a:rPr sz="1250" b="0">
                <a:solidFill>
                  <a:srgbClr val="9FB6C9"/>
                </a:solidFill>
                <a:latin typeface="Calibri"/>
              </a:rPr>
              <a:t>About 80 percent of business comes from neighborhood regulars.</a:t>
            </a:r>
          </a:p>
        </p:txBody>
      </p:sp>
      <p:sp>
        <p:nvSpPr>
          <p:cNvPr id="17" name="Rounded Rectangle 16"/>
          <p:cNvSpPr/>
          <p:nvPr/>
        </p:nvSpPr>
        <p:spPr>
          <a:xfrm>
            <a:off x="6492240" y="3840480"/>
            <a:ext cx="5303520" cy="1737360"/>
          </a:xfrm>
          <a:prstGeom prst="roundRect">
            <a:avLst/>
          </a:prstGeom>
          <a:solidFill>
            <a:srgbClr val="153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766560" y="4160520"/>
            <a:ext cx="502920" cy="502920"/>
          </a:xfrm>
          <a:prstGeom prst="ellipse">
            <a:avLst/>
          </a:prstGeom>
          <a:solidFill>
            <a:srgbClr val="E0B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12280" y="4169664"/>
            <a:ext cx="457200" cy="457200"/>
          </a:xfrm>
          <a:prstGeom prst="rect">
            <a:avLst/>
          </a:prstGeom>
          <a:noFill/>
        </p:spPr>
        <p:txBody>
          <a:bodyPr wrap="square" anchor="ctr">
            <a:spAutoFit/>
          </a:bodyPr>
          <a:lstStyle/>
          <a:p>
            <a:pPr algn="ctr">
              <a:lnSpc>
                <a:spcPct val="100000"/>
              </a:lnSpc>
              <a:spcAft>
                <a:spcPts val="400"/>
              </a:spcAft>
            </a:pPr>
            <a:r>
              <a:rPr sz="1600" b="1">
                <a:solidFill>
                  <a:srgbClr val="0E2436"/>
                </a:solidFill>
                <a:latin typeface="Calibri"/>
              </a:rPr>
              <a:t>4</a:t>
            </a:r>
          </a:p>
        </p:txBody>
      </p:sp>
      <p:sp>
        <p:nvSpPr>
          <p:cNvPr id="20" name="TextBox 19"/>
          <p:cNvSpPr txBox="1"/>
          <p:nvPr/>
        </p:nvSpPr>
        <p:spPr>
          <a:xfrm>
            <a:off x="7498080" y="4096512"/>
            <a:ext cx="4023360" cy="1371600"/>
          </a:xfrm>
          <a:prstGeom prst="rect">
            <a:avLst/>
          </a:prstGeom>
          <a:noFill/>
        </p:spPr>
        <p:txBody>
          <a:bodyPr wrap="square" anchor="t">
            <a:spAutoFit/>
          </a:bodyPr>
          <a:lstStyle/>
          <a:p>
            <a:pPr algn="l">
              <a:lnSpc>
                <a:spcPct val="100000"/>
              </a:lnSpc>
              <a:spcAft>
                <a:spcPts val="400"/>
              </a:spcAft>
            </a:pPr>
            <a:r>
              <a:rPr sz="1600" b="1">
                <a:solidFill>
                  <a:srgbClr val="E0B441"/>
                </a:solidFill>
                <a:latin typeface="Calibri"/>
              </a:rPr>
              <a:t>Room to grow</a:t>
            </a:r>
          </a:p>
          <a:p>
            <a:pPr algn="l">
              <a:lnSpc>
                <a:spcPct val="100000"/>
              </a:lnSpc>
              <a:spcAft>
                <a:spcPts val="400"/>
              </a:spcAft>
            </a:pPr>
            <a:r>
              <a:rPr sz="1250" b="0">
                <a:solidFill>
                  <a:srgbClr val="9FB6C9"/>
                </a:solidFill>
                <a:latin typeface="Calibri"/>
              </a:rPr>
              <a:t>A third bay and a second technician capture the overflow we already see.</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4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48640"/>
            <a:ext cx="10058400" cy="914400"/>
          </a:xfrm>
          <a:prstGeom prst="rect">
            <a:avLst/>
          </a:prstGeom>
          <a:noFill/>
        </p:spPr>
        <p:txBody>
          <a:bodyPr wrap="square" anchor="t">
            <a:spAutoFit/>
          </a:bodyPr>
          <a:lstStyle/>
          <a:p>
            <a:pPr algn="l">
              <a:lnSpc>
                <a:spcPct val="100000"/>
              </a:lnSpc>
              <a:spcAft>
                <a:spcPts val="400"/>
              </a:spcAft>
            </a:pPr>
            <a:r>
              <a:rPr sz="3000" b="1">
                <a:solidFill>
                  <a:srgbClr val="EAF1F7"/>
                </a:solidFill>
                <a:latin typeface="Georgia"/>
              </a:rPr>
              <a:t>The numbers behind it</a:t>
            </a:r>
          </a:p>
        </p:txBody>
      </p:sp>
      <p:sp>
        <p:nvSpPr>
          <p:cNvPr id="4" name="Rectangle 3"/>
          <p:cNvSpPr/>
          <p:nvPr/>
        </p:nvSpPr>
        <p:spPr>
          <a:xfrm>
            <a:off x="868680" y="1325880"/>
            <a:ext cx="1280160" cy="82296"/>
          </a:xfrm>
          <a:prstGeom prst="rect">
            <a:avLst/>
          </a:prstGeom>
          <a:solidFill>
            <a:srgbClr val="E0B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68680" y="1920240"/>
            <a:ext cx="3474720" cy="1828800"/>
          </a:xfrm>
          <a:prstGeom prst="roundRect">
            <a:avLst/>
          </a:prstGeom>
          <a:solidFill>
            <a:srgbClr val="153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68680" y="1920240"/>
            <a:ext cx="109728" cy="1828800"/>
          </a:xfrm>
          <a:prstGeom prst="rect">
            <a:avLst/>
          </a:prstGeom>
          <a:solidFill>
            <a:srgbClr val="3F7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2240280"/>
            <a:ext cx="3017520" cy="914400"/>
          </a:xfrm>
          <a:prstGeom prst="rect">
            <a:avLst/>
          </a:prstGeom>
          <a:noFill/>
        </p:spPr>
        <p:txBody>
          <a:bodyPr wrap="square" anchor="t">
            <a:spAutoFit/>
          </a:bodyPr>
          <a:lstStyle/>
          <a:p>
            <a:pPr algn="l">
              <a:lnSpc>
                <a:spcPct val="100000"/>
              </a:lnSpc>
              <a:spcAft>
                <a:spcPts val="400"/>
              </a:spcAft>
            </a:pPr>
            <a:r>
              <a:rPr sz="3400" b="1">
                <a:solidFill>
                  <a:srgbClr val="E0B441"/>
                </a:solidFill>
                <a:latin typeface="Georgia"/>
              </a:rPr>
              <a:t>$27K</a:t>
            </a:r>
          </a:p>
        </p:txBody>
      </p:sp>
      <p:sp>
        <p:nvSpPr>
          <p:cNvPr id="8" name="TextBox 7"/>
          <p:cNvSpPr txBox="1"/>
          <p:nvPr/>
        </p:nvSpPr>
        <p:spPr>
          <a:xfrm>
            <a:off x="1161288" y="3154680"/>
            <a:ext cx="3017520" cy="548640"/>
          </a:xfrm>
          <a:prstGeom prst="rect">
            <a:avLst/>
          </a:prstGeom>
          <a:noFill/>
        </p:spPr>
        <p:txBody>
          <a:bodyPr wrap="square" anchor="t">
            <a:spAutoFit/>
          </a:bodyPr>
          <a:lstStyle/>
          <a:p>
            <a:pPr algn="l">
              <a:lnSpc>
                <a:spcPct val="100000"/>
              </a:lnSpc>
              <a:spcAft>
                <a:spcPts val="400"/>
              </a:spcAft>
            </a:pPr>
            <a:r>
              <a:rPr sz="1300" b="0">
                <a:solidFill>
                  <a:srgbClr val="9FB6C9"/>
                </a:solidFill>
                <a:latin typeface="Calibri"/>
              </a:rPr>
              <a:t>Avg monthly revenue</a:t>
            </a:r>
          </a:p>
        </p:txBody>
      </p:sp>
      <p:sp>
        <p:nvSpPr>
          <p:cNvPr id="9" name="Rounded Rectangle 8"/>
          <p:cNvSpPr/>
          <p:nvPr/>
        </p:nvSpPr>
        <p:spPr>
          <a:xfrm>
            <a:off x="4617720" y="1920240"/>
            <a:ext cx="3474720" cy="1828800"/>
          </a:xfrm>
          <a:prstGeom prst="roundRect">
            <a:avLst/>
          </a:prstGeom>
          <a:solidFill>
            <a:srgbClr val="153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17720" y="1920240"/>
            <a:ext cx="109728" cy="1828800"/>
          </a:xfrm>
          <a:prstGeom prst="rect">
            <a:avLst/>
          </a:prstGeom>
          <a:solidFill>
            <a:srgbClr val="3F7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92040" y="2240280"/>
            <a:ext cx="3017520" cy="914400"/>
          </a:xfrm>
          <a:prstGeom prst="rect">
            <a:avLst/>
          </a:prstGeom>
          <a:noFill/>
        </p:spPr>
        <p:txBody>
          <a:bodyPr wrap="square" anchor="t">
            <a:spAutoFit/>
          </a:bodyPr>
          <a:lstStyle/>
          <a:p>
            <a:pPr algn="l">
              <a:lnSpc>
                <a:spcPct val="100000"/>
              </a:lnSpc>
              <a:spcAft>
                <a:spcPts val="400"/>
              </a:spcAft>
            </a:pPr>
            <a:r>
              <a:rPr sz="3400" b="1">
                <a:solidFill>
                  <a:srgbClr val="E0B441"/>
                </a:solidFill>
                <a:latin typeface="Georgia"/>
              </a:rPr>
              <a:t>$6.5K</a:t>
            </a:r>
          </a:p>
        </p:txBody>
      </p:sp>
      <p:sp>
        <p:nvSpPr>
          <p:cNvPr id="12" name="TextBox 11"/>
          <p:cNvSpPr txBox="1"/>
          <p:nvPr/>
        </p:nvSpPr>
        <p:spPr>
          <a:xfrm>
            <a:off x="4910328" y="3154680"/>
            <a:ext cx="3017520" cy="548640"/>
          </a:xfrm>
          <a:prstGeom prst="rect">
            <a:avLst/>
          </a:prstGeom>
          <a:noFill/>
        </p:spPr>
        <p:txBody>
          <a:bodyPr wrap="square" anchor="t">
            <a:spAutoFit/>
          </a:bodyPr>
          <a:lstStyle/>
          <a:p>
            <a:pPr algn="l">
              <a:lnSpc>
                <a:spcPct val="100000"/>
              </a:lnSpc>
              <a:spcAft>
                <a:spcPts val="400"/>
              </a:spcAft>
            </a:pPr>
            <a:r>
              <a:rPr sz="1300" b="0">
                <a:solidFill>
                  <a:srgbClr val="9FB6C9"/>
                </a:solidFill>
                <a:latin typeface="Calibri"/>
              </a:rPr>
              <a:t>Net to owner, monthly</a:t>
            </a:r>
          </a:p>
        </p:txBody>
      </p:sp>
      <p:sp>
        <p:nvSpPr>
          <p:cNvPr id="13" name="Rounded Rectangle 12"/>
          <p:cNvSpPr/>
          <p:nvPr/>
        </p:nvSpPr>
        <p:spPr>
          <a:xfrm>
            <a:off x="8366759" y="1920240"/>
            <a:ext cx="3474720" cy="1828800"/>
          </a:xfrm>
          <a:prstGeom prst="roundRect">
            <a:avLst/>
          </a:prstGeom>
          <a:solidFill>
            <a:srgbClr val="153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66759" y="1920240"/>
            <a:ext cx="109728" cy="1828800"/>
          </a:xfrm>
          <a:prstGeom prst="rect">
            <a:avLst/>
          </a:prstGeom>
          <a:solidFill>
            <a:srgbClr val="3F7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41080" y="2240280"/>
            <a:ext cx="3017520" cy="914400"/>
          </a:xfrm>
          <a:prstGeom prst="rect">
            <a:avLst/>
          </a:prstGeom>
          <a:noFill/>
        </p:spPr>
        <p:txBody>
          <a:bodyPr wrap="square" anchor="t">
            <a:spAutoFit/>
          </a:bodyPr>
          <a:lstStyle/>
          <a:p>
            <a:pPr algn="l">
              <a:lnSpc>
                <a:spcPct val="100000"/>
              </a:lnSpc>
              <a:spcAft>
                <a:spcPts val="400"/>
              </a:spcAft>
            </a:pPr>
            <a:r>
              <a:rPr sz="3400" b="1">
                <a:solidFill>
                  <a:srgbClr val="E0B441"/>
                </a:solidFill>
                <a:latin typeface="Georgia"/>
              </a:rPr>
              <a:t>$22K</a:t>
            </a:r>
          </a:p>
        </p:txBody>
      </p:sp>
      <p:sp>
        <p:nvSpPr>
          <p:cNvPr id="16" name="TextBox 15"/>
          <p:cNvSpPr txBox="1"/>
          <p:nvPr/>
        </p:nvSpPr>
        <p:spPr>
          <a:xfrm>
            <a:off x="8659367" y="3154680"/>
            <a:ext cx="3017520" cy="548640"/>
          </a:xfrm>
          <a:prstGeom prst="rect">
            <a:avLst/>
          </a:prstGeom>
          <a:noFill/>
        </p:spPr>
        <p:txBody>
          <a:bodyPr wrap="square" anchor="t">
            <a:spAutoFit/>
          </a:bodyPr>
          <a:lstStyle/>
          <a:p>
            <a:pPr algn="l">
              <a:lnSpc>
                <a:spcPct val="100000"/>
              </a:lnSpc>
              <a:spcAft>
                <a:spcPts val="400"/>
              </a:spcAft>
            </a:pPr>
            <a:r>
              <a:rPr sz="1300" b="0">
                <a:solidFill>
                  <a:srgbClr val="9FB6C9"/>
                </a:solidFill>
                <a:latin typeface="Calibri"/>
              </a:rPr>
              <a:t>Operating reserve</a:t>
            </a:r>
          </a:p>
        </p:txBody>
      </p:sp>
      <p:sp>
        <p:nvSpPr>
          <p:cNvPr id="17" name="Rounded Rectangle 16"/>
          <p:cNvSpPr/>
          <p:nvPr/>
        </p:nvSpPr>
        <p:spPr>
          <a:xfrm>
            <a:off x="868680" y="4023360"/>
            <a:ext cx="3474720" cy="1828800"/>
          </a:xfrm>
          <a:prstGeom prst="roundRect">
            <a:avLst/>
          </a:prstGeom>
          <a:solidFill>
            <a:srgbClr val="153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8680" y="4023360"/>
            <a:ext cx="109728" cy="1828800"/>
          </a:xfrm>
          <a:prstGeom prst="rect">
            <a:avLst/>
          </a:prstGeom>
          <a:solidFill>
            <a:srgbClr val="3F7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3000" y="4343400"/>
            <a:ext cx="3017520" cy="914400"/>
          </a:xfrm>
          <a:prstGeom prst="rect">
            <a:avLst/>
          </a:prstGeom>
          <a:noFill/>
        </p:spPr>
        <p:txBody>
          <a:bodyPr wrap="square" anchor="t">
            <a:spAutoFit/>
          </a:bodyPr>
          <a:lstStyle/>
          <a:p>
            <a:pPr algn="l">
              <a:lnSpc>
                <a:spcPct val="100000"/>
              </a:lnSpc>
              <a:spcAft>
                <a:spcPts val="400"/>
              </a:spcAft>
            </a:pPr>
            <a:r>
              <a:rPr sz="3400" b="1">
                <a:solidFill>
                  <a:srgbClr val="E0B441"/>
                </a:solidFill>
                <a:latin typeface="Georgia"/>
              </a:rPr>
              <a:t>740</a:t>
            </a:r>
          </a:p>
        </p:txBody>
      </p:sp>
      <p:sp>
        <p:nvSpPr>
          <p:cNvPr id="20" name="TextBox 19"/>
          <p:cNvSpPr txBox="1"/>
          <p:nvPr/>
        </p:nvSpPr>
        <p:spPr>
          <a:xfrm>
            <a:off x="1161288" y="5257800"/>
            <a:ext cx="3017520" cy="548640"/>
          </a:xfrm>
          <a:prstGeom prst="rect">
            <a:avLst/>
          </a:prstGeom>
          <a:noFill/>
        </p:spPr>
        <p:txBody>
          <a:bodyPr wrap="square" anchor="t">
            <a:spAutoFit/>
          </a:bodyPr>
          <a:lstStyle/>
          <a:p>
            <a:pPr algn="l">
              <a:lnSpc>
                <a:spcPct val="100000"/>
              </a:lnSpc>
              <a:spcAft>
                <a:spcPts val="400"/>
              </a:spcAft>
            </a:pPr>
            <a:r>
              <a:rPr sz="1300" b="0">
                <a:solidFill>
                  <a:srgbClr val="9FB6C9"/>
                </a:solidFill>
                <a:latin typeface="Calibri"/>
              </a:rPr>
              <a:t>Owner FICO score</a:t>
            </a:r>
          </a:p>
        </p:txBody>
      </p:sp>
      <p:sp>
        <p:nvSpPr>
          <p:cNvPr id="21" name="Rounded Rectangle 20"/>
          <p:cNvSpPr/>
          <p:nvPr/>
        </p:nvSpPr>
        <p:spPr>
          <a:xfrm>
            <a:off x="4617720" y="4023360"/>
            <a:ext cx="3474720" cy="1828800"/>
          </a:xfrm>
          <a:prstGeom prst="roundRect">
            <a:avLst/>
          </a:prstGeom>
          <a:solidFill>
            <a:srgbClr val="153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617720" y="4023360"/>
            <a:ext cx="109728" cy="1828800"/>
          </a:xfrm>
          <a:prstGeom prst="rect">
            <a:avLst/>
          </a:prstGeom>
          <a:solidFill>
            <a:srgbClr val="3F7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92040" y="4343400"/>
            <a:ext cx="3017520" cy="914400"/>
          </a:xfrm>
          <a:prstGeom prst="rect">
            <a:avLst/>
          </a:prstGeom>
          <a:noFill/>
        </p:spPr>
        <p:txBody>
          <a:bodyPr wrap="square" anchor="t">
            <a:spAutoFit/>
          </a:bodyPr>
          <a:lstStyle/>
          <a:p>
            <a:pPr algn="l">
              <a:lnSpc>
                <a:spcPct val="100000"/>
              </a:lnSpc>
              <a:spcAft>
                <a:spcPts val="400"/>
              </a:spcAft>
            </a:pPr>
            <a:r>
              <a:rPr sz="3400" b="1">
                <a:solidFill>
                  <a:srgbClr val="E0B441"/>
                </a:solidFill>
                <a:latin typeface="Georgia"/>
              </a:rPr>
              <a:t>4.7</a:t>
            </a:r>
          </a:p>
        </p:txBody>
      </p:sp>
      <p:sp>
        <p:nvSpPr>
          <p:cNvPr id="24" name="TextBox 23"/>
          <p:cNvSpPr txBox="1"/>
          <p:nvPr/>
        </p:nvSpPr>
        <p:spPr>
          <a:xfrm>
            <a:off x="4910328" y="5257800"/>
            <a:ext cx="3017520" cy="548640"/>
          </a:xfrm>
          <a:prstGeom prst="rect">
            <a:avLst/>
          </a:prstGeom>
          <a:noFill/>
        </p:spPr>
        <p:txBody>
          <a:bodyPr wrap="square" anchor="t">
            <a:spAutoFit/>
          </a:bodyPr>
          <a:lstStyle/>
          <a:p>
            <a:pPr algn="l">
              <a:lnSpc>
                <a:spcPct val="100000"/>
              </a:lnSpc>
              <a:spcAft>
                <a:spcPts val="400"/>
              </a:spcAft>
            </a:pPr>
            <a:r>
              <a:rPr sz="1300" b="0">
                <a:solidFill>
                  <a:srgbClr val="9FB6C9"/>
                </a:solidFill>
                <a:latin typeface="Calibri"/>
              </a:rPr>
              <a:t>Star rating</a:t>
            </a:r>
          </a:p>
        </p:txBody>
      </p:sp>
      <p:sp>
        <p:nvSpPr>
          <p:cNvPr id="25" name="Rounded Rectangle 24"/>
          <p:cNvSpPr/>
          <p:nvPr/>
        </p:nvSpPr>
        <p:spPr>
          <a:xfrm>
            <a:off x="8366759" y="4023360"/>
            <a:ext cx="3474720" cy="1828800"/>
          </a:xfrm>
          <a:prstGeom prst="roundRect">
            <a:avLst/>
          </a:prstGeom>
          <a:solidFill>
            <a:srgbClr val="153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66759" y="4023360"/>
            <a:ext cx="109728" cy="1828800"/>
          </a:xfrm>
          <a:prstGeom prst="rect">
            <a:avLst/>
          </a:prstGeom>
          <a:solidFill>
            <a:srgbClr val="3F7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41080" y="4343400"/>
            <a:ext cx="3017520" cy="914400"/>
          </a:xfrm>
          <a:prstGeom prst="rect">
            <a:avLst/>
          </a:prstGeom>
          <a:noFill/>
        </p:spPr>
        <p:txBody>
          <a:bodyPr wrap="square" anchor="t">
            <a:spAutoFit/>
          </a:bodyPr>
          <a:lstStyle/>
          <a:p>
            <a:pPr algn="l">
              <a:lnSpc>
                <a:spcPct val="100000"/>
              </a:lnSpc>
              <a:spcAft>
                <a:spcPts val="400"/>
              </a:spcAft>
            </a:pPr>
            <a:r>
              <a:rPr sz="3400" b="1">
                <a:solidFill>
                  <a:srgbClr val="E0B441"/>
                </a:solidFill>
                <a:latin typeface="Georgia"/>
              </a:rPr>
              <a:t>340+</a:t>
            </a:r>
          </a:p>
        </p:txBody>
      </p:sp>
      <p:sp>
        <p:nvSpPr>
          <p:cNvPr id="28" name="TextBox 27"/>
          <p:cNvSpPr txBox="1"/>
          <p:nvPr/>
        </p:nvSpPr>
        <p:spPr>
          <a:xfrm>
            <a:off x="8659367" y="5257800"/>
            <a:ext cx="3017520" cy="548640"/>
          </a:xfrm>
          <a:prstGeom prst="rect">
            <a:avLst/>
          </a:prstGeom>
          <a:noFill/>
        </p:spPr>
        <p:txBody>
          <a:bodyPr wrap="square" anchor="t">
            <a:spAutoFit/>
          </a:bodyPr>
          <a:lstStyle/>
          <a:p>
            <a:pPr algn="l">
              <a:lnSpc>
                <a:spcPct val="100000"/>
              </a:lnSpc>
              <a:spcAft>
                <a:spcPts val="400"/>
              </a:spcAft>
            </a:pPr>
            <a:r>
              <a:rPr sz="1300" b="0">
                <a:solidFill>
                  <a:srgbClr val="9FB6C9"/>
                </a:solidFill>
                <a:latin typeface="Calibri"/>
              </a:rPr>
              <a:t>Neighbor reviews</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4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48640"/>
            <a:ext cx="10058400" cy="914400"/>
          </a:xfrm>
          <a:prstGeom prst="rect">
            <a:avLst/>
          </a:prstGeom>
          <a:noFill/>
        </p:spPr>
        <p:txBody>
          <a:bodyPr wrap="square" anchor="t">
            <a:spAutoFit/>
          </a:bodyPr>
          <a:lstStyle/>
          <a:p>
            <a:pPr algn="l">
              <a:lnSpc>
                <a:spcPct val="100000"/>
              </a:lnSpc>
              <a:spcAft>
                <a:spcPts val="400"/>
              </a:spcAft>
            </a:pPr>
            <a:r>
              <a:rPr sz="3000" b="1">
                <a:solidFill>
                  <a:srgbClr val="EAF1F7"/>
                </a:solidFill>
                <a:latin typeface="Georgia"/>
              </a:rPr>
              <a:t>Use of funds</a:t>
            </a:r>
          </a:p>
        </p:txBody>
      </p:sp>
      <p:sp>
        <p:nvSpPr>
          <p:cNvPr id="4" name="Rectangle 3"/>
          <p:cNvSpPr/>
          <p:nvPr/>
        </p:nvSpPr>
        <p:spPr>
          <a:xfrm>
            <a:off x="868680" y="1325880"/>
            <a:ext cx="1280160" cy="82296"/>
          </a:xfrm>
          <a:prstGeom prst="rect">
            <a:avLst/>
          </a:prstGeom>
          <a:solidFill>
            <a:srgbClr val="E0B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5486400" cy="548640"/>
          </a:xfrm>
          <a:prstGeom prst="rect">
            <a:avLst/>
          </a:prstGeom>
          <a:noFill/>
        </p:spPr>
        <p:txBody>
          <a:bodyPr wrap="square" anchor="t">
            <a:spAutoFit/>
          </a:bodyPr>
          <a:lstStyle/>
          <a:p>
            <a:pPr algn="l">
              <a:lnSpc>
                <a:spcPct val="100000"/>
              </a:lnSpc>
              <a:spcAft>
                <a:spcPts val="400"/>
              </a:spcAft>
            </a:pPr>
            <a:r>
              <a:rPr sz="1500" b="0">
                <a:solidFill>
                  <a:srgbClr val="9FB6C9"/>
                </a:solidFill>
                <a:latin typeface="Calibri"/>
              </a:rPr>
              <a:t>Total project cost: 50,000 dollars</a:t>
            </a:r>
          </a:p>
        </p:txBody>
      </p:sp>
      <p:graphicFrame>
        <p:nvGraphicFramePr>
          <p:cNvPr id="6" name="Chart 5"/>
          <p:cNvGraphicFramePr>
            <a:graphicFrameLocks noGrp="1"/>
          </p:cNvGraphicFramePr>
          <p:nvPr/>
        </p:nvGraphicFramePr>
        <p:xfrm>
          <a:off x="640080" y="2103120"/>
          <a:ext cx="5669280" cy="4206240"/>
        </p:xfrm>
        <a:graphic>
          <a:graphicData uri="http://schemas.openxmlformats.org/drawingml/2006/chart">
            <c:chart xmlns:c="http://schemas.openxmlformats.org/drawingml/2006/chart" r:id="rId2"/>
          </a:graphicData>
        </a:graphic>
      </p:graphicFrame>
      <p:sp>
        <p:nvSpPr>
          <p:cNvPr id="7" name="Rounded Rectangle 6"/>
          <p:cNvSpPr/>
          <p:nvPr/>
        </p:nvSpPr>
        <p:spPr>
          <a:xfrm>
            <a:off x="6858000" y="2194560"/>
            <a:ext cx="4663440" cy="3840480"/>
          </a:xfrm>
          <a:prstGeom prst="roundRect">
            <a:avLst/>
          </a:prstGeom>
          <a:solidFill>
            <a:srgbClr val="153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78040" y="2468880"/>
            <a:ext cx="4114800" cy="548640"/>
          </a:xfrm>
          <a:prstGeom prst="rect">
            <a:avLst/>
          </a:prstGeom>
          <a:noFill/>
        </p:spPr>
        <p:txBody>
          <a:bodyPr wrap="square" anchor="t">
            <a:spAutoFit/>
          </a:bodyPr>
          <a:lstStyle/>
          <a:p>
            <a:pPr algn="l">
              <a:lnSpc>
                <a:spcPct val="100000"/>
              </a:lnSpc>
              <a:spcAft>
                <a:spcPts val="400"/>
              </a:spcAft>
            </a:pPr>
            <a:r>
              <a:rPr sz="1800" b="1">
                <a:solidFill>
                  <a:srgbClr val="E0B441"/>
                </a:solidFill>
                <a:latin typeface="Calibri"/>
              </a:rPr>
              <a:t>Financing</a:t>
            </a:r>
          </a:p>
        </p:txBody>
      </p:sp>
      <p:sp>
        <p:nvSpPr>
          <p:cNvPr id="9" name="TextBox 8"/>
          <p:cNvSpPr txBox="1"/>
          <p:nvPr/>
        </p:nvSpPr>
        <p:spPr>
          <a:xfrm>
            <a:off x="7223760" y="3108960"/>
            <a:ext cx="2834640" cy="548640"/>
          </a:xfrm>
          <a:prstGeom prst="rect">
            <a:avLst/>
          </a:prstGeom>
          <a:noFill/>
        </p:spPr>
        <p:txBody>
          <a:bodyPr wrap="square" anchor="t">
            <a:spAutoFit/>
          </a:bodyPr>
          <a:lstStyle/>
          <a:p>
            <a:pPr algn="l">
              <a:lnSpc>
                <a:spcPct val="100000"/>
              </a:lnSpc>
              <a:spcAft>
                <a:spcPts val="400"/>
              </a:spcAft>
            </a:pPr>
            <a:r>
              <a:rPr sz="1400" b="0">
                <a:solidFill>
                  <a:srgbClr val="EAF1F7"/>
                </a:solidFill>
                <a:latin typeface="Calibri"/>
              </a:rPr>
              <a:t>SBA loan, pre-qualified</a:t>
            </a:r>
          </a:p>
        </p:txBody>
      </p:sp>
      <p:sp>
        <p:nvSpPr>
          <p:cNvPr id="10" name="TextBox 9"/>
          <p:cNvSpPr txBox="1"/>
          <p:nvPr/>
        </p:nvSpPr>
        <p:spPr>
          <a:xfrm>
            <a:off x="9692640" y="3108960"/>
            <a:ext cx="1645920" cy="548640"/>
          </a:xfrm>
          <a:prstGeom prst="rect">
            <a:avLst/>
          </a:prstGeom>
          <a:noFill/>
        </p:spPr>
        <p:txBody>
          <a:bodyPr wrap="square" anchor="t">
            <a:spAutoFit/>
          </a:bodyPr>
          <a:lstStyle/>
          <a:p>
            <a:pPr algn="r">
              <a:lnSpc>
                <a:spcPct val="100000"/>
              </a:lnSpc>
              <a:spcAft>
                <a:spcPts val="400"/>
              </a:spcAft>
            </a:pPr>
            <a:r>
              <a:rPr sz="1400" b="1">
                <a:solidFill>
                  <a:srgbClr val="EAF1F7"/>
                </a:solidFill>
                <a:latin typeface="Calibri"/>
              </a:rPr>
              <a:t>$45,000</a:t>
            </a:r>
          </a:p>
        </p:txBody>
      </p:sp>
      <p:sp>
        <p:nvSpPr>
          <p:cNvPr id="11" name="Rectangle 10"/>
          <p:cNvSpPr/>
          <p:nvPr/>
        </p:nvSpPr>
        <p:spPr>
          <a:xfrm>
            <a:off x="7223760" y="3657600"/>
            <a:ext cx="4023360" cy="18288"/>
          </a:xfrm>
          <a:prstGeom prst="rect">
            <a:avLst/>
          </a:prstGeom>
          <a:solidFill>
            <a:srgbClr val="2A4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3760" y="3886200"/>
            <a:ext cx="2834640" cy="548640"/>
          </a:xfrm>
          <a:prstGeom prst="rect">
            <a:avLst/>
          </a:prstGeom>
          <a:noFill/>
        </p:spPr>
        <p:txBody>
          <a:bodyPr wrap="square" anchor="t">
            <a:spAutoFit/>
          </a:bodyPr>
          <a:lstStyle/>
          <a:p>
            <a:pPr algn="l">
              <a:lnSpc>
                <a:spcPct val="100000"/>
              </a:lnSpc>
              <a:spcAft>
                <a:spcPts val="400"/>
              </a:spcAft>
            </a:pPr>
            <a:r>
              <a:rPr sz="1400" b="0">
                <a:solidFill>
                  <a:srgbClr val="EAF1F7"/>
                </a:solidFill>
                <a:latin typeface="Calibri"/>
              </a:rPr>
              <a:t>Owner contribution</a:t>
            </a:r>
          </a:p>
        </p:txBody>
      </p:sp>
      <p:sp>
        <p:nvSpPr>
          <p:cNvPr id="13" name="TextBox 12"/>
          <p:cNvSpPr txBox="1"/>
          <p:nvPr/>
        </p:nvSpPr>
        <p:spPr>
          <a:xfrm>
            <a:off x="9692640" y="3886200"/>
            <a:ext cx="1645920" cy="548640"/>
          </a:xfrm>
          <a:prstGeom prst="rect">
            <a:avLst/>
          </a:prstGeom>
          <a:noFill/>
        </p:spPr>
        <p:txBody>
          <a:bodyPr wrap="square" anchor="t">
            <a:spAutoFit/>
          </a:bodyPr>
          <a:lstStyle/>
          <a:p>
            <a:pPr algn="r">
              <a:lnSpc>
                <a:spcPct val="100000"/>
              </a:lnSpc>
              <a:spcAft>
                <a:spcPts val="400"/>
              </a:spcAft>
            </a:pPr>
            <a:r>
              <a:rPr sz="1400" b="1">
                <a:solidFill>
                  <a:srgbClr val="EAF1F7"/>
                </a:solidFill>
                <a:latin typeface="Calibri"/>
              </a:rPr>
              <a:t>$5,000</a:t>
            </a:r>
          </a:p>
        </p:txBody>
      </p:sp>
      <p:sp>
        <p:nvSpPr>
          <p:cNvPr id="14" name="Rectangle 13"/>
          <p:cNvSpPr/>
          <p:nvPr/>
        </p:nvSpPr>
        <p:spPr>
          <a:xfrm>
            <a:off x="7223760" y="4434840"/>
            <a:ext cx="4023360" cy="18288"/>
          </a:xfrm>
          <a:prstGeom prst="rect">
            <a:avLst/>
          </a:prstGeom>
          <a:solidFill>
            <a:srgbClr val="2A4A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0" y="4663440"/>
            <a:ext cx="2834640" cy="548640"/>
          </a:xfrm>
          <a:prstGeom prst="rect">
            <a:avLst/>
          </a:prstGeom>
          <a:noFill/>
        </p:spPr>
        <p:txBody>
          <a:bodyPr wrap="square" anchor="t">
            <a:spAutoFit/>
          </a:bodyPr>
          <a:lstStyle/>
          <a:p>
            <a:pPr algn="l">
              <a:lnSpc>
                <a:spcPct val="100000"/>
              </a:lnSpc>
              <a:spcAft>
                <a:spcPts val="400"/>
              </a:spcAft>
            </a:pPr>
            <a:r>
              <a:rPr sz="1400" b="1">
                <a:solidFill>
                  <a:srgbClr val="EAF1F7"/>
                </a:solidFill>
                <a:latin typeface="Calibri"/>
              </a:rPr>
              <a:t>Total project</a:t>
            </a:r>
          </a:p>
        </p:txBody>
      </p:sp>
      <p:sp>
        <p:nvSpPr>
          <p:cNvPr id="16" name="TextBox 15"/>
          <p:cNvSpPr txBox="1"/>
          <p:nvPr/>
        </p:nvSpPr>
        <p:spPr>
          <a:xfrm>
            <a:off x="9692640" y="4663440"/>
            <a:ext cx="1645920" cy="548640"/>
          </a:xfrm>
          <a:prstGeom prst="rect">
            <a:avLst/>
          </a:prstGeom>
          <a:noFill/>
        </p:spPr>
        <p:txBody>
          <a:bodyPr wrap="square" anchor="t">
            <a:spAutoFit/>
          </a:bodyPr>
          <a:lstStyle/>
          <a:p>
            <a:pPr algn="r">
              <a:lnSpc>
                <a:spcPct val="100000"/>
              </a:lnSpc>
              <a:spcAft>
                <a:spcPts val="400"/>
              </a:spcAft>
            </a:pPr>
            <a:r>
              <a:rPr sz="1400" b="1">
                <a:solidFill>
                  <a:srgbClr val="E0B441"/>
                </a:solidFill>
                <a:latin typeface="Calibri"/>
              </a:rPr>
              <a:t>$50,000</a:t>
            </a:r>
          </a:p>
        </p:txBody>
      </p:sp>
      <p:sp>
        <p:nvSpPr>
          <p:cNvPr id="17" name="TextBox 16"/>
          <p:cNvSpPr txBox="1"/>
          <p:nvPr/>
        </p:nvSpPr>
        <p:spPr>
          <a:xfrm>
            <a:off x="7223760" y="5486400"/>
            <a:ext cx="4023360" cy="548640"/>
          </a:xfrm>
          <a:prstGeom prst="rect">
            <a:avLst/>
          </a:prstGeom>
          <a:noFill/>
        </p:spPr>
        <p:txBody>
          <a:bodyPr wrap="square" anchor="t">
            <a:spAutoFit/>
          </a:bodyPr>
          <a:lstStyle/>
          <a:p>
            <a:pPr algn="l">
              <a:lnSpc>
                <a:spcPct val="100000"/>
              </a:lnSpc>
              <a:spcAft>
                <a:spcPts val="400"/>
              </a:spcAft>
            </a:pPr>
            <a:r>
              <a:rPr sz="1200" b="0">
                <a:solidFill>
                  <a:srgbClr val="9FB6C9"/>
                </a:solidFill>
                <a:latin typeface="Calibri"/>
              </a:rPr>
              <a:t>Final financials due October 15, 2026.</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4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48640"/>
            <a:ext cx="10058400" cy="914400"/>
          </a:xfrm>
          <a:prstGeom prst="rect">
            <a:avLst/>
          </a:prstGeom>
          <a:noFill/>
        </p:spPr>
        <p:txBody>
          <a:bodyPr wrap="square" anchor="t">
            <a:spAutoFit/>
          </a:bodyPr>
          <a:lstStyle/>
          <a:p>
            <a:pPr algn="l">
              <a:lnSpc>
                <a:spcPct val="100000"/>
              </a:lnSpc>
              <a:spcAft>
                <a:spcPts val="400"/>
              </a:spcAft>
            </a:pPr>
            <a:r>
              <a:rPr sz="3000" b="1">
                <a:solidFill>
                  <a:srgbClr val="EAF1F7"/>
                </a:solidFill>
                <a:latin typeface="Georgia"/>
              </a:rPr>
              <a:t>Revenue holds steady</a:t>
            </a:r>
          </a:p>
        </p:txBody>
      </p:sp>
      <p:sp>
        <p:nvSpPr>
          <p:cNvPr id="4" name="Rectangle 3"/>
          <p:cNvSpPr/>
          <p:nvPr/>
        </p:nvSpPr>
        <p:spPr>
          <a:xfrm>
            <a:off x="868680" y="1325880"/>
            <a:ext cx="1280160" cy="82296"/>
          </a:xfrm>
          <a:prstGeom prst="rect">
            <a:avLst/>
          </a:prstGeom>
          <a:solidFill>
            <a:srgbClr val="E0B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10058400" cy="548640"/>
          </a:xfrm>
          <a:prstGeom prst="rect">
            <a:avLst/>
          </a:prstGeom>
          <a:noFill/>
        </p:spPr>
        <p:txBody>
          <a:bodyPr wrap="square" anchor="t">
            <a:spAutoFit/>
          </a:bodyPr>
          <a:lstStyle/>
          <a:p>
            <a:pPr algn="l">
              <a:lnSpc>
                <a:spcPct val="100000"/>
              </a:lnSpc>
              <a:spcAft>
                <a:spcPts val="400"/>
              </a:spcAft>
            </a:pPr>
            <a:r>
              <a:rPr sz="1500" b="0">
                <a:solidFill>
                  <a:srgbClr val="9FB6C9"/>
                </a:solidFill>
                <a:latin typeface="Calibri"/>
              </a:rPr>
              <a:t>Trailing six months, in thousands of dollars</a:t>
            </a:r>
          </a:p>
        </p:txBody>
      </p:sp>
      <p:graphicFrame>
        <p:nvGraphicFramePr>
          <p:cNvPr id="6" name="Chart 5"/>
          <p:cNvGraphicFramePr>
            <a:graphicFrameLocks noGrp="1"/>
          </p:cNvGraphicFramePr>
          <p:nvPr/>
        </p:nvGraphicFramePr>
        <p:xfrm>
          <a:off x="640080" y="2103120"/>
          <a:ext cx="10972800" cy="4206240"/>
        </p:xfrm>
        <a:graphic>
          <a:graphicData uri="http://schemas.openxmlformats.org/drawingml/2006/chart">
            <c:chart xmlns:c="http://schemas.openxmlformats.org/drawingml/2006/chart" r:id="rId2"/>
          </a:graphicData>
        </a:graphic>
      </p:graphicFrame>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4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463040" y="4206240"/>
            <a:ext cx="4206240" cy="4206240"/>
          </a:xfrm>
          <a:prstGeom prst="ellipse">
            <a:avLst/>
          </a:prstGeom>
          <a:solidFill>
            <a:srgbClr val="1531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103120"/>
            <a:ext cx="10332720" cy="914400"/>
          </a:xfrm>
          <a:prstGeom prst="rect">
            <a:avLst/>
          </a:prstGeom>
          <a:noFill/>
        </p:spPr>
        <p:txBody>
          <a:bodyPr wrap="square" anchor="t">
            <a:spAutoFit/>
          </a:bodyPr>
          <a:lstStyle/>
          <a:p>
            <a:pPr algn="l">
              <a:lnSpc>
                <a:spcPct val="100000"/>
              </a:lnSpc>
              <a:spcAft>
                <a:spcPts val="400"/>
              </a:spcAft>
            </a:pPr>
            <a:r>
              <a:rPr sz="1800" b="1">
                <a:solidFill>
                  <a:srgbClr val="E0B441"/>
                </a:solidFill>
                <a:latin typeface="Calibri"/>
              </a:rPr>
              <a:t>The ask</a:t>
            </a:r>
          </a:p>
        </p:txBody>
      </p:sp>
      <p:sp>
        <p:nvSpPr>
          <p:cNvPr id="5" name="TextBox 4"/>
          <p:cNvSpPr txBox="1"/>
          <p:nvPr/>
        </p:nvSpPr>
        <p:spPr>
          <a:xfrm>
            <a:off x="914400" y="2560320"/>
            <a:ext cx="10332720" cy="1828800"/>
          </a:xfrm>
          <a:prstGeom prst="rect">
            <a:avLst/>
          </a:prstGeom>
          <a:noFill/>
        </p:spPr>
        <p:txBody>
          <a:bodyPr wrap="square" anchor="t">
            <a:spAutoFit/>
          </a:bodyPr>
          <a:lstStyle/>
          <a:p>
            <a:pPr algn="l">
              <a:lnSpc>
                <a:spcPct val="105000"/>
              </a:lnSpc>
              <a:spcAft>
                <a:spcPts val="400"/>
              </a:spcAft>
            </a:pPr>
            <a:r>
              <a:rPr sz="3000" b="1">
                <a:solidFill>
                  <a:srgbClr val="EAF1F7"/>
                </a:solidFill>
                <a:latin typeface="Georgia"/>
              </a:rPr>
              <a:t>A 45,000 dollar SBA term loan to add the third bay and a second technician.</a:t>
            </a:r>
          </a:p>
        </p:txBody>
      </p:sp>
      <p:sp>
        <p:nvSpPr>
          <p:cNvPr id="6" name="TextBox 5"/>
          <p:cNvSpPr txBox="1"/>
          <p:nvPr/>
        </p:nvSpPr>
        <p:spPr>
          <a:xfrm>
            <a:off x="914400" y="4297680"/>
            <a:ext cx="10332720" cy="1280160"/>
          </a:xfrm>
          <a:prstGeom prst="rect">
            <a:avLst/>
          </a:prstGeom>
          <a:noFill/>
        </p:spPr>
        <p:txBody>
          <a:bodyPr wrap="square" anchor="t">
            <a:spAutoFit/>
          </a:bodyPr>
          <a:lstStyle/>
          <a:p>
            <a:pPr algn="l">
              <a:lnSpc>
                <a:spcPct val="115000"/>
              </a:lnSpc>
              <a:spcAft>
                <a:spcPts val="400"/>
              </a:spcAft>
            </a:pPr>
            <a:r>
              <a:rPr sz="1600" b="0">
                <a:solidFill>
                  <a:srgbClr val="9FB6C9"/>
                </a:solidFill>
                <a:latin typeface="Calibri"/>
              </a:rPr>
              <a:t>Projected to lift monthly revenue 6,000 to 8,000 dollars once the new bay is fully booked, well inside current cash flow. Same promise my father made in 1998, honest work at a fair price, for more of our neighbors.</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Hayes Auto Works Third Bay Expansion</dc:title>
  <dc:subject/>
  <dc:creator>David Hayes</dc:creator>
  <cp:keywords/>
  <dc:description/>
  <cp:lastModifiedBy>David Hayes</cp:lastModifiedBy>
  <cp:revision>1</cp:revision>
  <dcterms:created xsi:type="dcterms:W3CDTF">2013-01-27T09:14:16Z</dcterms:created>
  <dcterms:modified xsi:type="dcterms:W3CDTF">2013-01-27T09:15:58Z</dcterms:modified>
  <cp:category/>
</cp:coreProperties>
</file>