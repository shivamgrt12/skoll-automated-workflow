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82296"/>
          </a:xfrm>
          <a:prstGeom prst="rect">
            <a:avLst/>
          </a:prstGeom>
          <a:solidFill>
            <a:srgbClr val="D97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Calibri"/>
              </a:rPr>
              <a:t>Concierge Desk Performance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8346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D9E6E8"/>
                </a:solidFill>
                <a:latin typeface="Calibri"/>
              </a:rPr>
              <a:t>Fiscal Year 2025. Prepared for James Whitfield, Director of Guest Services.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8006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D9E6E8"/>
                </a:solidFill>
                <a:latin typeface="Calibri"/>
              </a:rPr>
              <a:t>Elizabeth Robles, Senior Concierge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D97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The Year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13232"/>
            <a:ext cx="11155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D9E6E8"/>
                </a:solidFill>
                <a:latin typeface="Calibri"/>
              </a:rPr>
              <a:t>Four numbers that summarize the desk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274320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109728" cy="1645920"/>
          </a:xfrm>
          <a:prstGeom prst="rect">
            <a:avLst/>
          </a:prstGeom>
          <a:solidFill>
            <a:srgbClr val="D97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709928"/>
            <a:ext cx="23317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1F6F78"/>
                </a:solidFill>
                <a:latin typeface="Calibri"/>
              </a:rPr>
              <a:t>4.9 /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54833"/>
            <a:ext cx="2286000" cy="62544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>
                <a:solidFill>
                  <a:srgbClr val="3A4750"/>
                </a:solidFill>
                <a:latin typeface="Calibri"/>
              </a:rPr>
              <a:t>Average VIP guest satisfaction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600200"/>
            <a:ext cx="274320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9000" y="1600200"/>
            <a:ext cx="109728" cy="1645920"/>
          </a:xfrm>
          <a:prstGeom prst="rect">
            <a:avLst/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85032" y="1709928"/>
            <a:ext cx="23317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1F6F78"/>
                </a:solidFill>
                <a:latin typeface="Calibri"/>
              </a:rPr>
              <a:t>1,268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554833"/>
            <a:ext cx="2286000" cy="62544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>
                <a:solidFill>
                  <a:srgbClr val="3A4750"/>
                </a:solidFill>
                <a:latin typeface="Calibri"/>
              </a:rPr>
              <a:t>VIP requests fulfilled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600200"/>
            <a:ext cx="274320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1600200"/>
            <a:ext cx="109728" cy="1645920"/>
          </a:xfrm>
          <a:prstGeom prst="rect">
            <a:avLst/>
          </a:prstGeom>
          <a:solidFill>
            <a:srgbClr val="C9A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11112" y="1709928"/>
            <a:ext cx="23317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1F6F78"/>
                </a:solidFill>
                <a:latin typeface="Calibri"/>
              </a:rPr>
              <a:t>Exceeds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2554833"/>
            <a:ext cx="2286000" cy="62544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>
                <a:solidFill>
                  <a:srgbClr val="3A4750"/>
                </a:solidFill>
                <a:latin typeface="Calibri"/>
              </a:rPr>
              <a:t>Annual rating from the director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81160" y="1600200"/>
            <a:ext cx="242316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81160" y="1600200"/>
            <a:ext cx="109728" cy="1645920"/>
          </a:xfrm>
          <a:prstGeom prst="rect">
            <a:avLst/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37192" y="1709928"/>
            <a:ext cx="2011679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1F6F78"/>
                </a:solidFill>
                <a:latin typeface="Calibri"/>
              </a:rPr>
              <a:t>16th yr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55480" y="2554833"/>
            <a:ext cx="1965960" cy="62544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>
                <a:solidFill>
                  <a:srgbClr val="3A4750"/>
                </a:solidFill>
                <a:latin typeface="Calibri"/>
              </a:rPr>
              <a:t>Tenure on property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657600"/>
            <a:ext cx="111556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262B30"/>
                </a:solidFill>
                <a:latin typeface="Calibri"/>
              </a:rPr>
              <a:t>The desk carried the heaviest VIP load through the marquee art fair in December and the holiday peak without a single escalation reaching the director's office. Latin American and European guest relationships continued to grow on the strength of bilingual service.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Source, concierge desk logs and guest satisfaction surveys, FY2025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D97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Guest Satisfaction Held High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13232"/>
            <a:ext cx="11155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D9E6E8"/>
                </a:solidFill>
                <a:latin typeface="Calibri"/>
              </a:rPr>
              <a:t>Steady through the busiest months</a:t>
            </a:r>
          </a:p>
        </p:txBody>
      </p:sp>
      <p:pic>
        <p:nvPicPr>
          <p:cNvPr id="6" name="Picture 5" descr="kpi_s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7315200" cy="34530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0" y="1828800"/>
            <a:ext cx="338328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262B30"/>
                </a:solidFill>
                <a:latin typeface="Calibri"/>
              </a:rPr>
              <a:t>Satisfaction never dipped below 4.6 and closed the year at a full 5.0 in December, the single busiest month.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600" b="0">
                <a:solidFill>
                  <a:srgbClr val="262B30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6B7280"/>
                </a:solidFill>
                <a:latin typeface="Calibri"/>
              </a:rPr>
              <a:t>Lowest months still tracked above the property target of 4.5.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Scores collected from post stay VIP surveys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D97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Where the Work Goes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13232"/>
            <a:ext cx="11155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D9E6E8"/>
                </a:solidFill>
                <a:latin typeface="Calibri"/>
              </a:rPr>
              <a:t>Volume by category and guest origin</a:t>
            </a:r>
          </a:p>
        </p:txBody>
      </p:sp>
      <p:pic>
        <p:nvPicPr>
          <p:cNvPr id="6" name="Picture 5" descr="kpi_v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6126480" cy="2875122"/>
          </a:xfrm>
          <a:prstGeom prst="rect">
            <a:avLst/>
          </a:prstGeom>
        </p:spPr>
      </p:pic>
      <p:pic>
        <p:nvPicPr>
          <p:cNvPr id="7" name="Picture 6" descr="kpi_reg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554480"/>
            <a:ext cx="4846320" cy="369666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Dining and transport remain the backbone of daily requests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D97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A Seasonal Business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13232"/>
            <a:ext cx="11155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D9E6E8"/>
                </a:solidFill>
                <a:latin typeface="Calibri"/>
              </a:rPr>
              <a:t>Peak season runs December through April</a:t>
            </a:r>
          </a:p>
        </p:txBody>
      </p:sp>
      <p:pic>
        <p:nvPicPr>
          <p:cNvPr id="6" name="Picture 5" descr="kpi_sea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54480"/>
            <a:ext cx="7498079" cy="309957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03920" y="1828800"/>
            <a:ext cx="329184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262B30"/>
                </a:solidFill>
                <a:latin typeface="Calibri"/>
              </a:rPr>
              <a:t>the marquee art fair in December and the snowbird and spring break months drive the heaviest load.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600" b="0">
                <a:solidFill>
                  <a:srgbClr val="262B30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6B7280"/>
                </a:solidFill>
                <a:latin typeface="Calibri"/>
              </a:rPr>
              <a:t>Summer brings a different mix, more Latin American and European family travel.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Staffing and coverage planned around this curve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D97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Goals for FY2026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13232"/>
            <a:ext cx="11155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D9E6E8"/>
                </a:solidFill>
                <a:latin typeface="Calibri"/>
              </a:rPr>
              <a:t>Building on a strong year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45920"/>
            <a:ext cx="109728" cy="1143000"/>
          </a:xfrm>
          <a:prstGeom prst="rect">
            <a:avLst/>
          </a:prstGeom>
          <a:solidFill>
            <a:srgbClr val="D97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F6F78"/>
                </a:solidFill>
                <a:latin typeface="Calibri"/>
              </a:rPr>
              <a:t>Pre arrival profiles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262B30"/>
                </a:solidFill>
                <a:latin typeface="Calibri"/>
              </a:rPr>
              <a:t>Pilot a VIP pre arrival profile system so repeat guests are known before they walk in.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063240"/>
            <a:ext cx="109728" cy="1143000"/>
          </a:xfrm>
          <a:prstGeom prst="rect">
            <a:avLst/>
          </a:prstGeom>
          <a:solidFill>
            <a:srgbClr val="D97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10896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F6F78"/>
                </a:solidFill>
                <a:latin typeface="Calibri"/>
              </a:rPr>
              <a:t>Cross train the bench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52044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262B30"/>
                </a:solidFill>
                <a:latin typeface="Calibri"/>
              </a:rPr>
              <a:t>Bring two junior concierges up on luxury vendor sourcing to protect coverage.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480560"/>
            <a:ext cx="109728" cy="1143000"/>
          </a:xfrm>
          <a:prstGeom prst="rect">
            <a:avLst/>
          </a:prstGeom>
          <a:solidFill>
            <a:srgbClr val="D97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52628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F6F78"/>
                </a:solidFill>
                <a:latin typeface="Calibri"/>
              </a:rPr>
              <a:t>A leadership track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262B30"/>
                </a:solidFill>
                <a:latin typeface="Calibri"/>
              </a:rPr>
              <a:t>Open a formal path toward a lead or assistant manager role by the midyear review.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Discussed and agreed in the October performance 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