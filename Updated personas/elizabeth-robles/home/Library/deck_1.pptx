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x.jpg"/>
          <p:cNvPicPr>
            <a:picLocks noChangeAspect="1"/>
          </p:cNvPicPr>
          <p:nvPr/>
        </p:nvPicPr>
        <p:blipFill>
          <a:blip r:embed="rId2"/>
          <a:srcRect t="27509" b="2750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Signature Miami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D9E6E8"/>
                </a:solidFill>
                <a:latin typeface="Calibri"/>
              </a:rPr>
              <a:t>Curated for a VIP guest, party of four. Palmetto Grand Resort and Spa.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069080"/>
            <a:ext cx="2011680" cy="4572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D9E6E8"/>
                </a:solidFill>
                <a:latin typeface="Calibri"/>
              </a:rPr>
              <a:t>Prepared by Elizabeth Robles, Senior Concierge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What this guest is really asking for</a:t>
            </a:r>
          </a:p>
        </p:txBody>
      </p:sp>
      <p:pic>
        <p:nvPicPr>
          <p:cNvPr id="6" name="Picture 5" descr="1x.png"/>
          <p:cNvPicPr>
            <a:picLocks noChangeAspect="1"/>
          </p:cNvPicPr>
          <p:nvPr/>
        </p:nvPicPr>
        <p:blipFill>
          <a:blip r:embed="rId2"/>
          <a:srcRect t="17576" b="17576"/>
          <a:stretch>
            <a:fillRect/>
          </a:stretch>
        </p:blipFill>
        <p:spPr>
          <a:xfrm>
            <a:off x="7772400" y="1417320"/>
            <a:ext cx="39319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716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9734E"/>
                </a:solidFill>
                <a:latin typeface="Calibri"/>
              </a:rPr>
              <a:t>Read the guest, not just the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766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•  Four nights in an oceanfront penthouse, arriving on a Thursday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•  Waterfront dining every evening, privacy over being seen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•  One guest in the party avoids shellfish entirely, no exceptions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•  Seamless private transport, airport to suite to every reservation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•  A half day on the water, calm and unhurried, catering aboard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•  A personal shopping afternoon before departure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Palmetto Grand Resort and Spa  |  Concierge Desk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Four Days, Designed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A rhythm of arrival, escape, celebration, and farewell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97480" cy="56692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Thursday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2140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49424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D9734E"/>
                </a:solidFill>
                <a:latin typeface="Calibri"/>
              </a:rPr>
              <a:t>Arrival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236829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62B30"/>
                </a:solidFill>
                <a:latin typeface="Calibri"/>
              </a:rPr>
              <a:t>Private car at the gate, chilled Albarino in suite. Waterfront table for four at eight, shellfish noted.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554480"/>
            <a:ext cx="2697480" cy="56692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591056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Friday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212140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249424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D9734E"/>
                </a:solidFill>
                <a:latin typeface="Calibri"/>
              </a:rPr>
              <a:t>On the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697480"/>
            <a:ext cx="236829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62B30"/>
                </a:solidFill>
                <a:latin typeface="Calibri"/>
              </a:rPr>
              <a:t>Half day private yacht, crew of two, catering by request. Open fire chef counter that evening.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554480"/>
            <a:ext cx="2697480" cy="56692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591056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Saturday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212140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249424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D9734E"/>
                </a:solidFill>
                <a:latin typeface="Calibri"/>
              </a:rPr>
              <a:t>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697480"/>
            <a:ext cx="236829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62B30"/>
                </a:solidFill>
                <a:latin typeface="Calibri"/>
              </a:rPr>
              <a:t>Couples spa in the two quietest rooms. A held table and bottle service for a later night 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554480"/>
            <a:ext cx="2697480" cy="56692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591056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Sunday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212140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249424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D9734E"/>
                </a:solidFill>
                <a:latin typeface="Calibri"/>
              </a:rPr>
              <a:t>Farewell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697480"/>
            <a:ext cx="236829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262B30"/>
                </a:solidFill>
                <a:latin typeface="Calibri"/>
              </a:rPr>
              <a:t>A slow morning, personal shopping with a briefed stylist, then a private transfer to the airport.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All confirmations routed through the concierge desk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On the Water and at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A short, vetted list, held with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9734E"/>
                </a:solidFill>
                <a:latin typeface="Calibri"/>
              </a:rPr>
              <a:t>Dining, by mood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486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Bayfront Beach Club, sunset and easy elegance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Fuego Parrilla, open fire, a real occasion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Habana Vieja, the classic Cuban table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A held South Beach room for a late 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9734E"/>
                </a:solidFill>
                <a:latin typeface="Calibri"/>
              </a:rPr>
              <a:t>On the water and beyond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5486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Sixty two foot motor yacht, crew of two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Sunset bay tour or a run to the Keys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•  Couples spa, rooms four and five</a:t>
            </a:r>
          </a:p>
        </p:txBody>
      </p:sp>
      <p:pic>
        <p:nvPicPr>
          <p:cNvPr id="10" name="Picture 9" descr="img_2.jpg"/>
          <p:cNvPicPr>
            <a:picLocks noChangeAspect="1"/>
          </p:cNvPicPr>
          <p:nvPr/>
        </p:nvPicPr>
        <p:blipFill>
          <a:blip r:embed="rId2"/>
          <a:srcRect t="20748" b="20748"/>
          <a:stretch>
            <a:fillRect/>
          </a:stretch>
        </p:blipFill>
        <p:spPr>
          <a:xfrm>
            <a:off x="6492240" y="1417320"/>
            <a:ext cx="521208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Vendors held to allergy aware standards, no shellfish aboard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Transparent, itemized, suite billed separately</a:t>
            </a:r>
          </a:p>
        </p:txBody>
      </p:sp>
      <p:pic>
        <p:nvPicPr>
          <p:cNvPr id="6" name="Picture 5" descr="prop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49440" cy="30048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840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645920"/>
            <a:ext cx="109728" cy="13716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755648"/>
            <a:ext cx="3429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$8,900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441448"/>
            <a:ext cx="33832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Estimated experience total, four nights, excluding suite and gratuities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20040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3200400"/>
            <a:ext cx="109728" cy="128016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3310128"/>
            <a:ext cx="3429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$1,640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942892"/>
            <a:ext cx="3383280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Comparable Havana family package, for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663440"/>
            <a:ext cx="3840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62B30"/>
                </a:solidFill>
                <a:latin typeface="Calibri"/>
              </a:rPr>
              <a:t>Every line is sourced from vetted vendors and confirmed before arrival. Adjustments are simple once we know the party.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Figures are estimates for planning and may shift with season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This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Sixteen years of getting the details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" cy="155448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64207"/>
            <a:ext cx="3246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16 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6078"/>
            <a:ext cx="3200400" cy="5907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On property, most senior of six concierges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109728" cy="155448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64207"/>
            <a:ext cx="3246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4.9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56078"/>
            <a:ext cx="3200400" cy="5907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Average VIP guest satisfaction,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54480"/>
            <a:ext cx="109728" cy="1554480"/>
          </a:xfrm>
          <a:prstGeom prst="rect">
            <a:avLst/>
          </a:prstGeom>
          <a:solidFill>
            <a:srgbClr val="C9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664207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56078"/>
            <a:ext cx="3063240" cy="5907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From yacht charters to the quiet table no one else can 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6616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1">
                <a:solidFill>
                  <a:srgbClr val="1F6F78"/>
                </a:solidFill>
                <a:latin typeface="Calibri"/>
              </a:rPr>
              <a:t>Tell me the kind of night you want, not just where you want to go, and I will get the rest right.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A4750"/>
                </a:solidFill>
                <a:latin typeface="Calibri"/>
              </a:rPr>
              <a:t>Elizabeth Robles, Senior Concierge. Direct line (305) 555-0118.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Palmetto Grand Resort and Spa, 1800 Oceanfront Promenade, Miami Beach, FL 33139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