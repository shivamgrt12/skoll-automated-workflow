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Gym</c:v>
                </c:pt>
                <c:pt idx="1">
                  <c:v>Boiler</c:v>
                </c:pt>
                <c:pt idx="2">
                  <c:v>Classrooms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100</c:v>
                </c:pt>
                <c:pt idx="2">
                  <c:v>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475569"/>
                </a:solidFill>
                <a:latin typeface="Arial"/>
              </a:defRPr>
            </a:pPr>
            <a:r>
              <a:t>Aberdeen Central High Custodial Plan</a:t>
            </a:r>
          </a:p>
          <a:p>
            <a:pPr>
              <a:defRPr sz="2000">
                <a:solidFill>
                  <a:srgbClr val="1C1917"/>
                </a:solidFill>
                <a:latin typeface="Arial"/>
              </a:defRPr>
            </a:pPr>
            <a:r>
              <a:t>Operational Overview &amp; Planning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Operational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475569"/>
                </a:solidFill>
                <a:latin typeface="Arial"/>
              </a:defRPr>
            </a:pPr>
            <a:r>
              <a:t>38 Yrs</a:t>
            </a:r>
          </a:p>
          <a:p>
            <a:pPr>
              <a:spcAft>
                <a:spcPts val="800"/>
              </a:spcAft>
              <a:defRPr sz="1400" b="1">
                <a:solidFill>
                  <a:srgbClr val="1C1917"/>
                </a:solidFill>
                <a:latin typeface="Arial"/>
              </a:defRPr>
            </a:pPr>
            <a:r>
              <a:t>Work Service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Custodial tenure at High School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475569"/>
                </a:solidFill>
                <a:latin typeface="Arial"/>
              </a:defRPr>
            </a:pPr>
            <a:r>
              <a:t>8 Psi</a:t>
            </a:r>
          </a:p>
          <a:p>
            <a:pPr>
              <a:spcAft>
                <a:spcPts val="800"/>
              </a:spcAft>
              <a:defRPr sz="1400" b="1">
                <a:solidFill>
                  <a:srgbClr val="1C1917"/>
                </a:solidFill>
                <a:latin typeface="Arial"/>
              </a:defRPr>
            </a:pPr>
            <a:r>
              <a:t>Boiler Limit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Steam system operating pressure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475569"/>
                </a:solidFill>
                <a:latin typeface="Arial"/>
              </a:defRPr>
            </a:pPr>
            <a:r>
              <a:t>100%</a:t>
            </a:r>
          </a:p>
          <a:p>
            <a:pPr>
              <a:spcAft>
                <a:spcPts val="800"/>
              </a:spcAft>
              <a:defRPr sz="1400" b="1">
                <a:solidFill>
                  <a:srgbClr val="1C1917"/>
                </a:solidFill>
                <a:latin typeface="Arial"/>
              </a:defRPr>
            </a:pPr>
            <a:r>
              <a:t>Inspection Score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State safety compliance certification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75569"/>
                </a:solidFill>
                <a:latin typeface="Arial"/>
              </a:defRPr>
            </a:pPr>
            <a:r>
              <a:t>Strategic Impact Analysis: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Proactive mechanical checks prevent steam system failures and wood floor decay in high-traffic gymnasiums.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Core Operational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10972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1: Boiler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rial"/>
              </a:defRPr>
            </a:pPr>
            <a:r>
              <a:t>Verify water level in the sight glass before burner ignition.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Maintain 8 psi limit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4680" y="2057400"/>
            <a:ext cx="228600" cy="274320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377440" cy="10972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2: Gym Buffing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rial"/>
              </a:defRPr>
            </a:pPr>
            <a:r>
              <a:t>Polishing the maple wood floor with fine pad buffers.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Microfiber dust sweeps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2160" y="2057400"/>
            <a:ext cx="228600" cy="274320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377440" cy="10972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3: Security Sweep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rial"/>
              </a:defRPr>
            </a:pPr>
            <a:r>
              <a:t>Inspect exterior lock systems and latch bolts.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Log entry keys in office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Operations Performance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Performance Data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Vat/Location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Duty Cycle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Assigned Staff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Boiler Room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Daily pressure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Gary Pittman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Optimal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Gym 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Weekly polish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Gary Pittman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HVAC 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Monthly replacement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Gary Pittman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Project Milestones &amp;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7680960" cy="36576"/>
          </a:xfrm>
          <a:prstGeom prst="rect">
            <a:avLst/>
          </a:prstGeom>
          <a:solidFill>
            <a:srgbClr val="D2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October 2025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Boiler startup and venting check</a:t>
            </a:r>
          </a:p>
        </p:txBody>
      </p:sp>
      <p:sp>
        <p:nvSpPr>
          <p:cNvPr id="8" name="Oval 7"/>
          <p:cNvSpPr/>
          <p:nvPr/>
        </p:nvSpPr>
        <p:spPr>
          <a:xfrm>
            <a:off x="30815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February 2026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Mid-winter mechanical audit</a:t>
            </a:r>
          </a:p>
        </p:txBody>
      </p:sp>
      <p:sp>
        <p:nvSpPr>
          <p:cNvPr id="10" name="Oval 9"/>
          <p:cNvSpPr/>
          <p:nvPr/>
        </p:nvSpPr>
        <p:spPr>
          <a:xfrm>
            <a:off x="51389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October 2026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Pressure safety valve recertification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71963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December 2026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Boiler seasonal blow-down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