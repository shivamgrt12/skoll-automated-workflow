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Pounds Harvested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Tomato Yield</c:v>
                </c:pt>
                <c:pt idx="1">
                  <c:v>Bean Yield</c:v>
                </c:pt>
                <c:pt idx="2">
                  <c:v>Potato Yield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475569"/>
                </a:solidFill>
                <a:latin typeface="Arial"/>
              </a:defRPr>
            </a:pPr>
            <a:r>
              <a:t>Vegetable Gardening Guide</a:t>
            </a:r>
          </a:p>
          <a:p>
            <a:pPr>
              <a:defRPr sz="2000">
                <a:solidFill>
                  <a:srgbClr val="1C1917"/>
                </a:solidFill>
                <a:latin typeface="Arial"/>
              </a:defRPr>
            </a:pPr>
            <a:r>
              <a:t>Operational Overview &amp; Planning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Operational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8 In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Till Depth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Optimal depth for seed beds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6.5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Soil Acidity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Target pH for root vegetables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3 Yrs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Rotation Cycle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Period before re-planting tomato variety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75569"/>
                </a:solidFill>
                <a:latin typeface="Arial"/>
              </a:defRPr>
            </a:pPr>
            <a:r>
              <a:t>Strategic Impact Analysis: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Amending South Dakota soil in early spring yields rich harvest cycles for tomatoes and root crops.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Core Operational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Soil Amending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Integrate organic compost and agricultural lime into soil beds.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Target pH 6.5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057400"/>
            <a:ext cx="228600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Flats Sowing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Start tomato seed packets in indoor flats under warm light.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Sow seeds mid-March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057400"/>
            <a:ext cx="228600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Transplanting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Move young seedlings to garden beds once spring frosts pass.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Plant out late May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Operations Performance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Performance Data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Crop Variety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Sowing Flat Date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Transplant Date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Harvest Yield (lbs)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Beefsteak Tomato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Mid-March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Late May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45 lbs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Blue Lake Bean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Late April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Direct Sow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30 lbs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White Sweet Onion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Late April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Direct Sow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25 lbs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Project Milestones &amp;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D2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October 2025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Add winter compost mulch</a:t>
            </a:r>
          </a:p>
        </p:txBody>
      </p:sp>
      <p:sp>
        <p:nvSpPr>
          <p:cNvPr id="8" name="Oval 7"/>
          <p:cNvSpPr/>
          <p:nvPr/>
        </p:nvSpPr>
        <p:spPr>
          <a:xfrm>
            <a:off x="30815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February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Order seeds and inspect flats</a:t>
            </a:r>
          </a:p>
        </p:txBody>
      </p:sp>
      <p:sp>
        <p:nvSpPr>
          <p:cNvPr id="10" name="Oval 9"/>
          <p:cNvSpPr/>
          <p:nvPr/>
        </p:nvSpPr>
        <p:spPr>
          <a:xfrm>
            <a:off x="51389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October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Harvest squash and storage crops</a:t>
            </a:r>
          </a:p>
        </p:txBody>
      </p:sp>
      <p:sp>
        <p:nvSpPr>
          <p:cNvPr id="12" name="Oval 11"/>
          <p:cNvSpPr/>
          <p:nvPr/>
        </p:nvSpPr>
        <p:spPr>
          <a:xfrm>
            <a:off x="71963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November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Clean hand tools and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