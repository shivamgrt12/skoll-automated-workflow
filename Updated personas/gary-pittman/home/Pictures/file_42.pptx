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Allocation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Tax Escrow</c:v>
                </c:pt>
                <c:pt idx="1">
                  <c:v>Homeowners Ins</c:v>
                </c:pt>
                <c:pt idx="2">
                  <c:v>Utilities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75</c:v>
                </c:pt>
                <c:pt idx="2">
                  <c:v>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475569"/>
                </a:solidFill>
                <a:latin typeface="Arial"/>
              </a:defRPr>
            </a:pPr>
            <a:r>
              <a:t>Bungalow Maintenance Guide</a:t>
            </a:r>
          </a:p>
          <a:p>
            <a:pPr>
              <a:defRPr sz="2000">
                <a:solidFill>
                  <a:srgbClr val="1C1917"/>
                </a:solidFill>
                <a:latin typeface="Arial"/>
              </a:defRPr>
            </a:pPr>
            <a:r>
              <a:t>Operational Overview &amp; Planning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Operational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475569"/>
                </a:solidFill>
                <a:latin typeface="Arial"/>
              </a:defRPr>
            </a:pPr>
            <a:r>
              <a:t>1988</a:t>
            </a:r>
          </a:p>
          <a:p>
            <a:pPr>
              <a:spcAft>
                <a:spcPts val="800"/>
              </a:spcAft>
              <a:defRPr sz="1400" b="1">
                <a:solidFill>
                  <a:srgbClr val="1C1917"/>
                </a:solidFill>
                <a:latin typeface="Arial"/>
              </a:defRPr>
            </a:pPr>
            <a:r>
              <a:t>Purchase Year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Aberdeen residence purchase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475569"/>
                </a:solidFill>
                <a:latin typeface="Arial"/>
              </a:defRPr>
            </a:pPr>
            <a:r>
              <a:t>$0</a:t>
            </a:r>
          </a:p>
          <a:p>
            <a:pPr>
              <a:spcAft>
                <a:spcPts val="800"/>
              </a:spcAft>
              <a:defRPr sz="1400" b="1">
                <a:solidFill>
                  <a:srgbClr val="1C1917"/>
                </a:solidFill>
                <a:latin typeface="Arial"/>
              </a:defRPr>
            </a:pPr>
            <a:r>
              <a:t>Outstanding Debt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Mortgage-free bungalow 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475569"/>
                </a:solidFill>
                <a:latin typeface="Arial"/>
              </a:defRPr>
            </a:pPr>
            <a:r>
              <a:t>2</a:t>
            </a:r>
          </a:p>
          <a:p>
            <a:pPr>
              <a:spcAft>
                <a:spcPts val="800"/>
              </a:spcAft>
              <a:defRPr sz="1400" b="1">
                <a:solidFill>
                  <a:srgbClr val="1C1917"/>
                </a:solidFill>
                <a:latin typeface="Arial"/>
              </a:defRPr>
            </a:pPr>
            <a:r>
              <a:t>Annual Checks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Basement sewer line audits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75569"/>
                </a:solidFill>
                <a:latin typeface="Arial"/>
              </a:defRPr>
            </a:pPr>
            <a:r>
              <a:t>Strategic Impact Analysis: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Routine upkeep of guttering channels and crawl space venting prevents winter structure damage.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Core Operational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77440" cy="10972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1: Gutter 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rial"/>
              </a:defRPr>
            </a:pPr>
            <a:r>
              <a:t>Clean organic debris from gutters and check downspouts.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Perform in spring and fall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4680" y="2057400"/>
            <a:ext cx="228600" cy="274320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377440" cy="10972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2: Vent Adjust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rial"/>
              </a:defRPr>
            </a:pPr>
            <a:r>
              <a:t>Open crawl space foundation vents to allow summer airflow.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Close vents before winter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2160" y="2057400"/>
            <a:ext cx="228600" cy="274320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377440" cy="10972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3: Tap Draining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rial"/>
              </a:defRPr>
            </a:pPr>
            <a:r>
              <a:t>Shut main interior valves and drain exterior water spigots.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Complete in late October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Operations Performance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Performance Data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Expense Ledger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Monthly Allocation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Auto-Pay Status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Bank Source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Property Tax Escrow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$180.00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Dacotah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Homeowners 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$75.00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Dacotah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City Utilities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$65.00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Dacotah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Project Milestones &amp;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7680960" cy="36576"/>
          </a:xfrm>
          <a:prstGeom prst="rect">
            <a:avLst/>
          </a:prstGeom>
          <a:solidFill>
            <a:srgbClr val="D2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November 2025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Replace furnace air filter</a:t>
            </a:r>
          </a:p>
        </p:txBody>
      </p:sp>
      <p:sp>
        <p:nvSpPr>
          <p:cNvPr id="8" name="Oval 7"/>
          <p:cNvSpPr/>
          <p:nvPr/>
        </p:nvSpPr>
        <p:spPr>
          <a:xfrm>
            <a:off x="30815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February 2026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Inspect attic insulation layers</a:t>
            </a:r>
          </a:p>
        </p:txBody>
      </p:sp>
      <p:sp>
        <p:nvSpPr>
          <p:cNvPr id="10" name="Oval 9"/>
          <p:cNvSpPr/>
          <p:nvPr/>
        </p:nvSpPr>
        <p:spPr>
          <a:xfrm>
            <a:off x="51389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October 2026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Blow out lawn sprinkler lines</a:t>
            </a:r>
          </a:p>
        </p:txBody>
      </p:sp>
      <p:sp>
        <p:nvSpPr>
          <p:cNvPr id="12" name="Oval 11"/>
          <p:cNvSpPr/>
          <p:nvPr/>
        </p:nvSpPr>
        <p:spPr>
          <a:xfrm>
            <a:off x="71963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December 2026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Flush domestic water heater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