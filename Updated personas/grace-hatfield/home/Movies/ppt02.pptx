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Logged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Caseload Hours</c:v>
                </c:pt>
                <c:pt idx="1">
                  <c:v>CLE Hours</c:v>
                </c:pt>
                <c:pt idx="2">
                  <c:v>Hotline Hours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14</c:v>
                </c:pt>
                <c:pt idx="2">
                  <c:v>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1E3A8A"/>
                </a:solidFill>
                <a:latin typeface="Arial"/>
              </a:defRPr>
            </a:pPr>
            <a:r>
              <a:t>Keystone Legal Aid Housing Advocacy</a:t>
            </a:r>
          </a:p>
          <a:p>
            <a:pPr>
              <a:defRPr sz="2000">
                <a:solidFill>
                  <a:srgbClr val="030712"/>
                </a:solidFill>
                <a:latin typeface="Arial"/>
              </a:defRPr>
            </a:pPr>
            <a:r>
              <a:t>Operational Overview &amp; Planning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Operational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E3A8A"/>
                </a:solidFill>
                <a:latin typeface="Arial"/>
              </a:defRPr>
            </a:pPr>
            <a:r>
              <a:t>515</a:t>
            </a:r>
          </a:p>
          <a:p>
            <a:pPr>
              <a:spcAft>
                <a:spcPts val="800"/>
              </a:spcAft>
              <a:defRPr sz="1400" b="1">
                <a:solidFill>
                  <a:srgbClr val="030712"/>
                </a:solidFill>
                <a:latin typeface="Arial"/>
              </a:defRPr>
            </a:pPr>
            <a:r>
              <a:t>USDA Section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Federal rural housing program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E3A8A"/>
                </a:solidFill>
                <a:latin typeface="Arial"/>
              </a:defRPr>
            </a:pPr>
            <a:r>
              <a:t>14 Hrs</a:t>
            </a:r>
          </a:p>
          <a:p>
            <a:pPr>
              <a:spcAft>
                <a:spcPts val="800"/>
              </a:spcAft>
              <a:defRPr sz="1400" b="1">
                <a:solidFill>
                  <a:srgbClr val="030712"/>
                </a:solidFill>
                <a:latin typeface="Arial"/>
              </a:defRPr>
            </a:pPr>
            <a:r>
              <a:t>CLE Completed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Annual continuing education credits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E3A8A"/>
                </a:solidFill>
                <a:latin typeface="Arial"/>
              </a:defRPr>
            </a:pPr>
            <a:r>
              <a:t>3.5 Yrs</a:t>
            </a:r>
          </a:p>
          <a:p>
            <a:pPr>
              <a:spcAft>
                <a:spcPts val="800"/>
              </a:spcAft>
              <a:defRPr sz="1400" b="1">
                <a:solidFill>
                  <a:srgbClr val="030712"/>
                </a:solidFill>
                <a:latin typeface="Arial"/>
              </a:defRPr>
            </a:pPr>
            <a:r>
              <a:t>Service Tenure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Grace's tenure at Keystone firm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Strategic Impact Analysis:</a:t>
            </a:r>
          </a:p>
          <a:p>
            <a:pPr>
              <a:defRPr sz="1200">
                <a:solidFill>
                  <a:srgbClr val="030712"/>
                </a:solidFill>
                <a:latin typeface="Arial"/>
              </a:defRPr>
            </a:pPr>
            <a:r>
              <a:t>Keystone legal advocacy centers on protecting sub-standard multi-family USDA properties from structural decay.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Core Operational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377440" cy="1097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1: Site Inspection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30712"/>
                </a:solidFill>
                <a:latin typeface="Arial"/>
              </a:defRPr>
            </a:pPr>
            <a:r>
              <a:t>Coordinate structural inspections with health officials.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Document code violations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4680" y="2057400"/>
            <a:ext cx="228600" cy="27432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377440" cy="1097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2: Federal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30712"/>
                </a:solidFill>
                <a:latin typeface="Arial"/>
              </a:defRPr>
            </a:pPr>
            <a:r>
              <a:t>Draft disparate impact briefs under civil rights acts.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Conduct legal research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2160" y="2057400"/>
            <a:ext cx="228600" cy="27432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377440" cy="1097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3: Board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30712"/>
                </a:solidFill>
                <a:latin typeface="Arial"/>
              </a:defRPr>
            </a:pPr>
            <a:r>
              <a:t>Submit case statistics and hours log to board directors.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Quarterly filing 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Operations Performance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Performance Data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680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Reporting Period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CLE Hours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Intake Count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Supervisor Verdict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Annual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Exceeds Expectations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Semi-Annual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Exceeds Expectations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Annual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Exceeds Expectations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Project Milestones &amp;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7680960" cy="3657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3163824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November 2025</a:t>
            </a:r>
          </a:p>
          <a:p>
            <a:pPr>
              <a:defRPr sz="1100">
                <a:solidFill>
                  <a:srgbClr val="030712"/>
                </a:solidFill>
                <a:latin typeface="Arial"/>
              </a:defRPr>
            </a:pPr>
            <a:r>
              <a:t>Update USDA compliance guides</a:t>
            </a:r>
          </a:p>
        </p:txBody>
      </p:sp>
      <p:sp>
        <p:nvSpPr>
          <p:cNvPr id="8" name="Oval 7"/>
          <p:cNvSpPr/>
          <p:nvPr/>
        </p:nvSpPr>
        <p:spPr>
          <a:xfrm>
            <a:off x="3081528" y="3163824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36576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February 2026</a:t>
            </a:r>
          </a:p>
          <a:p>
            <a:pPr>
              <a:defRPr sz="1100">
                <a:solidFill>
                  <a:srgbClr val="030712"/>
                </a:solidFill>
                <a:latin typeface="Arial"/>
              </a:defRPr>
            </a:pPr>
            <a:r>
              <a:t>Annual performance evaluation</a:t>
            </a:r>
          </a:p>
        </p:txBody>
      </p:sp>
      <p:sp>
        <p:nvSpPr>
          <p:cNvPr id="10" name="Oval 9"/>
          <p:cNvSpPr/>
          <p:nvPr/>
        </p:nvSpPr>
        <p:spPr>
          <a:xfrm>
            <a:off x="5138928" y="3163824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October 2026</a:t>
            </a:r>
          </a:p>
          <a:p>
            <a:pPr>
              <a:defRPr sz="1100">
                <a:solidFill>
                  <a:srgbClr val="030712"/>
                </a:solidFill>
                <a:latin typeface="Arial"/>
              </a:defRPr>
            </a:pPr>
            <a:r>
              <a:t>Lead junior staff CLE training</a:t>
            </a:r>
          </a:p>
        </p:txBody>
      </p:sp>
      <p:sp>
        <p:nvSpPr>
          <p:cNvPr id="12" name="Oval 11"/>
          <p:cNvSpPr/>
          <p:nvPr/>
        </p:nvSpPr>
        <p:spPr>
          <a:xfrm>
            <a:off x="7196328" y="3163824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6576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November 2026</a:t>
            </a:r>
          </a:p>
          <a:p>
            <a:pPr>
              <a:defRPr sz="1100">
                <a:solidFill>
                  <a:srgbClr val="030712"/>
                </a:solidFill>
                <a:latin typeface="Arial"/>
              </a:defRPr>
            </a:pPr>
            <a:r>
              <a:t>State Civil Rights forum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