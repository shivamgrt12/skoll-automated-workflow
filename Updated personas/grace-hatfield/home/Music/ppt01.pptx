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Active Filings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Evictions</c:v>
                </c:pt>
                <c:pt idx="1">
                  <c:v>USDA Violations</c:v>
                </c:pt>
                <c:pt idx="2">
                  <c:v>Disability Denials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12</c:v>
                </c:pt>
                <c:pt idx="2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4980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1E3A8A"/>
                </a:solidFill>
                <a:latin typeface="Arial"/>
              </a:defRPr>
            </a:pPr>
            <a:r>
              <a:t>Upstate New York Rural Housing Rights</a:t>
            </a:r>
          </a:p>
          <a:p>
            <a:pPr>
              <a:defRPr sz="2000">
                <a:solidFill>
                  <a:srgbClr val="030712"/>
                </a:solidFill>
                <a:latin typeface="Arial"/>
              </a:defRPr>
            </a:pPr>
            <a:r>
              <a:t>Operational Overview &amp; Planning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Operational Performance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3774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E3A8A"/>
                </a:solidFill>
                <a:latin typeface="Arial"/>
              </a:defRPr>
            </a:pPr>
            <a:r>
              <a:t>8</a:t>
            </a:r>
          </a:p>
          <a:p>
            <a:pPr>
              <a:spcAft>
                <a:spcPts val="800"/>
              </a:spcAft>
              <a:defRPr sz="1400" b="1">
                <a:solidFill>
                  <a:srgbClr val="030712"/>
                </a:solidFill>
                <a:latin typeface="Arial"/>
              </a:defRPr>
            </a:pPr>
            <a:r>
              <a:t>Active Caseload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Max active files limit for attorneys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463040"/>
            <a:ext cx="23774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E3A8A"/>
                </a:solidFill>
                <a:latin typeface="Arial"/>
              </a:defRPr>
            </a:pPr>
            <a:r>
              <a:t>100%</a:t>
            </a:r>
          </a:p>
          <a:p>
            <a:pPr>
              <a:spcAft>
                <a:spcPts val="800"/>
              </a:spcAft>
              <a:defRPr sz="1400" b="1">
                <a:solidFill>
                  <a:srgbClr val="030712"/>
                </a:solidFill>
                <a:latin typeface="Arial"/>
              </a:defRPr>
            </a:pPr>
            <a:r>
              <a:t>TPA Compliance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Landlord notice audit rate target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23774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E3A8A"/>
                </a:solidFill>
                <a:latin typeface="Arial"/>
              </a:defRPr>
            </a:pPr>
            <a:r>
              <a:t>$1.5K</a:t>
            </a:r>
          </a:p>
          <a:p>
            <a:pPr>
              <a:spcAft>
                <a:spcPts val="800"/>
              </a:spcAft>
              <a:defRPr sz="1400" b="1">
                <a:solidFill>
                  <a:srgbClr val="030712"/>
                </a:solidFill>
                <a:latin typeface="Arial"/>
              </a:defRPr>
            </a:pPr>
            <a:r>
              <a:t>Bonus Earned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One-time performance reward in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Strategic Impact Analysis:</a:t>
            </a:r>
          </a:p>
          <a:p>
            <a:pPr>
              <a:defRPr sz="1200">
                <a:solidFill>
                  <a:srgbClr val="030712"/>
                </a:solidFill>
                <a:latin typeface="Arial"/>
              </a:defRPr>
            </a:pPr>
            <a:r>
              <a:t>Low-income rural tenants face rapid displacement without active legal defense and USDA compliance filings.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Core Operational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377440" cy="10972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1: Intake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30712"/>
                </a:solidFill>
                <a:latin typeface="Arial"/>
              </a:defRPr>
            </a:pPr>
            <a:r>
              <a:t>Evaluate client income statements and landlord notices.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- Verify service compliance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54680" y="2057400"/>
            <a:ext cx="228600" cy="27432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377440" cy="10972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2: Legal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30712"/>
                </a:solidFill>
                <a:latin typeface="Arial"/>
              </a:defRPr>
            </a:pPr>
            <a:r>
              <a:t>Analyze local landlord eviction patterns under NY TPA guidelines.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- Identify procedural flaws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52160" y="2057400"/>
            <a:ext cx="228600" cy="27432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2377440" cy="10972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3: Answer Filing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30712"/>
                </a:solidFill>
                <a:latin typeface="Arial"/>
              </a:defRPr>
            </a:pPr>
            <a:r>
              <a:t>File formal answers and discovery demands in County Court.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- Protect tenant residency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Operations Performance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645920"/>
          <a:ext cx="76809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Performance Data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76809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Client Case ID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Matter Class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County Court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Caseload Stage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KLA-2026-H1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Housing Eviction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Oswego County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Hearing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KLA-2026-C2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Disability Denial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Cortland County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Drafting Brief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KLA-2026-R8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Rental Violation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Oswego County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Project Milestones &amp; Horizons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7680960" cy="36576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3163824"/>
            <a:ext cx="292608" cy="292608"/>
          </a:xfrm>
          <a:prstGeom prst="ellipse">
            <a:avLst/>
          </a:prstGeom>
          <a:solidFill>
            <a:srgbClr val="D97706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5448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October 2025</a:t>
            </a:r>
          </a:p>
          <a:p>
            <a:pPr>
              <a:defRPr sz="1100">
                <a:solidFill>
                  <a:srgbClr val="030712"/>
                </a:solidFill>
                <a:latin typeface="Arial"/>
              </a:defRPr>
            </a:pPr>
            <a:r>
              <a:t>Class certification brief filed</a:t>
            </a:r>
          </a:p>
        </p:txBody>
      </p:sp>
      <p:sp>
        <p:nvSpPr>
          <p:cNvPr id="8" name="Oval 7"/>
          <p:cNvSpPr/>
          <p:nvPr/>
        </p:nvSpPr>
        <p:spPr>
          <a:xfrm>
            <a:off x="3081528" y="3163824"/>
            <a:ext cx="292608" cy="292608"/>
          </a:xfrm>
          <a:prstGeom prst="ellipse">
            <a:avLst/>
          </a:prstGeom>
          <a:solidFill>
            <a:srgbClr val="D97706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36576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February 2026</a:t>
            </a:r>
          </a:p>
          <a:p>
            <a:pPr>
              <a:defRPr sz="1100">
                <a:solidFill>
                  <a:srgbClr val="030712"/>
                </a:solidFill>
                <a:latin typeface="Arial"/>
              </a:defRPr>
            </a:pPr>
            <a:r>
              <a:t>Supervisor performance review</a:t>
            </a:r>
          </a:p>
        </p:txBody>
      </p:sp>
      <p:sp>
        <p:nvSpPr>
          <p:cNvPr id="10" name="Oval 9"/>
          <p:cNvSpPr/>
          <p:nvPr/>
        </p:nvSpPr>
        <p:spPr>
          <a:xfrm>
            <a:off x="5138928" y="3163824"/>
            <a:ext cx="292608" cy="292608"/>
          </a:xfrm>
          <a:prstGeom prst="ellipse">
            <a:avLst/>
          </a:prstGeom>
          <a:solidFill>
            <a:srgbClr val="D97706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5448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October 2026</a:t>
            </a:r>
          </a:p>
          <a:p>
            <a:pPr>
              <a:defRPr sz="1100">
                <a:solidFill>
                  <a:srgbClr val="030712"/>
                </a:solidFill>
                <a:latin typeface="Arial"/>
              </a:defRPr>
            </a:pPr>
            <a:r>
              <a:t>Oral argument on class limits</a:t>
            </a:r>
          </a:p>
        </p:txBody>
      </p:sp>
      <p:sp>
        <p:nvSpPr>
          <p:cNvPr id="12" name="Oval 11"/>
          <p:cNvSpPr/>
          <p:nvPr/>
        </p:nvSpPr>
        <p:spPr>
          <a:xfrm>
            <a:off x="7196328" y="3163824"/>
            <a:ext cx="292608" cy="292608"/>
          </a:xfrm>
          <a:prstGeom prst="ellipse">
            <a:avLst/>
          </a:prstGeom>
          <a:solidFill>
            <a:srgbClr val="D97706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6576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December 2026</a:t>
            </a:r>
          </a:p>
          <a:p>
            <a:pPr>
              <a:defRPr sz="1100">
                <a:solidFill>
                  <a:srgbClr val="030712"/>
                </a:solidFill>
                <a:latin typeface="Arial"/>
              </a:defRPr>
            </a:pPr>
            <a:r>
              <a:t>Expert witness retention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