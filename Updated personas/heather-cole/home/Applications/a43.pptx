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exams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</c:v>
                </c:pt>
                <c:pt idx="1">
                  <c:v>398</c:v>
                </c:pt>
                <c:pt idx="2">
                  <c:v>441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Contraception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286</c:v>
                </c:pt>
                <c:pt idx="1">
                  <c:v>301</c:v>
                </c:pt>
                <c:pt idx="2">
                  <c:v>318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Pelvic pain / endometriosis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164</c:v>
                </c:pt>
                <c:pt idx="1">
                  <c:v>178</c:v>
                </c:pt>
                <c:pt idx="2">
                  <c:v>192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Pregnancy care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95</c:v>
                </c:pt>
                <c:pt idx="1">
                  <c:v>102</c:v>
                </c:pt>
                <c:pt idx="2">
                  <c:v>110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Telehealth follow-ups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118</c:v>
                </c:pt>
                <c:pt idx="1">
                  <c:v>134</c:v>
                </c:pt>
                <c:pt idx="2">
                  <c:v>160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4114800" cy="2286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Fox Valley Women's Health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Q1 2026 Operations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0">
                <a:solidFill>
                  <a:srgbClr val="DCE6E8"/>
                </a:solidFill>
              </a:rPr>
              <a:t>Patient outcomes, throughput, and Q2 priorities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Prepared by Heather Cole, APRN-NP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Clinic Quality Lead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February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E22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39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Six topics, forty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82880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41E22"/>
                </a:solidFill>
              </a:rPr>
              <a:t>Q1 patient volume and scheduling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73152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82880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41E22"/>
                </a:solidFill>
              </a:rPr>
              <a:t>Clinical quality metrics scorecard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73152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20040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41E22"/>
                </a:solidFill>
              </a:rPr>
              <a:t>Patient experience survey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73152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20040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41E22"/>
                </a:solidFill>
              </a:rPr>
              <a:t>Workflow improvement: same-day 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72000"/>
            <a:ext cx="73152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57200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41E22"/>
                </a:solidFill>
              </a:rPr>
              <a:t>Q2 priorities and staffing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572000"/>
            <a:ext cx="73152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4572000"/>
            <a:ext cx="4663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141E22"/>
                </a:solidFill>
              </a:rPr>
              <a:t>Discussion and next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6E7C80"/>
                </a:solidFill>
              </a:rPr>
              <a:t>Fox Valley Women's Health  |  Q1 2026 Review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E22"/>
                </a:solidFill>
              </a:rPr>
              <a:t>Q1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January through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" cy="146304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PATIENT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3,142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+8.4% vs Q4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3736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737360"/>
            <a:ext cx="109728" cy="1463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NEW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286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78892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+12.6% vs Q4 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3736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737360"/>
            <a:ext cx="109728" cy="1463040"/>
          </a:xfrm>
          <a:prstGeom prst="rect">
            <a:avLst/>
          </a:prstGeom>
          <a:solidFill>
            <a:srgbClr val="4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NO-SHOW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4884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6.1%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Target 7.5%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39" y="1737360"/>
            <a:ext cx="26060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39" y="1737360"/>
            <a:ext cx="109728" cy="146304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874519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AVG WAIT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39" y="214884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11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39" y="278892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Target 15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2900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3429000"/>
            <a:ext cx="109728" cy="13716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5661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HPV VAX UPTAKE (ELIGIBLE)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84048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78%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805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Goal 80% by Q3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42900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3429000"/>
            <a:ext cx="109728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5661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TELEHEALTH VISITS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84048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412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4805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13% of total volume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2900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429000"/>
            <a:ext cx="109728" cy="1371600"/>
          </a:xfrm>
          <a:prstGeom prst="rect">
            <a:avLst/>
          </a:prstGeom>
          <a:solidFill>
            <a:srgbClr val="4C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5661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SURVEY RESPONSE 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84048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44%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4805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+9 pts vs Q4 2025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39" y="342900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6839" y="3429000"/>
            <a:ext cx="109728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39" y="35661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1">
                <a:solidFill>
                  <a:srgbClr val="787878"/>
                </a:solidFill>
              </a:rPr>
              <a:t>MYCHART MESSAGE TURNAROUND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39" y="3840480"/>
            <a:ext cx="22860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</a:rPr>
              <a:t>1.8 hr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39" y="4480560"/>
            <a:ext cx="22860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Within 4 hr SLA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074920"/>
            <a:ext cx="10927080" cy="1097280"/>
          </a:xfrm>
          <a:prstGeom prst="rect">
            <a:avLst/>
          </a:prstGeom>
          <a:solidFill>
            <a:srgbClr val="DCEAEA"/>
          </a:solidFill>
          <a:ln w="9525">
            <a:solidFill>
              <a:srgbClr val="BE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0D5C63"/>
                </a:solidFill>
              </a:rPr>
              <a:t>Key takeaway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0">
                <a:solidFill>
                  <a:srgbClr val="141E22"/>
                </a:solidFill>
              </a:rPr>
              <a:t>Volume rose 8% while wait time fell 4 minutes. Same-day triage pilot is the main driver; rolling out to all providers in Q2.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6E7C80"/>
                </a:solidFill>
              </a:rPr>
              <a:t>Fox Valley Women's Health  |  Q1 2026 Review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E22"/>
                </a:solidFill>
              </a:rPr>
              <a:t>Patient volume by service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Visits per month, Q1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595360" y="1645920"/>
            <a:ext cx="32004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3017520" cy="4297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0D5C63"/>
                </a:solidFill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94560"/>
            <a:ext cx="3017520" cy="3931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141E22"/>
                </a:solidFill>
              </a:rPr>
              <a:t>Pelvic pain volume up 17% across the quarter. Two new endometriosis referral patterns from primary care.</a:t>
            </a:r>
          </a:p>
          <a:p>
            <a:pPr algn="l"/>
            <a:r>
              <a:rPr sz="1100" b="0">
                <a:solidFill>
                  <a:srgbClr val="141E22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1E22"/>
                </a:solidFill>
              </a:rPr>
              <a:t>Telehealth follow-ups grew 36%. Mostly post-procedure check-ins and medication reviews.</a:t>
            </a:r>
          </a:p>
          <a:p>
            <a:pPr algn="l"/>
            <a:r>
              <a:rPr sz="1100" b="0">
                <a:solidFill>
                  <a:srgbClr val="141E22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41E22"/>
                </a:solidFill>
              </a:rPr>
              <a:t>Annual exams seasonal as expected.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6E7C80"/>
                </a:solidFill>
              </a:rPr>
              <a:t>Fox Valley Women's Health  |  Q1 2026 Review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E22"/>
                </a:solidFill>
              </a:rPr>
              <a:t>Clinical quality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HEDIS-aligned measures, Q1 actuals vs goal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1645920"/>
                <a:gridCol w="1371600"/>
                <a:gridCol w="1737360"/>
                <a:gridCol w="2011680"/>
              </a:tblGrid>
              <a:tr h="52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0D5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Q1 actual</a:t>
                      </a:r>
                    </a:p>
                  </a:txBody>
                  <a:tcPr>
                    <a:solidFill>
                      <a:srgbClr val="0D5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0D5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Trend</a:t>
                      </a:r>
                    </a:p>
                  </a:txBody>
                  <a:tcPr>
                    <a:solidFill>
                      <a:srgbClr val="0D5C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D5C63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Cervical cancer screening, ages 21-64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Up 1.6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Chlamydia screening, ages 16-24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71.8%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75%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Up 0.8 pts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7800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Postpartum care visit (8-12 wk)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Up 2.4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Contraceptive care, most/moderate eff.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63.2%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65%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Flat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7800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Depression screening, prenatal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94.7%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Up 0.9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</a:rPr>
                        <a:t>On track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HPV vaccination, eligible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78.0%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41E22"/>
                          </a:solidFill>
                        </a:rPr>
                        <a:t>Up 3.1 pts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67800"/>
                          </a:solidFill>
                        </a:rPr>
                        <a:t>Watch</a:t>
                      </a:r>
                    </a:p>
                  </a:txBody>
                  <a:tcPr>
                    <a:solidFill>
                      <a:srgbClr val="DCEAE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DCEAEA"/>
          </a:solidFill>
          <a:ln w="9525">
            <a:solidFill>
              <a:srgbClr val="BE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605272"/>
            <a:ext cx="1069848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300" b="1">
                <a:solidFill>
                  <a:srgbClr val="0D5C63"/>
                </a:solidFill>
              </a:rPr>
              <a:t>Focus areas for Q2: chlamydia screening uptake and contraceptive counseling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6E7C80"/>
                </a:solidFill>
              </a:rPr>
              <a:t>Fox Valley Women's Health  |  Q1 2026 Review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E22"/>
                </a:solidFill>
              </a:rPr>
              <a:t>Same-day triage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From the Q1 pilot, recommended for clinic-wide rollout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41148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141E22"/>
                </a:solidFill>
              </a:rPr>
              <a:t>Inbound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E22"/>
                </a:solidFill>
              </a:rPr>
              <a:t>Call or MyChart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920239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>
                <a:solidFill>
                  <a:srgbClr val="6E7C80"/>
                </a:solidFill>
              </a:rPr>
              <a:t>Reason coded by 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9463" y="2606039"/>
            <a:ext cx="201168" cy="411480"/>
          </a:xfrm>
          <a:prstGeom prst="rightArrow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103120"/>
            <a:ext cx="2103120" cy="4114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51460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56032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141E22"/>
                </a:solidFill>
              </a:rPr>
              <a:t>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8036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E22"/>
                </a:solidFill>
              </a:rPr>
              <a:t>RN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00400"/>
            <a:ext cx="1920239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>
                <a:solidFill>
                  <a:srgbClr val="6E7C80"/>
                </a:solidFill>
              </a:rPr>
              <a:t>Acuity 1-4 assigned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01183" y="2606039"/>
            <a:ext cx="201168" cy="411480"/>
          </a:xfrm>
          <a:prstGeom prst="rightArrow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103120"/>
            <a:ext cx="2103120" cy="41148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51460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9" y="256032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141E22"/>
                </a:solidFill>
              </a:rPr>
              <a:t>Slot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288036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E22"/>
                </a:solidFill>
              </a:rPr>
              <a:t>Same-day or 48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3200400"/>
            <a:ext cx="1920239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>
                <a:solidFill>
                  <a:srgbClr val="6E7C80"/>
                </a:solidFill>
              </a:rPr>
              <a:t>Auto-fit in template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32903" y="2606039"/>
            <a:ext cx="201168" cy="411480"/>
          </a:xfrm>
          <a:prstGeom prst="rightArrow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2103120"/>
            <a:ext cx="2103120" cy="4114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251460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256032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141E22"/>
                </a:solidFill>
              </a:rPr>
              <a:t>Visit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288036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E22"/>
                </a:solidFill>
              </a:rPr>
              <a:t>In-person or telehealth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3200400"/>
            <a:ext cx="1920239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>
                <a:solidFill>
                  <a:srgbClr val="6E7C80"/>
                </a:solidFill>
              </a:rPr>
              <a:t>Notes by visit type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64624" y="2606039"/>
            <a:ext cx="201168" cy="411480"/>
          </a:xfrm>
          <a:prstGeom prst="rightArrow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2103120"/>
            <a:ext cx="2103120" cy="41148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514600"/>
            <a:ext cx="21031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19" y="256032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400" b="1">
                <a:solidFill>
                  <a:srgbClr val="141E22"/>
                </a:solidFill>
              </a:rPr>
              <a:t>Follow-up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19" y="2880360"/>
            <a:ext cx="19202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141E22"/>
                </a:solidFill>
              </a:rPr>
              <a:t>MyChart message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200400"/>
            <a:ext cx="1920239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900" b="0">
                <a:solidFill>
                  <a:srgbClr val="6E7C80"/>
                </a:solidFill>
              </a:rPr>
              <a:t>Closed loop in 5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FFFFF"/>
                </a:solidFill>
              </a:rPr>
              <a:t>Pilot outcomes (Jan-Mar 2026)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7200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24688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000" b="1">
                <a:solidFill>
                  <a:srgbClr val="0D5C63"/>
                </a:solidFill>
              </a:rPr>
              <a:t>4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40680"/>
            <a:ext cx="24688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6E7C80"/>
                </a:solidFill>
              </a:rPr>
              <a:t>Triage cycle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457200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663440"/>
            <a:ext cx="24688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000" b="1">
                <a:solidFill>
                  <a:srgbClr val="0D5C63"/>
                </a:solidFill>
              </a:rPr>
              <a:t>23%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440680"/>
            <a:ext cx="24688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6E7C80"/>
                </a:solidFill>
              </a:rPr>
              <a:t>Same-day fill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57200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663440"/>
            <a:ext cx="24688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000" b="1">
                <a:solidFill>
                  <a:srgbClr val="0D5C63"/>
                </a:solidFill>
              </a:rPr>
              <a:t>4.7 /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440680"/>
            <a:ext cx="24688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6E7C80"/>
                </a:solidFill>
              </a:rPr>
              <a:t>Patient rating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4572000"/>
            <a:ext cx="26517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4663440"/>
            <a:ext cx="246888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000" b="1">
                <a:solidFill>
                  <a:srgbClr val="0D5C63"/>
                </a:solidFill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440680"/>
            <a:ext cx="246888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200" b="0">
                <a:solidFill>
                  <a:srgbClr val="6E7C80"/>
                </a:solidFill>
              </a:rPr>
              <a:t>Adverse events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6E7C80"/>
                </a:solidFill>
              </a:rPr>
              <a:t>Fox Valley Women's Health  |  Q1 2026 Review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800" b="1">
                <a:solidFill>
                  <a:srgbClr val="141E22"/>
                </a:solidFill>
              </a:rPr>
              <a:t>Q2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</a:rPr>
              <a:t>Three workstreams, owners assigned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5661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3566160" cy="164592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3246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1E22"/>
                </a:solidFill>
              </a:rPr>
              <a:t>Chlamydia screening 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6E7C80"/>
                </a:solidFill>
              </a:rPr>
              <a:t>Reach 75% target by end of Q2.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Add EMR best-practice alert at check-in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Standing order for ages 16-24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Weekly run rate in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3246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0D5C63"/>
                </a:solidFill>
              </a:rPr>
              <a:t>Owner: Heather Cole, APRN-NP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35661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3566160" cy="1645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246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1E22"/>
                </a:solidFill>
              </a:rPr>
              <a:t>Same-day triage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560320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6E7C80"/>
                </a:solidFill>
              </a:rPr>
              <a:t>Move all providers onto pilot 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1546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Train RN floor and front desk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Update phone tree decision script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Monthly KPI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852160"/>
            <a:ext cx="3246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0D5C63"/>
                </a:solidFill>
              </a:rPr>
              <a:t>Owner: Dr. Patel, Medical Director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56616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783080"/>
            <a:ext cx="3566160" cy="164592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57400"/>
            <a:ext cx="324612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141E22"/>
                </a:solidFill>
              </a:rPr>
              <a:t>HPV vaccine reach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246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6E7C80"/>
                </a:solidFill>
              </a:rPr>
              <a:t>Catch up on overdue first and second doses.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154680"/>
            <a:ext cx="3246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Outreach via MyChart and mail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Saturday vaccine clinic in May</a:t>
            </a:r>
          </a:p>
          <a:p>
            <a:pPr algn="l">
              <a:spcAft>
                <a:spcPts val="600"/>
              </a:spcAft>
            </a:pPr>
            <a:r>
              <a:t>  </a:t>
            </a:r>
            <a:r>
              <a:rPr sz="1400">
                <a:solidFill>
                  <a:srgbClr val="0D5C63"/>
                </a:solidFill>
              </a:rPr>
              <a:t>•  </a:t>
            </a:r>
            <a:r>
              <a:rPr sz="1200">
                <a:solidFill>
                  <a:srgbClr val="141E22"/>
                </a:solidFill>
              </a:rPr>
              <a:t>Track by age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852160"/>
            <a:ext cx="32461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1">
                <a:solidFill>
                  <a:srgbClr val="0D5C63"/>
                </a:solidFill>
              </a:rPr>
              <a:t>Owner: Renee Hoffman, 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6E7C80"/>
                </a:solidFill>
              </a:rPr>
              <a:t>Fox Valley Women's Health  |  Q1 2026 Review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0">
                <a:solidFill>
                  <a:srgbClr val="DCE8E8"/>
                </a:solidFill>
              </a:rPr>
              <a:t>Open floor for questions, suggestions, and Q2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Heather Cole, APRN-NP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Quality Lead, Fox Valley Women's Health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heather.cole@foxvalleywh.org   (920) 555-0133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Heather Cole</cp:lastModifiedBy>
  <cp:revision>1</cp:revision>
  <dcterms:created xsi:type="dcterms:W3CDTF">2026-02-15T09:00:00Z</dcterms:created>
  <dcterms:modified xsi:type="dcterms:W3CDTF">2026-02-15T09:00:00Z</dcterms:modified>
  <cp:category/>
</cp:coreProperties>
</file>