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66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11880"/>
            <a:ext cx="12191695" cy="164592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E8D2E0"/>
                </a:solidFill>
              </a:rPr>
              <a:t>FOX VALLEY WOMEN'S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Understanding endometriosis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0">
                <a:solidFill>
                  <a:srgbClr val="663366"/>
                </a:solidFill>
              </a:rPr>
              <a:t>A friendly walk-through for you and your support people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937760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937760"/>
            <a:ext cx="3566160" cy="91440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32918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663366"/>
                </a:solidFill>
              </a:rPr>
              <a:t>WHO THIS IS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329184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>
                <a:solidFill>
                  <a:srgbClr val="281928"/>
                </a:solidFill>
              </a:rPr>
              <a:t>Anyone newly told this might be endometriosis.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4937760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4937760"/>
            <a:ext cx="3566160" cy="91440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5074920"/>
            <a:ext cx="32918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663366"/>
                </a:solidFill>
              </a:rPr>
              <a:t>HOW LONG IT TAKES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394960"/>
            <a:ext cx="329184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>
                <a:solidFill>
                  <a:srgbClr val="281928"/>
                </a:solidFill>
              </a:rPr>
              <a:t>About 10 minutes to read or watch.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937760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4937760"/>
            <a:ext cx="3566160" cy="91440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5074920"/>
            <a:ext cx="32918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663366"/>
                </a:solidFill>
              </a:rPr>
              <a:t>BRING WITH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394960"/>
            <a:ext cx="329184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>
                <a:solidFill>
                  <a:srgbClr val="281928"/>
                </a:solidFill>
              </a:rPr>
              <a:t>Your symptom tracker and any questions.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66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281928"/>
                </a:solidFill>
              </a:rPr>
              <a:t>What is endometriosis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In plain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760720" cy="43891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0">
                <a:solidFill>
                  <a:srgbClr val="281928"/>
                </a:solidFill>
              </a:rPr>
              <a:t>The lining of the uterus normally sheds during your period.</a:t>
            </a:r>
          </a:p>
          <a:p>
            <a:pPr algn="l"/>
            <a:r>
              <a:rPr sz="1500" b="0">
                <a:solidFill>
                  <a:srgbClr val="281928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281928"/>
                </a:solidFill>
              </a:rPr>
              <a:t>In endometriosis, tissue similar to that lining grows in other places. Most often on the ovaries, fallopian tubes, and pelvic floor.</a:t>
            </a:r>
          </a:p>
          <a:p>
            <a:pPr algn="l"/>
            <a:r>
              <a:rPr sz="1500" b="0">
                <a:solidFill>
                  <a:srgbClr val="281928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281928"/>
                </a:solidFill>
              </a:rPr>
              <a:t>Each month it responds to hormones, swells, and bleeds. Because it has nowhere to go, it causes pain, scarring, and sometimes adhesions.</a:t>
            </a:r>
          </a:p>
          <a:p>
            <a:pPr algn="l"/>
            <a:r>
              <a:rPr sz="1500" b="0">
                <a:solidFill>
                  <a:srgbClr val="281928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281928"/>
                </a:solidFill>
              </a:rPr>
              <a:t>It is a chronic condition. We can manage it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783080"/>
            <a:ext cx="49377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0" y="2331720"/>
            <a:ext cx="2560320" cy="2194560"/>
          </a:xfrm>
          <a:prstGeom prst="ellipse">
            <a:avLst/>
          </a:prstGeom>
          <a:solidFill>
            <a:srgbClr val="EEE0EC"/>
          </a:solidFill>
          <a:ln w="12700">
            <a:solidFill>
              <a:srgbClr val="66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0" y="2743200"/>
            <a:ext cx="201168" cy="201168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3108960"/>
            <a:ext cx="201168" cy="201168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0" y="3657600"/>
            <a:ext cx="201168" cy="201168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09760" y="3840480"/>
            <a:ext cx="201168" cy="201168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3566160"/>
            <a:ext cx="201168" cy="201168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0" y="2743200"/>
            <a:ext cx="201168" cy="201168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4572000"/>
            <a:ext cx="4572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786478"/>
                </a:solidFill>
              </a:rPr>
              <a:t>Pelvic outline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937760"/>
            <a:ext cx="4572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D682A8"/>
                </a:solidFill>
              </a:rPr>
              <a:t>Endometriosis spots (illustrative)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5349240"/>
            <a:ext cx="457200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81928"/>
                </a:solidFill>
              </a:rPr>
              <a:t>Spots can vary in location and size. Your imaging may not show them 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86478"/>
                </a:solidFill>
              </a:rPr>
              <a:t>Fox Valley Women's Health  |  Understanding endometriosis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66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281928"/>
                </a:solidFill>
              </a:rPr>
              <a:t>Symptoms you may notice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Not everyone has all of these. Some have just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5029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057400"/>
            <a:ext cx="169164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Painful periods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28600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81928"/>
                </a:solidFill>
              </a:rPr>
              <a:t>Cramps that keep you home, in bed, or out of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057400"/>
            <a:ext cx="502920" cy="502920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075688"/>
            <a:ext cx="5029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169164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Pelvic pain between periods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697480"/>
            <a:ext cx="228600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81928"/>
                </a:solidFill>
              </a:rPr>
              <a:t>A heavy, deep, or sharp pain.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075688"/>
            <a:ext cx="5029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057400"/>
            <a:ext cx="169164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Painful sex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97480"/>
            <a:ext cx="228600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81928"/>
                </a:solidFill>
              </a:rPr>
              <a:t>During or after.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82880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1160" y="2057400"/>
            <a:ext cx="502920" cy="502920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075688"/>
            <a:ext cx="5029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057400"/>
            <a:ext cx="169164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Painful bowel movements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697480"/>
            <a:ext cx="228600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81928"/>
                </a:solidFill>
              </a:rPr>
              <a:t>Especially around your period.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270248"/>
            <a:ext cx="5029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251960"/>
            <a:ext cx="169164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Heavy or irregular periods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228600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81928"/>
                </a:solidFill>
              </a:rPr>
              <a:t>Soaking through pads or tampons quickly.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02336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11880" y="4251960"/>
            <a:ext cx="502920" cy="502920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4270248"/>
            <a:ext cx="5029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4251960"/>
            <a:ext cx="169164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Hard to get pregnant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892040"/>
            <a:ext cx="228600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81928"/>
                </a:solidFill>
              </a:rPr>
              <a:t>When you have been trying for some time.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02336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4251960"/>
            <a:ext cx="502920" cy="502920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70248"/>
            <a:ext cx="5029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251960"/>
            <a:ext cx="169164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Fatigue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892040"/>
            <a:ext cx="228600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81928"/>
                </a:solidFill>
              </a:rPr>
              <a:t>Tired that rest doesn't fully fix.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402336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81160" y="4251960"/>
            <a:ext cx="502920" cy="502920"/>
          </a:xfrm>
          <a:prstGeom prst="ellipse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4270248"/>
            <a:ext cx="5029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4251960"/>
            <a:ext cx="169164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Nausea or bloating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892040"/>
            <a:ext cx="228600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81928"/>
                </a:solidFill>
              </a:rPr>
              <a:t>Sometimes called endo belly.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86478"/>
                </a:solidFill>
              </a:rPr>
              <a:t>Fox Valley Women's Health  |  Understanding endometriosis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66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281928"/>
                </a:solidFill>
              </a:rPr>
              <a:t>Treatment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We will pick the right next step together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2560320"/>
                <a:gridCol w="310896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Option</a:t>
                      </a:r>
                    </a:p>
                  </a:txBody>
                  <a:tcPr>
                    <a:solidFill>
                      <a:srgbClr val="6633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6633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Pros</a:t>
                      </a:r>
                    </a:p>
                  </a:txBody>
                  <a:tcPr>
                    <a:solidFill>
                      <a:srgbClr val="6633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Things to know</a:t>
                      </a:r>
                    </a:p>
                  </a:txBody>
                  <a:tcPr>
                    <a:solidFill>
                      <a:srgbClr val="66336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63366"/>
                          </a:solidFill>
                        </a:rPr>
                        <a:t>Over-the-counter NSAIDs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Reduces pain and inflammation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Easy to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Best taken before pain peaks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63366"/>
                          </a:solidFill>
                        </a:rPr>
                        <a:t>Hormonal birth control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Quiets the cycle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Many forms (pill, patch, ring, IUD)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Side effects vary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63366"/>
                          </a:solidFill>
                        </a:rPr>
                        <a:t>Progestin-only therapy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Suppresses tissue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Often well tolerated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May cause irregular bleeding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63366"/>
                          </a:solidFill>
                        </a:rPr>
                        <a:t>GnRH modulators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Shuts off ovary signal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Strong symptom relief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Hot flashes; uses add-back hormone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63366"/>
                          </a:solidFill>
                        </a:rPr>
                        <a:t>Pelvic floor physical therapy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Releases tight muscles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No medication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Needs time and a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63366"/>
                          </a:solidFill>
                        </a:rPr>
                        <a:t>Surgery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Removes tissue you can see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Can confirm diagnosis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81928"/>
                          </a:solidFill>
                        </a:rPr>
                        <a:t>Reserved for specific cases</a:t>
                      </a:r>
                    </a:p>
                  </a:txBody>
                  <a:tcPr>
                    <a:solidFill>
                      <a:srgbClr val="EEE0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86478"/>
                </a:solidFill>
              </a:rPr>
              <a:t>Fox Valley Women's Health  |  Understanding endometriosis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66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281928"/>
                </a:solidFill>
              </a:rPr>
              <a:t>Habits that help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Small steps that add up over a month</a:t>
            </a:r>
          </a:p>
        </p:txBody>
      </p:sp>
      <p:sp>
        <p:nvSpPr>
          <p:cNvPr id="6" name="Oval 5"/>
          <p:cNvSpPr/>
          <p:nvPr/>
        </p:nvSpPr>
        <p:spPr>
          <a:xfrm>
            <a:off x="5074920" y="2834640"/>
            <a:ext cx="2011680" cy="2011680"/>
          </a:xfrm>
          <a:prstGeom prst="ellipse">
            <a:avLst/>
          </a:prstGeom>
          <a:solidFill>
            <a:srgbClr val="66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3337560"/>
            <a:ext cx="2011680" cy="10058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Daily care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28016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0" y="1280160"/>
            <a:ext cx="2286000" cy="73152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417319"/>
            <a:ext cx="2011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737360"/>
            <a:ext cx="20116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81928"/>
                </a:solidFill>
              </a:rPr>
              <a:t>20-30 min most days. Walking, yoga, swimming.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55062" y="228600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5062" y="2286000"/>
            <a:ext cx="2286000" cy="73152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2222" y="2423160"/>
            <a:ext cx="2011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2222" y="2743200"/>
            <a:ext cx="20116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81928"/>
                </a:solidFill>
              </a:rPr>
              <a:t>Plenty of plants and fiber. Steady caffeine.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5062" y="429768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55062" y="4297680"/>
            <a:ext cx="2286000" cy="73152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2222" y="4434840"/>
            <a:ext cx="2011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Sleep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2222" y="4754880"/>
            <a:ext cx="20116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81928"/>
                </a:solidFill>
              </a:rPr>
              <a:t>7-9 hours, regular schedule.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530352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5303520"/>
            <a:ext cx="2286000" cy="73152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5440680"/>
            <a:ext cx="2011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Warmth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5760720"/>
            <a:ext cx="20116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81928"/>
                </a:solidFill>
              </a:rPr>
              <a:t>Heat pad on cramp days.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20457" y="429768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20457" y="4297680"/>
            <a:ext cx="2286000" cy="73152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617" y="4434840"/>
            <a:ext cx="2011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7617" y="4754880"/>
            <a:ext cx="20116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81928"/>
                </a:solidFill>
              </a:rPr>
              <a:t>Symptom log to spot patterns.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20457" y="2285999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20457" y="2285999"/>
            <a:ext cx="2286000" cy="73152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7617" y="2423159"/>
            <a:ext cx="20116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663366"/>
                </a:solidFill>
              </a:rPr>
              <a:t>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7617" y="2743199"/>
            <a:ext cx="201168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281928"/>
                </a:solidFill>
              </a:rPr>
              <a:t>Tell people what helps.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86478"/>
                </a:solidFill>
              </a:rPr>
              <a:t>Fox Valley Women's Health  |  Understanding endometriosis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66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281928"/>
                </a:solidFill>
              </a:rPr>
              <a:t>When to call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Most things can wait for the next visit. These should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solidFill>
            <a:srgbClr val="FEEBE8"/>
          </a:solidFill>
          <a:ln w="9525">
            <a:solidFill>
              <a:srgbClr val="D86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solidFill>
            <a:srgbClr val="C33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600" b="1">
                <a:solidFill>
                  <a:srgbClr val="FFFFFF"/>
                </a:solidFill>
              </a:rPr>
              <a:t>Call right 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600">
                <a:solidFill>
                  <a:srgbClr val="C33C32"/>
                </a:solidFill>
              </a:rPr>
              <a:t>•  </a:t>
            </a:r>
            <a:r>
              <a:rPr sz="1400">
                <a:solidFill>
                  <a:srgbClr val="3C1414"/>
                </a:solidFill>
              </a:rPr>
              <a:t>Pain that is suddenly much worse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600">
                <a:solidFill>
                  <a:srgbClr val="C33C32"/>
                </a:solidFill>
              </a:rPr>
              <a:t>•  </a:t>
            </a:r>
            <a:r>
              <a:rPr sz="1400">
                <a:solidFill>
                  <a:srgbClr val="3C1414"/>
                </a:solidFill>
              </a:rPr>
              <a:t>Heavy bleeding that soaks a pad every hour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600">
                <a:solidFill>
                  <a:srgbClr val="C33C32"/>
                </a:solidFill>
              </a:rPr>
              <a:t>•  </a:t>
            </a:r>
            <a:r>
              <a:rPr sz="1400">
                <a:solidFill>
                  <a:srgbClr val="3C1414"/>
                </a:solidFill>
              </a:rPr>
              <a:t>Fainting or feeling like you might pass out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600">
                <a:solidFill>
                  <a:srgbClr val="C33C32"/>
                </a:solidFill>
              </a:rPr>
              <a:t>•  </a:t>
            </a:r>
            <a:r>
              <a:rPr sz="1400">
                <a:solidFill>
                  <a:srgbClr val="3C1414"/>
                </a:solidFill>
              </a:rPr>
              <a:t>Fever over 100.4 F with pelvic pain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600">
                <a:solidFill>
                  <a:srgbClr val="C33C32"/>
                </a:solidFill>
              </a:rPr>
              <a:t>•  </a:t>
            </a:r>
            <a:r>
              <a:rPr sz="1400">
                <a:solidFill>
                  <a:srgbClr val="3C1414"/>
                </a:solidFill>
              </a:rPr>
              <a:t>Severe pain with vomiting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37360"/>
            <a:ext cx="5486400" cy="4572000"/>
          </a:xfrm>
          <a:prstGeom prst="rect">
            <a:avLst/>
          </a:prstGeom>
          <a:solidFill>
            <a:srgbClr val="E8F4EB"/>
          </a:solidFill>
          <a:ln w="9525">
            <a:solidFill>
              <a:srgbClr val="78A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486400" cy="548640"/>
          </a:xfrm>
          <a:prstGeom prst="rect">
            <a:avLst/>
          </a:prstGeom>
          <a:solidFill>
            <a:srgbClr val="4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600" b="1">
                <a:solidFill>
                  <a:srgbClr val="FFFFFF"/>
                </a:solidFill>
              </a:rPr>
              <a:t>Message in MyChart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600">
                <a:solidFill>
                  <a:srgbClr val="4C8C5C"/>
                </a:solidFill>
              </a:rPr>
              <a:t>•  </a:t>
            </a:r>
            <a:r>
              <a:rPr sz="1400">
                <a:solidFill>
                  <a:srgbClr val="1E3C23"/>
                </a:solidFill>
              </a:rPr>
              <a:t>New side effects from a medication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600">
                <a:solidFill>
                  <a:srgbClr val="4C8C5C"/>
                </a:solidFill>
              </a:rPr>
              <a:t>•  </a:t>
            </a:r>
            <a:r>
              <a:rPr sz="1400">
                <a:solidFill>
                  <a:srgbClr val="1E3C23"/>
                </a:solidFill>
              </a:rPr>
              <a:t>Symptoms that aren't better after 3 months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600">
                <a:solidFill>
                  <a:srgbClr val="4C8C5C"/>
                </a:solidFill>
              </a:rPr>
              <a:t>•  </a:t>
            </a:r>
            <a:r>
              <a:rPr sz="1400">
                <a:solidFill>
                  <a:srgbClr val="1E3C23"/>
                </a:solidFill>
              </a:rPr>
              <a:t>Questions about fertility planning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600">
                <a:solidFill>
                  <a:srgbClr val="4C8C5C"/>
                </a:solidFill>
              </a:rPr>
              <a:t>•  </a:t>
            </a:r>
            <a:r>
              <a:rPr sz="1400">
                <a:solidFill>
                  <a:srgbClr val="1E3C23"/>
                </a:solidFill>
              </a:rPr>
              <a:t>A new partner or new pain pattern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600">
                <a:solidFill>
                  <a:srgbClr val="4C8C5C"/>
                </a:solidFill>
              </a:rPr>
              <a:t>•  </a:t>
            </a:r>
            <a:r>
              <a:rPr sz="1400">
                <a:solidFill>
                  <a:srgbClr val="1E3C23"/>
                </a:solidFill>
              </a:rPr>
              <a:t>You want to talk about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86478"/>
                </a:solidFill>
              </a:rPr>
              <a:t>Fox Valley Women's Health  |  Understanding endometriosis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E8D2E0"/>
                </a:solidFill>
              </a:rPr>
              <a:t>YOUR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We will figure this out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1828800" cy="731520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This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2286000"/>
            <a:ext cx="88696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281928"/>
                </a:solidFill>
              </a:rPr>
              <a:t>Start the symptom tracker handout. Note pain level, what helped, and what made it worse.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828800" cy="731520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 4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3200400"/>
            <a:ext cx="88696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281928"/>
                </a:solidFill>
              </a:rPr>
              <a:t>Telehealth check-in to choose your first step. We will pick one that fits your life.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1828800" cy="731520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 3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4114800"/>
            <a:ext cx="88696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281928"/>
                </a:solidFill>
              </a:rPr>
              <a:t>Reassess in person. We will adjust if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029200"/>
            <a:ext cx="1828800" cy="731520"/>
          </a:xfrm>
          <a:prstGeom prst="rect">
            <a:avLst/>
          </a:prstGeom>
          <a:solidFill>
            <a:srgbClr val="D68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Anytime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5029200"/>
            <a:ext cx="88696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281928"/>
                </a:solidFill>
              </a:rPr>
              <a:t>MyChart message, or call (920) 555-0133.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8D2E0"/>
                </a:solidFill>
              </a:rPr>
              <a:t>Heather Cole, APRN-NP   |   Fox Valley Women's Health   |   hello@heather-cole.com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Heather Cole</cp:lastModifiedBy>
  <cp:revision>1</cp:revision>
  <dcterms:created xsi:type="dcterms:W3CDTF">2026-02-15T09:00:00Z</dcterms:created>
  <dcterms:modified xsi:type="dcterms:W3CDTF">2026-02-15T09:00:00Z</dcterms:modified>
  <cp:category/>
</cp:coreProperties>
</file>