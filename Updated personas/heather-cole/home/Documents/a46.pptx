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937760" cy="68580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78040" y="0"/>
            <a:ext cx="164592" cy="685800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NP PEER 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400800" cy="2743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5200" b="1">
                <a:solidFill>
                  <a:srgbClr val="142D55"/>
                </a:solidFill>
              </a:rPr>
              <a:t>Welcome</a:t>
            </a:r>
          </a:p>
          <a:p>
            <a:pPr algn="l"/>
            <a:r>
              <a:rPr sz="5200" b="1">
                <a:solidFill>
                  <a:srgbClr val="142D55"/>
                </a:solidFill>
              </a:rPr>
              <a:t>to the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64008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0">
                <a:solidFill>
                  <a:srgbClr val="737887"/>
                </a:solidFill>
              </a:rPr>
              <a:t>A six-month program for women's health NPs in their first two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64008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Heather Cole, APRN-NP   |   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188720"/>
            <a:ext cx="4206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CC9E33"/>
                </a:solidFill>
              </a:rPr>
              <a:t>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783080"/>
            <a:ext cx="42062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77440"/>
            <a:ext cx="4206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C8D2E1"/>
                </a:solidFill>
              </a:rPr>
              <a:t>Mentees since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834639"/>
            <a:ext cx="42062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428999"/>
            <a:ext cx="4206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C8D2E1"/>
                </a:solidFill>
              </a:rPr>
              <a:t>Months per cohort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886200"/>
            <a:ext cx="42062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480560"/>
            <a:ext cx="4206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C8D2E1"/>
                </a:solidFill>
              </a:rPr>
              <a:t>1:1 sessions included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937759"/>
            <a:ext cx="420624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4.9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532120"/>
            <a:ext cx="4206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C8D2E1"/>
                </a:solidFill>
              </a:rPr>
              <a:t>Average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923"/>
                </a:solidFill>
              </a:rPr>
              <a:t>About your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Where I'm coming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4206240"/>
          </a:xfrm>
          <a:prstGeom prst="rect">
            <a:avLst/>
          </a:prstGeom>
          <a:solidFill>
            <a:srgbClr val="E4EAF4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194560"/>
            <a:ext cx="2194560" cy="2194560"/>
          </a:xfrm>
          <a:prstGeom prst="ellipse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194560" cy="21945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7200" b="1">
                <a:solidFill>
                  <a:srgbClr val="CC9E33"/>
                </a:solidFill>
              </a:rPr>
              <a:t>HC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3657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1">
                <a:solidFill>
                  <a:srgbClr val="142D55"/>
                </a:solidFill>
              </a:rPr>
              <a:t>Heather Cole, APRN-NP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3657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737887"/>
                </a:solidFill>
              </a:rPr>
              <a:t>Women's Health NP, Green Bay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71323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141923"/>
                </a:solidFill>
              </a:rPr>
              <a:t>MSN, University of Wisconsin-Madison, 2024. Certified by AANP.</a:t>
            </a:r>
          </a:p>
          <a:p>
            <a:pPr algn="l"/>
            <a:r>
              <a:rPr sz="1400" b="0">
                <a:solidFill>
                  <a:srgbClr val="141923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41923"/>
                </a:solidFill>
              </a:rPr>
              <a:t>Two years at Fox Valley Women's Health Clinic. Quality lead since Q4 2025.</a:t>
            </a:r>
          </a:p>
          <a:p>
            <a:pPr algn="l"/>
            <a:r>
              <a:rPr sz="1400" b="0">
                <a:solidFill>
                  <a:srgbClr val="141923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41923"/>
                </a:solidFill>
              </a:rPr>
              <a:t>Personal experience with endometriosis informs how I teach pelvic pain.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572000"/>
            <a:ext cx="2240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4572000"/>
            <a:ext cx="2240280" cy="73152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709160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APRN-NP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074920"/>
            <a:ext cx="2011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141923"/>
                </a:solidFill>
              </a:rPr>
              <a:t>Wisconsin license APRN-58842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4572000"/>
            <a:ext cx="2240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4572000"/>
            <a:ext cx="2240280" cy="73152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709160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Cert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2011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141923"/>
                </a:solidFill>
              </a:rPr>
              <a:t>AANP Women's 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4572000"/>
            <a:ext cx="22402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4572000"/>
            <a:ext cx="2240280" cy="73152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4709160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5074920"/>
            <a:ext cx="20116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141923"/>
                </a:solidFill>
              </a:rPr>
              <a:t>13 hours completed in 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37887"/>
                </a:solidFill>
              </a:rPr>
              <a:t>NP Peer Mentorship  |  Welcome deck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923"/>
                </a:solidFill>
              </a:rPr>
              <a:t>Six months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What we cover and when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828800"/>
            <a:ext cx="64008" cy="45720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874519"/>
            <a:ext cx="365760" cy="365760"/>
          </a:xfrm>
          <a:prstGeom prst="ellipse">
            <a:avLst/>
          </a:prstGeom>
          <a:solidFill>
            <a:srgbClr val="CC9E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783080"/>
            <a:ext cx="10241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12801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828800"/>
            <a:ext cx="27432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28800"/>
            <a:ext cx="59436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0">
                <a:solidFill>
                  <a:srgbClr val="141923"/>
                </a:solidFill>
              </a:rPr>
              <a:t>Set goals, baseline confidence survey, and start a clinical journal.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633472"/>
            <a:ext cx="365760" cy="365760"/>
          </a:xfrm>
          <a:prstGeom prst="ellipse">
            <a:avLst/>
          </a:prstGeom>
          <a:solidFill>
            <a:srgbClr val="CC9E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2542032"/>
            <a:ext cx="10241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587752"/>
            <a:ext cx="12801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Month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87752"/>
            <a:ext cx="27432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Clinical scaffolding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587752"/>
            <a:ext cx="59436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0">
                <a:solidFill>
                  <a:srgbClr val="141923"/>
                </a:solidFill>
              </a:rPr>
              <a:t>Common presentations, charting templates, and time-saving habits.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392424"/>
            <a:ext cx="365760" cy="365760"/>
          </a:xfrm>
          <a:prstGeom prst="ellipse">
            <a:avLst/>
          </a:prstGeom>
          <a:solidFill>
            <a:srgbClr val="CC9E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3300984"/>
            <a:ext cx="10241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346704"/>
            <a:ext cx="12801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Month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346704"/>
            <a:ext cx="27432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Difficult conversations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46704"/>
            <a:ext cx="59436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0">
                <a:solidFill>
                  <a:srgbClr val="141923"/>
                </a:solidFill>
              </a:rPr>
              <a:t>Pain dismissal, fertility planning, and shared decisions.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151376"/>
            <a:ext cx="365760" cy="365760"/>
          </a:xfrm>
          <a:prstGeom prst="ellipse">
            <a:avLst/>
          </a:prstGeom>
          <a:solidFill>
            <a:srgbClr val="CC9E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63040" y="4059936"/>
            <a:ext cx="10241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105656"/>
            <a:ext cx="12801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Month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105656"/>
            <a:ext cx="27432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Quality and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105656"/>
            <a:ext cx="59436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0">
                <a:solidFill>
                  <a:srgbClr val="141923"/>
                </a:solidFill>
              </a:rPr>
              <a:t>HEDIS in practice, audit your own panel.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910328"/>
            <a:ext cx="365760" cy="365760"/>
          </a:xfrm>
          <a:prstGeom prst="ellipse">
            <a:avLst/>
          </a:prstGeom>
          <a:solidFill>
            <a:srgbClr val="CC9E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63040" y="4818888"/>
            <a:ext cx="10241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4864608"/>
            <a:ext cx="12801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Month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864608"/>
            <a:ext cx="27432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Burnout and boundaries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864608"/>
            <a:ext cx="59436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0">
                <a:solidFill>
                  <a:srgbClr val="141923"/>
                </a:solidFill>
              </a:rPr>
              <a:t>Recognize, prevent, and protect.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5669279"/>
            <a:ext cx="365760" cy="365760"/>
          </a:xfrm>
          <a:prstGeom prst="ellipse">
            <a:avLst/>
          </a:prstGeom>
          <a:solidFill>
            <a:srgbClr val="CC9E3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3040" y="5577840"/>
            <a:ext cx="10241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623559"/>
            <a:ext cx="128016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Month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623559"/>
            <a:ext cx="27432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>
                <a:solidFill>
                  <a:srgbClr val="142D55"/>
                </a:solidFill>
              </a:rPr>
              <a:t>Beyond the program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5623559"/>
            <a:ext cx="59436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0">
                <a:solidFill>
                  <a:srgbClr val="141923"/>
                </a:solidFill>
              </a:rPr>
              <a:t>Career planning, networking, and graduation.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37887"/>
                </a:solidFill>
              </a:rPr>
              <a:t>NP Peer Mentorship  |  Welcome deck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923"/>
                </a:solidFill>
              </a:rPr>
              <a:t>Topics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What we go deep on, and what stays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5029200" cy="20574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6634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HIGH CLINICAL  +  HIGH CAREER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Pelvic pain workups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Difficult conversations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Contraceptive counseling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Prenatal handoffs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029200" cy="205740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6634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281E14"/>
                </a:solidFill>
              </a:rPr>
              <a:t>HIGH CAREER  +  LOWER 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281E14"/>
                </a:solidFill>
              </a:rPr>
              <a:t>•  </a:t>
            </a:r>
            <a:r>
              <a:rPr sz="1200">
                <a:solidFill>
                  <a:srgbClr val="281E14"/>
                </a:solidFill>
              </a:rPr>
              <a:t>Negotiating roles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281E14"/>
                </a:solidFill>
              </a:rPr>
              <a:t>•  </a:t>
            </a:r>
            <a:r>
              <a:rPr sz="1200">
                <a:solidFill>
                  <a:srgbClr val="281E14"/>
                </a:solidFill>
              </a:rPr>
              <a:t>Setting your panel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281E14"/>
                </a:solidFill>
              </a:rPr>
              <a:t>•  </a:t>
            </a:r>
            <a:r>
              <a:rPr sz="1200">
                <a:solidFill>
                  <a:srgbClr val="281E14"/>
                </a:solidFill>
              </a:rPr>
              <a:t>CE strategy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281E14"/>
                </a:solidFill>
              </a:rPr>
              <a:t>•  </a:t>
            </a:r>
            <a:r>
              <a:rPr sz="1200">
                <a:solidFill>
                  <a:srgbClr val="281E14"/>
                </a:solidFill>
              </a:rPr>
              <a:t>Boundary scripts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5029200" cy="2057400"/>
          </a:xfrm>
          <a:prstGeom prst="rect">
            <a:avLst/>
          </a:prstGeom>
          <a:solidFill>
            <a:srgbClr val="5A8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46634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HIGH CLINICAL  +  LOWER CAREER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5720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Rare diagnoses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Imaging deep dives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Med-interaction cases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FFFFFF"/>
                </a:solidFill>
              </a:rPr>
              <a:t>•  </a:t>
            </a:r>
            <a:r>
              <a:rPr sz="1200">
                <a:solidFill>
                  <a:srgbClr val="FFFFFF"/>
                </a:solidFill>
              </a:rPr>
              <a:t>Lab 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023360"/>
            <a:ext cx="5029200" cy="2057400"/>
          </a:xfrm>
          <a:prstGeom prst="rect">
            <a:avLst/>
          </a:prstGeom>
          <a:solidFill>
            <a:srgbClr val="E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46634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141923"/>
                </a:solidFill>
              </a:rPr>
              <a:t>LOWER ON BOTH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5720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192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Tool tips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192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Charting macros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192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Inbox triage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192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Templates and snippets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383280"/>
            <a:ext cx="640080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900" b="1">
                <a:solidFill>
                  <a:srgbClr val="737887"/>
                </a:solidFill>
              </a:rPr>
              <a:t>CAREER</a:t>
            </a:r>
          </a:p>
          <a:p>
            <a:pPr algn="l"/>
            <a:r>
              <a:rPr sz="900" b="1">
                <a:solidFill>
                  <a:srgbClr val="737887"/>
                </a:solidFill>
              </a:rP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989320"/>
            <a:ext cx="3200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1">
                <a:solidFill>
                  <a:srgbClr val="737887"/>
                </a:solidFill>
              </a:rPr>
              <a:t>CLINICAL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37887"/>
                </a:solidFill>
              </a:rPr>
              <a:t>NP Peer Mentorship  |  Welcome deck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923"/>
                </a:solidFill>
              </a:rPr>
              <a:t>How a session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60 minutes, twice a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194560" cy="9144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423160"/>
            <a:ext cx="457200" cy="457200"/>
          </a:xfrm>
          <a:prstGeom prst="ellipse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423160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500" b="1">
                <a:solidFill>
                  <a:srgbClr val="142D55"/>
                </a:solidFill>
              </a:rPr>
              <a:t>Check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CC9E33"/>
                </a:solidFill>
              </a:rPr>
              <a:t>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92024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923"/>
                </a:solidFill>
              </a:rPr>
              <a:t>How was the last two weeks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19456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2194560"/>
            <a:ext cx="2194560" cy="9144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94760" y="2423160"/>
            <a:ext cx="457200" cy="457200"/>
          </a:xfrm>
          <a:prstGeom prst="ellipse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423160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01752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500" b="1">
                <a:solidFill>
                  <a:srgbClr val="142D55"/>
                </a:solidFill>
              </a:rPr>
              <a:t>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42900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CC9E33"/>
                </a:solidFill>
              </a:rPr>
              <a:t>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840480"/>
            <a:ext cx="192024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923"/>
                </a:solidFill>
              </a:rPr>
              <a:t>You bring one. We work it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19456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2194560"/>
            <a:ext cx="2194560" cy="9144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80760" y="2423160"/>
            <a:ext cx="457200" cy="457200"/>
          </a:xfrm>
          <a:prstGeom prst="ellipse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2423160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1752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500" b="1">
                <a:solidFill>
                  <a:srgbClr val="142D55"/>
                </a:solidFill>
              </a:rPr>
              <a:t>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42900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CC9E33"/>
                </a:solidFill>
              </a:rPr>
              <a:t>20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840480"/>
            <a:ext cx="192024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923"/>
                </a:solidFill>
              </a:rPr>
              <a:t>A focused topic from your roadmap.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19456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2194560"/>
            <a:ext cx="2194560" cy="9144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66759" y="2423160"/>
            <a:ext cx="457200" cy="457200"/>
          </a:xfrm>
          <a:prstGeom prst="ellipse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2423160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01752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500" b="1">
                <a:solidFill>
                  <a:srgbClr val="142D55"/>
                </a:solidFill>
              </a:rPr>
              <a:t>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42900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CC9E33"/>
                </a:solidFill>
              </a:rPr>
              <a:t>10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840480"/>
            <a:ext cx="192024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923"/>
                </a:solidFill>
              </a:rPr>
              <a:t>One concrete thing for next time.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2194560"/>
            <a:ext cx="21945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194560"/>
            <a:ext cx="2194560" cy="9144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52759" y="2423160"/>
            <a:ext cx="457200" cy="457200"/>
          </a:xfrm>
          <a:prstGeom prst="ellipse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59" y="2423160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01752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500" b="1">
                <a:solidFill>
                  <a:srgbClr val="142D55"/>
                </a:solidFill>
              </a:rPr>
              <a:t>Wrap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429000"/>
            <a:ext cx="19202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CC9E33"/>
                </a:solidFill>
              </a:rPr>
              <a:t>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3840480"/>
            <a:ext cx="192024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923"/>
                </a:solidFill>
              </a:rPr>
              <a:t>Notes and a quick survey.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solidFill>
            <a:srgbClr val="E4EAF4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142D55"/>
                </a:solidFill>
              </a:rPr>
              <a:t>Between sessions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141923"/>
                </a:solidFill>
              </a:rPr>
              <a:t>Async check-ins by Signal, a small reading list, and one open-office hour per cohort each month.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37887"/>
                </a:solidFill>
              </a:rPr>
              <a:t>NP Peer Mentorship  |  Welcome deck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923"/>
                </a:solidFill>
              </a:rPr>
              <a:t>Three ways to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Pick the tier that fits your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5661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142D55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24612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142D55"/>
                </a:solidFill>
              </a:rPr>
              <a:t>$150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3246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737887"/>
                </a:solidFill>
              </a:rPr>
              <a:t>per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Pay-as-you-go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1:1 sessions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Signal check-ins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Reading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657600" cy="466344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35661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9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CC9E33"/>
                </a:solidFill>
              </a:rPr>
              <a:t>COHORT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24612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142D55"/>
                </a:solidFill>
              </a:rPr>
              <a:t>$1,400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37560"/>
            <a:ext cx="3246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737887"/>
                </a:solidFill>
              </a:rPr>
              <a:t>for 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79476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CC9E3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Bi-monthly 1:1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CC9E3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Cohort Signal group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CC9E3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Office hours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CC9E3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Templates library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CC9E33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Mid-cohort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10972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965960"/>
            <a:ext cx="1188720" cy="365760"/>
          </a:xfrm>
          <a:prstGeom prst="round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65960"/>
            <a:ext cx="1188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783080"/>
            <a:ext cx="35661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57400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142D55"/>
                </a:solidFill>
              </a:rPr>
              <a:t>SPONSORED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14600"/>
            <a:ext cx="324612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142D55"/>
                </a:solidFill>
              </a:rPr>
              <a:t>$By employer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37560"/>
            <a:ext cx="3246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737887"/>
                </a:solidFill>
              </a:rPr>
              <a:t>contact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9476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Employer-paid placement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Quarterly outcomes report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Custom topics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Up to 5 mentees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142D55"/>
                </a:solidFill>
              </a:rPr>
              <a:t>•  </a:t>
            </a:r>
            <a:r>
              <a:rPr sz="1200">
                <a:solidFill>
                  <a:srgbClr val="141923"/>
                </a:solidFill>
              </a:rPr>
              <a:t>Discounted CE 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37887"/>
                </a:solidFill>
              </a:rPr>
              <a:t>NP Peer Mentorship  |  Welcome deck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C9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WHAT MENTEES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Ready to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"Heather rebuilt my confidence around pelvic pain visits. The case work is the thing."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Maria A., 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"I came in burned out. I left with a panel I could actually manage."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Lauren K., NP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"The session structure is tight in the best way. Nothing wasted."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79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CC9E33"/>
                </a:solidFill>
              </a:rPr>
              <a:t>Sam T., 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C8D2E1"/>
                </a:solidFill>
              </a:rPr>
              <a:t>Email hello@heather-cole.com or call (920) 555-0133 to schedule a first conversation.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Heather Cole</cp:lastModifiedBy>
  <cp:revision>1</cp:revision>
  <dcterms:created xsi:type="dcterms:W3CDTF">2026-02-15T09:00:00Z</dcterms:created>
  <dcterms:modified xsi:type="dcterms:W3CDTF">2026-02-15T09:00:00Z</dcterms:modified>
  <cp:category/>
</cp:coreProperties>
</file>