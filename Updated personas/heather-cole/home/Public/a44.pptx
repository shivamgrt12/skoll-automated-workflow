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 diagnosis or symptoms</c:v>
                </c:pt>
                <c:pt idx="1">
                  <c:v>Symptoms, no diagnosis</c:v>
                </c:pt>
                <c:pt idx="2">
                  <c:v>Diagnosed endometriosis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</c:v>
                </c:pt>
                <c:pt idx="1">
                  <c:v>6</c:v>
                </c:pt>
                <c:pt idx="2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Worst monthly pain (0-10)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Mar 25</c:v>
                </c:pt>
                <c:pt idx="1">
                  <c:v>May 25</c:v>
                </c:pt>
                <c:pt idx="2">
                  <c:v>Jul 25</c:v>
                </c:pt>
                <c:pt idx="3">
                  <c:v>Sep 25</c:v>
                </c:pt>
                <c:pt idx="4">
                  <c:v>Nov 25</c:v>
                </c:pt>
                <c:pt idx="5">
                  <c:v>Jan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8</c:v>
                </c:pt>
                <c:pt idx="2">
                  <c:v>8</c:v>
                </c:pt>
                <c:pt idx="3">
                  <c:v>6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daily pain (0-10)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Mar 25</c:v>
                </c:pt>
                <c:pt idx="1">
                  <c:v>May 25</c:v>
                </c:pt>
                <c:pt idx="2">
                  <c:v>Jul 25</c:v>
                </c:pt>
                <c:pt idx="3">
                  <c:v>Sep 25</c:v>
                </c:pt>
                <c:pt idx="4">
                  <c:v>Nov 25</c:v>
                </c:pt>
                <c:pt idx="5">
                  <c:v>Jan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7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26280" y="0"/>
            <a:ext cx="164592" cy="6858000"/>
          </a:xfrm>
          <a:prstGeom prst="rect">
            <a:avLst/>
          </a:prstGeom>
          <a:solidFill>
            <a:srgbClr val="D69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39319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>
                <a:solidFill>
                  <a:srgbClr val="F3D2D5"/>
                </a:solidFill>
              </a:rPr>
              <a:t>WISCONSIN NURSES ASSOCIATION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9319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Spring CE Series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931920" cy="3200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Managing</a:t>
            </a:r>
          </a:p>
          <a:p>
            <a:pPr algn="l"/>
            <a:r>
              <a:rPr sz="4000" b="1">
                <a:solidFill>
                  <a:srgbClr val="FFFFFF"/>
                </a:solidFill>
              </a:rPr>
              <a:t>Endometriosis</a:t>
            </a:r>
          </a:p>
          <a:p>
            <a:pPr algn="l"/>
            <a:r>
              <a:rPr sz="4000" b="1">
                <a:solidFill>
                  <a:srgbClr val="FFFFFF"/>
                </a:solidFill>
              </a:rPr>
              <a:t>in Primary 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393192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F3D2D5"/>
                </a:solidFill>
              </a:rPr>
              <a:t>Heather Cole, APRN-NP</a:t>
            </a:r>
          </a:p>
          <a:p>
            <a:pPr algn="l"/>
            <a:r>
              <a:rPr sz="1200" b="0">
                <a:solidFill>
                  <a:srgbClr val="F3D2D5"/>
                </a:solidFill>
              </a:rPr>
              <a:t>Fox Valley Women's Health</a:t>
            </a:r>
          </a:p>
          <a:p>
            <a:pPr algn="l"/>
            <a:r>
              <a:rPr sz="1200" b="0">
                <a:solidFill>
                  <a:srgbClr val="F3D2D5"/>
                </a:solidFill>
              </a:rPr>
              <a:t>February 21,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371600"/>
            <a:ext cx="667512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7A2133"/>
                </a:solidFill>
              </a:rPr>
              <a:t>Session 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92024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t>  </a:t>
            </a:r>
            <a:r>
              <a:rPr sz="1700">
                <a:solidFill>
                  <a:srgbClr val="7A2133"/>
                </a:solidFill>
              </a:rPr>
              <a:t>•  </a:t>
            </a:r>
            <a:r>
              <a:rPr sz="1500">
                <a:solidFill>
                  <a:srgbClr val="23191C"/>
                </a:solidFill>
              </a:rPr>
              <a:t>Recognize endometriosis presentations in primary care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700">
                <a:solidFill>
                  <a:srgbClr val="7A2133"/>
                </a:solidFill>
              </a:rPr>
              <a:t>•  </a:t>
            </a:r>
            <a:r>
              <a:rPr sz="1500">
                <a:solidFill>
                  <a:srgbClr val="23191C"/>
                </a:solidFill>
              </a:rPr>
              <a:t>Frame the diagnostic delay problem and what shortens it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700">
                <a:solidFill>
                  <a:srgbClr val="7A2133"/>
                </a:solidFill>
              </a:rPr>
              <a:t>•  </a:t>
            </a:r>
            <a:r>
              <a:rPr sz="1500">
                <a:solidFill>
                  <a:srgbClr val="23191C"/>
                </a:solidFill>
              </a:rPr>
              <a:t>Build a stepwise medical management plan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700">
                <a:solidFill>
                  <a:srgbClr val="7A2133"/>
                </a:solidFill>
              </a:rPr>
              <a:t>•  </a:t>
            </a:r>
            <a:r>
              <a:rPr sz="1500">
                <a:solidFill>
                  <a:srgbClr val="23191C"/>
                </a:solidFill>
              </a:rPr>
              <a:t>Counsel on referral, fertility, and long-term 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5120640"/>
            <a:ext cx="6400800" cy="1371600"/>
          </a:xfrm>
          <a:prstGeom prst="rect">
            <a:avLst/>
          </a:prstGeom>
          <a:solidFill>
            <a:srgbClr val="F3E2E2"/>
          </a:solidFill>
          <a:ln w="9525">
            <a:solidFill>
              <a:srgbClr val="DC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5212080"/>
            <a:ext cx="6126480" cy="11887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0">
                <a:solidFill>
                  <a:srgbClr val="23191C"/>
                </a:solidFill>
              </a:rPr>
              <a:t>Approved for 1.5 contact hours by the Wisconsin Board of Nursing</a:t>
            </a:r>
          </a:p>
          <a:p>
            <a:pPr algn="l"/>
            <a:r>
              <a:rPr sz="1200" b="0">
                <a:solidFill>
                  <a:srgbClr val="23191C"/>
                </a:solidFill>
              </a:rPr>
              <a:t>Activity ID WNA-2026-014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7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800" b="1">
                <a:solidFill>
                  <a:srgbClr val="23191C"/>
                </a:solidFill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</a:rPr>
              <a:t>By the end of this session, attendees will be able to: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949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394960" cy="109728"/>
          </a:xfrm>
          <a:prstGeom prst="rect">
            <a:avLst/>
          </a:prstGeom>
          <a:solidFill>
            <a:srgbClr val="7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8288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7A2133"/>
                </a:solidFill>
              </a:rPr>
              <a:t>IDENTIFY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93776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0">
                <a:solidFill>
                  <a:srgbClr val="23191C"/>
                </a:solidFill>
              </a:rPr>
              <a:t>Three or more clinical features that should raise suspicion in a primary care visit.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3949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394960" cy="109728"/>
          </a:xfrm>
          <a:prstGeom prst="rect">
            <a:avLst/>
          </a:prstGeom>
          <a:solidFill>
            <a:srgbClr val="7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18288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7A2133"/>
                </a:solidFill>
              </a:rPr>
              <a:t>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14600"/>
            <a:ext cx="493776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0">
                <a:solidFill>
                  <a:srgbClr val="23191C"/>
                </a:solidFill>
              </a:rPr>
              <a:t>An evidence-based initial workup including imaging and lab considerations.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3949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5394960" cy="109728"/>
          </a:xfrm>
          <a:prstGeom prst="rect">
            <a:avLst/>
          </a:prstGeom>
          <a:solidFill>
            <a:srgbClr val="7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94760"/>
            <a:ext cx="18288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7A2133"/>
                </a:solidFill>
              </a:rPr>
              <a:t>INITIATE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493776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0">
                <a:solidFill>
                  <a:srgbClr val="23191C"/>
                </a:solidFill>
              </a:rPr>
              <a:t>First-line medical management, including counseling on side effects and expectations.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566160"/>
            <a:ext cx="53949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566160"/>
            <a:ext cx="5394960" cy="109728"/>
          </a:xfrm>
          <a:prstGeom prst="rect">
            <a:avLst/>
          </a:prstGeom>
          <a:solidFill>
            <a:srgbClr val="7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794760"/>
            <a:ext cx="18288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7A2133"/>
                </a:solidFill>
              </a:rPr>
              <a:t>REFER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51960"/>
            <a:ext cx="493776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0">
                <a:solidFill>
                  <a:srgbClr val="23191C"/>
                </a:solidFill>
              </a:rPr>
              <a:t>With appropriate urgency, knowing red flags and fertility planning windows.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8696C"/>
                </a:solidFill>
              </a:rPr>
              <a:t>WNA CE 2026  |  Endometriosis in Primary Care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7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800" b="1">
                <a:solidFill>
                  <a:srgbClr val="23191C"/>
                </a:solidFill>
              </a:rPr>
              <a:t>How common, and how missed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</a:rPr>
              <a:t>Prevalence in reproductive-age people and the diagnostic gap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73736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0" y="1828800"/>
            <a:ext cx="530352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65960"/>
            <a:ext cx="50292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7A2133"/>
                </a:solidFill>
              </a:rPr>
              <a:t>Why the gap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14600"/>
            <a:ext cx="16459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200" b="1">
                <a:solidFill>
                  <a:srgbClr val="7A2133"/>
                </a:solidFill>
              </a:rPr>
              <a:t>1 in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587752"/>
            <a:ext cx="338328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3191C"/>
                </a:solidFill>
              </a:rPr>
              <a:t>reproductive-age people affected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291840"/>
            <a:ext cx="16459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200" b="1">
                <a:solidFill>
                  <a:srgbClr val="7A2133"/>
                </a:solidFill>
              </a:rPr>
              <a:t>7 to 10 yrs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364992"/>
            <a:ext cx="338328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3191C"/>
                </a:solidFill>
              </a:rPr>
              <a:t>average diagnostic delay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069080"/>
            <a:ext cx="16459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200" b="1">
                <a:solidFill>
                  <a:srgbClr val="7A2133"/>
                </a:solidFill>
              </a:rPr>
              <a:t>65%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42232"/>
            <a:ext cx="338328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3191C"/>
                </a:solidFill>
              </a:rPr>
              <a:t>first seen in primary care for symptoms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846320"/>
            <a:ext cx="16459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200" b="1">
                <a:solidFill>
                  <a:srgbClr val="7A2133"/>
                </a:solidFill>
              </a:rPr>
              <a:t>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919472"/>
            <a:ext cx="338328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3191C"/>
                </a:solidFill>
              </a:rPr>
              <a:t>report symptoms dismissed at least once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>
                <a:solidFill>
                  <a:srgbClr val="78696C"/>
                </a:solidFill>
              </a:rPr>
              <a:t>Sources: ACOG Practice Bulletin 114, ESHRE 2022 guideline. Estimates rounded.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8696C"/>
                </a:solidFill>
              </a:rPr>
              <a:t>WNA CE 2026  |  Endometriosis in Primary Care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7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800" b="1">
                <a:solidFill>
                  <a:srgbClr val="23191C"/>
                </a:solidFill>
              </a:rPr>
              <a:t>Where the delay happens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</a:rPr>
              <a:t>Typical timeline from first symptom to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46120"/>
            <a:ext cx="10972800" cy="73152"/>
          </a:xfrm>
          <a:prstGeom prst="rect">
            <a:avLst/>
          </a:prstGeom>
          <a:solidFill>
            <a:srgbClr val="7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52728" y="3154680"/>
            <a:ext cx="329184" cy="329184"/>
          </a:xfrm>
          <a:prstGeom prst="ellipse">
            <a:avLst/>
          </a:prstGeom>
          <a:solidFill>
            <a:srgbClr val="7A213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78308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1">
                <a:solidFill>
                  <a:srgbClr val="7A2133"/>
                </a:solidFill>
              </a:rPr>
              <a:t>Age 13-15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95728"/>
            <a:ext cx="178308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23191C"/>
                </a:solidFill>
              </a:rPr>
              <a:t>First painful periods</a:t>
            </a:r>
          </a:p>
        </p:txBody>
      </p:sp>
      <p:sp>
        <p:nvSpPr>
          <p:cNvPr id="10" name="Oval 9"/>
          <p:cNvSpPr/>
          <p:nvPr/>
        </p:nvSpPr>
        <p:spPr>
          <a:xfrm>
            <a:off x="3145536" y="3154680"/>
            <a:ext cx="329184" cy="329184"/>
          </a:xfrm>
          <a:prstGeom prst="ellipse">
            <a:avLst/>
          </a:prstGeom>
          <a:solidFill>
            <a:srgbClr val="D69E5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41448" y="3611880"/>
            <a:ext cx="178308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1">
                <a:solidFill>
                  <a:srgbClr val="7A2133"/>
                </a:solidFill>
              </a:rPr>
              <a:t>Age 16-18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4005072"/>
            <a:ext cx="178308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23191C"/>
                </a:solidFill>
              </a:rPr>
              <a:t>OTC analgesics, missed school</a:t>
            </a:r>
          </a:p>
        </p:txBody>
      </p:sp>
      <p:sp>
        <p:nvSpPr>
          <p:cNvPr id="13" name="Oval 12"/>
          <p:cNvSpPr/>
          <p:nvPr/>
        </p:nvSpPr>
        <p:spPr>
          <a:xfrm>
            <a:off x="5038344" y="3154680"/>
            <a:ext cx="329184" cy="329184"/>
          </a:xfrm>
          <a:prstGeom prst="ellipse">
            <a:avLst/>
          </a:prstGeom>
          <a:solidFill>
            <a:srgbClr val="7A213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5" y="2011680"/>
            <a:ext cx="178308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1">
                <a:solidFill>
                  <a:srgbClr val="7A2133"/>
                </a:solidFill>
              </a:rPr>
              <a:t>Age 19-22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5" y="2395728"/>
            <a:ext cx="178308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23191C"/>
                </a:solidFill>
              </a:rPr>
              <a:t>First clinic visit, often dismissed</a:t>
            </a:r>
          </a:p>
        </p:txBody>
      </p:sp>
      <p:sp>
        <p:nvSpPr>
          <p:cNvPr id="16" name="Oval 15"/>
          <p:cNvSpPr/>
          <p:nvPr/>
        </p:nvSpPr>
        <p:spPr>
          <a:xfrm>
            <a:off x="6931151" y="3154680"/>
            <a:ext cx="329184" cy="329184"/>
          </a:xfrm>
          <a:prstGeom prst="ellipse">
            <a:avLst/>
          </a:prstGeom>
          <a:solidFill>
            <a:srgbClr val="D69E5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3" y="3611880"/>
            <a:ext cx="178308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1">
                <a:solidFill>
                  <a:srgbClr val="7A2133"/>
                </a:solidFill>
              </a:rPr>
              <a:t>Age 22-25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3" y="4005072"/>
            <a:ext cx="178308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23191C"/>
                </a:solidFill>
              </a:rPr>
              <a:t>GI workup, IBS label common</a:t>
            </a:r>
          </a:p>
        </p:txBody>
      </p:sp>
      <p:sp>
        <p:nvSpPr>
          <p:cNvPr id="19" name="Oval 18"/>
          <p:cNvSpPr/>
          <p:nvPr/>
        </p:nvSpPr>
        <p:spPr>
          <a:xfrm>
            <a:off x="8823959" y="3154680"/>
            <a:ext cx="329184" cy="329184"/>
          </a:xfrm>
          <a:prstGeom prst="ellipse">
            <a:avLst/>
          </a:prstGeom>
          <a:solidFill>
            <a:srgbClr val="7A213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1" y="2011680"/>
            <a:ext cx="178308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1">
                <a:solidFill>
                  <a:srgbClr val="7A2133"/>
                </a:solidFill>
              </a:rPr>
              <a:t>Age 25-28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1" y="2395728"/>
            <a:ext cx="178308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23191C"/>
                </a:solidFill>
              </a:rPr>
              <a:t>Imaging, OB/GYN referral</a:t>
            </a:r>
          </a:p>
        </p:txBody>
      </p:sp>
      <p:sp>
        <p:nvSpPr>
          <p:cNvPr id="22" name="Oval 21"/>
          <p:cNvSpPr/>
          <p:nvPr/>
        </p:nvSpPr>
        <p:spPr>
          <a:xfrm>
            <a:off x="10716767" y="3154680"/>
            <a:ext cx="329184" cy="329184"/>
          </a:xfrm>
          <a:prstGeom prst="ellipse">
            <a:avLst/>
          </a:prstGeom>
          <a:solidFill>
            <a:srgbClr val="D69E5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3611880"/>
            <a:ext cx="178308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1">
                <a:solidFill>
                  <a:srgbClr val="7A2133"/>
                </a:solidFill>
              </a:rPr>
              <a:t>Age 26-30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4005072"/>
            <a:ext cx="178308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23191C"/>
                </a:solidFill>
              </a:rPr>
              <a:t>Diagnostic laparoscopy if pursued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257800"/>
            <a:ext cx="11064240" cy="1188720"/>
          </a:xfrm>
          <a:prstGeom prst="rect">
            <a:avLst/>
          </a:prstGeom>
          <a:solidFill>
            <a:srgbClr val="F3E2E2"/>
          </a:solidFill>
          <a:ln w="9525">
            <a:solidFill>
              <a:srgbClr val="DC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>
                <a:solidFill>
                  <a:srgbClr val="7A2133"/>
                </a:solidFill>
              </a:rPr>
              <a:t>What shortens the timeline in primary care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69280"/>
            <a:ext cx="10515600" cy="7772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3191C"/>
                </a:solidFill>
              </a:rPr>
              <a:t>Asking about period impact at every annual exam. Believing patient pain. Naming endometriosis as a possible cause early. Starting empiric medical therapy without waiting for surgical confirmation.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8696C"/>
                </a:solidFill>
              </a:rPr>
              <a:t>WNA CE 2026  |  Endometriosis in Primary Care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7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800" b="1">
                <a:solidFill>
                  <a:srgbClr val="23191C"/>
                </a:solidFill>
              </a:rPr>
              <a:t>Stepwise medical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</a:rPr>
              <a:t>Step up if symptoms persist after 3 months on therapy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148840" cy="502920"/>
          </a:xfrm>
          <a:prstGeom prst="rect">
            <a:avLst/>
          </a:prstGeom>
          <a:solidFill>
            <a:srgbClr val="7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23160"/>
            <a:ext cx="214884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60320"/>
            <a:ext cx="1874519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800" b="1">
                <a:solidFill>
                  <a:srgbClr val="23191C"/>
                </a:solidFill>
              </a:rPr>
              <a:t>NSAIDs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1874519" cy="1645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0">
                <a:solidFill>
                  <a:srgbClr val="23191C"/>
                </a:solidFill>
              </a:rPr>
              <a:t>Naproxen 500 mg BID,</a:t>
            </a:r>
          </a:p>
          <a:p>
            <a:pPr algn="ctr"/>
            <a:r>
              <a:rPr sz="1200" b="0">
                <a:solidFill>
                  <a:srgbClr val="23191C"/>
                </a:solidFill>
              </a:rPr>
              <a:t>start 1-2 days pre-menses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63440"/>
            <a:ext cx="1874519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000" b="1">
                <a:solidFill>
                  <a:srgbClr val="7A2133"/>
                </a:solidFill>
              </a:rPr>
              <a:t>Reassess at 3 months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15184" y="3657600"/>
            <a:ext cx="164592" cy="365760"/>
          </a:xfrm>
          <a:prstGeom prst="rightArrow">
            <a:avLst/>
          </a:prstGeom>
          <a:solidFill>
            <a:srgbClr val="D69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1920240"/>
            <a:ext cx="2148840" cy="502920"/>
          </a:xfrm>
          <a:prstGeom prst="rect">
            <a:avLst/>
          </a:prstGeom>
          <a:solidFill>
            <a:srgbClr val="7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2423160"/>
            <a:ext cx="214884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2560320"/>
            <a:ext cx="1874519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800" b="1">
                <a:solidFill>
                  <a:srgbClr val="23191C"/>
                </a:solidFill>
              </a:rPr>
              <a:t>Combined 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79" y="3200400"/>
            <a:ext cx="1874519" cy="1645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0">
                <a:solidFill>
                  <a:srgbClr val="23191C"/>
                </a:solidFill>
              </a:rPr>
              <a:t>Continuous use,</a:t>
            </a:r>
          </a:p>
          <a:p>
            <a:pPr algn="ctr"/>
            <a:r>
              <a:rPr sz="1200" b="0">
                <a:solidFill>
                  <a:srgbClr val="23191C"/>
                </a:solidFill>
              </a:rPr>
              <a:t>plus NSAIDs as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79" y="4663440"/>
            <a:ext cx="1874519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000" b="1">
                <a:solidFill>
                  <a:srgbClr val="7A2133"/>
                </a:solidFill>
              </a:rPr>
              <a:t>Reassess at 3 months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46904" y="3657600"/>
            <a:ext cx="164592" cy="365760"/>
          </a:xfrm>
          <a:prstGeom prst="rightArrow">
            <a:avLst/>
          </a:prstGeom>
          <a:solidFill>
            <a:srgbClr val="D69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1920240"/>
            <a:ext cx="2148840" cy="502920"/>
          </a:xfrm>
          <a:prstGeom prst="rect">
            <a:avLst/>
          </a:prstGeom>
          <a:solidFill>
            <a:srgbClr val="7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423160"/>
            <a:ext cx="214884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2560320"/>
            <a:ext cx="1874519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800" b="1">
                <a:solidFill>
                  <a:srgbClr val="23191C"/>
                </a:solidFill>
              </a:rPr>
              <a:t>Progestin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200400"/>
            <a:ext cx="1874519" cy="1645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0">
                <a:solidFill>
                  <a:srgbClr val="23191C"/>
                </a:solidFill>
              </a:rPr>
              <a:t>Dienogest 2 mg daily</a:t>
            </a:r>
          </a:p>
          <a:p>
            <a:pPr algn="ctr"/>
            <a:r>
              <a:rPr sz="1200" b="0">
                <a:solidFill>
                  <a:srgbClr val="23191C"/>
                </a:solidFill>
              </a:rPr>
              <a:t>or LNG-IUS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4663440"/>
            <a:ext cx="1874519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000" b="1">
                <a:solidFill>
                  <a:srgbClr val="7A2133"/>
                </a:solidFill>
              </a:rPr>
              <a:t>Reassess at 3 months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278623" y="3657600"/>
            <a:ext cx="164592" cy="365760"/>
          </a:xfrm>
          <a:prstGeom prst="rightArrow">
            <a:avLst/>
          </a:prstGeom>
          <a:solidFill>
            <a:srgbClr val="D69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59" y="1920240"/>
            <a:ext cx="2148840" cy="502920"/>
          </a:xfrm>
          <a:prstGeom prst="rect">
            <a:avLst/>
          </a:prstGeom>
          <a:solidFill>
            <a:srgbClr val="7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59" y="2423160"/>
            <a:ext cx="214884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19" y="2560320"/>
            <a:ext cx="1874519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800" b="1">
                <a:solidFill>
                  <a:srgbClr val="23191C"/>
                </a:solidFill>
              </a:rPr>
              <a:t>GnRH-modulator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19" y="3200400"/>
            <a:ext cx="1874519" cy="1645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0">
                <a:solidFill>
                  <a:srgbClr val="23191C"/>
                </a:solidFill>
              </a:rPr>
              <a:t>Elagolix or relugolix</a:t>
            </a:r>
          </a:p>
          <a:p>
            <a:pPr algn="ctr"/>
            <a:r>
              <a:rPr sz="1200" b="0">
                <a:solidFill>
                  <a:srgbClr val="23191C"/>
                </a:solidFill>
              </a:rPr>
              <a:t>with add-back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4663440"/>
            <a:ext cx="1874519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000" b="1">
                <a:solidFill>
                  <a:srgbClr val="7A2133"/>
                </a:solidFill>
              </a:rPr>
              <a:t>Reassess at 3 months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610343" y="3657600"/>
            <a:ext cx="164592" cy="365760"/>
          </a:xfrm>
          <a:prstGeom prst="rightArrow">
            <a:avLst/>
          </a:prstGeom>
          <a:solidFill>
            <a:srgbClr val="D69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84080" y="1920240"/>
            <a:ext cx="2148840" cy="502920"/>
          </a:xfrm>
          <a:prstGeom prst="rect">
            <a:avLst/>
          </a:prstGeom>
          <a:solidFill>
            <a:srgbClr val="7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0" y="2423160"/>
            <a:ext cx="214884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560320"/>
            <a:ext cx="1874519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800" b="1">
                <a:solidFill>
                  <a:srgbClr val="23191C"/>
                </a:solidFill>
              </a:rPr>
              <a:t>Surgical referral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3200400"/>
            <a:ext cx="1874519" cy="1645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0">
                <a:solidFill>
                  <a:srgbClr val="23191C"/>
                </a:solidFill>
              </a:rPr>
              <a:t>Diagnostic and</a:t>
            </a:r>
          </a:p>
          <a:p>
            <a:pPr algn="ctr"/>
            <a:r>
              <a:rPr sz="1200" b="0">
                <a:solidFill>
                  <a:srgbClr val="23191C"/>
                </a:solidFill>
              </a:rPr>
              <a:t>excisional laparoscopy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4663440"/>
            <a:ext cx="1874519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000" b="1">
                <a:solidFill>
                  <a:srgbClr val="7A2133"/>
                </a:solidFill>
              </a:rPr>
              <a:t>Reassess at 3 months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080760"/>
            <a:ext cx="11247120" cy="548640"/>
          </a:xfrm>
          <a:prstGeom prst="rect">
            <a:avLst/>
          </a:prstGeom>
          <a:solidFill>
            <a:srgbClr val="7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FFFFFF"/>
                </a:solidFill>
              </a:rPr>
              <a:t>Red flags for urgent referral: severe pain not controlled by NSAIDs and hormonal therapy, suspected deep infiltrating disease, infertility, fertility timing pressure.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B4B4B4"/>
                </a:solidFill>
              </a:rPr>
              <a:t>WNA CE 2026  |  Endometriosis in Primary Care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7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800" b="1">
                <a:solidFill>
                  <a:srgbClr val="23191C"/>
                </a:solidFill>
              </a:rPr>
              <a:t>Case vignette: a real Q1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</a:rPr>
              <a:t>Patient pain score across 12 months of stepwise management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737360"/>
          <a:ext cx="67665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589520" y="1737360"/>
            <a:ext cx="41148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1737360"/>
            <a:ext cx="4114800" cy="109728"/>
          </a:xfrm>
          <a:prstGeom prst="rect">
            <a:avLst/>
          </a:prstGeom>
          <a:solidFill>
            <a:srgbClr val="7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65960"/>
            <a:ext cx="38404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7A2133"/>
                </a:solidFill>
              </a:rPr>
              <a:t>Case 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377440"/>
            <a:ext cx="3840480" cy="3383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3191C"/>
                </a:solidFill>
              </a:rPr>
              <a:t>Age 27. Painful periods since teens.</a:t>
            </a:r>
          </a:p>
          <a:p>
            <a:pPr algn="l"/>
            <a:r>
              <a:rPr sz="1200" b="0">
                <a:solidFill>
                  <a:srgbClr val="23191C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23191C"/>
                </a:solidFill>
              </a:rPr>
              <a:t>Stepwise: NSAIDs in March, continuous OC in May, switched to dienogest in September.</a:t>
            </a:r>
          </a:p>
          <a:p>
            <a:pPr algn="l"/>
            <a:r>
              <a:rPr sz="1200" b="0">
                <a:solidFill>
                  <a:srgbClr val="23191C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23191C"/>
                </a:solidFill>
              </a:rPr>
              <a:t>Excisional laparoscopy in December.</a:t>
            </a:r>
          </a:p>
          <a:p>
            <a:pPr algn="l"/>
            <a:r>
              <a:rPr sz="1200" b="0">
                <a:solidFill>
                  <a:srgbClr val="23191C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23191C"/>
                </a:solidFill>
              </a:rPr>
              <a:t>Returned to work full time in January 2026.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solidFill>
            <a:srgbClr val="F3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7A2133"/>
                </a:solidFill>
              </a:rPr>
              <a:t>Patient quote: "I lost ten years of pain before someone took it seriously."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8696C"/>
                </a:solidFill>
              </a:rPr>
              <a:t>WNA CE 2026  |  Endometriosis in Primary Care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7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800" b="1">
                <a:solidFill>
                  <a:srgbClr val="23191C"/>
                </a:solidFill>
              </a:rPr>
              <a:t>Resources and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</a:rPr>
              <a:t>Patient-facing and clinical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54864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486400" cy="457200"/>
          </a:xfrm>
          <a:prstGeom prst="rect">
            <a:avLst/>
          </a:prstGeom>
          <a:solidFill>
            <a:srgbClr val="7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500" b="1">
                <a:solidFill>
                  <a:srgbClr val="FFFFFF"/>
                </a:solidFill>
              </a:rPr>
              <a:t>For patients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t>  </a:t>
            </a:r>
            <a:r>
              <a:rPr sz="1500">
                <a:solidFill>
                  <a:srgbClr val="7A2133"/>
                </a:solidFill>
              </a:rPr>
              <a:t>•  </a:t>
            </a:r>
            <a:r>
              <a:rPr sz="1300">
                <a:solidFill>
                  <a:srgbClr val="23191C"/>
                </a:solidFill>
              </a:rPr>
              <a:t>EndoFound.org patient toolkit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500">
                <a:solidFill>
                  <a:srgbClr val="7A2133"/>
                </a:solidFill>
              </a:rPr>
              <a:t>•  </a:t>
            </a:r>
            <a:r>
              <a:rPr sz="1300">
                <a:solidFill>
                  <a:srgbClr val="23191C"/>
                </a:solidFill>
              </a:rPr>
              <a:t>ACOG patient FAQ on endometriosis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500">
                <a:solidFill>
                  <a:srgbClr val="7A2133"/>
                </a:solidFill>
              </a:rPr>
              <a:t>•  </a:t>
            </a:r>
            <a:r>
              <a:rPr sz="1300">
                <a:solidFill>
                  <a:srgbClr val="23191C"/>
                </a:solidFill>
              </a:rPr>
              <a:t>Heather Cole blog: managing flare weeks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500">
                <a:solidFill>
                  <a:srgbClr val="7A2133"/>
                </a:solidFill>
              </a:rPr>
              <a:t>•  </a:t>
            </a:r>
            <a:r>
              <a:rPr sz="1300">
                <a:solidFill>
                  <a:srgbClr val="23191C"/>
                </a:solidFill>
              </a:rPr>
              <a:t>Wisconsin endometriosis support group, Madison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500">
                <a:solidFill>
                  <a:srgbClr val="7A2133"/>
                </a:solidFill>
              </a:rPr>
              <a:t>•  </a:t>
            </a:r>
            <a:r>
              <a:rPr sz="1300">
                <a:solidFill>
                  <a:srgbClr val="23191C"/>
                </a:solidFill>
              </a:rPr>
              <a:t>Pelvic floor PT directory, APTA Women's Health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737360"/>
            <a:ext cx="54864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486400" cy="457200"/>
          </a:xfrm>
          <a:prstGeom prst="rect">
            <a:avLst/>
          </a:prstGeom>
          <a:solidFill>
            <a:srgbClr val="7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500" b="1">
                <a:solidFill>
                  <a:srgbClr val="FFFFFF"/>
                </a:solidFill>
              </a:rPr>
              <a:t>For clinicians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t>  </a:t>
            </a:r>
            <a:r>
              <a:rPr sz="1500">
                <a:solidFill>
                  <a:srgbClr val="7A2133"/>
                </a:solidFill>
              </a:rPr>
              <a:t>•  </a:t>
            </a:r>
            <a:r>
              <a:rPr sz="1300">
                <a:solidFill>
                  <a:srgbClr val="23191C"/>
                </a:solidFill>
              </a:rPr>
              <a:t>ACOG Practice Bulletin 114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500">
                <a:solidFill>
                  <a:srgbClr val="7A2133"/>
                </a:solidFill>
              </a:rPr>
              <a:t>•  </a:t>
            </a:r>
            <a:r>
              <a:rPr sz="1300">
                <a:solidFill>
                  <a:srgbClr val="23191C"/>
                </a:solidFill>
              </a:rPr>
              <a:t>ESHRE 2022 guideline on endometriosis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500">
                <a:solidFill>
                  <a:srgbClr val="7A2133"/>
                </a:solidFill>
              </a:rPr>
              <a:t>•  </a:t>
            </a:r>
            <a:r>
              <a:rPr sz="1300">
                <a:solidFill>
                  <a:srgbClr val="23191C"/>
                </a:solidFill>
              </a:rPr>
              <a:t>AAFP review: endometriosis in primary care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500">
                <a:solidFill>
                  <a:srgbClr val="7A2133"/>
                </a:solidFill>
              </a:rPr>
              <a:t>•  </a:t>
            </a:r>
            <a:r>
              <a:rPr sz="1300">
                <a:solidFill>
                  <a:srgbClr val="23191C"/>
                </a:solidFill>
              </a:rPr>
              <a:t>Wisconsin OB/GYN consult line, ThedaCare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500">
                <a:solidFill>
                  <a:srgbClr val="7A2133"/>
                </a:solidFill>
              </a:rPr>
              <a:t>•  </a:t>
            </a:r>
            <a:r>
              <a:rPr sz="1300">
                <a:solidFill>
                  <a:srgbClr val="23191C"/>
                </a:solidFill>
              </a:rPr>
              <a:t>Empiric therapy worksheet (handout)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8696C"/>
                </a:solidFill>
              </a:rPr>
              <a:t>WNA CE 2026  |  Endometriosis in Primary Care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0" y="0"/>
            <a:ext cx="164592" cy="6858000"/>
          </a:xfrm>
          <a:prstGeom prst="rect">
            <a:avLst/>
          </a:prstGeom>
          <a:solidFill>
            <a:srgbClr val="D69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>
                <a:solidFill>
                  <a:srgbClr val="F3D2D5"/>
                </a:solidFill>
              </a:rPr>
              <a:t>Questions, cases, or follow-up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15600" cy="18288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Heather Cole, APRN-NP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Fox Valley Women's Health Clinic, Green Bay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hello@heather-cole.com   (920) 555-0133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CE certificate emailed within 5 business days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Heather Cole</cp:lastModifiedBy>
  <cp:revision>1</cp:revision>
  <dcterms:created xsi:type="dcterms:W3CDTF">2026-02-15T09:00:00Z</dcterms:created>
  <dcterms:modified xsi:type="dcterms:W3CDTF">2026-02-15T09:00:00Z</dcterms:modified>
  <cp:category/>
</cp:coreProperties>
</file>