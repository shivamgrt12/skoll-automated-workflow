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Estimated Reach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Instagram</c:v>
                </c:pt>
                <c:pt idx="1">
                  <c:v>Email Newsletter</c:v>
                </c:pt>
                <c:pt idx="2">
                  <c:v>Class Alumni</c:v>
                </c:pt>
                <c:pt idx="3">
                  <c:v>Word of Mouth</c:v>
                </c:pt>
                <c:pt idx="4">
                  <c:v>Google Organic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1800</c:v>
                </c:pt>
                <c:pt idx="1">
                  <c:v>280</c:v>
                </c:pt>
                <c:pt idx="2">
                  <c:v>95</c:v>
                </c:pt>
                <c:pt idx="3">
                  <c:v>120</c:v>
                </c:pt>
                <c:pt idx="4">
                  <c:v>60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1E3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46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943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4632A"/>
                </a:solidFill>
                <a:latin typeface="Calibri"/>
              </a:rPr>
              <a:t>JAKE'S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972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0" i="0">
                <a:solidFill>
                  <a:srgbClr val="FFFFFF"/>
                </a:solidFill>
                <a:latin typeface="Calibri Light"/>
              </a:rPr>
              <a:t>Recipe Blog
Launch Strategy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291840"/>
            <a:ext cx="3657600" cy="73152"/>
          </a:xfrm>
          <a:prstGeom prst="rect">
            <a:avLst/>
          </a:prstGeom>
          <a:solidFill>
            <a:srgbClr val="C46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47472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4632A"/>
                </a:solidFill>
                <a:latin typeface="Calibri"/>
              </a:rPr>
              <a:t>Target Launch: March 1, 2027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B8C8"/>
                </a:solidFill>
                <a:latin typeface="Calibri"/>
              </a:rPr>
              <a:t>Southern Fusion Recipes  |  East Lake, Atlanta  |  jake.thornton@greenrider.co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B060"/>
                </a:solidFill>
                <a:latin typeface="Calibri"/>
              </a:rPr>
              <a:t>Prepared by Jake Thornton, CNM  |  Founder, Jake's Table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4688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VISION AND MISSION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4712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B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64592" cy="1463040"/>
          </a:xfrm>
          <a:prstGeom prst="rect">
            <a:avLst/>
          </a:prstGeom>
          <a:solidFill>
            <a:srgbClr val="C46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A3828"/>
                </a:solidFill>
                <a:latin typeface="Calibri Light"/>
              </a:rPr>
              <a:t>Share the recipes, techniques, and stories behind Jake's Table cooking classes — making Southern fusion accessible to home cooks beyond the kitchen.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34640"/>
            <a:ext cx="2651760" cy="502920"/>
          </a:xfrm>
          <a:prstGeom prst="rect">
            <a:avLst/>
          </a:prstGeom>
          <a:solidFill>
            <a:srgbClr val="C46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898648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Community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337560"/>
            <a:ext cx="26517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493008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A4A"/>
                </a:solidFill>
                <a:latin typeface="Calibri"/>
              </a:rPr>
              <a:t>Build a reader base from class alumni and Instagram followers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2834640"/>
            <a:ext cx="2651760" cy="502920"/>
          </a:xfrm>
          <a:prstGeom prst="rect">
            <a:avLst/>
          </a:prstGeom>
          <a:solidFill>
            <a:srgbClr val="C46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93008" y="2898648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Technique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3337560"/>
            <a:ext cx="26517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3493008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A4A"/>
                </a:solidFill>
                <a:latin typeface="Calibri"/>
              </a:rPr>
              <a:t>Teach real cooking skills through tested, detailed recipes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834640"/>
            <a:ext cx="2651760" cy="502920"/>
          </a:xfrm>
          <a:prstGeom prst="rect">
            <a:avLst/>
          </a:prstGeom>
          <a:solidFill>
            <a:srgbClr val="C46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2898648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Heritage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337560"/>
            <a:ext cx="26517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493008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A4A"/>
                </a:solidFill>
                <a:latin typeface="Calibri"/>
              </a:rPr>
              <a:t>Honor Southern food traditions while bringing new influences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2834640"/>
            <a:ext cx="2651760" cy="502920"/>
          </a:xfrm>
          <a:prstGeom prst="rect">
            <a:avLst/>
          </a:prstGeom>
          <a:solidFill>
            <a:srgbClr val="C46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2898648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Nourishment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3337560"/>
            <a:ext cx="26517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2600" y="3493008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A4A"/>
                </a:solidFill>
                <a:latin typeface="Calibri"/>
              </a:rPr>
              <a:t>Connect cooking to care — the same instinct that drives midwifery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4688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12 RECIPES READY FOR LAUNCH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43000"/>
          <a:ext cx="1124712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1499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Recipe</a:t>
                      </a:r>
                    </a:p>
                  </a:txBody>
                  <a:tcPr>
                    <a:solidFill>
                      <a:srgbClr val="2D50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Cuisine Type</a:t>
                      </a:r>
                    </a:p>
                  </a:txBody>
                  <a:tcPr>
                    <a:solidFill>
                      <a:srgbClr val="2D50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2D50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Blog Format</a:t>
                      </a:r>
                    </a:p>
                  </a:txBody>
                  <a:tcPr>
                    <a:solidFill>
                      <a:srgbClr val="2D5016"/>
                    </a:solidFill>
                  </a:tcPr>
                </a:tc>
              </a:tr>
              <a:tr h="41499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Smoked Gouda Mac and Cheese</a:t>
                      </a:r>
                    </a:p>
                  </a:txBody>
                  <a:tcPr>
                    <a:solidFill>
                      <a:srgbClr val="F5EE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B5A4A"/>
                          </a:solidFill>
                          <a:latin typeface="Calibri"/>
                        </a:rPr>
                        <a:t>Southern Comfort</a:t>
                      </a:r>
                    </a:p>
                  </a:txBody>
                  <a:tcPr>
                    <a:solidFill>
                      <a:srgbClr val="F5EE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7A4A"/>
                          </a:solidFill>
                          <a:latin typeface="Calibri"/>
                        </a:rPr>
                        <a:t>Drafted</a:t>
                      </a:r>
                    </a:p>
                  </a:txBody>
                  <a:tcPr>
                    <a:solidFill>
                      <a:srgbClr val="F5EE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B5A4A"/>
                          </a:solidFill>
                          <a:latin typeface="Calibri"/>
                        </a:rPr>
                        <a:t>Long-form + video</a:t>
                      </a:r>
                    </a:p>
                  </a:txBody>
                  <a:tcPr>
                    <a:solidFill>
                      <a:srgbClr val="F5EEE0"/>
                    </a:solidFill>
                  </a:tcPr>
                </a:tc>
              </a:tr>
              <a:tr h="41499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Andouille Jambalaya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B5A4A"/>
                          </a:solidFill>
                          <a:latin typeface="Calibri"/>
                        </a:rPr>
                        <a:t>American Fusion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7A4A"/>
                          </a:solidFill>
                          <a:latin typeface="Calibri"/>
                        </a:rPr>
                        <a:t>Drafted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B5A4A"/>
                          </a:solidFill>
                          <a:latin typeface="Calibri"/>
                        </a:rPr>
                        <a:t>Long-form + video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499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Chicken and Okra Gumbo</a:t>
                      </a:r>
                    </a:p>
                  </a:txBody>
                  <a:tcPr>
                    <a:solidFill>
                      <a:srgbClr val="F5EE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B5A4A"/>
                          </a:solidFill>
                          <a:latin typeface="Calibri"/>
                        </a:rPr>
                        <a:t>Southern Comfort</a:t>
                      </a:r>
                    </a:p>
                  </a:txBody>
                  <a:tcPr>
                    <a:solidFill>
                      <a:srgbClr val="F5EE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7A4A"/>
                          </a:solidFill>
                          <a:latin typeface="Calibri"/>
                        </a:rPr>
                        <a:t>Drafted</a:t>
                      </a:r>
                    </a:p>
                  </a:txBody>
                  <a:tcPr>
                    <a:solidFill>
                      <a:srgbClr val="F5EE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B5A4A"/>
                          </a:solidFill>
                          <a:latin typeface="Calibri"/>
                        </a:rPr>
                        <a:t>Long-form</a:t>
                      </a:r>
                    </a:p>
                  </a:txBody>
                  <a:tcPr>
                    <a:solidFill>
                      <a:srgbClr val="F5EEE0"/>
                    </a:solidFill>
                  </a:tcPr>
                </a:tc>
              </a:tr>
              <a:tr h="41499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Buttermilk Roast Chicken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B5A4A"/>
                          </a:solidFill>
                          <a:latin typeface="Calibri"/>
                        </a:rPr>
                        <a:t>Southern Comfort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7A4A"/>
                          </a:solidFill>
                          <a:latin typeface="Calibri"/>
                        </a:rPr>
                        <a:t>Drafted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B5A4A"/>
                          </a:solidFill>
                          <a:latin typeface="Calibri"/>
                        </a:rPr>
                        <a:t>Long-form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499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Grilled Ribeye with Herb Butter</a:t>
                      </a:r>
                    </a:p>
                  </a:txBody>
                  <a:tcPr>
                    <a:solidFill>
                      <a:srgbClr val="F5EE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B5A4A"/>
                          </a:solidFill>
                          <a:latin typeface="Calibri"/>
                        </a:rPr>
                        <a:t>Grilling</a:t>
                      </a:r>
                    </a:p>
                  </a:txBody>
                  <a:tcPr>
                    <a:solidFill>
                      <a:srgbClr val="F5EE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7A4A"/>
                          </a:solidFill>
                          <a:latin typeface="Calibri"/>
                        </a:rPr>
                        <a:t>Drafted</a:t>
                      </a:r>
                    </a:p>
                  </a:txBody>
                  <a:tcPr>
                    <a:solidFill>
                      <a:srgbClr val="F5EE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B5A4A"/>
                          </a:solidFill>
                          <a:latin typeface="Calibri"/>
                        </a:rPr>
                        <a:t>Long-form + video</a:t>
                      </a:r>
                    </a:p>
                  </a:txBody>
                  <a:tcPr>
                    <a:solidFill>
                      <a:srgbClr val="F5EEE0"/>
                    </a:solidFill>
                  </a:tcPr>
                </a:tc>
              </a:tr>
              <a:tr h="41499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Garden Tomato Stew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B5A4A"/>
                          </a:solidFill>
                          <a:latin typeface="Calibri"/>
                        </a:rPr>
                        <a:t>Southern Comfort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7A4A"/>
                          </a:solidFill>
                          <a:latin typeface="Calibri"/>
                        </a:rPr>
                        <a:t>Drafted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B5A4A"/>
                          </a:solidFill>
                          <a:latin typeface="Calibri"/>
                        </a:rPr>
                        <a:t>Long-form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499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Cornbread Three Ways</a:t>
                      </a:r>
                    </a:p>
                  </a:txBody>
                  <a:tcPr>
                    <a:solidFill>
                      <a:srgbClr val="F5EE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B5A4A"/>
                          </a:solidFill>
                          <a:latin typeface="Calibri"/>
                        </a:rPr>
                        <a:t>Southern Comfort</a:t>
                      </a:r>
                    </a:p>
                  </a:txBody>
                  <a:tcPr>
                    <a:solidFill>
                      <a:srgbClr val="F5EE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7A4A"/>
                          </a:solidFill>
                          <a:latin typeface="Calibri"/>
                        </a:rPr>
                        <a:t>Drafted</a:t>
                      </a:r>
                    </a:p>
                  </a:txBody>
                  <a:tcPr>
                    <a:solidFill>
                      <a:srgbClr val="F5EE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B5A4A"/>
                          </a:solidFill>
                          <a:latin typeface="Calibri"/>
                        </a:rPr>
                        <a:t>Long-form</a:t>
                      </a:r>
                    </a:p>
                  </a:txBody>
                  <a:tcPr>
                    <a:solidFill>
                      <a:srgbClr val="F5EEE0"/>
                    </a:solidFill>
                  </a:tcPr>
                </a:tc>
              </a:tr>
              <a:tr h="41499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Collard Greens with Smoked Turkey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B5A4A"/>
                          </a:solidFill>
                          <a:latin typeface="Calibri"/>
                        </a:rPr>
                        <a:t>Southern Comfort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7A4A"/>
                          </a:solidFill>
                          <a:latin typeface="Calibri"/>
                        </a:rPr>
                        <a:t>Drafted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B5A4A"/>
                          </a:solidFill>
                          <a:latin typeface="Calibri"/>
                        </a:rPr>
                        <a:t>Long-form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499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Peach Cobbler</a:t>
                      </a:r>
                    </a:p>
                  </a:txBody>
                  <a:tcPr>
                    <a:solidFill>
                      <a:srgbClr val="F5EE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B5A4A"/>
                          </a:solidFill>
                          <a:latin typeface="Calibri"/>
                        </a:rPr>
                        <a:t>Dessert</a:t>
                      </a:r>
                    </a:p>
                  </a:txBody>
                  <a:tcPr>
                    <a:solidFill>
                      <a:srgbClr val="F5EE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7A4A"/>
                          </a:solidFill>
                          <a:latin typeface="Calibri"/>
                        </a:rPr>
                        <a:t>Drafted</a:t>
                      </a:r>
                    </a:p>
                  </a:txBody>
                  <a:tcPr>
                    <a:solidFill>
                      <a:srgbClr val="F5EE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B5A4A"/>
                          </a:solidFill>
                          <a:latin typeface="Calibri"/>
                        </a:rPr>
                        <a:t>Long-form</a:t>
                      </a:r>
                    </a:p>
                  </a:txBody>
                  <a:tcPr>
                    <a:solidFill>
                      <a:srgbClr val="F5EEE0"/>
                    </a:solidFill>
                  </a:tcPr>
                </a:tc>
              </a:tr>
              <a:tr h="41499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Shrimp and Grits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B5A4A"/>
                          </a:solidFill>
                          <a:latin typeface="Calibri"/>
                        </a:rPr>
                        <a:t>American Fusion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7A4A"/>
                          </a:solidFill>
                          <a:latin typeface="Calibri"/>
                        </a:rPr>
                        <a:t>Drafted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B5A4A"/>
                          </a:solidFill>
                          <a:latin typeface="Calibri"/>
                        </a:rPr>
                        <a:t>Long-form + video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499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Sweet Potato Casserole</a:t>
                      </a:r>
                    </a:p>
                  </a:txBody>
                  <a:tcPr>
                    <a:solidFill>
                      <a:srgbClr val="F5EE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B5A4A"/>
                          </a:solidFill>
                          <a:latin typeface="Calibri"/>
                        </a:rPr>
                        <a:t>Southern Comfort</a:t>
                      </a:r>
                    </a:p>
                  </a:txBody>
                  <a:tcPr>
                    <a:solidFill>
                      <a:srgbClr val="F5EE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7A4A"/>
                          </a:solidFill>
                          <a:latin typeface="Calibri"/>
                        </a:rPr>
                        <a:t>Drafted</a:t>
                      </a:r>
                    </a:p>
                  </a:txBody>
                  <a:tcPr>
                    <a:solidFill>
                      <a:srgbClr val="F5EE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B5A4A"/>
                          </a:solidFill>
                          <a:latin typeface="Calibri"/>
                        </a:rPr>
                        <a:t>Long-form</a:t>
                      </a:r>
                    </a:p>
                  </a:txBody>
                  <a:tcPr>
                    <a:solidFill>
                      <a:srgbClr val="F5EEE0"/>
                    </a:solidFill>
                  </a:tcPr>
                </a:tc>
              </a:tr>
              <a:tr h="4150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Low Country Boil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B5A4A"/>
                          </a:solidFill>
                          <a:latin typeface="Calibri"/>
                        </a:rPr>
                        <a:t>Grilling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7A4A"/>
                          </a:solidFill>
                          <a:latin typeface="Calibri"/>
                        </a:rPr>
                        <a:t>Drafted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B5A4A"/>
                          </a:solidFill>
                          <a:latin typeface="Calibri"/>
                        </a:rPr>
                        <a:t>Long-form + video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4688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LAUNCH TIMELINE: OCTOBER 2026 TO MARCH 2027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017520"/>
            <a:ext cx="10789920" cy="73152"/>
          </a:xfrm>
          <a:prstGeom prst="rect">
            <a:avLst/>
          </a:prstGeom>
          <a:solidFill>
            <a:srgbClr val="C0B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2834640"/>
            <a:ext cx="320040" cy="32004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164592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0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1645920" cy="109728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417320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Oct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3337560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D5016"/>
                </a:solidFill>
                <a:latin typeface="Calibri"/>
              </a:rPr>
              <a:t>Recipe Photography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3840480"/>
            <a:ext cx="149961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5A4A"/>
                </a:solidFill>
                <a:latin typeface="Calibri"/>
              </a:rPr>
              <a:t>Shoot all 12 dishes over 4 Saturdays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80944" y="2834640"/>
            <a:ext cx="320040" cy="32004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86584" y="1280160"/>
            <a:ext cx="164592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0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86584" y="1280160"/>
            <a:ext cx="1645920" cy="109728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59736" y="1417320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Nov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59736" y="3337560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D5016"/>
                </a:solidFill>
                <a:latin typeface="Calibri"/>
              </a:rPr>
              <a:t>Content Editing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59736" y="3840480"/>
            <a:ext cx="149961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5A4A"/>
                </a:solidFill>
                <a:latin typeface="Calibri"/>
              </a:rPr>
              <a:t>Final copy edits, headnotes, SEO metadata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64608" y="2834640"/>
            <a:ext cx="320040" cy="32004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70248" y="1280160"/>
            <a:ext cx="164592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0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70248" y="1280160"/>
            <a:ext cx="1645920" cy="109728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1417320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Dec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3337560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D5016"/>
                </a:solidFill>
                <a:latin typeface="Calibri"/>
              </a:rPr>
              <a:t>Platform Setup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3840480"/>
            <a:ext cx="149961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5A4A"/>
                </a:solidFill>
                <a:latin typeface="Calibri"/>
              </a:rPr>
              <a:t>WordPress staging, domain config, email import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48272" y="2834640"/>
            <a:ext cx="320040" cy="32004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53912" y="1280160"/>
            <a:ext cx="164592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0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53912" y="1280160"/>
            <a:ext cx="1645920" cy="109728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27064" y="1417320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Jan 2027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27064" y="3337560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D5016"/>
                </a:solidFill>
                <a:latin typeface="Calibri"/>
              </a:rPr>
              <a:t>Newsletter Build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27064" y="3840480"/>
            <a:ext cx="149961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5A4A"/>
                </a:solidFill>
                <a:latin typeface="Calibri"/>
              </a:rPr>
              <a:t>4-email pre-launch sequence via Mailchimp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31936" y="2834640"/>
            <a:ext cx="320040" cy="32004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37576" y="1280160"/>
            <a:ext cx="164592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0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37576" y="1280160"/>
            <a:ext cx="1645920" cy="109728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10728" y="1417320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Feb 2027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10728" y="3337560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D5016"/>
                </a:solidFill>
                <a:latin typeface="Calibri"/>
              </a:rPr>
              <a:t>Soft Preview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10728" y="3840480"/>
            <a:ext cx="149961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5A4A"/>
                </a:solidFill>
                <a:latin typeface="Calibri"/>
              </a:rPr>
              <a:t>Share 2 recipes with email list for feedback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515600" y="2834640"/>
            <a:ext cx="320040" cy="320040"/>
          </a:xfrm>
          <a:prstGeom prst="rect">
            <a:avLst/>
          </a:prstGeom>
          <a:solidFill>
            <a:srgbClr val="C46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921240" y="1280160"/>
            <a:ext cx="164592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0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921240" y="1280160"/>
            <a:ext cx="1645920" cy="109728"/>
          </a:xfrm>
          <a:prstGeom prst="rect">
            <a:avLst/>
          </a:prstGeom>
          <a:solidFill>
            <a:srgbClr val="C46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94392" y="1417320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Mar 2027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94392" y="3337560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4632A"/>
                </a:solidFill>
                <a:latin typeface="Calibri"/>
              </a:rPr>
              <a:t>LAUNCH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94392" y="3840480"/>
            <a:ext cx="149961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5A4A"/>
                </a:solidFill>
                <a:latin typeface="Calibri"/>
              </a:rPr>
              <a:t>All 12 recipes live, newsletter blast: 280 subscribers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4688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PROJECTED REACH BY CHANNEL — MONTH 1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143000"/>
          <a:ext cx="82296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961120" y="1645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5A4A"/>
                </a:solidFill>
                <a:latin typeface="Calibri"/>
              </a:rPr>
              <a:t>REACH DRIVER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10312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4632A"/>
                </a:solidFill>
                <a:latin typeface="Calibri"/>
              </a:rPr>
              <a:t>Instagram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2697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1,800 estimated reach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32004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5A4A"/>
                </a:solidFill>
                <a:latin typeface="Calibri"/>
              </a:rPr>
              <a:t>75% reach rate on 2,400 followers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3931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5A4A"/>
                </a:solidFill>
                <a:latin typeface="Calibri"/>
              </a:rPr>
              <a:t>Launch day post + 3 recipe reels in week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4688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BLOG REVENUE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4448556" y="1234440"/>
            <a:ext cx="329184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0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48556" y="1234440"/>
            <a:ext cx="3291840" cy="109728"/>
          </a:xfrm>
          <a:prstGeom prst="rect">
            <a:avLst/>
          </a:prstGeom>
          <a:solidFill>
            <a:srgbClr val="C46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31436" y="143560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4632A"/>
                </a:solidFill>
                <a:latin typeface="Calibri"/>
              </a:rPr>
              <a:t>PAID RECIPE BUNDLES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31436" y="19202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5A4A"/>
                </a:solidFill>
                <a:latin typeface="Calibri"/>
              </a:rPr>
              <a:t>PDF sets of 4 recipes at $12 each via WooCommerce.
Target: 15 sales/month by Q2 2027.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08476" y="3017520"/>
            <a:ext cx="457200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0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08476" y="3017520"/>
            <a:ext cx="4572000" cy="109728"/>
          </a:xfrm>
          <a:prstGeom prst="rect">
            <a:avLst/>
          </a:prstGeom>
          <a:solidFill>
            <a:srgbClr val="8B6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91356" y="3218688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B6347"/>
                </a:solidFill>
                <a:latin typeface="Calibri"/>
              </a:rPr>
              <a:t>CLASS BOOKINGS FROM BLOG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91356" y="370332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5A4A"/>
                </a:solidFill>
                <a:latin typeface="Calibri"/>
              </a:rPr>
              <a:t>Blog-to-Calendly conversion.
Target: 10% of new students discover Jake's Table via blog by end of 2027.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31236" y="4800600"/>
            <a:ext cx="612648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0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31236" y="4800600"/>
            <a:ext cx="6126480" cy="109728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14116" y="5001768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D5016"/>
                </a:solidFill>
                <a:latin typeface="Calibri"/>
              </a:rPr>
              <a:t>FREE BLOG CONTENT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14116" y="5486400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5A4A"/>
                </a:solidFill>
                <a:latin typeface="Calibri"/>
              </a:rPr>
              <a:t>12 free recipes driving SEO traffic, email signups, and brand awareness.
Estimated 800 monthly sessions by Q3 2027.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B5A4A"/>
                </a:solidFill>
                <a:latin typeface="Calibri"/>
              </a:rPr>
              <a:t>Long-term: sponsored content and brand partnerships after 12-month audience build.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4688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LAUNCH SUCCESS METRICS — 90 DAYS POST-LAUNCH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265176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D0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2651760" cy="109728"/>
          </a:xfrm>
          <a:prstGeom prst="rect">
            <a:avLst/>
          </a:prstGeom>
          <a:solidFill>
            <a:srgbClr val="C46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2D5016"/>
                </a:solidFill>
                <a:latin typeface="Calibri Light"/>
              </a:rPr>
              <a:t>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alibri"/>
              </a:rPr>
              <a:t>Email Subscribers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49039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5A4A"/>
                </a:solidFill>
                <a:latin typeface="Calibri"/>
              </a:rPr>
              <a:t>by end of May 2027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188720"/>
            <a:ext cx="265176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D0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188720"/>
            <a:ext cx="2651760" cy="109728"/>
          </a:xfrm>
          <a:prstGeom prst="rect">
            <a:avLst/>
          </a:prstGeom>
          <a:solidFill>
            <a:srgbClr val="C46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82880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2D5016"/>
                </a:solidFill>
                <a:latin typeface="Calibri Light"/>
              </a:rPr>
              <a:t>3,000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154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alibri"/>
              </a:rPr>
              <a:t>Monthly Blog Sessions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749039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5A4A"/>
                </a:solidFill>
                <a:latin typeface="Calibri"/>
              </a:rPr>
              <a:t>by end of May 2027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188720"/>
            <a:ext cx="265176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D0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188720"/>
            <a:ext cx="2651760" cy="109728"/>
          </a:xfrm>
          <a:prstGeom prst="rect">
            <a:avLst/>
          </a:prstGeom>
          <a:solidFill>
            <a:srgbClr val="C46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82880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2D5016"/>
                </a:solidFill>
                <a:latin typeface="Calibri Light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154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alibri"/>
              </a:rPr>
              <a:t>Paid Bundle Sales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749039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5A4A"/>
                </a:solidFill>
                <a:latin typeface="Calibri"/>
              </a:rPr>
              <a:t>in launch month (March 2027)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9720" y="1188720"/>
            <a:ext cx="265176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D0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89720" y="1188720"/>
            <a:ext cx="2651760" cy="109728"/>
          </a:xfrm>
          <a:prstGeom prst="rect">
            <a:avLst/>
          </a:prstGeom>
          <a:solidFill>
            <a:srgbClr val="C46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182880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2D5016"/>
                </a:solidFill>
                <a:latin typeface="Calibri Light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154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alibri"/>
              </a:rPr>
              <a:t>New Class Bookings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3749039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5A4A"/>
                </a:solidFill>
                <a:latin typeface="Calibri"/>
              </a:rPr>
              <a:t>attributed to blog in Q1 2027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4688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FIRST 90 DAYS: ACTION PLAN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4300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892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Period</a:t>
                      </a:r>
                    </a:p>
                  </a:txBody>
                  <a:tcPr>
                    <a:solidFill>
                      <a:srgbClr val="2D50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>
                    <a:solidFill>
                      <a:srgbClr val="2D50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>
                    <a:solidFill>
                      <a:srgbClr val="2D50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>
                    <a:solidFill>
                      <a:srgbClr val="2D5016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Week 1 (Mar 1-7)</a:t>
                      </a:r>
                    </a:p>
                  </a:txBody>
                  <a:tcPr>
                    <a:solidFill>
                      <a:srgbClr val="F5EE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Launch all 12 recipes, send newsletter blast</a:t>
                      </a:r>
                    </a:p>
                  </a:txBody>
                  <a:tcPr>
                    <a:solidFill>
                      <a:srgbClr val="F5EE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5C1E"/>
                          </a:solidFill>
                          <a:latin typeface="Calibri"/>
                        </a:rPr>
                        <a:t>Content</a:t>
                      </a:r>
                    </a:p>
                  </a:txBody>
                  <a:tcPr>
                    <a:solidFill>
                      <a:srgbClr val="F5EE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Jake</a:t>
                      </a:r>
                    </a:p>
                  </a:txBody>
                  <a:tcPr>
                    <a:solidFill>
                      <a:srgbClr val="F5EEE0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Week 1 (Mar 1-7)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Post 3 Instagram reels linking to blog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8B4A1E"/>
                          </a:solidFill>
                          <a:latin typeface="Calibri"/>
                        </a:rPr>
                        <a:t>Marketing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Jake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Week 2 (Mar 8-14)</a:t>
                      </a:r>
                    </a:p>
                  </a:txBody>
                  <a:tcPr>
                    <a:solidFill>
                      <a:srgbClr val="F5EE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Respond to all first-week reader comments</a:t>
                      </a:r>
                    </a:p>
                  </a:txBody>
                  <a:tcPr>
                    <a:solidFill>
                      <a:srgbClr val="F5EE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4A7A"/>
                          </a:solidFill>
                          <a:latin typeface="Calibri"/>
                        </a:rPr>
                        <a:t>Community</a:t>
                      </a:r>
                    </a:p>
                  </a:txBody>
                  <a:tcPr>
                    <a:solidFill>
                      <a:srgbClr val="F5EE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Jake</a:t>
                      </a:r>
                    </a:p>
                  </a:txBody>
                  <a:tcPr>
                    <a:solidFill>
                      <a:srgbClr val="F5EEE0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Week 3 (Mar 15-21)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Publish first behind-the-scenes blog 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5C1E"/>
                          </a:solidFill>
                          <a:latin typeface="Calibri"/>
                        </a:rPr>
                        <a:t>Content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Jake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Week 4 (Mar 22-31)</a:t>
                      </a:r>
                    </a:p>
                  </a:txBody>
                  <a:tcPr>
                    <a:solidFill>
                      <a:srgbClr val="F5EE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Review analytics, adjust SEO metadata</a:t>
                      </a:r>
                    </a:p>
                  </a:txBody>
                  <a:tcPr>
                    <a:solidFill>
                      <a:srgbClr val="F5EE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B3A8B"/>
                          </a:solidFill>
                          <a:latin typeface="Calibri"/>
                        </a:rPr>
                        <a:t>SEO</a:t>
                      </a:r>
                    </a:p>
                  </a:txBody>
                  <a:tcPr>
                    <a:solidFill>
                      <a:srgbClr val="F5EE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Jake</a:t>
                      </a:r>
                    </a:p>
                  </a:txBody>
                  <a:tcPr>
                    <a:solidFill>
                      <a:srgbClr val="F5EEE0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Month 2 (April)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Launch paid recipe bundle via WooCommerce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8B6B1E"/>
                          </a:solidFill>
                          <a:latin typeface="Calibri"/>
                        </a:rPr>
                        <a:t>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Jake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Month 2 (April)</a:t>
                      </a:r>
                    </a:p>
                  </a:txBody>
                  <a:tcPr>
                    <a:solidFill>
                      <a:srgbClr val="F5EE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Email subscriber growth campaign via Instagram</a:t>
                      </a:r>
                    </a:p>
                  </a:txBody>
                  <a:tcPr>
                    <a:solidFill>
                      <a:srgbClr val="F5EE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8B4A1E"/>
                          </a:solidFill>
                          <a:latin typeface="Calibri"/>
                        </a:rPr>
                        <a:t>Marketing</a:t>
                      </a:r>
                    </a:p>
                  </a:txBody>
                  <a:tcPr>
                    <a:solidFill>
                      <a:srgbClr val="F5EE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Jake</a:t>
                      </a:r>
                    </a:p>
                  </a:txBody>
                  <a:tcPr>
                    <a:solidFill>
                      <a:srgbClr val="F5EEE0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Month 3 (May)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90-day performance review, plan Q2 content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5A3A"/>
                          </a:solidFill>
                          <a:latin typeface="Calibri"/>
                        </a:rPr>
                        <a:t>Planning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Jake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46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4632A"/>
                </a:solidFill>
                <a:latin typeface="Calibri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Calibri Light"/>
              </a:rPr>
              <a:t>Five actions before launch day.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60320"/>
            <a:ext cx="502920" cy="502920"/>
          </a:xfrm>
          <a:prstGeom prst="rect">
            <a:avLst/>
          </a:prstGeom>
          <a:solidFill>
            <a:srgbClr val="7AB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87752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5146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Complete photography for remaining 4 recipes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92608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B060"/>
                </a:solidFill>
                <a:latin typeface="Calibri"/>
              </a:rPr>
              <a:t>Deadline: November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383279"/>
            <a:ext cx="502920" cy="502920"/>
          </a:xfrm>
          <a:prstGeom prst="rect">
            <a:avLst/>
          </a:prstGeom>
          <a:solidFill>
            <a:srgbClr val="7AB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410712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33756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Finalize WordPress theme and mobile layout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749039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B060"/>
                </a:solidFill>
                <a:latin typeface="Calibri"/>
              </a:rPr>
              <a:t>Deadline: December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206240"/>
            <a:ext cx="502920" cy="502920"/>
          </a:xfrm>
          <a:prstGeom prst="rect">
            <a:avLst/>
          </a:prstGeom>
          <a:solidFill>
            <a:srgbClr val="7AB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233672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1605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Build Mailchimp pre-launch sequence (4 emails)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57200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B060"/>
                </a:solidFill>
                <a:latin typeface="Calibri"/>
              </a:rPr>
              <a:t>Deadline: January 2027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029200"/>
            <a:ext cx="502920" cy="502920"/>
          </a:xfrm>
          <a:prstGeom prst="rect">
            <a:avLst/>
          </a:prstGeom>
          <a:solidFill>
            <a:srgbClr val="7AB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056632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98348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Soft-launch 2 recipes to email list for feedback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539496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B060"/>
                </a:solidFill>
                <a:latin typeface="Calibri"/>
              </a:rPr>
              <a:t>Deadline: February 2027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5852159"/>
            <a:ext cx="502920" cy="502920"/>
          </a:xfrm>
          <a:prstGeom prst="rect">
            <a:avLst/>
          </a:prstGeom>
          <a:solidFill>
            <a:srgbClr val="C46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879592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580644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Go live with all 12 recipes and newsletter blast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621792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632A"/>
                </a:solidFill>
                <a:latin typeface="Calibri"/>
              </a:rPr>
              <a:t>March 1, 2027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