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Southern Comfort</c:v>
                </c:pt>
                <c:pt idx="1">
                  <c:v>American Fusion</c:v>
                </c:pt>
                <c:pt idx="2">
                  <c:v>Grilling</c:v>
                </c:pt>
                <c:pt idx="3">
                  <c:v>Holiday Brunch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5400</c:v>
                </c:pt>
                <c:pt idx="1">
                  <c:v>3600</c:v>
                </c:pt>
                <c:pt idx="2">
                  <c:v>2600</c:v>
                </c:pt>
                <c:pt idx="3">
                  <c:v>2600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Oct 2026</c:v>
                </c:pt>
                <c:pt idx="1">
                  <c:v>Nov 2026</c:v>
                </c:pt>
                <c:pt idx="2">
                  <c:v>Dec 2026</c:v>
                </c:pt>
                <c:pt idx="3">
                  <c:v>Jan 2027</c:v>
                </c:pt>
                <c:pt idx="4">
                  <c:v>Feb 2027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22</c:v>
                </c:pt>
                <c:pt idx="2">
                  <c:v>16</c:v>
                </c:pt>
                <c:pt idx="3">
                  <c:v>6</c:v>
                </c:pt>
                <c:pt idx="4">
                  <c:v>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Supplies</c:v>
                </c:pt>
                <c:pt idx="1">
                  <c:v>Platform fees</c:v>
                </c:pt>
                <c:pt idx="2">
                  <c:v>Print materials</c:v>
                </c:pt>
                <c:pt idx="3">
                  <c:v>Photography</c:v>
                </c:pt>
                <c:pt idx="4">
                  <c:v>Misc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200</c:v>
                </c:pt>
                <c:pt idx="1">
                  <c:v>45</c:v>
                </c:pt>
                <c:pt idx="2">
                  <c:v>20</c:v>
                </c:pt>
                <c:pt idx="3">
                  <c:v>25</c:v>
                </c:pt>
                <c:pt idx="4">
                  <c:v>10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7500"/>
                </a:solidFill>
                <a:latin typeface="Calibri"/>
              </a:rPr>
              <a:t>JAKE'S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0" i="0">
                <a:solidFill>
                  <a:srgbClr val="FFFFFF"/>
                </a:solidFill>
                <a:latin typeface="Calibri Light"/>
              </a:rPr>
              <a:t>Q4 2026 Business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246120"/>
            <a:ext cx="4114800" cy="64008"/>
          </a:xfrm>
          <a:prstGeom prst="rect">
            <a:avLst/>
          </a:prstGeom>
          <a:solidFill>
            <a:srgbClr val="D4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4290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88888"/>
                </a:solidFill>
                <a:latin typeface="Calibri Light"/>
              </a:rPr>
              <a:t>Southern Fusion Cooking Classes  |  East Lake, Atlanta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0350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Prepared by Jake Thornton  |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2026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26517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2651760" cy="91440"/>
          </a:xfrm>
          <a:prstGeom prst="rect">
            <a:avLst/>
          </a:prstGeom>
          <a:solidFill>
            <a:srgbClr val="D4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D47500"/>
                </a:solidFill>
                <a:latin typeface="Calibri Light"/>
              </a:rPr>
              <a:t>$14,200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Annual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03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5044"/>
                </a:solidFill>
                <a:latin typeface="Calibri"/>
              </a:rPr>
              <a:t>USD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188720"/>
            <a:ext cx="26517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188720"/>
            <a:ext cx="2651760" cy="91440"/>
          </a:xfrm>
          <a:prstGeom prst="rect">
            <a:avLst/>
          </a:prstGeom>
          <a:solidFill>
            <a:srgbClr val="D4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92024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D47500"/>
                </a:solidFill>
                <a:latin typeface="Calibri Light"/>
              </a:rPr>
              <a:t>192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200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Students Taught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703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5044"/>
                </a:solidFill>
                <a:latin typeface="Calibri"/>
              </a:rPr>
              <a:t>2026 total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188720"/>
            <a:ext cx="26517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188720"/>
            <a:ext cx="2651760" cy="91440"/>
          </a:xfrm>
          <a:prstGeom prst="rect">
            <a:avLst/>
          </a:prstGeom>
          <a:solidFill>
            <a:srgbClr val="D4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2024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D47500"/>
                </a:solidFill>
                <a:latin typeface="Calibri Light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200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Classes Delivered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703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5044"/>
                </a:solidFill>
                <a:latin typeface="Calibri"/>
              </a:rPr>
              <a:t>across all tracks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1188720"/>
            <a:ext cx="26517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20" y="1188720"/>
            <a:ext cx="2651760" cy="91440"/>
          </a:xfrm>
          <a:prstGeom prst="rect">
            <a:avLst/>
          </a:prstGeom>
          <a:solidFill>
            <a:srgbClr val="D4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192024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D47500"/>
                </a:solidFill>
                <a:latin typeface="Calibri Light"/>
              </a:rPr>
              <a:t>4.8 /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200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Student Rating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703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5044"/>
                </a:solidFill>
                <a:latin typeface="Calibri"/>
              </a:rPr>
              <a:t>average score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REVENUE BY CLASS TYPE — 2026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43000"/>
          <a:ext cx="73152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46720" y="164592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C5044"/>
                </a:solidFill>
                <a:latin typeface="Calibri"/>
              </a:rPr>
              <a:t>TOP PERFORMER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274320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47500"/>
                </a:solidFill>
                <a:latin typeface="Calibri"/>
              </a:rPr>
              <a:t>Southern Comfort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32918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$5,400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9319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5044"/>
                </a:solidFill>
                <a:latin typeface="Calibri"/>
              </a:rPr>
              <a:t>$75 / seat · 8-student home cap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5720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5044"/>
                </a:solidFill>
                <a:latin typeface="Calibri"/>
              </a:rPr>
              <a:t>$65 / seat · venue classes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MONTHLY STUDENT ENROLLMENT — OCT 2026 TO FEB 2027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43000"/>
          <a:ext cx="86868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326880" y="1920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C5044"/>
                </a:solidFill>
                <a:latin typeface="Calibri"/>
              </a:rPr>
              <a:t>PEAK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2377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7500"/>
                </a:solidFill>
                <a:latin typeface="Calibri"/>
              </a:rPr>
              <a:t>November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2971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22 students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3429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5044"/>
                </a:solidFill>
                <a:latin typeface="Calibri"/>
              </a:rPr>
              <a:t>2 classes in 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80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C5044"/>
                </a:solidFill>
                <a:latin typeface="Calibri"/>
              </a:rPr>
              <a:t>Holiday season drives enrollment. January/February reflect lighter 6-student home sessions.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CLASS PERFORMANCE LOG — Q4 2026 AND Q1 2027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52251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Class Title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Enrolled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Venue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Rating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Fall Harvest Grilling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Oct 17, 2026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7A4A"/>
                          </a:solidFill>
                          <a:latin typeface="Calibri"/>
                        </a:rPr>
                        <a:t>$600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Home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4.9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American Fusion Night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Nov 8,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7A4A"/>
                          </a:solidFill>
                          <a:latin typeface="Calibri"/>
                        </a:rPr>
                        <a:t>$600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Home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4.7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Southern Comfort Foundations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Nov 8, 2026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7A4A"/>
                          </a:solidFill>
                          <a:latin typeface="Calibri"/>
                        </a:rPr>
                        <a:t>$600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Home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4.8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Holiday Soul Food Brunch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Dec 6,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7A4A"/>
                          </a:solidFill>
                          <a:latin typeface="Calibri"/>
                        </a:rPr>
                        <a:t>$600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Home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New Year Soul Food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Jan 16, 2027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7A4A"/>
                          </a:solidFill>
                          <a:latin typeface="Calibri"/>
                        </a:rPr>
                        <a:t>$450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Home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4.8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Valentine Couples Cooking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Feb 13, 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7A4A"/>
                          </a:solidFill>
                          <a:latin typeface="Calibri"/>
                        </a:rPr>
                        <a:t>$450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Home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4.9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937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C5044"/>
                </a:solidFill>
                <a:latin typeface="Calibri"/>
              </a:rPr>
              <a:t>All home classes run at $75/seat · 8-student maximum · 3-hour session · Saturday afternoon.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MARKETING PERFORMANCE — INSTAGRAM @JAKES.TABLE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52044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520440" cy="109728"/>
          </a:xfrm>
          <a:prstGeom prst="rect">
            <a:avLst/>
          </a:prstGeom>
          <a:solidFill>
            <a:srgbClr val="D4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D47500"/>
                </a:solidFill>
                <a:latin typeface="Calibri Light"/>
              </a:rPr>
              <a:t>2,400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Followers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5044"/>
                </a:solidFill>
                <a:latin typeface="Calibri"/>
              </a:rPr>
              <a:t>Up 340 from start of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1688" y="1188720"/>
            <a:ext cx="352044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1688" y="1188720"/>
            <a:ext cx="3520440" cy="109728"/>
          </a:xfrm>
          <a:prstGeom prst="rect">
            <a:avLst/>
          </a:prstGeom>
          <a:solidFill>
            <a:srgbClr val="D4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55448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D47500"/>
                </a:solidFill>
                <a:latin typeface="Calibri Light"/>
              </a:rPr>
              <a:t>6.2%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65176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Engagement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315468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5044"/>
                </a:solidFill>
                <a:latin typeface="Calibri"/>
              </a:rPr>
              <a:t>Industry average: 2.1%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66175" y="1188720"/>
            <a:ext cx="352044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66175" y="1188720"/>
            <a:ext cx="3520440" cy="109728"/>
          </a:xfrm>
          <a:prstGeom prst="rect">
            <a:avLst/>
          </a:prstGeom>
          <a:solidFill>
            <a:srgbClr val="D4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49055" y="155448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D47500"/>
                </a:solidFill>
                <a:latin typeface="Calibri Light"/>
              </a:rPr>
              <a:t>38%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5" y="265176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New Bookings via 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5" y="315468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5044"/>
                </a:solidFill>
                <a:latin typeface="Calibri"/>
              </a:rPr>
              <a:t>Students citing Instagram as discovery channel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63440"/>
            <a:ext cx="112471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8006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Content Mix: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2120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5044"/>
                </a:solidFill>
                <a:latin typeface="Calibri"/>
              </a:rPr>
              <a:t>Recipe reels  ·  Class behind-the-scenes  ·  Garden harvest posts  ·  Calendly booking link in bio  ·  Direct class registration via public profile link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JAKE'S TABLE MONTHLY OPERATING COSTS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097280"/>
          <a:ext cx="6858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98079" y="1645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C5044"/>
                </a:solidFill>
                <a:latin typeface="Calibri"/>
              </a:rPr>
              <a:t>COST BREAKDOWN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194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Supplies (produce, protein)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21945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7500"/>
                </a:solidFill>
                <a:latin typeface="Calibri"/>
              </a:rPr>
              <a:t>$200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788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Stripe / Calendly fees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27889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7500"/>
                </a:solidFill>
                <a:latin typeface="Calibri"/>
              </a:rPr>
              <a:t>$45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3383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Print recipe cards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33832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7500"/>
                </a:solidFill>
                <a:latin typeface="Calibri"/>
              </a:rPr>
              <a:t>$20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97763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Food photography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3977639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7500"/>
                </a:solidFill>
                <a:latin typeface="Calibri"/>
              </a:rPr>
              <a:t>$25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4572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Miscellaneous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45720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7500"/>
                </a:solidFill>
                <a:latin typeface="Calibri"/>
              </a:rPr>
              <a:t>$10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5349240"/>
            <a:ext cx="4572000" cy="73152"/>
          </a:xfrm>
          <a:prstGeom prst="rect">
            <a:avLst/>
          </a:prstGeom>
          <a:solidFill>
            <a:srgbClr val="D4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546811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Total: ~$300/month  ·  Gross margin per class: ~70%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2027 GROWTH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2651760" cy="640080"/>
          </a:xfrm>
          <a:prstGeom prst="rect">
            <a:avLst/>
          </a:prstGeom>
          <a:solidFill>
            <a:srgbClr val="D4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Q1 2027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828800"/>
            <a:ext cx="265176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2011680"/>
            <a:ext cx="2331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5044"/>
                </a:solidFill>
                <a:latin typeface="Calibri"/>
              </a:rPr>
              <a:t>Launch recipe blog March 1. Valentine couples class Feb 13. Newsletter list target: 300 subscribers.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188720"/>
            <a:ext cx="2651760" cy="640080"/>
          </a:xfrm>
          <a:prstGeom prst="rect">
            <a:avLst/>
          </a:prstGeom>
          <a:solidFill>
            <a:srgbClr val="D4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26187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Q2 2027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828800"/>
            <a:ext cx="265176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2011680"/>
            <a:ext cx="2331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5044"/>
                </a:solidFill>
                <a:latin typeface="Calibri"/>
              </a:rPr>
              <a:t>Spring pop-up at community venue in May. New class track: brunch. Instagram target: 2,800 followers.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188720"/>
            <a:ext cx="2651760" cy="640080"/>
          </a:xfrm>
          <a:prstGeom prst="rect">
            <a:avLst/>
          </a:prstGeom>
          <a:solidFill>
            <a:srgbClr val="D4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26187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Q3 2027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265176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2011680"/>
            <a:ext cx="2331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5044"/>
                </a:solidFill>
                <a:latin typeface="Calibri"/>
              </a:rPr>
              <a:t>Summer grilling series outdoors. Explore supper club pilot with local venue partner.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1188720"/>
            <a:ext cx="2651760" cy="640080"/>
          </a:xfrm>
          <a:prstGeom prst="rect">
            <a:avLst/>
          </a:prstGeom>
          <a:solidFill>
            <a:srgbClr val="D4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26187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Q4 2027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1828800"/>
            <a:ext cx="265176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54312" y="2011680"/>
            <a:ext cx="2331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5044"/>
                </a:solidFill>
                <a:latin typeface="Calibri"/>
              </a:rPr>
              <a:t>Holiday season 3 classes. Blog-to-class conversion tracking. Annual revenue target: $18,000.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