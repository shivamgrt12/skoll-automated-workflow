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 wrap="square"/>
          <a:lstStyle/>
          <a:p>
            <a:r>
              <a:rPr sz="1100" b="1">
                <a:solidFill>
                  <a:srgbClr val="1B3A5F"/>
                </a:solidFill>
              </a:rPr>
              <a:t>Maternal Mortality Rate (per 100,000 live births)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Maternal Mortality Rate (per 100k)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Black Mothers
(Atlanta)</c:v>
                </c:pt>
                <c:pt idx="1">
                  <c:v>White Mothers
(Atlanta)</c:v>
                </c:pt>
                <c:pt idx="2">
                  <c:v>Georgia
Average</c:v>
                </c:pt>
                <c:pt idx="3">
                  <c:v>National
Average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89.2</c:v>
                </c:pt>
                <c:pt idx="1">
                  <c:v>27.8</c:v>
                </c:pt>
                <c:pt idx="2">
                  <c:v>48.3</c:v>
                </c:pt>
                <c:pt idx="3">
                  <c:v>32.9</c:v>
                </c:pt>
              </c:numCache>
            </c:numRef>
          </c:val>
          <c:dPt>
            <c:idx val="0"/>
            <c:invertIfNeg val="0"/>
            <c:spPr>
              <a:solidFill>
                <a:srgbClr val="D63A3A"/>
              </a:solidFill>
              <a:ln>
                <a:noFill/>
              </a:ln>
            </c:spPr>
          </c:dPt>
          <c:dPt>
            <c:idx val="1"/>
            <c:invertIfNeg val="0"/>
            <c:spPr>
              <a:solidFill>
                <a:srgbClr val="3ABFB1"/>
              </a:solidFill>
              <a:ln>
                <a:noFill/>
              </a:ln>
            </c:spPr>
          </c:dPt>
          <c:dPt>
            <c:idx val="2"/>
            <c:invertIfNeg val="0"/>
            <c:spPr>
              <a:solidFill>
                <a:srgbClr val="1B3A5F"/>
              </a:solidFill>
              <a:ln>
                <a:noFill/>
              </a:ln>
            </c:spPr>
          </c:dPt>
          <c:dPt>
            <c:idx val="3"/>
            <c:invertIfNeg val="0"/>
            <c:spPr>
              <a:solidFill>
                <a:srgbClr val="A8BCC8"/>
              </a:solidFill>
              <a:ln>
                <a:noFill/>
              </a:ln>
            </c:spPr>
          </c:dPt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3A5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3A5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 wrap="square"/>
          <a:lstStyle/>
          <a:p>
            <a:r>
              <a:rPr sz="1100" b="1">
                <a:solidFill>
                  <a:srgbClr val="FFFFFF"/>
                </a:solidFill>
              </a:rPr>
              <a:t>Environmental Risk Factor Impact Scores (AMWA Assessment)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AMWA Impact Score (0-100)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Air Quality (PM2.5)</c:v>
                </c:pt>
                <c:pt idx="1">
                  <c:v>Housing Instability</c:v>
                </c:pt>
                <c:pt idx="2">
                  <c:v>Food Desert
Proximity</c:v>
                </c:pt>
                <c:pt idx="3">
                  <c:v>Transportation
Gaps</c:v>
                </c:pt>
                <c:pt idx="4">
                  <c:v>Social Isolation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62</c:v>
                </c:pt>
                <c:pt idx="2">
                  <c:v>71</c:v>
                </c:pt>
                <c:pt idx="3">
                  <c:v>55</c:v>
                </c:pt>
                <c:pt idx="4">
                  <c:v>49</c:v>
                </c:pt>
              </c:numCache>
            </c:numRef>
          </c:val>
          <c:dPt>
            <c:idx val="0"/>
            <c:invertIfNeg val="0"/>
            <c:spPr>
              <a:solidFill>
                <a:srgbClr val="D63A3A"/>
              </a:solidFill>
              <a:ln>
                <a:noFill/>
              </a:ln>
            </c:spPr>
          </c:dPt>
          <c:dPt>
            <c:idx val="1"/>
            <c:invertIfNeg val="0"/>
            <c:spPr>
              <a:solidFill>
                <a:srgbClr val="F4A228"/>
              </a:solidFill>
              <a:ln>
                <a:noFill/>
              </a:ln>
            </c:spPr>
          </c:dPt>
          <c:dPt>
            <c:idx val="2"/>
            <c:invertIfNeg val="0"/>
            <c:spPr>
              <a:solidFill>
                <a:srgbClr val="D63A3A"/>
              </a:solidFill>
              <a:ln>
                <a:noFill/>
              </a:ln>
            </c:spPr>
          </c:dPt>
          <c:dPt>
            <c:idx val="3"/>
            <c:invertIfNeg val="0"/>
            <c:spPr>
              <a:solidFill>
                <a:srgbClr val="3ABFB1"/>
              </a:solidFill>
              <a:ln>
                <a:noFill/>
              </a:ln>
            </c:spPr>
          </c:dPt>
          <c:dPt>
            <c:idx val="4"/>
            <c:invertIfNeg val="0"/>
            <c:spPr>
              <a:solidFill>
                <a:srgbClr val="7090A8"/>
              </a:solidFill>
              <a:ln>
                <a:noFill/>
              </a:ln>
            </c:spPr>
          </c:dPt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 wrap="square"/>
          <a:lstStyle/>
          <a:p>
            <a:r>
              <a:rPr sz="1100" b="1">
                <a:solidFill>
                  <a:srgbClr val="1B3A5F"/>
                </a:solidFill>
              </a:rPr>
              <a:t>2026 Program Outcomes vs Targets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Target</c:v>
                </c:pt>
              </c:strCache>
            </c:strRef>
          </c:tx>
          <c:spPr>
            <a:solidFill>
              <a:srgbClr val="A8BCC8"/>
            </a:solidFill>
          </c:spPr>
          <c:cat>
            <c:strRef>
              <c:f>Sheet1!$A$2:$A$5</c:f>
              <c:strCache>
                <c:ptCount val="4"/>
                <c:pt idx="0">
                  <c:v>Referral
Pathways</c:v>
                </c:pt>
                <c:pt idx="1">
                  <c:v>Clinic
Partners (×10)</c:v>
                </c:pt>
                <c:pt idx="2">
                  <c:v>Postpartum
Screenings</c:v>
                </c:pt>
                <c:pt idx="3">
                  <c:v>Education
Workshops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Achieved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Referral
Pathways</c:v>
                </c:pt>
                <c:pt idx="1">
                  <c:v>Clinic
Partners (×10)</c:v>
                </c:pt>
                <c:pt idx="2">
                  <c:v>Postpartum
Screenings</c:v>
                </c:pt>
                <c:pt idx="3">
                  <c:v>Education
Workshops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20</c:v>
                </c:pt>
                <c:pt idx="2">
                  <c:v>15</c:v>
                </c:pt>
                <c:pt idx="3">
                  <c:v>6</c:v>
                </c:pt>
              </c:numCache>
            </c:numRef>
          </c:val>
          <c:spPr>
            <a:solidFill>
              <a:srgbClr val="3ABFB1"/>
            </a:solidFill>
          </c:spPr>
        </c:ser>
        <c:dLbls>
          <c:txPr>
            <a:bodyPr/>
            <a:lstStyle/>
            <a:p>
              <a:pPr>
                <a:defRPr sz="900" b="1">
                  <a:solidFill>
                    <a:srgbClr val="1B3A5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3A5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3A5F"/>
                </a:solidFill>
              </a:defRPr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B3A5F"/>
                </a:solidFill>
              </a:rPr>
              <a:t>Maternal Mortality Rate (per 100,000 live births)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Maternal Mortality Rate (per 100k)</c:v>
                </c:pt>
              </c:strCache>
            </c:strRef>
          </c:tx>
          <c:dPt>
            <c:idx val="0"/>
            <c:invertIfNeg val="0"/>
            <c:spPr>
              <a:solidFill>
                <a:srgbClr val="D63A3A"/>
              </a:solidFill>
              <a:ln>
                <a:noFill/>
              </a:ln>
            </c:spPr>
          </c:dPt>
          <c:dPt>
            <c:idx val="1"/>
            <c:invertIfNeg val="0"/>
            <c:spPr>
              <a:solidFill>
                <a:srgbClr val="3ABFB1"/>
              </a:solidFill>
              <a:ln>
                <a:noFill/>
              </a:ln>
            </c:spPr>
          </c:dPt>
          <c:dPt>
            <c:idx val="2"/>
            <c:invertIfNeg val="0"/>
            <c:spPr>
              <a:solidFill>
                <a:srgbClr val="1B3A5F"/>
              </a:solidFill>
              <a:ln>
                <a:noFill/>
              </a:ln>
            </c:spPr>
          </c:dPt>
          <c:dPt>
            <c:idx val="3"/>
            <c:invertIfNeg val="0"/>
            <c:spPr>
              <a:solidFill>
                <a:srgbClr val="A8BCC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Black Mothers
(Atlanta)</c:v>
                </c:pt>
                <c:pt idx="1">
                  <c:v>White Mothers
(Atlanta)</c:v>
                </c:pt>
                <c:pt idx="2">
                  <c:v>Georgia
Average</c:v>
                </c:pt>
                <c:pt idx="3">
                  <c:v>National
Average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89.2</c:v>
                </c:pt>
                <c:pt idx="1">
                  <c:v>27.8</c:v>
                </c:pt>
                <c:pt idx="2">
                  <c:v>48.3</c:v>
                </c:pt>
                <c:pt idx="3">
                  <c:v>32.9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B3A5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B3A5F"/>
                </a:solidFill>
              </a:rPr>
              <a:t>Environmental Risk Impact Scores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AMWA Impact Score (0-100)</c:v>
                </c:pt>
              </c:strCache>
            </c:strRef>
          </c:tx>
          <c:dPt>
            <c:idx val="0"/>
            <c:invertIfNeg val="0"/>
            <c:spPr>
              <a:solidFill>
                <a:srgbClr val="D63A3A"/>
              </a:solidFill>
              <a:ln>
                <a:noFill/>
              </a:ln>
            </c:spPr>
          </c:dPt>
          <c:dPt>
            <c:idx val="1"/>
            <c:invertIfNeg val="0"/>
            <c:spPr>
              <a:solidFill>
                <a:srgbClr val="1B3A5F"/>
              </a:solidFill>
              <a:ln>
                <a:noFill/>
              </a:ln>
            </c:spPr>
          </c:dPt>
          <c:dPt>
            <c:idx val="2"/>
            <c:invertIfNeg val="0"/>
            <c:spPr>
              <a:solidFill>
                <a:srgbClr val="3ABFB1"/>
              </a:solidFill>
              <a:ln>
                <a:noFill/>
              </a:ln>
            </c:spPr>
          </c:dPt>
          <c:dPt>
            <c:idx val="3"/>
            <c:invertIfNeg val="0"/>
            <c:spPr>
              <a:solidFill>
                <a:srgbClr val="A8BCC8"/>
              </a:solidFill>
              <a:ln>
                <a:noFill/>
              </a:ln>
            </c:spPr>
          </c:dPt>
          <c:dPt>
            <c:idx val="4"/>
            <c:invertIfNeg val="0"/>
            <c:spPr>
              <a:solidFill>
                <a:srgbClr val="5A7FA8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Air Quality
(PM2.5)</c:v>
                </c:pt>
                <c:pt idx="1">
                  <c:v>Housing
Instability</c:v>
                </c:pt>
                <c:pt idx="2">
                  <c:v>Food Desert
Proximity</c:v>
                </c:pt>
                <c:pt idx="3">
                  <c:v>Transportation
Gaps</c:v>
                </c:pt>
                <c:pt idx="4">
                  <c:v>Social
Isolation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62</c:v>
                </c:pt>
                <c:pt idx="2">
                  <c:v>71</c:v>
                </c:pt>
                <c:pt idx="3">
                  <c:v>55</c:v>
                </c:pt>
                <c:pt idx="4">
                  <c:v>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B3A5F"/>
                </a:solidFill>
              </a:rPr>
              <a:t>2026 Program Targets vs. Achieved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Referral
Pathways</c:v>
                </c:pt>
                <c:pt idx="1">
                  <c:v>Clinic
Partners</c:v>
                </c:pt>
                <c:pt idx="2">
                  <c:v>Postpartum
Screenings</c:v>
                </c:pt>
                <c:pt idx="3">
                  <c:v>Education
Workshops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spPr>
            <a:solidFill>
              <a:srgbClr val="A8BCC8"/>
            </a:solidFill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Achieved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Referral
Pathways</c:v>
                </c:pt>
                <c:pt idx="1">
                  <c:v>Clinic
Partners</c:v>
                </c:pt>
                <c:pt idx="2">
                  <c:v>Postpartum
Screenings</c:v>
                </c:pt>
                <c:pt idx="3">
                  <c:v>Education
Workshops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20</c:v>
                </c:pt>
                <c:pt idx="2">
                  <c:v>15</c:v>
                </c:pt>
                <c:pt idx="3">
                  <c:v>6</c:v>
                </c:pt>
              </c:numCache>
            </c:numRef>
          </c:val>
          <c:spPr>
            <a:solidFill>
              <a:srgbClr val="1B3A5F"/>
            </a:solidFill>
          </c:spPr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0"/>
            <a:ext cx="3200400" cy="457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BFB1"/>
                </a:solidFill>
                <a:latin typeface="Calibri"/>
              </a:rPr>
              <a:t>ATLANTA MATERNAL WELLNESS ALLIANCE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 Light"/>
              </a:rPr>
              <a:t>2026 Annual Board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10698480" cy="457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FCC"/>
                </a:solidFill>
                <a:latin typeface="Calibri"/>
              </a:rPr>
              <a:t>Prepared by Jake Thornton, CNM  |  Board Volunteer  | 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7A8E"/>
                </a:solidFill>
                <a:latin typeface="Calibri"/>
              </a:rPr>
              <a:t>Improving Maternal Outcomes in Atlanta Neighborhoods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297680"/>
            <a:ext cx="32004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474720" cy="73152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3474720" cy="35661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5F"/>
                </a:solidFill>
                <a:latin typeface="Calibri"/>
              </a:rPr>
              <a:t>Referral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70"/>
                </a:solidFill>
                <a:latin typeface="Calibri"/>
              </a:rPr>
              <a:t>42% of low-risk home birth clients lack a documented hospital backup pathway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371600"/>
            <a:ext cx="3474720" cy="73152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7" y="1444752"/>
            <a:ext cx="3474720" cy="35661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5F"/>
                </a:solidFill>
                <a:latin typeface="Calibri"/>
              </a:rPr>
              <a:t>Air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70"/>
                </a:solidFill>
                <a:latin typeface="Calibri"/>
              </a:rPr>
              <a:t>PM2.5 in South Atlanta corridors correlates with 18% higher preterm rate vs. metro average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371600"/>
            <a:ext cx="3474720" cy="73152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1896" y="1444752"/>
            <a:ext cx="3474720" cy="35661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5F"/>
                </a:solidFill>
                <a:latin typeface="Calibri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70"/>
                </a:solidFill>
                <a:latin typeface="Calibri"/>
              </a:rPr>
              <a:t>Only 2 CNM practices operate within 5 miles of highest-need Atlanta zip codes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MATERNAL HEALTH DISPARITIES IN ATLANTA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697480" cy="23317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37160" cy="23317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ABFB1"/>
                </a:solidFill>
                <a:latin typeface="Calibri Light"/>
              </a:rPr>
              <a:t>3.2x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Black mothers in Atlanta face 3.2x higher maternal mortality risk than white mothers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280160"/>
            <a:ext cx="2697480" cy="23317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280160"/>
            <a:ext cx="137160" cy="23317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630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ABFB1"/>
                </a:solidFill>
                <a:latin typeface="Calibri Light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Of OB/GYN shortfall counties in Georgia are majority-minority communities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2697480" cy="23317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37160" cy="23317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ABFB1"/>
                </a:solidFill>
                <a:latin typeface="Calibri Light"/>
              </a:rPr>
              <a:t>1 in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Atlanta mothers report inadequate postpartum follow-up within 6 weeks of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3703320"/>
            <a:ext cx="2697480" cy="23317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3240" y="3703320"/>
            <a:ext cx="137160" cy="23317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886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ABFB1"/>
                </a:solidFill>
                <a:latin typeface="Calibri Light"/>
              </a:rPr>
              <a:t>12 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7548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Average distance low-income Atlanta mothers travel to access CNM 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6446520"/>
            <a:ext cx="6080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CCD6E0"/>
                </a:solidFill>
              </a:rPr>
              <a:t>Source: Georgia Dept. of Public Health, 2024 Maternal Mortality Report; CDC WONDER 2024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897880" y="1280160"/>
          <a:ext cx="608076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CNM ACCESS BY ATLANTA NEIGHBORHOOD — 2025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Neighborhood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CNM Practices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Travel Time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Uninsured Rate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 Level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East Lake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8 min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Vine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28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0000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Bankhead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19 min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502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Reynoldstown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11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8860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Thomasville Heights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31 min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0000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Source: AMWA 2025 neighborhood access survey. Critical = 0 practices within 5 miles and uninsured rate above 20%.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ENVIRONMENTAL HEALTH AND MATERNAL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20440" cy="54864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AIR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20440" cy="1874519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PM2.5 levels in industrial corridors near South Atlanta neighborhoods exceed EPA thresholds 47 days per year on average. Linked to preterm birth and low birth weight in peer-reviewed studies.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280160"/>
            <a:ext cx="3520440" cy="54864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371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HOUSING STABILITY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3520440" cy="1874519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31% of AMWA-surveyed mothers experienced housing instability in the 12 months prior to delivery. Correlates with delayed prenatal care initiation and increased emergency department 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1280160"/>
            <a:ext cx="3520440" cy="54864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371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FOOD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828800"/>
            <a:ext cx="3520440" cy="1874519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20116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6 of 11 highest-need zip codes in metro Atlanta are classified as food deserts. Iron deficiency during pregnancy is 2.4x more prevalent in food-insecure households.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CCD6E0"/>
                </a:solidFill>
              </a:rPr>
              <a:t>Source: AMWA 2025-2026 neighborhood health survey; EPA AQI Atlanta metro data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65760" y="3886200"/>
          <a:ext cx="1152144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2026 PROGRAMS AND INITIATIVES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94360" cy="59436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F"/>
                </a:solidFill>
                <a:latin typeface="Calibri"/>
              </a:rPr>
              <a:t>Referral Pathway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64207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Documented hospital backup contacts for 28 home birth clients across 4 Atlanta neighborhoods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39"/>
            <a:ext cx="594360" cy="59436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F"/>
                </a:solidFill>
                <a:latin typeface="Calibri"/>
              </a:rPr>
              <a:t>Community Education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157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6 postpartum warning sign workshops at community centers, reaching 180 attendees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8999"/>
            <a:ext cx="594360" cy="59436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832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F"/>
                </a:solidFill>
                <a:latin typeface="Calibri"/>
              </a:rPr>
              <a:t>Environmental Data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67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Compiled PM2.5 and housing stability data for board review and policy advocacy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59"/>
            <a:ext cx="594360" cy="59436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262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34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F"/>
                </a:solidFill>
                <a:latin typeface="Calibri"/>
              </a:rPr>
              <a:t>Clinic Partnership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188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Established referral agreements with 2 new community health clinics in underserved corridors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32120"/>
            <a:ext cx="594360" cy="59436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577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F"/>
                </a:solidFill>
                <a:latin typeface="Calibri"/>
              </a:rPr>
              <a:t>Maternal Mental Health 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87044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Piloted Edinburgh Scale screening support for 15 midwifery-referred postpartum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2026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F"/>
                </a:solidFill>
                <a:latin typeface="Calibri"/>
              </a:rPr>
              <a:t>Key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28 clients with documented backup pathways (up from 11 in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180 community members reached through education series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2 new clinic referral partnerships established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Environmental data brief adopted as board policy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79"/>
            <a:ext cx="274320" cy="2743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Edinburgh screening piloted for 15 postpartum clients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92240" y="1188720"/>
          <a:ext cx="5212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1B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Clients with backup pathway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+155%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Community workshops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+100%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Clinic partnerships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+200%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Board advocacy briefs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B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+100%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0" y="6565392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CCD6E0"/>
                </a:solidFill>
              </a:rPr>
              <a:t>Note: Clinic Partners shown ×10 for scale. Source: AMWA 2026 program tracking data.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400800" y="4251960"/>
          <a:ext cx="557784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2027 STRATEGIC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5029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Expand Referral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394960" cy="18288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Target 50 clients with documented backup pathways by end of 2027. Focus on Vine City and Thomasville Heights.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5029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Policy Brief Submission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394960" cy="18288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3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Submit updated maternal outcomes data to Georgia Dept. of Public Health for state MCH planning inclusion.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79"/>
            <a:ext cx="5394960" cy="5029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Mental Health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43399"/>
            <a:ext cx="5394960" cy="18288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8055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Scale Edinburgh screening pilot to all AMWA-partnered practices. Target 60 clients enrolled in 2027.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79"/>
            <a:ext cx="5394960" cy="502920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Environmental Advocacy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343399"/>
            <a:ext cx="5394960" cy="18288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5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Present air quality data at Atlanta City Council hearing on industrial corridor zoning policies.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RECOMMENDATIONS TO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20440" cy="109728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3520440" cy="47548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F"/>
                </a:solidFill>
                <a:latin typeface="Calibri"/>
              </a:rPr>
              <a:t>Fund the Referral
Coordinator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Allocate $12,000 to hire a part-time referral coordinator to manage hospital backup agreements for home birth clients in high-need neighborhoods.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280160"/>
            <a:ext cx="3520440" cy="109728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89888"/>
            <a:ext cx="3520440" cy="47548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087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F"/>
                </a:solidFill>
                <a:latin typeface="Calibri"/>
              </a:rPr>
              <a:t>Commission Environmental
Health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Partner with a local university to produce a peer-reviewed study on PM2.5 impact on Atlanta-area birth outcomes for use in state policy advocacy.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1280160"/>
            <a:ext cx="3520440" cy="109728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1389888"/>
            <a:ext cx="3520440" cy="47548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15087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F"/>
                </a:solidFill>
                <a:latin typeface="Calibri"/>
              </a:rPr>
              <a:t>Launch the Maternal
Navigator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256032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  <a:latin typeface="Calibri"/>
              </a:rPr>
              <a:t>Pilot a peer navigator model in 2 high-need zip codes to connect pregnant women with CNM care, housing support, and food resources.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200400" cy="54864"/>
          </a:xfrm>
          <a:prstGeom prst="rect">
            <a:avLst/>
          </a:prstGeom>
          <a:solidFill>
            <a:srgbClr val="3AB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ABFB1"/>
                </a:solidFill>
                <a:latin typeface="Calibri Light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BFCC"/>
                </a:solidFill>
                <a:latin typeface="Calibri"/>
              </a:rPr>
              <a:t>Jake Thornton, CNM  |  AMWA Board Volunteer  |  jake.thornton@greenrider.co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