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" cy="201168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20"/>
                </a:solidFill>
                <a:latin typeface="Calibri"/>
              </a:rPr>
              <a:t>DAVIS AUTO REPAIR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Equipment Upgrade
Capital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9620"/>
                </a:solidFill>
                <a:latin typeface="Calibri"/>
              </a:rPr>
              <a:t>SBA Microloan Application - Desert Plains Federal Credit Union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3E0"/>
                </a:solidFill>
                <a:latin typeface="Calibri"/>
              </a:rPr>
              <a:t>Diagnostic Scanner Upgrade + Precision Alignment Rack
$28,000 at 7.2% - James Davis, Owner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2A8"/>
                </a:solidFill>
                <a:latin typeface="Calibri"/>
              </a:rPr>
              <a:t>El Paso, TX  |  Owner: James Davis  |  35 Years in Business  |  January 2027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035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Loan Amount: $28,000   Rate: 7.2%   Term: 5 years   Monthly Payment: ~$554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9620"/>
                </a:solidFill>
                <a:latin typeface="Calibri"/>
              </a:rPr>
              <a:t>Why we need this equipment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5661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56616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Aging Diagnostic 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C4E"/>
                </a:solidFill>
                <a:latin typeface="Calibri"/>
              </a:rPr>
              <a:t>The current scan tool is over 8 years old and cannot communicate with
2020 and newer vehicles. El Paso's fleet average is getting younger.
We lose 3 to 5 diagnostic jobs per month that require newer protocols.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97280"/>
            <a:ext cx="35661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5661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No In-House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830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C4E"/>
                </a:solidFill>
                <a:latin typeface="Calibri"/>
              </a:rPr>
              <a:t>Every alignment job goes to a competitor. Customers must make a second
appointment and drive cross-town. We estimate 40+ alignment referrals
per month at an average ticket of $95 each.
That is approximately $3,800 in revenue walking out the door monthly.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56616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3566160" cy="54864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Competitive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33C4E"/>
                </a:solidFill>
                <a:latin typeface="Calibri"/>
              </a:rPr>
              <a:t>Two shops in the Lower Valley have added alignment capability in the
past two years. A third is reportedly adding advanced diagnostics.
Without this equipment, Davis Auto Repair loses its positioning as the
full-service shop in Ysleta.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9620"/>
                </a:solidFill>
                <a:latin typeface="Calibri"/>
              </a:rPr>
              <a:t>Two pieces of equipment - one loan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94960" cy="52120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94960" cy="73152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2A8"/>
                </a:solidFill>
                <a:latin typeface="Calibri"/>
              </a:rPr>
              <a:t>EQUIPMENT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74E"/>
                </a:solidFill>
                <a:latin typeface="Calibri"/>
              </a:rPr>
              <a:t>Advanced Diagnostic Scanner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2A8"/>
                </a:solidFill>
                <a:latin typeface="Calibri"/>
              </a:rPr>
              <a:t>Replaces the aging 8-year-old unit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>
                <a:solidFill>
                  <a:srgbClr val="1A274E"/>
                </a:solidFill>
                <a:latin typeface="Calibri"/>
              </a:rPr>
              <a:t>Capabilities: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Full OBD-II and OBD-III coverage through model year 2027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Bi-directional controls and active test capability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ADAS calibration support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Wireless vehicle communication - no bay downtime for cabling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Cloud-based repair data integration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Diagnostic report generation for customer communication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303520"/>
            <a:ext cx="2011680" cy="59436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9620"/>
                </a:solidFill>
                <a:latin typeface="Calibri"/>
              </a:rPr>
              <a:t>Budget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$8,000 - $12,000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05840"/>
            <a:ext cx="5605272" cy="52120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005840"/>
            <a:ext cx="5605272" cy="7315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2A8"/>
                </a:solidFill>
                <a:latin typeface="Calibri"/>
              </a:rPr>
              <a:t>EQUIPMENT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74E"/>
                </a:solidFill>
                <a:latin typeface="Calibri"/>
              </a:rPr>
              <a:t>Precision Alignment Rack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2A8"/>
                </a:solidFill>
                <a:latin typeface="Calibri"/>
              </a:rPr>
              <a:t>Quoted and ready for installation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317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000" b="1">
                <a:solidFill>
                  <a:srgbClr val="1A274E"/>
                </a:solidFill>
                <a:latin typeface="Calibri"/>
              </a:rPr>
              <a:t>Capabilities: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Four-wheel precision alignment for all vehicle types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Trucks, SUVs, and performance vehicles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Self-calibrating measurement heads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Touchscreen control and print-to-customer report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Installed and commissioned by Southwest Equipment</a:t>
            </a:r>
          </a:p>
          <a:p>
            <a:pPr>
              <a:spcBef>
                <a:spcPts val="300"/>
              </a:spcBef>
              <a:defRPr sz="950">
                <a:solidFill>
                  <a:srgbClr val="333C4E"/>
                </a:solidFill>
              </a:defRPr>
            </a:pPr>
            <a:r>
              <a:t>  Full warranty and training included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303520"/>
            <a:ext cx="2194560" cy="59436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349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9620"/>
                </a:solidFill>
                <a:latin typeface="Calibri"/>
              </a:rPr>
              <a:t>Installed Quote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$18,500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Total Equipment Investment: $28,000  (Scanner: up to $12,000 + Alignment Rack: $18,500, targeting mid-range scanner at $9,500)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Financial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9620"/>
                </a:solidFill>
                <a:latin typeface="Calibri"/>
              </a:rPr>
              <a:t>Davis Auto Repair and Davis household - strength of repayment capacity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743200" cy="64008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Annual Shop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74AD"/>
                </a:solidFill>
                <a:latin typeface="Calibri"/>
              </a:rPr>
              <a:t>$540k - $660k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2A8"/>
                </a:solidFill>
                <a:latin typeface="Calibri"/>
              </a:rPr>
              <a:t>Trailing 3-year average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5156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1051560"/>
            <a:ext cx="2743200" cy="6400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James Annual Draw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8449"/>
                </a:solidFill>
                <a:latin typeface="Calibri"/>
              </a:rPr>
              <a:t>$78,000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2A8"/>
                </a:solidFill>
                <a:latin typeface="Calibri"/>
              </a:rPr>
              <a:t>Modest by design - reinvests in shop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5156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051560"/>
            <a:ext cx="274320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Beth Bakery 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7E22"/>
                </a:solidFill>
                <a:latin typeface="Calibri"/>
              </a:rPr>
              <a:t>$52,000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2A8"/>
                </a:solidFill>
                <a:latin typeface="Calibri"/>
              </a:rPr>
              <a:t>Second household income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051560"/>
            <a:ext cx="274320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051560"/>
            <a:ext cx="2743200" cy="64008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Household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1463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274E"/>
                </a:solidFill>
                <a:latin typeface="Calibri"/>
              </a:rPr>
              <a:t>$130,000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2A8"/>
                </a:solidFill>
                <a:latin typeface="Calibri"/>
              </a:rPr>
              <a:t>Combined annual income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651760"/>
            <a:ext cx="530352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743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E"/>
                </a:solidFill>
                <a:latin typeface="Calibri"/>
              </a:rPr>
              <a:t>Asset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00400"/>
            <a:ext cx="530352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Shop building (owned outright)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8449"/>
                </a:solidFill>
                <a:latin typeface="Calibri"/>
              </a:rPr>
              <a:t>$280,000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8039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Primary residence (market value)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803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8449"/>
                </a:solidFill>
                <a:latin typeface="Calibri"/>
              </a:rPr>
              <a:t>$340,000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24528"/>
            <a:ext cx="530352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3159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Emergency savings fund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43159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8449"/>
                </a:solidFill>
                <a:latin typeface="Calibri"/>
              </a:rPr>
              <a:t>$18,000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8280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F-250 truck - paid 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482803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E8449"/>
                </a:solidFill>
                <a:latin typeface="Calibri"/>
              </a:rPr>
              <a:t>$42,000 est.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248656"/>
            <a:ext cx="5303520" cy="493776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3400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Mortgage remaining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5340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C0392B"/>
                </a:solidFill>
                <a:latin typeface="Calibri"/>
              </a:rPr>
              <a:t>($170,000)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2651760"/>
            <a:ext cx="566928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2743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274E"/>
                </a:solidFill>
                <a:latin typeface="Calibri"/>
              </a:rPr>
              <a:t>Monthly Cash Flow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200400"/>
            <a:ext cx="5669280" cy="5303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32918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C4E"/>
                </a:solidFill>
                <a:latin typeface="Calibri"/>
              </a:rPr>
              <a:t>Combined household income (monthly avg.)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32918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E8449"/>
                </a:solidFill>
                <a:latin typeface="Calibri"/>
              </a:rPr>
              <a:t>$10,833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0" y="3749039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384047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C4E"/>
                </a:solidFill>
                <a:latin typeface="Calibri"/>
              </a:rPr>
              <a:t>Total household expenses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3840479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C0392B"/>
                </a:solidFill>
                <a:latin typeface="Calibri"/>
              </a:rPr>
              <a:t>($5,833)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4297680"/>
            <a:ext cx="5669280" cy="5303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3891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C4E"/>
                </a:solidFill>
                <a:latin typeface="Calibri"/>
              </a:rPr>
              <a:t>Proposed loan payment (monthly)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43891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E67E22"/>
                </a:solidFill>
                <a:latin typeface="Calibri"/>
              </a:rPr>
              <a:t>($554)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846320"/>
            <a:ext cx="566928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93775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C4E"/>
                </a:solidFill>
                <a:latin typeface="Calibri"/>
              </a:rPr>
              <a:t>Net available after loan 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0" y="4937759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1A274E"/>
                </a:solidFill>
                <a:latin typeface="Calibri"/>
              </a:rPr>
              <a:t>$4,446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5394960"/>
            <a:ext cx="5669280" cy="53035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54864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C4E"/>
                </a:solidFill>
                <a:latin typeface="Calibri"/>
              </a:rPr>
              <a:t>Debt service coverage ratio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54864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2174AD"/>
                </a:solidFill>
                <a:latin typeface="Calibri"/>
              </a:rPr>
              <a:t>1.8x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Revenue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9620"/>
                </a:solidFill>
                <a:latin typeface="Calibri"/>
              </a:rPr>
              <a:t>Projected new revenue streams from the equipment upgrade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57432" cy="41148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457432" cy="4572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Revenue 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051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Avg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051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Est. Monthly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051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Monthly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051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Annual Add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08760"/>
            <a:ext cx="1145743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459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Alignment service - in-house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6459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$95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6459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45 jobs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164591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$4,275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6459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$51,300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148839"/>
            <a:ext cx="11457432" cy="621792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2859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Advanced diagnostics (2020+ vehicles)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28599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$165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2859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15 jobs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28599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$2,475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859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$29,700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88920"/>
            <a:ext cx="11457432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9260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ADAS calibration (new scanner)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292607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$220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926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5 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926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$1,100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9260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$13,200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428999"/>
            <a:ext cx="11457432" cy="621792"/>
          </a:xfrm>
          <a:prstGeom prst="rect">
            <a:avLst/>
          </a:prstGeom>
          <a:solidFill>
            <a:srgbClr val="F2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5661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Retained customers (vs. referral loss)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56615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$340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5661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C4E"/>
                </a:solidFill>
                <a:latin typeface="Calibri"/>
              </a:rPr>
              <a:t>8 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5661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$2,720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5661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$32,640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114800"/>
            <a:ext cx="11457432" cy="50292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Projected New Annual Revenue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20"/>
                </a:solidFill>
                <a:latin typeface="Calibri"/>
              </a:rPr>
              <a:t>$126,840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754880"/>
            <a:ext cx="11457432" cy="822960"/>
          </a:xfrm>
          <a:prstGeom prst="rect">
            <a:avLst/>
          </a:prstGeom>
          <a:solidFill>
            <a:srgbClr val="E8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818888"/>
            <a:ext cx="109728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C4E"/>
                </a:solidFill>
                <a:latin typeface="Calibri"/>
              </a:rPr>
              <a:t>Simple payback period on $28,000 loan: less than 3 months from new alignment revenue alone.
Loan term is 5 years at 7.2% with monthly payments of approximately $554. Net revenue gain from new services
exceeds annual loan service by more than 18 times.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715000"/>
            <a:ext cx="5303520" cy="82296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7607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E"/>
                </a:solidFill>
                <a:latin typeface="Calibri"/>
              </a:rPr>
              <a:t>Loan payoff from alignment revenue alone
(conservative 30 jobs/month x $95):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199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2,850/mo vs. 554/mo payment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5715000"/>
            <a:ext cx="5696712" cy="822960"/>
          </a:xfrm>
          <a:prstGeom prst="rect">
            <a:avLst/>
          </a:prstGeom>
          <a:solidFill>
            <a:srgbClr val="FEF9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76072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74E"/>
                </a:solidFill>
                <a:latin typeface="Calibri"/>
              </a:rPr>
              <a:t>Current monthly revenue range:
$45,000 to $55,000 (seasonal)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61996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8449"/>
                </a:solidFill>
                <a:latin typeface="Calibri"/>
              </a:rPr>
              <a:t>Projected post-upgrade: $56,000 to $67,000/mo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Loan Terms and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9620"/>
                </a:solidFill>
                <a:latin typeface="Calibri"/>
              </a:rPr>
              <a:t>Desert Plains Federal Credit Union - SBA Microloan Program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011680" cy="54864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74E"/>
                </a:solidFill>
                <a:latin typeface="Calibri"/>
              </a:rPr>
              <a:t>$28,000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5156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1760" y="1051560"/>
            <a:ext cx="2011680" cy="54864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74E"/>
                </a:solidFill>
                <a:latin typeface="Calibri"/>
              </a:rPr>
              <a:t>7.2% fixed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05156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051560"/>
            <a:ext cx="2011680" cy="54864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Term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74E"/>
                </a:solidFill>
                <a:latin typeface="Calibri"/>
              </a:rPr>
              <a:t>60 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05156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1051560"/>
            <a:ext cx="2011680" cy="54864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Payment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74E"/>
                </a:solidFill>
                <a:latin typeface="Calibri"/>
              </a:rPr>
              <a:t>~$554/mo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051560"/>
            <a:ext cx="20116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1051560"/>
            <a:ext cx="2011680" cy="54864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9488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Total Interest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14630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274E"/>
                </a:solidFill>
                <a:latin typeface="Calibri"/>
              </a:rPr>
              <a:t>~$5,237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274E"/>
                </a:solidFill>
                <a:latin typeface="Calibri"/>
              </a:rPr>
              <a:t>Application Timeline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84655" y="3383280"/>
            <a:ext cx="1127455" cy="4572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59164" y="3246120"/>
            <a:ext cx="201168" cy="201168"/>
          </a:xfrm>
          <a:prstGeom prst="ellipse">
            <a:avLst/>
          </a:prstGeom>
          <a:solidFill>
            <a:srgbClr val="1A274E"/>
          </a:solidFill>
          <a:ln w="25400">
            <a:solidFill>
              <a:srgbClr val="C89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520440"/>
            <a:ext cx="211775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3584448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9620"/>
                </a:solidFill>
                <a:latin typeface="Calibri"/>
              </a:rPr>
              <a:t>Oct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58768"/>
            <a:ext cx="20720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74E"/>
                </a:solidFill>
                <a:latin typeface="Calibri"/>
              </a:rPr>
              <a:t>Application Submitted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251960"/>
            <a:ext cx="207203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C4E"/>
                </a:solidFill>
                <a:latin typeface="Calibri"/>
              </a:rPr>
              <a:t>Personal financial statement signed. All tax returns and P&amp;L submitted to Desert Plains FCU.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39565" y="3383280"/>
            <a:ext cx="1127455" cy="4572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4074" y="3246120"/>
            <a:ext cx="201168" cy="201168"/>
          </a:xfrm>
          <a:prstGeom prst="ellipse">
            <a:avLst/>
          </a:prstGeom>
          <a:solidFill>
            <a:srgbClr val="1A274E"/>
          </a:solidFill>
          <a:ln w="25400">
            <a:solidFill>
              <a:srgbClr val="C89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57830" y="3520440"/>
            <a:ext cx="211775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21838" y="3584448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9620"/>
                </a:solidFill>
                <a:latin typeface="Calibri"/>
              </a:rPr>
              <a:t>Nov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1838" y="3858768"/>
            <a:ext cx="20720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74E"/>
                </a:solidFill>
                <a:latin typeface="Calibri"/>
              </a:rPr>
              <a:t>Documentation Complete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21838" y="4251960"/>
            <a:ext cx="207203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C4E"/>
                </a:solidFill>
                <a:latin typeface="Calibri"/>
              </a:rPr>
              <a:t>Balance sheet finalized. Use-of-funds statement submitted. Equipment quotes on file.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4476" y="3383280"/>
            <a:ext cx="1127455" cy="4572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68984" y="3246120"/>
            <a:ext cx="201168" cy="201168"/>
          </a:xfrm>
          <a:prstGeom prst="ellipse">
            <a:avLst/>
          </a:prstGeom>
          <a:solidFill>
            <a:srgbClr val="1A274E"/>
          </a:solidFill>
          <a:ln w="25400">
            <a:solidFill>
              <a:srgbClr val="C89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12740" y="3520440"/>
            <a:ext cx="211775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6748" y="3584448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9620"/>
                </a:solidFill>
                <a:latin typeface="Calibri"/>
              </a:rPr>
              <a:t>Jan 20, 2027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6748" y="3858768"/>
            <a:ext cx="20720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74E"/>
                </a:solidFill>
                <a:latin typeface="Calibri"/>
              </a:rPr>
              <a:t>Decision Expected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6748" y="4251960"/>
            <a:ext cx="207203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C4E"/>
                </a:solidFill>
                <a:latin typeface="Calibri"/>
              </a:rPr>
              <a:t>Credit union response anticipated. Scanner and rack orders queued pending approval.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49386" y="3383280"/>
            <a:ext cx="1127455" cy="4572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23895" y="3246120"/>
            <a:ext cx="201168" cy="201168"/>
          </a:xfrm>
          <a:prstGeom prst="ellipse">
            <a:avLst/>
          </a:prstGeom>
          <a:solidFill>
            <a:srgbClr val="1A274E"/>
          </a:solidFill>
          <a:ln w="25400">
            <a:solidFill>
              <a:srgbClr val="C89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67651" y="3520440"/>
            <a:ext cx="211775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31659" y="3584448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9620"/>
                </a:solidFill>
                <a:latin typeface="Calibri"/>
              </a:rPr>
              <a:t>Feb 2027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1659" y="3858768"/>
            <a:ext cx="20720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74E"/>
                </a:solidFill>
                <a:latin typeface="Calibri"/>
              </a:rPr>
              <a:t>Equipment Ordered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1659" y="4251960"/>
            <a:ext cx="207203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C4E"/>
                </a:solidFill>
                <a:latin typeface="Calibri"/>
              </a:rPr>
              <a:t>Scanner ordered immediately on approval. Southwest Equipment schedules alignment rack installation.</a:t>
            </a:r>
          </a:p>
        </p:txBody>
      </p:sp>
      <p:sp>
        <p:nvSpPr>
          <p:cNvPr id="51" name="Oval 50"/>
          <p:cNvSpPr/>
          <p:nvPr/>
        </p:nvSpPr>
        <p:spPr>
          <a:xfrm>
            <a:off x="10378805" y="3246120"/>
            <a:ext cx="201168" cy="201168"/>
          </a:xfrm>
          <a:prstGeom prst="ellipse">
            <a:avLst/>
          </a:prstGeom>
          <a:solidFill>
            <a:srgbClr val="1A274E"/>
          </a:solidFill>
          <a:ln w="25400">
            <a:solidFill>
              <a:srgbClr val="C896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22561" y="3520440"/>
            <a:ext cx="211775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86569" y="3584448"/>
            <a:ext cx="207203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89620"/>
                </a:solidFill>
                <a:latin typeface="Calibri"/>
              </a:rPr>
              <a:t>Mar 2027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86569" y="3858768"/>
            <a:ext cx="207203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274E"/>
                </a:solidFill>
                <a:latin typeface="Calibri"/>
              </a:rPr>
              <a:t>Operational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86569" y="4251960"/>
            <a:ext cx="207203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C4E"/>
                </a:solidFill>
                <a:latin typeface="Calibri"/>
              </a:rPr>
              <a:t>Both units commissioned and generating new revenue within 45 days of loan closing.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9620"/>
                </a:solidFill>
                <a:latin typeface="Calibri"/>
              </a:rPr>
              <a:t>100% equipment - no operating capital, no real estate, no debt consolidation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57432" cy="11887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8147304" cy="1188720"/>
          </a:xfrm>
          <a:prstGeom prst="rect">
            <a:avLst/>
          </a:prstGeom>
          <a:solidFill>
            <a:srgbClr val="217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Alignment Rack - $18,500 (66%)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513064" y="1005840"/>
            <a:ext cx="3310128" cy="118872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Scanner - $9,500 (34%)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23160"/>
            <a:ext cx="11457432" cy="12344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E"/>
                </a:solidFill>
                <a:latin typeface="Calibri"/>
              </a:rPr>
              <a:t>Precision alignment rack - installed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8449"/>
                </a:solidFill>
                <a:latin typeface="Calibri"/>
              </a:rPr>
              <a:t>$18,500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5146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2A8"/>
                </a:solidFill>
                <a:latin typeface="Calibri"/>
              </a:rPr>
              <a:t>66.1%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Southwest Equipment quote accepted. Includes installation, calibration, and operator 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1145743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9475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74E"/>
                </a:solidFill>
                <a:latin typeface="Calibri"/>
              </a:rPr>
              <a:t>Advanced diagnostic scanner (mid-range selection)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7947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E8449"/>
                </a:solidFill>
                <a:latin typeface="Calibri"/>
              </a:rPr>
              <a:t>$9,500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379475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92A8"/>
                </a:solidFill>
                <a:latin typeface="Calibri"/>
              </a:rPr>
              <a:t>33.9%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92A8"/>
                </a:solidFill>
                <a:latin typeface="Calibri"/>
              </a:rPr>
              <a:t>Shortlisted from three vendors. Final selection pending delivery terms. Budget ceiling $12,000.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983479"/>
            <a:ext cx="11457432" cy="9144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6635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Total loan principal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16635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C89620"/>
                </a:solidFill>
                <a:latin typeface="Calibri"/>
              </a:rPr>
              <a:t>$28,000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5166359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20"/>
                </a:solidFill>
                <a:latin typeface="Calibri"/>
              </a:rPr>
              <a:t>100%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91440" cy="182880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31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620"/>
                </a:solidFill>
                <a:latin typeface="Calibri"/>
              </a:rPr>
              <a:t>Davis Auto Repair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Why This Loan Makes Sense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03120"/>
            <a:ext cx="73152" cy="45720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0"/>
                </a:solidFill>
                <a:latin typeface="Calibri"/>
              </a:rPr>
              <a:t>35 Years of Operation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3E0"/>
                </a:solidFill>
                <a:latin typeface="Calibri"/>
              </a:rPr>
              <a:t>Davis Auto Repair has served the Ysleta community since 2004 under James Davis, who has been turning wrenches since 1990. Shop building owned outright.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980944"/>
            <a:ext cx="73152" cy="45720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9809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0"/>
                </a:solidFill>
                <a:latin typeface="Calibri"/>
              </a:rPr>
              <a:t>Strong Cash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009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3E0"/>
                </a:solidFill>
                <a:latin typeface="Calibri"/>
              </a:rPr>
              <a:t>Monthly shop revenue of $45,000 to $55,000. Combined household income of $130,000/year. Proposed payment of $554/month represents less than 1.5% of gross monthly revenue.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58768"/>
            <a:ext cx="73152" cy="45720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8587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0"/>
                </a:solidFill>
                <a:latin typeface="Calibri"/>
              </a:rPr>
              <a:t>Immediate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78807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3E0"/>
                </a:solidFill>
                <a:latin typeface="Calibri"/>
              </a:rPr>
              <a:t>Alignment revenue alone projects $2,850 to $4,275 per month from existing customer base. Payback period on the alignment rack is under 8 months.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736592"/>
            <a:ext cx="73152" cy="45720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736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0"/>
                </a:solidFill>
                <a:latin typeface="Calibri"/>
              </a:rPr>
              <a:t>No Speculative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056631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3E0"/>
                </a:solidFill>
                <a:latin typeface="Calibri"/>
              </a:rPr>
              <a:t>Equipment fills a documented service gap. 40+ alignment referrals already going out monthly. The revenue is there - we just cannot capture it without the rack.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614416"/>
            <a:ext cx="73152" cy="457200"/>
          </a:xfrm>
          <a:prstGeom prst="rect">
            <a:avLst/>
          </a:prstGeom>
          <a:solidFill>
            <a:srgbClr val="C8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6144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620"/>
                </a:solidFill>
                <a:latin typeface="Calibri"/>
              </a:rPr>
              <a:t>Community Anchor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93445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3E0"/>
                </a:solidFill>
                <a:latin typeface="Calibri"/>
              </a:rPr>
              <a:t>Davis Auto Repair sponsors the local youth baseball team, mentors students at Rio Bravo High School, and holds 25-year customer relationships in the Lower Valley.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2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2A8"/>
                </a:solidFill>
                <a:latin typeface="Calibri"/>
              </a:rPr>
              <a:t>James Davis, Owner  |  Davis Auto Repair  |  El Paso, TX  |  (915) 555-0000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