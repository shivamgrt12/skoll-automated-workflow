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0D7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474720"/>
            <a:ext cx="11686032" cy="36576"/>
          </a:xfrm>
          <a:prstGeom prst="rect">
            <a:avLst/>
          </a:prstGeom>
          <a:solidFill>
            <a:srgbClr val="5DC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7315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7E8A"/>
                </a:solidFill>
                <a:latin typeface="Calibri"/>
              </a:rPr>
              <a:t>DAVIS AUTO REPAIR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1430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Annual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DC3C7"/>
                </a:solidFill>
                <a:latin typeface="Calibri"/>
              </a:rPr>
              <a:t>Fiscal Year 2025  |  El Paso, 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231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EC4C9"/>
                </a:solidFill>
                <a:latin typeface="Calibri"/>
              </a:rPr>
              <a:t>Revenue - Staff - Customers - Goals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749039"/>
            <a:ext cx="11686032" cy="2743200"/>
          </a:xfrm>
          <a:prstGeom prst="rect">
            <a:avLst/>
          </a:prstGeom>
          <a:solidFill>
            <a:srgbClr val="1F2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9319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DC3C7"/>
                </a:solidFill>
                <a:latin typeface="Calibri"/>
              </a:rPr>
              <a:t>Total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519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$588,000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8463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D7E8A"/>
                </a:solidFill>
                <a:latin typeface="Calibri"/>
              </a:rPr>
              <a:t>FY 2025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34639" y="3840480"/>
            <a:ext cx="27432" cy="1371600"/>
          </a:xfrm>
          <a:prstGeom prst="rect">
            <a:avLst/>
          </a:prstGeom>
          <a:solidFill>
            <a:srgbClr val="405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17520" y="39319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DC3C7"/>
                </a:solidFill>
                <a:latin typeface="Calibri"/>
              </a:rPr>
              <a:t>Work Orders Closed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42519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1,248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48463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D7E8A"/>
                </a:solidFill>
                <a:latin typeface="Calibri"/>
              </a:rPr>
              <a:t>Avg 4.3 / day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20640" y="3840480"/>
            <a:ext cx="27432" cy="1371600"/>
          </a:xfrm>
          <a:prstGeom prst="rect">
            <a:avLst/>
          </a:prstGeom>
          <a:solidFill>
            <a:srgbClr val="405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0" y="39319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DC3C7"/>
                </a:solidFill>
                <a:latin typeface="Calibri"/>
              </a:rPr>
              <a:t>Avg Ticket Value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519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$471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48463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D7E8A"/>
                </a:solidFill>
                <a:latin typeface="Calibri"/>
              </a:rPr>
              <a:t>All services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06640" y="3840480"/>
            <a:ext cx="27432" cy="1371600"/>
          </a:xfrm>
          <a:prstGeom prst="rect">
            <a:avLst/>
          </a:prstGeom>
          <a:solidFill>
            <a:srgbClr val="405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0" y="39319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DC3C7"/>
                </a:solidFill>
                <a:latin typeface="Calibri"/>
              </a:rPr>
              <a:t>Staff Count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42519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48463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D7E8A"/>
                </a:solidFill>
                <a:latin typeface="Calibri"/>
              </a:rPr>
              <a:t>Including owner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92640" y="3840480"/>
            <a:ext cx="27432" cy="1371600"/>
          </a:xfrm>
          <a:prstGeom prst="rect">
            <a:avLst/>
          </a:prstGeom>
          <a:solidFill>
            <a:srgbClr val="405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75520" y="39319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DC3C7"/>
                </a:solidFill>
                <a:latin typeface="Calibri"/>
              </a:rPr>
              <a:t>YoY Growth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0" y="42519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+8.4%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48463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D7E8A"/>
                </a:solidFill>
                <a:latin typeface="Calibri"/>
              </a:rPr>
              <a:t>vs FY 2024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217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DC3C7"/>
                </a:solidFill>
                <a:latin typeface="Calibri"/>
              </a:rPr>
              <a:t>Prepared by James Davis  |  Reviewed quarterly with Amy Davis (bookkeeper) and CPA Robert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914400"/>
          </a:xfrm>
          <a:prstGeom prst="rect">
            <a:avLst/>
          </a:prstGeom>
          <a:solidFill>
            <a:srgbClr val="0D7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Revenue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C5D0"/>
                </a:solidFill>
                <a:latin typeface="Calibri"/>
              </a:rPr>
              <a:t>FY 2025 monthly breakdown and quarterly comparison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41560"/>
            <a:ext cx="685800" cy="2330439"/>
          </a:xfrm>
          <a:prstGeom prst="rect">
            <a:avLst/>
          </a:prstGeom>
          <a:solidFill>
            <a:srgbClr val="0D7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92152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333C4E"/>
                </a:solidFill>
                <a:latin typeface="Calibri"/>
              </a:rPr>
              <a:t>$44k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17720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A92A8"/>
                </a:solidFill>
                <a:latin typeface="Calibri"/>
              </a:rPr>
              <a:t>Jan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44168" y="2526274"/>
            <a:ext cx="685800" cy="2045725"/>
          </a:xfrm>
          <a:prstGeom prst="rect">
            <a:avLst/>
          </a:prstGeom>
          <a:solidFill>
            <a:srgbClr val="0D7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44168" y="2206234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333C4E"/>
                </a:solidFill>
                <a:latin typeface="Calibri"/>
              </a:rPr>
              <a:t>$39k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4168" y="4617720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A92A8"/>
                </a:solidFill>
                <a:latin typeface="Calibri"/>
              </a:rPr>
              <a:t>Feb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31136" y="2405007"/>
            <a:ext cx="685800" cy="2166992"/>
          </a:xfrm>
          <a:prstGeom prst="rect">
            <a:avLst/>
          </a:prstGeom>
          <a:solidFill>
            <a:srgbClr val="0D7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31136" y="2084967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333C4E"/>
                </a:solidFill>
                <a:latin typeface="Calibri"/>
              </a:rPr>
              <a:t>$41k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31136" y="4617720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A92A8"/>
                </a:solidFill>
                <a:latin typeface="Calibri"/>
              </a:rPr>
              <a:t>Mar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18104" y="2078113"/>
            <a:ext cx="685800" cy="2493886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18104" y="1758073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333C4E"/>
                </a:solidFill>
                <a:latin typeface="Calibri"/>
              </a:rPr>
              <a:t>$47k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8104" y="4617720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A92A8"/>
                </a:solidFill>
                <a:latin typeface="Calibri"/>
              </a:rPr>
              <a:t>Apr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05072" y="1788126"/>
            <a:ext cx="685800" cy="2783873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05072" y="1468086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333C4E"/>
                </a:solidFill>
                <a:latin typeface="Calibri"/>
              </a:rPr>
              <a:t>$53k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05072" y="4617720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A92A8"/>
                </a:solidFill>
                <a:latin typeface="Calibri"/>
              </a:rPr>
              <a:t>May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92040" y="1666859"/>
            <a:ext cx="685800" cy="2905140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92040" y="1346819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333C4E"/>
                </a:solidFill>
                <a:latin typeface="Calibri"/>
              </a:rPr>
              <a:t>$55k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4617720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A92A8"/>
                </a:solidFill>
                <a:latin typeface="Calibri"/>
              </a:rPr>
              <a:t>Jun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79008" y="1861941"/>
            <a:ext cx="685800" cy="271005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79008" y="1541901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333C4E"/>
                </a:solidFill>
                <a:latin typeface="Calibri"/>
              </a:rPr>
              <a:t>$51k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79008" y="4617720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A92A8"/>
                </a:solidFill>
                <a:latin typeface="Calibri"/>
              </a:rPr>
              <a:t>Jul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65976" y="1730129"/>
            <a:ext cx="685800" cy="284187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65976" y="1410089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333C4E"/>
                </a:solidFill>
                <a:latin typeface="Calibri"/>
              </a:rPr>
              <a:t>$54k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65976" y="4617720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A92A8"/>
                </a:solidFill>
                <a:latin typeface="Calibri"/>
              </a:rPr>
              <a:t>Aug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52944" y="2030660"/>
            <a:ext cx="685800" cy="2541339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52944" y="171062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333C4E"/>
                </a:solidFill>
                <a:latin typeface="Calibri"/>
              </a:rPr>
              <a:t>$48k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52944" y="4617720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A92A8"/>
                </a:solidFill>
                <a:latin typeface="Calibri"/>
              </a:rPr>
              <a:t>Sep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39912" y="1988481"/>
            <a:ext cx="685800" cy="2583518"/>
          </a:xfrm>
          <a:prstGeom prst="rect">
            <a:avLst/>
          </a:prstGeom>
          <a:solidFill>
            <a:srgbClr val="21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39912" y="1668441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333C4E"/>
                </a:solidFill>
                <a:latin typeface="Calibri"/>
              </a:rPr>
              <a:t>$49k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39912" y="4617720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A92A8"/>
                </a:solidFill>
                <a:latin typeface="Calibri"/>
              </a:rPr>
              <a:t>Oct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326880" y="2173018"/>
            <a:ext cx="685800" cy="2398981"/>
          </a:xfrm>
          <a:prstGeom prst="rect">
            <a:avLst/>
          </a:prstGeom>
          <a:solidFill>
            <a:srgbClr val="21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26880" y="1852978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333C4E"/>
                </a:solidFill>
                <a:latin typeface="Calibri"/>
              </a:rPr>
              <a:t>$46k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0" y="4617720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A92A8"/>
                </a:solidFill>
                <a:latin typeface="Calibri"/>
              </a:rPr>
              <a:t>Nov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213848" y="1371600"/>
            <a:ext cx="685800" cy="3200400"/>
          </a:xfrm>
          <a:prstGeom prst="rect">
            <a:avLst/>
          </a:prstGeom>
          <a:solidFill>
            <a:srgbClr val="21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213848" y="105156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333C4E"/>
                </a:solidFill>
                <a:latin typeface="Calibri"/>
              </a:rPr>
              <a:t>$61k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13848" y="4617720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A92A8"/>
                </a:solidFill>
                <a:latin typeface="Calibri"/>
              </a:rPr>
              <a:t>Dec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2463004"/>
            <a:ext cx="11155680" cy="9144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612880" y="235327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A92A8"/>
                </a:solidFill>
                <a:latin typeface="Calibri"/>
              </a:rPr>
              <a:t>$40k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1935756"/>
            <a:ext cx="11155680" cy="9144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612880" y="18260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A92A8"/>
                </a:solidFill>
                <a:latin typeface="Calibri"/>
              </a:rPr>
              <a:t>$50k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1408507"/>
            <a:ext cx="11155680" cy="9144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612880" y="1298779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A92A8"/>
                </a:solidFill>
                <a:latin typeface="Calibri"/>
              </a:rPr>
              <a:t>$60k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4937760"/>
            <a:ext cx="2651760" cy="150876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57200" y="4937760"/>
            <a:ext cx="2651760" cy="45720"/>
          </a:xfrm>
          <a:prstGeom prst="rect">
            <a:avLst/>
          </a:prstGeom>
          <a:solidFill>
            <a:srgbClr val="0D7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50292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2A8"/>
                </a:solidFill>
                <a:latin typeface="Calibri"/>
              </a:rPr>
              <a:t>Q1 2025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53035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C3E50"/>
                </a:solidFill>
                <a:latin typeface="Calibri"/>
              </a:rPr>
              <a:t>$124,100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58064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7E8A"/>
                </a:solidFill>
                <a:latin typeface="Calibri"/>
              </a:rPr>
              <a:t>+5.1% vs FY 2024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383280" y="4937760"/>
            <a:ext cx="2651760" cy="150876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383280" y="4937760"/>
            <a:ext cx="2651760" cy="45720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474720" y="50292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2A8"/>
                </a:solidFill>
                <a:latin typeface="Calibri"/>
              </a:rPr>
              <a:t>Q2 2025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474720" y="53035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C3E50"/>
                </a:solidFill>
                <a:latin typeface="Calibri"/>
              </a:rPr>
              <a:t>$155,200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74720" y="58064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7E8A"/>
                </a:solidFill>
                <a:latin typeface="Calibri"/>
              </a:rPr>
              <a:t>+9.8% vs FY 2024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09360" y="4937760"/>
            <a:ext cx="2651760" cy="150876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309360" y="4937760"/>
            <a:ext cx="2651760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00800" y="50292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2A8"/>
                </a:solidFill>
                <a:latin typeface="Calibri"/>
              </a:rPr>
              <a:t>Q3 2025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0800" y="53035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C3E50"/>
                </a:solidFill>
                <a:latin typeface="Calibri"/>
              </a:rPr>
              <a:t>$153,500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00800" y="58064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7E8A"/>
                </a:solidFill>
                <a:latin typeface="Calibri"/>
              </a:rPr>
              <a:t>+7.2% vs FY 2024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235440" y="4937760"/>
            <a:ext cx="2651760" cy="150876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235440" y="4937760"/>
            <a:ext cx="2651760" cy="45720"/>
          </a:xfrm>
          <a:prstGeom prst="rect">
            <a:avLst/>
          </a:prstGeom>
          <a:solidFill>
            <a:srgbClr val="21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326880" y="50292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2A8"/>
                </a:solidFill>
                <a:latin typeface="Calibri"/>
              </a:rPr>
              <a:t>Q4 2025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326880" y="53035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C3E50"/>
                </a:solidFill>
                <a:latin typeface="Calibri"/>
              </a:rPr>
              <a:t>$155,200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326880" y="58064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7E8A"/>
                </a:solidFill>
                <a:latin typeface="Calibri"/>
              </a:rPr>
              <a:t>+11.6% vs FY 2024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914400"/>
          </a:xfrm>
          <a:prstGeom prst="rect">
            <a:avLst/>
          </a:prstGeom>
          <a:solidFill>
            <a:srgbClr val="0D7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Service Category Mix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C5D0"/>
                </a:solidFill>
                <a:latin typeface="Calibri"/>
              </a:rPr>
              <a:t>Revenue contribution and average ticket by service type - FY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539496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51560"/>
            <a:ext cx="5394960" cy="64008"/>
          </a:xfrm>
          <a:prstGeom prst="rect">
            <a:avLst/>
          </a:prstGeom>
          <a:solidFill>
            <a:srgbClr val="0D7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737360"/>
            <a:ext cx="3200400" cy="256032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737360"/>
            <a:ext cx="2880360" cy="256032"/>
          </a:xfrm>
          <a:prstGeom prst="rect">
            <a:avLst/>
          </a:prstGeom>
          <a:solidFill>
            <a:srgbClr val="0D7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143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3E50"/>
                </a:solidFill>
                <a:latin typeface="Calibri"/>
              </a:rPr>
              <a:t>AC and Cooling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463039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92A8"/>
                </a:solidFill>
                <a:latin typeface="Calibri"/>
              </a:rPr>
              <a:t>18% of revenue | Avg ticket: $310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167335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7E8A"/>
                </a:solidFill>
                <a:latin typeface="Calibri"/>
              </a:rPr>
              <a:t>18%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039112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A92A8"/>
                </a:solidFill>
                <a:latin typeface="Calibri"/>
              </a:rPr>
              <a:t>Peak in summer. Highest volume single category.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051560"/>
            <a:ext cx="539496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051560"/>
            <a:ext cx="5394960" cy="6400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5080" y="1737360"/>
            <a:ext cx="3200400" cy="256032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1737360"/>
            <a:ext cx="2400300" cy="25603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1143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3E50"/>
                </a:solidFill>
                <a:latin typeface="Calibri"/>
              </a:rPr>
              <a:t>Brake Service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1463039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92A8"/>
                </a:solidFill>
                <a:latin typeface="Calibri"/>
              </a:rPr>
              <a:t>15% of revenue | Avg ticket: $385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0" y="167335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7E22"/>
                </a:solidFill>
                <a:latin typeface="Calibri"/>
              </a:rPr>
              <a:t>15%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039112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A92A8"/>
                </a:solidFill>
                <a:latin typeface="Calibri"/>
              </a:rPr>
              <a:t>Consistent year-round. Strong fleet repeat.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423160"/>
            <a:ext cx="539496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2423160"/>
            <a:ext cx="5394960" cy="64008"/>
          </a:xfrm>
          <a:prstGeom prst="rect">
            <a:avLst/>
          </a:prstGeom>
          <a:solidFill>
            <a:srgbClr val="21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3108960"/>
            <a:ext cx="3200400" cy="256032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3108960"/>
            <a:ext cx="2240279" cy="256032"/>
          </a:xfrm>
          <a:prstGeom prst="rect">
            <a:avLst/>
          </a:prstGeom>
          <a:solidFill>
            <a:srgbClr val="21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2514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3E50"/>
                </a:solidFill>
                <a:latin typeface="Calibri"/>
              </a:rPr>
              <a:t>Diagnostics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283464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92A8"/>
                </a:solidFill>
                <a:latin typeface="Calibri"/>
              </a:rPr>
              <a:t>14% of revenue | Avg ticket: $290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0" y="304495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174AD"/>
                </a:solidFill>
                <a:latin typeface="Calibri"/>
              </a:rPr>
              <a:t>14%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3410712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A92A8"/>
                </a:solidFill>
                <a:latin typeface="Calibri"/>
              </a:rPr>
              <a:t>Growing - limited by scanner capability.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2423160"/>
            <a:ext cx="539496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17920" y="2423160"/>
            <a:ext cx="5394960" cy="640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55080" y="3108960"/>
            <a:ext cx="3200400" cy="256032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55080" y="3108960"/>
            <a:ext cx="2080260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5080" y="2514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3E50"/>
                </a:solidFill>
                <a:latin typeface="Calibri"/>
              </a:rPr>
              <a:t>Engine Repair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283464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92A8"/>
                </a:solidFill>
                <a:latin typeface="Calibri"/>
              </a:rPr>
              <a:t>13% of revenue | Avg ticket: $820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92640" y="304495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Calibri"/>
              </a:rPr>
              <a:t>13%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3410712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A92A8"/>
                </a:solidFill>
                <a:latin typeface="Calibri"/>
              </a:rPr>
              <a:t>High ticket. Referral and longtime customers.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3794760"/>
            <a:ext cx="539496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65760" y="3794760"/>
            <a:ext cx="5394960" cy="64008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02920" y="4480560"/>
            <a:ext cx="3200400" cy="256032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" y="4480560"/>
            <a:ext cx="1920240" cy="256032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38862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3E50"/>
                </a:solidFill>
                <a:latin typeface="Calibri"/>
              </a:rPr>
              <a:t>Oil and Fluids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420624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92A8"/>
                </a:solidFill>
                <a:latin typeface="Calibri"/>
              </a:rPr>
              <a:t>12% of revenue | Avg ticket: $85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40480" y="441655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8449"/>
                </a:solidFill>
                <a:latin typeface="Calibri"/>
              </a:rPr>
              <a:t>12%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4782312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A92A8"/>
                </a:solidFill>
                <a:latin typeface="Calibri"/>
              </a:rPr>
              <a:t>High volume, low margin. Customer retention.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17920" y="3794760"/>
            <a:ext cx="539496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217920" y="3794760"/>
            <a:ext cx="5394960" cy="64008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355080" y="4480560"/>
            <a:ext cx="3200400" cy="256032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355080" y="4480560"/>
            <a:ext cx="1600200" cy="256032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55080" y="38862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3E50"/>
                </a:solidFill>
                <a:latin typeface="Calibri"/>
              </a:rPr>
              <a:t>Transmission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55080" y="420624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92A8"/>
                </a:solidFill>
                <a:latin typeface="Calibri"/>
              </a:rPr>
              <a:t>10% of revenue | Avg ticket: $1,100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92640" y="441655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74E"/>
                </a:solidFill>
                <a:latin typeface="Calibri"/>
              </a:rPr>
              <a:t>10%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55080" y="4782312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A92A8"/>
                </a:solidFill>
                <a:latin typeface="Calibri"/>
              </a:rPr>
              <a:t>Eddie Gardner specialty. Highest avg ticket.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5166360"/>
            <a:ext cx="539496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65760" y="5166360"/>
            <a:ext cx="5394960" cy="64008"/>
          </a:xfrm>
          <a:prstGeom prst="rect">
            <a:avLst/>
          </a:prstGeom>
          <a:solidFill>
            <a:srgbClr val="C8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2920" y="5852160"/>
            <a:ext cx="3200400" cy="256032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02920" y="5852160"/>
            <a:ext cx="1280160" cy="256032"/>
          </a:xfrm>
          <a:prstGeom prst="rect">
            <a:avLst/>
          </a:prstGeom>
          <a:solidFill>
            <a:srgbClr val="C8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02920" y="5257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3E50"/>
                </a:solidFill>
                <a:latin typeface="Calibri"/>
              </a:rPr>
              <a:t>Tires / Align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2920" y="557784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92A8"/>
                </a:solidFill>
                <a:latin typeface="Calibri"/>
              </a:rPr>
              <a:t>8% of revenue | Avg ticket: $180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840480" y="578815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20"/>
                </a:solidFill>
                <a:latin typeface="Calibri"/>
              </a:rPr>
              <a:t>8%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2920" y="6153912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A92A8"/>
                </a:solidFill>
                <a:latin typeface="Calibri"/>
              </a:rPr>
              <a:t>Alignment currently outsourced - revenue gap.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217920" y="5166360"/>
            <a:ext cx="539496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217920" y="5166360"/>
            <a:ext cx="5394960" cy="64008"/>
          </a:xfrm>
          <a:prstGeom prst="rect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355080" y="5852160"/>
            <a:ext cx="3200400" cy="256032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355080" y="5852160"/>
            <a:ext cx="1600200" cy="256032"/>
          </a:xfrm>
          <a:prstGeom prst="rect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355080" y="5257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3E50"/>
                </a:solidFill>
                <a:latin typeface="Calibri"/>
              </a:rPr>
              <a:t>Other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355080" y="557784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92A8"/>
                </a:solidFill>
                <a:latin typeface="Calibri"/>
              </a:rPr>
              <a:t>10% of revenue | Avg ticket: $260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692640" y="578815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DC3C7"/>
                </a:solidFill>
                <a:latin typeface="Calibri"/>
              </a:rPr>
              <a:t>10%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55080" y="6153912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A92A8"/>
                </a:solidFill>
                <a:latin typeface="Calibri"/>
              </a:rPr>
              <a:t>Exhaust, suspension, electrical, misc.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914400"/>
          </a:xfrm>
          <a:prstGeom prst="rect">
            <a:avLst/>
          </a:prstGeom>
          <a:solidFill>
            <a:srgbClr val="0D7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Customer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C5D0"/>
                </a:solidFill>
                <a:latin typeface="Calibri"/>
              </a:rPr>
              <a:t>Retention, acquisition, and satisfaction - FY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2743200" cy="13716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05840"/>
            <a:ext cx="2743200" cy="64008"/>
          </a:xfrm>
          <a:prstGeom prst="rect">
            <a:avLst/>
          </a:prstGeom>
          <a:solidFill>
            <a:srgbClr val="0D7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430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2A8"/>
                </a:solidFill>
                <a:latin typeface="Calibri"/>
              </a:rPr>
              <a:t>Active Customers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444752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C3E50"/>
                </a:solidFill>
                <a:latin typeface="Calibri"/>
              </a:rPr>
              <a:t>312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057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2A8"/>
                </a:solidFill>
                <a:latin typeface="Calibri"/>
              </a:rPr>
              <a:t>Visited at least once in FY 2025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005840"/>
            <a:ext cx="2743200" cy="13716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1005840"/>
            <a:ext cx="2743200" cy="64008"/>
          </a:xfrm>
          <a:prstGeom prst="rect">
            <a:avLst/>
          </a:prstGeom>
          <a:solidFill>
            <a:srgbClr val="0D7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11430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2A8"/>
                </a:solidFill>
                <a:latin typeface="Calibri"/>
              </a:rPr>
              <a:t>Returning Customers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1444752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C3E50"/>
                </a:solidFill>
                <a:latin typeface="Calibri"/>
              </a:rPr>
              <a:t>74%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2057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2A8"/>
                </a:solidFill>
                <a:latin typeface="Calibri"/>
              </a:rPr>
              <a:t>Returned within 18 months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005840"/>
            <a:ext cx="2743200" cy="13716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005840"/>
            <a:ext cx="2743200" cy="64008"/>
          </a:xfrm>
          <a:prstGeom prst="rect">
            <a:avLst/>
          </a:prstGeom>
          <a:solidFill>
            <a:srgbClr val="0D7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11430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2A8"/>
                </a:solidFill>
                <a:latin typeface="Calibri"/>
              </a:rPr>
              <a:t>Avg Visits / Year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1444752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C3E50"/>
                </a:solidFill>
                <a:latin typeface="Calibri"/>
              </a:rPr>
              <a:t>2.1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057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2A8"/>
                </a:solidFill>
                <a:latin typeface="Calibri"/>
              </a:rPr>
              <a:t>Per active customer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0" y="1005840"/>
            <a:ext cx="2743200" cy="13716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0" y="1005840"/>
            <a:ext cx="2743200" cy="64008"/>
          </a:xfrm>
          <a:prstGeom prst="rect">
            <a:avLst/>
          </a:prstGeom>
          <a:solidFill>
            <a:srgbClr val="0D7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81160" y="11430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2A8"/>
                </a:solidFill>
                <a:latin typeface="Calibri"/>
              </a:rPr>
              <a:t>Booked Lead 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1444752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C3E50"/>
                </a:solidFill>
                <a:latin typeface="Calibri"/>
              </a:rPr>
              <a:t>11 days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2057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2A8"/>
                </a:solidFill>
                <a:latin typeface="Calibri"/>
              </a:rPr>
              <a:t>Current waitlist at close of year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2560320"/>
            <a:ext cx="5486400" cy="36576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26517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3E50"/>
                </a:solidFill>
                <a:latin typeface="Calibri"/>
              </a:rPr>
              <a:t>Customer Retention Rate - 5 Year Trend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3319272"/>
            <a:ext cx="731520" cy="1709928"/>
          </a:xfrm>
          <a:prstGeom prst="rect">
            <a:avLst/>
          </a:prstGeom>
          <a:solidFill>
            <a:srgbClr val="AACC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318211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C3E50"/>
                </a:solidFill>
                <a:latin typeface="Calibri"/>
              </a:rPr>
              <a:t>68%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16636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A92A8"/>
                </a:solidFill>
                <a:latin typeface="Calibri"/>
              </a:rPr>
              <a:t>2021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737360" y="3268979"/>
            <a:ext cx="731520" cy="1760220"/>
          </a:xfrm>
          <a:prstGeom prst="rect">
            <a:avLst/>
          </a:prstGeom>
          <a:solidFill>
            <a:srgbClr val="AACC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737360" y="31318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C3E50"/>
                </a:solidFill>
                <a:latin typeface="Calibri"/>
              </a:rPr>
              <a:t>70%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37360" y="516636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A92A8"/>
                </a:solidFill>
                <a:latin typeface="Calibri"/>
              </a:rPr>
              <a:t>2022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0" y="3268979"/>
            <a:ext cx="731520" cy="1760220"/>
          </a:xfrm>
          <a:prstGeom prst="rect">
            <a:avLst/>
          </a:prstGeom>
          <a:solidFill>
            <a:srgbClr val="AACC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0" y="31318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C3E50"/>
                </a:solidFill>
                <a:latin typeface="Calibri"/>
              </a:rPr>
              <a:t>70%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0" y="516636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A92A8"/>
                </a:solidFill>
                <a:latin typeface="Calibri"/>
              </a:rPr>
              <a:t>2023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749040" y="3218687"/>
            <a:ext cx="731520" cy="1810512"/>
          </a:xfrm>
          <a:prstGeom prst="rect">
            <a:avLst/>
          </a:prstGeom>
          <a:solidFill>
            <a:srgbClr val="AACC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49040" y="30815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C3E50"/>
                </a:solidFill>
                <a:latin typeface="Calibri"/>
              </a:rPr>
              <a:t>72%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49040" y="516636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A92A8"/>
                </a:solidFill>
                <a:latin typeface="Calibri"/>
              </a:rPr>
              <a:t>2024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754880" y="3168396"/>
            <a:ext cx="731520" cy="1860804"/>
          </a:xfrm>
          <a:prstGeom prst="rect">
            <a:avLst/>
          </a:prstGeom>
          <a:solidFill>
            <a:srgbClr val="0D7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54880" y="303123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C3E50"/>
                </a:solidFill>
                <a:latin typeface="Calibri"/>
              </a:rPr>
              <a:t>74%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54880" y="516636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A92A8"/>
                </a:solidFill>
                <a:latin typeface="Calibri"/>
              </a:rPr>
              <a:t>2025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55321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92A8"/>
                </a:solidFill>
                <a:latin typeface="Calibri"/>
              </a:rPr>
              <a:t>Steady improvement through word-of-mouth and no-surprise pricing policy.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17920" y="2560320"/>
            <a:ext cx="5577840" cy="36576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0" y="26517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3E50"/>
                </a:solidFill>
                <a:latin typeface="Calibri"/>
              </a:rPr>
              <a:t>Top Services by Work Order Volume - FY 2025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0" y="3154680"/>
            <a:ext cx="4032504" cy="256032"/>
          </a:xfrm>
          <a:prstGeom prst="rect">
            <a:avLst/>
          </a:prstGeom>
          <a:solidFill>
            <a:srgbClr val="0D7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0" y="3172968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33C4E"/>
                </a:solidFill>
                <a:latin typeface="Calibri"/>
              </a:rPr>
              <a:t>Oil service and fluid check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652760" y="317296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0D7E8A"/>
                </a:solidFill>
                <a:latin typeface="Calibri"/>
              </a:rPr>
              <a:t>294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0" y="3529584"/>
            <a:ext cx="3072384" cy="25603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0" y="3547872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33C4E"/>
                </a:solidFill>
                <a:latin typeface="Calibri"/>
              </a:rPr>
              <a:t>AC recharge and repair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652760" y="354787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E67E22"/>
                </a:solidFill>
                <a:latin typeface="Calibri"/>
              </a:rPr>
              <a:t>224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00800" y="3904488"/>
            <a:ext cx="2564891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0" y="3922776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33C4E"/>
                </a:solidFill>
                <a:latin typeface="Calibri"/>
              </a:rPr>
              <a:t>Brake pad and rotor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652760" y="3922776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C0392B"/>
                </a:solidFill>
                <a:latin typeface="Calibri"/>
              </a:rPr>
              <a:t>187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00800" y="4279392"/>
            <a:ext cx="2400300" cy="256032"/>
          </a:xfrm>
          <a:prstGeom prst="rect">
            <a:avLst/>
          </a:prstGeom>
          <a:solidFill>
            <a:srgbClr val="21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00800" y="4297679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33C4E"/>
                </a:solidFill>
                <a:latin typeface="Calibri"/>
              </a:rPr>
              <a:t>Check engine diagnosis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652760" y="4297679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2174AD"/>
                </a:solidFill>
                <a:latin typeface="Calibri"/>
              </a:rPr>
              <a:t>175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00800" y="4654296"/>
            <a:ext cx="1961388" cy="256032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00800" y="4672583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33C4E"/>
                </a:solidFill>
                <a:latin typeface="Calibri"/>
              </a:rPr>
              <a:t>Tire rotation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652760" y="4672583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1E8449"/>
                </a:solidFill>
                <a:latin typeface="Calibri"/>
              </a:rPr>
              <a:t>143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00800" y="5029200"/>
            <a:ext cx="1261872" cy="256032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00800" y="5047488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33C4E"/>
                </a:solidFill>
                <a:latin typeface="Calibri"/>
              </a:rPr>
              <a:t>Battery service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652760" y="504748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1A274E"/>
                </a:solidFill>
                <a:latin typeface="Calibri"/>
              </a:rPr>
              <a:t>92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00800" y="5404104"/>
            <a:ext cx="1028700" cy="256032"/>
          </a:xfrm>
          <a:prstGeom prst="rect">
            <a:avLst/>
          </a:prstGeom>
          <a:solidFill>
            <a:srgbClr val="C8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00800" y="5422392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33C4E"/>
                </a:solidFill>
                <a:latin typeface="Calibri"/>
              </a:rPr>
              <a:t>Transmission service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652760" y="542239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C89620"/>
                </a:solidFill>
                <a:latin typeface="Calibri"/>
              </a:rPr>
              <a:t>75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400800" y="5779008"/>
            <a:ext cx="795528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5797296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33C4E"/>
                </a:solidFill>
                <a:latin typeface="Calibri"/>
              </a:rPr>
              <a:t>Engine repair (major)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652760" y="5797296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C0392B"/>
                </a:solidFill>
                <a:latin typeface="Calibri"/>
              </a:rPr>
              <a:t>58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914400"/>
          </a:xfrm>
          <a:prstGeom prst="rect">
            <a:avLst/>
          </a:prstGeom>
          <a:solidFill>
            <a:srgbClr val="0D7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Staff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C5D0"/>
                </a:solidFill>
                <a:latin typeface="Calibri"/>
              </a:rPr>
              <a:t>Technician productivity and recognition - FY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11457432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51560"/>
            <a:ext cx="2560320" cy="10058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16128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James Davis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819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D7E8A"/>
                </a:solidFill>
                <a:latin typeface="Calibri"/>
              </a:rPr>
              <a:t>Owner / Master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12471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A92A8"/>
                </a:solidFill>
                <a:latin typeface="Calibri"/>
              </a:rPr>
              <a:t>Hourly 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1399031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7E8A"/>
                </a:solidFill>
                <a:latin typeface="Calibri"/>
              </a:rPr>
              <a:t>$32.00*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112471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A92A8"/>
                </a:solidFill>
                <a:latin typeface="Calibri"/>
              </a:rPr>
              <a:t>Work Orders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1399031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67E22"/>
                </a:solidFill>
                <a:latin typeface="Calibri"/>
              </a:rPr>
              <a:t>380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112471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A92A8"/>
                </a:solidFill>
                <a:latin typeface="Calibri"/>
              </a:rPr>
              <a:t>Score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1399031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8449"/>
                </a:solidFill>
                <a:latin typeface="Calibri"/>
              </a:rPr>
              <a:t>92%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1508760"/>
            <a:ext cx="2743200" cy="18288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21040" y="1508760"/>
            <a:ext cx="2523744" cy="182880"/>
          </a:xfrm>
          <a:prstGeom prst="rect">
            <a:avLst/>
          </a:prstGeom>
          <a:solidFill>
            <a:srgbClr val="0D7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112471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92A8"/>
                </a:solidFill>
                <a:latin typeface="Calibri"/>
              </a:rPr>
              <a:t>Diagnostics, customer vehicles, Mustang nights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148839"/>
            <a:ext cx="11457432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2148839"/>
            <a:ext cx="2560320" cy="100584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225856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3E50"/>
                </a:solidFill>
                <a:latin typeface="Calibri"/>
              </a:rPr>
              <a:t>Eddie Gardner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2679191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92A8"/>
                </a:solidFill>
                <a:latin typeface="Calibri"/>
              </a:rPr>
              <a:t>Lead Mechanic - 12 yrs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2221991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A92A8"/>
                </a:solidFill>
                <a:latin typeface="Calibri"/>
              </a:rPr>
              <a:t>Hourly 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08960" y="2496311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7E8A"/>
                </a:solidFill>
                <a:latin typeface="Calibri"/>
              </a:rPr>
              <a:t>$32.00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2221991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A92A8"/>
                </a:solidFill>
                <a:latin typeface="Calibri"/>
              </a:rPr>
              <a:t>Work Orders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0" y="2496311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67E22"/>
                </a:solidFill>
                <a:latin typeface="Calibri"/>
              </a:rPr>
              <a:t>420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2221991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A92A8"/>
                </a:solidFill>
                <a:latin typeface="Calibri"/>
              </a:rPr>
              <a:t>Score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2496311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8449"/>
                </a:solidFill>
                <a:latin typeface="Calibri"/>
              </a:rPr>
              <a:t>88%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21040" y="2606039"/>
            <a:ext cx="2743200" cy="18288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321040" y="2606039"/>
            <a:ext cx="2414016" cy="182880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0" y="2221991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92A8"/>
                </a:solidFill>
                <a:latin typeface="Calibri"/>
              </a:rPr>
              <a:t>Transmissions specialist - shop backbone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3246120"/>
            <a:ext cx="11457432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65760" y="3246120"/>
            <a:ext cx="2560320" cy="100584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335584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3E50"/>
                </a:solidFill>
                <a:latin typeface="Calibri"/>
              </a:rPr>
              <a:t>Bobby Taylor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37764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92A8"/>
                </a:solidFill>
                <a:latin typeface="Calibri"/>
              </a:rPr>
              <a:t>Mechanic - 5 yrs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08960" y="331927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A92A8"/>
                </a:solidFill>
                <a:latin typeface="Calibri"/>
              </a:rPr>
              <a:t>Hourly Rate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08960" y="3593591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7E8A"/>
                </a:solidFill>
                <a:latin typeface="Calibri"/>
              </a:rPr>
              <a:t>$26.00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37760" y="331927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A92A8"/>
                </a:solidFill>
                <a:latin typeface="Calibri"/>
              </a:rPr>
              <a:t>Work Orders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37760" y="3593591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67E22"/>
                </a:solidFill>
                <a:latin typeface="Calibri"/>
              </a:rPr>
              <a:t>395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0" y="331927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A92A8"/>
                </a:solidFill>
                <a:latin typeface="Calibri"/>
              </a:rPr>
              <a:t>Score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0" y="3593591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8449"/>
                </a:solidFill>
                <a:latin typeface="Calibri"/>
              </a:rPr>
              <a:t>85%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21040" y="3703320"/>
            <a:ext cx="2743200" cy="18288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321040" y="3703320"/>
            <a:ext cx="2331720" cy="182880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21040" y="331927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92A8"/>
                </a:solidFill>
                <a:latin typeface="Calibri"/>
              </a:rPr>
              <a:t>Electrical and diagnostics lead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4343400"/>
            <a:ext cx="11457432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65760" y="4343400"/>
            <a:ext cx="2560320" cy="100584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8640" y="445312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3E50"/>
                </a:solidFill>
                <a:latin typeface="Calibri"/>
              </a:rPr>
              <a:t>Linda Monroe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48737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92A8"/>
                </a:solidFill>
                <a:latin typeface="Calibri"/>
              </a:rPr>
              <a:t>Service Writer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108960" y="441655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A92A8"/>
                </a:solidFill>
                <a:latin typeface="Calibri"/>
              </a:rPr>
              <a:t>Hourly Rate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108960" y="469087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7E8A"/>
                </a:solidFill>
                <a:latin typeface="Calibri"/>
              </a:rPr>
              <a:t>$23.00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37760" y="441655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A92A8"/>
                </a:solidFill>
                <a:latin typeface="Calibri"/>
              </a:rPr>
              <a:t>Primary Role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37760" y="469087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A92A8"/>
                </a:solidFill>
                <a:latin typeface="Calibri"/>
              </a:rPr>
              <a:t>Support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66560" y="441655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A92A8"/>
                </a:solidFill>
                <a:latin typeface="Calibri"/>
              </a:rPr>
              <a:t>Score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66560" y="469087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8449"/>
                </a:solidFill>
                <a:latin typeface="Calibri"/>
              </a:rPr>
              <a:t>97%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321040" y="4800600"/>
            <a:ext cx="2743200" cy="18288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321040" y="4800600"/>
            <a:ext cx="2660904" cy="182880"/>
          </a:xfrm>
          <a:prstGeom prst="rect">
            <a:avLst/>
          </a:prstGeom>
          <a:solidFill>
            <a:srgbClr val="0D7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321040" y="441655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92A8"/>
                </a:solidFill>
                <a:latin typeface="Calibri"/>
              </a:rPr>
              <a:t>Customer satisfaction score - highest on team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5760" y="5440679"/>
            <a:ext cx="11457432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65760" y="5440679"/>
            <a:ext cx="2560320" cy="100584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8640" y="5550407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3E50"/>
                </a:solidFill>
                <a:latin typeface="Calibri"/>
              </a:rPr>
              <a:t>Amy Davis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8640" y="5971031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92A8"/>
                </a:solidFill>
                <a:latin typeface="Calibri"/>
              </a:rPr>
              <a:t>Bookkeeper (PT)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108960" y="5513831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A92A8"/>
                </a:solidFill>
                <a:latin typeface="Calibri"/>
              </a:rPr>
              <a:t>Hourly Rate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108960" y="5788151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7E8A"/>
                </a:solidFill>
                <a:latin typeface="Calibri"/>
              </a:rPr>
              <a:t>$20.00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937760" y="5513831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A92A8"/>
                </a:solidFill>
                <a:latin typeface="Calibri"/>
              </a:rPr>
              <a:t>Primary Role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937760" y="5788151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A92A8"/>
                </a:solidFill>
                <a:latin typeface="Calibri"/>
              </a:rPr>
              <a:t>Support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766560" y="5513831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A92A8"/>
                </a:solidFill>
                <a:latin typeface="Calibri"/>
              </a:rPr>
              <a:t>Score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766560" y="5788151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8449"/>
                </a:solidFill>
                <a:latin typeface="Calibri"/>
              </a:rPr>
              <a:t>100%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321040" y="5897879"/>
            <a:ext cx="2743200" cy="18288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321040" y="5897879"/>
            <a:ext cx="2743200" cy="182880"/>
          </a:xfrm>
          <a:prstGeom prst="rect">
            <a:avLst/>
          </a:prstGeom>
          <a:solidFill>
            <a:srgbClr val="0D7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321040" y="5513831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92A8"/>
                </a:solidFill>
                <a:latin typeface="Calibri"/>
              </a:rPr>
              <a:t>Friday afternoons and Saturday mornings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65760" y="653796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A92A8"/>
                </a:solidFill>
                <a:latin typeface="Calibri"/>
              </a:rPr>
              <a:t>*James draws a modest salary by choice - reinvests surplus into shop equipment and the Mustang restoration fund.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914400"/>
          </a:xfrm>
          <a:prstGeom prst="rect">
            <a:avLst/>
          </a:prstGeom>
          <a:solidFill>
            <a:srgbClr val="0D7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2027 Goals and Priorities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C5D0"/>
                </a:solidFill>
                <a:latin typeface="Calibri"/>
              </a:rPr>
              <a:t>What Davis Auto Repair is building toward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3566160" cy="242316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51560"/>
            <a:ext cx="3566160" cy="64008"/>
          </a:xfrm>
          <a:prstGeom prst="rect">
            <a:avLst/>
          </a:prstGeom>
          <a:solidFill>
            <a:srgbClr val="0D7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88719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C3E50"/>
                </a:solidFill>
                <a:latin typeface="Calibri"/>
              </a:rPr>
              <a:t>Revenue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5544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7E8A"/>
                </a:solidFill>
                <a:latin typeface="Calibri"/>
              </a:rPr>
              <a:t>$620,000 - $680,000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039112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92A8"/>
                </a:solidFill>
                <a:latin typeface="Calibri"/>
              </a:rPr>
              <a:t>Based on current trajectory plus new alignment and advanced diagnostic revenue from equipment upgrade.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051560"/>
            <a:ext cx="3566160" cy="242316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051560"/>
            <a:ext cx="3566160" cy="64008"/>
          </a:xfrm>
          <a:prstGeom prst="rect">
            <a:avLst/>
          </a:prstGeom>
          <a:solidFill>
            <a:srgbClr val="21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188719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C3E50"/>
                </a:solidFill>
                <a:latin typeface="Calibri"/>
              </a:rPr>
              <a:t>Equipment Upgrade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15544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74AD"/>
                </a:solidFill>
                <a:latin typeface="Calibri"/>
              </a:rPr>
              <a:t>Both units operational by Q1 2027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039112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92A8"/>
                </a:solidFill>
                <a:latin typeface="Calibri"/>
              </a:rPr>
              <a:t>SBA microloan decision expected January 20, 2027. Scanner and rack to be commissioned within 60 days of approval.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051560"/>
            <a:ext cx="3566160" cy="242316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1051560"/>
            <a:ext cx="3566160" cy="64008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1188719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C3E50"/>
                </a:solidFill>
                <a:latin typeface="Calibri"/>
              </a:rPr>
              <a:t>Staff Retention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15544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8449"/>
                </a:solidFill>
                <a:latin typeface="Calibri"/>
              </a:rPr>
              <a:t>Eddie Gardner retention - key priority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039112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92A8"/>
                </a:solidFill>
                <a:latin typeface="Calibri"/>
              </a:rPr>
              <a:t>Eddie is the shop's transmission specialist with 12 years tenure. Wage review and discussion of lead tech bonus structure planned.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703320"/>
            <a:ext cx="3566160" cy="242316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3703320"/>
            <a:ext cx="3566160" cy="6400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38404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C3E50"/>
                </a:solidFill>
                <a:latin typeface="Calibri"/>
              </a:rPr>
              <a:t>Amy's Graduation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2062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7E22"/>
                </a:solidFill>
                <a:latin typeface="Calibri"/>
              </a:rPr>
              <a:t>December 12, 2026 - new role TBD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690872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92A8"/>
                </a:solidFill>
                <a:latin typeface="Calibri"/>
              </a:rPr>
              <a:t>Amy graduates from El Paso Technical University in December 2026. Potential move to full-time shop manager role under discussion.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97680" y="3703320"/>
            <a:ext cx="3566160" cy="242316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97680" y="3703320"/>
            <a:ext cx="3566160" cy="64008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4840" y="38404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C3E50"/>
                </a:solidFill>
                <a:latin typeface="Calibri"/>
              </a:rPr>
              <a:t>Roof Inspection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42062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74E"/>
                </a:solidFill>
                <a:latin typeface="Calibri"/>
              </a:rPr>
              <a:t>Decision by February 2027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40" y="4690872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92A8"/>
                </a:solidFill>
                <a:latin typeface="Calibri"/>
              </a:rPr>
              <a:t>El Paso Roofing quoted $350 inspection and potential $8,000 replacement. 15-year-old roof needs evaluation before summer.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0" y="3703320"/>
            <a:ext cx="3566160" cy="242316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29600" y="3703320"/>
            <a:ext cx="3566160" cy="640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66760" y="38404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C3E50"/>
                </a:solidFill>
                <a:latin typeface="Calibri"/>
              </a:rPr>
              <a:t>Mustang Debut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42062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  <a:latin typeface="Calibri"/>
              </a:rPr>
              <a:t>El Paso Classic Car Show - December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6760" y="4690872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92A8"/>
                </a:solidFill>
                <a:latin typeface="Calibri"/>
              </a:rPr>
              <a:t>1967 Fastback restoration targeting debut at the El Paso Convention Center show. Interior and paint are the final phases.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