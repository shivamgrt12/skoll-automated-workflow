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Lst>
  <p:sldSz cx="12188952"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88952" cy="6858000"/>
          </a:xfrm>
          <a:prstGeom prst="rect">
            <a:avLst/>
          </a:prstGeom>
          <a:solidFill>
            <a:srgbClr val="22222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2560320"/>
            <a:ext cx="12188952" cy="164592"/>
          </a:xfrm>
          <a:prstGeom prst="rect">
            <a:avLst/>
          </a:prstGeom>
          <a:solidFill>
            <a:srgbClr val="7B0D1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4389120"/>
            <a:ext cx="12188952" cy="45720"/>
          </a:xfrm>
          <a:prstGeom prst="rect">
            <a:avLst/>
          </a:prstGeom>
          <a:solidFill>
            <a:srgbClr val="C8962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548640" y="457200"/>
            <a:ext cx="10972800" cy="365760"/>
          </a:xfrm>
          <a:prstGeom prst="rect">
            <a:avLst/>
          </a:prstGeom>
          <a:noFill/>
        </p:spPr>
        <p:txBody>
          <a:bodyPr wrap="square">
            <a:spAutoFit/>
          </a:bodyPr>
          <a:lstStyle/>
          <a:p>
            <a:pPr algn="l"/>
            <a:r>
              <a:rPr sz="900" b="1" i="0">
                <a:solidFill>
                  <a:srgbClr val="C89620"/>
                </a:solidFill>
                <a:latin typeface="Calibri"/>
              </a:rPr>
              <a:t>EL PASO CLASSIC CAR SHOW  |  DECEMBER 2026</a:t>
            </a:r>
          </a:p>
        </p:txBody>
      </p:sp>
      <p:sp>
        <p:nvSpPr>
          <p:cNvPr id="6" name="TextBox 5"/>
          <p:cNvSpPr txBox="1"/>
          <p:nvPr/>
        </p:nvSpPr>
        <p:spPr>
          <a:xfrm>
            <a:off x="548640" y="914400"/>
            <a:ext cx="10972800" cy="640080"/>
          </a:xfrm>
          <a:prstGeom prst="rect">
            <a:avLst/>
          </a:prstGeom>
          <a:noFill/>
        </p:spPr>
        <p:txBody>
          <a:bodyPr wrap="square">
            <a:spAutoFit/>
          </a:bodyPr>
          <a:lstStyle/>
          <a:p>
            <a:pPr algn="l"/>
            <a:r>
              <a:rPr sz="4400" b="1" i="0">
                <a:solidFill>
                  <a:srgbClr val="FFFFFF"/>
                </a:solidFill>
                <a:latin typeface="Calibri"/>
              </a:rPr>
              <a:t>1967 Ford Mustang</a:t>
            </a:r>
          </a:p>
        </p:txBody>
      </p:sp>
      <p:sp>
        <p:nvSpPr>
          <p:cNvPr id="7" name="TextBox 6"/>
          <p:cNvSpPr txBox="1"/>
          <p:nvPr/>
        </p:nvSpPr>
        <p:spPr>
          <a:xfrm>
            <a:off x="548640" y="1600200"/>
            <a:ext cx="7315200" cy="502920"/>
          </a:xfrm>
          <a:prstGeom prst="rect">
            <a:avLst/>
          </a:prstGeom>
          <a:noFill/>
        </p:spPr>
        <p:txBody>
          <a:bodyPr wrap="square">
            <a:spAutoFit/>
          </a:bodyPr>
          <a:lstStyle/>
          <a:p>
            <a:pPr algn="l"/>
            <a:r>
              <a:rPr sz="4400" b="1" i="0">
                <a:solidFill>
                  <a:srgbClr val="7B0D1E"/>
                </a:solidFill>
                <a:latin typeface="Calibri"/>
              </a:rPr>
              <a:t>Fastback</a:t>
            </a:r>
          </a:p>
        </p:txBody>
      </p:sp>
      <p:sp>
        <p:nvSpPr>
          <p:cNvPr id="8" name="TextBox 7"/>
          <p:cNvSpPr txBox="1"/>
          <p:nvPr/>
        </p:nvSpPr>
        <p:spPr>
          <a:xfrm>
            <a:off x="548640" y="2194560"/>
            <a:ext cx="7315200" cy="320040"/>
          </a:xfrm>
          <a:prstGeom prst="rect">
            <a:avLst/>
          </a:prstGeom>
          <a:noFill/>
        </p:spPr>
        <p:txBody>
          <a:bodyPr wrap="square">
            <a:spAutoFit/>
          </a:bodyPr>
          <a:lstStyle/>
          <a:p>
            <a:pPr algn="l"/>
            <a:r>
              <a:rPr sz="1100" b="1" i="0">
                <a:solidFill>
                  <a:srgbClr val="AAAAAA"/>
                </a:solidFill>
                <a:latin typeface="Calibri"/>
              </a:rPr>
              <a:t>GROUND-UP RESTORATION</a:t>
            </a:r>
          </a:p>
        </p:txBody>
      </p:sp>
      <p:sp>
        <p:nvSpPr>
          <p:cNvPr id="9" name="Rectangle 8"/>
          <p:cNvSpPr/>
          <p:nvPr/>
        </p:nvSpPr>
        <p:spPr>
          <a:xfrm>
            <a:off x="0" y="4572000"/>
            <a:ext cx="12188952" cy="2286000"/>
          </a:xfrm>
          <a:prstGeom prst="rect">
            <a:avLst/>
          </a:prstGeom>
          <a:solidFill>
            <a:srgbClr val="14141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457200" y="4709160"/>
            <a:ext cx="1828800" cy="274320"/>
          </a:xfrm>
          <a:prstGeom prst="rect">
            <a:avLst/>
          </a:prstGeom>
          <a:noFill/>
        </p:spPr>
        <p:txBody>
          <a:bodyPr wrap="square">
            <a:spAutoFit/>
          </a:bodyPr>
          <a:lstStyle/>
          <a:p>
            <a:pPr algn="l"/>
            <a:r>
              <a:rPr sz="800" b="0" i="0">
                <a:solidFill>
                  <a:srgbClr val="C89620"/>
                </a:solidFill>
                <a:latin typeface="Calibri"/>
              </a:rPr>
              <a:t>Year</a:t>
            </a:r>
          </a:p>
        </p:txBody>
      </p:sp>
      <p:sp>
        <p:nvSpPr>
          <p:cNvPr id="11" name="TextBox 10"/>
          <p:cNvSpPr txBox="1"/>
          <p:nvPr/>
        </p:nvSpPr>
        <p:spPr>
          <a:xfrm>
            <a:off x="457200" y="5010912"/>
            <a:ext cx="1828800" cy="502920"/>
          </a:xfrm>
          <a:prstGeom prst="rect">
            <a:avLst/>
          </a:prstGeom>
          <a:noFill/>
        </p:spPr>
        <p:txBody>
          <a:bodyPr wrap="square">
            <a:spAutoFit/>
          </a:bodyPr>
          <a:lstStyle/>
          <a:p>
            <a:pPr algn="l"/>
            <a:r>
              <a:rPr sz="1600" b="1" i="0">
                <a:solidFill>
                  <a:srgbClr val="FFFFFF"/>
                </a:solidFill>
                <a:latin typeface="Calibri"/>
              </a:rPr>
              <a:t>1967</a:t>
            </a:r>
          </a:p>
        </p:txBody>
      </p:sp>
      <p:sp>
        <p:nvSpPr>
          <p:cNvPr id="12" name="Rectangle 11"/>
          <p:cNvSpPr/>
          <p:nvPr/>
        </p:nvSpPr>
        <p:spPr>
          <a:xfrm>
            <a:off x="2194560" y="4754880"/>
            <a:ext cx="27432" cy="914400"/>
          </a:xfrm>
          <a:prstGeom prst="rect">
            <a:avLst/>
          </a:prstGeom>
          <a:solidFill>
            <a:srgbClr val="44444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2377440" y="4709160"/>
            <a:ext cx="1828800" cy="274320"/>
          </a:xfrm>
          <a:prstGeom prst="rect">
            <a:avLst/>
          </a:prstGeom>
          <a:noFill/>
        </p:spPr>
        <p:txBody>
          <a:bodyPr wrap="square">
            <a:spAutoFit/>
          </a:bodyPr>
          <a:lstStyle/>
          <a:p>
            <a:pPr algn="l"/>
            <a:r>
              <a:rPr sz="800" b="0" i="0">
                <a:solidFill>
                  <a:srgbClr val="C89620"/>
                </a:solidFill>
                <a:latin typeface="Calibri"/>
              </a:rPr>
              <a:t>Body</a:t>
            </a:r>
          </a:p>
        </p:txBody>
      </p:sp>
      <p:sp>
        <p:nvSpPr>
          <p:cNvPr id="14" name="TextBox 13"/>
          <p:cNvSpPr txBox="1"/>
          <p:nvPr/>
        </p:nvSpPr>
        <p:spPr>
          <a:xfrm>
            <a:off x="2377440" y="5010912"/>
            <a:ext cx="1828800" cy="502920"/>
          </a:xfrm>
          <a:prstGeom prst="rect">
            <a:avLst/>
          </a:prstGeom>
          <a:noFill/>
        </p:spPr>
        <p:txBody>
          <a:bodyPr wrap="square">
            <a:spAutoFit/>
          </a:bodyPr>
          <a:lstStyle/>
          <a:p>
            <a:pPr algn="l"/>
            <a:r>
              <a:rPr sz="1600" b="1" i="0">
                <a:solidFill>
                  <a:srgbClr val="FFFFFF"/>
                </a:solidFill>
                <a:latin typeface="Calibri"/>
              </a:rPr>
              <a:t>Fastback</a:t>
            </a:r>
          </a:p>
        </p:txBody>
      </p:sp>
      <p:sp>
        <p:nvSpPr>
          <p:cNvPr id="15" name="Rectangle 14"/>
          <p:cNvSpPr/>
          <p:nvPr/>
        </p:nvSpPr>
        <p:spPr>
          <a:xfrm>
            <a:off x="4114800" y="4754880"/>
            <a:ext cx="27432" cy="914400"/>
          </a:xfrm>
          <a:prstGeom prst="rect">
            <a:avLst/>
          </a:prstGeom>
          <a:solidFill>
            <a:srgbClr val="44444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4297680" y="4709160"/>
            <a:ext cx="1828800" cy="274320"/>
          </a:xfrm>
          <a:prstGeom prst="rect">
            <a:avLst/>
          </a:prstGeom>
          <a:noFill/>
        </p:spPr>
        <p:txBody>
          <a:bodyPr wrap="square">
            <a:spAutoFit/>
          </a:bodyPr>
          <a:lstStyle/>
          <a:p>
            <a:pPr algn="l"/>
            <a:r>
              <a:rPr sz="800" b="0" i="0">
                <a:solidFill>
                  <a:srgbClr val="C89620"/>
                </a:solidFill>
                <a:latin typeface="Calibri"/>
              </a:rPr>
              <a:t>Engine</a:t>
            </a:r>
          </a:p>
        </p:txBody>
      </p:sp>
      <p:sp>
        <p:nvSpPr>
          <p:cNvPr id="17" name="TextBox 16"/>
          <p:cNvSpPr txBox="1"/>
          <p:nvPr/>
        </p:nvSpPr>
        <p:spPr>
          <a:xfrm>
            <a:off x="4297680" y="5010912"/>
            <a:ext cx="1828800" cy="502920"/>
          </a:xfrm>
          <a:prstGeom prst="rect">
            <a:avLst/>
          </a:prstGeom>
          <a:noFill/>
        </p:spPr>
        <p:txBody>
          <a:bodyPr wrap="square">
            <a:spAutoFit/>
          </a:bodyPr>
          <a:lstStyle/>
          <a:p>
            <a:pPr algn="l"/>
            <a:r>
              <a:rPr sz="1600" b="1" i="0">
                <a:solidFill>
                  <a:srgbClr val="FFFFFF"/>
                </a:solidFill>
                <a:latin typeface="Calibri"/>
              </a:rPr>
              <a:t>302 V8</a:t>
            </a:r>
          </a:p>
        </p:txBody>
      </p:sp>
      <p:sp>
        <p:nvSpPr>
          <p:cNvPr id="18" name="Rectangle 17"/>
          <p:cNvSpPr/>
          <p:nvPr/>
        </p:nvSpPr>
        <p:spPr>
          <a:xfrm>
            <a:off x="6035040" y="4754880"/>
            <a:ext cx="27432" cy="914400"/>
          </a:xfrm>
          <a:prstGeom prst="rect">
            <a:avLst/>
          </a:prstGeom>
          <a:solidFill>
            <a:srgbClr val="44444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6217920" y="4709160"/>
            <a:ext cx="1828800" cy="274320"/>
          </a:xfrm>
          <a:prstGeom prst="rect">
            <a:avLst/>
          </a:prstGeom>
          <a:noFill/>
        </p:spPr>
        <p:txBody>
          <a:bodyPr wrap="square">
            <a:spAutoFit/>
          </a:bodyPr>
          <a:lstStyle/>
          <a:p>
            <a:pPr algn="l"/>
            <a:r>
              <a:rPr sz="800" b="0" i="0">
                <a:solidFill>
                  <a:srgbClr val="C89620"/>
                </a:solidFill>
                <a:latin typeface="Calibri"/>
              </a:rPr>
              <a:t>Status</a:t>
            </a:r>
          </a:p>
        </p:txBody>
      </p:sp>
      <p:sp>
        <p:nvSpPr>
          <p:cNvPr id="20" name="TextBox 19"/>
          <p:cNvSpPr txBox="1"/>
          <p:nvPr/>
        </p:nvSpPr>
        <p:spPr>
          <a:xfrm>
            <a:off x="6217920" y="5010912"/>
            <a:ext cx="1828800" cy="502920"/>
          </a:xfrm>
          <a:prstGeom prst="rect">
            <a:avLst/>
          </a:prstGeom>
          <a:noFill/>
        </p:spPr>
        <p:txBody>
          <a:bodyPr wrap="square">
            <a:spAutoFit/>
          </a:bodyPr>
          <a:lstStyle/>
          <a:p>
            <a:pPr algn="l"/>
            <a:r>
              <a:rPr sz="1600" b="1" i="0">
                <a:solidFill>
                  <a:srgbClr val="FFFFFF"/>
                </a:solidFill>
                <a:latin typeface="Calibri"/>
              </a:rPr>
              <a:t>70% Complete</a:t>
            </a:r>
          </a:p>
        </p:txBody>
      </p:sp>
      <p:sp>
        <p:nvSpPr>
          <p:cNvPr id="21" name="Rectangle 20"/>
          <p:cNvSpPr/>
          <p:nvPr/>
        </p:nvSpPr>
        <p:spPr>
          <a:xfrm>
            <a:off x="7955280" y="4754880"/>
            <a:ext cx="27432" cy="914400"/>
          </a:xfrm>
          <a:prstGeom prst="rect">
            <a:avLst/>
          </a:prstGeom>
          <a:solidFill>
            <a:srgbClr val="44444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8138160" y="4709160"/>
            <a:ext cx="1828800" cy="274320"/>
          </a:xfrm>
          <a:prstGeom prst="rect">
            <a:avLst/>
          </a:prstGeom>
          <a:noFill/>
        </p:spPr>
        <p:txBody>
          <a:bodyPr wrap="square">
            <a:spAutoFit/>
          </a:bodyPr>
          <a:lstStyle/>
          <a:p>
            <a:pPr algn="l"/>
            <a:r>
              <a:rPr sz="800" b="0" i="0">
                <a:solidFill>
                  <a:srgbClr val="C89620"/>
                </a:solidFill>
                <a:latin typeface="Calibri"/>
              </a:rPr>
              <a:t>Investment</a:t>
            </a:r>
          </a:p>
        </p:txBody>
      </p:sp>
      <p:sp>
        <p:nvSpPr>
          <p:cNvPr id="23" name="TextBox 22"/>
          <p:cNvSpPr txBox="1"/>
          <p:nvPr/>
        </p:nvSpPr>
        <p:spPr>
          <a:xfrm>
            <a:off x="8138160" y="5010912"/>
            <a:ext cx="1828800" cy="502920"/>
          </a:xfrm>
          <a:prstGeom prst="rect">
            <a:avLst/>
          </a:prstGeom>
          <a:noFill/>
        </p:spPr>
        <p:txBody>
          <a:bodyPr wrap="square">
            <a:spAutoFit/>
          </a:bodyPr>
          <a:lstStyle/>
          <a:p>
            <a:pPr algn="l"/>
            <a:r>
              <a:rPr sz="1600" b="1" i="0">
                <a:solidFill>
                  <a:srgbClr val="FFFFFF"/>
                </a:solidFill>
                <a:latin typeface="Calibri"/>
              </a:rPr>
              <a:t>$22,000+</a:t>
            </a:r>
          </a:p>
        </p:txBody>
      </p:sp>
      <p:sp>
        <p:nvSpPr>
          <p:cNvPr id="24" name="Rectangle 23"/>
          <p:cNvSpPr/>
          <p:nvPr/>
        </p:nvSpPr>
        <p:spPr>
          <a:xfrm>
            <a:off x="9875520" y="4754880"/>
            <a:ext cx="27432" cy="914400"/>
          </a:xfrm>
          <a:prstGeom prst="rect">
            <a:avLst/>
          </a:prstGeom>
          <a:solidFill>
            <a:srgbClr val="44444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10058400" y="4709160"/>
            <a:ext cx="1828800" cy="274320"/>
          </a:xfrm>
          <a:prstGeom prst="rect">
            <a:avLst/>
          </a:prstGeom>
          <a:noFill/>
        </p:spPr>
        <p:txBody>
          <a:bodyPr wrap="square">
            <a:spAutoFit/>
          </a:bodyPr>
          <a:lstStyle/>
          <a:p>
            <a:pPr algn="l"/>
            <a:r>
              <a:rPr sz="800" b="0" i="0">
                <a:solidFill>
                  <a:srgbClr val="C89620"/>
                </a:solidFill>
                <a:latin typeface="Calibri"/>
              </a:rPr>
              <a:t>Builder</a:t>
            </a:r>
          </a:p>
        </p:txBody>
      </p:sp>
      <p:sp>
        <p:nvSpPr>
          <p:cNvPr id="26" name="TextBox 25"/>
          <p:cNvSpPr txBox="1"/>
          <p:nvPr/>
        </p:nvSpPr>
        <p:spPr>
          <a:xfrm>
            <a:off x="10058400" y="5010912"/>
            <a:ext cx="1828800" cy="502920"/>
          </a:xfrm>
          <a:prstGeom prst="rect">
            <a:avLst/>
          </a:prstGeom>
          <a:noFill/>
        </p:spPr>
        <p:txBody>
          <a:bodyPr wrap="square">
            <a:spAutoFit/>
          </a:bodyPr>
          <a:lstStyle/>
          <a:p>
            <a:pPr algn="l"/>
            <a:r>
              <a:rPr sz="1600" b="1" i="0">
                <a:solidFill>
                  <a:srgbClr val="FFFFFF"/>
                </a:solidFill>
                <a:latin typeface="Calibri"/>
              </a:rPr>
              <a:t>James Davis</a:t>
            </a:r>
          </a:p>
        </p:txBody>
      </p:sp>
      <p:sp>
        <p:nvSpPr>
          <p:cNvPr id="27" name="TextBox 26"/>
          <p:cNvSpPr txBox="1"/>
          <p:nvPr/>
        </p:nvSpPr>
        <p:spPr>
          <a:xfrm>
            <a:off x="457200" y="5760720"/>
            <a:ext cx="11247120" cy="320040"/>
          </a:xfrm>
          <a:prstGeom prst="rect">
            <a:avLst/>
          </a:prstGeom>
          <a:noFill/>
        </p:spPr>
        <p:txBody>
          <a:bodyPr wrap="square">
            <a:spAutoFit/>
          </a:bodyPr>
          <a:lstStyle/>
          <a:p>
            <a:pPr algn="ctr"/>
            <a:r>
              <a:rPr sz="900" b="0" i="0">
                <a:solidFill>
                  <a:srgbClr val="C8C8C8"/>
                </a:solidFill>
                <a:latin typeface="Calibri"/>
              </a:rPr>
              <a:t>A three-year build started from a bare shell - aiming for El Paso, TX | December 5, 2026</a:t>
            </a:r>
          </a:p>
        </p:txBody>
      </p:sp>
      <p:sp>
        <p:nvSpPr>
          <p:cNvPr id="28" name="TextBox 27"/>
          <p:cNvSpPr txBox="1"/>
          <p:nvPr/>
        </p:nvSpPr>
        <p:spPr>
          <a:xfrm>
            <a:off x="457200" y="6144768"/>
            <a:ext cx="11247120" cy="274320"/>
          </a:xfrm>
          <a:prstGeom prst="rect">
            <a:avLst/>
          </a:prstGeom>
          <a:noFill/>
        </p:spPr>
        <p:txBody>
          <a:bodyPr wrap="square">
            <a:spAutoFit/>
          </a:bodyPr>
          <a:lstStyle/>
          <a:p>
            <a:pPr algn="ctr"/>
            <a:r>
              <a:rPr sz="800" b="0" i="0">
                <a:solidFill>
                  <a:srgbClr val="666666"/>
                </a:solidFill>
                <a:latin typeface="Calibri"/>
              </a:rPr>
              <a:t>Prepared by James Davis  |  Davis Auto Repair - Lower Valley, Ysleta</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88952" cy="6858000"/>
          </a:xfrm>
          <a:prstGeom prst="rect">
            <a:avLst/>
          </a:prstGeom>
          <a:solidFill>
            <a:srgbClr val="F9F5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4572000" cy="6858000"/>
          </a:xfrm>
          <a:prstGeom prst="rect">
            <a:avLst/>
          </a:prstGeom>
          <a:solidFill>
            <a:srgbClr val="22222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4572000" y="0"/>
            <a:ext cx="64008" cy="6858000"/>
          </a:xfrm>
          <a:prstGeom prst="rect">
            <a:avLst/>
          </a:prstGeom>
          <a:solidFill>
            <a:srgbClr val="C8962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0" y="0"/>
            <a:ext cx="4572000" cy="73152"/>
          </a:xfrm>
          <a:prstGeom prst="rect">
            <a:avLst/>
          </a:prstGeom>
          <a:solidFill>
            <a:srgbClr val="7B0D1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228600" y="182880"/>
            <a:ext cx="4114800" cy="365760"/>
          </a:xfrm>
          <a:prstGeom prst="rect">
            <a:avLst/>
          </a:prstGeom>
          <a:noFill/>
        </p:spPr>
        <p:txBody>
          <a:bodyPr wrap="square">
            <a:spAutoFit/>
          </a:bodyPr>
          <a:lstStyle/>
          <a:p>
            <a:pPr algn="l"/>
            <a:r>
              <a:rPr sz="900" b="1" i="0">
                <a:solidFill>
                  <a:srgbClr val="C89620"/>
                </a:solidFill>
                <a:latin typeface="Calibri"/>
              </a:rPr>
              <a:t>THE CAR</a:t>
            </a:r>
          </a:p>
        </p:txBody>
      </p:sp>
      <p:sp>
        <p:nvSpPr>
          <p:cNvPr id="7" name="TextBox 6"/>
          <p:cNvSpPr txBox="1"/>
          <p:nvPr/>
        </p:nvSpPr>
        <p:spPr>
          <a:xfrm>
            <a:off x="228600" y="594360"/>
            <a:ext cx="4114800" cy="1645920"/>
          </a:xfrm>
          <a:prstGeom prst="rect">
            <a:avLst/>
          </a:prstGeom>
          <a:noFill/>
        </p:spPr>
        <p:txBody>
          <a:bodyPr wrap="square">
            <a:spAutoFit/>
          </a:bodyPr>
          <a:lstStyle/>
          <a:p>
            <a:pPr algn="l"/>
            <a:r>
              <a:rPr sz="3200" b="1" i="0">
                <a:solidFill>
                  <a:srgbClr val="FFFFFF"/>
                </a:solidFill>
                <a:latin typeface="Calibri"/>
              </a:rPr>
              <a:t>1967 Ford
Mustang
Fastback</a:t>
            </a:r>
          </a:p>
        </p:txBody>
      </p:sp>
      <p:sp>
        <p:nvSpPr>
          <p:cNvPr id="8" name="TextBox 7"/>
          <p:cNvSpPr txBox="1"/>
          <p:nvPr/>
        </p:nvSpPr>
        <p:spPr>
          <a:xfrm>
            <a:off x="228600" y="2468880"/>
            <a:ext cx="4114800" cy="1645920"/>
          </a:xfrm>
          <a:prstGeom prst="rect">
            <a:avLst/>
          </a:prstGeom>
          <a:noFill/>
        </p:spPr>
        <p:txBody>
          <a:bodyPr wrap="square">
            <a:spAutoFit/>
          </a:bodyPr>
          <a:lstStyle/>
          <a:p>
            <a:pPr algn="l"/>
            <a:r>
              <a:rPr sz="1000" b="0" i="0">
                <a:solidFill>
                  <a:srgbClr val="C8C8C8"/>
                </a:solidFill>
                <a:latin typeface="Calibri"/>
              </a:rPr>
              <a:t>Acquired at an El Paso swap meet in 2023 as a bare shell for $4,500. The body was sound under the surface rust, and the dimensions were all there. James knew the platform from 35 years under American iron.</a:t>
            </a:r>
          </a:p>
        </p:txBody>
      </p:sp>
      <p:sp>
        <p:nvSpPr>
          <p:cNvPr id="9" name="TextBox 8"/>
          <p:cNvSpPr txBox="1"/>
          <p:nvPr/>
        </p:nvSpPr>
        <p:spPr>
          <a:xfrm>
            <a:off x="228600" y="4251960"/>
            <a:ext cx="4114800" cy="1828800"/>
          </a:xfrm>
          <a:prstGeom prst="rect">
            <a:avLst/>
          </a:prstGeom>
          <a:noFill/>
        </p:spPr>
        <p:txBody>
          <a:bodyPr wrap="square">
            <a:spAutoFit/>
          </a:bodyPr>
          <a:lstStyle/>
          <a:p>
            <a:pPr algn="l"/>
            <a:r>
              <a:rPr sz="900" b="0" i="0">
                <a:solidFill>
                  <a:srgbClr val="AAAAAA"/>
                </a:solidFill>
                <a:latin typeface="Calibri"/>
              </a:rPr>
              <a:t>Why this car?
The 1967 Fastback is the shape. The roof line, the haunches, the proportions that Ford never repeated exactly. Three years in the back bay on Tuesday and Thursday nights.</a:t>
            </a:r>
          </a:p>
        </p:txBody>
      </p:sp>
      <p:sp>
        <p:nvSpPr>
          <p:cNvPr id="10" name="TextBox 9"/>
          <p:cNvSpPr txBox="1"/>
          <p:nvPr/>
        </p:nvSpPr>
        <p:spPr>
          <a:xfrm>
            <a:off x="4846320" y="182880"/>
            <a:ext cx="7040880" cy="365760"/>
          </a:xfrm>
          <a:prstGeom prst="rect">
            <a:avLst/>
          </a:prstGeom>
          <a:noFill/>
        </p:spPr>
        <p:txBody>
          <a:bodyPr wrap="square">
            <a:spAutoFit/>
          </a:bodyPr>
          <a:lstStyle/>
          <a:p>
            <a:pPr algn="l"/>
            <a:r>
              <a:rPr sz="1200" b="1" i="0">
                <a:solidFill>
                  <a:srgbClr val="222222"/>
                </a:solidFill>
                <a:latin typeface="Calibri"/>
              </a:rPr>
              <a:t>Vehicle Specification</a:t>
            </a:r>
          </a:p>
        </p:txBody>
      </p:sp>
      <p:sp>
        <p:nvSpPr>
          <p:cNvPr id="11" name="Rectangle 10"/>
          <p:cNvSpPr/>
          <p:nvPr/>
        </p:nvSpPr>
        <p:spPr>
          <a:xfrm>
            <a:off x="4754880" y="685800"/>
            <a:ext cx="7132320" cy="685800"/>
          </a:xfrm>
          <a:prstGeom prst="rect">
            <a:avLst/>
          </a:prstGeom>
          <a:solidFill>
            <a:srgbClr val="F2F4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4937760" y="777240"/>
            <a:ext cx="2743200" cy="320040"/>
          </a:xfrm>
          <a:prstGeom prst="rect">
            <a:avLst/>
          </a:prstGeom>
          <a:noFill/>
        </p:spPr>
        <p:txBody>
          <a:bodyPr wrap="square">
            <a:spAutoFit/>
          </a:bodyPr>
          <a:lstStyle/>
          <a:p>
            <a:pPr algn="l"/>
            <a:r>
              <a:rPr sz="950" b="0" i="0">
                <a:solidFill>
                  <a:srgbClr val="8A92A8"/>
                </a:solidFill>
                <a:latin typeface="Calibri"/>
              </a:rPr>
              <a:t>Model Year</a:t>
            </a:r>
          </a:p>
        </p:txBody>
      </p:sp>
      <p:sp>
        <p:nvSpPr>
          <p:cNvPr id="13" name="TextBox 12"/>
          <p:cNvSpPr txBox="1"/>
          <p:nvPr/>
        </p:nvSpPr>
        <p:spPr>
          <a:xfrm>
            <a:off x="7863840" y="777240"/>
            <a:ext cx="3840480" cy="320040"/>
          </a:xfrm>
          <a:prstGeom prst="rect">
            <a:avLst/>
          </a:prstGeom>
          <a:noFill/>
        </p:spPr>
        <p:txBody>
          <a:bodyPr wrap="square">
            <a:spAutoFit/>
          </a:bodyPr>
          <a:lstStyle/>
          <a:p>
            <a:pPr algn="l"/>
            <a:r>
              <a:rPr sz="1000" b="1" i="0">
                <a:solidFill>
                  <a:srgbClr val="222222"/>
                </a:solidFill>
                <a:latin typeface="Calibri"/>
              </a:rPr>
              <a:t>1967</a:t>
            </a:r>
          </a:p>
        </p:txBody>
      </p:sp>
      <p:sp>
        <p:nvSpPr>
          <p:cNvPr id="14" name="Rectangle 13"/>
          <p:cNvSpPr/>
          <p:nvPr/>
        </p:nvSpPr>
        <p:spPr>
          <a:xfrm>
            <a:off x="4754880" y="1417320"/>
            <a:ext cx="7132320" cy="6858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4937760" y="1508760"/>
            <a:ext cx="2743200" cy="320040"/>
          </a:xfrm>
          <a:prstGeom prst="rect">
            <a:avLst/>
          </a:prstGeom>
          <a:noFill/>
        </p:spPr>
        <p:txBody>
          <a:bodyPr wrap="square">
            <a:spAutoFit/>
          </a:bodyPr>
          <a:lstStyle/>
          <a:p>
            <a:pPr algn="l"/>
            <a:r>
              <a:rPr sz="950" b="0" i="0">
                <a:solidFill>
                  <a:srgbClr val="8A92A8"/>
                </a:solidFill>
                <a:latin typeface="Calibri"/>
              </a:rPr>
              <a:t>Body Style</a:t>
            </a:r>
          </a:p>
        </p:txBody>
      </p:sp>
      <p:sp>
        <p:nvSpPr>
          <p:cNvPr id="16" name="TextBox 15"/>
          <p:cNvSpPr txBox="1"/>
          <p:nvPr/>
        </p:nvSpPr>
        <p:spPr>
          <a:xfrm>
            <a:off x="7863840" y="1508760"/>
            <a:ext cx="3840480" cy="320040"/>
          </a:xfrm>
          <a:prstGeom prst="rect">
            <a:avLst/>
          </a:prstGeom>
          <a:noFill/>
        </p:spPr>
        <p:txBody>
          <a:bodyPr wrap="square">
            <a:spAutoFit/>
          </a:bodyPr>
          <a:lstStyle/>
          <a:p>
            <a:pPr algn="l"/>
            <a:r>
              <a:rPr sz="1000" b="1" i="0">
                <a:solidFill>
                  <a:srgbClr val="222222"/>
                </a:solidFill>
                <a:latin typeface="Calibri"/>
              </a:rPr>
              <a:t>Fastback 2+2</a:t>
            </a:r>
          </a:p>
        </p:txBody>
      </p:sp>
      <p:sp>
        <p:nvSpPr>
          <p:cNvPr id="17" name="Rectangle 16"/>
          <p:cNvSpPr/>
          <p:nvPr/>
        </p:nvSpPr>
        <p:spPr>
          <a:xfrm>
            <a:off x="4754880" y="2148840"/>
            <a:ext cx="7132320" cy="685800"/>
          </a:xfrm>
          <a:prstGeom prst="rect">
            <a:avLst/>
          </a:prstGeom>
          <a:solidFill>
            <a:srgbClr val="F2F4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4937760" y="2240280"/>
            <a:ext cx="2743200" cy="320040"/>
          </a:xfrm>
          <a:prstGeom prst="rect">
            <a:avLst/>
          </a:prstGeom>
          <a:noFill/>
        </p:spPr>
        <p:txBody>
          <a:bodyPr wrap="square">
            <a:spAutoFit/>
          </a:bodyPr>
          <a:lstStyle/>
          <a:p>
            <a:pPr algn="l"/>
            <a:r>
              <a:rPr sz="950" b="0" i="0">
                <a:solidFill>
                  <a:srgbClr val="8A92A8"/>
                </a:solidFill>
                <a:latin typeface="Calibri"/>
              </a:rPr>
              <a:t>Engine (rebuilt)</a:t>
            </a:r>
          </a:p>
        </p:txBody>
      </p:sp>
      <p:sp>
        <p:nvSpPr>
          <p:cNvPr id="19" name="TextBox 18"/>
          <p:cNvSpPr txBox="1"/>
          <p:nvPr/>
        </p:nvSpPr>
        <p:spPr>
          <a:xfrm>
            <a:off x="7863840" y="2240280"/>
            <a:ext cx="3840480" cy="320040"/>
          </a:xfrm>
          <a:prstGeom prst="rect">
            <a:avLst/>
          </a:prstGeom>
          <a:noFill/>
        </p:spPr>
        <p:txBody>
          <a:bodyPr wrap="square">
            <a:spAutoFit/>
          </a:bodyPr>
          <a:lstStyle/>
          <a:p>
            <a:pPr algn="l"/>
            <a:r>
              <a:rPr sz="1000" b="1" i="0">
                <a:solidFill>
                  <a:srgbClr val="222222"/>
                </a:solidFill>
                <a:latin typeface="Calibri"/>
              </a:rPr>
              <a:t>302 cubic inch V8</a:t>
            </a:r>
          </a:p>
        </p:txBody>
      </p:sp>
      <p:sp>
        <p:nvSpPr>
          <p:cNvPr id="20" name="Rectangle 19"/>
          <p:cNvSpPr/>
          <p:nvPr/>
        </p:nvSpPr>
        <p:spPr>
          <a:xfrm>
            <a:off x="4754880" y="2880360"/>
            <a:ext cx="7132320" cy="6858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4937760" y="2971800"/>
            <a:ext cx="2743200" cy="320040"/>
          </a:xfrm>
          <a:prstGeom prst="rect">
            <a:avLst/>
          </a:prstGeom>
          <a:noFill/>
        </p:spPr>
        <p:txBody>
          <a:bodyPr wrap="square">
            <a:spAutoFit/>
          </a:bodyPr>
          <a:lstStyle/>
          <a:p>
            <a:pPr algn="l"/>
            <a:r>
              <a:rPr sz="950" b="0" i="0">
                <a:solidFill>
                  <a:srgbClr val="8A92A8"/>
                </a:solidFill>
                <a:latin typeface="Calibri"/>
              </a:rPr>
              <a:t>Transmission</a:t>
            </a:r>
          </a:p>
        </p:txBody>
      </p:sp>
      <p:sp>
        <p:nvSpPr>
          <p:cNvPr id="22" name="TextBox 21"/>
          <p:cNvSpPr txBox="1"/>
          <p:nvPr/>
        </p:nvSpPr>
        <p:spPr>
          <a:xfrm>
            <a:off x="7863840" y="2971800"/>
            <a:ext cx="3840480" cy="320040"/>
          </a:xfrm>
          <a:prstGeom prst="rect">
            <a:avLst/>
          </a:prstGeom>
          <a:noFill/>
        </p:spPr>
        <p:txBody>
          <a:bodyPr wrap="square">
            <a:spAutoFit/>
          </a:bodyPr>
          <a:lstStyle/>
          <a:p>
            <a:pPr algn="l"/>
            <a:r>
              <a:rPr sz="1000" b="1" i="0">
                <a:solidFill>
                  <a:srgbClr val="222222"/>
                </a:solidFill>
                <a:latin typeface="Calibri"/>
              </a:rPr>
              <a:t>C4 automatic (rebuilt)</a:t>
            </a:r>
          </a:p>
        </p:txBody>
      </p:sp>
      <p:sp>
        <p:nvSpPr>
          <p:cNvPr id="23" name="Rectangle 22"/>
          <p:cNvSpPr/>
          <p:nvPr/>
        </p:nvSpPr>
        <p:spPr>
          <a:xfrm>
            <a:off x="4754880" y="3611880"/>
            <a:ext cx="7132320" cy="685800"/>
          </a:xfrm>
          <a:prstGeom prst="rect">
            <a:avLst/>
          </a:prstGeom>
          <a:solidFill>
            <a:srgbClr val="F2F4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4937760" y="3703320"/>
            <a:ext cx="2743200" cy="320040"/>
          </a:xfrm>
          <a:prstGeom prst="rect">
            <a:avLst/>
          </a:prstGeom>
          <a:noFill/>
        </p:spPr>
        <p:txBody>
          <a:bodyPr wrap="square">
            <a:spAutoFit/>
          </a:bodyPr>
          <a:lstStyle/>
          <a:p>
            <a:pPr algn="l"/>
            <a:r>
              <a:rPr sz="950" b="0" i="0">
                <a:solidFill>
                  <a:srgbClr val="8A92A8"/>
                </a:solidFill>
                <a:latin typeface="Calibri"/>
              </a:rPr>
              <a:t>Acquired</a:t>
            </a:r>
          </a:p>
        </p:txBody>
      </p:sp>
      <p:sp>
        <p:nvSpPr>
          <p:cNvPr id="25" name="TextBox 24"/>
          <p:cNvSpPr txBox="1"/>
          <p:nvPr/>
        </p:nvSpPr>
        <p:spPr>
          <a:xfrm>
            <a:off x="7863840" y="3703320"/>
            <a:ext cx="3840480" cy="320040"/>
          </a:xfrm>
          <a:prstGeom prst="rect">
            <a:avLst/>
          </a:prstGeom>
          <a:noFill/>
        </p:spPr>
        <p:txBody>
          <a:bodyPr wrap="square">
            <a:spAutoFit/>
          </a:bodyPr>
          <a:lstStyle/>
          <a:p>
            <a:pPr algn="l"/>
            <a:r>
              <a:rPr sz="1000" b="1" i="0">
                <a:solidFill>
                  <a:srgbClr val="222222"/>
                </a:solidFill>
                <a:latin typeface="Calibri"/>
              </a:rPr>
              <a:t>2023 - El Paso swap meet</a:t>
            </a:r>
          </a:p>
        </p:txBody>
      </p:sp>
      <p:sp>
        <p:nvSpPr>
          <p:cNvPr id="26" name="Rectangle 25"/>
          <p:cNvSpPr/>
          <p:nvPr/>
        </p:nvSpPr>
        <p:spPr>
          <a:xfrm>
            <a:off x="4754880" y="4343400"/>
            <a:ext cx="7132320" cy="6858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4937760" y="4434840"/>
            <a:ext cx="2743200" cy="320040"/>
          </a:xfrm>
          <a:prstGeom prst="rect">
            <a:avLst/>
          </a:prstGeom>
          <a:noFill/>
        </p:spPr>
        <p:txBody>
          <a:bodyPr wrap="square">
            <a:spAutoFit/>
          </a:bodyPr>
          <a:lstStyle/>
          <a:p>
            <a:pPr algn="l"/>
            <a:r>
              <a:rPr sz="950" b="0" i="0">
                <a:solidFill>
                  <a:srgbClr val="8A92A8"/>
                </a:solidFill>
                <a:latin typeface="Calibri"/>
              </a:rPr>
              <a:t>Purchase Price</a:t>
            </a:r>
          </a:p>
        </p:txBody>
      </p:sp>
      <p:sp>
        <p:nvSpPr>
          <p:cNvPr id="28" name="TextBox 27"/>
          <p:cNvSpPr txBox="1"/>
          <p:nvPr/>
        </p:nvSpPr>
        <p:spPr>
          <a:xfrm>
            <a:off x="7863840" y="4434840"/>
            <a:ext cx="3840480" cy="320040"/>
          </a:xfrm>
          <a:prstGeom prst="rect">
            <a:avLst/>
          </a:prstGeom>
          <a:noFill/>
        </p:spPr>
        <p:txBody>
          <a:bodyPr wrap="square">
            <a:spAutoFit/>
          </a:bodyPr>
          <a:lstStyle/>
          <a:p>
            <a:pPr algn="l"/>
            <a:r>
              <a:rPr sz="1000" b="1" i="0">
                <a:solidFill>
                  <a:srgbClr val="222222"/>
                </a:solidFill>
                <a:latin typeface="Calibri"/>
              </a:rPr>
              <a:t>$4,500 (bare shell)</a:t>
            </a:r>
          </a:p>
        </p:txBody>
      </p:sp>
      <p:sp>
        <p:nvSpPr>
          <p:cNvPr id="29" name="Rectangle 28"/>
          <p:cNvSpPr/>
          <p:nvPr/>
        </p:nvSpPr>
        <p:spPr>
          <a:xfrm>
            <a:off x="4754880" y="5074920"/>
            <a:ext cx="7132320" cy="685800"/>
          </a:xfrm>
          <a:prstGeom prst="rect">
            <a:avLst/>
          </a:prstGeom>
          <a:solidFill>
            <a:srgbClr val="F2F4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4937760" y="5166360"/>
            <a:ext cx="2743200" cy="320040"/>
          </a:xfrm>
          <a:prstGeom prst="rect">
            <a:avLst/>
          </a:prstGeom>
          <a:noFill/>
        </p:spPr>
        <p:txBody>
          <a:bodyPr wrap="square">
            <a:spAutoFit/>
          </a:bodyPr>
          <a:lstStyle/>
          <a:p>
            <a:pPr algn="l"/>
            <a:r>
              <a:rPr sz="950" b="0" i="0">
                <a:solidFill>
                  <a:srgbClr val="8A92A8"/>
                </a:solidFill>
                <a:latin typeface="Calibri"/>
              </a:rPr>
              <a:t>VIN Class</a:t>
            </a:r>
          </a:p>
        </p:txBody>
      </p:sp>
      <p:sp>
        <p:nvSpPr>
          <p:cNvPr id="31" name="TextBox 30"/>
          <p:cNvSpPr txBox="1"/>
          <p:nvPr/>
        </p:nvSpPr>
        <p:spPr>
          <a:xfrm>
            <a:off x="7863840" y="5166360"/>
            <a:ext cx="3840480" cy="320040"/>
          </a:xfrm>
          <a:prstGeom prst="rect">
            <a:avLst/>
          </a:prstGeom>
          <a:noFill/>
        </p:spPr>
        <p:txBody>
          <a:bodyPr wrap="square">
            <a:spAutoFit/>
          </a:bodyPr>
          <a:lstStyle/>
          <a:p>
            <a:pPr algn="l"/>
            <a:r>
              <a:rPr sz="1000" b="1" i="0">
                <a:solidFill>
                  <a:srgbClr val="222222"/>
                </a:solidFill>
                <a:latin typeface="Calibri"/>
              </a:rPr>
              <a:t>Pony car - Ford platform</a:t>
            </a:r>
          </a:p>
        </p:txBody>
      </p:sp>
      <p:sp>
        <p:nvSpPr>
          <p:cNvPr id="32" name="Rectangle 31"/>
          <p:cNvSpPr/>
          <p:nvPr/>
        </p:nvSpPr>
        <p:spPr>
          <a:xfrm>
            <a:off x="4754880" y="5806440"/>
            <a:ext cx="7132320" cy="6858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TextBox 32"/>
          <p:cNvSpPr txBox="1"/>
          <p:nvPr/>
        </p:nvSpPr>
        <p:spPr>
          <a:xfrm>
            <a:off x="4937760" y="5897880"/>
            <a:ext cx="2743200" cy="320040"/>
          </a:xfrm>
          <a:prstGeom prst="rect">
            <a:avLst/>
          </a:prstGeom>
          <a:noFill/>
        </p:spPr>
        <p:txBody>
          <a:bodyPr wrap="square">
            <a:spAutoFit/>
          </a:bodyPr>
          <a:lstStyle/>
          <a:p>
            <a:pPr algn="l"/>
            <a:r>
              <a:rPr sz="950" b="0" i="0">
                <a:solidFill>
                  <a:srgbClr val="8A92A8"/>
                </a:solidFill>
                <a:latin typeface="Calibri"/>
              </a:rPr>
              <a:t>Target Finish</a:t>
            </a:r>
          </a:p>
        </p:txBody>
      </p:sp>
      <p:sp>
        <p:nvSpPr>
          <p:cNvPr id="34" name="TextBox 33"/>
          <p:cNvSpPr txBox="1"/>
          <p:nvPr/>
        </p:nvSpPr>
        <p:spPr>
          <a:xfrm>
            <a:off x="7863840" y="5897880"/>
            <a:ext cx="3840480" cy="320040"/>
          </a:xfrm>
          <a:prstGeom prst="rect">
            <a:avLst/>
          </a:prstGeom>
          <a:noFill/>
        </p:spPr>
        <p:txBody>
          <a:bodyPr wrap="square">
            <a:spAutoFit/>
          </a:bodyPr>
          <a:lstStyle/>
          <a:p>
            <a:pPr algn="l"/>
            <a:r>
              <a:rPr sz="1000" b="1" i="0">
                <a:solidFill>
                  <a:srgbClr val="222222"/>
                </a:solidFill>
                <a:latin typeface="Calibri"/>
              </a:rPr>
              <a:t>December 2026</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88952" cy="68580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88952" cy="914400"/>
          </a:xfrm>
          <a:prstGeom prst="rect">
            <a:avLst/>
          </a:prstGeom>
          <a:solidFill>
            <a:srgbClr val="22222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0"/>
            <a:ext cx="320040" cy="914400"/>
          </a:xfrm>
          <a:prstGeom prst="rect">
            <a:avLst/>
          </a:prstGeom>
          <a:solidFill>
            <a:srgbClr val="7B0D1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502920" y="137160"/>
            <a:ext cx="7315200" cy="502920"/>
          </a:xfrm>
          <a:prstGeom prst="rect">
            <a:avLst/>
          </a:prstGeom>
          <a:noFill/>
        </p:spPr>
        <p:txBody>
          <a:bodyPr wrap="square">
            <a:spAutoFit/>
          </a:bodyPr>
          <a:lstStyle/>
          <a:p>
            <a:pPr algn="l"/>
            <a:r>
              <a:rPr sz="2800" b="1" i="0">
                <a:solidFill>
                  <a:srgbClr val="FFFFFF"/>
                </a:solidFill>
                <a:latin typeface="Calibri"/>
              </a:rPr>
              <a:t>Build Timeline</a:t>
            </a:r>
          </a:p>
        </p:txBody>
      </p:sp>
      <p:sp>
        <p:nvSpPr>
          <p:cNvPr id="6" name="TextBox 5"/>
          <p:cNvSpPr txBox="1"/>
          <p:nvPr/>
        </p:nvSpPr>
        <p:spPr>
          <a:xfrm>
            <a:off x="502920" y="621792"/>
            <a:ext cx="10972800" cy="256032"/>
          </a:xfrm>
          <a:prstGeom prst="rect">
            <a:avLst/>
          </a:prstGeom>
          <a:noFill/>
        </p:spPr>
        <p:txBody>
          <a:bodyPr wrap="square">
            <a:spAutoFit/>
          </a:bodyPr>
          <a:lstStyle/>
          <a:p>
            <a:pPr algn="l"/>
            <a:r>
              <a:rPr sz="1000" b="0" i="0">
                <a:solidFill>
                  <a:srgbClr val="C89620"/>
                </a:solidFill>
                <a:latin typeface="Calibri"/>
              </a:rPr>
              <a:t>Three years in the back bay - Tuesday and Thursday nights, 7:00 PM to 9:00 PM</a:t>
            </a:r>
          </a:p>
        </p:txBody>
      </p:sp>
      <p:sp>
        <p:nvSpPr>
          <p:cNvPr id="7" name="Rectangle 6"/>
          <p:cNvSpPr/>
          <p:nvPr/>
        </p:nvSpPr>
        <p:spPr>
          <a:xfrm>
            <a:off x="365760" y="1005840"/>
            <a:ext cx="2176272" cy="5303520"/>
          </a:xfrm>
          <a:prstGeom prst="rect">
            <a:avLst/>
          </a:prstGeom>
          <a:solidFill>
            <a:srgbClr val="F2F4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365760" y="1005840"/>
            <a:ext cx="2176272" cy="91440"/>
          </a:xfrm>
          <a:prstGeom prst="rect">
            <a:avLst/>
          </a:prstGeom>
          <a:solidFill>
            <a:srgbClr val="7B0D1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457200" y="1143000"/>
            <a:ext cx="2103120" cy="502920"/>
          </a:xfrm>
          <a:prstGeom prst="rect">
            <a:avLst/>
          </a:prstGeom>
          <a:noFill/>
        </p:spPr>
        <p:txBody>
          <a:bodyPr wrap="square">
            <a:spAutoFit/>
          </a:bodyPr>
          <a:lstStyle/>
          <a:p>
            <a:pPr algn="l"/>
            <a:r>
              <a:rPr sz="900" b="1" i="0">
                <a:solidFill>
                  <a:srgbClr val="7B0D1E"/>
                </a:solidFill>
                <a:latin typeface="Calibri"/>
              </a:rPr>
              <a:t>2023
Year 1</a:t>
            </a:r>
          </a:p>
        </p:txBody>
      </p:sp>
      <p:sp>
        <p:nvSpPr>
          <p:cNvPr id="10" name="TextBox 9"/>
          <p:cNvSpPr txBox="1"/>
          <p:nvPr/>
        </p:nvSpPr>
        <p:spPr>
          <a:xfrm>
            <a:off x="457200" y="1719072"/>
            <a:ext cx="2103120" cy="548640"/>
          </a:xfrm>
          <a:prstGeom prst="rect">
            <a:avLst/>
          </a:prstGeom>
          <a:noFill/>
        </p:spPr>
        <p:txBody>
          <a:bodyPr wrap="square">
            <a:spAutoFit/>
          </a:bodyPr>
          <a:lstStyle/>
          <a:p>
            <a:pPr algn="l"/>
            <a:r>
              <a:rPr sz="1000" b="1" i="0">
                <a:solidFill>
                  <a:srgbClr val="222222"/>
                </a:solidFill>
                <a:latin typeface="Calibri"/>
              </a:rPr>
              <a:t>Acquisition and Teardown</a:t>
            </a:r>
          </a:p>
        </p:txBody>
      </p:sp>
      <p:sp>
        <p:nvSpPr>
          <p:cNvPr id="11" name="TextBox 10"/>
          <p:cNvSpPr txBox="1"/>
          <p:nvPr/>
        </p:nvSpPr>
        <p:spPr>
          <a:xfrm>
            <a:off x="457200" y="2377440"/>
            <a:ext cx="2103120" cy="3108960"/>
          </a:xfrm>
          <a:prstGeom prst="rect">
            <a:avLst/>
          </a:prstGeom>
          <a:noFill/>
        </p:spPr>
        <p:txBody>
          <a:bodyPr wrap="square">
            <a:spAutoFit/>
          </a:bodyPr>
          <a:lstStyle/>
          <a:p>
            <a:pPr algn="l"/>
            <a:r>
              <a:rPr sz="800" b="0" i="0">
                <a:solidFill>
                  <a:srgbClr val="333C4E"/>
                </a:solidFill>
                <a:latin typeface="Calibri"/>
              </a:rPr>
              <a:t>Bought the bare shell at a swap meet. Full strip-down in the back bay over two months. Identified rust in floor pans and rocker sections. Stripped to bare metal throughout. Every bolt catalogued.</a:t>
            </a:r>
          </a:p>
        </p:txBody>
      </p:sp>
      <p:sp>
        <p:nvSpPr>
          <p:cNvPr id="12" name="Rectangle 11"/>
          <p:cNvSpPr/>
          <p:nvPr/>
        </p:nvSpPr>
        <p:spPr>
          <a:xfrm>
            <a:off x="457200" y="5669280"/>
            <a:ext cx="2011680" cy="502920"/>
          </a:xfrm>
          <a:prstGeom prst="rect">
            <a:avLst/>
          </a:prstGeom>
          <a:solidFill>
            <a:srgbClr val="7B0D1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502920" y="5760720"/>
            <a:ext cx="1965960" cy="320040"/>
          </a:xfrm>
          <a:prstGeom prst="rect">
            <a:avLst/>
          </a:prstGeom>
          <a:noFill/>
        </p:spPr>
        <p:txBody>
          <a:bodyPr wrap="square">
            <a:spAutoFit/>
          </a:bodyPr>
          <a:lstStyle/>
          <a:p>
            <a:pPr algn="ctr"/>
            <a:r>
              <a:rPr sz="1000" b="1" i="0">
                <a:solidFill>
                  <a:srgbClr val="FFFFFF"/>
                </a:solidFill>
                <a:latin typeface="Calibri"/>
              </a:rPr>
              <a:t>$4,500</a:t>
            </a:r>
          </a:p>
        </p:txBody>
      </p:sp>
      <p:sp>
        <p:nvSpPr>
          <p:cNvPr id="14" name="TextBox 13"/>
          <p:cNvSpPr txBox="1"/>
          <p:nvPr/>
        </p:nvSpPr>
        <p:spPr>
          <a:xfrm>
            <a:off x="457200" y="6245352"/>
            <a:ext cx="2057400" cy="182880"/>
          </a:xfrm>
          <a:prstGeom prst="rect">
            <a:avLst/>
          </a:prstGeom>
          <a:noFill/>
        </p:spPr>
        <p:txBody>
          <a:bodyPr wrap="square">
            <a:spAutoFit/>
          </a:bodyPr>
          <a:lstStyle/>
          <a:p>
            <a:pPr algn="ctr"/>
            <a:r>
              <a:rPr sz="700" b="1" i="0">
                <a:solidFill>
                  <a:srgbClr val="1E8449"/>
                </a:solidFill>
                <a:latin typeface="Calibri"/>
              </a:rPr>
              <a:t>COMPLETE</a:t>
            </a:r>
          </a:p>
        </p:txBody>
      </p:sp>
      <p:sp>
        <p:nvSpPr>
          <p:cNvPr id="15" name="Rectangle 14"/>
          <p:cNvSpPr/>
          <p:nvPr/>
        </p:nvSpPr>
        <p:spPr>
          <a:xfrm>
            <a:off x="2651760" y="1005840"/>
            <a:ext cx="2176272" cy="5303520"/>
          </a:xfrm>
          <a:prstGeom prst="rect">
            <a:avLst/>
          </a:prstGeom>
          <a:solidFill>
            <a:srgbClr val="F2F4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2651760" y="1005840"/>
            <a:ext cx="2176272" cy="91440"/>
          </a:xfrm>
          <a:prstGeom prst="rect">
            <a:avLst/>
          </a:prstGeom>
          <a:solidFill>
            <a:srgbClr val="A32B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2743200" y="1143000"/>
            <a:ext cx="2103120" cy="502920"/>
          </a:xfrm>
          <a:prstGeom prst="rect">
            <a:avLst/>
          </a:prstGeom>
          <a:noFill/>
        </p:spPr>
        <p:txBody>
          <a:bodyPr wrap="square">
            <a:spAutoFit/>
          </a:bodyPr>
          <a:lstStyle/>
          <a:p>
            <a:pPr algn="l"/>
            <a:r>
              <a:rPr sz="900" b="1" i="0">
                <a:solidFill>
                  <a:srgbClr val="A32B00"/>
                </a:solidFill>
                <a:latin typeface="Calibri"/>
              </a:rPr>
              <a:t>2023-24
Year 1-2</a:t>
            </a:r>
          </a:p>
        </p:txBody>
      </p:sp>
      <p:sp>
        <p:nvSpPr>
          <p:cNvPr id="18" name="TextBox 17"/>
          <p:cNvSpPr txBox="1"/>
          <p:nvPr/>
        </p:nvSpPr>
        <p:spPr>
          <a:xfrm>
            <a:off x="2743200" y="1719072"/>
            <a:ext cx="2103120" cy="548640"/>
          </a:xfrm>
          <a:prstGeom prst="rect">
            <a:avLst/>
          </a:prstGeom>
          <a:noFill/>
        </p:spPr>
        <p:txBody>
          <a:bodyPr wrap="square">
            <a:spAutoFit/>
          </a:bodyPr>
          <a:lstStyle/>
          <a:p>
            <a:pPr algn="l"/>
            <a:r>
              <a:rPr sz="1000" b="1" i="0">
                <a:solidFill>
                  <a:srgbClr val="222222"/>
                </a:solidFill>
                <a:latin typeface="Calibri"/>
              </a:rPr>
              <a:t>Rust Repair and Engine Rebuild</a:t>
            </a:r>
          </a:p>
        </p:txBody>
      </p:sp>
      <p:sp>
        <p:nvSpPr>
          <p:cNvPr id="19" name="TextBox 18"/>
          <p:cNvSpPr txBox="1"/>
          <p:nvPr/>
        </p:nvSpPr>
        <p:spPr>
          <a:xfrm>
            <a:off x="2743200" y="2377440"/>
            <a:ext cx="2103120" cy="3108960"/>
          </a:xfrm>
          <a:prstGeom prst="rect">
            <a:avLst/>
          </a:prstGeom>
          <a:noFill/>
        </p:spPr>
        <p:txBody>
          <a:bodyPr wrap="square">
            <a:spAutoFit/>
          </a:bodyPr>
          <a:lstStyle/>
          <a:p>
            <a:pPr algn="l"/>
            <a:r>
              <a:rPr sz="800" b="0" i="0">
                <a:solidFill>
                  <a:srgbClr val="333C4E"/>
                </a:solidFill>
                <a:latin typeface="Calibri"/>
              </a:rPr>
              <a:t>Floor pan and rocker sections welded and sealed. 302 V8 pulled and sent to the machine shop for a bore, then rebuilt in-house: new rings, bearings, cam, lifters, and full valve job. Engine back in and running on the stand by late 2024.</a:t>
            </a:r>
          </a:p>
        </p:txBody>
      </p:sp>
      <p:sp>
        <p:nvSpPr>
          <p:cNvPr id="20" name="Rectangle 19"/>
          <p:cNvSpPr/>
          <p:nvPr/>
        </p:nvSpPr>
        <p:spPr>
          <a:xfrm>
            <a:off x="2743200" y="5669280"/>
            <a:ext cx="2011680" cy="502920"/>
          </a:xfrm>
          <a:prstGeom prst="rect">
            <a:avLst/>
          </a:prstGeom>
          <a:solidFill>
            <a:srgbClr val="A32B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2788920" y="5760720"/>
            <a:ext cx="1965960" cy="320040"/>
          </a:xfrm>
          <a:prstGeom prst="rect">
            <a:avLst/>
          </a:prstGeom>
          <a:noFill/>
        </p:spPr>
        <p:txBody>
          <a:bodyPr wrap="square">
            <a:spAutoFit/>
          </a:bodyPr>
          <a:lstStyle/>
          <a:p>
            <a:pPr algn="ctr"/>
            <a:r>
              <a:rPr sz="1000" b="1" i="0">
                <a:solidFill>
                  <a:srgbClr val="FFFFFF"/>
                </a:solidFill>
                <a:latin typeface="Calibri"/>
              </a:rPr>
              <a:t>$9,300</a:t>
            </a:r>
          </a:p>
        </p:txBody>
      </p:sp>
      <p:sp>
        <p:nvSpPr>
          <p:cNvPr id="22" name="TextBox 21"/>
          <p:cNvSpPr txBox="1"/>
          <p:nvPr/>
        </p:nvSpPr>
        <p:spPr>
          <a:xfrm>
            <a:off x="2743200" y="6245352"/>
            <a:ext cx="2057400" cy="182880"/>
          </a:xfrm>
          <a:prstGeom prst="rect">
            <a:avLst/>
          </a:prstGeom>
          <a:noFill/>
        </p:spPr>
        <p:txBody>
          <a:bodyPr wrap="square">
            <a:spAutoFit/>
          </a:bodyPr>
          <a:lstStyle/>
          <a:p>
            <a:pPr algn="ctr"/>
            <a:r>
              <a:rPr sz="700" b="1" i="0">
                <a:solidFill>
                  <a:srgbClr val="1E8449"/>
                </a:solidFill>
                <a:latin typeface="Calibri"/>
              </a:rPr>
              <a:t>COMPLETE</a:t>
            </a:r>
          </a:p>
        </p:txBody>
      </p:sp>
      <p:sp>
        <p:nvSpPr>
          <p:cNvPr id="23" name="Rectangle 22"/>
          <p:cNvSpPr/>
          <p:nvPr/>
        </p:nvSpPr>
        <p:spPr>
          <a:xfrm>
            <a:off x="4937760" y="1005840"/>
            <a:ext cx="2176272" cy="5303520"/>
          </a:xfrm>
          <a:prstGeom prst="rect">
            <a:avLst/>
          </a:prstGeom>
          <a:solidFill>
            <a:srgbClr val="F2F4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Rectangle 23"/>
          <p:cNvSpPr/>
          <p:nvPr/>
        </p:nvSpPr>
        <p:spPr>
          <a:xfrm>
            <a:off x="4937760" y="1005840"/>
            <a:ext cx="2176272" cy="91440"/>
          </a:xfrm>
          <a:prstGeom prst="rect">
            <a:avLst/>
          </a:prstGeom>
          <a:solidFill>
            <a:srgbClr val="E67E2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5029200" y="1143000"/>
            <a:ext cx="2103120" cy="502920"/>
          </a:xfrm>
          <a:prstGeom prst="rect">
            <a:avLst/>
          </a:prstGeom>
          <a:noFill/>
        </p:spPr>
        <p:txBody>
          <a:bodyPr wrap="square">
            <a:spAutoFit/>
          </a:bodyPr>
          <a:lstStyle/>
          <a:p>
            <a:pPr algn="l"/>
            <a:r>
              <a:rPr sz="900" b="1" i="0">
                <a:solidFill>
                  <a:srgbClr val="E67E22"/>
                </a:solidFill>
                <a:latin typeface="Calibri"/>
              </a:rPr>
              <a:t>2024-25
Year 2-3</a:t>
            </a:r>
          </a:p>
        </p:txBody>
      </p:sp>
      <p:sp>
        <p:nvSpPr>
          <p:cNvPr id="26" name="TextBox 25"/>
          <p:cNvSpPr txBox="1"/>
          <p:nvPr/>
        </p:nvSpPr>
        <p:spPr>
          <a:xfrm>
            <a:off x="5029200" y="1719072"/>
            <a:ext cx="2103120" cy="548640"/>
          </a:xfrm>
          <a:prstGeom prst="rect">
            <a:avLst/>
          </a:prstGeom>
          <a:noFill/>
        </p:spPr>
        <p:txBody>
          <a:bodyPr wrap="square">
            <a:spAutoFit/>
          </a:bodyPr>
          <a:lstStyle/>
          <a:p>
            <a:pPr algn="l"/>
            <a:r>
              <a:rPr sz="1000" b="1" i="0">
                <a:solidFill>
                  <a:srgbClr val="222222"/>
                </a:solidFill>
                <a:latin typeface="Calibri"/>
              </a:rPr>
              <a:t>Suspension, Brakes, and Electrical</a:t>
            </a:r>
          </a:p>
        </p:txBody>
      </p:sp>
      <p:sp>
        <p:nvSpPr>
          <p:cNvPr id="27" name="TextBox 26"/>
          <p:cNvSpPr txBox="1"/>
          <p:nvPr/>
        </p:nvSpPr>
        <p:spPr>
          <a:xfrm>
            <a:off x="5029200" y="2377440"/>
            <a:ext cx="2103120" cy="3108960"/>
          </a:xfrm>
          <a:prstGeom prst="rect">
            <a:avLst/>
          </a:prstGeom>
          <a:noFill/>
        </p:spPr>
        <p:txBody>
          <a:bodyPr wrap="square">
            <a:spAutoFit/>
          </a:bodyPr>
          <a:lstStyle/>
          <a:p>
            <a:pPr algn="l"/>
            <a:r>
              <a:rPr sz="800" b="0" i="0">
                <a:solidFill>
                  <a:srgbClr val="333C4E"/>
                </a:solidFill>
                <a:latin typeface="Calibri"/>
              </a:rPr>
              <a:t>Full front suspension rebuild with new ball joints and tie rods. Rear leaf springs replaced. Brake lines and wheel cylinders throughout. Under-dash wiring harness installed. Dashpad and carpet received and fitted.</a:t>
            </a:r>
          </a:p>
        </p:txBody>
      </p:sp>
      <p:sp>
        <p:nvSpPr>
          <p:cNvPr id="28" name="Rectangle 27"/>
          <p:cNvSpPr/>
          <p:nvPr/>
        </p:nvSpPr>
        <p:spPr>
          <a:xfrm>
            <a:off x="5029200" y="5669280"/>
            <a:ext cx="2011680" cy="502920"/>
          </a:xfrm>
          <a:prstGeom prst="rect">
            <a:avLst/>
          </a:prstGeom>
          <a:solidFill>
            <a:srgbClr val="E67E2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5074920" y="5760720"/>
            <a:ext cx="1965960" cy="320040"/>
          </a:xfrm>
          <a:prstGeom prst="rect">
            <a:avLst/>
          </a:prstGeom>
          <a:noFill/>
        </p:spPr>
        <p:txBody>
          <a:bodyPr wrap="square">
            <a:spAutoFit/>
          </a:bodyPr>
          <a:lstStyle/>
          <a:p>
            <a:pPr algn="ctr"/>
            <a:r>
              <a:rPr sz="1000" b="1" i="0">
                <a:solidFill>
                  <a:srgbClr val="FFFFFF"/>
                </a:solidFill>
                <a:latin typeface="Calibri"/>
              </a:rPr>
              <a:t>$6,800</a:t>
            </a:r>
          </a:p>
        </p:txBody>
      </p:sp>
      <p:sp>
        <p:nvSpPr>
          <p:cNvPr id="30" name="TextBox 29"/>
          <p:cNvSpPr txBox="1"/>
          <p:nvPr/>
        </p:nvSpPr>
        <p:spPr>
          <a:xfrm>
            <a:off x="5029200" y="6245352"/>
            <a:ext cx="2057400" cy="182880"/>
          </a:xfrm>
          <a:prstGeom prst="rect">
            <a:avLst/>
          </a:prstGeom>
          <a:noFill/>
        </p:spPr>
        <p:txBody>
          <a:bodyPr wrap="square">
            <a:spAutoFit/>
          </a:bodyPr>
          <a:lstStyle/>
          <a:p>
            <a:pPr algn="ctr"/>
            <a:r>
              <a:rPr sz="700" b="1" i="0">
                <a:solidFill>
                  <a:srgbClr val="1E8449"/>
                </a:solidFill>
                <a:latin typeface="Calibri"/>
              </a:rPr>
              <a:t>COMPLETE</a:t>
            </a:r>
          </a:p>
        </p:txBody>
      </p:sp>
      <p:sp>
        <p:nvSpPr>
          <p:cNvPr id="31" name="Rectangle 30"/>
          <p:cNvSpPr/>
          <p:nvPr/>
        </p:nvSpPr>
        <p:spPr>
          <a:xfrm>
            <a:off x="7223760" y="1005840"/>
            <a:ext cx="2176272" cy="5303520"/>
          </a:xfrm>
          <a:prstGeom prst="rect">
            <a:avLst/>
          </a:prstGeom>
          <a:solidFill>
            <a:srgbClr val="F9F5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Rectangle 31"/>
          <p:cNvSpPr/>
          <p:nvPr/>
        </p:nvSpPr>
        <p:spPr>
          <a:xfrm>
            <a:off x="7223760" y="1005840"/>
            <a:ext cx="2176272" cy="91440"/>
          </a:xfrm>
          <a:prstGeom prst="rect">
            <a:avLst/>
          </a:prstGeom>
          <a:solidFill>
            <a:srgbClr val="C8962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TextBox 32"/>
          <p:cNvSpPr txBox="1"/>
          <p:nvPr/>
        </p:nvSpPr>
        <p:spPr>
          <a:xfrm>
            <a:off x="7315200" y="1143000"/>
            <a:ext cx="2103120" cy="502920"/>
          </a:xfrm>
          <a:prstGeom prst="rect">
            <a:avLst/>
          </a:prstGeom>
          <a:noFill/>
        </p:spPr>
        <p:txBody>
          <a:bodyPr wrap="square">
            <a:spAutoFit/>
          </a:bodyPr>
          <a:lstStyle/>
          <a:p>
            <a:pPr algn="l"/>
            <a:r>
              <a:rPr sz="900" b="1" i="0">
                <a:solidFill>
                  <a:srgbClr val="C89620"/>
                </a:solidFill>
                <a:latin typeface="Calibri"/>
              </a:rPr>
              <a:t>2025-26
Current</a:t>
            </a:r>
          </a:p>
        </p:txBody>
      </p:sp>
      <p:sp>
        <p:nvSpPr>
          <p:cNvPr id="34" name="TextBox 33"/>
          <p:cNvSpPr txBox="1"/>
          <p:nvPr/>
        </p:nvSpPr>
        <p:spPr>
          <a:xfrm>
            <a:off x="7315200" y="1719072"/>
            <a:ext cx="2103120" cy="548640"/>
          </a:xfrm>
          <a:prstGeom prst="rect">
            <a:avLst/>
          </a:prstGeom>
          <a:noFill/>
        </p:spPr>
        <p:txBody>
          <a:bodyPr wrap="square">
            <a:spAutoFit/>
          </a:bodyPr>
          <a:lstStyle/>
          <a:p>
            <a:pPr algn="l"/>
            <a:r>
              <a:rPr sz="1000" b="1" i="0">
                <a:solidFill>
                  <a:srgbClr val="222222"/>
                </a:solidFill>
                <a:latin typeface="Calibri"/>
              </a:rPr>
              <a:t>Body Finishing and Interior</a:t>
            </a:r>
          </a:p>
        </p:txBody>
      </p:sp>
      <p:sp>
        <p:nvSpPr>
          <p:cNvPr id="35" name="TextBox 34"/>
          <p:cNvSpPr txBox="1"/>
          <p:nvPr/>
        </p:nvSpPr>
        <p:spPr>
          <a:xfrm>
            <a:off x="7315200" y="2377440"/>
            <a:ext cx="2103120" cy="3108960"/>
          </a:xfrm>
          <a:prstGeom prst="rect">
            <a:avLst/>
          </a:prstGeom>
          <a:noFill/>
        </p:spPr>
        <p:txBody>
          <a:bodyPr wrap="square">
            <a:spAutoFit/>
          </a:bodyPr>
          <a:lstStyle/>
          <a:p>
            <a:pPr algn="l"/>
            <a:r>
              <a:rPr sz="800" b="0" i="0">
                <a:solidFill>
                  <a:srgbClr val="333C4E"/>
                </a:solidFill>
                <a:latin typeface="Calibri"/>
              </a:rPr>
              <a:t>Right front fender and chrome bumper set on order. Surface sanding and blocking in progress. Upholstery kit ordered. Paint quoted and accepted from Desert Sun Auto Body. This is the final phase before show.</a:t>
            </a:r>
          </a:p>
        </p:txBody>
      </p:sp>
      <p:sp>
        <p:nvSpPr>
          <p:cNvPr id="36" name="Rectangle 35"/>
          <p:cNvSpPr/>
          <p:nvPr/>
        </p:nvSpPr>
        <p:spPr>
          <a:xfrm>
            <a:off x="7315200" y="5669280"/>
            <a:ext cx="2011680" cy="502920"/>
          </a:xfrm>
          <a:prstGeom prst="rect">
            <a:avLst/>
          </a:prstGeom>
          <a:solidFill>
            <a:srgbClr val="C8962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TextBox 36"/>
          <p:cNvSpPr txBox="1"/>
          <p:nvPr/>
        </p:nvSpPr>
        <p:spPr>
          <a:xfrm>
            <a:off x="7360920" y="5760720"/>
            <a:ext cx="1965960" cy="320040"/>
          </a:xfrm>
          <a:prstGeom prst="rect">
            <a:avLst/>
          </a:prstGeom>
          <a:noFill/>
        </p:spPr>
        <p:txBody>
          <a:bodyPr wrap="square">
            <a:spAutoFit/>
          </a:bodyPr>
          <a:lstStyle/>
          <a:p>
            <a:pPr algn="ctr"/>
            <a:r>
              <a:rPr sz="1000" b="1" i="0">
                <a:solidFill>
                  <a:srgbClr val="FFFFFF"/>
                </a:solidFill>
                <a:latin typeface="Calibri"/>
              </a:rPr>
              <a:t>$7,400 est.</a:t>
            </a:r>
          </a:p>
        </p:txBody>
      </p:sp>
      <p:sp>
        <p:nvSpPr>
          <p:cNvPr id="38" name="TextBox 37"/>
          <p:cNvSpPr txBox="1"/>
          <p:nvPr/>
        </p:nvSpPr>
        <p:spPr>
          <a:xfrm>
            <a:off x="7315200" y="6245352"/>
            <a:ext cx="2057400" cy="182880"/>
          </a:xfrm>
          <a:prstGeom prst="rect">
            <a:avLst/>
          </a:prstGeom>
          <a:noFill/>
        </p:spPr>
        <p:txBody>
          <a:bodyPr wrap="square">
            <a:spAutoFit/>
          </a:bodyPr>
          <a:lstStyle/>
          <a:p>
            <a:pPr algn="ctr"/>
            <a:r>
              <a:rPr sz="700" b="1" i="0">
                <a:solidFill>
                  <a:srgbClr val="E67E22"/>
                </a:solidFill>
                <a:latin typeface="Calibri"/>
              </a:rPr>
              <a:t>IN PROGRESS</a:t>
            </a:r>
          </a:p>
        </p:txBody>
      </p:sp>
      <p:sp>
        <p:nvSpPr>
          <p:cNvPr id="39" name="Rectangle 38"/>
          <p:cNvSpPr/>
          <p:nvPr/>
        </p:nvSpPr>
        <p:spPr>
          <a:xfrm>
            <a:off x="9509760" y="1005840"/>
            <a:ext cx="2176272" cy="5303520"/>
          </a:xfrm>
          <a:prstGeom prst="rect">
            <a:avLst/>
          </a:prstGeom>
          <a:solidFill>
            <a:srgbClr val="F9F5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 name="Rectangle 39"/>
          <p:cNvSpPr/>
          <p:nvPr/>
        </p:nvSpPr>
        <p:spPr>
          <a:xfrm>
            <a:off x="9509760" y="1005840"/>
            <a:ext cx="2176272" cy="91440"/>
          </a:xfrm>
          <a:prstGeom prst="rect">
            <a:avLst/>
          </a:prstGeom>
          <a:solidFill>
            <a:srgbClr val="1E844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1" name="TextBox 40"/>
          <p:cNvSpPr txBox="1"/>
          <p:nvPr/>
        </p:nvSpPr>
        <p:spPr>
          <a:xfrm>
            <a:off x="9601200" y="1143000"/>
            <a:ext cx="2103120" cy="502920"/>
          </a:xfrm>
          <a:prstGeom prst="rect">
            <a:avLst/>
          </a:prstGeom>
          <a:noFill/>
        </p:spPr>
        <p:txBody>
          <a:bodyPr wrap="square">
            <a:spAutoFit/>
          </a:bodyPr>
          <a:lstStyle/>
          <a:p>
            <a:pPr algn="l"/>
            <a:r>
              <a:rPr sz="900" b="1" i="0">
                <a:solidFill>
                  <a:srgbClr val="1E8449"/>
                </a:solidFill>
                <a:latin typeface="Calibri"/>
              </a:rPr>
              <a:t>DEC 2026
Target</a:t>
            </a:r>
          </a:p>
        </p:txBody>
      </p:sp>
      <p:sp>
        <p:nvSpPr>
          <p:cNvPr id="42" name="TextBox 41"/>
          <p:cNvSpPr txBox="1"/>
          <p:nvPr/>
        </p:nvSpPr>
        <p:spPr>
          <a:xfrm>
            <a:off x="9601200" y="1719072"/>
            <a:ext cx="2103120" cy="548640"/>
          </a:xfrm>
          <a:prstGeom prst="rect">
            <a:avLst/>
          </a:prstGeom>
          <a:noFill/>
        </p:spPr>
        <p:txBody>
          <a:bodyPr wrap="square">
            <a:spAutoFit/>
          </a:bodyPr>
          <a:lstStyle/>
          <a:p>
            <a:pPr algn="l"/>
            <a:r>
              <a:rPr sz="1000" b="1" i="0">
                <a:solidFill>
                  <a:srgbClr val="222222"/>
                </a:solidFill>
                <a:latin typeface="Calibri"/>
              </a:rPr>
              <a:t>El Paso Classic Car Show</a:t>
            </a:r>
          </a:p>
        </p:txBody>
      </p:sp>
      <p:sp>
        <p:nvSpPr>
          <p:cNvPr id="43" name="TextBox 42"/>
          <p:cNvSpPr txBox="1"/>
          <p:nvPr/>
        </p:nvSpPr>
        <p:spPr>
          <a:xfrm>
            <a:off x="9601200" y="2377440"/>
            <a:ext cx="2103120" cy="3108960"/>
          </a:xfrm>
          <a:prstGeom prst="rect">
            <a:avLst/>
          </a:prstGeom>
          <a:noFill/>
        </p:spPr>
        <p:txBody>
          <a:bodyPr wrap="square">
            <a:spAutoFit/>
          </a:bodyPr>
          <a:lstStyle/>
          <a:p>
            <a:pPr algn="l"/>
            <a:r>
              <a:rPr sz="800" b="0" i="0">
                <a:solidFill>
                  <a:srgbClr val="333C4E"/>
                </a:solidFill>
                <a:latin typeface="Calibri"/>
              </a:rPr>
              <a:t>Entry registration submitted October 2026. Target is a completed, fully drivable Fastback ready to show at the El Paso Convention Center. Entry in the Restoration class.</a:t>
            </a:r>
          </a:p>
        </p:txBody>
      </p:sp>
      <p:sp>
        <p:nvSpPr>
          <p:cNvPr id="44" name="Rectangle 43"/>
          <p:cNvSpPr/>
          <p:nvPr/>
        </p:nvSpPr>
        <p:spPr>
          <a:xfrm>
            <a:off x="9601200" y="5669280"/>
            <a:ext cx="2011680" cy="502920"/>
          </a:xfrm>
          <a:prstGeom prst="rect">
            <a:avLst/>
          </a:prstGeom>
          <a:solidFill>
            <a:srgbClr val="1E844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5" name="TextBox 44"/>
          <p:cNvSpPr txBox="1"/>
          <p:nvPr/>
        </p:nvSpPr>
        <p:spPr>
          <a:xfrm>
            <a:off x="9646920" y="5760720"/>
            <a:ext cx="1965960" cy="320040"/>
          </a:xfrm>
          <a:prstGeom prst="rect">
            <a:avLst/>
          </a:prstGeom>
          <a:noFill/>
        </p:spPr>
        <p:txBody>
          <a:bodyPr wrap="square">
            <a:spAutoFit/>
          </a:bodyPr>
          <a:lstStyle/>
          <a:p>
            <a:pPr algn="ctr"/>
            <a:r>
              <a:rPr sz="1000" b="1" i="0">
                <a:solidFill>
                  <a:srgbClr val="FFFFFF"/>
                </a:solidFill>
                <a:latin typeface="Calibri"/>
              </a:rPr>
              <a:t>Show debut</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88952" cy="6858000"/>
          </a:xfrm>
          <a:prstGeom prst="rect">
            <a:avLst/>
          </a:prstGeom>
          <a:solidFill>
            <a:srgbClr val="22222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88952" cy="914400"/>
          </a:xfrm>
          <a:prstGeom prst="rect">
            <a:avLst/>
          </a:prstGeom>
          <a:solidFill>
            <a:srgbClr val="18181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137160"/>
            <a:ext cx="7315200" cy="502920"/>
          </a:xfrm>
          <a:prstGeom prst="rect">
            <a:avLst/>
          </a:prstGeom>
          <a:noFill/>
        </p:spPr>
        <p:txBody>
          <a:bodyPr wrap="square">
            <a:spAutoFit/>
          </a:bodyPr>
          <a:lstStyle/>
          <a:p>
            <a:pPr algn="l"/>
            <a:r>
              <a:rPr sz="2800" b="1" i="0">
                <a:solidFill>
                  <a:srgbClr val="FFFFFF"/>
                </a:solidFill>
                <a:latin typeface="Calibri"/>
              </a:rPr>
              <a:t>Systems Progress</a:t>
            </a:r>
          </a:p>
        </p:txBody>
      </p:sp>
      <p:sp>
        <p:nvSpPr>
          <p:cNvPr id="5" name="TextBox 4"/>
          <p:cNvSpPr txBox="1"/>
          <p:nvPr/>
        </p:nvSpPr>
        <p:spPr>
          <a:xfrm>
            <a:off x="457200" y="621792"/>
            <a:ext cx="9144000" cy="256032"/>
          </a:xfrm>
          <a:prstGeom prst="rect">
            <a:avLst/>
          </a:prstGeom>
          <a:noFill/>
        </p:spPr>
        <p:txBody>
          <a:bodyPr wrap="square">
            <a:spAutoFit/>
          </a:bodyPr>
          <a:lstStyle/>
          <a:p>
            <a:pPr algn="l"/>
            <a:r>
              <a:rPr sz="1000" b="0" i="0">
                <a:solidFill>
                  <a:srgbClr val="C89620"/>
                </a:solidFill>
                <a:latin typeface="Calibri"/>
              </a:rPr>
              <a:t>Where each system stands as of the build today</a:t>
            </a:r>
          </a:p>
        </p:txBody>
      </p:sp>
      <p:sp>
        <p:nvSpPr>
          <p:cNvPr id="6" name="Rectangle 5"/>
          <p:cNvSpPr/>
          <p:nvPr/>
        </p:nvSpPr>
        <p:spPr>
          <a:xfrm>
            <a:off x="457200" y="1051560"/>
            <a:ext cx="5577840" cy="1737360"/>
          </a:xfrm>
          <a:prstGeom prst="rect">
            <a:avLst/>
          </a:prstGeom>
          <a:solidFill>
            <a:srgbClr val="22222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640080" y="1161288"/>
            <a:ext cx="5212080" cy="347472"/>
          </a:xfrm>
          <a:prstGeom prst="rect">
            <a:avLst/>
          </a:prstGeom>
          <a:noFill/>
        </p:spPr>
        <p:txBody>
          <a:bodyPr wrap="square">
            <a:spAutoFit/>
          </a:bodyPr>
          <a:lstStyle/>
          <a:p>
            <a:pPr algn="l"/>
            <a:r>
              <a:rPr sz="1300" b="1" i="0">
                <a:solidFill>
                  <a:srgbClr val="FFFFFF"/>
                </a:solidFill>
                <a:latin typeface="Calibri"/>
              </a:rPr>
              <a:t>Engine and Drivetrain</a:t>
            </a:r>
          </a:p>
        </p:txBody>
      </p:sp>
      <p:sp>
        <p:nvSpPr>
          <p:cNvPr id="8" name="TextBox 7"/>
          <p:cNvSpPr txBox="1"/>
          <p:nvPr/>
        </p:nvSpPr>
        <p:spPr>
          <a:xfrm>
            <a:off x="640080" y="1527048"/>
            <a:ext cx="5212080" cy="457200"/>
          </a:xfrm>
          <a:prstGeom prst="rect">
            <a:avLst/>
          </a:prstGeom>
          <a:noFill/>
        </p:spPr>
        <p:txBody>
          <a:bodyPr wrap="square">
            <a:spAutoFit/>
          </a:bodyPr>
          <a:lstStyle/>
          <a:p>
            <a:pPr algn="l"/>
            <a:r>
              <a:rPr sz="850" b="0" i="0">
                <a:solidFill>
                  <a:srgbClr val="C8C8C8"/>
                </a:solidFill>
                <a:latin typeface="Calibri"/>
              </a:rPr>
              <a:t>302 V8 fully rebuilt. New rings, bearings, cam, valve job. C4 automatic rebuilt. Running.</a:t>
            </a:r>
          </a:p>
        </p:txBody>
      </p:sp>
      <p:sp>
        <p:nvSpPr>
          <p:cNvPr id="9" name="Rectangle 8"/>
          <p:cNvSpPr/>
          <p:nvPr/>
        </p:nvSpPr>
        <p:spPr>
          <a:xfrm>
            <a:off x="640080" y="2057400"/>
            <a:ext cx="5029200" cy="274320"/>
          </a:xfrm>
          <a:prstGeom prst="rect">
            <a:avLst/>
          </a:prstGeom>
          <a:solidFill>
            <a:srgbClr val="44444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640080" y="2057400"/>
            <a:ext cx="5029200" cy="274320"/>
          </a:xfrm>
          <a:prstGeom prst="rect">
            <a:avLst/>
          </a:prstGeom>
          <a:solidFill>
            <a:srgbClr val="1E844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5486400" y="2011680"/>
            <a:ext cx="548640" cy="365760"/>
          </a:xfrm>
          <a:prstGeom prst="rect">
            <a:avLst/>
          </a:prstGeom>
          <a:noFill/>
        </p:spPr>
        <p:txBody>
          <a:bodyPr wrap="square">
            <a:spAutoFit/>
          </a:bodyPr>
          <a:lstStyle/>
          <a:p>
            <a:pPr algn="ctr"/>
            <a:r>
              <a:rPr sz="1400" b="1" i="0">
                <a:solidFill>
                  <a:srgbClr val="1E8449"/>
                </a:solidFill>
                <a:latin typeface="Calibri"/>
              </a:rPr>
              <a:t>100%</a:t>
            </a:r>
          </a:p>
        </p:txBody>
      </p:sp>
      <p:sp>
        <p:nvSpPr>
          <p:cNvPr id="12" name="Rectangle 11"/>
          <p:cNvSpPr/>
          <p:nvPr/>
        </p:nvSpPr>
        <p:spPr>
          <a:xfrm>
            <a:off x="6309360" y="1051560"/>
            <a:ext cx="5577840" cy="1737360"/>
          </a:xfrm>
          <a:prstGeom prst="rect">
            <a:avLst/>
          </a:prstGeom>
          <a:solidFill>
            <a:srgbClr val="22222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6492240" y="1161288"/>
            <a:ext cx="5212080" cy="347472"/>
          </a:xfrm>
          <a:prstGeom prst="rect">
            <a:avLst/>
          </a:prstGeom>
          <a:noFill/>
        </p:spPr>
        <p:txBody>
          <a:bodyPr wrap="square">
            <a:spAutoFit/>
          </a:bodyPr>
          <a:lstStyle/>
          <a:p>
            <a:pPr algn="l"/>
            <a:r>
              <a:rPr sz="1300" b="1" i="0">
                <a:solidFill>
                  <a:srgbClr val="FFFFFF"/>
                </a:solidFill>
                <a:latin typeface="Calibri"/>
              </a:rPr>
              <a:t>Suspension and Brakes</a:t>
            </a:r>
          </a:p>
        </p:txBody>
      </p:sp>
      <p:sp>
        <p:nvSpPr>
          <p:cNvPr id="14" name="TextBox 13"/>
          <p:cNvSpPr txBox="1"/>
          <p:nvPr/>
        </p:nvSpPr>
        <p:spPr>
          <a:xfrm>
            <a:off x="6492240" y="1527048"/>
            <a:ext cx="5212080" cy="457200"/>
          </a:xfrm>
          <a:prstGeom prst="rect">
            <a:avLst/>
          </a:prstGeom>
          <a:noFill/>
        </p:spPr>
        <p:txBody>
          <a:bodyPr wrap="square">
            <a:spAutoFit/>
          </a:bodyPr>
          <a:lstStyle/>
          <a:p>
            <a:pPr algn="l"/>
            <a:r>
              <a:rPr sz="850" b="0" i="0">
                <a:solidFill>
                  <a:srgbClr val="C8C8C8"/>
                </a:solidFill>
                <a:latin typeface="Calibri"/>
              </a:rPr>
              <a:t>Front suspension fully rebuilt. Rear springs replaced. Brakes done. Final bleed pending.</a:t>
            </a:r>
          </a:p>
        </p:txBody>
      </p:sp>
      <p:sp>
        <p:nvSpPr>
          <p:cNvPr id="15" name="Rectangle 14"/>
          <p:cNvSpPr/>
          <p:nvPr/>
        </p:nvSpPr>
        <p:spPr>
          <a:xfrm>
            <a:off x="6492240" y="2057400"/>
            <a:ext cx="5029200" cy="274320"/>
          </a:xfrm>
          <a:prstGeom prst="rect">
            <a:avLst/>
          </a:prstGeom>
          <a:solidFill>
            <a:srgbClr val="44444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6492240" y="2057400"/>
            <a:ext cx="4526280" cy="274320"/>
          </a:xfrm>
          <a:prstGeom prst="rect">
            <a:avLst/>
          </a:prstGeom>
          <a:solidFill>
            <a:srgbClr val="1E844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11338560" y="2011680"/>
            <a:ext cx="548640" cy="365760"/>
          </a:xfrm>
          <a:prstGeom prst="rect">
            <a:avLst/>
          </a:prstGeom>
          <a:noFill/>
        </p:spPr>
        <p:txBody>
          <a:bodyPr wrap="square">
            <a:spAutoFit/>
          </a:bodyPr>
          <a:lstStyle/>
          <a:p>
            <a:pPr algn="ctr"/>
            <a:r>
              <a:rPr sz="1400" b="1" i="0">
                <a:solidFill>
                  <a:srgbClr val="1E8449"/>
                </a:solidFill>
                <a:latin typeface="Calibri"/>
              </a:rPr>
              <a:t>90%</a:t>
            </a:r>
          </a:p>
        </p:txBody>
      </p:sp>
      <p:sp>
        <p:nvSpPr>
          <p:cNvPr id="18" name="Rectangle 17"/>
          <p:cNvSpPr/>
          <p:nvPr/>
        </p:nvSpPr>
        <p:spPr>
          <a:xfrm>
            <a:off x="457200" y="2971800"/>
            <a:ext cx="5577840" cy="1737360"/>
          </a:xfrm>
          <a:prstGeom prst="rect">
            <a:avLst/>
          </a:prstGeom>
          <a:solidFill>
            <a:srgbClr val="22222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640080" y="3081528"/>
            <a:ext cx="5212080" cy="347472"/>
          </a:xfrm>
          <a:prstGeom prst="rect">
            <a:avLst/>
          </a:prstGeom>
          <a:noFill/>
        </p:spPr>
        <p:txBody>
          <a:bodyPr wrap="square">
            <a:spAutoFit/>
          </a:bodyPr>
          <a:lstStyle/>
          <a:p>
            <a:pPr algn="l"/>
            <a:r>
              <a:rPr sz="1300" b="1" i="0">
                <a:solidFill>
                  <a:srgbClr val="FFFFFF"/>
                </a:solidFill>
                <a:latin typeface="Calibri"/>
              </a:rPr>
              <a:t>Electrical</a:t>
            </a:r>
          </a:p>
        </p:txBody>
      </p:sp>
      <p:sp>
        <p:nvSpPr>
          <p:cNvPr id="20" name="TextBox 19"/>
          <p:cNvSpPr txBox="1"/>
          <p:nvPr/>
        </p:nvSpPr>
        <p:spPr>
          <a:xfrm>
            <a:off x="640080" y="3447288"/>
            <a:ext cx="5212080" cy="457200"/>
          </a:xfrm>
          <a:prstGeom prst="rect">
            <a:avLst/>
          </a:prstGeom>
          <a:noFill/>
        </p:spPr>
        <p:txBody>
          <a:bodyPr wrap="square">
            <a:spAutoFit/>
          </a:bodyPr>
          <a:lstStyle/>
          <a:p>
            <a:pPr algn="l"/>
            <a:r>
              <a:rPr sz="850" b="0" i="0">
                <a:solidFill>
                  <a:srgbClr val="C8C8C8"/>
                </a:solidFill>
                <a:latin typeface="Calibri"/>
              </a:rPr>
              <a:t>Under-dash harness replaced. Gauges working. Exterior lights and stereo wiring to follow.</a:t>
            </a:r>
          </a:p>
        </p:txBody>
      </p:sp>
      <p:sp>
        <p:nvSpPr>
          <p:cNvPr id="21" name="Rectangle 20"/>
          <p:cNvSpPr/>
          <p:nvPr/>
        </p:nvSpPr>
        <p:spPr>
          <a:xfrm>
            <a:off x="640080" y="3977639"/>
            <a:ext cx="5029200" cy="274320"/>
          </a:xfrm>
          <a:prstGeom prst="rect">
            <a:avLst/>
          </a:prstGeom>
          <a:solidFill>
            <a:srgbClr val="44444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Rectangle 21"/>
          <p:cNvSpPr/>
          <p:nvPr/>
        </p:nvSpPr>
        <p:spPr>
          <a:xfrm>
            <a:off x="640080" y="3977639"/>
            <a:ext cx="3017520" cy="274320"/>
          </a:xfrm>
          <a:prstGeom prst="rect">
            <a:avLst/>
          </a:prstGeom>
          <a:solidFill>
            <a:srgbClr val="C8962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5486400" y="3931920"/>
            <a:ext cx="548640" cy="365760"/>
          </a:xfrm>
          <a:prstGeom prst="rect">
            <a:avLst/>
          </a:prstGeom>
          <a:noFill/>
        </p:spPr>
        <p:txBody>
          <a:bodyPr wrap="square">
            <a:spAutoFit/>
          </a:bodyPr>
          <a:lstStyle/>
          <a:p>
            <a:pPr algn="ctr"/>
            <a:r>
              <a:rPr sz="1400" b="1" i="0">
                <a:solidFill>
                  <a:srgbClr val="C89620"/>
                </a:solidFill>
                <a:latin typeface="Calibri"/>
              </a:rPr>
              <a:t>60%</a:t>
            </a:r>
          </a:p>
        </p:txBody>
      </p:sp>
      <p:sp>
        <p:nvSpPr>
          <p:cNvPr id="24" name="Rectangle 23"/>
          <p:cNvSpPr/>
          <p:nvPr/>
        </p:nvSpPr>
        <p:spPr>
          <a:xfrm>
            <a:off x="6309360" y="2971800"/>
            <a:ext cx="5577840" cy="1737360"/>
          </a:xfrm>
          <a:prstGeom prst="rect">
            <a:avLst/>
          </a:prstGeom>
          <a:solidFill>
            <a:srgbClr val="22222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6492240" y="3081528"/>
            <a:ext cx="5212080" cy="347472"/>
          </a:xfrm>
          <a:prstGeom prst="rect">
            <a:avLst/>
          </a:prstGeom>
          <a:noFill/>
        </p:spPr>
        <p:txBody>
          <a:bodyPr wrap="square">
            <a:spAutoFit/>
          </a:bodyPr>
          <a:lstStyle/>
          <a:p>
            <a:pPr algn="l"/>
            <a:r>
              <a:rPr sz="1300" b="1" i="0">
                <a:solidFill>
                  <a:srgbClr val="FFFFFF"/>
                </a:solidFill>
                <a:latin typeface="Calibri"/>
              </a:rPr>
              <a:t>Body and Paint</a:t>
            </a:r>
          </a:p>
        </p:txBody>
      </p:sp>
      <p:sp>
        <p:nvSpPr>
          <p:cNvPr id="26" name="TextBox 25"/>
          <p:cNvSpPr txBox="1"/>
          <p:nvPr/>
        </p:nvSpPr>
        <p:spPr>
          <a:xfrm>
            <a:off x="6492240" y="3447288"/>
            <a:ext cx="5212080" cy="457200"/>
          </a:xfrm>
          <a:prstGeom prst="rect">
            <a:avLst/>
          </a:prstGeom>
          <a:noFill/>
        </p:spPr>
        <p:txBody>
          <a:bodyPr wrap="square">
            <a:spAutoFit/>
          </a:bodyPr>
          <a:lstStyle/>
          <a:p>
            <a:pPr algn="l"/>
            <a:r>
              <a:rPr sz="850" b="0" i="0">
                <a:solidFill>
                  <a:srgbClr val="C8C8C8"/>
                </a:solidFill>
                <a:latin typeface="Calibri"/>
              </a:rPr>
              <a:t>Rust repair done. 80% sanded and blocked. Right fender and chrome bumpers on order. Paint booked.</a:t>
            </a:r>
          </a:p>
        </p:txBody>
      </p:sp>
      <p:sp>
        <p:nvSpPr>
          <p:cNvPr id="27" name="Rectangle 26"/>
          <p:cNvSpPr/>
          <p:nvPr/>
        </p:nvSpPr>
        <p:spPr>
          <a:xfrm>
            <a:off x="6492240" y="3977639"/>
            <a:ext cx="5029200" cy="274320"/>
          </a:xfrm>
          <a:prstGeom prst="rect">
            <a:avLst/>
          </a:prstGeom>
          <a:solidFill>
            <a:srgbClr val="44444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Rectangle 27"/>
          <p:cNvSpPr/>
          <p:nvPr/>
        </p:nvSpPr>
        <p:spPr>
          <a:xfrm>
            <a:off x="6492240" y="3977639"/>
            <a:ext cx="4023360" cy="274320"/>
          </a:xfrm>
          <a:prstGeom prst="rect">
            <a:avLst/>
          </a:prstGeom>
          <a:solidFill>
            <a:srgbClr val="E67E2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11338560" y="3931920"/>
            <a:ext cx="548640" cy="365760"/>
          </a:xfrm>
          <a:prstGeom prst="rect">
            <a:avLst/>
          </a:prstGeom>
          <a:noFill/>
        </p:spPr>
        <p:txBody>
          <a:bodyPr wrap="square">
            <a:spAutoFit/>
          </a:bodyPr>
          <a:lstStyle/>
          <a:p>
            <a:pPr algn="ctr"/>
            <a:r>
              <a:rPr sz="1400" b="1" i="0">
                <a:solidFill>
                  <a:srgbClr val="E67E22"/>
                </a:solidFill>
                <a:latin typeface="Calibri"/>
              </a:rPr>
              <a:t>80%</a:t>
            </a:r>
          </a:p>
        </p:txBody>
      </p:sp>
      <p:sp>
        <p:nvSpPr>
          <p:cNvPr id="30" name="Rectangle 29"/>
          <p:cNvSpPr/>
          <p:nvPr/>
        </p:nvSpPr>
        <p:spPr>
          <a:xfrm>
            <a:off x="457200" y="4892040"/>
            <a:ext cx="5577840" cy="1737360"/>
          </a:xfrm>
          <a:prstGeom prst="rect">
            <a:avLst/>
          </a:prstGeom>
          <a:solidFill>
            <a:srgbClr val="22222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640080" y="5001768"/>
            <a:ext cx="5212080" cy="347472"/>
          </a:xfrm>
          <a:prstGeom prst="rect">
            <a:avLst/>
          </a:prstGeom>
          <a:noFill/>
        </p:spPr>
        <p:txBody>
          <a:bodyPr wrap="square">
            <a:spAutoFit/>
          </a:bodyPr>
          <a:lstStyle/>
          <a:p>
            <a:pPr algn="l"/>
            <a:r>
              <a:rPr sz="1300" b="1" i="0">
                <a:solidFill>
                  <a:srgbClr val="FFFFFF"/>
                </a:solidFill>
                <a:latin typeface="Calibri"/>
              </a:rPr>
              <a:t>Interior</a:t>
            </a:r>
          </a:p>
        </p:txBody>
      </p:sp>
      <p:sp>
        <p:nvSpPr>
          <p:cNvPr id="32" name="TextBox 31"/>
          <p:cNvSpPr txBox="1"/>
          <p:nvPr/>
        </p:nvSpPr>
        <p:spPr>
          <a:xfrm>
            <a:off x="640080" y="5367527"/>
            <a:ext cx="5212080" cy="457200"/>
          </a:xfrm>
          <a:prstGeom prst="rect">
            <a:avLst/>
          </a:prstGeom>
          <a:noFill/>
        </p:spPr>
        <p:txBody>
          <a:bodyPr wrap="square">
            <a:spAutoFit/>
          </a:bodyPr>
          <a:lstStyle/>
          <a:p>
            <a:pPr algn="l"/>
            <a:r>
              <a:rPr sz="850" b="0" i="0">
                <a:solidFill>
                  <a:srgbClr val="C8C8C8"/>
                </a:solidFill>
                <a:latin typeface="Calibri"/>
              </a:rPr>
              <a:t>Carpet and dashpad installed. Upholstery kit on order. Seats not started.</a:t>
            </a:r>
          </a:p>
        </p:txBody>
      </p:sp>
      <p:sp>
        <p:nvSpPr>
          <p:cNvPr id="33" name="Rectangle 32"/>
          <p:cNvSpPr/>
          <p:nvPr/>
        </p:nvSpPr>
        <p:spPr>
          <a:xfrm>
            <a:off x="640080" y="5897879"/>
            <a:ext cx="5029200" cy="274320"/>
          </a:xfrm>
          <a:prstGeom prst="rect">
            <a:avLst/>
          </a:prstGeom>
          <a:solidFill>
            <a:srgbClr val="44444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Rectangle 33"/>
          <p:cNvSpPr/>
          <p:nvPr/>
        </p:nvSpPr>
        <p:spPr>
          <a:xfrm>
            <a:off x="640080" y="5897879"/>
            <a:ext cx="1257300" cy="274320"/>
          </a:xfrm>
          <a:prstGeom prst="rect">
            <a:avLst/>
          </a:prstGeom>
          <a:solidFill>
            <a:srgbClr val="A32B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5486400" y="5852159"/>
            <a:ext cx="548640" cy="365760"/>
          </a:xfrm>
          <a:prstGeom prst="rect">
            <a:avLst/>
          </a:prstGeom>
          <a:noFill/>
        </p:spPr>
        <p:txBody>
          <a:bodyPr wrap="square">
            <a:spAutoFit/>
          </a:bodyPr>
          <a:lstStyle/>
          <a:p>
            <a:pPr algn="ctr"/>
            <a:r>
              <a:rPr sz="1400" b="1" i="0">
                <a:solidFill>
                  <a:srgbClr val="A32B00"/>
                </a:solidFill>
                <a:latin typeface="Calibri"/>
              </a:rPr>
              <a:t>25%</a:t>
            </a:r>
          </a:p>
        </p:txBody>
      </p:sp>
      <p:sp>
        <p:nvSpPr>
          <p:cNvPr id="36" name="Rectangle 35"/>
          <p:cNvSpPr/>
          <p:nvPr/>
        </p:nvSpPr>
        <p:spPr>
          <a:xfrm>
            <a:off x="6309360" y="4892040"/>
            <a:ext cx="5577840" cy="1737360"/>
          </a:xfrm>
          <a:prstGeom prst="rect">
            <a:avLst/>
          </a:prstGeom>
          <a:solidFill>
            <a:srgbClr val="22222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TextBox 36"/>
          <p:cNvSpPr txBox="1"/>
          <p:nvPr/>
        </p:nvSpPr>
        <p:spPr>
          <a:xfrm>
            <a:off x="6492240" y="5001768"/>
            <a:ext cx="5212080" cy="347472"/>
          </a:xfrm>
          <a:prstGeom prst="rect">
            <a:avLst/>
          </a:prstGeom>
          <a:noFill/>
        </p:spPr>
        <p:txBody>
          <a:bodyPr wrap="square">
            <a:spAutoFit/>
          </a:bodyPr>
          <a:lstStyle/>
          <a:p>
            <a:pPr algn="l"/>
            <a:r>
              <a:rPr sz="1300" b="1" i="0">
                <a:solidFill>
                  <a:srgbClr val="FFFFFF"/>
                </a:solidFill>
                <a:latin typeface="Calibri"/>
              </a:rPr>
              <a:t>Overall</a:t>
            </a:r>
          </a:p>
        </p:txBody>
      </p:sp>
      <p:sp>
        <p:nvSpPr>
          <p:cNvPr id="38" name="TextBox 37"/>
          <p:cNvSpPr txBox="1"/>
          <p:nvPr/>
        </p:nvSpPr>
        <p:spPr>
          <a:xfrm>
            <a:off x="6492240" y="5367527"/>
            <a:ext cx="5212080" cy="457200"/>
          </a:xfrm>
          <a:prstGeom prst="rect">
            <a:avLst/>
          </a:prstGeom>
          <a:noFill/>
        </p:spPr>
        <p:txBody>
          <a:bodyPr wrap="square">
            <a:spAutoFit/>
          </a:bodyPr>
          <a:lstStyle/>
          <a:p>
            <a:pPr algn="l"/>
            <a:r>
              <a:rPr sz="850" b="0" i="0">
                <a:solidFill>
                  <a:srgbClr val="C8C8C8"/>
                </a:solidFill>
                <a:latin typeface="Calibri"/>
              </a:rPr>
              <a:t>On track for December 2026 show if interior and paint stay on schedule.</a:t>
            </a:r>
          </a:p>
        </p:txBody>
      </p:sp>
      <p:sp>
        <p:nvSpPr>
          <p:cNvPr id="39" name="Rectangle 38"/>
          <p:cNvSpPr/>
          <p:nvPr/>
        </p:nvSpPr>
        <p:spPr>
          <a:xfrm>
            <a:off x="6492240" y="5897879"/>
            <a:ext cx="5029200" cy="274320"/>
          </a:xfrm>
          <a:prstGeom prst="rect">
            <a:avLst/>
          </a:prstGeom>
          <a:solidFill>
            <a:srgbClr val="44444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 name="Rectangle 39"/>
          <p:cNvSpPr/>
          <p:nvPr/>
        </p:nvSpPr>
        <p:spPr>
          <a:xfrm>
            <a:off x="6492240" y="5897879"/>
            <a:ext cx="3520440" cy="274320"/>
          </a:xfrm>
          <a:prstGeom prst="rect">
            <a:avLst/>
          </a:prstGeom>
          <a:solidFill>
            <a:srgbClr val="C8962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1" name="TextBox 40"/>
          <p:cNvSpPr txBox="1"/>
          <p:nvPr/>
        </p:nvSpPr>
        <p:spPr>
          <a:xfrm>
            <a:off x="11338560" y="5852159"/>
            <a:ext cx="548640" cy="365760"/>
          </a:xfrm>
          <a:prstGeom prst="rect">
            <a:avLst/>
          </a:prstGeom>
          <a:noFill/>
        </p:spPr>
        <p:txBody>
          <a:bodyPr wrap="square">
            <a:spAutoFit/>
          </a:bodyPr>
          <a:lstStyle/>
          <a:p>
            <a:pPr algn="ctr"/>
            <a:r>
              <a:rPr sz="1400" b="1" i="0">
                <a:solidFill>
                  <a:srgbClr val="C89620"/>
                </a:solidFill>
                <a:latin typeface="Calibri"/>
              </a:rPr>
              <a:t>70%</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88952" cy="6858000"/>
          </a:xfrm>
          <a:prstGeom prst="rect">
            <a:avLst/>
          </a:prstGeom>
          <a:solidFill>
            <a:srgbClr val="F9F5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88952" cy="914400"/>
          </a:xfrm>
          <a:prstGeom prst="rect">
            <a:avLst/>
          </a:prstGeom>
          <a:solidFill>
            <a:srgbClr val="22222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0"/>
            <a:ext cx="320040" cy="914400"/>
          </a:xfrm>
          <a:prstGeom prst="rect">
            <a:avLst/>
          </a:prstGeom>
          <a:solidFill>
            <a:srgbClr val="C8962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502920" y="137160"/>
            <a:ext cx="7315200" cy="502920"/>
          </a:xfrm>
          <a:prstGeom prst="rect">
            <a:avLst/>
          </a:prstGeom>
          <a:noFill/>
        </p:spPr>
        <p:txBody>
          <a:bodyPr wrap="square">
            <a:spAutoFit/>
          </a:bodyPr>
          <a:lstStyle/>
          <a:p>
            <a:pPr algn="l"/>
            <a:r>
              <a:rPr sz="2800" b="1" i="0">
                <a:solidFill>
                  <a:srgbClr val="FFFFFF"/>
                </a:solidFill>
                <a:latin typeface="Calibri"/>
              </a:rPr>
              <a:t>Budget and Parts</a:t>
            </a:r>
          </a:p>
        </p:txBody>
      </p:sp>
      <p:sp>
        <p:nvSpPr>
          <p:cNvPr id="6" name="TextBox 5"/>
          <p:cNvSpPr txBox="1"/>
          <p:nvPr/>
        </p:nvSpPr>
        <p:spPr>
          <a:xfrm>
            <a:off x="502920" y="621792"/>
            <a:ext cx="10972800" cy="256032"/>
          </a:xfrm>
          <a:prstGeom prst="rect">
            <a:avLst/>
          </a:prstGeom>
          <a:noFill/>
        </p:spPr>
        <p:txBody>
          <a:bodyPr wrap="square">
            <a:spAutoFit/>
          </a:bodyPr>
          <a:lstStyle/>
          <a:p>
            <a:pPr algn="l"/>
            <a:r>
              <a:rPr sz="1000" b="0" i="0">
                <a:solidFill>
                  <a:srgbClr val="C89620"/>
                </a:solidFill>
                <a:latin typeface="Calibri"/>
              </a:rPr>
              <a:t>What has been spent, what is on order, and what is left to complete the build</a:t>
            </a:r>
          </a:p>
        </p:txBody>
      </p:sp>
      <p:sp>
        <p:nvSpPr>
          <p:cNvPr id="7" name="Rectangle 6"/>
          <p:cNvSpPr/>
          <p:nvPr/>
        </p:nvSpPr>
        <p:spPr>
          <a:xfrm>
            <a:off x="365760" y="1005840"/>
            <a:ext cx="5303520" cy="539496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365760" y="1005840"/>
            <a:ext cx="5303520" cy="457200"/>
          </a:xfrm>
          <a:prstGeom prst="rect">
            <a:avLst/>
          </a:prstGeom>
          <a:solidFill>
            <a:srgbClr val="22222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548640" y="1078992"/>
            <a:ext cx="5029200" cy="320040"/>
          </a:xfrm>
          <a:prstGeom prst="rect">
            <a:avLst/>
          </a:prstGeom>
          <a:noFill/>
        </p:spPr>
        <p:txBody>
          <a:bodyPr wrap="square">
            <a:spAutoFit/>
          </a:bodyPr>
          <a:lstStyle/>
          <a:p>
            <a:pPr algn="l"/>
            <a:r>
              <a:rPr sz="1200" b="1" i="0">
                <a:solidFill>
                  <a:srgbClr val="FFFFFF"/>
                </a:solidFill>
                <a:latin typeface="Calibri"/>
              </a:rPr>
              <a:t>Invested To Date</a:t>
            </a:r>
          </a:p>
        </p:txBody>
      </p:sp>
      <p:sp>
        <p:nvSpPr>
          <p:cNvPr id="10" name="Rectangle 9"/>
          <p:cNvSpPr/>
          <p:nvPr/>
        </p:nvSpPr>
        <p:spPr>
          <a:xfrm>
            <a:off x="365760" y="1572768"/>
            <a:ext cx="5303520" cy="365760"/>
          </a:xfrm>
          <a:prstGeom prst="rect">
            <a:avLst/>
          </a:prstGeom>
          <a:solidFill>
            <a:srgbClr val="F8F8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502920" y="1627632"/>
            <a:ext cx="3657600" cy="256032"/>
          </a:xfrm>
          <a:prstGeom prst="rect">
            <a:avLst/>
          </a:prstGeom>
          <a:noFill/>
        </p:spPr>
        <p:txBody>
          <a:bodyPr wrap="square">
            <a:spAutoFit/>
          </a:bodyPr>
          <a:lstStyle/>
          <a:p>
            <a:pPr algn="l"/>
            <a:r>
              <a:rPr sz="850" b="0" i="0">
                <a:solidFill>
                  <a:srgbClr val="333C4E"/>
                </a:solidFill>
                <a:latin typeface="Calibri"/>
              </a:rPr>
              <a:t>Shell acquisition</a:t>
            </a:r>
          </a:p>
        </p:txBody>
      </p:sp>
      <p:sp>
        <p:nvSpPr>
          <p:cNvPr id="12" name="TextBox 11"/>
          <p:cNvSpPr txBox="1"/>
          <p:nvPr/>
        </p:nvSpPr>
        <p:spPr>
          <a:xfrm>
            <a:off x="4297680" y="1627632"/>
            <a:ext cx="1280160" cy="256032"/>
          </a:xfrm>
          <a:prstGeom prst="rect">
            <a:avLst/>
          </a:prstGeom>
          <a:noFill/>
        </p:spPr>
        <p:txBody>
          <a:bodyPr wrap="square">
            <a:spAutoFit/>
          </a:bodyPr>
          <a:lstStyle/>
          <a:p>
            <a:pPr algn="r"/>
            <a:r>
              <a:rPr sz="900" b="1" i="0">
                <a:solidFill>
                  <a:srgbClr val="1E8449"/>
                </a:solidFill>
                <a:latin typeface="Calibri"/>
              </a:rPr>
              <a:t>$4,500</a:t>
            </a:r>
          </a:p>
        </p:txBody>
      </p:sp>
      <p:sp>
        <p:nvSpPr>
          <p:cNvPr id="13" name="Rectangle 12"/>
          <p:cNvSpPr/>
          <p:nvPr/>
        </p:nvSpPr>
        <p:spPr>
          <a:xfrm>
            <a:off x="365760" y="1956816"/>
            <a:ext cx="5303520" cy="36576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502920" y="2011680"/>
            <a:ext cx="3657600" cy="256032"/>
          </a:xfrm>
          <a:prstGeom prst="rect">
            <a:avLst/>
          </a:prstGeom>
          <a:noFill/>
        </p:spPr>
        <p:txBody>
          <a:bodyPr wrap="square">
            <a:spAutoFit/>
          </a:bodyPr>
          <a:lstStyle/>
          <a:p>
            <a:pPr algn="l"/>
            <a:r>
              <a:rPr sz="850" b="0" i="0">
                <a:solidFill>
                  <a:srgbClr val="333C4E"/>
                </a:solidFill>
                <a:latin typeface="Calibri"/>
              </a:rPr>
              <a:t>302 V8 rebuild and machine work</a:t>
            </a:r>
          </a:p>
        </p:txBody>
      </p:sp>
      <p:sp>
        <p:nvSpPr>
          <p:cNvPr id="15" name="TextBox 14"/>
          <p:cNvSpPr txBox="1"/>
          <p:nvPr/>
        </p:nvSpPr>
        <p:spPr>
          <a:xfrm>
            <a:off x="4297680" y="2011680"/>
            <a:ext cx="1280160" cy="256032"/>
          </a:xfrm>
          <a:prstGeom prst="rect">
            <a:avLst/>
          </a:prstGeom>
          <a:noFill/>
        </p:spPr>
        <p:txBody>
          <a:bodyPr wrap="square">
            <a:spAutoFit/>
          </a:bodyPr>
          <a:lstStyle/>
          <a:p>
            <a:pPr algn="r"/>
            <a:r>
              <a:rPr sz="900" b="1" i="0">
                <a:solidFill>
                  <a:srgbClr val="1E8449"/>
                </a:solidFill>
                <a:latin typeface="Calibri"/>
              </a:rPr>
              <a:t>$6,200</a:t>
            </a:r>
          </a:p>
        </p:txBody>
      </p:sp>
      <p:sp>
        <p:nvSpPr>
          <p:cNvPr id="16" name="Rectangle 15"/>
          <p:cNvSpPr/>
          <p:nvPr/>
        </p:nvSpPr>
        <p:spPr>
          <a:xfrm>
            <a:off x="365760" y="2340864"/>
            <a:ext cx="5303520" cy="365760"/>
          </a:xfrm>
          <a:prstGeom prst="rect">
            <a:avLst/>
          </a:prstGeom>
          <a:solidFill>
            <a:srgbClr val="F8F8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502920" y="2395728"/>
            <a:ext cx="3657600" cy="256032"/>
          </a:xfrm>
          <a:prstGeom prst="rect">
            <a:avLst/>
          </a:prstGeom>
          <a:noFill/>
        </p:spPr>
        <p:txBody>
          <a:bodyPr wrap="square">
            <a:spAutoFit/>
          </a:bodyPr>
          <a:lstStyle/>
          <a:p>
            <a:pPr algn="l"/>
            <a:r>
              <a:rPr sz="850" b="0" i="0">
                <a:solidFill>
                  <a:srgbClr val="333C4E"/>
                </a:solidFill>
                <a:latin typeface="Calibri"/>
              </a:rPr>
              <a:t>Body rust repair and materials</a:t>
            </a:r>
          </a:p>
        </p:txBody>
      </p:sp>
      <p:sp>
        <p:nvSpPr>
          <p:cNvPr id="18" name="TextBox 17"/>
          <p:cNvSpPr txBox="1"/>
          <p:nvPr/>
        </p:nvSpPr>
        <p:spPr>
          <a:xfrm>
            <a:off x="4297680" y="2395728"/>
            <a:ext cx="1280160" cy="256032"/>
          </a:xfrm>
          <a:prstGeom prst="rect">
            <a:avLst/>
          </a:prstGeom>
          <a:noFill/>
        </p:spPr>
        <p:txBody>
          <a:bodyPr wrap="square">
            <a:spAutoFit/>
          </a:bodyPr>
          <a:lstStyle/>
          <a:p>
            <a:pPr algn="r"/>
            <a:r>
              <a:rPr sz="900" b="1" i="0">
                <a:solidFill>
                  <a:srgbClr val="1E8449"/>
                </a:solidFill>
                <a:latin typeface="Calibri"/>
              </a:rPr>
              <a:t>$3,100</a:t>
            </a:r>
          </a:p>
        </p:txBody>
      </p:sp>
      <p:sp>
        <p:nvSpPr>
          <p:cNvPr id="19" name="Rectangle 18"/>
          <p:cNvSpPr/>
          <p:nvPr/>
        </p:nvSpPr>
        <p:spPr>
          <a:xfrm>
            <a:off x="365760" y="2724912"/>
            <a:ext cx="5303520" cy="36576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502920" y="2779776"/>
            <a:ext cx="3657600" cy="256032"/>
          </a:xfrm>
          <a:prstGeom prst="rect">
            <a:avLst/>
          </a:prstGeom>
          <a:noFill/>
        </p:spPr>
        <p:txBody>
          <a:bodyPr wrap="square">
            <a:spAutoFit/>
          </a:bodyPr>
          <a:lstStyle/>
          <a:p>
            <a:pPr algn="l"/>
            <a:r>
              <a:rPr sz="850" b="0" i="0">
                <a:solidFill>
                  <a:srgbClr val="333C4E"/>
                </a:solidFill>
                <a:latin typeface="Calibri"/>
              </a:rPr>
              <a:t>Front suspension rebuild</a:t>
            </a:r>
          </a:p>
        </p:txBody>
      </p:sp>
      <p:sp>
        <p:nvSpPr>
          <p:cNvPr id="21" name="TextBox 20"/>
          <p:cNvSpPr txBox="1"/>
          <p:nvPr/>
        </p:nvSpPr>
        <p:spPr>
          <a:xfrm>
            <a:off x="4297680" y="2779776"/>
            <a:ext cx="1280160" cy="256032"/>
          </a:xfrm>
          <a:prstGeom prst="rect">
            <a:avLst/>
          </a:prstGeom>
          <a:noFill/>
        </p:spPr>
        <p:txBody>
          <a:bodyPr wrap="square">
            <a:spAutoFit/>
          </a:bodyPr>
          <a:lstStyle/>
          <a:p>
            <a:pPr algn="r"/>
            <a:r>
              <a:rPr sz="900" b="1" i="0">
                <a:solidFill>
                  <a:srgbClr val="1E8449"/>
                </a:solidFill>
                <a:latin typeface="Calibri"/>
              </a:rPr>
              <a:t>$1,800</a:t>
            </a:r>
          </a:p>
        </p:txBody>
      </p:sp>
      <p:sp>
        <p:nvSpPr>
          <p:cNvPr id="22" name="Rectangle 21"/>
          <p:cNvSpPr/>
          <p:nvPr/>
        </p:nvSpPr>
        <p:spPr>
          <a:xfrm>
            <a:off x="365760" y="3108960"/>
            <a:ext cx="5303520" cy="365760"/>
          </a:xfrm>
          <a:prstGeom prst="rect">
            <a:avLst/>
          </a:prstGeom>
          <a:solidFill>
            <a:srgbClr val="F8F8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502920" y="3163824"/>
            <a:ext cx="3657600" cy="256032"/>
          </a:xfrm>
          <a:prstGeom prst="rect">
            <a:avLst/>
          </a:prstGeom>
          <a:noFill/>
        </p:spPr>
        <p:txBody>
          <a:bodyPr wrap="square">
            <a:spAutoFit/>
          </a:bodyPr>
          <a:lstStyle/>
          <a:p>
            <a:pPr algn="l"/>
            <a:r>
              <a:rPr sz="850" b="0" i="0">
                <a:solidFill>
                  <a:srgbClr val="333C4E"/>
                </a:solidFill>
                <a:latin typeface="Calibri"/>
              </a:rPr>
              <a:t>Rear springs and brake lines</a:t>
            </a:r>
          </a:p>
        </p:txBody>
      </p:sp>
      <p:sp>
        <p:nvSpPr>
          <p:cNvPr id="24" name="TextBox 23"/>
          <p:cNvSpPr txBox="1"/>
          <p:nvPr/>
        </p:nvSpPr>
        <p:spPr>
          <a:xfrm>
            <a:off x="4297680" y="3163824"/>
            <a:ext cx="1280160" cy="256032"/>
          </a:xfrm>
          <a:prstGeom prst="rect">
            <a:avLst/>
          </a:prstGeom>
          <a:noFill/>
        </p:spPr>
        <p:txBody>
          <a:bodyPr wrap="square">
            <a:spAutoFit/>
          </a:bodyPr>
          <a:lstStyle/>
          <a:p>
            <a:pPr algn="r"/>
            <a:r>
              <a:rPr sz="900" b="1" i="0">
                <a:solidFill>
                  <a:srgbClr val="1E8449"/>
                </a:solidFill>
                <a:latin typeface="Calibri"/>
              </a:rPr>
              <a:t>$1,000</a:t>
            </a:r>
          </a:p>
        </p:txBody>
      </p:sp>
      <p:sp>
        <p:nvSpPr>
          <p:cNvPr id="25" name="Rectangle 24"/>
          <p:cNvSpPr/>
          <p:nvPr/>
        </p:nvSpPr>
        <p:spPr>
          <a:xfrm>
            <a:off x="365760" y="3493008"/>
            <a:ext cx="5303520" cy="36576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502920" y="3547872"/>
            <a:ext cx="3657600" cy="256032"/>
          </a:xfrm>
          <a:prstGeom prst="rect">
            <a:avLst/>
          </a:prstGeom>
          <a:noFill/>
        </p:spPr>
        <p:txBody>
          <a:bodyPr wrap="square">
            <a:spAutoFit/>
          </a:bodyPr>
          <a:lstStyle/>
          <a:p>
            <a:pPr algn="l"/>
            <a:r>
              <a:rPr sz="850" b="0" i="0">
                <a:solidFill>
                  <a:srgbClr val="333C4E"/>
                </a:solidFill>
                <a:latin typeface="Calibri"/>
              </a:rPr>
              <a:t>Under-dash wiring harness</a:t>
            </a:r>
          </a:p>
        </p:txBody>
      </p:sp>
      <p:sp>
        <p:nvSpPr>
          <p:cNvPr id="27" name="TextBox 26"/>
          <p:cNvSpPr txBox="1"/>
          <p:nvPr/>
        </p:nvSpPr>
        <p:spPr>
          <a:xfrm>
            <a:off x="4297680" y="3547872"/>
            <a:ext cx="1280160" cy="256032"/>
          </a:xfrm>
          <a:prstGeom prst="rect">
            <a:avLst/>
          </a:prstGeom>
          <a:noFill/>
        </p:spPr>
        <p:txBody>
          <a:bodyPr wrap="square">
            <a:spAutoFit/>
          </a:bodyPr>
          <a:lstStyle/>
          <a:p>
            <a:pPr algn="r"/>
            <a:r>
              <a:rPr sz="900" b="1" i="0">
                <a:solidFill>
                  <a:srgbClr val="1E8449"/>
                </a:solidFill>
                <a:latin typeface="Calibri"/>
              </a:rPr>
              <a:t>$380</a:t>
            </a:r>
          </a:p>
        </p:txBody>
      </p:sp>
      <p:sp>
        <p:nvSpPr>
          <p:cNvPr id="28" name="Rectangle 27"/>
          <p:cNvSpPr/>
          <p:nvPr/>
        </p:nvSpPr>
        <p:spPr>
          <a:xfrm>
            <a:off x="365760" y="3877056"/>
            <a:ext cx="5303520" cy="365760"/>
          </a:xfrm>
          <a:prstGeom prst="rect">
            <a:avLst/>
          </a:prstGeom>
          <a:solidFill>
            <a:srgbClr val="F8F8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502920" y="3931920"/>
            <a:ext cx="3657600" cy="256032"/>
          </a:xfrm>
          <a:prstGeom prst="rect">
            <a:avLst/>
          </a:prstGeom>
          <a:noFill/>
        </p:spPr>
        <p:txBody>
          <a:bodyPr wrap="square">
            <a:spAutoFit/>
          </a:bodyPr>
          <a:lstStyle/>
          <a:p>
            <a:pPr algn="l"/>
            <a:r>
              <a:rPr sz="850" b="0" i="0">
                <a:solidFill>
                  <a:srgbClr val="333C4E"/>
                </a:solidFill>
                <a:latin typeface="Calibri"/>
              </a:rPr>
              <a:t>Dashpad reproduction</a:t>
            </a:r>
          </a:p>
        </p:txBody>
      </p:sp>
      <p:sp>
        <p:nvSpPr>
          <p:cNvPr id="30" name="TextBox 29"/>
          <p:cNvSpPr txBox="1"/>
          <p:nvPr/>
        </p:nvSpPr>
        <p:spPr>
          <a:xfrm>
            <a:off x="4297680" y="3931920"/>
            <a:ext cx="1280160" cy="256032"/>
          </a:xfrm>
          <a:prstGeom prst="rect">
            <a:avLst/>
          </a:prstGeom>
          <a:noFill/>
        </p:spPr>
        <p:txBody>
          <a:bodyPr wrap="square">
            <a:spAutoFit/>
          </a:bodyPr>
          <a:lstStyle/>
          <a:p>
            <a:pPr algn="r"/>
            <a:r>
              <a:rPr sz="900" b="1" i="0">
                <a:solidFill>
                  <a:srgbClr val="1E8449"/>
                </a:solidFill>
                <a:latin typeface="Calibri"/>
              </a:rPr>
              <a:t>$310</a:t>
            </a:r>
          </a:p>
        </p:txBody>
      </p:sp>
      <p:sp>
        <p:nvSpPr>
          <p:cNvPr id="31" name="Rectangle 30"/>
          <p:cNvSpPr/>
          <p:nvPr/>
        </p:nvSpPr>
        <p:spPr>
          <a:xfrm>
            <a:off x="365760" y="4261104"/>
            <a:ext cx="5303520" cy="36576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502920" y="4315968"/>
            <a:ext cx="3657600" cy="256032"/>
          </a:xfrm>
          <a:prstGeom prst="rect">
            <a:avLst/>
          </a:prstGeom>
          <a:noFill/>
        </p:spPr>
        <p:txBody>
          <a:bodyPr wrap="square">
            <a:spAutoFit/>
          </a:bodyPr>
          <a:lstStyle/>
          <a:p>
            <a:pPr algn="l"/>
            <a:r>
              <a:rPr sz="850" b="0" i="0">
                <a:solidFill>
                  <a:srgbClr val="333C4E"/>
                </a:solidFill>
                <a:latin typeface="Calibri"/>
              </a:rPr>
              <a:t>Carpet set</a:t>
            </a:r>
          </a:p>
        </p:txBody>
      </p:sp>
      <p:sp>
        <p:nvSpPr>
          <p:cNvPr id="33" name="TextBox 32"/>
          <p:cNvSpPr txBox="1"/>
          <p:nvPr/>
        </p:nvSpPr>
        <p:spPr>
          <a:xfrm>
            <a:off x="4297680" y="4315968"/>
            <a:ext cx="1280160" cy="256032"/>
          </a:xfrm>
          <a:prstGeom prst="rect">
            <a:avLst/>
          </a:prstGeom>
          <a:noFill/>
        </p:spPr>
        <p:txBody>
          <a:bodyPr wrap="square">
            <a:spAutoFit/>
          </a:bodyPr>
          <a:lstStyle/>
          <a:p>
            <a:pPr algn="r"/>
            <a:r>
              <a:rPr sz="900" b="1" i="0">
                <a:solidFill>
                  <a:srgbClr val="1E8449"/>
                </a:solidFill>
                <a:latin typeface="Calibri"/>
              </a:rPr>
              <a:t>$260</a:t>
            </a:r>
          </a:p>
        </p:txBody>
      </p:sp>
      <p:sp>
        <p:nvSpPr>
          <p:cNvPr id="34" name="Rectangle 33"/>
          <p:cNvSpPr/>
          <p:nvPr/>
        </p:nvSpPr>
        <p:spPr>
          <a:xfrm>
            <a:off x="365760" y="4645152"/>
            <a:ext cx="5303520" cy="365760"/>
          </a:xfrm>
          <a:prstGeom prst="rect">
            <a:avLst/>
          </a:prstGeom>
          <a:solidFill>
            <a:srgbClr val="F8F8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502920" y="4700016"/>
            <a:ext cx="3657600" cy="256032"/>
          </a:xfrm>
          <a:prstGeom prst="rect">
            <a:avLst/>
          </a:prstGeom>
          <a:noFill/>
        </p:spPr>
        <p:txBody>
          <a:bodyPr wrap="square">
            <a:spAutoFit/>
          </a:bodyPr>
          <a:lstStyle/>
          <a:p>
            <a:pPr algn="l"/>
            <a:r>
              <a:rPr sz="850" b="0" i="0">
                <a:solidFill>
                  <a:srgbClr val="333C4E"/>
                </a:solidFill>
                <a:latin typeface="Calibri"/>
              </a:rPr>
              <a:t>Front fender - right hand</a:t>
            </a:r>
          </a:p>
        </p:txBody>
      </p:sp>
      <p:sp>
        <p:nvSpPr>
          <p:cNvPr id="36" name="TextBox 35"/>
          <p:cNvSpPr txBox="1"/>
          <p:nvPr/>
        </p:nvSpPr>
        <p:spPr>
          <a:xfrm>
            <a:off x="4297680" y="4700016"/>
            <a:ext cx="1280160" cy="256032"/>
          </a:xfrm>
          <a:prstGeom prst="rect">
            <a:avLst/>
          </a:prstGeom>
          <a:noFill/>
        </p:spPr>
        <p:txBody>
          <a:bodyPr wrap="square">
            <a:spAutoFit/>
          </a:bodyPr>
          <a:lstStyle/>
          <a:p>
            <a:pPr algn="r"/>
            <a:r>
              <a:rPr sz="900" b="1" i="0">
                <a:solidFill>
                  <a:srgbClr val="1E8449"/>
                </a:solidFill>
                <a:latin typeface="Calibri"/>
              </a:rPr>
              <a:t>$420</a:t>
            </a:r>
          </a:p>
        </p:txBody>
      </p:sp>
      <p:sp>
        <p:nvSpPr>
          <p:cNvPr id="37" name="Rectangle 36"/>
          <p:cNvSpPr/>
          <p:nvPr/>
        </p:nvSpPr>
        <p:spPr>
          <a:xfrm>
            <a:off x="365760" y="5029200"/>
            <a:ext cx="5303520" cy="36576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TextBox 37"/>
          <p:cNvSpPr txBox="1"/>
          <p:nvPr/>
        </p:nvSpPr>
        <p:spPr>
          <a:xfrm>
            <a:off x="502920" y="5084064"/>
            <a:ext cx="3657600" cy="256032"/>
          </a:xfrm>
          <a:prstGeom prst="rect">
            <a:avLst/>
          </a:prstGeom>
          <a:noFill/>
        </p:spPr>
        <p:txBody>
          <a:bodyPr wrap="square">
            <a:spAutoFit/>
          </a:bodyPr>
          <a:lstStyle/>
          <a:p>
            <a:pPr algn="l"/>
            <a:r>
              <a:rPr sz="850" b="0" i="0">
                <a:solidFill>
                  <a:srgbClr val="333C4E"/>
                </a:solidFill>
                <a:latin typeface="Calibri"/>
              </a:rPr>
              <a:t>Misc parts and hardware</a:t>
            </a:r>
          </a:p>
        </p:txBody>
      </p:sp>
      <p:sp>
        <p:nvSpPr>
          <p:cNvPr id="39" name="TextBox 38"/>
          <p:cNvSpPr txBox="1"/>
          <p:nvPr/>
        </p:nvSpPr>
        <p:spPr>
          <a:xfrm>
            <a:off x="4297680" y="5084064"/>
            <a:ext cx="1280160" cy="256032"/>
          </a:xfrm>
          <a:prstGeom prst="rect">
            <a:avLst/>
          </a:prstGeom>
          <a:noFill/>
        </p:spPr>
        <p:txBody>
          <a:bodyPr wrap="square">
            <a:spAutoFit/>
          </a:bodyPr>
          <a:lstStyle/>
          <a:p>
            <a:pPr algn="r"/>
            <a:r>
              <a:rPr sz="900" b="1" i="0">
                <a:solidFill>
                  <a:srgbClr val="1E8449"/>
                </a:solidFill>
                <a:latin typeface="Calibri"/>
              </a:rPr>
              <a:t>$4,030</a:t>
            </a:r>
          </a:p>
        </p:txBody>
      </p:sp>
      <p:sp>
        <p:nvSpPr>
          <p:cNvPr id="40" name="Rectangle 39"/>
          <p:cNvSpPr/>
          <p:nvPr/>
        </p:nvSpPr>
        <p:spPr>
          <a:xfrm>
            <a:off x="365760" y="5394960"/>
            <a:ext cx="5303520" cy="548640"/>
          </a:xfrm>
          <a:prstGeom prst="rect">
            <a:avLst/>
          </a:prstGeom>
          <a:solidFill>
            <a:srgbClr val="1A274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1" name="TextBox 40"/>
          <p:cNvSpPr txBox="1"/>
          <p:nvPr/>
        </p:nvSpPr>
        <p:spPr>
          <a:xfrm>
            <a:off x="548640" y="5486400"/>
            <a:ext cx="3200400" cy="347472"/>
          </a:xfrm>
          <a:prstGeom prst="rect">
            <a:avLst/>
          </a:prstGeom>
          <a:noFill/>
        </p:spPr>
        <p:txBody>
          <a:bodyPr wrap="square">
            <a:spAutoFit/>
          </a:bodyPr>
          <a:lstStyle/>
          <a:p>
            <a:pPr algn="l"/>
            <a:r>
              <a:rPr sz="1200" b="1" i="0">
                <a:solidFill>
                  <a:srgbClr val="FFFFFF"/>
                </a:solidFill>
                <a:latin typeface="Calibri"/>
              </a:rPr>
              <a:t>Total Invested</a:t>
            </a:r>
          </a:p>
        </p:txBody>
      </p:sp>
      <p:sp>
        <p:nvSpPr>
          <p:cNvPr id="42" name="TextBox 41"/>
          <p:cNvSpPr txBox="1"/>
          <p:nvPr/>
        </p:nvSpPr>
        <p:spPr>
          <a:xfrm>
            <a:off x="4023360" y="5486400"/>
            <a:ext cx="1463040" cy="347472"/>
          </a:xfrm>
          <a:prstGeom prst="rect">
            <a:avLst/>
          </a:prstGeom>
          <a:noFill/>
        </p:spPr>
        <p:txBody>
          <a:bodyPr wrap="square">
            <a:spAutoFit/>
          </a:bodyPr>
          <a:lstStyle/>
          <a:p>
            <a:pPr algn="r"/>
            <a:r>
              <a:rPr sz="1400" b="1" i="0">
                <a:solidFill>
                  <a:srgbClr val="C89620"/>
                </a:solidFill>
                <a:latin typeface="Calibri"/>
              </a:rPr>
              <a:t>$22,000</a:t>
            </a:r>
          </a:p>
        </p:txBody>
      </p:sp>
      <p:sp>
        <p:nvSpPr>
          <p:cNvPr id="43" name="Rectangle 42"/>
          <p:cNvSpPr/>
          <p:nvPr/>
        </p:nvSpPr>
        <p:spPr>
          <a:xfrm>
            <a:off x="6126480" y="1005840"/>
            <a:ext cx="5696712" cy="539496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4" name="Rectangle 43"/>
          <p:cNvSpPr/>
          <p:nvPr/>
        </p:nvSpPr>
        <p:spPr>
          <a:xfrm>
            <a:off x="6126480" y="1005840"/>
            <a:ext cx="5696712" cy="457200"/>
          </a:xfrm>
          <a:prstGeom prst="rect">
            <a:avLst/>
          </a:prstGeom>
          <a:solidFill>
            <a:srgbClr val="7B0D1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5" name="TextBox 44"/>
          <p:cNvSpPr txBox="1"/>
          <p:nvPr/>
        </p:nvSpPr>
        <p:spPr>
          <a:xfrm>
            <a:off x="6309360" y="1078992"/>
            <a:ext cx="5394960" cy="320040"/>
          </a:xfrm>
          <a:prstGeom prst="rect">
            <a:avLst/>
          </a:prstGeom>
          <a:noFill/>
        </p:spPr>
        <p:txBody>
          <a:bodyPr wrap="square">
            <a:spAutoFit/>
          </a:bodyPr>
          <a:lstStyle/>
          <a:p>
            <a:pPr algn="l"/>
            <a:r>
              <a:rPr sz="1200" b="1" i="0">
                <a:solidFill>
                  <a:srgbClr val="FFFFFF"/>
                </a:solidFill>
                <a:latin typeface="Calibri"/>
              </a:rPr>
              <a:t>Remaining to Complete</a:t>
            </a:r>
          </a:p>
        </p:txBody>
      </p:sp>
      <p:sp>
        <p:nvSpPr>
          <p:cNvPr id="46" name="Rectangle 45"/>
          <p:cNvSpPr/>
          <p:nvPr/>
        </p:nvSpPr>
        <p:spPr>
          <a:xfrm>
            <a:off x="6126480" y="1572768"/>
            <a:ext cx="5696712" cy="566928"/>
          </a:xfrm>
          <a:prstGeom prst="rect">
            <a:avLst/>
          </a:prstGeom>
          <a:solidFill>
            <a:srgbClr val="F8F5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7" name="TextBox 46"/>
          <p:cNvSpPr txBox="1"/>
          <p:nvPr/>
        </p:nvSpPr>
        <p:spPr>
          <a:xfrm>
            <a:off x="6309360" y="1627632"/>
            <a:ext cx="3840480" cy="320040"/>
          </a:xfrm>
          <a:prstGeom prst="rect">
            <a:avLst/>
          </a:prstGeom>
          <a:noFill/>
        </p:spPr>
        <p:txBody>
          <a:bodyPr wrap="square">
            <a:spAutoFit/>
          </a:bodyPr>
          <a:lstStyle/>
          <a:p>
            <a:pPr algn="l"/>
            <a:r>
              <a:rPr sz="850" b="0" i="0">
                <a:solidFill>
                  <a:srgbClr val="333C4E"/>
                </a:solidFill>
                <a:latin typeface="Calibri"/>
              </a:rPr>
              <a:t>Upholstery kit (on order - Reynolds Custom Interiors)</a:t>
            </a:r>
          </a:p>
        </p:txBody>
      </p:sp>
      <p:sp>
        <p:nvSpPr>
          <p:cNvPr id="48" name="TextBox 47"/>
          <p:cNvSpPr txBox="1"/>
          <p:nvPr/>
        </p:nvSpPr>
        <p:spPr>
          <a:xfrm>
            <a:off x="10058400" y="1627632"/>
            <a:ext cx="1005840" cy="256032"/>
          </a:xfrm>
          <a:prstGeom prst="rect">
            <a:avLst/>
          </a:prstGeom>
          <a:noFill/>
        </p:spPr>
        <p:txBody>
          <a:bodyPr wrap="square">
            <a:spAutoFit/>
          </a:bodyPr>
          <a:lstStyle/>
          <a:p>
            <a:pPr algn="r"/>
            <a:r>
              <a:rPr sz="900" b="1" i="0">
                <a:solidFill>
                  <a:srgbClr val="7B0D1E"/>
                </a:solidFill>
                <a:latin typeface="Calibri"/>
              </a:rPr>
              <a:t>$3,500</a:t>
            </a:r>
          </a:p>
        </p:txBody>
      </p:sp>
      <p:sp>
        <p:nvSpPr>
          <p:cNvPr id="49" name="TextBox 48"/>
          <p:cNvSpPr txBox="1"/>
          <p:nvPr/>
        </p:nvSpPr>
        <p:spPr>
          <a:xfrm>
            <a:off x="10058400" y="1865376"/>
            <a:ext cx="1691640" cy="201168"/>
          </a:xfrm>
          <a:prstGeom prst="rect">
            <a:avLst/>
          </a:prstGeom>
          <a:noFill/>
        </p:spPr>
        <p:txBody>
          <a:bodyPr wrap="square">
            <a:spAutoFit/>
          </a:bodyPr>
          <a:lstStyle/>
          <a:p>
            <a:pPr algn="r"/>
            <a:r>
              <a:rPr sz="750" b="0" i="0">
                <a:solidFill>
                  <a:srgbClr val="E67E22"/>
                </a:solidFill>
                <a:latin typeface="Calibri"/>
              </a:rPr>
              <a:t>On Order</a:t>
            </a:r>
          </a:p>
        </p:txBody>
      </p:sp>
      <p:sp>
        <p:nvSpPr>
          <p:cNvPr id="50" name="Rectangle 49"/>
          <p:cNvSpPr/>
          <p:nvPr/>
        </p:nvSpPr>
        <p:spPr>
          <a:xfrm>
            <a:off x="6126480" y="2167128"/>
            <a:ext cx="5696712" cy="566928"/>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1" name="TextBox 50"/>
          <p:cNvSpPr txBox="1"/>
          <p:nvPr/>
        </p:nvSpPr>
        <p:spPr>
          <a:xfrm>
            <a:off x="6309360" y="2221992"/>
            <a:ext cx="3840480" cy="320040"/>
          </a:xfrm>
          <a:prstGeom prst="rect">
            <a:avLst/>
          </a:prstGeom>
          <a:noFill/>
        </p:spPr>
        <p:txBody>
          <a:bodyPr wrap="square">
            <a:spAutoFit/>
          </a:bodyPr>
          <a:lstStyle/>
          <a:p>
            <a:pPr algn="l"/>
            <a:r>
              <a:rPr sz="850" b="0" i="0">
                <a:solidFill>
                  <a:srgbClr val="333C4E"/>
                </a:solidFill>
                <a:latin typeface="Calibri"/>
              </a:rPr>
              <a:t>Paint and materials (accepted quote - Desert Sun Auto Body)</a:t>
            </a:r>
          </a:p>
        </p:txBody>
      </p:sp>
      <p:sp>
        <p:nvSpPr>
          <p:cNvPr id="52" name="TextBox 51"/>
          <p:cNvSpPr txBox="1"/>
          <p:nvPr/>
        </p:nvSpPr>
        <p:spPr>
          <a:xfrm>
            <a:off x="10058400" y="2221992"/>
            <a:ext cx="1005840" cy="256032"/>
          </a:xfrm>
          <a:prstGeom prst="rect">
            <a:avLst/>
          </a:prstGeom>
          <a:noFill/>
        </p:spPr>
        <p:txBody>
          <a:bodyPr wrap="square">
            <a:spAutoFit/>
          </a:bodyPr>
          <a:lstStyle/>
          <a:p>
            <a:pPr algn="r"/>
            <a:r>
              <a:rPr sz="900" b="1" i="0">
                <a:solidFill>
                  <a:srgbClr val="7B0D1E"/>
                </a:solidFill>
                <a:latin typeface="Calibri"/>
              </a:rPr>
              <a:t>$4,000</a:t>
            </a:r>
          </a:p>
        </p:txBody>
      </p:sp>
      <p:sp>
        <p:nvSpPr>
          <p:cNvPr id="53" name="TextBox 52"/>
          <p:cNvSpPr txBox="1"/>
          <p:nvPr/>
        </p:nvSpPr>
        <p:spPr>
          <a:xfrm>
            <a:off x="10058400" y="2459736"/>
            <a:ext cx="1691640" cy="201168"/>
          </a:xfrm>
          <a:prstGeom prst="rect">
            <a:avLst/>
          </a:prstGeom>
          <a:noFill/>
        </p:spPr>
        <p:txBody>
          <a:bodyPr wrap="square">
            <a:spAutoFit/>
          </a:bodyPr>
          <a:lstStyle/>
          <a:p>
            <a:pPr algn="r"/>
            <a:r>
              <a:rPr sz="750" b="0" i="0">
                <a:solidFill>
                  <a:srgbClr val="E67E22"/>
                </a:solidFill>
                <a:latin typeface="Calibri"/>
              </a:rPr>
              <a:t>Booked</a:t>
            </a:r>
          </a:p>
        </p:txBody>
      </p:sp>
      <p:sp>
        <p:nvSpPr>
          <p:cNvPr id="54" name="Rectangle 53"/>
          <p:cNvSpPr/>
          <p:nvPr/>
        </p:nvSpPr>
        <p:spPr>
          <a:xfrm>
            <a:off x="6126480" y="2761488"/>
            <a:ext cx="5696712" cy="566928"/>
          </a:xfrm>
          <a:prstGeom prst="rect">
            <a:avLst/>
          </a:prstGeom>
          <a:solidFill>
            <a:srgbClr val="F8F5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5" name="TextBox 54"/>
          <p:cNvSpPr txBox="1"/>
          <p:nvPr/>
        </p:nvSpPr>
        <p:spPr>
          <a:xfrm>
            <a:off x="6309360" y="2816352"/>
            <a:ext cx="3840480" cy="320040"/>
          </a:xfrm>
          <a:prstGeom prst="rect">
            <a:avLst/>
          </a:prstGeom>
          <a:noFill/>
        </p:spPr>
        <p:txBody>
          <a:bodyPr wrap="square">
            <a:spAutoFit/>
          </a:bodyPr>
          <a:lstStyle/>
          <a:p>
            <a:pPr algn="l"/>
            <a:r>
              <a:rPr sz="850" b="0" i="0">
                <a:solidFill>
                  <a:srgbClr val="333C4E"/>
                </a:solidFill>
                <a:latin typeface="Calibri"/>
              </a:rPr>
              <a:t>Chrome bumper set (on order)</a:t>
            </a:r>
          </a:p>
        </p:txBody>
      </p:sp>
      <p:sp>
        <p:nvSpPr>
          <p:cNvPr id="56" name="TextBox 55"/>
          <p:cNvSpPr txBox="1"/>
          <p:nvPr/>
        </p:nvSpPr>
        <p:spPr>
          <a:xfrm>
            <a:off x="10058400" y="2816352"/>
            <a:ext cx="1005840" cy="256032"/>
          </a:xfrm>
          <a:prstGeom prst="rect">
            <a:avLst/>
          </a:prstGeom>
          <a:noFill/>
        </p:spPr>
        <p:txBody>
          <a:bodyPr wrap="square">
            <a:spAutoFit/>
          </a:bodyPr>
          <a:lstStyle/>
          <a:p>
            <a:pPr algn="r"/>
            <a:r>
              <a:rPr sz="900" b="1" i="0">
                <a:solidFill>
                  <a:srgbClr val="7B0D1E"/>
                </a:solidFill>
                <a:latin typeface="Calibri"/>
              </a:rPr>
              <a:t>$640</a:t>
            </a:r>
          </a:p>
        </p:txBody>
      </p:sp>
      <p:sp>
        <p:nvSpPr>
          <p:cNvPr id="57" name="TextBox 56"/>
          <p:cNvSpPr txBox="1"/>
          <p:nvPr/>
        </p:nvSpPr>
        <p:spPr>
          <a:xfrm>
            <a:off x="10058400" y="3054096"/>
            <a:ext cx="1691640" cy="201168"/>
          </a:xfrm>
          <a:prstGeom prst="rect">
            <a:avLst/>
          </a:prstGeom>
          <a:noFill/>
        </p:spPr>
        <p:txBody>
          <a:bodyPr wrap="square">
            <a:spAutoFit/>
          </a:bodyPr>
          <a:lstStyle/>
          <a:p>
            <a:pPr algn="r"/>
            <a:r>
              <a:rPr sz="750" b="0" i="0">
                <a:solidFill>
                  <a:srgbClr val="E67E22"/>
                </a:solidFill>
                <a:latin typeface="Calibri"/>
              </a:rPr>
              <a:t>On Order</a:t>
            </a:r>
          </a:p>
        </p:txBody>
      </p:sp>
      <p:sp>
        <p:nvSpPr>
          <p:cNvPr id="58" name="Rectangle 57"/>
          <p:cNvSpPr/>
          <p:nvPr/>
        </p:nvSpPr>
        <p:spPr>
          <a:xfrm>
            <a:off x="6126480" y="3355848"/>
            <a:ext cx="5696712" cy="566928"/>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9" name="TextBox 58"/>
          <p:cNvSpPr txBox="1"/>
          <p:nvPr/>
        </p:nvSpPr>
        <p:spPr>
          <a:xfrm>
            <a:off x="6309360" y="3410712"/>
            <a:ext cx="3840480" cy="320040"/>
          </a:xfrm>
          <a:prstGeom prst="rect">
            <a:avLst/>
          </a:prstGeom>
          <a:noFill/>
        </p:spPr>
        <p:txBody>
          <a:bodyPr wrap="square">
            <a:spAutoFit/>
          </a:bodyPr>
          <a:lstStyle/>
          <a:p>
            <a:pPr algn="l"/>
            <a:r>
              <a:rPr sz="850" b="0" i="0">
                <a:solidFill>
                  <a:srgbClr val="333C4E"/>
                </a:solidFill>
                <a:latin typeface="Calibri"/>
              </a:rPr>
              <a:t>Final detail and polish</a:t>
            </a:r>
          </a:p>
        </p:txBody>
      </p:sp>
      <p:sp>
        <p:nvSpPr>
          <p:cNvPr id="60" name="TextBox 59"/>
          <p:cNvSpPr txBox="1"/>
          <p:nvPr/>
        </p:nvSpPr>
        <p:spPr>
          <a:xfrm>
            <a:off x="10058400" y="3410712"/>
            <a:ext cx="1005840" cy="256032"/>
          </a:xfrm>
          <a:prstGeom prst="rect">
            <a:avLst/>
          </a:prstGeom>
          <a:noFill/>
        </p:spPr>
        <p:txBody>
          <a:bodyPr wrap="square">
            <a:spAutoFit/>
          </a:bodyPr>
          <a:lstStyle/>
          <a:p>
            <a:pPr algn="r"/>
            <a:r>
              <a:rPr sz="900" b="1" i="0">
                <a:solidFill>
                  <a:srgbClr val="7B0D1E"/>
                </a:solidFill>
                <a:latin typeface="Calibri"/>
              </a:rPr>
              <a:t>$300</a:t>
            </a:r>
          </a:p>
        </p:txBody>
      </p:sp>
      <p:sp>
        <p:nvSpPr>
          <p:cNvPr id="61" name="TextBox 60"/>
          <p:cNvSpPr txBox="1"/>
          <p:nvPr/>
        </p:nvSpPr>
        <p:spPr>
          <a:xfrm>
            <a:off x="10058400" y="3648456"/>
            <a:ext cx="1691640" cy="201168"/>
          </a:xfrm>
          <a:prstGeom prst="rect">
            <a:avLst/>
          </a:prstGeom>
          <a:noFill/>
        </p:spPr>
        <p:txBody>
          <a:bodyPr wrap="square">
            <a:spAutoFit/>
          </a:bodyPr>
          <a:lstStyle/>
          <a:p>
            <a:pPr algn="r"/>
            <a:r>
              <a:rPr sz="750" b="0" i="0">
                <a:solidFill>
                  <a:srgbClr val="8A92A8"/>
                </a:solidFill>
                <a:latin typeface="Calibri"/>
              </a:rPr>
              <a:t>Planned</a:t>
            </a:r>
          </a:p>
        </p:txBody>
      </p:sp>
      <p:sp>
        <p:nvSpPr>
          <p:cNvPr id="62" name="Rectangle 61"/>
          <p:cNvSpPr/>
          <p:nvPr/>
        </p:nvSpPr>
        <p:spPr>
          <a:xfrm>
            <a:off x="6126480" y="3950208"/>
            <a:ext cx="5696712" cy="566928"/>
          </a:xfrm>
          <a:prstGeom prst="rect">
            <a:avLst/>
          </a:prstGeom>
          <a:solidFill>
            <a:srgbClr val="F8F5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3" name="TextBox 62"/>
          <p:cNvSpPr txBox="1"/>
          <p:nvPr/>
        </p:nvSpPr>
        <p:spPr>
          <a:xfrm>
            <a:off x="6309360" y="4005072"/>
            <a:ext cx="3840480" cy="320040"/>
          </a:xfrm>
          <a:prstGeom prst="rect">
            <a:avLst/>
          </a:prstGeom>
          <a:noFill/>
        </p:spPr>
        <p:txBody>
          <a:bodyPr wrap="square">
            <a:spAutoFit/>
          </a:bodyPr>
          <a:lstStyle/>
          <a:p>
            <a:pPr algn="l"/>
            <a:r>
              <a:rPr sz="850" b="0" i="0">
                <a:solidFill>
                  <a:srgbClr val="333C4E"/>
                </a:solidFill>
                <a:latin typeface="Calibri"/>
              </a:rPr>
              <a:t>Show registration and entry fee</a:t>
            </a:r>
          </a:p>
        </p:txBody>
      </p:sp>
      <p:sp>
        <p:nvSpPr>
          <p:cNvPr id="64" name="TextBox 63"/>
          <p:cNvSpPr txBox="1"/>
          <p:nvPr/>
        </p:nvSpPr>
        <p:spPr>
          <a:xfrm>
            <a:off x="10058400" y="4005072"/>
            <a:ext cx="1005840" cy="256032"/>
          </a:xfrm>
          <a:prstGeom prst="rect">
            <a:avLst/>
          </a:prstGeom>
          <a:noFill/>
        </p:spPr>
        <p:txBody>
          <a:bodyPr wrap="square">
            <a:spAutoFit/>
          </a:bodyPr>
          <a:lstStyle/>
          <a:p>
            <a:pPr algn="r"/>
            <a:r>
              <a:rPr sz="900" b="1" i="0">
                <a:solidFill>
                  <a:srgbClr val="7B0D1E"/>
                </a:solidFill>
                <a:latin typeface="Calibri"/>
              </a:rPr>
              <a:t>$400</a:t>
            </a:r>
          </a:p>
        </p:txBody>
      </p:sp>
      <p:sp>
        <p:nvSpPr>
          <p:cNvPr id="65" name="TextBox 64"/>
          <p:cNvSpPr txBox="1"/>
          <p:nvPr/>
        </p:nvSpPr>
        <p:spPr>
          <a:xfrm>
            <a:off x="10058400" y="4242816"/>
            <a:ext cx="1691640" cy="201168"/>
          </a:xfrm>
          <a:prstGeom prst="rect">
            <a:avLst/>
          </a:prstGeom>
          <a:noFill/>
        </p:spPr>
        <p:txBody>
          <a:bodyPr wrap="square">
            <a:spAutoFit/>
          </a:bodyPr>
          <a:lstStyle/>
          <a:p>
            <a:pPr algn="r"/>
            <a:r>
              <a:rPr sz="750" b="0" i="0">
                <a:solidFill>
                  <a:srgbClr val="8A92A8"/>
                </a:solidFill>
                <a:latin typeface="Calibri"/>
              </a:rPr>
              <a:t>Oct 2026</a:t>
            </a:r>
          </a:p>
        </p:txBody>
      </p:sp>
      <p:sp>
        <p:nvSpPr>
          <p:cNvPr id="66" name="Rectangle 65"/>
          <p:cNvSpPr/>
          <p:nvPr/>
        </p:nvSpPr>
        <p:spPr>
          <a:xfrm>
            <a:off x="6126480" y="4544568"/>
            <a:ext cx="5696712" cy="566928"/>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7" name="TextBox 66"/>
          <p:cNvSpPr txBox="1"/>
          <p:nvPr/>
        </p:nvSpPr>
        <p:spPr>
          <a:xfrm>
            <a:off x="6309360" y="4599431"/>
            <a:ext cx="3840480" cy="320040"/>
          </a:xfrm>
          <a:prstGeom prst="rect">
            <a:avLst/>
          </a:prstGeom>
          <a:noFill/>
        </p:spPr>
        <p:txBody>
          <a:bodyPr wrap="square">
            <a:spAutoFit/>
          </a:bodyPr>
          <a:lstStyle/>
          <a:p>
            <a:pPr algn="l"/>
            <a:r>
              <a:rPr sz="850" b="0" i="0">
                <a:solidFill>
                  <a:srgbClr val="333C4E"/>
                </a:solidFill>
                <a:latin typeface="Calibri"/>
              </a:rPr>
              <a:t>Final alignment and road test</a:t>
            </a:r>
          </a:p>
        </p:txBody>
      </p:sp>
      <p:sp>
        <p:nvSpPr>
          <p:cNvPr id="68" name="TextBox 67"/>
          <p:cNvSpPr txBox="1"/>
          <p:nvPr/>
        </p:nvSpPr>
        <p:spPr>
          <a:xfrm>
            <a:off x="10058400" y="4599431"/>
            <a:ext cx="1005840" cy="256032"/>
          </a:xfrm>
          <a:prstGeom prst="rect">
            <a:avLst/>
          </a:prstGeom>
          <a:noFill/>
        </p:spPr>
        <p:txBody>
          <a:bodyPr wrap="square">
            <a:spAutoFit/>
          </a:bodyPr>
          <a:lstStyle/>
          <a:p>
            <a:pPr algn="r"/>
            <a:r>
              <a:rPr sz="900" b="1" i="0">
                <a:solidFill>
                  <a:srgbClr val="7B0D1E"/>
                </a:solidFill>
                <a:latin typeface="Calibri"/>
              </a:rPr>
              <a:t>$0</a:t>
            </a:r>
          </a:p>
        </p:txBody>
      </p:sp>
      <p:sp>
        <p:nvSpPr>
          <p:cNvPr id="69" name="TextBox 68"/>
          <p:cNvSpPr txBox="1"/>
          <p:nvPr/>
        </p:nvSpPr>
        <p:spPr>
          <a:xfrm>
            <a:off x="10058400" y="4837176"/>
            <a:ext cx="1691640" cy="201168"/>
          </a:xfrm>
          <a:prstGeom prst="rect">
            <a:avLst/>
          </a:prstGeom>
          <a:noFill/>
        </p:spPr>
        <p:txBody>
          <a:bodyPr wrap="square">
            <a:spAutoFit/>
          </a:bodyPr>
          <a:lstStyle/>
          <a:p>
            <a:pPr algn="r"/>
            <a:r>
              <a:rPr sz="750" b="0" i="0">
                <a:solidFill>
                  <a:srgbClr val="8A92A8"/>
                </a:solidFill>
                <a:latin typeface="Calibri"/>
              </a:rPr>
              <a:t>In-house</a:t>
            </a:r>
          </a:p>
        </p:txBody>
      </p:sp>
      <p:sp>
        <p:nvSpPr>
          <p:cNvPr id="70" name="Rectangle 69"/>
          <p:cNvSpPr/>
          <p:nvPr/>
        </p:nvSpPr>
        <p:spPr>
          <a:xfrm>
            <a:off x="6126480" y="5394960"/>
            <a:ext cx="5696712" cy="548640"/>
          </a:xfrm>
          <a:prstGeom prst="rect">
            <a:avLst/>
          </a:prstGeom>
          <a:solidFill>
            <a:srgbClr val="8B0D1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1" name="TextBox 70"/>
          <p:cNvSpPr txBox="1"/>
          <p:nvPr/>
        </p:nvSpPr>
        <p:spPr>
          <a:xfrm>
            <a:off x="6309360" y="5486400"/>
            <a:ext cx="3657600" cy="347472"/>
          </a:xfrm>
          <a:prstGeom prst="rect">
            <a:avLst/>
          </a:prstGeom>
          <a:noFill/>
        </p:spPr>
        <p:txBody>
          <a:bodyPr wrap="square">
            <a:spAutoFit/>
          </a:bodyPr>
          <a:lstStyle/>
          <a:p>
            <a:pPr algn="l"/>
            <a:r>
              <a:rPr sz="1200" b="1" i="0">
                <a:solidFill>
                  <a:srgbClr val="FFFFFF"/>
                </a:solidFill>
                <a:latin typeface="Calibri"/>
              </a:rPr>
              <a:t>Remaining Budget</a:t>
            </a:r>
          </a:p>
        </p:txBody>
      </p:sp>
      <p:sp>
        <p:nvSpPr>
          <p:cNvPr id="72" name="TextBox 71"/>
          <p:cNvSpPr txBox="1"/>
          <p:nvPr/>
        </p:nvSpPr>
        <p:spPr>
          <a:xfrm>
            <a:off x="10058400" y="5486400"/>
            <a:ext cx="1691640" cy="347472"/>
          </a:xfrm>
          <a:prstGeom prst="rect">
            <a:avLst/>
          </a:prstGeom>
          <a:noFill/>
        </p:spPr>
        <p:txBody>
          <a:bodyPr wrap="square">
            <a:spAutoFit/>
          </a:bodyPr>
          <a:lstStyle/>
          <a:p>
            <a:pPr algn="r"/>
            <a:r>
              <a:rPr sz="1400" b="1" i="0">
                <a:solidFill>
                  <a:srgbClr val="C89620"/>
                </a:solidFill>
                <a:latin typeface="Calibri"/>
              </a:rPr>
              <a:t>~$8,840</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88952" cy="6858000"/>
          </a:xfrm>
          <a:prstGeom prst="rect">
            <a:avLst/>
          </a:prstGeom>
          <a:solidFill>
            <a:srgbClr val="22222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88952" cy="73152"/>
          </a:xfrm>
          <a:prstGeom prst="rect">
            <a:avLst/>
          </a:prstGeom>
          <a:solidFill>
            <a:srgbClr val="C8962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6784848"/>
            <a:ext cx="12188952" cy="73152"/>
          </a:xfrm>
          <a:prstGeom prst="rect">
            <a:avLst/>
          </a:prstGeom>
          <a:solidFill>
            <a:srgbClr val="C8962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57200" y="457200"/>
            <a:ext cx="11247120" cy="411480"/>
          </a:xfrm>
          <a:prstGeom prst="rect">
            <a:avLst/>
          </a:prstGeom>
          <a:noFill/>
        </p:spPr>
        <p:txBody>
          <a:bodyPr wrap="square">
            <a:spAutoFit/>
          </a:bodyPr>
          <a:lstStyle/>
          <a:p>
            <a:pPr algn="ctr"/>
            <a:r>
              <a:rPr sz="1000" b="1" i="0">
                <a:solidFill>
                  <a:srgbClr val="C89620"/>
                </a:solidFill>
                <a:latin typeface="Calibri"/>
              </a:rPr>
              <a:t>EL PASO CLASSIC CAR SHOW</a:t>
            </a:r>
          </a:p>
        </p:txBody>
      </p:sp>
      <p:sp>
        <p:nvSpPr>
          <p:cNvPr id="6" name="TextBox 5"/>
          <p:cNvSpPr txBox="1"/>
          <p:nvPr/>
        </p:nvSpPr>
        <p:spPr>
          <a:xfrm>
            <a:off x="457200" y="868680"/>
            <a:ext cx="11247120" cy="365760"/>
          </a:xfrm>
          <a:prstGeom prst="rect">
            <a:avLst/>
          </a:prstGeom>
          <a:noFill/>
        </p:spPr>
        <p:txBody>
          <a:bodyPr wrap="square">
            <a:spAutoFit/>
          </a:bodyPr>
          <a:lstStyle/>
          <a:p>
            <a:pPr algn="ctr"/>
            <a:r>
              <a:rPr sz="1400" b="0" i="0">
                <a:solidFill>
                  <a:srgbClr val="C8C8C8"/>
                </a:solidFill>
                <a:latin typeface="Calibri"/>
              </a:rPr>
              <a:t>El Paso Convention Center</a:t>
            </a:r>
          </a:p>
        </p:txBody>
      </p:sp>
      <p:sp>
        <p:nvSpPr>
          <p:cNvPr id="7" name="TextBox 6"/>
          <p:cNvSpPr txBox="1"/>
          <p:nvPr/>
        </p:nvSpPr>
        <p:spPr>
          <a:xfrm>
            <a:off x="457200" y="1261872"/>
            <a:ext cx="11247120" cy="502920"/>
          </a:xfrm>
          <a:prstGeom prst="rect">
            <a:avLst/>
          </a:prstGeom>
          <a:noFill/>
        </p:spPr>
        <p:txBody>
          <a:bodyPr wrap="square">
            <a:spAutoFit/>
          </a:bodyPr>
          <a:lstStyle/>
          <a:p>
            <a:pPr algn="ctr"/>
            <a:r>
              <a:rPr sz="2200" b="1" i="0">
                <a:solidFill>
                  <a:srgbClr val="FFFFFF"/>
                </a:solidFill>
                <a:latin typeface="Calibri"/>
              </a:rPr>
              <a:t>December 5 - 6, 2026</a:t>
            </a:r>
          </a:p>
        </p:txBody>
      </p:sp>
      <p:sp>
        <p:nvSpPr>
          <p:cNvPr id="8" name="Rectangle 7"/>
          <p:cNvSpPr/>
          <p:nvPr/>
        </p:nvSpPr>
        <p:spPr>
          <a:xfrm>
            <a:off x="457200" y="1920240"/>
            <a:ext cx="11274552" cy="36576"/>
          </a:xfrm>
          <a:prstGeom prst="rect">
            <a:avLst/>
          </a:prstGeom>
          <a:solidFill>
            <a:srgbClr val="55555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457200" y="2084831"/>
            <a:ext cx="11247120" cy="365760"/>
          </a:xfrm>
          <a:prstGeom prst="rect">
            <a:avLst/>
          </a:prstGeom>
          <a:noFill/>
        </p:spPr>
        <p:txBody>
          <a:bodyPr wrap="square">
            <a:spAutoFit/>
          </a:bodyPr>
          <a:lstStyle/>
          <a:p>
            <a:pPr algn="ctr"/>
            <a:r>
              <a:rPr sz="1300" b="1" i="0">
                <a:solidFill>
                  <a:srgbClr val="C89620"/>
                </a:solidFill>
                <a:latin typeface="Calibri"/>
              </a:rPr>
              <a:t>Entry Class: Restoration - American Muscle, Pre-1970</a:t>
            </a:r>
          </a:p>
        </p:txBody>
      </p:sp>
      <p:sp>
        <p:nvSpPr>
          <p:cNvPr id="10" name="Rectangle 9"/>
          <p:cNvSpPr/>
          <p:nvPr/>
        </p:nvSpPr>
        <p:spPr>
          <a:xfrm>
            <a:off x="457200" y="2743200"/>
            <a:ext cx="3566160" cy="1691640"/>
          </a:xfrm>
          <a:prstGeom prst="rect">
            <a:avLst/>
          </a:prstGeom>
          <a:solidFill>
            <a:srgbClr val="1E1E1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457200" y="2743200"/>
            <a:ext cx="3566160" cy="64008"/>
          </a:xfrm>
          <a:prstGeom prst="rect">
            <a:avLst/>
          </a:prstGeom>
          <a:solidFill>
            <a:srgbClr val="E67E2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640080" y="2907792"/>
            <a:ext cx="3200400" cy="347472"/>
          </a:xfrm>
          <a:prstGeom prst="rect">
            <a:avLst/>
          </a:prstGeom>
          <a:noFill/>
        </p:spPr>
        <p:txBody>
          <a:bodyPr wrap="square">
            <a:spAutoFit/>
          </a:bodyPr>
          <a:lstStyle/>
          <a:p>
            <a:pPr algn="l"/>
            <a:r>
              <a:rPr sz="1100" b="1" i="0">
                <a:solidFill>
                  <a:srgbClr val="FFFFFF"/>
                </a:solidFill>
                <a:latin typeface="Calibri"/>
              </a:rPr>
              <a:t>Interior Complete</a:t>
            </a:r>
          </a:p>
        </p:txBody>
      </p:sp>
      <p:sp>
        <p:nvSpPr>
          <p:cNvPr id="13" name="TextBox 12"/>
          <p:cNvSpPr txBox="1"/>
          <p:nvPr/>
        </p:nvSpPr>
        <p:spPr>
          <a:xfrm>
            <a:off x="640080" y="3291840"/>
            <a:ext cx="3200400" cy="914400"/>
          </a:xfrm>
          <a:prstGeom prst="rect">
            <a:avLst/>
          </a:prstGeom>
          <a:noFill/>
        </p:spPr>
        <p:txBody>
          <a:bodyPr wrap="square">
            <a:spAutoFit/>
          </a:bodyPr>
          <a:lstStyle/>
          <a:p>
            <a:pPr algn="l"/>
            <a:r>
              <a:rPr sz="850" b="0" i="0">
                <a:solidFill>
                  <a:srgbClr val="C8C8C8"/>
                </a:solidFill>
                <a:latin typeface="Calibri"/>
              </a:rPr>
              <a:t>Upholstery kit delivered and installed by Reynolds Custom Interiors</a:t>
            </a:r>
          </a:p>
        </p:txBody>
      </p:sp>
      <p:sp>
        <p:nvSpPr>
          <p:cNvPr id="14" name="Rectangle 13"/>
          <p:cNvSpPr/>
          <p:nvPr/>
        </p:nvSpPr>
        <p:spPr>
          <a:xfrm>
            <a:off x="4297680" y="2743200"/>
            <a:ext cx="3566160" cy="1691640"/>
          </a:xfrm>
          <a:prstGeom prst="rect">
            <a:avLst/>
          </a:prstGeom>
          <a:solidFill>
            <a:srgbClr val="1E1E1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4297680" y="2743200"/>
            <a:ext cx="3566160" cy="64008"/>
          </a:xfrm>
          <a:prstGeom prst="rect">
            <a:avLst/>
          </a:prstGeom>
          <a:solidFill>
            <a:srgbClr val="7B0D1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4480560" y="2907792"/>
            <a:ext cx="3200400" cy="347472"/>
          </a:xfrm>
          <a:prstGeom prst="rect">
            <a:avLst/>
          </a:prstGeom>
          <a:noFill/>
        </p:spPr>
        <p:txBody>
          <a:bodyPr wrap="square">
            <a:spAutoFit/>
          </a:bodyPr>
          <a:lstStyle/>
          <a:p>
            <a:pPr algn="l"/>
            <a:r>
              <a:rPr sz="1100" b="1" i="0">
                <a:solidFill>
                  <a:srgbClr val="FFFFFF"/>
                </a:solidFill>
                <a:latin typeface="Calibri"/>
              </a:rPr>
              <a:t>Paint and Clear</a:t>
            </a:r>
          </a:p>
        </p:txBody>
      </p:sp>
      <p:sp>
        <p:nvSpPr>
          <p:cNvPr id="17" name="TextBox 16"/>
          <p:cNvSpPr txBox="1"/>
          <p:nvPr/>
        </p:nvSpPr>
        <p:spPr>
          <a:xfrm>
            <a:off x="4480560" y="3291840"/>
            <a:ext cx="3200400" cy="914400"/>
          </a:xfrm>
          <a:prstGeom prst="rect">
            <a:avLst/>
          </a:prstGeom>
          <a:noFill/>
        </p:spPr>
        <p:txBody>
          <a:bodyPr wrap="square">
            <a:spAutoFit/>
          </a:bodyPr>
          <a:lstStyle/>
          <a:p>
            <a:pPr algn="l"/>
            <a:r>
              <a:rPr sz="850" b="0" i="0">
                <a:solidFill>
                  <a:srgbClr val="C8C8C8"/>
                </a:solidFill>
                <a:latin typeface="Calibri"/>
              </a:rPr>
              <a:t>Desert Sun Auto Body scheduled after body blocking complete</a:t>
            </a:r>
          </a:p>
        </p:txBody>
      </p:sp>
      <p:sp>
        <p:nvSpPr>
          <p:cNvPr id="18" name="Rectangle 17"/>
          <p:cNvSpPr/>
          <p:nvPr/>
        </p:nvSpPr>
        <p:spPr>
          <a:xfrm>
            <a:off x="8138160" y="2743200"/>
            <a:ext cx="3566160" cy="1691640"/>
          </a:xfrm>
          <a:prstGeom prst="rect">
            <a:avLst/>
          </a:prstGeom>
          <a:solidFill>
            <a:srgbClr val="1E1E1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ectangle 18"/>
          <p:cNvSpPr/>
          <p:nvPr/>
        </p:nvSpPr>
        <p:spPr>
          <a:xfrm>
            <a:off x="8138160" y="2743200"/>
            <a:ext cx="3566160" cy="64008"/>
          </a:xfrm>
          <a:prstGeom prst="rect">
            <a:avLst/>
          </a:prstGeom>
          <a:solidFill>
            <a:srgbClr val="C8C8C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8321040" y="2907792"/>
            <a:ext cx="3200400" cy="347472"/>
          </a:xfrm>
          <a:prstGeom prst="rect">
            <a:avLst/>
          </a:prstGeom>
          <a:noFill/>
        </p:spPr>
        <p:txBody>
          <a:bodyPr wrap="square">
            <a:spAutoFit/>
          </a:bodyPr>
          <a:lstStyle/>
          <a:p>
            <a:pPr algn="l"/>
            <a:r>
              <a:rPr sz="1100" b="1" i="0">
                <a:solidFill>
                  <a:srgbClr val="FFFFFF"/>
                </a:solidFill>
                <a:latin typeface="Calibri"/>
              </a:rPr>
              <a:t>Chrome Installed</a:t>
            </a:r>
          </a:p>
        </p:txBody>
      </p:sp>
      <p:sp>
        <p:nvSpPr>
          <p:cNvPr id="21" name="TextBox 20"/>
          <p:cNvSpPr txBox="1"/>
          <p:nvPr/>
        </p:nvSpPr>
        <p:spPr>
          <a:xfrm>
            <a:off x="8321040" y="3291840"/>
            <a:ext cx="3200400" cy="914400"/>
          </a:xfrm>
          <a:prstGeom prst="rect">
            <a:avLst/>
          </a:prstGeom>
          <a:noFill/>
        </p:spPr>
        <p:txBody>
          <a:bodyPr wrap="square">
            <a:spAutoFit/>
          </a:bodyPr>
          <a:lstStyle/>
          <a:p>
            <a:pPr algn="l"/>
            <a:r>
              <a:rPr sz="850" b="0" i="0">
                <a:solidFill>
                  <a:srgbClr val="C8C8C8"/>
                </a:solidFill>
                <a:latin typeface="Calibri"/>
              </a:rPr>
              <a:t>Bumper set fitted and polished on delivery</a:t>
            </a:r>
          </a:p>
        </p:txBody>
      </p:sp>
      <p:sp>
        <p:nvSpPr>
          <p:cNvPr id="22" name="Rectangle 21"/>
          <p:cNvSpPr/>
          <p:nvPr/>
        </p:nvSpPr>
        <p:spPr>
          <a:xfrm>
            <a:off x="457200" y="4663440"/>
            <a:ext cx="3566160" cy="1691640"/>
          </a:xfrm>
          <a:prstGeom prst="rect">
            <a:avLst/>
          </a:prstGeom>
          <a:solidFill>
            <a:srgbClr val="1E1E1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457200" y="4663440"/>
            <a:ext cx="3566160" cy="64008"/>
          </a:xfrm>
          <a:prstGeom prst="rect">
            <a:avLst/>
          </a:prstGeom>
          <a:solidFill>
            <a:srgbClr val="C8962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640080" y="4828031"/>
            <a:ext cx="3200400" cy="347472"/>
          </a:xfrm>
          <a:prstGeom prst="rect">
            <a:avLst/>
          </a:prstGeom>
          <a:noFill/>
        </p:spPr>
        <p:txBody>
          <a:bodyPr wrap="square">
            <a:spAutoFit/>
          </a:bodyPr>
          <a:lstStyle/>
          <a:p>
            <a:pPr algn="l"/>
            <a:r>
              <a:rPr sz="1100" b="1" i="0">
                <a:solidFill>
                  <a:srgbClr val="FFFFFF"/>
                </a:solidFill>
                <a:latin typeface="Calibri"/>
              </a:rPr>
              <a:t>Final Assembly</a:t>
            </a:r>
          </a:p>
        </p:txBody>
      </p:sp>
      <p:sp>
        <p:nvSpPr>
          <p:cNvPr id="25" name="TextBox 24"/>
          <p:cNvSpPr txBox="1"/>
          <p:nvPr/>
        </p:nvSpPr>
        <p:spPr>
          <a:xfrm>
            <a:off x="640080" y="5212079"/>
            <a:ext cx="3200400" cy="914400"/>
          </a:xfrm>
          <a:prstGeom prst="rect">
            <a:avLst/>
          </a:prstGeom>
          <a:noFill/>
        </p:spPr>
        <p:txBody>
          <a:bodyPr wrap="square">
            <a:spAutoFit/>
          </a:bodyPr>
          <a:lstStyle/>
          <a:p>
            <a:pPr algn="l"/>
            <a:r>
              <a:rPr sz="850" b="0" i="0">
                <a:solidFill>
                  <a:srgbClr val="C8C8C8"/>
                </a:solidFill>
                <a:latin typeface="Calibri"/>
              </a:rPr>
              <a:t>All trim, glass, and emblems refitted</a:t>
            </a:r>
          </a:p>
        </p:txBody>
      </p:sp>
      <p:sp>
        <p:nvSpPr>
          <p:cNvPr id="26" name="Rectangle 25"/>
          <p:cNvSpPr/>
          <p:nvPr/>
        </p:nvSpPr>
        <p:spPr>
          <a:xfrm>
            <a:off x="4297680" y="4663440"/>
            <a:ext cx="3566160" cy="1691640"/>
          </a:xfrm>
          <a:prstGeom prst="rect">
            <a:avLst/>
          </a:prstGeom>
          <a:solidFill>
            <a:srgbClr val="1E1E1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Rectangle 26"/>
          <p:cNvSpPr/>
          <p:nvPr/>
        </p:nvSpPr>
        <p:spPr>
          <a:xfrm>
            <a:off x="4297680" y="4663440"/>
            <a:ext cx="3566160" cy="64008"/>
          </a:xfrm>
          <a:prstGeom prst="rect">
            <a:avLst/>
          </a:prstGeom>
          <a:solidFill>
            <a:srgbClr val="1E844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4480560" y="4828031"/>
            <a:ext cx="3200400" cy="347472"/>
          </a:xfrm>
          <a:prstGeom prst="rect">
            <a:avLst/>
          </a:prstGeom>
          <a:noFill/>
        </p:spPr>
        <p:txBody>
          <a:bodyPr wrap="square">
            <a:spAutoFit/>
          </a:bodyPr>
          <a:lstStyle/>
          <a:p>
            <a:pPr algn="l"/>
            <a:r>
              <a:rPr sz="1100" b="1" i="0">
                <a:solidFill>
                  <a:srgbClr val="FFFFFF"/>
                </a:solidFill>
                <a:latin typeface="Calibri"/>
              </a:rPr>
              <a:t>Registration</a:t>
            </a:r>
          </a:p>
        </p:txBody>
      </p:sp>
      <p:sp>
        <p:nvSpPr>
          <p:cNvPr id="29" name="TextBox 28"/>
          <p:cNvSpPr txBox="1"/>
          <p:nvPr/>
        </p:nvSpPr>
        <p:spPr>
          <a:xfrm>
            <a:off x="4480560" y="5212079"/>
            <a:ext cx="3200400" cy="914400"/>
          </a:xfrm>
          <a:prstGeom prst="rect">
            <a:avLst/>
          </a:prstGeom>
          <a:noFill/>
        </p:spPr>
        <p:txBody>
          <a:bodyPr wrap="square">
            <a:spAutoFit/>
          </a:bodyPr>
          <a:lstStyle/>
          <a:p>
            <a:pPr algn="l"/>
            <a:r>
              <a:rPr sz="850" b="0" i="0">
                <a:solidFill>
                  <a:srgbClr val="C8C8C8"/>
                </a:solidFill>
                <a:latin typeface="Calibri"/>
              </a:rPr>
              <a:t>Submit entry form to show organizer - October 2026 deadline</a:t>
            </a:r>
          </a:p>
        </p:txBody>
      </p:sp>
      <p:sp>
        <p:nvSpPr>
          <p:cNvPr id="30" name="Rectangle 29"/>
          <p:cNvSpPr/>
          <p:nvPr/>
        </p:nvSpPr>
        <p:spPr>
          <a:xfrm>
            <a:off x="8138160" y="4663440"/>
            <a:ext cx="3566160" cy="1691640"/>
          </a:xfrm>
          <a:prstGeom prst="rect">
            <a:avLst/>
          </a:prstGeom>
          <a:solidFill>
            <a:srgbClr val="1E1E1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Rectangle 30"/>
          <p:cNvSpPr/>
          <p:nvPr/>
        </p:nvSpPr>
        <p:spPr>
          <a:xfrm>
            <a:off x="8138160" y="4663440"/>
            <a:ext cx="3566160" cy="64008"/>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8321040" y="4828031"/>
            <a:ext cx="3200400" cy="347472"/>
          </a:xfrm>
          <a:prstGeom prst="rect">
            <a:avLst/>
          </a:prstGeom>
          <a:noFill/>
        </p:spPr>
        <p:txBody>
          <a:bodyPr wrap="square">
            <a:spAutoFit/>
          </a:bodyPr>
          <a:lstStyle/>
          <a:p>
            <a:pPr algn="l"/>
            <a:r>
              <a:rPr sz="1100" b="1" i="0">
                <a:solidFill>
                  <a:srgbClr val="FFFFFF"/>
                </a:solidFill>
                <a:latin typeface="Calibri"/>
              </a:rPr>
              <a:t>Road Test</a:t>
            </a:r>
          </a:p>
        </p:txBody>
      </p:sp>
      <p:sp>
        <p:nvSpPr>
          <p:cNvPr id="33" name="TextBox 32"/>
          <p:cNvSpPr txBox="1"/>
          <p:nvPr/>
        </p:nvSpPr>
        <p:spPr>
          <a:xfrm>
            <a:off x="8321040" y="5212079"/>
            <a:ext cx="3200400" cy="914400"/>
          </a:xfrm>
          <a:prstGeom prst="rect">
            <a:avLst/>
          </a:prstGeom>
          <a:noFill/>
        </p:spPr>
        <p:txBody>
          <a:bodyPr wrap="square">
            <a:spAutoFit/>
          </a:bodyPr>
          <a:lstStyle/>
          <a:p>
            <a:pPr algn="l"/>
            <a:r>
              <a:rPr sz="850" b="0" i="0">
                <a:solidFill>
                  <a:srgbClr val="C8C8C8"/>
                </a:solidFill>
                <a:latin typeface="Calibri"/>
              </a:rPr>
              <a:t>Full drive cycle before the trailer load-out</a:t>
            </a:r>
          </a:p>
        </p:txBody>
      </p:sp>
      <p:sp>
        <p:nvSpPr>
          <p:cNvPr id="34" name="TextBox 33"/>
          <p:cNvSpPr txBox="1"/>
          <p:nvPr/>
        </p:nvSpPr>
        <p:spPr>
          <a:xfrm>
            <a:off x="457200" y="6492240"/>
            <a:ext cx="11247120" cy="274320"/>
          </a:xfrm>
          <a:prstGeom prst="rect">
            <a:avLst/>
          </a:prstGeom>
          <a:noFill/>
        </p:spPr>
        <p:txBody>
          <a:bodyPr wrap="square">
            <a:spAutoFit/>
          </a:bodyPr>
          <a:lstStyle/>
          <a:p>
            <a:pPr algn="ctr"/>
            <a:r>
              <a:rPr sz="1000" b="0" i="0">
                <a:solidFill>
                  <a:srgbClr val="C89620"/>
                </a:solidFill>
                <a:latin typeface="Calibri"/>
              </a:rPr>
              <a:t>If it is not right, it does not show. - James Davis</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