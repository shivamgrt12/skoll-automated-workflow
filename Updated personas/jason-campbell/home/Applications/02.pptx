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income</c:v>
                </c:pt>
              </c:strCache>
            </c:strRef>
          </c:tx>
          <c:dPt>
            <c:idx val="0"/>
            <c:spPr>
              <a:solidFill>
                <a:srgbClr val="C9A14A"/>
              </a:solidFill>
            </c:spPr>
          </c:dPt>
          <c:dPt>
            <c:idx val="1"/>
            <c:spPr>
              <a:solidFill>
                <a:srgbClr val="4CC4A8"/>
              </a:solidFill>
            </c:spPr>
          </c:dPt>
          <c:cat>
            <c:strRef>
              <c:f>Sheet1!$A$2:$A$3</c:f>
              <c:strCache>
                <c:ptCount val="2"/>
                <c:pt idx="0">
                  <c:v>Salary and distributions</c:v>
                </c:pt>
                <c:pt idx="1">
                  <c:v>Pharmacist salary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485000</c:v>
                </c:pt>
                <c:pt idx="1">
                  <c:v>128000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>
                  <a:solidFill>
                    <a:srgbClr val="F3EDE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EA2C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EA2C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0F1D33"/>
              </a:solidFill>
            </c:spPr>
          </c:dPt>
          <c:dPt>
            <c:idx val="1"/>
            <c:spPr>
              <a:solidFill>
                <a:srgbClr val="C9A14A"/>
              </a:solidFill>
            </c:spPr>
          </c:dPt>
          <c:dPt>
            <c:idx val="2"/>
            <c:spPr>
              <a:solidFill>
                <a:srgbClr val="4CC4A8"/>
              </a:solidFill>
            </c:spPr>
          </c:dPt>
          <c:dPt>
            <c:idx val="3"/>
            <c:spPr>
              <a:solidFill>
                <a:srgbClr val="C0563F"/>
              </a:solidFill>
            </c:spPr>
          </c:dPt>
          <c:dPt>
            <c:idx val="4"/>
            <c:spPr>
              <a:solidFill>
                <a:srgbClr val="3F7FB0"/>
              </a:solidFill>
            </c:spPr>
          </c:dPt>
          <c:dPt>
            <c:idx val="5"/>
            <c:spPr>
              <a:solidFill>
                <a:srgbClr val="9AA6BD"/>
              </a:solidFill>
            </c:spPr>
          </c:dPt>
          <c:cat>
            <c:strRef>
              <c:f>Sheet1!$A$2:$A$7</c:f>
              <c:strCache>
                <c:ptCount val="6"/>
                <c:pt idx="0">
                  <c:v>Mortgage</c:v>
                </c:pt>
                <c:pt idx="1">
                  <c:v>Education</c:v>
                </c:pt>
                <c:pt idx="2">
                  <c:v>Auto</c:v>
                </c:pt>
                <c:pt idx="3">
                  <c:v>Lifestyle</c:v>
                </c:pt>
                <c:pt idx="4">
                  <c:v>Savings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3800</c:v>
                </c:pt>
                <c:pt idx="1">
                  <c:v>3867</c:v>
                </c:pt>
                <c:pt idx="2">
                  <c:v>850</c:v>
                </c:pt>
                <c:pt idx="3">
                  <c:v>1550</c:v>
                </c:pt>
                <c:pt idx="4">
                  <c:v>1500</c:v>
                </c:pt>
                <c:pt idx="5">
                  <c:v>2730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0F1D33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value</c:v>
                </c:pt>
              </c:strCache>
            </c:strRef>
          </c:tx>
          <c:dPt>
            <c:idx val="0"/>
            <c:spPr>
              <a:solidFill>
                <a:srgbClr val="C9A14A"/>
              </a:solidFill>
            </c:spPr>
          </c:dPt>
          <c:dPt>
            <c:idx val="1"/>
            <c:spPr>
              <a:solidFill>
                <a:srgbClr val="D9BF78"/>
              </a:solidFill>
            </c:spPr>
          </c:dPt>
          <c:dPt>
            <c:idx val="2"/>
            <c:spPr>
              <a:solidFill>
                <a:srgbClr val="4CC4A8"/>
              </a:solidFill>
            </c:spPr>
          </c:dPt>
          <c:dPt>
            <c:idx val="3"/>
            <c:spPr>
              <a:solidFill>
                <a:srgbClr val="7FCDB8"/>
              </a:solidFill>
            </c:spPr>
          </c:dPt>
          <c:dPt>
            <c:idx val="4"/>
            <c:spPr>
              <a:solidFill>
                <a:srgbClr val="5B6F93"/>
              </a:solidFill>
            </c:spPr>
          </c:dPt>
          <c:cat>
            <c:strRef>
              <c:f>Sheet1!$A$2:$A$6</c:f>
              <c:strCache>
                <c:ptCount val="5"/>
                <c:pt idx="0">
                  <c:v>US equity</c:v>
                </c:pt>
                <c:pt idx="1">
                  <c:v>Intl equity</c:v>
                </c:pt>
                <c:pt idx="2">
                  <c:v>US bonds</c:v>
                </c:pt>
                <c:pt idx="3">
                  <c:v>Intl bonds</c:v>
                </c:pt>
                <c:pt idx="4">
                  <c:v>Cash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468000</c:v>
                </c:pt>
                <c:pt idx="1">
                  <c:v>312000</c:v>
                </c:pt>
                <c:pt idx="2">
                  <c:v>265000</c:v>
                </c:pt>
                <c:pt idx="3">
                  <c:v>98000</c:v>
                </c:pt>
                <c:pt idx="4">
                  <c:v>69000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0F1D33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>
              <a:solidFill>
                <a:srgbClr val="DFE6F2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ln w="31750">
              <a:solidFill>
                <a:srgbClr val="0F1D33"/>
              </a:solidFill>
            </a:ln>
          </c:spPr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2030</c:v>
                </c:pt>
                <c:pt idx="2">
                  <c:v>2034</c:v>
                </c:pt>
                <c:pt idx="3">
                  <c:v>2038</c:v>
                </c:pt>
                <c:pt idx="4">
                  <c:v>2042</c:v>
                </c:pt>
                <c:pt idx="5">
                  <c:v>2044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548910</c:v>
                </c:pt>
                <c:pt idx="1">
                  <c:v>430000</c:v>
                </c:pt>
                <c:pt idx="2">
                  <c:v>300000</c:v>
                </c:pt>
                <c:pt idx="3">
                  <c:v>160000</c:v>
                </c:pt>
                <c:pt idx="4">
                  <c:v>40000</c:v>
                </c:pt>
                <c:pt idx="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B75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B75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Box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Box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Box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Box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Box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Box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Box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Box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Box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Box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Box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Box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Box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Box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Box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Box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Box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Box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Box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Box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Box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Box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Box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Box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Box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Box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Box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Box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Box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Box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Box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Box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ox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Box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6415" cy="6858000"/>
          </a:xfrm>
          <a:prstGeom prst="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4023360"/>
            <a:ext cx="4236415" cy="31773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737360"/>
            <a:ext cx="6858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3EDE0"/>
                </a:solidFill>
                <a:latin typeface="Calibri"/>
              </a:rPr>
              <a:t>Household Financial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C9A14A"/>
                </a:solidFill>
                <a:latin typeface="Calibri"/>
              </a:rPr>
              <a:t>Campbell Family, FY2026 Working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7472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8EA2C0"/>
                </a:solidFill>
                <a:latin typeface="Calibri"/>
              </a:rPr>
              <a:t>Prepared February 2026  |  San Jose neighborhood, Jacksonville, FL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120640"/>
            <a:ext cx="2194560" cy="457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EA2C0"/>
                </a:solidFill>
                <a:latin typeface="Calibri"/>
              </a:rPr>
              <a:t>Confidential. For Jason and Karen Campbell and the household CPA only.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3EDE0"/>
                </a:solidFill>
                <a:latin typeface="Calibri"/>
              </a:rPr>
              <a:t>Income and Net Worth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2926080" cy="457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651760" cy="1371600"/>
          </a:xfrm>
          <a:prstGeom prst="round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EA2C0"/>
                </a:solidFill>
                <a:latin typeface="Calibri"/>
              </a:rPr>
              <a:t>Household gross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C9A14A"/>
                </a:solidFill>
                <a:latin typeface="Calibri"/>
              </a:rPr>
              <a:t>$613,000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DFE6F2"/>
                </a:solidFill>
                <a:latin typeface="Calibri"/>
              </a:rPr>
              <a:t>Annual, two earners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325880"/>
            <a:ext cx="2651760" cy="1371600"/>
          </a:xfrm>
          <a:prstGeom prst="round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4630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EA2C0"/>
                </a:solidFill>
                <a:latin typeface="Calibri"/>
              </a:rPr>
              <a:t>Investment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81051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C9A14A"/>
                </a:solidFill>
                <a:latin typeface="Calibri"/>
              </a:rPr>
              <a:t>$1,212,000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3317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DFE6F2"/>
                </a:solidFill>
                <a:latin typeface="Calibri"/>
              </a:rPr>
              <a:t>Taxable, 70 to 30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325880"/>
            <a:ext cx="2651760" cy="1371600"/>
          </a:xfrm>
          <a:prstGeom prst="round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4630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EA2C0"/>
                </a:solidFill>
                <a:latin typeface="Calibri"/>
              </a:rPr>
              <a:t>Emergency fund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1051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C9A14A"/>
                </a:solidFill>
                <a:latin typeface="Calibri"/>
              </a:rPr>
              <a:t>$96,000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3317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DFE6F2"/>
                </a:solidFill>
                <a:latin typeface="Calibri"/>
              </a:rPr>
              <a:t>8 months, 4.1% APY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325880"/>
            <a:ext cx="2651760" cy="1371600"/>
          </a:xfrm>
          <a:prstGeom prst="round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14630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EA2C0"/>
                </a:solidFill>
                <a:latin typeface="Calibri"/>
              </a:rPr>
              <a:t>Partnership equity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181051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C9A14A"/>
                </a:solidFill>
                <a:latin typeface="Calibri"/>
              </a:rPr>
              <a:t>$380,000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3317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DFE6F2"/>
                </a:solidFill>
                <a:latin typeface="Calibri"/>
              </a:rPr>
              <a:t>Vested practice stake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40080" y="3017520"/>
          <a:ext cx="54864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" y="27889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DFE6F2"/>
                </a:solidFill>
                <a:latin typeface="Calibri"/>
              </a:rPr>
              <a:t>Annual income by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889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DFE6F2"/>
                </a:solidFill>
                <a:latin typeface="Calibri"/>
              </a:rPr>
              <a:t>Monthly outflow vs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5468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DFE6F2"/>
                </a:solidFill>
                <a:latin typeface="Calibri"/>
              </a:rPr>
              <a:t>Planned monthly expenses total $14,297. February actuals came in at $14,288, a favorable variance of $9. The budget runs with practiced precision.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572000"/>
            <a:ext cx="4937760" cy="237744"/>
          </a:xfrm>
          <a:prstGeom prst="round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4572000"/>
            <a:ext cx="4932822" cy="237744"/>
          </a:xfrm>
          <a:prstGeom prst="roundRect">
            <a:avLst/>
          </a:prstGeom>
          <a:solidFill>
            <a:srgbClr val="4CC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Mortgage, on 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2976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4CC4A8"/>
                </a:solidFill>
                <a:latin typeface="Calibri"/>
              </a:rPr>
              <a:t>100%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5212080"/>
            <a:ext cx="4937760" cy="237744"/>
          </a:xfrm>
          <a:prstGeom prst="round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5212080"/>
            <a:ext cx="4937760" cy="237744"/>
          </a:xfrm>
          <a:prstGeom prst="round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93776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Education funding, on schedule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4937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C9A14A"/>
                </a:solidFill>
                <a:latin typeface="Calibri"/>
              </a:rPr>
              <a:t>100%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5852160"/>
            <a:ext cx="4937760" cy="237744"/>
          </a:xfrm>
          <a:prstGeom prst="round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92240" y="5852160"/>
            <a:ext cx="4937760" cy="237744"/>
          </a:xfrm>
          <a:prstGeom prst="roundRect">
            <a:avLst/>
          </a:prstGeom>
          <a:solidFill>
            <a:srgbClr val="4CC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57784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Emergency fund contribution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55778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4CC4A8"/>
                </a:solidFill>
                <a:latin typeface="Calibri"/>
              </a:rPr>
              <a:t>100%</a:t>
            </a:r>
          </a:p>
        </p:txBody>
      </p:sp>
    </p:spTree>
  </p:cSld>
  <p:transition spd="med">
    <p:push dir="l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D33"/>
                </a:solidFill>
                <a:latin typeface="Calibri"/>
              </a:rPr>
              <a:t>Monthly Budget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2926080" cy="457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5486400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1280160"/>
                <a:gridCol w="1280160"/>
              </a:tblGrid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3EDE0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54864" marT="27432" marB="27432">
                    <a:solidFill>
                      <a:srgbClr val="0F1D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3EDE0"/>
                          </a:solidFill>
                          <a:latin typeface="Calibri"/>
                        </a:rPr>
                        <a:t>Budgeted</a:t>
                      </a:r>
                    </a:p>
                  </a:txBody>
                  <a:tcPr marL="73152" marR="54864" marT="27432" marB="27432">
                    <a:solidFill>
                      <a:srgbClr val="0F1D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3EDE0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73152" marR="54864" marT="27432" marB="27432">
                    <a:solidFill>
                      <a:srgbClr val="0F1D33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Mortgage, P&amp;I and escrow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3,800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3,800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Kyle, med school balance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2,667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2,667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Emily, university stipend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Groceries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1,100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1,072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Auto loan, electric sedan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850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850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Charitable and church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Dining out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545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Country club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Emergency fund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Totals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14,297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F1D33"/>
                          </a:solidFill>
                          <a:latin typeface="Calibri"/>
                        </a:rPr>
                        <a:t>14,288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92240" y="1371600"/>
          <a:ext cx="5029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56692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F1D33"/>
                </a:solidFill>
                <a:latin typeface="Calibri"/>
              </a:rPr>
              <a:t>Monthly outflow by major area</a:t>
            </a:r>
          </a:p>
        </p:txBody>
      </p:sp>
    </p:spTree>
  </p:cSld>
  <p:transition spd="med">
    <p:wipe dir="r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3EDE0"/>
                </a:solidFill>
                <a:latin typeface="Calibri"/>
              </a:rPr>
              <a:t>Investment 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2926080" cy="457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51206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258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FE6F2"/>
                </a:solidFill>
                <a:latin typeface="Calibri"/>
              </a:rPr>
              <a:t>Rebalance tolerance bands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5029200" cy="237744"/>
          </a:xfrm>
          <a:prstGeom prst="round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3218688" cy="237744"/>
          </a:xfrm>
          <a:prstGeom prst="round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US equity, 64.4%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17373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C9A14A"/>
                </a:solidFill>
                <a:latin typeface="Calibri"/>
              </a:rPr>
              <a:t>64%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24912"/>
            <a:ext cx="5029200" cy="237744"/>
          </a:xfrm>
          <a:prstGeom prst="round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724912"/>
            <a:ext cx="1307592" cy="237744"/>
          </a:xfrm>
          <a:prstGeom prst="roundRect">
            <a:avLst/>
          </a:prstGeom>
          <a:solidFill>
            <a:srgbClr val="D9B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5059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Intl equity, 25.7%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4505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D9BF78"/>
                </a:solidFill>
                <a:latin typeface="Calibri"/>
              </a:rPr>
              <a:t>26%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38144"/>
            <a:ext cx="5029200" cy="237744"/>
          </a:xfrm>
          <a:prstGeom prst="round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3438144"/>
            <a:ext cx="1106424" cy="237744"/>
          </a:xfrm>
          <a:prstGeom prst="roundRect">
            <a:avLst/>
          </a:prstGeom>
          <a:solidFill>
            <a:srgbClr val="4CC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63824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US bonds, 21.9%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163824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4CC4A8"/>
                </a:solidFill>
                <a:latin typeface="Calibri"/>
              </a:rPr>
              <a:t>22%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51376"/>
            <a:ext cx="5029200" cy="237744"/>
          </a:xfrm>
          <a:prstGeom prst="round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4151376"/>
            <a:ext cx="402336" cy="237744"/>
          </a:xfrm>
          <a:prstGeom prst="roundRect">
            <a:avLst/>
          </a:prstGeom>
          <a:solidFill>
            <a:srgbClr val="7F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87705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Intl bonds, 8.1%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87705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7FCDB8"/>
                </a:solidFill>
                <a:latin typeface="Calibri"/>
              </a:rPr>
              <a:t>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864608"/>
            <a:ext cx="5029200" cy="237744"/>
          </a:xfrm>
          <a:prstGeom prst="round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4864608"/>
            <a:ext cx="301752" cy="237744"/>
          </a:xfrm>
          <a:prstGeom prst="roundRect">
            <a:avLst/>
          </a:prstGeom>
          <a:solidFill>
            <a:srgbClr val="5B6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59028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Cash, 5.7%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59028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5B6F93"/>
                </a:solidFill>
                <a:latin typeface="Calibri"/>
              </a:rPr>
              <a:t>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7607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EA2C0"/>
                </a:solidFill>
                <a:latin typeface="Calibri"/>
              </a:rPr>
              <a:t>Portfolio total $1,212,000. Target mix 70 equity to 30 fixed, within tolerance.</a:t>
            </a:r>
          </a:p>
        </p:txBody>
      </p:sp>
    </p:spTree>
  </p:cSld>
  <p:transition spd="med">
    <p:push dir="l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1D33"/>
                </a:solidFill>
                <a:latin typeface="Calibri"/>
              </a:rPr>
              <a:t>Education Funding and Debt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2926080" cy="4572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1D33"/>
                </a:solidFill>
                <a:latin typeface="Calibri"/>
              </a:rPr>
              <a:t>529 college savings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12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F1D33"/>
                </a:solidFill>
                <a:latin typeface="Calibri"/>
              </a:rPr>
              <a:t>Kyle, drawn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4CC4A8"/>
                </a:solidFill>
                <a:latin typeface="Calibri"/>
              </a:rPr>
              <a:t>$85,000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F1D33"/>
                </a:solidFill>
                <a:latin typeface="Calibri"/>
              </a:rPr>
              <a:t>Emily, accumulating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94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C0563F"/>
                </a:solidFill>
                <a:latin typeface="Calibri"/>
              </a:rPr>
              <a:t>$120,000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1D33"/>
                </a:solidFill>
                <a:latin typeface="Calibri"/>
              </a:rPr>
              <a:t>Key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404F"/>
                </a:solidFill>
                <a:latin typeface="Calibri"/>
              </a:rPr>
              <a:t>•  Student loans fully paid off in 2021, a point of pride.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776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404F"/>
                </a:solidFill>
                <a:latin typeface="Calibri"/>
              </a:rPr>
              <a:t>•  Mortgage 3.2% fixed, 18 years remaining, balance $548,910.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404F"/>
                </a:solidFill>
                <a:latin typeface="Calibri"/>
              </a:rPr>
              <a:t>•  Kyle med school covered at $2,667 monthly after scholarship.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3404F"/>
                </a:solidFill>
                <a:latin typeface="Calibri"/>
              </a:rPr>
              <a:t>•  Emily living stipend $1,200 monthly, tuition by Bright Futures.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400800" y="1463040"/>
          <a:ext cx="51206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0" y="57150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D33"/>
                </a:solidFill>
                <a:latin typeface="Calibri"/>
              </a:rPr>
              <a:t>Projected mortgage payoff, on a steady amortization</a:t>
            </a:r>
          </a:p>
        </p:txBody>
      </p:sp>
    </p:spTree>
  </p:cSld>
  <p:transition spd="med">
    <p:wipe dir="r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280160"/>
          </a:xfrm>
          <a:prstGeom prst="rect">
            <a:avLst/>
          </a:prstGeom>
          <a:solidFill>
            <a:srgbClr val="15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9A14A"/>
                </a:solidFill>
                <a:latin typeface="Calibri"/>
              </a:rPr>
              <a:t>Disciplined, funded, and on track.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DFE6F2"/>
                </a:solidFill>
                <a:latin typeface="Calibri"/>
              </a:rPr>
              <a:t>Next review on the first of the month with Karen. Flag anything above the $500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EA2C0"/>
                </a:solidFill>
                <a:latin typeface="Calibri"/>
              </a:rPr>
              <a:t>Household Financial Review  |  Prepared February 2026</a:t>
            </a:r>
          </a:p>
        </p:txBody>
      </p:sp>
    </p:spTree>
  </p:cSld>
  <p:transition spd="med">
    <p:cover dir="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2026-02-20T09:00:00Z</dcterms:created>
  <dcterms:modified xsi:type="dcterms:W3CDTF">2026-02-20T09:00:00Z</dcterms:modified>
  <cp:category/>
</cp:coreProperties>
</file>