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Plate</c:v>
                </c:pt>
              </c:strCache>
            </c:strRef>
          </c:tx>
          <c:dPt>
            <c:idx val="0"/>
            <c:spPr>
              <a:solidFill>
                <a:srgbClr val="3F8A63"/>
              </a:solidFill>
            </c:spPr>
          </c:dPt>
          <c:dPt>
            <c:idx val="1"/>
            <c:spPr>
              <a:solidFill>
                <a:srgbClr val="D2694A"/>
              </a:solidFill>
            </c:spPr>
          </c:dPt>
          <c:dPt>
            <c:idx val="2"/>
            <c:spPr>
              <a:solidFill>
                <a:srgbClr val="C08A3E"/>
              </a:solidFill>
            </c:spPr>
          </c:dPt>
          <c:dPt>
            <c:idx val="3"/>
            <c:spPr>
              <a:solidFill>
                <a:srgbClr val="7FAE8C"/>
              </a:solidFill>
            </c:spPr>
          </c:dPt>
          <c:cat>
            <c:strRef>
              <c:f>Sheet1!$A$2:$A$5</c:f>
              <c:strCache>
                <c:ptCount val="4"/>
                <c:pt idx="0">
                  <c:v>Vegetables</c:v>
                </c:pt>
                <c:pt idx="1">
                  <c:v>Lean protein</c:v>
                </c:pt>
                <c:pt idx="2">
                  <c:v>Whole grains</c:v>
                </c:pt>
                <c:pt idx="3">
                  <c:v>Healthy fats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25</c:v>
                </c:pt>
                <c:pt idx="2">
                  <c:v>18</c:v>
                </c:pt>
                <c:pt idx="3">
                  <c:v>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24332B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Active minutes</c:v>
                </c:pt>
              </c:strCache>
            </c:strRef>
          </c:tx>
          <c:spPr>
            <a:solidFill>
              <a:srgbClr val="3F8A63"/>
            </a:solidFill>
          </c:spP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</c:v>
                </c:pt>
                <c:pt idx="1">
                  <c:v>75</c:v>
                </c:pt>
                <c:pt idx="2">
                  <c:v>26</c:v>
                </c:pt>
                <c:pt idx="3">
                  <c:v>75</c:v>
                </c:pt>
                <c:pt idx="4">
                  <c:v>28</c:v>
                </c:pt>
                <c:pt idx="5">
                  <c:v>95</c:v>
                </c:pt>
                <c:pt idx="6">
                  <c:v>40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2F6F4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D7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D7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 systolic</c:v>
                </c:pt>
              </c:strCache>
            </c:strRef>
          </c:tx>
          <c:spPr>
            <a:ln w="27940">
              <a:solidFill>
                <a:srgbClr val="3F8A63"/>
              </a:solidFill>
            </a:ln>
          </c:spPr>
          <c:cat>
            <c:strRef>
              <c:f>Sheet1!$A$2:$A$9</c:f>
              <c:strCache>
                <c:ptCount val="8"/>
                <c:pt idx="0">
                  <c:v>Feb 9</c:v>
                </c:pt>
                <c:pt idx="1">
                  <c:v>Feb 10</c:v>
                </c:pt>
                <c:pt idx="2">
                  <c:v>Feb 11</c:v>
                </c:pt>
                <c:pt idx="3">
                  <c:v>Feb 12</c:v>
                </c:pt>
                <c:pt idx="4">
                  <c:v>Feb 13</c:v>
                </c:pt>
                <c:pt idx="5">
                  <c:v>Feb 14</c:v>
                </c:pt>
                <c:pt idx="6">
                  <c:v>Feb 15</c:v>
                </c:pt>
                <c:pt idx="7">
                  <c:v>Feb 16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118</c:v>
                </c:pt>
                <c:pt idx="1">
                  <c:v>121</c:v>
                </c:pt>
                <c:pt idx="2">
                  <c:v>134</c:v>
                </c:pt>
                <c:pt idx="3">
                  <c:v>119</c:v>
                </c:pt>
                <c:pt idx="4">
                  <c:v>122</c:v>
                </c:pt>
                <c:pt idx="5">
                  <c:v>116</c:v>
                </c:pt>
                <c:pt idx="6">
                  <c:v>142</c:v>
                </c:pt>
                <c:pt idx="7">
                  <c:v>127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PM systolic</c:v>
                </c:pt>
              </c:strCache>
            </c:strRef>
          </c:tx>
          <c:spPr>
            <a:ln w="27940">
              <a:solidFill>
                <a:srgbClr val="D2694A"/>
              </a:solidFill>
            </a:ln>
          </c:spPr>
          <c:cat>
            <c:strRef>
              <c:f>Sheet1!$A$2:$A$9</c:f>
              <c:strCache>
                <c:ptCount val="8"/>
                <c:pt idx="0">
                  <c:v>Feb 9</c:v>
                </c:pt>
                <c:pt idx="1">
                  <c:v>Feb 10</c:v>
                </c:pt>
                <c:pt idx="2">
                  <c:v>Feb 11</c:v>
                </c:pt>
                <c:pt idx="3">
                  <c:v>Feb 12</c:v>
                </c:pt>
                <c:pt idx="4">
                  <c:v>Feb 13</c:v>
                </c:pt>
                <c:pt idx="5">
                  <c:v>Feb 14</c:v>
                </c:pt>
                <c:pt idx="6">
                  <c:v>Feb 15</c:v>
                </c:pt>
                <c:pt idx="7">
                  <c:v>Feb 16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123</c:v>
                </c:pt>
                <c:pt idx="1">
                  <c:v>128</c:v>
                </c:pt>
                <c:pt idx="2">
                  <c:v>139</c:v>
                </c:pt>
                <c:pt idx="3">
                  <c:v>124</c:v>
                </c:pt>
                <c:pt idx="4">
                  <c:v>130</c:v>
                </c:pt>
                <c:pt idx="5">
                  <c:v>121</c:v>
                </c:pt>
                <c:pt idx="6">
                  <c:v>145</c:v>
                </c:pt>
                <c:pt idx="7">
                  <c:v>131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D72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D72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24332B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Box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Box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Box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Box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Box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Box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Box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Box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Box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Box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Box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Box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Box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Box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Box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Box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Box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Box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Box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Box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Box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Box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Box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Box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Box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Box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Box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Box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Box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Box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Box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Box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Box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Box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Box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Box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Box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Box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Box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Box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Box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Box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Box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Box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Box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Box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Box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ox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Box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Box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Box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Box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Heart-Healthy Living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554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8EADF"/>
                </a:solidFill>
                <a:latin typeface="Calibri"/>
              </a:rPr>
              <a:t>A family working guide, lead by example</a:t>
            </a:r>
          </a:p>
        </p:txBody>
      </p:sp>
      <p:pic>
        <p:nvPicPr>
          <p:cNvPr id="6" name="Picture 5" descr="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834640"/>
            <a:ext cx="3657600" cy="24374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80960" y="2834640"/>
            <a:ext cx="3657600" cy="54864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6400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4332B"/>
                </a:solidFill>
                <a:latin typeface="Calibri"/>
              </a:rPr>
              <a:t>Grilled lean proteins, plenty of vegetables, whole grains, and minimal processed sugar. The Saturday brisket stays in the plan, in moderation. What gets modeled at home gets followed.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D72"/>
                </a:solidFill>
                <a:latin typeface="Calibri"/>
              </a:rPr>
              <a:t>Prepared February 2026, San Jose neighborhood, Jacksonville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F6F4F"/>
                </a:solidFill>
                <a:latin typeface="Calibri"/>
              </a:rPr>
              <a:t>Daily Anchors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2743200" cy="4572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669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46304" cy="749808"/>
          </a:xfrm>
          <a:prstGeom prst="rect">
            <a:avLst/>
          </a:prstGeom>
          <a:solidFill>
            <a:srgbClr val="3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6F4F"/>
                </a:solidFill>
                <a:latin typeface="Calibri"/>
              </a:rPr>
              <a:t>Coffee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444752"/>
            <a:ext cx="39319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4332B"/>
                </a:solidFill>
                <a:latin typeface="Calibri"/>
              </a:rPr>
              <a:t>Two cups of black French-press coffee before 7 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12848"/>
            <a:ext cx="5669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12848"/>
            <a:ext cx="146304" cy="749808"/>
          </a:xfrm>
          <a:prstGeom prst="rect">
            <a:avLst/>
          </a:prstGeom>
          <a:solidFill>
            <a:srgbClr val="3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6F4F"/>
                </a:solidFill>
                <a:latin typeface="Calibri"/>
              </a:rPr>
              <a:t>Protein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86000"/>
            <a:ext cx="39319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4332B"/>
                </a:solidFill>
                <a:latin typeface="Calibri"/>
              </a:rPr>
              <a:t>Lean protein each meal, fish at least twice weekly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54096"/>
            <a:ext cx="5669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054096"/>
            <a:ext cx="146304" cy="749808"/>
          </a:xfrm>
          <a:prstGeom prst="rect">
            <a:avLst/>
          </a:prstGeom>
          <a:solidFill>
            <a:srgbClr val="3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4553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6F4F"/>
                </a:solidFill>
                <a:latin typeface="Calibri"/>
              </a:rPr>
              <a:t>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127248"/>
            <a:ext cx="39319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4332B"/>
                </a:solidFill>
                <a:latin typeface="Calibri"/>
              </a:rPr>
              <a:t>Half the plate vegetables, whole grains over refined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95344"/>
            <a:ext cx="5669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895344"/>
            <a:ext cx="146304" cy="749808"/>
          </a:xfrm>
          <a:prstGeom prst="rect">
            <a:avLst/>
          </a:prstGeom>
          <a:solidFill>
            <a:srgbClr val="3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8678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6F4F"/>
                </a:solidFill>
                <a:latin typeface="Calibri"/>
              </a:rPr>
              <a:t>Supplements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968496"/>
            <a:ext cx="39319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4332B"/>
                </a:solidFill>
                <a:latin typeface="Calibri"/>
              </a:rPr>
              <a:t>Omega-3, vitamin D, CoQ10 daily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920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F4F"/>
                </a:solidFill>
                <a:latin typeface="Calibri"/>
              </a:rPr>
              <a:t>Weekly adherence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40680"/>
            <a:ext cx="5486400" cy="237744"/>
          </a:xfrm>
          <a:prstGeom prst="roundRect">
            <a:avLst/>
          </a:prstGeom>
          <a:solidFill>
            <a:srgbClr val="D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5440680"/>
            <a:ext cx="5486400" cy="237744"/>
          </a:xfrm>
          <a:prstGeom prst="roundRect">
            <a:avLst/>
          </a:prstGeom>
          <a:solidFill>
            <a:srgbClr val="3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663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4332B"/>
                </a:solidFill>
                <a:latin typeface="Calibri"/>
              </a:rPr>
              <a:t>Fish at least twice weekly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1663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F8A63"/>
                </a:solidFill>
                <a:latin typeface="Calibri"/>
              </a:rPr>
              <a:t>100%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989320"/>
            <a:ext cx="5486400" cy="237744"/>
          </a:xfrm>
          <a:prstGeom prst="roundRect">
            <a:avLst/>
          </a:prstGeom>
          <a:solidFill>
            <a:srgbClr val="D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5989320"/>
            <a:ext cx="4937760" cy="237744"/>
          </a:xfrm>
          <a:prstGeom prst="round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4332B"/>
                </a:solidFill>
                <a:latin typeface="Calibri"/>
              </a:rPr>
              <a:t>Half plate vegetables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7150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C08A3E"/>
                </a:solidFill>
                <a:latin typeface="Calibri"/>
              </a:rPr>
              <a:t>90%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675120" y="1371600"/>
          <a:ext cx="48463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675120" y="54406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F6F4F"/>
                </a:solidFill>
                <a:latin typeface="Calibri"/>
              </a:rPr>
              <a:t>The plate model I follow and teach</a:t>
            </a:r>
          </a:p>
        </p:txBody>
      </p:sp>
    </p:spTree>
  </p:cSld>
  <p:transition spd="med">
    <p:wipe dir="r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F6F4F"/>
                </a:solidFill>
                <a:latin typeface="Calibri"/>
              </a:rPr>
              <a:t>Weekly Movement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2743200" cy="4572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41732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1206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6F4F"/>
                </a:solidFill>
                <a:latin typeface="Calibri"/>
              </a:rPr>
              <a:t>Active minutes by day, running and tennis combined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6400800" cy="237744"/>
          </a:xfrm>
          <a:prstGeom prst="roundRect">
            <a:avLst/>
          </a:prstGeom>
          <a:solidFill>
            <a:srgbClr val="D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5897880"/>
            <a:ext cx="6400800" cy="237744"/>
          </a:xfrm>
          <a:prstGeom prst="roundRect">
            <a:avLst/>
          </a:prstGeom>
          <a:solidFill>
            <a:srgbClr val="3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4332B"/>
                </a:solidFill>
                <a:latin typeface="Calibri"/>
              </a:rPr>
              <a:t>Weekly goal, six training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6235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F8A63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37160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6F4F"/>
                </a:solidFill>
                <a:latin typeface="Calibri"/>
              </a:rPr>
              <a:t>Tennis ladder, men 4.0 singles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0" y="1828800"/>
          <a:ext cx="420624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201168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73152" marR="54864" marT="27432" marB="27432">
                    <a:solidFill>
                      <a:srgbClr val="2F6F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Player</a:t>
                      </a:r>
                    </a:p>
                  </a:txBody>
                  <a:tcPr marL="73152" marR="54864" marT="27432" marB="27432">
                    <a:solidFill>
                      <a:srgbClr val="2F6F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Record</a:t>
                      </a:r>
                    </a:p>
                  </a:txBody>
                  <a:tcPr marL="73152" marR="54864" marT="27432" marB="27432">
                    <a:solidFill>
                      <a:srgbClr val="2F6F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M. Osei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9-2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J. Campbell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8-3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R. Calderon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7-4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T. Brandt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6-4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D. Reyes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5-5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315200" y="4572000"/>
            <a:ext cx="42062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470916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6F4F"/>
                </a:solidFill>
                <a:latin typeface="Calibri"/>
              </a:rPr>
              <a:t>Three runs, three tennis mornings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5120640"/>
            <a:ext cx="3840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332B"/>
                </a:solidFill>
                <a:latin typeface="Calibri"/>
              </a:rPr>
              <a:t>Monday, Wednesday, Friday on the river. Tuesday, Thursday, Saturday on court. Careful on overhead serves.</a:t>
            </a:r>
          </a:p>
        </p:txBody>
      </p:sp>
    </p:spTree>
  </p:cSld>
  <p:transition spd="med">
    <p:push dir="l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Numbers That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2743200" cy="4572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651760" cy="1280160"/>
          </a:xfrm>
          <a:prstGeom prst="roundRect">
            <a:avLst/>
          </a:prstGeom>
          <a:solidFill>
            <a:srgbClr val="3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8EADF"/>
                </a:solidFill>
                <a:latin typeface="Calibri"/>
              </a:rPr>
              <a:t>Resting 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58 bpm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325880"/>
            <a:ext cx="2651760" cy="1280160"/>
          </a:xfrm>
          <a:prstGeom prst="roundRect">
            <a:avLst/>
          </a:prstGeom>
          <a:solidFill>
            <a:srgbClr val="3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44475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8EADF"/>
                </a:solidFill>
                <a:latin typeface="Calibri"/>
              </a:rPr>
              <a:t>Blood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1810512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118 / 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325880"/>
            <a:ext cx="2651760" cy="1280160"/>
          </a:xfrm>
          <a:prstGeom prst="roundRect">
            <a:avLst/>
          </a:prstGeom>
          <a:solidFill>
            <a:srgbClr val="3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44475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8EADF"/>
                </a:solidFill>
                <a:latin typeface="Calibri"/>
              </a:rPr>
              <a:t>Total cholesterol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810512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172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1976" y="1325880"/>
            <a:ext cx="2651760" cy="1280160"/>
          </a:xfrm>
          <a:prstGeom prst="roundRect">
            <a:avLst/>
          </a:prstGeom>
          <a:solidFill>
            <a:srgbClr val="3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34856" y="144475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8EADF"/>
                </a:solidFill>
                <a:latin typeface="Calibri"/>
              </a:rPr>
              <a:t>Hemoglobin A1c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856" y="1810512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5.2%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" y="2926080"/>
          <a:ext cx="566928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645920"/>
                <a:gridCol w="1645920"/>
              </a:tblGrid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73152" marR="54864" marT="27432" marB="27432">
                    <a:solidFill>
                      <a:srgbClr val="1040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54864" marT="27432" marB="27432">
                    <a:solidFill>
                      <a:srgbClr val="1040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Range</a:t>
                      </a:r>
                    </a:p>
                  </a:txBody>
                  <a:tcPr marL="73152" marR="54864" marT="27432" marB="27432">
                    <a:solidFill>
                      <a:srgbClr val="10402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LDL cholesterol</a:t>
                      </a:r>
                    </a:p>
                  </a:txBody>
                  <a:tcPr marL="73152" marR="54864" marT="27432" marB="27432">
                    <a:solidFill>
                      <a:srgbClr val="E7F0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73152" marR="54864" marT="27432" marB="27432">
                    <a:solidFill>
                      <a:srgbClr val="E7F0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under 100</a:t>
                      </a:r>
                    </a:p>
                  </a:txBody>
                  <a:tcPr marL="73152" marR="54864" marT="27432" marB="27432">
                    <a:solidFill>
                      <a:srgbClr val="E7F0E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HDL cholesterol</a:t>
                      </a:r>
                    </a:p>
                  </a:txBody>
                  <a:tcPr marL="73152" marR="54864" marT="27432" marB="27432">
                    <a:solidFill>
                      <a:srgbClr val="E7F0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73152" marR="54864" marT="27432" marB="27432">
                    <a:solidFill>
                      <a:srgbClr val="E7F0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over 40</a:t>
                      </a:r>
                    </a:p>
                  </a:txBody>
                  <a:tcPr marL="73152" marR="54864" marT="27432" marB="27432">
                    <a:solidFill>
                      <a:srgbClr val="E7F0E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Triglycerides</a:t>
                      </a:r>
                    </a:p>
                  </a:txBody>
                  <a:tcPr marL="73152" marR="54864" marT="27432" marB="27432">
                    <a:solidFill>
                      <a:srgbClr val="E7F0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73152" marR="54864" marT="27432" marB="27432">
                    <a:solidFill>
                      <a:srgbClr val="E7F0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under 150</a:t>
                      </a:r>
                    </a:p>
                  </a:txBody>
                  <a:tcPr marL="73152" marR="54864" marT="27432" marB="27432">
                    <a:solidFill>
                      <a:srgbClr val="E7F0E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Fasting glucose</a:t>
                      </a:r>
                    </a:p>
                  </a:txBody>
                  <a:tcPr marL="73152" marR="54864" marT="27432" marB="27432">
                    <a:solidFill>
                      <a:srgbClr val="E7F0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73152" marR="54864" marT="27432" marB="27432">
                    <a:solidFill>
                      <a:srgbClr val="E7F0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70 to 99</a:t>
                      </a:r>
                    </a:p>
                  </a:txBody>
                  <a:tcPr marL="73152" marR="54864" marT="27432" marB="27432">
                    <a:solidFill>
                      <a:srgbClr val="E7F0E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Creatinine</a:t>
                      </a:r>
                    </a:p>
                  </a:txBody>
                  <a:tcPr marL="73152" marR="54864" marT="27432" marB="27432">
                    <a:solidFill>
                      <a:srgbClr val="E7F0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L="73152" marR="54864" marT="27432" marB="27432">
                    <a:solidFill>
                      <a:srgbClr val="E7F0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0.7 to 1.3</a:t>
                      </a:r>
                    </a:p>
                  </a:txBody>
                  <a:tcPr marL="73152" marR="54864" marT="27432" marB="27432">
                    <a:solidFill>
                      <a:srgbClr val="E7F0EA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675120" y="28803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Targets held this year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3520440"/>
            <a:ext cx="4663440" cy="237744"/>
          </a:xfrm>
          <a:prstGeom prst="roundRect">
            <a:avLst/>
          </a:prstGeom>
          <a:solidFill>
            <a:srgbClr val="1D5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0" y="3520440"/>
            <a:ext cx="4663440" cy="237744"/>
          </a:xfrm>
          <a:prstGeom prst="roundRect">
            <a:avLst/>
          </a:prstGeom>
          <a:solidFill>
            <a:srgbClr val="9FE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246120"/>
            <a:ext cx="3749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EF4EE"/>
                </a:solidFill>
                <a:latin typeface="Calibri"/>
              </a:rPr>
              <a:t>Annual physical, all panels clean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32461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9FE0BF"/>
                </a:solidFill>
                <a:latin typeface="Calibri"/>
              </a:rPr>
              <a:t>100%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4160520"/>
            <a:ext cx="4663440" cy="237744"/>
          </a:xfrm>
          <a:prstGeom prst="roundRect">
            <a:avLst/>
          </a:prstGeom>
          <a:solidFill>
            <a:srgbClr val="1D5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75120" y="4160520"/>
            <a:ext cx="4663440" cy="237744"/>
          </a:xfrm>
          <a:prstGeom prst="roundRect">
            <a:avLst/>
          </a:prstGeom>
          <a:solidFill>
            <a:srgbClr val="9FE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886200"/>
            <a:ext cx="3749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EF4EE"/>
                </a:solidFill>
                <a:latin typeface="Calibri"/>
              </a:rPr>
              <a:t>Resting HR in athlete 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38862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9FE0BF"/>
                </a:solidFill>
                <a:latin typeface="Calibri"/>
              </a:rPr>
              <a:t>100%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4800600"/>
            <a:ext cx="4663440" cy="237744"/>
          </a:xfrm>
          <a:prstGeom prst="roundRect">
            <a:avLst/>
          </a:prstGeom>
          <a:solidFill>
            <a:srgbClr val="1D5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75120" y="4800600"/>
            <a:ext cx="4430268" cy="237744"/>
          </a:xfrm>
          <a:prstGeom prst="round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526280"/>
            <a:ext cx="3749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EF4EE"/>
                </a:solidFill>
                <a:latin typeface="Calibri"/>
              </a:rPr>
              <a:t>Blood pressure at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45262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C08A3E"/>
                </a:solidFill>
                <a:latin typeface="Calibri"/>
              </a:rPr>
              <a:t>95%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5440680"/>
            <a:ext cx="4663440" cy="237744"/>
          </a:xfrm>
          <a:prstGeom prst="roundRect">
            <a:avLst/>
          </a:prstGeom>
          <a:solidFill>
            <a:srgbClr val="1D5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75120" y="5440680"/>
            <a:ext cx="4197096" cy="237744"/>
          </a:xfrm>
          <a:prstGeom prst="roundRect">
            <a:avLst/>
          </a:prstGeom>
          <a:solidFill>
            <a:srgbClr val="9FE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5166360"/>
            <a:ext cx="3749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EF4EE"/>
                </a:solidFill>
                <a:latin typeface="Calibri"/>
              </a:rPr>
              <a:t>Daily supplements taken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51663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9FE0BF"/>
                </a:solidFill>
                <a:latin typeface="Calibri"/>
              </a:rPr>
              <a:t>90%</a:t>
            </a:r>
          </a:p>
        </p:txBody>
      </p:sp>
    </p:spTree>
  </p:cSld>
  <p:transition spd="med">
    <p:wipe dir="r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F6F4F"/>
                </a:solidFill>
                <a:latin typeface="Calibri"/>
              </a:rPr>
              <a:t>Dorothy, Blood Pressure Watch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2743200" cy="4572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417320"/>
          <a:ext cx="6583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66928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F6F4F"/>
                </a:solidFill>
                <a:latin typeface="Calibri"/>
              </a:rPr>
              <a:t>Systolic readings, target under 140 over 90. One flag on February 15, rechecked and settled.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37160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6F4F"/>
                </a:solidFill>
                <a:latin typeface="Calibri"/>
              </a:rPr>
              <a:t>Medications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79" y="1828800"/>
          <a:ext cx="402336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097280"/>
                <a:gridCol w="1097280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Medication</a:t>
                      </a:r>
                    </a:p>
                  </a:txBody>
                  <a:tcPr marL="73152" marR="54864" marT="27432" marB="27432">
                    <a:solidFill>
                      <a:srgbClr val="2F6F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Dose</a:t>
                      </a:r>
                    </a:p>
                  </a:txBody>
                  <a:tcPr marL="73152" marR="54864" marT="27432" marB="27432">
                    <a:solidFill>
                      <a:srgbClr val="2F6F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73152" marR="54864" marT="27432" marB="27432">
                    <a:solidFill>
                      <a:srgbClr val="2F6F4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Amlodipine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10 mg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Losartan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50 mg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Alendronate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70 mg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4332B"/>
                          </a:solidFill>
                          <a:latin typeface="Calibri"/>
                        </a:rPr>
                        <a:t>Weekly, Sun</a:t>
                      </a:r>
                    </a:p>
                  </a:txBody>
                  <a:tcPr marL="73152" marR="54864" marT="27432" marB="27432">
                    <a:solidFill>
                      <a:srgbClr val="DCE8D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4023360"/>
            <a:ext cx="4023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332B"/>
                </a:solidFill>
                <a:latin typeface="Calibri"/>
              </a:rPr>
              <a:t>Daily walk at 9:00 with Mrs. Henderson. Lactose free at shared meals. Nephrology follow up with Dr. Nair. Coordinate any change with Karen first.</a:t>
            </a:r>
          </a:p>
        </p:txBody>
      </p:sp>
    </p:spTree>
  </p:cSld>
  <p:transition spd="med">
    <p:push dir="l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Show up. Stay consistent.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8EADF"/>
                </a:solidFill>
                <a:latin typeface="Calibri"/>
              </a:rPr>
              <a:t>The people you love do not need to be told. They need you to keep running, keep cooking right, and keep showing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9D2C4"/>
                </a:solidFill>
                <a:latin typeface="Calibri"/>
              </a:rPr>
              <a:t>Heart-Healthy Living  |  Family working guide, February 2026</a:t>
            </a:r>
          </a:p>
        </p:txBody>
      </p:sp>
    </p:spTree>
  </p:cSld>
  <p:transition spd="med">
    <p:cover dir="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2026-02-20T09:00:00Z</dcterms:created>
  <dcterms:modified xsi:type="dcterms:W3CDTF">2026-02-20T09:00:00Z</dcterms:modified>
  <cp:category/>
</cp:coreProperties>
</file>