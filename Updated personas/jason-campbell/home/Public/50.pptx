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Screened</c:v>
                </c:pt>
              </c:strCache>
            </c:strRef>
          </c:tx>
          <c:spPr>
            <a:solidFill>
              <a:srgbClr val="3A3F6B"/>
            </a:solidFill>
          </c:spPr>
          <c:cat>
            <c:strRef>
              <c:f>Sheet1!$A$2:$A$4</c:f>
              <c:strCache>
                <c:ptCount val="3"/>
                <c:pt idx="0">
                  <c:v>Coastal, lead</c:v>
                </c:pt>
                <c:pt idx="1">
                  <c:v>Lakewood</c:v>
                </c:pt>
                <c:pt idx="2">
                  <c:v>Summit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189</c:v>
                </c:pt>
                <c:pt idx="1">
                  <c:v>124</c:v>
                </c:pt>
                <c:pt idx="2">
                  <c:v>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Enrolled</c:v>
                </c:pt>
              </c:strCache>
            </c:strRef>
          </c:tx>
          <c:spPr>
            <a:solidFill>
              <a:srgbClr val="7C5CFF"/>
            </a:solidFill>
          </c:spPr>
          <c:cat>
            <c:strRef>
              <c:f>Sheet1!$A$2:$A$4</c:f>
              <c:strCache>
                <c:ptCount val="3"/>
                <c:pt idx="0">
                  <c:v>Coastal, lead</c:v>
                </c:pt>
                <c:pt idx="1">
                  <c:v>Lakewood</c:v>
                </c:pt>
                <c:pt idx="2">
                  <c:v>Summit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148</c:v>
                </c:pt>
                <c:pt idx="1">
                  <c:v>97</c:v>
                </c:pt>
                <c:pt idx="2">
                  <c:v>77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9AA0C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9AA0C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E8EAF6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dPt>
            <c:idx val="0"/>
            <c:spPr>
              <a:solidFill>
                <a:srgbClr val="28C9D8"/>
              </a:solidFill>
            </c:spPr>
          </c:dPt>
          <c:dPt>
            <c:idx val="1"/>
            <c:spPr>
              <a:solidFill>
                <a:srgbClr val="7C5CFF"/>
              </a:solidFill>
            </c:spPr>
          </c:dPt>
          <c:dPt>
            <c:idx val="2"/>
            <c:spPr>
              <a:solidFill>
                <a:srgbClr val="FFB04C"/>
              </a:solidFill>
            </c:spPr>
          </c:dPt>
          <c:dPt>
            <c:idx val="3"/>
            <c:spPr>
              <a:solidFill>
                <a:srgbClr val="FF6B9D"/>
              </a:solidFill>
            </c:spPr>
          </c:dPt>
          <c:dPt>
            <c:idx val="4"/>
            <c:spPr>
              <a:solidFill>
                <a:srgbClr val="5B6F93"/>
              </a:solidFill>
            </c:spPr>
          </c:dPt>
          <c:cat>
            <c:strRef>
              <c:f>Sheet1!$A$2:$A$6</c:f>
              <c:strCache>
                <c:ptCount val="5"/>
                <c:pt idx="0">
                  <c:v>Structural</c:v>
                </c:pt>
                <c:pt idx="1">
                  <c:v>Interventional</c:v>
                </c:pt>
                <c:pt idx="2">
                  <c:v>Self-study</c:v>
                </c:pt>
                <c:pt idx="3">
                  <c:v>QI and safety</c:v>
                </c:pt>
                <c:pt idx="4">
                  <c:v>Pharmacology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13.5</c:v>
                </c:pt>
                <c:pt idx="1">
                  <c:v>8</c:v>
                </c:pt>
                <c:pt idx="2">
                  <c:v>3</c:v>
                </c:pt>
                <c:pt idx="3">
                  <c:v>2</c:v>
                </c:pt>
                <c:pt idx="4">
                  <c:v>1.5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E8EAF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ln w="31750">
              <a:solidFill>
                <a:srgbClr val="FFB04C"/>
              </a:solidFill>
            </a:ln>
          </c:spPr>
          <c:cat>
            <c:strRef>
              <c:f>Sheet1!$A$2:$A$7</c:f>
              <c:strCache>
                <c:ptCount val="6"/>
                <c:pt idx="0">
                  <c:v>Jan 12</c:v>
                </c:pt>
                <c:pt idx="1">
                  <c:v>Jan 14</c:v>
                </c:pt>
                <c:pt idx="2">
                  <c:v>Jan 17</c:v>
                </c:pt>
                <c:pt idx="3">
                  <c:v>Jan 22</c:v>
                </c:pt>
                <c:pt idx="4">
                  <c:v>Jan 26</c:v>
                </c:pt>
                <c:pt idx="5">
                  <c:v>Jan 29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1648</c:v>
                </c:pt>
                <c:pt idx="1">
                  <c:v>1639</c:v>
                </c:pt>
                <c:pt idx="2">
                  <c:v>1651</c:v>
                </c:pt>
                <c:pt idx="3">
                  <c:v>1652</c:v>
                </c:pt>
                <c:pt idx="4">
                  <c:v>1663</c:v>
                </c:pt>
                <c:pt idx="5">
                  <c:v>1654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9AA0C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9AA0C8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Box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Box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Box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Box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Box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Box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Box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Box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Box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Box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Box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Box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Box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Box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Box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Box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Box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Box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Box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Box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Box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Box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Box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Box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Box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Box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Box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Box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Box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Box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Box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Box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Box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Box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Box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Box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Box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Box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Box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Box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Box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Box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Box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Box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Box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Box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Box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ox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Box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Box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Box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Box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8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E8EAF6"/>
                </a:solidFill>
                <a:latin typeface="Calibri"/>
              </a:rPr>
              <a:t>The Year in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1089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28C9D8"/>
                </a:solidFill>
                <a:latin typeface="Calibri"/>
              </a:rPr>
              <a:t>Dr. Jason Campbell, a personal 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840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9AA0C8"/>
                </a:solidFill>
                <a:latin typeface="Calibri"/>
              </a:rPr>
              <a:t>Research, education, fitness, and family, reviewed February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54880"/>
            <a:ext cx="2606040" cy="1280160"/>
          </a:xfrm>
          <a:prstGeom prst="roundRect">
            <a:avLst/>
          </a:prstGeom>
          <a:solidFill>
            <a:srgbClr val="23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7C5CFF"/>
                </a:solidFill>
                <a:latin typeface="Calibri"/>
              </a:rPr>
              <a:t>322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486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AA0C8"/>
                </a:solidFill>
                <a:latin typeface="Calibri"/>
              </a:rPr>
              <a:t>patients enrolled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4754880"/>
            <a:ext cx="2606040" cy="1280160"/>
          </a:xfrm>
          <a:prstGeom prst="roundRect">
            <a:avLst/>
          </a:prstGeom>
          <a:solidFill>
            <a:srgbClr val="23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489204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8C9D8"/>
                </a:solidFill>
                <a:latin typeface="Calibri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5486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AA0C8"/>
                </a:solidFill>
                <a:latin typeface="Calibri"/>
              </a:rPr>
              <a:t>CME hours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754880"/>
            <a:ext cx="2606040" cy="1280160"/>
          </a:xfrm>
          <a:prstGeom prst="roundRect">
            <a:avLst/>
          </a:prstGeom>
          <a:solidFill>
            <a:srgbClr val="23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89204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6B9D"/>
                </a:solidFill>
                <a:latin typeface="Calibri"/>
              </a:rPr>
              <a:t>No.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486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AA0C8"/>
                </a:solidFill>
                <a:latin typeface="Calibri"/>
              </a:rPr>
              <a:t>tennis ladder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4754880"/>
            <a:ext cx="2606040" cy="1280160"/>
          </a:xfrm>
          <a:prstGeom prst="roundRect">
            <a:avLst/>
          </a:prstGeom>
          <a:solidFill>
            <a:srgbClr val="23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489204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B04C"/>
                </a:solidFill>
                <a:latin typeface="Calibri"/>
              </a:rPr>
              <a:t>1663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5486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AA0C8"/>
                </a:solidFill>
                <a:latin typeface="Calibri"/>
              </a:rPr>
              <a:t>peak chess rating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8EAF6"/>
                </a:solidFill>
                <a:latin typeface="Calibri"/>
              </a:rPr>
              <a:t>Research, Aortic Valve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2743200" cy="457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417320"/>
          <a:ext cx="64008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4864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8C9D8"/>
                </a:solidFill>
                <a:latin typeface="Calibri"/>
              </a:rPr>
              <a:t>Enrollment by site, 322 of 500 target</a:t>
            </a:r>
          </a:p>
        </p:txBody>
      </p:sp>
      <p:pic>
        <p:nvPicPr>
          <p:cNvPr id="6" name="Picture 5" descr="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371600"/>
            <a:ext cx="4023360" cy="26811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4846320"/>
            <a:ext cx="4023360" cy="237744"/>
          </a:xfrm>
          <a:prstGeom prst="roundRect">
            <a:avLst/>
          </a:prstGeom>
          <a:solidFill>
            <a:srgbClr val="23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79" y="4846320"/>
            <a:ext cx="2591043" cy="237744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457200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Toward 500 patient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9" y="45720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7C5CFF"/>
                </a:solidFill>
                <a:latin typeface="Calibri"/>
              </a:rPr>
              <a:t>64%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5303520"/>
            <a:ext cx="4114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AA0C8"/>
                </a:solidFill>
                <a:latin typeface="Calibri"/>
              </a:rPr>
              <a:t>Manuscript shell ready for the Journal of Interventional Practice, target October 15. IRB approved through January 2027.</a:t>
            </a:r>
          </a:p>
        </p:txBody>
      </p:sp>
    </p:spTree>
  </p:cSld>
  <p:transition spd="med">
    <p:push dir="l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8EAF6"/>
                </a:solidFill>
                <a:latin typeface="Calibri"/>
              </a:rPr>
              <a:t>Continuing Education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2743200" cy="45720"/>
          </a:xfrm>
          <a:prstGeom prst="rect">
            <a:avLst/>
          </a:prstGeom>
          <a:solidFill>
            <a:srgbClr val="28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463040"/>
          <a:ext cx="51206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06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28C9D8"/>
                </a:solidFill>
                <a:latin typeface="Calibri"/>
              </a:rPr>
              <a:t>28 hours logged by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8EAF6"/>
                </a:solidFill>
                <a:latin typeface="Calibri"/>
              </a:rPr>
              <a:t>Progress to the 50 hour requirement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4937760" cy="237744"/>
          </a:xfrm>
          <a:prstGeom prst="roundRect">
            <a:avLst/>
          </a:prstGeom>
          <a:solidFill>
            <a:srgbClr val="23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2286000"/>
            <a:ext cx="2765145" cy="237744"/>
          </a:xfrm>
          <a:prstGeom prst="roundRect">
            <a:avLst/>
          </a:prstGeom>
          <a:solidFill>
            <a:srgbClr val="28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28 of 50 hours by December 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20116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28C9D8"/>
                </a:solidFill>
                <a:latin typeface="Calibri"/>
              </a:rPr>
              <a:t>56%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3017520"/>
          <a:ext cx="475488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"/>
                <a:gridCol w="2926080"/>
                <a:gridCol w="82296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8EAF6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3152" marR="54864" marT="27432" marB="27432">
                    <a:solidFill>
                      <a:srgbClr val="2326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E8EAF6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 marL="73152" marR="54864" marT="27432" marB="27432">
                    <a:solidFill>
                      <a:srgbClr val="2326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E8EAF6"/>
                          </a:solidFill>
                          <a:latin typeface="Calibri"/>
                        </a:rPr>
                        <a:t>Hrs</a:t>
                      </a:r>
                    </a:p>
                  </a:txBody>
                  <a:tcPr marL="73152" marR="54864" marT="27432" marB="27432">
                    <a:solidFill>
                      <a:srgbClr val="23264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8EAF6"/>
                          </a:solidFill>
                          <a:latin typeface="Calibri"/>
                        </a:rPr>
                        <a:t>Jan 18</a:t>
                      </a:r>
                    </a:p>
                  </a:txBody>
                  <a:tcPr marL="73152" marR="54864" marT="27432" marB="27432">
                    <a:solidFill>
                      <a:srgbClr val="1D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AF6"/>
                          </a:solidFill>
                          <a:latin typeface="Calibri"/>
                        </a:rPr>
                        <a:t>Interventional Update</a:t>
                      </a:r>
                    </a:p>
                  </a:txBody>
                  <a:tcPr marL="73152" marR="54864" marT="27432" marB="27432">
                    <a:solidFill>
                      <a:srgbClr val="1D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AF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54864" marT="27432" marB="27432">
                    <a:solidFill>
                      <a:srgbClr val="1D204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8EAF6"/>
                          </a:solidFill>
                          <a:latin typeface="Calibri"/>
                        </a:rPr>
                        <a:t>Feb 6</a:t>
                      </a:r>
                    </a:p>
                  </a:txBody>
                  <a:tcPr marL="73152" marR="54864" marT="27432" marB="27432">
                    <a:solidFill>
                      <a:srgbClr val="1D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AF6"/>
                          </a:solidFill>
                          <a:latin typeface="Calibri"/>
                        </a:rPr>
                        <a:t>Structural Heart Symposium</a:t>
                      </a:r>
                    </a:p>
                  </a:txBody>
                  <a:tcPr marL="73152" marR="54864" marT="27432" marB="27432">
                    <a:solidFill>
                      <a:srgbClr val="1D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AF6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 marL="73152" marR="54864" marT="27432" marB="27432">
                    <a:solidFill>
                      <a:srgbClr val="1D204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8EAF6"/>
                          </a:solidFill>
                          <a:latin typeface="Calibri"/>
                        </a:rPr>
                        <a:t>Feb 24</a:t>
                      </a:r>
                    </a:p>
                  </a:txBody>
                  <a:tcPr marL="73152" marR="54864" marT="27432" marB="27432">
                    <a:solidFill>
                      <a:srgbClr val="1D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AF6"/>
                          </a:solidFill>
                          <a:latin typeface="Calibri"/>
                        </a:rPr>
                        <a:t>Antiplatelet Grand Rounds</a:t>
                      </a:r>
                    </a:p>
                  </a:txBody>
                  <a:tcPr marL="73152" marR="54864" marT="27432" marB="27432">
                    <a:solidFill>
                      <a:srgbClr val="1D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AF6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73152" marR="54864" marT="27432" marB="27432">
                    <a:solidFill>
                      <a:srgbClr val="1D204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8EAF6"/>
                          </a:solidFill>
                          <a:latin typeface="Calibri"/>
                        </a:rPr>
                        <a:t>Feb 27</a:t>
                      </a:r>
                    </a:p>
                  </a:txBody>
                  <a:tcPr marL="73152" marR="54864" marT="27432" marB="27432">
                    <a:solidFill>
                      <a:srgbClr val="1D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AF6"/>
                          </a:solidFill>
                          <a:latin typeface="Calibri"/>
                        </a:rPr>
                        <a:t>TAVR Outcomes Live Course</a:t>
                      </a:r>
                    </a:p>
                  </a:txBody>
                  <a:tcPr marL="73152" marR="54864" marT="27432" marB="27432">
                    <a:solidFill>
                      <a:srgbClr val="1D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AF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54864" marT="27432" marB="27432">
                    <a:solidFill>
                      <a:srgbClr val="1D2040"/>
                    </a:solidFill>
                  </a:tcPr>
                </a:tc>
              </a:tr>
            </a:tbl>
          </a:graphicData>
        </a:graphic>
      </p:graphicFrame>
    </p:spTree>
  </p:cSld>
  <p:transition spd="med">
    <p:wipe dir="r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8EAF6"/>
                </a:solidFill>
                <a:latin typeface="Calibri"/>
              </a:rPr>
              <a:t>Off the Clock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2743200" cy="45720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417320"/>
          <a:ext cx="64008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5321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B04C"/>
                </a:solidFill>
                <a:latin typeface="Calibri"/>
              </a:rPr>
              <a:t>Online chess rating, Sicilian Defense, around 1650</a:t>
            </a:r>
          </a:p>
        </p:txBody>
      </p:sp>
      <p:pic>
        <p:nvPicPr>
          <p:cNvPr id="6" name="Picture 5" descr="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371600"/>
            <a:ext cx="384048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5212080"/>
            <a:ext cx="3931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AA0C8"/>
                </a:solidFill>
                <a:latin typeface="Calibri"/>
              </a:rPr>
              <a:t>Running three mornings, tennis three mornings, twenty minutes at the piano on weeknights, and brisket on Saturday. Teaching Emily the openings first.</a:t>
            </a:r>
          </a:p>
        </p:txBody>
      </p:sp>
    </p:spTree>
  </p:cSld>
  <p:transition spd="med">
    <p:push dir="l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8EAF6"/>
                </a:solidFill>
                <a:latin typeface="Calibri"/>
              </a:rPr>
              <a:t>Family Milestones Ahead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2743200" cy="45720"/>
          </a:xfrm>
          <a:prstGeom prst="rect">
            <a:avLst/>
          </a:prstGeom>
          <a:solidFill>
            <a:srgbClr val="FF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011680"/>
                <a:gridCol w="6126480"/>
              </a:tblGrid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73152" marR="54864" marT="27432" marB="27432">
                    <a:solidFill>
                      <a:srgbClr val="7C5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marL="73152" marR="54864" marT="27432" marB="27432">
                    <a:solidFill>
                      <a:srgbClr val="7C5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73152" marR="54864" marT="27432" marB="27432">
                    <a:solidFill>
                      <a:srgbClr val="7C5C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October 2026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Kyle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Step 2 examination, result late month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October 12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Dorothy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Birthday, quiet family dinner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October 20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Brian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48th birthday, family call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November 14 to 16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Jason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Heart Conference, chairing sessions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December 3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Kyle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Birthday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January 22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Emily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Birthday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February 9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Karen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E8EAF6"/>
                          </a:solidFill>
                          <a:latin typeface="Calibri"/>
                        </a:rPr>
                        <a:t>Birthday, dinner at Orsay</a:t>
                      </a:r>
                    </a:p>
                  </a:txBody>
                  <a:tcPr marL="73152" marR="54864" marT="27432" marB="27432">
                    <a:solidFill>
                      <a:srgbClr val="202341"/>
                    </a:solidFill>
                  </a:tcPr>
                </a:tc>
              </a:tr>
            </a:tbl>
          </a:graphicData>
        </a:graphic>
      </p:graphicFrame>
    </p:spTree>
  </p:cSld>
  <p:transition spd="med">
    <p:wipe dir="r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463040"/>
          </a:xfrm>
          <a:prstGeom prst="rect">
            <a:avLst/>
          </a:prstGeom>
          <a:solidFill>
            <a:srgbClr val="23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28C9D8"/>
                </a:solidFill>
                <a:latin typeface="Calibri"/>
              </a:rPr>
              <a:t>A good year, measured.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E8EAF6"/>
                </a:solidFill>
                <a:latin typeface="Calibri"/>
              </a:rPr>
              <a:t>Precision in the lab, discipline in the routine, and Friday dinner that never gets scheduled over.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AA0C8"/>
                </a:solidFill>
                <a:latin typeface="Calibri"/>
              </a:rPr>
              <a:t>The Year in Numbers  |  Personal scorecard, February 2026</a:t>
            </a:r>
          </a:p>
        </p:txBody>
      </p:sp>
    </p:spTree>
  </p:cSld>
  <p:transition spd="med">
    <p:cover dir="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2026-02-20T09:00:00Z</dcterms:created>
  <dcterms:modified xsi:type="dcterms:W3CDTF">2026-02-20T09:00:00Z</dcterms:modified>
  <cp:category/>
</cp:coreProperties>
</file>