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126480"/>
            <a:ext cx="12191695" cy="731520"/>
          </a:xfrm>
          <a:prstGeom prst="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463040"/>
            <a:ext cx="228600" cy="2377440"/>
          </a:xfrm>
          <a:prstGeom prst="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554480"/>
            <a:ext cx="10058400" cy="2377440"/>
          </a:xfrm>
          <a:prstGeom prst="rect">
            <a:avLst/>
          </a:prstGeom>
          <a:noFill/>
        </p:spPr>
        <p:txBody>
          <a:bodyPr wrap="square" anchor="t">
            <a:spAutoFit/>
          </a:bodyPr>
          <a:lstStyle/>
          <a:p>
            <a:pPr algn="l">
              <a:spcBef>
                <a:spcPts val="0"/>
              </a:spcBef>
              <a:spcAft>
                <a:spcPts val="400"/>
              </a:spcAft>
            </a:pPr>
            <a:r>
              <a:rPr sz="4000" b="1">
                <a:solidFill>
                  <a:srgbClr val="F5F0E6"/>
                </a:solidFill>
                <a:latin typeface="Calibri"/>
              </a:rPr>
              <a:t>COLUMBUS TRADE</a:t>
            </a:r>
          </a:p>
          <a:p>
            <a:pPr algn="l">
              <a:spcBef>
                <a:spcPts val="0"/>
              </a:spcBef>
              <a:spcAft>
                <a:spcPts val="400"/>
              </a:spcAft>
            </a:pPr>
            <a:r>
              <a:rPr sz="4000" b="1">
                <a:solidFill>
                  <a:srgbClr val="F5F0E6"/>
                </a:solidFill>
                <a:latin typeface="Calibri"/>
              </a:rPr>
              <a:t>MENTORSHIP PROGRAM</a:t>
            </a:r>
          </a:p>
          <a:p>
            <a:pPr algn="l">
              <a:spcBef>
                <a:spcPts val="0"/>
              </a:spcBef>
              <a:spcAft>
                <a:spcPts val="400"/>
              </a:spcAft>
            </a:pPr>
            <a:r>
              <a:rPr sz="2400" b="0">
                <a:solidFill>
                  <a:srgbClr val="C56B3E"/>
                </a:solidFill>
                <a:latin typeface="Calibri"/>
              </a:rPr>
              <a:t>2025 Cohort Review</a:t>
            </a:r>
          </a:p>
        </p:txBody>
      </p:sp>
      <p:sp>
        <p:nvSpPr>
          <p:cNvPr id="6" name="TextBox 5"/>
          <p:cNvSpPr txBox="1"/>
          <p:nvPr/>
        </p:nvSpPr>
        <p:spPr>
          <a:xfrm>
            <a:off x="1371600" y="4480560"/>
            <a:ext cx="10058400" cy="1097280"/>
          </a:xfrm>
          <a:prstGeom prst="rect">
            <a:avLst/>
          </a:prstGeom>
          <a:noFill/>
        </p:spPr>
        <p:txBody>
          <a:bodyPr wrap="square" anchor="t">
            <a:spAutoFit/>
          </a:bodyPr>
          <a:lstStyle/>
          <a:p>
            <a:pPr algn="l">
              <a:spcBef>
                <a:spcPts val="0"/>
              </a:spcBef>
              <a:spcAft>
                <a:spcPts val="400"/>
              </a:spcAft>
            </a:pPr>
            <a:r>
              <a:rPr sz="1400" b="0">
                <a:solidFill>
                  <a:srgbClr val="D9E2D0"/>
                </a:solidFill>
                <a:latin typeface="Calibri"/>
              </a:rPr>
              <a:t>Co-founded by Jason Robert Kim and Ryan Montoya   |   Seventh Year of Operation</a:t>
            </a:r>
          </a:p>
        </p:txBody>
      </p:sp>
    </p:spTree>
  </p:cSld>
  <p:clrMapOvr>
    <a:masterClrMapping/>
  </p:clrMapOvr>
  <p:transition spd="med">
    <p:push dir="l"/>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F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058400" cy="822960"/>
          </a:xfrm>
          <a:prstGeom prst="rect">
            <a:avLst/>
          </a:prstGeom>
          <a:noFill/>
        </p:spPr>
        <p:txBody>
          <a:bodyPr wrap="square" anchor="ctr">
            <a:spAutoFit/>
          </a:bodyPr>
          <a:lstStyle/>
          <a:p>
            <a:pPr algn="l">
              <a:spcBef>
                <a:spcPts val="0"/>
              </a:spcBef>
              <a:spcAft>
                <a:spcPts val="400"/>
              </a:spcAft>
            </a:pPr>
            <a:r>
              <a:rPr sz="3000" b="1">
                <a:solidFill>
                  <a:srgbClr val="F5F0E6"/>
                </a:solidFill>
                <a:latin typeface="Calibri"/>
              </a:rPr>
              <a:t>About the Program</a:t>
            </a:r>
          </a:p>
        </p:txBody>
      </p:sp>
      <p:sp>
        <p:nvSpPr>
          <p:cNvPr id="5" name="TextBox 4"/>
          <p:cNvSpPr txBox="1"/>
          <p:nvPr/>
        </p:nvSpPr>
        <p:spPr>
          <a:xfrm>
            <a:off x="640080" y="1691640"/>
            <a:ext cx="10881360" cy="1828800"/>
          </a:xfrm>
          <a:prstGeom prst="rect">
            <a:avLst/>
          </a:prstGeom>
          <a:noFill/>
        </p:spPr>
        <p:txBody>
          <a:bodyPr wrap="square" anchor="t">
            <a:spAutoFit/>
          </a:bodyPr>
          <a:lstStyle/>
          <a:p>
            <a:pPr algn="l">
              <a:spcBef>
                <a:spcPts val="0"/>
              </a:spcBef>
              <a:spcAft>
                <a:spcPts val="400"/>
              </a:spcAft>
            </a:pPr>
            <a:r>
              <a:rPr sz="1800" b="0">
                <a:solidFill>
                  <a:srgbClr val="2C3A2E"/>
                </a:solidFill>
                <a:latin typeface="Calibri"/>
              </a:rPr>
              <a:t>Founded in 2019 to close a gap in structured mentorship for early career trade and logistics professionals in Central Ohio. The program pairs experienced practitioners with people in their first three years in the field, offering six months of one on one guidance, group sessions, and access to the Columbus Trade Association network.</a:t>
            </a:r>
          </a:p>
        </p:txBody>
      </p:sp>
      <p:sp>
        <p:nvSpPr>
          <p:cNvPr id="6" name="Rounded Rectangle 5"/>
          <p:cNvSpPr/>
          <p:nvPr/>
        </p:nvSpPr>
        <p:spPr>
          <a:xfrm>
            <a:off x="640080" y="3931920"/>
            <a:ext cx="3383280" cy="1645920"/>
          </a:xfrm>
          <a:prstGeom prst="roundRect">
            <a:avLst/>
          </a:prstGeom>
          <a:solidFill>
            <a:srgbClr val="FFFFFF"/>
          </a:solidFill>
          <a:ln w="12700">
            <a:solidFill>
              <a:srgbClr val="E0D7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931920"/>
            <a:ext cx="109728" cy="1645920"/>
          </a:xfrm>
          <a:prstGeom prst="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 y="4206240"/>
            <a:ext cx="2834640" cy="1188720"/>
          </a:xfrm>
          <a:prstGeom prst="rect">
            <a:avLst/>
          </a:prstGeom>
          <a:noFill/>
        </p:spPr>
        <p:txBody>
          <a:bodyPr wrap="square" anchor="t">
            <a:spAutoFit/>
          </a:bodyPr>
          <a:lstStyle/>
          <a:p>
            <a:pPr algn="l">
              <a:spcBef>
                <a:spcPts val="0"/>
              </a:spcBef>
              <a:spcAft>
                <a:spcPts val="400"/>
              </a:spcAft>
            </a:pPr>
            <a:r>
              <a:rPr sz="1700" b="1">
                <a:solidFill>
                  <a:srgbClr val="3E6B4A"/>
                </a:solidFill>
                <a:latin typeface="Calibri"/>
              </a:rPr>
              <a:t>Founded 2019</a:t>
            </a:r>
          </a:p>
          <a:p>
            <a:pPr algn="l">
              <a:spcBef>
                <a:spcPts val="0"/>
              </a:spcBef>
              <a:spcAft>
                <a:spcPts val="400"/>
              </a:spcAft>
            </a:pPr>
            <a:r>
              <a:rPr sz="1250" b="0">
                <a:solidFill>
                  <a:srgbClr val="5E4F3C"/>
                </a:solidFill>
                <a:latin typeface="Calibri"/>
              </a:rPr>
              <a:t>Co-founded by two firms</a:t>
            </a:r>
          </a:p>
        </p:txBody>
      </p:sp>
      <p:sp>
        <p:nvSpPr>
          <p:cNvPr id="9" name="Rounded Rectangle 8"/>
          <p:cNvSpPr/>
          <p:nvPr/>
        </p:nvSpPr>
        <p:spPr>
          <a:xfrm>
            <a:off x="4343400" y="3931920"/>
            <a:ext cx="3383280" cy="1645920"/>
          </a:xfrm>
          <a:prstGeom prst="roundRect">
            <a:avLst/>
          </a:prstGeom>
          <a:solidFill>
            <a:srgbClr val="FFFFFF"/>
          </a:solidFill>
          <a:ln w="12700">
            <a:solidFill>
              <a:srgbClr val="E0D7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3931920"/>
            <a:ext cx="109728" cy="1645920"/>
          </a:xfrm>
          <a:prstGeom prst="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4206240"/>
            <a:ext cx="2834640" cy="1188720"/>
          </a:xfrm>
          <a:prstGeom prst="rect">
            <a:avLst/>
          </a:prstGeom>
          <a:noFill/>
        </p:spPr>
        <p:txBody>
          <a:bodyPr wrap="square" anchor="t">
            <a:spAutoFit/>
          </a:bodyPr>
          <a:lstStyle/>
          <a:p>
            <a:pPr algn="l">
              <a:spcBef>
                <a:spcPts val="0"/>
              </a:spcBef>
              <a:spcAft>
                <a:spcPts val="400"/>
              </a:spcAft>
            </a:pPr>
            <a:r>
              <a:rPr sz="1700" b="1">
                <a:solidFill>
                  <a:srgbClr val="3E6B4A"/>
                </a:solidFill>
                <a:latin typeface="Calibri"/>
              </a:rPr>
              <a:t>Annual cohort</a:t>
            </a:r>
          </a:p>
          <a:p>
            <a:pPr algn="l">
              <a:spcBef>
                <a:spcPts val="0"/>
              </a:spcBef>
              <a:spcAft>
                <a:spcPts val="400"/>
              </a:spcAft>
            </a:pPr>
            <a:r>
              <a:rPr sz="1250" b="0">
                <a:solidFill>
                  <a:srgbClr val="5E4F3C"/>
                </a:solidFill>
                <a:latin typeface="Calibri"/>
              </a:rPr>
              <a:t>Pairings finalized each year</a:t>
            </a:r>
          </a:p>
        </p:txBody>
      </p:sp>
      <p:sp>
        <p:nvSpPr>
          <p:cNvPr id="12" name="Rounded Rectangle 11"/>
          <p:cNvSpPr/>
          <p:nvPr/>
        </p:nvSpPr>
        <p:spPr>
          <a:xfrm>
            <a:off x="8046719" y="3931920"/>
            <a:ext cx="3383280" cy="1645920"/>
          </a:xfrm>
          <a:prstGeom prst="roundRect">
            <a:avLst/>
          </a:prstGeom>
          <a:solidFill>
            <a:srgbClr val="FFFFFF"/>
          </a:solidFill>
          <a:ln w="12700">
            <a:solidFill>
              <a:srgbClr val="E0D7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19" y="3931920"/>
            <a:ext cx="109728" cy="1645920"/>
          </a:xfrm>
          <a:prstGeom prst="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59" y="4206240"/>
            <a:ext cx="2834640" cy="1188720"/>
          </a:xfrm>
          <a:prstGeom prst="rect">
            <a:avLst/>
          </a:prstGeom>
          <a:noFill/>
        </p:spPr>
        <p:txBody>
          <a:bodyPr wrap="square" anchor="t">
            <a:spAutoFit/>
          </a:bodyPr>
          <a:lstStyle/>
          <a:p>
            <a:pPr algn="l">
              <a:spcBef>
                <a:spcPts val="0"/>
              </a:spcBef>
              <a:spcAft>
                <a:spcPts val="400"/>
              </a:spcAft>
            </a:pPr>
            <a:r>
              <a:rPr sz="1700" b="1">
                <a:solidFill>
                  <a:srgbClr val="3E6B4A"/>
                </a:solidFill>
                <a:latin typeface="Calibri"/>
              </a:rPr>
              <a:t>Volunteer mentors</a:t>
            </a:r>
          </a:p>
          <a:p>
            <a:pPr algn="l">
              <a:spcBef>
                <a:spcPts val="0"/>
              </a:spcBef>
              <a:spcAft>
                <a:spcPts val="400"/>
              </a:spcAft>
            </a:pPr>
            <a:r>
              <a:rPr sz="1250" b="0">
                <a:solidFill>
                  <a:srgbClr val="5E4F3C"/>
                </a:solidFill>
                <a:latin typeface="Calibri"/>
              </a:rPr>
              <a:t>Directors serve without pay</a:t>
            </a:r>
          </a:p>
        </p:txBody>
      </p:sp>
      <p:sp>
        <p:nvSpPr>
          <p:cNvPr id="15" name="Rectangle 14"/>
          <p:cNvSpPr/>
          <p:nvPr/>
        </p:nvSpPr>
        <p:spPr>
          <a:xfrm>
            <a:off x="0" y="6446520"/>
            <a:ext cx="12191695" cy="411480"/>
          </a:xfrm>
          <a:prstGeom prst="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73952"/>
            <a:ext cx="8229600" cy="320040"/>
          </a:xfrm>
          <a:prstGeom prst="rect">
            <a:avLst/>
          </a:prstGeom>
          <a:noFill/>
        </p:spPr>
        <p:txBody>
          <a:bodyPr wrap="square" anchor="ctr">
            <a:spAutoFit/>
          </a:bodyPr>
          <a:lstStyle/>
          <a:p>
            <a:pPr algn="l">
              <a:spcBef>
                <a:spcPts val="0"/>
              </a:spcBef>
              <a:spcAft>
                <a:spcPts val="400"/>
              </a:spcAft>
            </a:pPr>
            <a:r>
              <a:rPr sz="900" b="0">
                <a:solidFill>
                  <a:srgbClr val="E7EFE0"/>
                </a:solidFill>
                <a:latin typeface="Calibri"/>
              </a:rPr>
              <a:t>Columbus Trade Mentorship Program  |  2025 Cohort Review</a:t>
            </a:r>
          </a:p>
        </p:txBody>
      </p:sp>
      <p:sp>
        <p:nvSpPr>
          <p:cNvPr id="17" name="TextBox 16"/>
          <p:cNvSpPr txBox="1"/>
          <p:nvPr/>
        </p:nvSpPr>
        <p:spPr>
          <a:xfrm>
            <a:off x="10820095" y="6473952"/>
            <a:ext cx="914400" cy="320040"/>
          </a:xfrm>
          <a:prstGeom prst="rect">
            <a:avLst/>
          </a:prstGeom>
          <a:noFill/>
        </p:spPr>
        <p:txBody>
          <a:bodyPr wrap="square" anchor="ctr">
            <a:spAutoFit/>
          </a:bodyPr>
          <a:lstStyle/>
          <a:p>
            <a:pPr algn="r">
              <a:spcBef>
                <a:spcPts val="0"/>
              </a:spcBef>
              <a:spcAft>
                <a:spcPts val="400"/>
              </a:spcAft>
            </a:pPr>
            <a:r>
              <a:rPr sz="900" b="1">
                <a:solidFill>
                  <a:srgbClr val="E7EFE0"/>
                </a:solidFill>
                <a:latin typeface="Calibri"/>
              </a:rPr>
              <a:t>2</a:t>
            </a:r>
          </a:p>
        </p:txBody>
      </p:sp>
    </p:spTree>
  </p:cSld>
  <p:clrMapOvr>
    <a:masterClrMapping/>
  </p:clrMapOvr>
  <p:transition spd="med">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10058400" cy="822960"/>
          </a:xfrm>
          <a:prstGeom prst="rect">
            <a:avLst/>
          </a:prstGeom>
          <a:noFill/>
        </p:spPr>
        <p:txBody>
          <a:bodyPr wrap="square" anchor="t">
            <a:spAutoFit/>
          </a:bodyPr>
          <a:lstStyle/>
          <a:p>
            <a:pPr algn="l">
              <a:spcBef>
                <a:spcPts val="0"/>
              </a:spcBef>
              <a:spcAft>
                <a:spcPts val="400"/>
              </a:spcAft>
            </a:pPr>
            <a:r>
              <a:rPr sz="3000" b="1">
                <a:solidFill>
                  <a:srgbClr val="F5F0E6"/>
                </a:solidFill>
                <a:latin typeface="Calibri"/>
              </a:rPr>
              <a:t>The 2025 Cohort at a Glance</a:t>
            </a:r>
          </a:p>
        </p:txBody>
      </p:sp>
      <p:sp>
        <p:nvSpPr>
          <p:cNvPr id="4" name="Rectangle 3"/>
          <p:cNvSpPr/>
          <p:nvPr/>
        </p:nvSpPr>
        <p:spPr>
          <a:xfrm>
            <a:off x="640080" y="1417320"/>
            <a:ext cx="3291840" cy="45720"/>
          </a:xfrm>
          <a:prstGeom prst="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194560"/>
            <a:ext cx="2057400" cy="2743200"/>
          </a:xfrm>
          <a:prstGeom prst="round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2194560"/>
            <a:ext cx="2057400" cy="118872"/>
          </a:xfrm>
          <a:prstGeom prst="round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697480"/>
            <a:ext cx="1783080" cy="1097280"/>
          </a:xfrm>
          <a:prstGeom prst="rect">
            <a:avLst/>
          </a:prstGeom>
          <a:noFill/>
        </p:spPr>
        <p:txBody>
          <a:bodyPr wrap="square" anchor="t">
            <a:spAutoFit/>
          </a:bodyPr>
          <a:lstStyle/>
          <a:p>
            <a:pPr algn="ctr">
              <a:spcBef>
                <a:spcPts val="0"/>
              </a:spcBef>
              <a:spcAft>
                <a:spcPts val="400"/>
              </a:spcAft>
            </a:pPr>
            <a:r>
              <a:rPr sz="3800" b="1">
                <a:solidFill>
                  <a:srgbClr val="F5F0E6"/>
                </a:solidFill>
                <a:latin typeface="Calibri"/>
              </a:rPr>
              <a:t>11</a:t>
            </a:r>
          </a:p>
        </p:txBody>
      </p:sp>
      <p:sp>
        <p:nvSpPr>
          <p:cNvPr id="8" name="TextBox 7"/>
          <p:cNvSpPr txBox="1"/>
          <p:nvPr/>
        </p:nvSpPr>
        <p:spPr>
          <a:xfrm>
            <a:off x="640080" y="3840480"/>
            <a:ext cx="1783080" cy="914400"/>
          </a:xfrm>
          <a:prstGeom prst="rect">
            <a:avLst/>
          </a:prstGeom>
          <a:noFill/>
        </p:spPr>
        <p:txBody>
          <a:bodyPr wrap="square" anchor="t">
            <a:spAutoFit/>
          </a:bodyPr>
          <a:lstStyle/>
          <a:p>
            <a:pPr algn="ctr">
              <a:spcBef>
                <a:spcPts val="0"/>
              </a:spcBef>
              <a:spcAft>
                <a:spcPts val="400"/>
              </a:spcAft>
            </a:pPr>
            <a:r>
              <a:rPr sz="1250" b="0">
                <a:solidFill>
                  <a:srgbClr val="DFE7D7"/>
                </a:solidFill>
                <a:latin typeface="Calibri"/>
              </a:rPr>
              <a:t>Participants matched</a:t>
            </a:r>
          </a:p>
        </p:txBody>
      </p:sp>
      <p:sp>
        <p:nvSpPr>
          <p:cNvPr id="9" name="Rounded Rectangle 8"/>
          <p:cNvSpPr/>
          <p:nvPr/>
        </p:nvSpPr>
        <p:spPr>
          <a:xfrm>
            <a:off x="2770632" y="2194560"/>
            <a:ext cx="2057400" cy="2743200"/>
          </a:xfrm>
          <a:prstGeom prst="round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70632" y="2194560"/>
            <a:ext cx="2057400" cy="118872"/>
          </a:xfrm>
          <a:prstGeom prst="round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07792" y="2697480"/>
            <a:ext cx="1783080" cy="1097280"/>
          </a:xfrm>
          <a:prstGeom prst="rect">
            <a:avLst/>
          </a:prstGeom>
          <a:noFill/>
        </p:spPr>
        <p:txBody>
          <a:bodyPr wrap="square" anchor="t">
            <a:spAutoFit/>
          </a:bodyPr>
          <a:lstStyle/>
          <a:p>
            <a:pPr algn="ctr">
              <a:spcBef>
                <a:spcPts val="0"/>
              </a:spcBef>
              <a:spcAft>
                <a:spcPts val="400"/>
              </a:spcAft>
            </a:pPr>
            <a:r>
              <a:rPr sz="3800" b="1">
                <a:solidFill>
                  <a:srgbClr val="F5F0E6"/>
                </a:solidFill>
                <a:latin typeface="Calibri"/>
              </a:rPr>
              <a:t>9</a:t>
            </a:r>
          </a:p>
        </p:txBody>
      </p:sp>
      <p:sp>
        <p:nvSpPr>
          <p:cNvPr id="12" name="TextBox 11"/>
          <p:cNvSpPr txBox="1"/>
          <p:nvPr/>
        </p:nvSpPr>
        <p:spPr>
          <a:xfrm>
            <a:off x="2907792" y="3840480"/>
            <a:ext cx="1783080" cy="914400"/>
          </a:xfrm>
          <a:prstGeom prst="rect">
            <a:avLst/>
          </a:prstGeom>
          <a:noFill/>
        </p:spPr>
        <p:txBody>
          <a:bodyPr wrap="square" anchor="t">
            <a:spAutoFit/>
          </a:bodyPr>
          <a:lstStyle/>
          <a:p>
            <a:pPr algn="ctr">
              <a:spcBef>
                <a:spcPts val="0"/>
              </a:spcBef>
              <a:spcAft>
                <a:spcPts val="400"/>
              </a:spcAft>
            </a:pPr>
            <a:r>
              <a:rPr sz="1250" b="0">
                <a:solidFill>
                  <a:srgbClr val="DFE7D7"/>
                </a:solidFill>
                <a:latin typeface="Calibri"/>
              </a:rPr>
              <a:t>Volunteer mentors</a:t>
            </a:r>
          </a:p>
        </p:txBody>
      </p:sp>
      <p:sp>
        <p:nvSpPr>
          <p:cNvPr id="13" name="Rounded Rectangle 12"/>
          <p:cNvSpPr/>
          <p:nvPr/>
        </p:nvSpPr>
        <p:spPr>
          <a:xfrm>
            <a:off x="5038344" y="2194560"/>
            <a:ext cx="2057400" cy="2743200"/>
          </a:xfrm>
          <a:prstGeom prst="round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38344" y="2194560"/>
            <a:ext cx="2057400" cy="118872"/>
          </a:xfrm>
          <a:prstGeom prst="round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75504" y="2697480"/>
            <a:ext cx="1783080" cy="1097280"/>
          </a:xfrm>
          <a:prstGeom prst="rect">
            <a:avLst/>
          </a:prstGeom>
          <a:noFill/>
        </p:spPr>
        <p:txBody>
          <a:bodyPr wrap="square" anchor="t">
            <a:spAutoFit/>
          </a:bodyPr>
          <a:lstStyle/>
          <a:p>
            <a:pPr algn="ctr">
              <a:spcBef>
                <a:spcPts val="0"/>
              </a:spcBef>
              <a:spcAft>
                <a:spcPts val="400"/>
              </a:spcAft>
            </a:pPr>
            <a:r>
              <a:rPr sz="3800" b="1">
                <a:solidFill>
                  <a:srgbClr val="F5F0E6"/>
                </a:solidFill>
                <a:latin typeface="Calibri"/>
              </a:rPr>
              <a:t>10</a:t>
            </a:r>
          </a:p>
        </p:txBody>
      </p:sp>
      <p:sp>
        <p:nvSpPr>
          <p:cNvPr id="16" name="TextBox 15"/>
          <p:cNvSpPr txBox="1"/>
          <p:nvPr/>
        </p:nvSpPr>
        <p:spPr>
          <a:xfrm>
            <a:off x="5175504" y="3840480"/>
            <a:ext cx="1783080" cy="914400"/>
          </a:xfrm>
          <a:prstGeom prst="rect">
            <a:avLst/>
          </a:prstGeom>
          <a:noFill/>
        </p:spPr>
        <p:txBody>
          <a:bodyPr wrap="square" anchor="t">
            <a:spAutoFit/>
          </a:bodyPr>
          <a:lstStyle/>
          <a:p>
            <a:pPr algn="ctr">
              <a:spcBef>
                <a:spcPts val="0"/>
              </a:spcBef>
              <a:spcAft>
                <a:spcPts val="400"/>
              </a:spcAft>
            </a:pPr>
            <a:r>
              <a:rPr sz="1250" b="0">
                <a:solidFill>
                  <a:srgbClr val="DFE7D7"/>
                </a:solidFill>
                <a:latin typeface="Calibri"/>
              </a:rPr>
              <a:t>Completed the program</a:t>
            </a:r>
          </a:p>
        </p:txBody>
      </p:sp>
      <p:sp>
        <p:nvSpPr>
          <p:cNvPr id="17" name="Rounded Rectangle 16"/>
          <p:cNvSpPr/>
          <p:nvPr/>
        </p:nvSpPr>
        <p:spPr>
          <a:xfrm>
            <a:off x="7306055" y="2194560"/>
            <a:ext cx="2057400" cy="2743200"/>
          </a:xfrm>
          <a:prstGeom prst="round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06055" y="2194560"/>
            <a:ext cx="2057400" cy="118872"/>
          </a:xfrm>
          <a:prstGeom prst="round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43215" y="2697480"/>
            <a:ext cx="1783080" cy="1097280"/>
          </a:xfrm>
          <a:prstGeom prst="rect">
            <a:avLst/>
          </a:prstGeom>
          <a:noFill/>
        </p:spPr>
        <p:txBody>
          <a:bodyPr wrap="square" anchor="t">
            <a:spAutoFit/>
          </a:bodyPr>
          <a:lstStyle/>
          <a:p>
            <a:pPr algn="ctr">
              <a:spcBef>
                <a:spcPts val="0"/>
              </a:spcBef>
              <a:spcAft>
                <a:spcPts val="400"/>
              </a:spcAft>
            </a:pPr>
            <a:r>
              <a:rPr sz="3800" b="1">
                <a:solidFill>
                  <a:srgbClr val="F5F0E6"/>
                </a:solidFill>
                <a:latin typeface="Calibri"/>
              </a:rPr>
              <a:t>91%</a:t>
            </a:r>
          </a:p>
        </p:txBody>
      </p:sp>
      <p:sp>
        <p:nvSpPr>
          <p:cNvPr id="20" name="TextBox 19"/>
          <p:cNvSpPr txBox="1"/>
          <p:nvPr/>
        </p:nvSpPr>
        <p:spPr>
          <a:xfrm>
            <a:off x="7443215" y="3840480"/>
            <a:ext cx="1783080" cy="914400"/>
          </a:xfrm>
          <a:prstGeom prst="rect">
            <a:avLst/>
          </a:prstGeom>
          <a:noFill/>
        </p:spPr>
        <p:txBody>
          <a:bodyPr wrap="square" anchor="t">
            <a:spAutoFit/>
          </a:bodyPr>
          <a:lstStyle/>
          <a:p>
            <a:pPr algn="ctr">
              <a:spcBef>
                <a:spcPts val="0"/>
              </a:spcBef>
              <a:spcAft>
                <a:spcPts val="400"/>
              </a:spcAft>
            </a:pPr>
            <a:r>
              <a:rPr sz="1250" b="0">
                <a:solidFill>
                  <a:srgbClr val="DFE7D7"/>
                </a:solidFill>
                <a:latin typeface="Calibri"/>
              </a:rPr>
              <a:t>Completion rate</a:t>
            </a:r>
          </a:p>
        </p:txBody>
      </p:sp>
      <p:sp>
        <p:nvSpPr>
          <p:cNvPr id="21" name="Rounded Rectangle 20"/>
          <p:cNvSpPr/>
          <p:nvPr/>
        </p:nvSpPr>
        <p:spPr>
          <a:xfrm>
            <a:off x="9573768" y="2194560"/>
            <a:ext cx="2057400" cy="2743200"/>
          </a:xfrm>
          <a:prstGeom prst="round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573768" y="2194560"/>
            <a:ext cx="2057400" cy="118872"/>
          </a:xfrm>
          <a:prstGeom prst="round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10928" y="2697480"/>
            <a:ext cx="1783080" cy="1097280"/>
          </a:xfrm>
          <a:prstGeom prst="rect">
            <a:avLst/>
          </a:prstGeom>
          <a:noFill/>
        </p:spPr>
        <p:txBody>
          <a:bodyPr wrap="square" anchor="t">
            <a:spAutoFit/>
          </a:bodyPr>
          <a:lstStyle/>
          <a:p>
            <a:pPr algn="ctr">
              <a:spcBef>
                <a:spcPts val="0"/>
              </a:spcBef>
              <a:spcAft>
                <a:spcPts val="400"/>
              </a:spcAft>
            </a:pPr>
            <a:r>
              <a:rPr sz="3800" b="1">
                <a:solidFill>
                  <a:srgbClr val="F5F0E6"/>
                </a:solidFill>
                <a:latin typeface="Calibri"/>
              </a:rPr>
              <a:t>5</a:t>
            </a:r>
          </a:p>
        </p:txBody>
      </p:sp>
      <p:sp>
        <p:nvSpPr>
          <p:cNvPr id="24" name="TextBox 23"/>
          <p:cNvSpPr txBox="1"/>
          <p:nvPr/>
        </p:nvSpPr>
        <p:spPr>
          <a:xfrm>
            <a:off x="9710928" y="3840480"/>
            <a:ext cx="1783080" cy="914400"/>
          </a:xfrm>
          <a:prstGeom prst="rect">
            <a:avLst/>
          </a:prstGeom>
          <a:noFill/>
        </p:spPr>
        <p:txBody>
          <a:bodyPr wrap="square" anchor="t">
            <a:spAutoFit/>
          </a:bodyPr>
          <a:lstStyle/>
          <a:p>
            <a:pPr algn="ctr">
              <a:spcBef>
                <a:spcPts val="0"/>
              </a:spcBef>
              <a:spcAft>
                <a:spcPts val="400"/>
              </a:spcAft>
            </a:pPr>
            <a:r>
              <a:rPr sz="1250" b="0">
                <a:solidFill>
                  <a:srgbClr val="DFE7D7"/>
                </a:solidFill>
                <a:latin typeface="Calibri"/>
              </a:rPr>
              <a:t>Group sessions held</a:t>
            </a:r>
          </a:p>
        </p:txBody>
      </p:sp>
      <p:sp>
        <p:nvSpPr>
          <p:cNvPr id="25" name="Rectangle 24"/>
          <p:cNvSpPr/>
          <p:nvPr/>
        </p:nvSpPr>
        <p:spPr>
          <a:xfrm>
            <a:off x="0" y="6446520"/>
            <a:ext cx="12191695" cy="411480"/>
          </a:xfrm>
          <a:prstGeom prst="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73952"/>
            <a:ext cx="8229600" cy="320040"/>
          </a:xfrm>
          <a:prstGeom prst="rect">
            <a:avLst/>
          </a:prstGeom>
          <a:noFill/>
        </p:spPr>
        <p:txBody>
          <a:bodyPr wrap="square" anchor="ctr">
            <a:spAutoFit/>
          </a:bodyPr>
          <a:lstStyle/>
          <a:p>
            <a:pPr algn="l">
              <a:spcBef>
                <a:spcPts val="0"/>
              </a:spcBef>
              <a:spcAft>
                <a:spcPts val="400"/>
              </a:spcAft>
            </a:pPr>
            <a:r>
              <a:rPr sz="900" b="0">
                <a:solidFill>
                  <a:srgbClr val="E7EFE0"/>
                </a:solidFill>
                <a:latin typeface="Calibri"/>
              </a:rPr>
              <a:t>Columbus Trade Mentorship Program  |  2025 Cohort Review</a:t>
            </a:r>
          </a:p>
        </p:txBody>
      </p:sp>
      <p:sp>
        <p:nvSpPr>
          <p:cNvPr id="27" name="TextBox 26"/>
          <p:cNvSpPr txBox="1"/>
          <p:nvPr/>
        </p:nvSpPr>
        <p:spPr>
          <a:xfrm>
            <a:off x="10820095" y="6473952"/>
            <a:ext cx="914400" cy="320040"/>
          </a:xfrm>
          <a:prstGeom prst="rect">
            <a:avLst/>
          </a:prstGeom>
          <a:noFill/>
        </p:spPr>
        <p:txBody>
          <a:bodyPr wrap="square" anchor="ctr">
            <a:spAutoFit/>
          </a:bodyPr>
          <a:lstStyle/>
          <a:p>
            <a:pPr algn="r">
              <a:spcBef>
                <a:spcPts val="0"/>
              </a:spcBef>
              <a:spcAft>
                <a:spcPts val="400"/>
              </a:spcAft>
            </a:pPr>
            <a:r>
              <a:rPr sz="900" b="1">
                <a:solidFill>
                  <a:srgbClr val="E7EFE0"/>
                </a:solidFill>
                <a:latin typeface="Calibri"/>
              </a:rPr>
              <a:t>3</a:t>
            </a:r>
          </a:p>
        </p:txBody>
      </p:sp>
    </p:spTree>
  </p:cSld>
  <p:clrMapOvr>
    <a:masterClrMapping/>
  </p:clrMapOvr>
  <p:transition spd="med">
    <p:push dir="l"/>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F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058400" cy="822960"/>
          </a:xfrm>
          <a:prstGeom prst="rect">
            <a:avLst/>
          </a:prstGeom>
          <a:noFill/>
        </p:spPr>
        <p:txBody>
          <a:bodyPr wrap="square" anchor="ctr">
            <a:spAutoFit/>
          </a:bodyPr>
          <a:lstStyle/>
          <a:p>
            <a:pPr algn="l">
              <a:spcBef>
                <a:spcPts val="0"/>
              </a:spcBef>
              <a:spcAft>
                <a:spcPts val="400"/>
              </a:spcAft>
            </a:pPr>
            <a:r>
              <a:rPr sz="3000" b="1">
                <a:solidFill>
                  <a:srgbClr val="F5F0E6"/>
                </a:solidFill>
                <a:latin typeface="Calibri"/>
              </a:rPr>
              <a:t>2025 Cohort Timeline</a:t>
            </a:r>
          </a:p>
        </p:txBody>
      </p:sp>
      <p:sp>
        <p:nvSpPr>
          <p:cNvPr id="5" name="Rectangle 4"/>
          <p:cNvSpPr/>
          <p:nvPr/>
        </p:nvSpPr>
        <p:spPr>
          <a:xfrm>
            <a:off x="1005840" y="3429000"/>
            <a:ext cx="10149840" cy="54864"/>
          </a:xfrm>
          <a:prstGeom prst="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600200" y="3310128"/>
            <a:ext cx="292608" cy="292608"/>
          </a:xfrm>
          <a:prstGeom prst="ellipse">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1965960" cy="1143000"/>
          </a:xfrm>
          <a:prstGeom prst="roundRect">
            <a:avLst/>
          </a:prstGeom>
          <a:solidFill>
            <a:srgbClr val="FFFFFF"/>
          </a:solidFill>
          <a:ln w="12700">
            <a:solidFill>
              <a:srgbClr val="E0D7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21408"/>
            <a:ext cx="1645920" cy="1005840"/>
          </a:xfrm>
          <a:prstGeom prst="rect">
            <a:avLst/>
          </a:prstGeom>
          <a:noFill/>
        </p:spPr>
        <p:txBody>
          <a:bodyPr wrap="square" anchor="t">
            <a:spAutoFit/>
          </a:bodyPr>
          <a:lstStyle/>
          <a:p>
            <a:pPr algn="l">
              <a:spcBef>
                <a:spcPts val="0"/>
              </a:spcBef>
              <a:spcAft>
                <a:spcPts val="400"/>
              </a:spcAft>
            </a:pPr>
            <a:r>
              <a:rPr sz="1300" b="1">
                <a:solidFill>
                  <a:srgbClr val="C56B3E"/>
                </a:solidFill>
                <a:latin typeface="Calibri"/>
              </a:rPr>
              <a:t>January 2025</a:t>
            </a:r>
          </a:p>
          <a:p>
            <a:pPr algn="l">
              <a:spcBef>
                <a:spcPts val="0"/>
              </a:spcBef>
              <a:spcAft>
                <a:spcPts val="400"/>
              </a:spcAft>
            </a:pPr>
            <a:r>
              <a:rPr sz="1150" b="0">
                <a:solidFill>
                  <a:srgbClr val="2C3A2E"/>
                </a:solidFill>
                <a:latin typeface="Calibri"/>
              </a:rPr>
              <a:t>Kickoff and orientation</a:t>
            </a:r>
          </a:p>
        </p:txBody>
      </p:sp>
      <p:sp>
        <p:nvSpPr>
          <p:cNvPr id="9" name="Oval 8"/>
          <p:cNvSpPr/>
          <p:nvPr/>
        </p:nvSpPr>
        <p:spPr>
          <a:xfrm>
            <a:off x="3813048" y="3310128"/>
            <a:ext cx="292608" cy="292608"/>
          </a:xfrm>
          <a:prstGeom prst="ellipse">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35808" y="3886200"/>
            <a:ext cx="1965960" cy="1143000"/>
          </a:xfrm>
          <a:prstGeom prst="roundRect">
            <a:avLst/>
          </a:prstGeom>
          <a:solidFill>
            <a:srgbClr val="FFFFFF"/>
          </a:solidFill>
          <a:ln w="12700">
            <a:solidFill>
              <a:srgbClr val="E0D7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18688" y="3995928"/>
            <a:ext cx="1645920" cy="1005840"/>
          </a:xfrm>
          <a:prstGeom prst="rect">
            <a:avLst/>
          </a:prstGeom>
          <a:noFill/>
        </p:spPr>
        <p:txBody>
          <a:bodyPr wrap="square" anchor="t">
            <a:spAutoFit/>
          </a:bodyPr>
          <a:lstStyle/>
          <a:p>
            <a:pPr algn="l">
              <a:spcBef>
                <a:spcPts val="0"/>
              </a:spcBef>
              <a:spcAft>
                <a:spcPts val="400"/>
              </a:spcAft>
            </a:pPr>
            <a:r>
              <a:rPr sz="1300" b="1">
                <a:solidFill>
                  <a:srgbClr val="C56B3E"/>
                </a:solidFill>
                <a:latin typeface="Calibri"/>
              </a:rPr>
              <a:t>February 2025</a:t>
            </a:r>
          </a:p>
          <a:p>
            <a:pPr algn="l">
              <a:spcBef>
                <a:spcPts val="0"/>
              </a:spcBef>
              <a:spcAft>
                <a:spcPts val="400"/>
              </a:spcAft>
            </a:pPr>
            <a:r>
              <a:rPr sz="1150" b="0">
                <a:solidFill>
                  <a:srgbClr val="2C3A2E"/>
                </a:solidFill>
                <a:latin typeface="Calibri"/>
              </a:rPr>
              <a:t>Mentor pairings finalized</a:t>
            </a:r>
          </a:p>
        </p:txBody>
      </p:sp>
      <p:sp>
        <p:nvSpPr>
          <p:cNvPr id="12" name="Oval 11"/>
          <p:cNvSpPr/>
          <p:nvPr/>
        </p:nvSpPr>
        <p:spPr>
          <a:xfrm>
            <a:off x="6025896" y="3310128"/>
            <a:ext cx="292608" cy="292608"/>
          </a:xfrm>
          <a:prstGeom prst="ellipse">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48656" y="2011680"/>
            <a:ext cx="1965960" cy="1143000"/>
          </a:xfrm>
          <a:prstGeom prst="roundRect">
            <a:avLst/>
          </a:prstGeom>
          <a:solidFill>
            <a:srgbClr val="FFFFFF"/>
          </a:solidFill>
          <a:ln w="12700">
            <a:solidFill>
              <a:srgbClr val="E0D7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31536" y="2121408"/>
            <a:ext cx="1645920" cy="1005840"/>
          </a:xfrm>
          <a:prstGeom prst="rect">
            <a:avLst/>
          </a:prstGeom>
          <a:noFill/>
        </p:spPr>
        <p:txBody>
          <a:bodyPr wrap="square" anchor="t">
            <a:spAutoFit/>
          </a:bodyPr>
          <a:lstStyle/>
          <a:p>
            <a:pPr algn="l">
              <a:spcBef>
                <a:spcPts val="0"/>
              </a:spcBef>
              <a:spcAft>
                <a:spcPts val="400"/>
              </a:spcAft>
            </a:pPr>
            <a:r>
              <a:rPr sz="1300" b="1">
                <a:solidFill>
                  <a:srgbClr val="C56B3E"/>
                </a:solidFill>
                <a:latin typeface="Calibri"/>
              </a:rPr>
              <a:t>March 2025</a:t>
            </a:r>
          </a:p>
          <a:p>
            <a:pPr algn="l">
              <a:spcBef>
                <a:spcPts val="0"/>
              </a:spcBef>
              <a:spcAft>
                <a:spcPts val="400"/>
              </a:spcAft>
            </a:pPr>
            <a:r>
              <a:rPr sz="1150" b="0">
                <a:solidFill>
                  <a:srgbClr val="2C3A2E"/>
                </a:solidFill>
                <a:latin typeface="Calibri"/>
              </a:rPr>
              <a:t>USMCA rules workshop</a:t>
            </a:r>
          </a:p>
        </p:txBody>
      </p:sp>
      <p:sp>
        <p:nvSpPr>
          <p:cNvPr id="15" name="Oval 14"/>
          <p:cNvSpPr/>
          <p:nvPr/>
        </p:nvSpPr>
        <p:spPr>
          <a:xfrm>
            <a:off x="8238744" y="3310128"/>
            <a:ext cx="292608" cy="292608"/>
          </a:xfrm>
          <a:prstGeom prst="ellipse">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61504" y="3886200"/>
            <a:ext cx="1965960" cy="1143000"/>
          </a:xfrm>
          <a:prstGeom prst="roundRect">
            <a:avLst/>
          </a:prstGeom>
          <a:solidFill>
            <a:srgbClr val="FFFFFF"/>
          </a:solidFill>
          <a:ln w="12700">
            <a:solidFill>
              <a:srgbClr val="E0D7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44383" y="3995928"/>
            <a:ext cx="1645920" cy="1005840"/>
          </a:xfrm>
          <a:prstGeom prst="rect">
            <a:avLst/>
          </a:prstGeom>
          <a:noFill/>
        </p:spPr>
        <p:txBody>
          <a:bodyPr wrap="square" anchor="t">
            <a:spAutoFit/>
          </a:bodyPr>
          <a:lstStyle/>
          <a:p>
            <a:pPr algn="l">
              <a:spcBef>
                <a:spcPts val="0"/>
              </a:spcBef>
              <a:spcAft>
                <a:spcPts val="400"/>
              </a:spcAft>
            </a:pPr>
            <a:r>
              <a:rPr sz="1300" b="1">
                <a:solidFill>
                  <a:srgbClr val="C56B3E"/>
                </a:solidFill>
                <a:latin typeface="Calibri"/>
              </a:rPr>
              <a:t>May 2025</a:t>
            </a:r>
          </a:p>
          <a:p>
            <a:pPr algn="l">
              <a:spcBef>
                <a:spcPts val="0"/>
              </a:spcBef>
              <a:spcAft>
                <a:spcPts val="400"/>
              </a:spcAft>
            </a:pPr>
            <a:r>
              <a:rPr sz="1150" b="0">
                <a:solidFill>
                  <a:srgbClr val="2C3A2E"/>
                </a:solidFill>
                <a:latin typeface="Calibri"/>
              </a:rPr>
              <a:t>Mid cohort review</a:t>
            </a:r>
          </a:p>
        </p:txBody>
      </p:sp>
      <p:sp>
        <p:nvSpPr>
          <p:cNvPr id="18" name="Oval 17"/>
          <p:cNvSpPr/>
          <p:nvPr/>
        </p:nvSpPr>
        <p:spPr>
          <a:xfrm>
            <a:off x="10451592" y="3310128"/>
            <a:ext cx="292608" cy="292608"/>
          </a:xfrm>
          <a:prstGeom prst="ellipse">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74352" y="2011680"/>
            <a:ext cx="1965960" cy="1143000"/>
          </a:xfrm>
          <a:prstGeom prst="roundRect">
            <a:avLst/>
          </a:prstGeom>
          <a:solidFill>
            <a:srgbClr val="FFFFFF"/>
          </a:solidFill>
          <a:ln w="12700">
            <a:solidFill>
              <a:srgbClr val="E0D7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57232" y="2121408"/>
            <a:ext cx="1645920" cy="1005840"/>
          </a:xfrm>
          <a:prstGeom prst="rect">
            <a:avLst/>
          </a:prstGeom>
          <a:noFill/>
        </p:spPr>
        <p:txBody>
          <a:bodyPr wrap="square" anchor="t">
            <a:spAutoFit/>
          </a:bodyPr>
          <a:lstStyle/>
          <a:p>
            <a:pPr algn="l">
              <a:spcBef>
                <a:spcPts val="0"/>
              </a:spcBef>
              <a:spcAft>
                <a:spcPts val="400"/>
              </a:spcAft>
            </a:pPr>
            <a:r>
              <a:rPr sz="1300" b="1">
                <a:solidFill>
                  <a:srgbClr val="C56B3E"/>
                </a:solidFill>
                <a:latin typeface="Calibri"/>
              </a:rPr>
              <a:t>June 2025</a:t>
            </a:r>
          </a:p>
          <a:p>
            <a:pPr algn="l">
              <a:spcBef>
                <a:spcPts val="0"/>
              </a:spcBef>
              <a:spcAft>
                <a:spcPts val="400"/>
              </a:spcAft>
            </a:pPr>
            <a:r>
              <a:rPr sz="1150" b="0">
                <a:solidFill>
                  <a:srgbClr val="2C3A2E"/>
                </a:solidFill>
                <a:latin typeface="Calibri"/>
              </a:rPr>
              <a:t>Closing reception</a:t>
            </a:r>
          </a:p>
        </p:txBody>
      </p:sp>
      <p:sp>
        <p:nvSpPr>
          <p:cNvPr id="21" name="Rectangle 20"/>
          <p:cNvSpPr/>
          <p:nvPr/>
        </p:nvSpPr>
        <p:spPr>
          <a:xfrm>
            <a:off x="0" y="6446520"/>
            <a:ext cx="12191695" cy="411480"/>
          </a:xfrm>
          <a:prstGeom prst="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473952"/>
            <a:ext cx="8229600" cy="320040"/>
          </a:xfrm>
          <a:prstGeom prst="rect">
            <a:avLst/>
          </a:prstGeom>
          <a:noFill/>
        </p:spPr>
        <p:txBody>
          <a:bodyPr wrap="square" anchor="ctr">
            <a:spAutoFit/>
          </a:bodyPr>
          <a:lstStyle/>
          <a:p>
            <a:pPr algn="l">
              <a:spcBef>
                <a:spcPts val="0"/>
              </a:spcBef>
              <a:spcAft>
                <a:spcPts val="400"/>
              </a:spcAft>
            </a:pPr>
            <a:r>
              <a:rPr sz="900" b="0">
                <a:solidFill>
                  <a:srgbClr val="E7EFE0"/>
                </a:solidFill>
                <a:latin typeface="Calibri"/>
              </a:rPr>
              <a:t>Columbus Trade Mentorship Program  |  2025 Cohort Review</a:t>
            </a:r>
          </a:p>
        </p:txBody>
      </p:sp>
      <p:sp>
        <p:nvSpPr>
          <p:cNvPr id="23" name="TextBox 22"/>
          <p:cNvSpPr txBox="1"/>
          <p:nvPr/>
        </p:nvSpPr>
        <p:spPr>
          <a:xfrm>
            <a:off x="10820095" y="6473952"/>
            <a:ext cx="914400" cy="320040"/>
          </a:xfrm>
          <a:prstGeom prst="rect">
            <a:avLst/>
          </a:prstGeom>
          <a:noFill/>
        </p:spPr>
        <p:txBody>
          <a:bodyPr wrap="square" anchor="ctr">
            <a:spAutoFit/>
          </a:bodyPr>
          <a:lstStyle/>
          <a:p>
            <a:pPr algn="r">
              <a:spcBef>
                <a:spcPts val="0"/>
              </a:spcBef>
              <a:spcAft>
                <a:spcPts val="400"/>
              </a:spcAft>
            </a:pPr>
            <a:r>
              <a:rPr sz="900" b="1">
                <a:solidFill>
                  <a:srgbClr val="E7EFE0"/>
                </a:solidFill>
                <a:latin typeface="Calibri"/>
              </a:rPr>
              <a:t>4</a:t>
            </a:r>
          </a:p>
        </p:txBody>
      </p:sp>
    </p:spTree>
  </p:cSld>
  <p:clrMapOvr>
    <a:masterClrMapping/>
  </p:clrMapOvr>
  <p:transition spd="med">
    <p:push dir="l"/>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F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058400" cy="822960"/>
          </a:xfrm>
          <a:prstGeom prst="rect">
            <a:avLst/>
          </a:prstGeom>
          <a:noFill/>
        </p:spPr>
        <p:txBody>
          <a:bodyPr wrap="square" anchor="ctr">
            <a:spAutoFit/>
          </a:bodyPr>
          <a:lstStyle/>
          <a:p>
            <a:pPr algn="l">
              <a:spcBef>
                <a:spcPts val="0"/>
              </a:spcBef>
              <a:spcAft>
                <a:spcPts val="400"/>
              </a:spcAft>
            </a:pPr>
            <a:r>
              <a:rPr sz="3000" b="1">
                <a:solidFill>
                  <a:srgbClr val="F5F0E6"/>
                </a:solidFill>
                <a:latin typeface="Calibri"/>
              </a:rPr>
              <a:t>Mentors and Curriculum</a:t>
            </a:r>
          </a:p>
        </p:txBody>
      </p:sp>
      <p:sp>
        <p:nvSpPr>
          <p:cNvPr id="5" name="Rounded Rectangle 4"/>
          <p:cNvSpPr/>
          <p:nvPr/>
        </p:nvSpPr>
        <p:spPr>
          <a:xfrm>
            <a:off x="640080" y="1737360"/>
            <a:ext cx="5212080" cy="4206240"/>
          </a:xfrm>
          <a:prstGeom prst="roundRect">
            <a:avLst/>
          </a:prstGeom>
          <a:solidFill>
            <a:srgbClr val="FFFFFF"/>
          </a:solidFill>
          <a:ln w="12700">
            <a:solidFill>
              <a:srgbClr val="E0D7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737360"/>
            <a:ext cx="5212080" cy="822960"/>
          </a:xfrm>
          <a:prstGeom prst="round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663440" cy="640080"/>
          </a:xfrm>
          <a:prstGeom prst="rect">
            <a:avLst/>
          </a:prstGeom>
          <a:noFill/>
        </p:spPr>
        <p:txBody>
          <a:bodyPr wrap="square" anchor="ctr">
            <a:spAutoFit/>
          </a:bodyPr>
          <a:lstStyle/>
          <a:p>
            <a:pPr algn="l">
              <a:spcBef>
                <a:spcPts val="0"/>
              </a:spcBef>
              <a:spcAft>
                <a:spcPts val="400"/>
              </a:spcAft>
            </a:pPr>
            <a:r>
              <a:rPr sz="1800" b="1">
                <a:solidFill>
                  <a:srgbClr val="FFFFFF"/>
                </a:solidFill>
                <a:latin typeface="Calibri"/>
              </a:rPr>
              <a:t>Mentor Pool</a:t>
            </a:r>
          </a:p>
        </p:txBody>
      </p:sp>
      <p:sp>
        <p:nvSpPr>
          <p:cNvPr id="8" name="TextBox 7"/>
          <p:cNvSpPr txBox="1"/>
          <p:nvPr/>
        </p:nvSpPr>
        <p:spPr>
          <a:xfrm>
            <a:off x="914400" y="2743200"/>
            <a:ext cx="4663440" cy="3017520"/>
          </a:xfrm>
          <a:prstGeom prst="rect">
            <a:avLst/>
          </a:prstGeom>
          <a:noFill/>
        </p:spPr>
        <p:txBody>
          <a:bodyPr wrap="square" anchor="t">
            <a:spAutoFit/>
          </a:bodyPr>
          <a:lstStyle/>
          <a:p>
            <a:pPr algn="l">
              <a:spcBef>
                <a:spcPts val="0"/>
              </a:spcBef>
              <a:spcAft>
                <a:spcPts val="400"/>
              </a:spcAft>
            </a:pPr>
            <a:r>
              <a:rPr sz="1400" b="0">
                <a:solidFill>
                  <a:srgbClr val="2C3A2E"/>
                </a:solidFill>
                <a:latin typeface="Calibri"/>
              </a:rPr>
              <a:t>Nine volunteer practitioners drawn from Central Ohio trade, logistics, and customs brokerage firms. Each mentor carried one or two participants through the full six month cycle, with directors stepping in for classification and exam coaching.</a:t>
            </a:r>
          </a:p>
        </p:txBody>
      </p:sp>
      <p:sp>
        <p:nvSpPr>
          <p:cNvPr id="9" name="Rounded Rectangle 8"/>
          <p:cNvSpPr/>
          <p:nvPr/>
        </p:nvSpPr>
        <p:spPr>
          <a:xfrm>
            <a:off x="6309360" y="1737360"/>
            <a:ext cx="5212080" cy="4206240"/>
          </a:xfrm>
          <a:prstGeom prst="roundRect">
            <a:avLst/>
          </a:prstGeom>
          <a:solidFill>
            <a:srgbClr val="FFFFFF"/>
          </a:solidFill>
          <a:ln w="12700">
            <a:solidFill>
              <a:srgbClr val="E0D7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1737360"/>
            <a:ext cx="5212080" cy="822960"/>
          </a:xfrm>
          <a:prstGeom prst="round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828800"/>
            <a:ext cx="4663440" cy="640080"/>
          </a:xfrm>
          <a:prstGeom prst="rect">
            <a:avLst/>
          </a:prstGeom>
          <a:noFill/>
        </p:spPr>
        <p:txBody>
          <a:bodyPr wrap="square" anchor="ctr">
            <a:spAutoFit/>
          </a:bodyPr>
          <a:lstStyle/>
          <a:p>
            <a:pPr algn="l">
              <a:spcBef>
                <a:spcPts val="0"/>
              </a:spcBef>
              <a:spcAft>
                <a:spcPts val="400"/>
              </a:spcAft>
            </a:pPr>
            <a:r>
              <a:rPr sz="1800" b="1">
                <a:solidFill>
                  <a:srgbClr val="FFFFFF"/>
                </a:solidFill>
                <a:latin typeface="Calibri"/>
              </a:rPr>
              <a:t>Curriculum</a:t>
            </a:r>
          </a:p>
        </p:txBody>
      </p:sp>
      <p:sp>
        <p:nvSpPr>
          <p:cNvPr id="12" name="TextBox 11"/>
          <p:cNvSpPr txBox="1"/>
          <p:nvPr/>
        </p:nvSpPr>
        <p:spPr>
          <a:xfrm>
            <a:off x="6583680" y="2788920"/>
            <a:ext cx="4663440" cy="3017520"/>
          </a:xfrm>
          <a:prstGeom prst="rect">
            <a:avLst/>
          </a:prstGeom>
          <a:noFill/>
        </p:spPr>
        <p:txBody>
          <a:bodyPr wrap="square" anchor="t">
            <a:spAutoFit/>
          </a:bodyPr>
          <a:lstStyle/>
          <a:p>
            <a:pPr algn="l">
              <a:spcBef>
                <a:spcPts val="0"/>
              </a:spcBef>
              <a:spcAft>
                <a:spcPts val="900"/>
              </a:spcAft>
            </a:pPr>
            <a:r>
              <a:rPr sz="1450" b="0">
                <a:solidFill>
                  <a:srgbClr val="2C3A2E"/>
                </a:solidFill>
                <a:latin typeface="Calibri"/>
              </a:rPr>
              <a:t>- Classification fundamentals</a:t>
            </a:r>
          </a:p>
          <a:p>
            <a:pPr algn="l">
              <a:spcBef>
                <a:spcPts val="0"/>
              </a:spcBef>
              <a:spcAft>
                <a:spcPts val="900"/>
              </a:spcAft>
            </a:pPr>
            <a:r>
              <a:rPr sz="1450" b="0">
                <a:solidFill>
                  <a:srgbClr val="2C3A2E"/>
                </a:solidFill>
                <a:latin typeface="Calibri"/>
              </a:rPr>
              <a:t>- USMCA rules of origin</a:t>
            </a:r>
          </a:p>
          <a:p>
            <a:pPr algn="l">
              <a:spcBef>
                <a:spcPts val="0"/>
              </a:spcBef>
              <a:spcAft>
                <a:spcPts val="900"/>
              </a:spcAft>
            </a:pPr>
            <a:r>
              <a:rPr sz="1450" b="0">
                <a:solidFill>
                  <a:srgbClr val="2C3A2E"/>
                </a:solidFill>
                <a:latin typeface="Calibri"/>
              </a:rPr>
              <a:t>- Duty drawback basics</a:t>
            </a:r>
          </a:p>
          <a:p>
            <a:pPr algn="l">
              <a:spcBef>
                <a:spcPts val="0"/>
              </a:spcBef>
              <a:spcAft>
                <a:spcPts val="900"/>
              </a:spcAft>
            </a:pPr>
            <a:r>
              <a:rPr sz="1450" b="0">
                <a:solidFill>
                  <a:srgbClr val="2C3A2E"/>
                </a:solidFill>
                <a:latin typeface="Calibri"/>
              </a:rPr>
              <a:t>- Client communication</a:t>
            </a:r>
          </a:p>
          <a:p>
            <a:pPr algn="l">
              <a:spcBef>
                <a:spcPts val="0"/>
              </a:spcBef>
              <a:spcAft>
                <a:spcPts val="900"/>
              </a:spcAft>
            </a:pPr>
            <a:r>
              <a:rPr sz="1450" b="0">
                <a:solidFill>
                  <a:srgbClr val="2C3A2E"/>
                </a:solidFill>
                <a:latin typeface="Calibri"/>
              </a:rPr>
              <a:t>- Customs broker exam preparation</a:t>
            </a:r>
          </a:p>
        </p:txBody>
      </p:sp>
      <p:sp>
        <p:nvSpPr>
          <p:cNvPr id="13" name="Rectangle 12"/>
          <p:cNvSpPr/>
          <p:nvPr/>
        </p:nvSpPr>
        <p:spPr>
          <a:xfrm>
            <a:off x="0" y="6446520"/>
            <a:ext cx="12191695" cy="411480"/>
          </a:xfrm>
          <a:prstGeom prst="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473952"/>
            <a:ext cx="8229600" cy="320040"/>
          </a:xfrm>
          <a:prstGeom prst="rect">
            <a:avLst/>
          </a:prstGeom>
          <a:noFill/>
        </p:spPr>
        <p:txBody>
          <a:bodyPr wrap="square" anchor="ctr">
            <a:spAutoFit/>
          </a:bodyPr>
          <a:lstStyle/>
          <a:p>
            <a:pPr algn="l">
              <a:spcBef>
                <a:spcPts val="0"/>
              </a:spcBef>
              <a:spcAft>
                <a:spcPts val="400"/>
              </a:spcAft>
            </a:pPr>
            <a:r>
              <a:rPr sz="900" b="0">
                <a:solidFill>
                  <a:srgbClr val="E7EFE0"/>
                </a:solidFill>
                <a:latin typeface="Calibri"/>
              </a:rPr>
              <a:t>Columbus Trade Mentorship Program  |  2025 Cohort Review</a:t>
            </a:r>
          </a:p>
        </p:txBody>
      </p:sp>
      <p:sp>
        <p:nvSpPr>
          <p:cNvPr id="15" name="TextBox 14"/>
          <p:cNvSpPr txBox="1"/>
          <p:nvPr/>
        </p:nvSpPr>
        <p:spPr>
          <a:xfrm>
            <a:off x="10820095" y="6473952"/>
            <a:ext cx="914400" cy="320040"/>
          </a:xfrm>
          <a:prstGeom prst="rect">
            <a:avLst/>
          </a:prstGeom>
          <a:noFill/>
        </p:spPr>
        <p:txBody>
          <a:bodyPr wrap="square" anchor="ctr">
            <a:spAutoFit/>
          </a:bodyPr>
          <a:lstStyle/>
          <a:p>
            <a:pPr algn="r">
              <a:spcBef>
                <a:spcPts val="0"/>
              </a:spcBef>
              <a:spcAft>
                <a:spcPts val="400"/>
              </a:spcAft>
            </a:pPr>
            <a:r>
              <a:rPr sz="900" b="1">
                <a:solidFill>
                  <a:srgbClr val="E7EFE0"/>
                </a:solidFill>
                <a:latin typeface="Calibri"/>
              </a:rPr>
              <a:t>5</a:t>
            </a:r>
          </a:p>
        </p:txBody>
      </p:sp>
    </p:spTree>
  </p:cSld>
  <p:clrMapOvr>
    <a:masterClrMapping/>
  </p:clrMapOvr>
  <p:transition spd="med">
    <p:push dir="l"/>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F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058400" cy="822960"/>
          </a:xfrm>
          <a:prstGeom prst="rect">
            <a:avLst/>
          </a:prstGeom>
          <a:noFill/>
        </p:spPr>
        <p:txBody>
          <a:bodyPr wrap="square" anchor="ctr">
            <a:spAutoFit/>
          </a:bodyPr>
          <a:lstStyle/>
          <a:p>
            <a:pPr algn="l">
              <a:spcBef>
                <a:spcPts val="0"/>
              </a:spcBef>
              <a:spcAft>
                <a:spcPts val="400"/>
              </a:spcAft>
            </a:pPr>
            <a:r>
              <a:rPr sz="3000" b="1">
                <a:solidFill>
                  <a:srgbClr val="F5F0E6"/>
                </a:solidFill>
                <a:latin typeface="Calibri"/>
              </a:rPr>
              <a:t>Outcomes</a:t>
            </a:r>
          </a:p>
        </p:txBody>
      </p:sp>
      <p:sp>
        <p:nvSpPr>
          <p:cNvPr id="5" name="Rounded Rectangle 4"/>
          <p:cNvSpPr/>
          <p:nvPr/>
        </p:nvSpPr>
        <p:spPr>
          <a:xfrm>
            <a:off x="640080" y="1737360"/>
            <a:ext cx="5212080" cy="1828800"/>
          </a:xfrm>
          <a:prstGeom prst="round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4663440" cy="1463040"/>
          </a:xfrm>
          <a:prstGeom prst="rect">
            <a:avLst/>
          </a:prstGeom>
          <a:noFill/>
        </p:spPr>
        <p:txBody>
          <a:bodyPr wrap="square" anchor="t">
            <a:spAutoFit/>
          </a:bodyPr>
          <a:lstStyle/>
          <a:p>
            <a:pPr algn="l">
              <a:spcBef>
                <a:spcPts val="0"/>
              </a:spcBef>
              <a:spcAft>
                <a:spcPts val="400"/>
              </a:spcAft>
            </a:pPr>
            <a:r>
              <a:rPr sz="4400" b="1">
                <a:solidFill>
                  <a:srgbClr val="F5F0E6"/>
                </a:solidFill>
                <a:latin typeface="Calibri"/>
              </a:rPr>
              <a:t>91%</a:t>
            </a:r>
          </a:p>
          <a:p>
            <a:pPr algn="l">
              <a:spcBef>
                <a:spcPts val="0"/>
              </a:spcBef>
              <a:spcAft>
                <a:spcPts val="400"/>
              </a:spcAft>
            </a:pPr>
            <a:r>
              <a:rPr sz="1300" b="0">
                <a:solidFill>
                  <a:srgbClr val="E7EFE0"/>
                </a:solidFill>
                <a:latin typeface="Calibri"/>
              </a:rPr>
              <a:t>2025 completion, up from 89% in 2024</a:t>
            </a:r>
          </a:p>
        </p:txBody>
      </p:sp>
      <p:sp>
        <p:nvSpPr>
          <p:cNvPr id="7" name="Rounded Rectangle 6"/>
          <p:cNvSpPr/>
          <p:nvPr/>
        </p:nvSpPr>
        <p:spPr>
          <a:xfrm>
            <a:off x="640080" y="3749039"/>
            <a:ext cx="5212080" cy="2194560"/>
          </a:xfrm>
          <a:prstGeom prst="roundRect">
            <a:avLst/>
          </a:prstGeom>
          <a:solidFill>
            <a:srgbClr val="FFFFFF"/>
          </a:solidFill>
          <a:ln w="12700">
            <a:solidFill>
              <a:srgbClr val="E0D7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977639"/>
            <a:ext cx="4663440" cy="1828800"/>
          </a:xfrm>
          <a:prstGeom prst="rect">
            <a:avLst/>
          </a:prstGeom>
          <a:noFill/>
        </p:spPr>
        <p:txBody>
          <a:bodyPr wrap="square" anchor="t">
            <a:spAutoFit/>
          </a:bodyPr>
          <a:lstStyle/>
          <a:p>
            <a:pPr algn="l">
              <a:spcBef>
                <a:spcPts val="0"/>
              </a:spcBef>
              <a:spcAft>
                <a:spcPts val="400"/>
              </a:spcAft>
            </a:pPr>
            <a:r>
              <a:rPr sz="1400" b="0">
                <a:solidFill>
                  <a:srgbClr val="2C3A2E"/>
                </a:solidFill>
                <a:latin typeface="Calibri"/>
              </a:rPr>
              <a:t>Ten of eleven participants completed the full six month program. One withdrew in February for a job relocation. One passed the customs broker exam in October.</a:t>
            </a:r>
          </a:p>
        </p:txBody>
      </p:sp>
      <p:sp>
        <p:nvSpPr>
          <p:cNvPr id="9" name="Rounded Rectangle 8"/>
          <p:cNvSpPr/>
          <p:nvPr/>
        </p:nvSpPr>
        <p:spPr>
          <a:xfrm>
            <a:off x="6309360" y="1737360"/>
            <a:ext cx="5212080" cy="4206240"/>
          </a:xfrm>
          <a:prstGeom prst="roundRect">
            <a:avLst/>
          </a:prstGeom>
          <a:solidFill>
            <a:srgbClr val="1F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1737360"/>
            <a:ext cx="128016" cy="4206240"/>
          </a:xfrm>
          <a:prstGeom prst="round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2194560"/>
            <a:ext cx="4572000" cy="548640"/>
          </a:xfrm>
          <a:prstGeom prst="rect">
            <a:avLst/>
          </a:prstGeom>
          <a:noFill/>
        </p:spPr>
        <p:txBody>
          <a:bodyPr wrap="square" anchor="t">
            <a:spAutoFit/>
          </a:bodyPr>
          <a:lstStyle/>
          <a:p>
            <a:pPr algn="l">
              <a:spcBef>
                <a:spcPts val="0"/>
              </a:spcBef>
              <a:spcAft>
                <a:spcPts val="400"/>
              </a:spcAft>
            </a:pPr>
            <a:r>
              <a:rPr sz="1500" b="1">
                <a:solidFill>
                  <a:srgbClr val="C56B3E"/>
                </a:solidFill>
                <a:latin typeface="Calibri"/>
              </a:rPr>
              <a:t>In their words</a:t>
            </a:r>
          </a:p>
        </p:txBody>
      </p:sp>
      <p:sp>
        <p:nvSpPr>
          <p:cNvPr id="12" name="TextBox 11"/>
          <p:cNvSpPr txBox="1"/>
          <p:nvPr/>
        </p:nvSpPr>
        <p:spPr>
          <a:xfrm>
            <a:off x="6675120" y="2743200"/>
            <a:ext cx="4572000" cy="2926080"/>
          </a:xfrm>
          <a:prstGeom prst="rect">
            <a:avLst/>
          </a:prstGeom>
          <a:noFill/>
        </p:spPr>
        <p:txBody>
          <a:bodyPr wrap="square" anchor="t">
            <a:spAutoFit/>
          </a:bodyPr>
          <a:lstStyle/>
          <a:p>
            <a:pPr algn="l">
              <a:spcBef>
                <a:spcPts val="0"/>
              </a:spcBef>
              <a:spcAft>
                <a:spcPts val="400"/>
              </a:spcAft>
            </a:pPr>
            <a:r>
              <a:rPr sz="1700" b="0">
                <a:solidFill>
                  <a:srgbClr val="F5F0E6"/>
                </a:solidFill>
                <a:latin typeface="Calibri"/>
              </a:rPr>
              <a:t>"The session on USMCA rules was the most practical trade training I have had outside of a formal exam setting."</a:t>
            </a:r>
          </a:p>
          <a:p>
            <a:pPr algn="l">
              <a:spcBef>
                <a:spcPts val="0"/>
              </a:spcBef>
              <a:spcAft>
                <a:spcPts val="400"/>
              </a:spcAft>
            </a:pPr>
            <a:r>
              <a:rPr sz="800" b="0">
                <a:solidFill>
                  <a:srgbClr val="F5F0E6"/>
                </a:solidFill>
                <a:latin typeface="Calibri"/>
              </a:rPr>
              <a:t/>
            </a:r>
          </a:p>
          <a:p>
            <a:pPr algn="l">
              <a:spcBef>
                <a:spcPts val="0"/>
              </a:spcBef>
              <a:spcAft>
                <a:spcPts val="400"/>
              </a:spcAft>
            </a:pPr>
            <a:r>
              <a:rPr sz="1200" b="0">
                <a:solidFill>
                  <a:srgbClr val="BBC9B6"/>
                </a:solidFill>
                <a:latin typeface="Calibri"/>
              </a:rPr>
              <a:t>Anonymized participant survey</a:t>
            </a:r>
          </a:p>
        </p:txBody>
      </p:sp>
      <p:sp>
        <p:nvSpPr>
          <p:cNvPr id="13" name="Rectangle 12"/>
          <p:cNvSpPr/>
          <p:nvPr/>
        </p:nvSpPr>
        <p:spPr>
          <a:xfrm>
            <a:off x="0" y="6446520"/>
            <a:ext cx="12191695" cy="411480"/>
          </a:xfrm>
          <a:prstGeom prst="rect">
            <a:avLst/>
          </a:prstGeom>
          <a:solidFill>
            <a:srgbClr val="3E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473952"/>
            <a:ext cx="8229600" cy="320040"/>
          </a:xfrm>
          <a:prstGeom prst="rect">
            <a:avLst/>
          </a:prstGeom>
          <a:noFill/>
        </p:spPr>
        <p:txBody>
          <a:bodyPr wrap="square" anchor="ctr">
            <a:spAutoFit/>
          </a:bodyPr>
          <a:lstStyle/>
          <a:p>
            <a:pPr algn="l">
              <a:spcBef>
                <a:spcPts val="0"/>
              </a:spcBef>
              <a:spcAft>
                <a:spcPts val="400"/>
              </a:spcAft>
            </a:pPr>
            <a:r>
              <a:rPr sz="900" b="0">
                <a:solidFill>
                  <a:srgbClr val="E7EFE0"/>
                </a:solidFill>
                <a:latin typeface="Calibri"/>
              </a:rPr>
              <a:t>Columbus Trade Mentorship Program  |  2025 Cohort Review</a:t>
            </a:r>
          </a:p>
        </p:txBody>
      </p:sp>
      <p:sp>
        <p:nvSpPr>
          <p:cNvPr id="15" name="TextBox 14"/>
          <p:cNvSpPr txBox="1"/>
          <p:nvPr/>
        </p:nvSpPr>
        <p:spPr>
          <a:xfrm>
            <a:off x="10820095" y="6473952"/>
            <a:ext cx="914400" cy="320040"/>
          </a:xfrm>
          <a:prstGeom prst="rect">
            <a:avLst/>
          </a:prstGeom>
          <a:noFill/>
        </p:spPr>
        <p:txBody>
          <a:bodyPr wrap="square" anchor="ctr">
            <a:spAutoFit/>
          </a:bodyPr>
          <a:lstStyle/>
          <a:p>
            <a:pPr algn="r">
              <a:spcBef>
                <a:spcPts val="0"/>
              </a:spcBef>
              <a:spcAft>
                <a:spcPts val="400"/>
              </a:spcAft>
            </a:pPr>
            <a:r>
              <a:rPr sz="900" b="1">
                <a:solidFill>
                  <a:srgbClr val="E7EFE0"/>
                </a:solidFill>
                <a:latin typeface="Calibri"/>
              </a:rPr>
              <a:t>6</a:t>
            </a:r>
          </a:p>
        </p:txBody>
      </p:sp>
    </p:spTree>
  </p:cSld>
  <p:clrMapOvr>
    <a:masterClrMapping/>
  </p:clrMapOvr>
  <p:transition spd="med">
    <p:push dir="l"/>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058400" cy="914400"/>
          </a:xfrm>
          <a:prstGeom prst="rect">
            <a:avLst/>
          </a:prstGeom>
          <a:noFill/>
        </p:spPr>
        <p:txBody>
          <a:bodyPr wrap="square" anchor="t">
            <a:spAutoFit/>
          </a:bodyPr>
          <a:lstStyle/>
          <a:p>
            <a:pPr algn="l">
              <a:spcBef>
                <a:spcPts val="0"/>
              </a:spcBef>
              <a:spcAft>
                <a:spcPts val="400"/>
              </a:spcAft>
            </a:pPr>
            <a:r>
              <a:rPr sz="3400" b="1">
                <a:solidFill>
                  <a:srgbClr val="F5F0E6"/>
                </a:solidFill>
                <a:latin typeface="Calibri"/>
              </a:rPr>
              <a:t>Looking Ahead: 2026 Cohort</a:t>
            </a:r>
          </a:p>
        </p:txBody>
      </p:sp>
      <p:sp>
        <p:nvSpPr>
          <p:cNvPr id="5" name="Rectangle 4"/>
          <p:cNvSpPr/>
          <p:nvPr/>
        </p:nvSpPr>
        <p:spPr>
          <a:xfrm>
            <a:off x="914400" y="2286000"/>
            <a:ext cx="3840480" cy="45720"/>
          </a:xfrm>
          <a:prstGeom prst="rect">
            <a:avLst/>
          </a:prstGeom>
          <a:solidFill>
            <a:srgbClr val="C5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43200"/>
            <a:ext cx="10241280" cy="2743200"/>
          </a:xfrm>
          <a:prstGeom prst="rect">
            <a:avLst/>
          </a:prstGeom>
          <a:noFill/>
        </p:spPr>
        <p:txBody>
          <a:bodyPr wrap="square" anchor="t">
            <a:spAutoFit/>
          </a:bodyPr>
          <a:lstStyle/>
          <a:p>
            <a:pPr algn="l">
              <a:spcBef>
                <a:spcPts val="0"/>
              </a:spcBef>
              <a:spcAft>
                <a:spcPts val="1000"/>
              </a:spcAft>
            </a:pPr>
            <a:r>
              <a:rPr sz="1800" b="0">
                <a:solidFill>
                  <a:srgbClr val="FFFFFF"/>
                </a:solidFill>
                <a:latin typeface="Calibri"/>
              </a:rPr>
              <a:t>Applications for the 2026 cohort closed January 9, 2026.</a:t>
            </a:r>
          </a:p>
          <a:p>
            <a:pPr algn="l">
              <a:spcBef>
                <a:spcPts val="0"/>
              </a:spcBef>
              <a:spcAft>
                <a:spcPts val="1000"/>
              </a:spcAft>
            </a:pPr>
            <a:r>
              <a:rPr sz="1800" b="0">
                <a:solidFill>
                  <a:srgbClr val="FFFFFF"/>
                </a:solidFill>
                <a:latin typeface="Calibri"/>
              </a:rPr>
              <a:t>The cohort runs October 2026 through March 2027, with pairings already finalized.</a:t>
            </a:r>
          </a:p>
          <a:p>
            <a:pPr algn="l">
              <a:spcBef>
                <a:spcPts val="0"/>
              </a:spcBef>
              <a:spcAft>
                <a:spcPts val="1000"/>
              </a:spcAft>
            </a:pPr>
            <a:r>
              <a:rPr sz="1800" b="0">
                <a:solidFill>
                  <a:srgbClr val="FFFFFF"/>
                </a:solidFill>
                <a:latin typeface="Calibri"/>
              </a:rPr>
              <a:t>A renewed budget request of $1,200 will be presented to the Columbus Trade Association board at the October 2026 meeting.</a:t>
            </a:r>
          </a:p>
          <a:p>
            <a:pPr algn="l">
              <a:spcBef>
                <a:spcPts val="0"/>
              </a:spcBef>
              <a:spcAft>
                <a:spcPts val="1000"/>
              </a:spcAft>
            </a:pPr>
            <a:r>
              <a:rPr sz="1000" b="0">
                <a:solidFill>
                  <a:srgbClr val="FFFFFF"/>
                </a:solidFill>
                <a:latin typeface="Calibri"/>
              </a:rPr>
              <a:t/>
            </a:r>
          </a:p>
          <a:p>
            <a:pPr algn="l">
              <a:spcBef>
                <a:spcPts val="0"/>
              </a:spcBef>
              <a:spcAft>
                <a:spcPts val="1000"/>
              </a:spcAft>
            </a:pPr>
            <a:r>
              <a:rPr sz="1500" b="1">
                <a:solidFill>
                  <a:srgbClr val="C56B3E"/>
                </a:solidFill>
                <a:latin typeface="Calibri"/>
              </a:rPr>
              <a:t>Administered jointly by Kim Trade Services and Montoya Logistics.</a:t>
            </a:r>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