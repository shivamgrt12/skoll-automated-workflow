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0A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2011680"/>
            <a:ext cx="4754880" cy="54864"/>
          </a:xfrm>
          <a:prstGeom prst="rect">
            <a:avLst/>
          </a:prstGeom>
          <a:solidFill>
            <a:srgbClr val="E0A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40280"/>
            <a:ext cx="10058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KIM TRADE SERVICES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E0A422"/>
                </a:solidFill>
                <a:latin typeface="Calibri"/>
              </a:rPr>
              <a:t>Trade Compliance and Customs Advisory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0">
                <a:solidFill>
                  <a:srgbClr val="FFFFFF"/>
                </a:solidFill>
                <a:latin typeface="Calibri"/>
              </a:rPr>
              <a:t>Capabilities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C7D2DD"/>
                </a:solidFill>
                <a:latin typeface="Calibri"/>
              </a:rPr>
              <a:t>Jason Robert Kim, Managing Principal   |   US Customs Broker License No. 28471   |   Columbus, Ohio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Who We 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33414E"/>
                </a:solidFill>
                <a:latin typeface="Calibri"/>
              </a:rPr>
              <a:t>Kim Trade Services is a Columbus, Ohio trade compliance and consulting firm founded in 2008. We are a focused compliance practice, not a high volume paper shop. Every engagement is led by a licensed US Customs Broker, and accuracy per entry is the standard we are measured against.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840480"/>
            <a:ext cx="33832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3840480"/>
            <a:ext cx="3383280" cy="109728"/>
          </a:xfrm>
          <a:prstGeom prst="roundRect">
            <a:avLst/>
          </a:prstGeom>
          <a:solidFill>
            <a:srgbClr val="E0A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60520"/>
            <a:ext cx="28346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Founded 2008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5636F"/>
                </a:solidFill>
                <a:latin typeface="Calibri"/>
              </a:rPr>
              <a:t>Seventeen years in practice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840480"/>
            <a:ext cx="33832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43400" y="3840480"/>
            <a:ext cx="3383280" cy="109728"/>
          </a:xfrm>
          <a:prstGeom prst="roundRect">
            <a:avLst/>
          </a:prstGeom>
          <a:solidFill>
            <a:srgbClr val="E0A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4160520"/>
            <a:ext cx="28346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Six person team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5636F"/>
                </a:solidFill>
                <a:latin typeface="Calibri"/>
              </a:rPr>
              <a:t>Principal, specialists, support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3840480"/>
            <a:ext cx="33832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19" y="3840480"/>
            <a:ext cx="3383280" cy="109728"/>
          </a:xfrm>
          <a:prstGeom prst="roundRect">
            <a:avLst/>
          </a:prstGeom>
          <a:solidFill>
            <a:srgbClr val="E0A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4160520"/>
            <a:ext cx="28346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Board member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5636F"/>
                </a:solidFill>
                <a:latin typeface="Calibri"/>
              </a:rPr>
              <a:t>Columbus Trade Association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473952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C7D2DD"/>
                </a:solidFill>
                <a:latin typeface="Calibri"/>
              </a:rPr>
              <a:t>Kim Trade Services  |  Capabilities Briefing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473952"/>
            <a:ext cx="914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C7D2D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What We 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984248"/>
            <a:ext cx="457200" cy="457200"/>
          </a:xfrm>
          <a:prstGeom prst="ellipse">
            <a:avLst/>
          </a:prstGeom>
          <a:solidFill>
            <a:srgbClr val="E0A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28346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0F2A4A"/>
                </a:solidFill>
                <a:latin typeface="Calibri"/>
              </a:rPr>
              <a:t>Tariff Classification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5636F"/>
                </a:solidFill>
                <a:latin typeface="Calibri"/>
              </a:rPr>
              <a:t>HTS determinations defensible on audit.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9164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17720" y="1984248"/>
            <a:ext cx="457200" cy="457200"/>
          </a:xfrm>
          <a:prstGeom prst="ellipse">
            <a:avLst/>
          </a:prstGeom>
          <a:solidFill>
            <a:srgbClr val="E0A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560320"/>
            <a:ext cx="28346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0F2A4A"/>
                </a:solidFill>
                <a:latin typeface="Calibri"/>
              </a:rPr>
              <a:t>USMCA Compliance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5636F"/>
                </a:solidFill>
                <a:latin typeface="Calibri"/>
              </a:rPr>
              <a:t>Rules of origin, certification, blanket periods.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169164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21040" y="1984248"/>
            <a:ext cx="457200" cy="457200"/>
          </a:xfrm>
          <a:prstGeom prst="ellipse">
            <a:avLst/>
          </a:prstGeom>
          <a:solidFill>
            <a:srgbClr val="E0A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560320"/>
            <a:ext cx="28346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0F2A4A"/>
                </a:solidFill>
                <a:latin typeface="Calibri"/>
              </a:rPr>
              <a:t>Duty Drawback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5636F"/>
                </a:solidFill>
                <a:latin typeface="Calibri"/>
              </a:rPr>
              <a:t>Recovery claims under 19 CFR Part 190.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02336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4315968"/>
            <a:ext cx="457200" cy="457200"/>
          </a:xfrm>
          <a:prstGeom prst="ellipse">
            <a:avLst/>
          </a:prstGeom>
          <a:solidFill>
            <a:srgbClr val="E0A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892040"/>
            <a:ext cx="28346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0F2A4A"/>
                </a:solidFill>
                <a:latin typeface="Calibri"/>
              </a:rPr>
              <a:t>Importer Security Filing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5636F"/>
                </a:solidFill>
                <a:latin typeface="Calibri"/>
              </a:rPr>
              <a:t>Timely ISF for ocean cargo.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402336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17720" y="4315968"/>
            <a:ext cx="457200" cy="457200"/>
          </a:xfrm>
          <a:prstGeom prst="ellipse">
            <a:avLst/>
          </a:prstGeom>
          <a:solidFill>
            <a:srgbClr val="E0A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4892040"/>
            <a:ext cx="28346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0F2A4A"/>
                </a:solidFill>
                <a:latin typeface="Calibri"/>
              </a:rPr>
              <a:t>Trade Facilitation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5636F"/>
                </a:solidFill>
                <a:latin typeface="Calibri"/>
              </a:rPr>
              <a:t>Entry strategy and broker coordination.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402336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321040" y="4315968"/>
            <a:ext cx="457200" cy="457200"/>
          </a:xfrm>
          <a:prstGeom prst="ellipse">
            <a:avLst/>
          </a:prstGeom>
          <a:solidFill>
            <a:srgbClr val="E0A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4892040"/>
            <a:ext cx="28346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0F2A4A"/>
                </a:solidFill>
                <a:latin typeface="Calibri"/>
              </a:rPr>
              <a:t>Compliance Audits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5636F"/>
                </a:solidFill>
                <a:latin typeface="Calibri"/>
              </a:rPr>
              <a:t>Pre assessment review and remediation.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C7D2DD"/>
                </a:solidFill>
                <a:latin typeface="Calibri"/>
              </a:rPr>
              <a:t>Kim Trade Services  |  Capabilities Briefing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473952"/>
            <a:ext cx="914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C7D2D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By the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3657600" cy="45720"/>
          </a:xfrm>
          <a:prstGeom prst="rect">
            <a:avLst/>
          </a:prstGeom>
          <a:solidFill>
            <a:srgbClr val="E0A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5212080" cy="178308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128016" cy="1783080"/>
          </a:xfrm>
          <a:prstGeom prst="roundRect">
            <a:avLst/>
          </a:prstGeom>
          <a:solidFill>
            <a:srgbClr val="E0A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94560"/>
            <a:ext cx="45720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E0A422"/>
                </a:solidFill>
                <a:latin typeface="Calibri"/>
              </a:rPr>
              <a:t>17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D7DEE6"/>
                </a:solidFill>
                <a:latin typeface="Calibri"/>
              </a:rPr>
              <a:t>Years in practice, founded 2008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178308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128016" cy="1783080"/>
          </a:xfrm>
          <a:prstGeom prst="roundRect">
            <a:avLst/>
          </a:prstGeom>
          <a:solidFill>
            <a:srgbClr val="E0A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194560"/>
            <a:ext cx="45720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E0A422"/>
                </a:solidFill>
                <a:latin typeface="Calibri"/>
              </a:rPr>
              <a:t>30 to 40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D7DEE6"/>
                </a:solidFill>
                <a:latin typeface="Calibri"/>
              </a:rPr>
              <a:t>Active client engagements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114800"/>
            <a:ext cx="5212080" cy="178308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4114800"/>
            <a:ext cx="128016" cy="1783080"/>
          </a:xfrm>
          <a:prstGeom prst="roundRect">
            <a:avLst/>
          </a:prstGeom>
          <a:solidFill>
            <a:srgbClr val="E0A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297680"/>
            <a:ext cx="45720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E0A422"/>
                </a:solidFill>
                <a:latin typeface="Calibri"/>
              </a:rPr>
              <a:t>$689,400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D7DEE6"/>
                </a:solidFill>
                <a:latin typeface="Calibri"/>
              </a:rPr>
              <a:t>Gross billings, calendar year 2025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114800"/>
            <a:ext cx="5212080" cy="178308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4114800"/>
            <a:ext cx="128016" cy="1783080"/>
          </a:xfrm>
          <a:prstGeom prst="roundRect">
            <a:avLst/>
          </a:prstGeom>
          <a:solidFill>
            <a:srgbClr val="E0A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4297680"/>
            <a:ext cx="45720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E0A422"/>
                </a:solidFill>
                <a:latin typeface="Calibri"/>
              </a:rPr>
              <a:t>6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D7DEE6"/>
                </a:solidFill>
                <a:latin typeface="Calibri"/>
              </a:rPr>
              <a:t>Person compliance team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C7D2DD"/>
                </a:solidFill>
                <a:latin typeface="Calibri"/>
              </a:rPr>
              <a:t>Kim Trade Services  |  Capabilities Briefing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73952"/>
            <a:ext cx="914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C7D2D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Our USMCA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260604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2606040" cy="640080"/>
          </a:xfrm>
          <a:prstGeom prst="round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E0A422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063240"/>
            <a:ext cx="21031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F2A4A"/>
                </a:solidFill>
                <a:latin typeface="Calibri"/>
              </a:rPr>
              <a:t>Origin Analysis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5636F"/>
                </a:solidFill>
                <a:latin typeface="Calibri"/>
              </a:rPr>
              <a:t>Regional value content and tariff shift.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90672" y="3200400"/>
            <a:ext cx="365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E0A422"/>
                </a:solidFill>
                <a:latin typeface="Calibri"/>
              </a:rP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2194560"/>
            <a:ext cx="260604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01568" y="2194560"/>
            <a:ext cx="2606040" cy="640080"/>
          </a:xfrm>
          <a:prstGeom prst="round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01568" y="2286000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E0A422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063240"/>
            <a:ext cx="21031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F2A4A"/>
                </a:solidFill>
                <a:latin typeface="Calibri"/>
              </a:rPr>
              <a:t>Classification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5636F"/>
                </a:solidFill>
                <a:latin typeface="Calibri"/>
              </a:rPr>
              <a:t>HTS codes confirmed against the schedule.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200400"/>
            <a:ext cx="365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E0A422"/>
                </a:solidFill>
                <a:latin typeface="Calibri"/>
              </a:rPr>
              <a:t>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4496" y="2194560"/>
            <a:ext cx="260604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54496" y="2194560"/>
            <a:ext cx="2606040" cy="640080"/>
          </a:xfrm>
          <a:prstGeom prst="round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54496" y="2286000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E0A422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3063240"/>
            <a:ext cx="21031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F2A4A"/>
                </a:solidFill>
                <a:latin typeface="Calibri"/>
              </a:rPr>
              <a:t>Certification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5636F"/>
                </a:solidFill>
                <a:latin typeface="Calibri"/>
              </a:rPr>
              <a:t>Certificate of origin prepared and signed.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96528" y="3200400"/>
            <a:ext cx="365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E0A422"/>
                </a:solidFill>
                <a:latin typeface="Calibri"/>
              </a:rPr>
              <a:t>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07424" y="2194560"/>
            <a:ext cx="260604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07424" y="2194560"/>
            <a:ext cx="2606040" cy="640080"/>
          </a:xfrm>
          <a:prstGeom prst="round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07424" y="2286000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E0A422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3455" y="3063240"/>
            <a:ext cx="21031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F2A4A"/>
                </a:solidFill>
                <a:latin typeface="Calibri"/>
              </a:rPr>
              <a:t>Audit Defense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5636F"/>
                </a:solidFill>
                <a:latin typeface="Calibri"/>
              </a:rPr>
              <a:t>Records assembled to survive verification.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C7D2DD"/>
                </a:solidFill>
                <a:latin typeface="Calibri"/>
              </a:rPr>
              <a:t>Kim Trade Services  |  Capabilities Briefing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20095" y="6473952"/>
            <a:ext cx="914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C7D2D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Industries We Serve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33832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3383280" cy="100584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8346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Automotive Parts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71800"/>
            <a:ext cx="28346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F2A4A"/>
                </a:solidFill>
                <a:latin typeface="Calibri"/>
              </a:rPr>
              <a:t>Sensors, harnesses, stampings.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55636F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5636F"/>
                </a:solidFill>
                <a:latin typeface="Calibri"/>
              </a:rPr>
              <a:t>USMCA origin and Section 232 strategy.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37360"/>
            <a:ext cx="33832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43400" y="1737360"/>
            <a:ext cx="3383280" cy="100584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874519"/>
            <a:ext cx="28346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Agricultural Exporters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971800"/>
            <a:ext cx="28346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F2A4A"/>
                </a:solidFill>
                <a:latin typeface="Calibri"/>
              </a:rPr>
              <a:t>Grain, seed, oilseed products.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55636F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5636F"/>
                </a:solidFill>
                <a:latin typeface="Calibri"/>
              </a:rPr>
              <a:t>Drawback and phytosanitary documentation.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737360"/>
            <a:ext cx="33832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46719" y="1737360"/>
            <a:ext cx="3383280" cy="100584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874519"/>
            <a:ext cx="28346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Textiles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971800"/>
            <a:ext cx="28346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F2A4A"/>
                </a:solidFill>
                <a:latin typeface="Calibri"/>
              </a:rPr>
              <a:t>Yarn, woven fabric, apparel.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55636F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5636F"/>
                </a:solidFill>
                <a:latin typeface="Calibri"/>
              </a:rPr>
              <a:t>Classification by weight and fiber content.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C7D2DD"/>
                </a:solidFill>
                <a:latin typeface="Calibri"/>
              </a:rPr>
              <a:t>Kim Trade Services  |  Capabilities Briefing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73952"/>
            <a:ext cx="914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C7D2D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E0A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Let Us Handle the Detail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468880"/>
            <a:ext cx="4114800" cy="45720"/>
          </a:xfrm>
          <a:prstGeom prst="rect">
            <a:avLst/>
          </a:prstGeom>
          <a:solidFill>
            <a:srgbClr val="E0A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00584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E0A422"/>
                </a:solidFill>
                <a:latin typeface="Calibri"/>
              </a:rPr>
              <a:t>Jason Robert Kim, Managing Principal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820 Commerce Park Drive, Suite 204, Columbus, OH 43215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(614) 555-2947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jason.kim@finthesiss.ai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C7D2DD"/>
                </a:solidFill>
                <a:latin typeface="Calibri"/>
              </a:rPr>
              <a:t>US Customs Broker License No. 28471, Port of Cleveland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