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Main Street</c:v>
                </c:pt>
              </c:strCache>
            </c:strRef>
          </c:tx>
          <c:spPr>
            <a:solidFill>
              <a:srgbClr val="E6A93A"/>
            </a:solidFill>
          </c:spP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72</c:v>
                </c:pt>
                <c:pt idx="1">
                  <c:v>68</c:v>
                </c:pt>
                <c:pt idx="2">
                  <c:v>74</c:v>
                </c:pt>
                <c:pt idx="3">
                  <c:v>82</c:v>
                </c:pt>
                <c:pt idx="4">
                  <c:v>86</c:v>
                </c:pt>
                <c:pt idx="5">
                  <c:v>90</c:v>
                </c:pt>
                <c:pt idx="6">
                  <c:v>95</c:v>
                </c:pt>
                <c:pt idx="7">
                  <c:v>98</c:v>
                </c:pt>
                <c:pt idx="8">
                  <c:v>92</c:v>
                </c:pt>
                <c:pt idx="9">
                  <c:v>88</c:v>
                </c:pt>
                <c:pt idx="10">
                  <c:v>96</c:v>
                </c:pt>
                <c:pt idx="11">
                  <c:v>109</c:v>
                </c:pt>
              </c:numCache>
            </c:numRef>
          </c:val>
        </c:ser>
        <c:ser>
          <c:idx val="1"/>
          <c:order val="1"/>
          <c:tx>
            <c:strRef>
              <c:f>Sheet1!$C$1</c:f>
              <c:strCache>
                <c:ptCount val="1"/>
                <c:pt idx="0">
                  <c:v>Wayne</c:v>
                </c:pt>
              </c:strCache>
            </c:strRef>
          </c:tx>
          <c:spPr>
            <a:solidFill>
              <a:srgbClr val="D4694A"/>
            </a:solidFill>
          </c:spP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Sheet1!$C$2:$C$13</c:f>
              <c:numCache>
                <c:formatCode>General</c:formatCode>
                <c:ptCount val="12"/>
                <c:pt idx="0">
                  <c:v>48</c:v>
                </c:pt>
                <c:pt idx="1">
                  <c:v>46</c:v>
                </c:pt>
                <c:pt idx="2">
                  <c:v>52</c:v>
                </c:pt>
                <c:pt idx="3">
                  <c:v>58</c:v>
                </c:pt>
                <c:pt idx="4">
                  <c:v>62</c:v>
                </c:pt>
                <c:pt idx="5">
                  <c:v>66</c:v>
                </c:pt>
                <c:pt idx="6">
                  <c:v>71</c:v>
                </c:pt>
                <c:pt idx="7">
                  <c:v>70</c:v>
                </c:pt>
                <c:pt idx="8">
                  <c:v>64</c:v>
                </c:pt>
                <c:pt idx="9">
                  <c:v>60</c:v>
                </c:pt>
                <c:pt idx="10">
                  <c:v>68</c:v>
                </c:pt>
                <c:pt idx="11">
                  <c:v>85</c:v>
                </c:pt>
              </c:numCache>
            </c:numRef>
          </c:val>
        </c:ser>
        <c:axId val="-2068027336"/>
        <c:axId val="-2113994440"/>
      </c:barChart>
      <c:catAx>
        <c:axId val="-2068027336"/>
        <c:scaling>
          <c:orientation val="minMax"/>
        </c:scaling>
        <c:delete val="0"/>
        <c:axPos val="b"/>
        <c:majorTickMark val="out"/>
        <c:minorTickMark val="none"/>
        <c:tickLblPos val="nextTo"/>
        <c:spPr>
          <a:ln>
            <a:solidFill>
              <a:srgbClr val="F3E9D6"/>
            </a:solidFill>
          </a:ln>
        </c:spPr>
        <c:txPr>
          <a:bodyPr/>
          <a:lstStyle/>
          <a:p>
            <a:pPr>
              <a:defRPr sz="1000">
                <a:solidFill>
                  <a:srgbClr val="F3E9D6"/>
                </a:solidFill>
              </a:defRPr>
            </a:pPr>
          </a:p>
        </c:txPr>
        <c:crossAx val="-2113994440"/>
        <c:crosses val="autoZero"/>
        <c:auto val="1"/>
        <c:lblAlgn val="ctr"/>
        <c:lblOffset val="100"/>
        <c:noMultiLvlLbl val="0"/>
      </c:catAx>
      <c:valAx>
        <c:axId val="-2113994440"/>
        <c:scaling/>
        <c:delete val="0"/>
        <c:axPos val="l"/>
        <c:numFmt formatCode="#,##0&quot;, K&quot;" sourceLinked="0"/>
        <c:majorTickMark val="out"/>
        <c:minorTickMark val="none"/>
        <c:tickLblPos val="nextTo"/>
        <c:spPr>
          <a:ln>
            <a:solidFill>
              <a:srgbClr val="F3E9D6"/>
            </a:solidFill>
          </a:ln>
        </c:spPr>
        <c:txPr>
          <a:bodyPr/>
          <a:lstStyle/>
          <a:p>
            <a:pPr>
              <a:defRPr sz="1000">
                <a:solidFill>
                  <a:srgbClr val="F3E9D6"/>
                </a:solidFill>
              </a:defRPr>
            </a:pPr>
          </a:p>
        </c:txPr>
        <c:crossAx val="-2068027336"/>
        <c:crosses val="autoZero"/>
      </c:valAx>
    </c:plotArea>
    <c:legend>
      <c:legendPos val="b"/>
      <c:overlay val="0"/>
      <c:txPr>
        <a:bodyPr/>
        <a:lstStyle/>
        <a:p>
          <a:pPr>
            <a:defRPr sz="1100">
              <a:solidFill>
                <a:srgbClr val="F3E9D6"/>
              </a:solidFill>
            </a:defRPr>
          </a:pPr>
        </a:p>
      </c:txPr>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s</c:v>
                </c:pt>
              </c:strCache>
            </c:strRef>
          </c:tx>
          <c:dPt>
            <c:idx val="0"/>
            <c:spPr>
              <a:solidFill>
                <a:srgbClr val="D4694A"/>
              </a:solidFill>
            </c:spPr>
          </c:dPt>
          <c:dPt>
            <c:idx val="1"/>
            <c:spPr>
              <a:solidFill>
                <a:srgbClr val="E6A93A"/>
              </a:solidFill>
            </c:spPr>
          </c:dPt>
          <c:dPt>
            <c:idx val="2"/>
            <c:spPr>
              <a:solidFill>
                <a:srgbClr val="5FB487"/>
              </a:solidFill>
            </c:spPr>
          </c:dPt>
          <c:cat>
            <c:strRef>
              <c:f>Sheet1!$A$2:$A$4</c:f>
              <c:strCache>
                <c:ptCount val="3"/>
                <c:pt idx="0">
                  <c:v>Cost of goods</c:v>
                </c:pt>
                <c:pt idx="1">
                  <c:v>Labor</c:v>
                </c:pt>
                <c:pt idx="2">
                  <c:v>Margin retained</c:v>
                </c:pt>
              </c:strCache>
            </c:strRef>
          </c:cat>
          <c:val>
            <c:numRef>
              <c:f>Sheet1!$B$2:$B$4</c:f>
              <c:numCache>
                <c:formatCode>General</c:formatCode>
                <c:ptCount val="3"/>
                <c:pt idx="0">
                  <c:v>30</c:v>
                </c:pt>
                <c:pt idx="1">
                  <c:v>34</c:v>
                </c:pt>
                <c:pt idx="2">
                  <c:v>36</c:v>
                </c:pt>
              </c:numCache>
            </c:numRef>
          </c:val>
        </c:ser>
        <c:dLbls>
          <c:numFmt formatCode="0%" sourceLinked="0"/>
          <c:txPr>
            <a:bodyPr/>
            <a:lstStyle/>
            <a:p>
              <a:pPr>
                <a:defRPr sz="1000">
                  <a:solidFill>
                    <a:srgbClr val="FFFFFF"/>
                  </a:solidFill>
                </a:defRPr>
              </a:pPr>
            </a:p>
          </c:txPr>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solidFill>
                <a:srgbClr val="F3E9D6"/>
              </a:solidFill>
            </a:defRPr>
          </a:pPr>
        </a:p>
      </c:txPr>
    </c:legend>
    <c:plotVisOnly val="1"/>
    <c:dispBlanksAs val="gap"/>
    <c:showDLblsOverMax val="0"/>
  </c:chart>
  <c:txPr>
    <a:bodyPr/>
    <a:lstStyle/>
    <a:p>
      <a:pPr>
        <a:defRPr sz="1800"/>
      </a:pPr>
      <a:endParaR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Lamb leg per lb</c:v>
                </c:pt>
              </c:strCache>
            </c:strRef>
          </c:tx>
          <c:spPr>
            <a:solidFill>
              <a:srgbClr val="E6A93A"/>
            </a:solidFill>
            <a:ln w="31750">
              <a:solidFill>
                <a:srgbClr val="E6A93A"/>
              </a:solidFill>
            </a:ln>
          </c:spPr>
          <c:cat>
            <c:strRef>
              <c:f>Sheet1!$A$2:$A$9</c:f>
              <c:strCache>
                <c:ptCount val="8"/>
                <c:pt idx="0">
                  <c:v>Jan24</c:v>
                </c:pt>
                <c:pt idx="1">
                  <c:v>Apr24</c:v>
                </c:pt>
                <c:pt idx="2">
                  <c:v>Jul24</c:v>
                </c:pt>
                <c:pt idx="3">
                  <c:v>Oct24</c:v>
                </c:pt>
                <c:pt idx="4">
                  <c:v>Dec24</c:v>
                </c:pt>
                <c:pt idx="5">
                  <c:v>Mar25</c:v>
                </c:pt>
                <c:pt idx="6">
                  <c:v>Oct25</c:v>
                </c:pt>
                <c:pt idx="7">
                  <c:v>Jan26</c:v>
                </c:pt>
              </c:strCache>
            </c:strRef>
          </c:cat>
          <c:val>
            <c:numRef>
              <c:f>Sheet1!$B$2:$B$9</c:f>
              <c:numCache>
                <c:formatCode>General</c:formatCode>
                <c:ptCount val="8"/>
                <c:pt idx="0">
                  <c:v>6.1</c:v>
                </c:pt>
                <c:pt idx="1">
                  <c:v>6.35</c:v>
                </c:pt>
                <c:pt idx="2">
                  <c:v>6.7</c:v>
                </c:pt>
                <c:pt idx="3">
                  <c:v>6.95</c:v>
                </c:pt>
                <c:pt idx="4">
                  <c:v>7.05</c:v>
                </c:pt>
                <c:pt idx="5">
                  <c:v>7.2</c:v>
                </c:pt>
                <c:pt idx="6">
                  <c:v>7.3</c:v>
                </c:pt>
                <c:pt idx="7">
                  <c:v>7.4</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F3E9D6"/>
            </a:solidFill>
          </a:ln>
        </c:spPr>
        <c:txPr>
          <a:bodyPr/>
          <a:lstStyle/>
          <a:p>
            <a:pPr>
              <a:defRPr sz="1000">
                <a:solidFill>
                  <a:srgbClr val="F3E9D6"/>
                </a:solidFill>
              </a:defRPr>
            </a:pPr>
          </a:p>
        </c:txPr>
        <c:crossAx val="2140495176"/>
        <c:crosses val="autoZero"/>
        <c:auto val="1"/>
        <c:lblAlgn val="ctr"/>
        <c:lblOffset val="100"/>
        <c:noMultiLvlLbl val="0"/>
      </c:catAx>
      <c:valAx>
        <c:axId val="2140495176"/>
        <c:scaling/>
        <c:delete val="0"/>
        <c:axPos val="l"/>
        <c:numFmt formatCode="#,##0" sourceLinked="0"/>
        <c:majorTickMark val="out"/>
        <c:minorTickMark val="none"/>
        <c:tickLblPos val="nextTo"/>
        <c:spPr>
          <a:ln>
            <a:solidFill>
              <a:srgbClr val="F3E9D6"/>
            </a:solidFill>
          </a:ln>
        </c:spPr>
        <c:txPr>
          <a:bodyPr/>
          <a:lstStyle/>
          <a:p>
            <a:pPr>
              <a:defRPr sz="1000">
                <a:solidFill>
                  <a:srgbClr val="F3E9D6"/>
                </a:solidFill>
              </a:defRPr>
            </a:pPr>
          </a:p>
        </c:txPr>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chart" Target="../charts/char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6110C"/>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161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572000"/>
            <a:ext cx="12191695" cy="2286000"/>
          </a:xfrm>
          <a:prstGeom prst="rect">
            <a:avLst/>
          </a:prstGeom>
          <a:solidFill>
            <a:srgbClr val="2119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2240280"/>
            <a:ext cx="12191695" cy="54864"/>
          </a:xfrm>
          <a:prstGeom prst="rect">
            <a:avLst/>
          </a:prstGeom>
          <a:solidFill>
            <a:srgbClr val="E6A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914400"/>
            <a:ext cx="10058400" cy="457200"/>
          </a:xfrm>
          <a:prstGeom prst="rect">
            <a:avLst/>
          </a:prstGeom>
          <a:noFill/>
        </p:spPr>
        <p:txBody>
          <a:bodyPr wrap="square" anchor="t" lIns="0" rIns="0" tIns="0" bIns="0">
            <a:spAutoFit/>
          </a:bodyPr>
          <a:lstStyle/>
          <a:p>
            <a:pPr algn="l"/>
            <a:r>
              <a:rPr sz="1500" b="1" i="0">
                <a:solidFill>
                  <a:srgbClr val="E6A93A"/>
                </a:solidFill>
                <a:latin typeface="Segoe UI"/>
              </a:rPr>
              <a:t>ANATOLIA KEBAB HOUSE</a:t>
            </a:r>
          </a:p>
        </p:txBody>
      </p:sp>
      <p:sp>
        <p:nvSpPr>
          <p:cNvPr id="6" name="TextBox 5"/>
          <p:cNvSpPr txBox="1"/>
          <p:nvPr/>
        </p:nvSpPr>
        <p:spPr>
          <a:xfrm>
            <a:off x="822960" y="1463040"/>
            <a:ext cx="10607040" cy="1828800"/>
          </a:xfrm>
          <a:prstGeom prst="rect">
            <a:avLst/>
          </a:prstGeom>
          <a:noFill/>
        </p:spPr>
        <p:txBody>
          <a:bodyPr wrap="square" anchor="t" lIns="0" rIns="0" tIns="0" bIns="0">
            <a:spAutoFit/>
          </a:bodyPr>
          <a:lstStyle/>
          <a:p>
            <a:pPr algn="l"/>
            <a:r>
              <a:rPr sz="5200" b="1" i="0">
                <a:solidFill>
                  <a:srgbClr val="F3E9D6"/>
                </a:solidFill>
                <a:latin typeface="Segoe UI"/>
              </a:rPr>
              <a:t>Wayne Location</a:t>
            </a:r>
          </a:p>
          <a:p>
            <a:pPr algn="l"/>
            <a:r>
              <a:rPr sz="5200" b="1" i="0">
                <a:solidFill>
                  <a:srgbClr val="E6A93A"/>
                </a:solidFill>
                <a:latin typeface="Segoe UI"/>
              </a:rPr>
              <a:t>Performance Review</a:t>
            </a:r>
          </a:p>
        </p:txBody>
      </p:sp>
      <p:sp>
        <p:nvSpPr>
          <p:cNvPr id="7" name="TextBox 6"/>
          <p:cNvSpPr txBox="1"/>
          <p:nvPr/>
        </p:nvSpPr>
        <p:spPr>
          <a:xfrm>
            <a:off x="822960" y="4846320"/>
            <a:ext cx="10058400" cy="914400"/>
          </a:xfrm>
          <a:prstGeom prst="rect">
            <a:avLst/>
          </a:prstGeom>
          <a:noFill/>
        </p:spPr>
        <p:txBody>
          <a:bodyPr wrap="square" anchor="t" lIns="0" rIns="0" tIns="0" bIns="0">
            <a:spAutoFit/>
          </a:bodyPr>
          <a:lstStyle/>
          <a:p>
            <a:pPr algn="l"/>
            <a:r>
              <a:rPr sz="1600" b="0" i="0">
                <a:solidFill>
                  <a:srgbClr val="F3E9D6"/>
                </a:solidFill>
                <a:latin typeface="Segoe UI"/>
              </a:rPr>
              <a:t>Internal review prepared by Jason Rivera with Frank Moretti, CPA</a:t>
            </a:r>
          </a:p>
          <a:p>
            <a:pPr algn="l"/>
            <a:r>
              <a:rPr sz="1300" b="0" i="0">
                <a:solidFill>
                  <a:srgbClr val="B8A888"/>
                </a:solidFill>
                <a:latin typeface="Segoe UI"/>
              </a:rPr>
              <a:t>Fiscal year 2025  .  Paterson and Wayne, New Jersey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1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E6A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57200"/>
            <a:ext cx="10515600" cy="365760"/>
          </a:xfrm>
          <a:prstGeom prst="rect">
            <a:avLst/>
          </a:prstGeom>
          <a:noFill/>
        </p:spPr>
        <p:txBody>
          <a:bodyPr wrap="square" anchor="t" lIns="0" rIns="0" tIns="0" bIns="0">
            <a:spAutoFit/>
          </a:bodyPr>
          <a:lstStyle/>
          <a:p>
            <a:pPr algn="l"/>
            <a:r>
              <a:rPr sz="1300" b="1" i="0">
                <a:solidFill>
                  <a:srgbClr val="E6A93A"/>
                </a:solidFill>
                <a:latin typeface="Segoe UI"/>
              </a:rPr>
              <a:t>WHERE WE STAND</a:t>
            </a:r>
          </a:p>
        </p:txBody>
      </p:sp>
      <p:sp>
        <p:nvSpPr>
          <p:cNvPr id="5" name="TextBox 4"/>
          <p:cNvSpPr txBox="1"/>
          <p:nvPr/>
        </p:nvSpPr>
        <p:spPr>
          <a:xfrm>
            <a:off x="640080" y="841248"/>
            <a:ext cx="10881360" cy="822960"/>
          </a:xfrm>
          <a:prstGeom prst="rect">
            <a:avLst/>
          </a:prstGeom>
          <a:noFill/>
        </p:spPr>
        <p:txBody>
          <a:bodyPr wrap="square" anchor="t" lIns="0" rIns="0" tIns="0" bIns="0">
            <a:spAutoFit/>
          </a:bodyPr>
          <a:lstStyle/>
          <a:p>
            <a:pPr algn="l"/>
            <a:r>
              <a:rPr sz="3000" b="1" i="0">
                <a:solidFill>
                  <a:srgbClr val="F3E9D6"/>
                </a:solidFill>
                <a:latin typeface="Segoe UI"/>
              </a:rPr>
              <a:t>Two kitchens, one standard</a:t>
            </a:r>
          </a:p>
        </p:txBody>
      </p:sp>
      <p:sp>
        <p:nvSpPr>
          <p:cNvPr id="6" name="Rectangle 5"/>
          <p:cNvSpPr/>
          <p:nvPr/>
        </p:nvSpPr>
        <p:spPr>
          <a:xfrm>
            <a:off x="658368" y="1627632"/>
            <a:ext cx="1828800" cy="36576"/>
          </a:xfrm>
          <a:prstGeom prst="rect">
            <a:avLst/>
          </a:prstGeom>
          <a:solidFill>
            <a:srgbClr val="E6A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55664"/>
            <a:ext cx="12191695" cy="54864"/>
          </a:xfrm>
          <a:prstGeom prst="rect">
            <a:avLst/>
          </a:prstGeom>
          <a:solidFill>
            <a:srgbClr val="3A2E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455664"/>
            <a:ext cx="3047923" cy="54864"/>
          </a:xfrm>
          <a:prstGeom prst="rect">
            <a:avLst/>
          </a:prstGeom>
          <a:solidFill>
            <a:srgbClr val="E6A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881360" y="6400800"/>
            <a:ext cx="1188720" cy="274320"/>
          </a:xfrm>
          <a:prstGeom prst="rect">
            <a:avLst/>
          </a:prstGeom>
          <a:noFill/>
        </p:spPr>
        <p:txBody>
          <a:bodyPr wrap="square" anchor="t" lIns="0" rIns="0" tIns="0" bIns="0">
            <a:spAutoFit/>
          </a:bodyPr>
          <a:lstStyle/>
          <a:p>
            <a:pPr algn="r"/>
            <a:r>
              <a:rPr sz="1000" b="0" i="0">
                <a:solidFill>
                  <a:srgbClr val="B8A888"/>
                </a:solidFill>
                <a:latin typeface="Segoe UI"/>
              </a:rPr>
              <a:t>2 / 8</a:t>
            </a:r>
          </a:p>
        </p:txBody>
      </p:sp>
      <p:sp>
        <p:nvSpPr>
          <p:cNvPr id="10" name="Rectangle 9"/>
          <p:cNvSpPr/>
          <p:nvPr/>
        </p:nvSpPr>
        <p:spPr>
          <a:xfrm>
            <a:off x="640080" y="2103120"/>
            <a:ext cx="3520440" cy="1828800"/>
          </a:xfrm>
          <a:prstGeom prst="rect">
            <a:avLst/>
          </a:prstGeom>
          <a:solidFill>
            <a:srgbClr val="211910"/>
          </a:solidFill>
          <a:ln w="12700">
            <a:solidFill>
              <a:srgbClr val="C98A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331720"/>
            <a:ext cx="3017520" cy="1554480"/>
          </a:xfrm>
          <a:prstGeom prst="rect">
            <a:avLst/>
          </a:prstGeom>
          <a:noFill/>
        </p:spPr>
        <p:txBody>
          <a:bodyPr wrap="square" anchor="t" lIns="0" rIns="0" tIns="0" bIns="0">
            <a:spAutoFit/>
          </a:bodyPr>
          <a:lstStyle/>
          <a:p>
            <a:pPr algn="l"/>
            <a:r>
              <a:rPr sz="3400" b="1" i="0">
                <a:solidFill>
                  <a:srgbClr val="E6A93A"/>
                </a:solidFill>
                <a:latin typeface="Segoe UI"/>
              </a:rPr>
              <a:t>$1.05M</a:t>
            </a:r>
          </a:p>
          <a:p>
            <a:pPr algn="l">
              <a:spcBef>
                <a:spcPts val="400"/>
              </a:spcBef>
            </a:pPr>
            <a:r>
              <a:rPr sz="1400" b="1" i="0">
                <a:solidFill>
                  <a:srgbClr val="F3E9D6"/>
                </a:solidFill>
                <a:latin typeface="Segoe UI"/>
              </a:rPr>
              <a:t>Main Street revenue</a:t>
            </a:r>
          </a:p>
          <a:p>
            <a:pPr algn="l">
              <a:lnSpc>
                <a:spcPct val="105000"/>
              </a:lnSpc>
              <a:spcBef>
                <a:spcPts val="300"/>
              </a:spcBef>
            </a:pPr>
            <a:r>
              <a:rPr sz="1150" b="0" i="0">
                <a:solidFill>
                  <a:srgbClr val="B8A888"/>
                </a:solidFill>
                <a:latin typeface="Segoe UI"/>
              </a:rPr>
              <a:t>the 2012 original, lunch driven</a:t>
            </a:r>
          </a:p>
        </p:txBody>
      </p:sp>
      <p:sp>
        <p:nvSpPr>
          <p:cNvPr id="12" name="Rectangle 11"/>
          <p:cNvSpPr/>
          <p:nvPr/>
        </p:nvSpPr>
        <p:spPr>
          <a:xfrm>
            <a:off x="4434840" y="2103120"/>
            <a:ext cx="3520440" cy="1828800"/>
          </a:xfrm>
          <a:prstGeom prst="rect">
            <a:avLst/>
          </a:prstGeom>
          <a:solidFill>
            <a:srgbClr val="211910"/>
          </a:solidFill>
          <a:ln w="12700">
            <a:solidFill>
              <a:srgbClr val="C98A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09160" y="2331720"/>
            <a:ext cx="3017520" cy="1554480"/>
          </a:xfrm>
          <a:prstGeom prst="rect">
            <a:avLst/>
          </a:prstGeom>
          <a:noFill/>
        </p:spPr>
        <p:txBody>
          <a:bodyPr wrap="square" anchor="t" lIns="0" rIns="0" tIns="0" bIns="0">
            <a:spAutoFit/>
          </a:bodyPr>
          <a:lstStyle/>
          <a:p>
            <a:pPr algn="l"/>
            <a:r>
              <a:rPr sz="3400" b="1" i="0">
                <a:solidFill>
                  <a:srgbClr val="E6A93A"/>
                </a:solidFill>
                <a:latin typeface="Segoe UI"/>
              </a:rPr>
              <a:t>$750K</a:t>
            </a:r>
          </a:p>
          <a:p>
            <a:pPr algn="l">
              <a:spcBef>
                <a:spcPts val="400"/>
              </a:spcBef>
            </a:pPr>
            <a:r>
              <a:rPr sz="1400" b="1" i="0">
                <a:solidFill>
                  <a:srgbClr val="F3E9D6"/>
                </a:solidFill>
                <a:latin typeface="Segoe UI"/>
              </a:rPr>
              <a:t>Wayne revenue</a:t>
            </a:r>
          </a:p>
          <a:p>
            <a:pPr algn="l">
              <a:lnSpc>
                <a:spcPct val="105000"/>
              </a:lnSpc>
              <a:spcBef>
                <a:spcPts val="300"/>
              </a:spcBef>
            </a:pPr>
            <a:r>
              <a:rPr sz="1150" b="0" i="0">
                <a:solidFill>
                  <a:srgbClr val="B8A888"/>
                </a:solidFill>
                <a:latin typeface="Segoe UI"/>
              </a:rPr>
              <a:t>opened 2021, dinner driven, growing</a:t>
            </a:r>
          </a:p>
        </p:txBody>
      </p:sp>
      <p:sp>
        <p:nvSpPr>
          <p:cNvPr id="14" name="Rectangle 13"/>
          <p:cNvSpPr/>
          <p:nvPr/>
        </p:nvSpPr>
        <p:spPr>
          <a:xfrm>
            <a:off x="8229600" y="2103120"/>
            <a:ext cx="3520440" cy="1828800"/>
          </a:xfrm>
          <a:prstGeom prst="rect">
            <a:avLst/>
          </a:prstGeom>
          <a:solidFill>
            <a:srgbClr val="211910"/>
          </a:solidFill>
          <a:ln w="12700">
            <a:solidFill>
              <a:srgbClr val="C98A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0" y="2331720"/>
            <a:ext cx="3017520" cy="1554480"/>
          </a:xfrm>
          <a:prstGeom prst="rect">
            <a:avLst/>
          </a:prstGeom>
          <a:noFill/>
        </p:spPr>
        <p:txBody>
          <a:bodyPr wrap="square" anchor="t" lIns="0" rIns="0" tIns="0" bIns="0">
            <a:spAutoFit/>
          </a:bodyPr>
          <a:lstStyle/>
          <a:p>
            <a:pPr algn="l"/>
            <a:r>
              <a:rPr sz="3400" b="1" i="0">
                <a:solidFill>
                  <a:srgbClr val="E6A93A"/>
                </a:solidFill>
                <a:latin typeface="Segoe UI"/>
              </a:rPr>
              <a:t>$1.8M</a:t>
            </a:r>
          </a:p>
          <a:p>
            <a:pPr algn="l">
              <a:spcBef>
                <a:spcPts val="400"/>
              </a:spcBef>
            </a:pPr>
            <a:r>
              <a:rPr sz="1400" b="1" i="0">
                <a:solidFill>
                  <a:srgbClr val="F3E9D6"/>
                </a:solidFill>
                <a:latin typeface="Segoe UI"/>
              </a:rPr>
              <a:t>Combined 2025</a:t>
            </a:r>
          </a:p>
          <a:p>
            <a:pPr algn="l">
              <a:lnSpc>
                <a:spcPct val="105000"/>
              </a:lnSpc>
              <a:spcBef>
                <a:spcPts val="300"/>
              </a:spcBef>
            </a:pPr>
            <a:r>
              <a:rPr sz="1150" b="0" i="0">
                <a:solidFill>
                  <a:srgbClr val="B8A888"/>
                </a:solidFill>
                <a:latin typeface="Segoe UI"/>
              </a:rPr>
              <a:t>up 16% from $1.55M in 2024</a:t>
            </a:r>
          </a:p>
        </p:txBody>
      </p:sp>
      <p:sp>
        <p:nvSpPr>
          <p:cNvPr id="16" name="TextBox 15"/>
          <p:cNvSpPr txBox="1"/>
          <p:nvPr/>
        </p:nvSpPr>
        <p:spPr>
          <a:xfrm>
            <a:off x="640080" y="4297680"/>
            <a:ext cx="10881360" cy="1828800"/>
          </a:xfrm>
          <a:prstGeom prst="rect">
            <a:avLst/>
          </a:prstGeom>
          <a:noFill/>
        </p:spPr>
        <p:txBody>
          <a:bodyPr wrap="square" anchor="t" lIns="0" rIns="0" tIns="0" bIns="0">
            <a:spAutoFit/>
          </a:bodyPr>
          <a:lstStyle/>
          <a:p>
            <a:pPr algn="l"/>
            <a:r>
              <a:rPr sz="1600" b="1" i="0">
                <a:solidFill>
                  <a:srgbClr val="F3E9D6"/>
                </a:solidFill>
                <a:latin typeface="Segoe UI"/>
              </a:rPr>
              <a:t>The question for 2025: </a:t>
            </a:r>
            <a:r>
              <a:rPr sz="1600" b="0" i="0">
                <a:solidFill>
                  <a:srgbClr val="F3E9D6"/>
                </a:solidFill>
                <a:latin typeface="Segoe UI"/>
              </a:rPr>
              <a:t>Wayne carries 42% of revenue on a more modern room that seats 75, yet weekday foot traffic still lags Main Street. The plan that follows is built to close that gap without touching the quality of the food.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1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E6A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57200"/>
            <a:ext cx="10515600" cy="365760"/>
          </a:xfrm>
          <a:prstGeom prst="rect">
            <a:avLst/>
          </a:prstGeom>
          <a:noFill/>
        </p:spPr>
        <p:txBody>
          <a:bodyPr wrap="square" anchor="t" lIns="0" rIns="0" tIns="0" bIns="0">
            <a:spAutoFit/>
          </a:bodyPr>
          <a:lstStyle/>
          <a:p>
            <a:pPr algn="l"/>
            <a:r>
              <a:rPr sz="1300" b="1" i="0">
                <a:solidFill>
                  <a:srgbClr val="E6A93A"/>
                </a:solidFill>
                <a:latin typeface="Segoe UI"/>
              </a:rPr>
              <a:t>SALES TREND</a:t>
            </a:r>
          </a:p>
        </p:txBody>
      </p:sp>
      <p:sp>
        <p:nvSpPr>
          <p:cNvPr id="5" name="TextBox 4"/>
          <p:cNvSpPr txBox="1"/>
          <p:nvPr/>
        </p:nvSpPr>
        <p:spPr>
          <a:xfrm>
            <a:off x="640080" y="841248"/>
            <a:ext cx="10881360" cy="822960"/>
          </a:xfrm>
          <a:prstGeom prst="rect">
            <a:avLst/>
          </a:prstGeom>
          <a:noFill/>
        </p:spPr>
        <p:txBody>
          <a:bodyPr wrap="square" anchor="t" lIns="0" rIns="0" tIns="0" bIns="0">
            <a:spAutoFit/>
          </a:bodyPr>
          <a:lstStyle/>
          <a:p>
            <a:pPr algn="l"/>
            <a:r>
              <a:rPr sz="3000" b="1" i="0">
                <a:solidFill>
                  <a:srgbClr val="F3E9D6"/>
                </a:solidFill>
                <a:latin typeface="Segoe UI"/>
              </a:rPr>
              <a:t>Monthly food sales by location</a:t>
            </a:r>
          </a:p>
        </p:txBody>
      </p:sp>
      <p:sp>
        <p:nvSpPr>
          <p:cNvPr id="6" name="Rectangle 5"/>
          <p:cNvSpPr/>
          <p:nvPr/>
        </p:nvSpPr>
        <p:spPr>
          <a:xfrm>
            <a:off x="658368" y="1627632"/>
            <a:ext cx="1828800" cy="36576"/>
          </a:xfrm>
          <a:prstGeom prst="rect">
            <a:avLst/>
          </a:prstGeom>
          <a:solidFill>
            <a:srgbClr val="E6A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55664"/>
            <a:ext cx="12191695" cy="54864"/>
          </a:xfrm>
          <a:prstGeom prst="rect">
            <a:avLst/>
          </a:prstGeom>
          <a:solidFill>
            <a:srgbClr val="3A2E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455664"/>
            <a:ext cx="4571885" cy="54864"/>
          </a:xfrm>
          <a:prstGeom prst="rect">
            <a:avLst/>
          </a:prstGeom>
          <a:solidFill>
            <a:srgbClr val="E6A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881360" y="6400800"/>
            <a:ext cx="1188720" cy="274320"/>
          </a:xfrm>
          <a:prstGeom prst="rect">
            <a:avLst/>
          </a:prstGeom>
          <a:noFill/>
        </p:spPr>
        <p:txBody>
          <a:bodyPr wrap="square" anchor="t" lIns="0" rIns="0" tIns="0" bIns="0">
            <a:spAutoFit/>
          </a:bodyPr>
          <a:lstStyle/>
          <a:p>
            <a:pPr algn="r"/>
            <a:r>
              <a:rPr sz="1000" b="0" i="0">
                <a:solidFill>
                  <a:srgbClr val="B8A888"/>
                </a:solidFill>
                <a:latin typeface="Segoe UI"/>
              </a:rPr>
              <a:t>3 / 8</a:t>
            </a:r>
          </a:p>
        </p:txBody>
      </p:sp>
      <p:graphicFrame>
        <p:nvGraphicFramePr>
          <p:cNvPr id="10" name="Chart 9"/>
          <p:cNvGraphicFramePr>
            <a:graphicFrameLocks noGrp="1"/>
          </p:cNvGraphicFramePr>
          <p:nvPr/>
        </p:nvGraphicFramePr>
        <p:xfrm>
          <a:off x="640080" y="1920240"/>
          <a:ext cx="10881360" cy="4206240"/>
        </p:xfrm>
        <a:graphic>
          <a:graphicData uri="http://schemas.openxmlformats.org/drawingml/2006/chart">
            <c:chart xmlns:c="http://schemas.openxmlformats.org/drawingml/2006/chart" r:id="rId2"/>
          </a:graphicData>
        </a:graphic>
      </p:graphicFrame>
      <p:sp>
        <p:nvSpPr>
          <p:cNvPr id="11" name="TextBox 10"/>
          <p:cNvSpPr txBox="1"/>
          <p:nvPr/>
        </p:nvSpPr>
        <p:spPr>
          <a:xfrm>
            <a:off x="640080" y="5989320"/>
            <a:ext cx="10881360" cy="365760"/>
          </a:xfrm>
          <a:prstGeom prst="rect">
            <a:avLst/>
          </a:prstGeom>
          <a:noFill/>
        </p:spPr>
        <p:txBody>
          <a:bodyPr wrap="square" anchor="t" lIns="0" rIns="0" tIns="0" bIns="0">
            <a:spAutoFit/>
          </a:bodyPr>
          <a:lstStyle/>
          <a:p>
            <a:pPr algn="l"/>
            <a:r>
              <a:rPr sz="1100" b="0" i="0">
                <a:solidFill>
                  <a:srgbClr val="B8A888"/>
                </a:solidFill>
                <a:latin typeface="Segoe UI"/>
              </a:rPr>
              <a:t>Net sales in thousands. Both locations peak into summer patio season and December catering.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1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E6A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57200"/>
            <a:ext cx="10515600" cy="365760"/>
          </a:xfrm>
          <a:prstGeom prst="rect">
            <a:avLst/>
          </a:prstGeom>
          <a:noFill/>
        </p:spPr>
        <p:txBody>
          <a:bodyPr wrap="square" anchor="t" lIns="0" rIns="0" tIns="0" bIns="0">
            <a:spAutoFit/>
          </a:bodyPr>
          <a:lstStyle/>
          <a:p>
            <a:pPr algn="l"/>
            <a:r>
              <a:rPr sz="1300" b="1" i="0">
                <a:solidFill>
                  <a:srgbClr val="E6A93A"/>
                </a:solidFill>
                <a:latin typeface="Segoe UI"/>
              </a:rPr>
              <a:t>THE BOOKS</a:t>
            </a:r>
          </a:p>
        </p:txBody>
      </p:sp>
      <p:sp>
        <p:nvSpPr>
          <p:cNvPr id="5" name="TextBox 4"/>
          <p:cNvSpPr txBox="1"/>
          <p:nvPr/>
        </p:nvSpPr>
        <p:spPr>
          <a:xfrm>
            <a:off x="640080" y="841248"/>
            <a:ext cx="10881360" cy="822960"/>
          </a:xfrm>
          <a:prstGeom prst="rect">
            <a:avLst/>
          </a:prstGeom>
          <a:noFill/>
        </p:spPr>
        <p:txBody>
          <a:bodyPr wrap="square" anchor="t" lIns="0" rIns="0" tIns="0" bIns="0">
            <a:spAutoFit/>
          </a:bodyPr>
          <a:lstStyle/>
          <a:p>
            <a:pPr algn="l"/>
            <a:r>
              <a:rPr sz="3000" b="1" i="0">
                <a:solidFill>
                  <a:srgbClr val="F3E9D6"/>
                </a:solidFill>
                <a:latin typeface="Segoe UI"/>
              </a:rPr>
              <a:t>Profit and loss, full year 2025</a:t>
            </a:r>
          </a:p>
        </p:txBody>
      </p:sp>
      <p:sp>
        <p:nvSpPr>
          <p:cNvPr id="6" name="Rectangle 5"/>
          <p:cNvSpPr/>
          <p:nvPr/>
        </p:nvSpPr>
        <p:spPr>
          <a:xfrm>
            <a:off x="658368" y="1627632"/>
            <a:ext cx="1828800" cy="36576"/>
          </a:xfrm>
          <a:prstGeom prst="rect">
            <a:avLst/>
          </a:prstGeom>
          <a:solidFill>
            <a:srgbClr val="E6A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55664"/>
            <a:ext cx="12191695" cy="54864"/>
          </a:xfrm>
          <a:prstGeom prst="rect">
            <a:avLst/>
          </a:prstGeom>
          <a:solidFill>
            <a:srgbClr val="3A2E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455664"/>
            <a:ext cx="6095847" cy="54864"/>
          </a:xfrm>
          <a:prstGeom prst="rect">
            <a:avLst/>
          </a:prstGeom>
          <a:solidFill>
            <a:srgbClr val="E6A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881360" y="6400800"/>
            <a:ext cx="1188720" cy="274320"/>
          </a:xfrm>
          <a:prstGeom prst="rect">
            <a:avLst/>
          </a:prstGeom>
          <a:noFill/>
        </p:spPr>
        <p:txBody>
          <a:bodyPr wrap="square" anchor="t" lIns="0" rIns="0" tIns="0" bIns="0">
            <a:spAutoFit/>
          </a:bodyPr>
          <a:lstStyle/>
          <a:p>
            <a:pPr algn="r"/>
            <a:r>
              <a:rPr sz="1000" b="0" i="0">
                <a:solidFill>
                  <a:srgbClr val="B8A888"/>
                </a:solidFill>
                <a:latin typeface="Segoe UI"/>
              </a:rPr>
              <a:t>4 / 8</a:t>
            </a:r>
          </a:p>
        </p:txBody>
      </p:sp>
      <p:graphicFrame>
        <p:nvGraphicFramePr>
          <p:cNvPr id="10" name="Table 9"/>
          <p:cNvGraphicFramePr>
            <a:graphicFrameLocks noGrp="1"/>
          </p:cNvGraphicFramePr>
          <p:nvPr/>
        </p:nvGraphicFramePr>
        <p:xfrm>
          <a:off x="640080" y="1965960"/>
          <a:ext cx="10881360" cy="3931920"/>
        </p:xfrm>
        <a:graphic>
          <a:graphicData uri="http://schemas.openxmlformats.org/drawingml/2006/table">
            <a:tbl>
              <a:tblPr>
                <a:tableStyleId>{5C22544A-7EE6-4342-B048-85BDC9FD1C3A}</a:tableStyleId>
              </a:tblPr>
              <a:tblGrid>
                <a:gridCol w="4297680"/>
                <a:gridCol w="2194560"/>
                <a:gridCol w="2194560"/>
                <a:gridCol w="2194560"/>
              </a:tblGrid>
              <a:tr h="491490">
                <a:tc>
                  <a:txBody>
                    <a:bodyPr wrap="square"/>
                    <a:lstStyle/>
                    <a:p>
                      <a:pPr algn="l"/>
                      <a:r>
                        <a:rPr sz="1300" b="1">
                          <a:solidFill>
                            <a:srgbClr val="2A1D0C"/>
                          </a:solidFill>
                          <a:latin typeface="Segoe UI"/>
                        </a:rPr>
                        <a:t>Line item</a:t>
                      </a:r>
                    </a:p>
                  </a:txBody>
                  <a:tcPr marL="88900" marR="88900" marT="38100" marB="38100" anchor="ctr">
                    <a:solidFill>
                      <a:srgbClr val="E6A93A"/>
                    </a:solidFill>
                  </a:tcPr>
                </a:tc>
                <a:tc>
                  <a:txBody>
                    <a:bodyPr wrap="square"/>
                    <a:lstStyle/>
                    <a:p>
                      <a:pPr algn="r"/>
                      <a:r>
                        <a:rPr sz="1300" b="1">
                          <a:solidFill>
                            <a:srgbClr val="2A1D0C"/>
                          </a:solidFill>
                          <a:latin typeface="Segoe UI"/>
                        </a:rPr>
                        <a:t>Main Street</a:t>
                      </a:r>
                    </a:p>
                  </a:txBody>
                  <a:tcPr marL="88900" marR="88900" marT="38100" marB="38100" anchor="ctr">
                    <a:solidFill>
                      <a:srgbClr val="E6A93A"/>
                    </a:solidFill>
                  </a:tcPr>
                </a:tc>
                <a:tc>
                  <a:txBody>
                    <a:bodyPr wrap="square"/>
                    <a:lstStyle/>
                    <a:p>
                      <a:pPr algn="r"/>
                      <a:r>
                        <a:rPr sz="1300" b="1">
                          <a:solidFill>
                            <a:srgbClr val="2A1D0C"/>
                          </a:solidFill>
                          <a:latin typeface="Segoe UI"/>
                        </a:rPr>
                        <a:t>Wayne</a:t>
                      </a:r>
                    </a:p>
                  </a:txBody>
                  <a:tcPr marL="88900" marR="88900" marT="38100" marB="38100" anchor="ctr">
                    <a:solidFill>
                      <a:srgbClr val="E6A93A"/>
                    </a:solidFill>
                  </a:tcPr>
                </a:tc>
                <a:tc>
                  <a:txBody>
                    <a:bodyPr wrap="square"/>
                    <a:lstStyle/>
                    <a:p>
                      <a:pPr algn="r"/>
                      <a:r>
                        <a:rPr sz="1300" b="1">
                          <a:solidFill>
                            <a:srgbClr val="2A1D0C"/>
                          </a:solidFill>
                          <a:latin typeface="Segoe UI"/>
                        </a:rPr>
                        <a:t>Combined</a:t>
                      </a:r>
                    </a:p>
                  </a:txBody>
                  <a:tcPr marL="88900" marR="88900" marT="38100" marB="38100" anchor="ctr">
                    <a:solidFill>
                      <a:srgbClr val="E6A93A"/>
                    </a:solidFill>
                  </a:tcPr>
                </a:tc>
              </a:tr>
              <a:tr h="491490">
                <a:tc>
                  <a:txBody>
                    <a:bodyPr wrap="square"/>
                    <a:lstStyle/>
                    <a:p>
                      <a:pPr algn="l"/>
                      <a:r>
                        <a:rPr sz="1300" b="0">
                          <a:solidFill>
                            <a:srgbClr val="F3E9D6"/>
                          </a:solidFill>
                          <a:latin typeface="Segoe UI"/>
                        </a:rPr>
                        <a:t>Total revenue</a:t>
                      </a:r>
                    </a:p>
                  </a:txBody>
                  <a:tcPr marL="88900" marR="88900" marT="38100" marB="38100" anchor="ctr">
                    <a:solidFill>
                      <a:srgbClr val="241B11"/>
                    </a:solidFill>
                  </a:tcPr>
                </a:tc>
                <a:tc>
                  <a:txBody>
                    <a:bodyPr wrap="square"/>
                    <a:lstStyle/>
                    <a:p>
                      <a:pPr algn="r"/>
                      <a:r>
                        <a:rPr sz="1300" b="0">
                          <a:solidFill>
                            <a:srgbClr val="F3E9D6"/>
                          </a:solidFill>
                          <a:latin typeface="Segoe UI"/>
                        </a:rPr>
                        <a:t>$1,050,000</a:t>
                      </a:r>
                    </a:p>
                  </a:txBody>
                  <a:tcPr marL="88900" marR="88900" marT="38100" marB="38100" anchor="ctr">
                    <a:solidFill>
                      <a:srgbClr val="241B11"/>
                    </a:solidFill>
                  </a:tcPr>
                </a:tc>
                <a:tc>
                  <a:txBody>
                    <a:bodyPr wrap="square"/>
                    <a:lstStyle/>
                    <a:p>
                      <a:pPr algn="r"/>
                      <a:r>
                        <a:rPr sz="1300" b="0">
                          <a:solidFill>
                            <a:srgbClr val="F3E9D6"/>
                          </a:solidFill>
                          <a:latin typeface="Segoe UI"/>
                        </a:rPr>
                        <a:t>$750,000</a:t>
                      </a:r>
                    </a:p>
                  </a:txBody>
                  <a:tcPr marL="88900" marR="88900" marT="38100" marB="38100" anchor="ctr">
                    <a:solidFill>
                      <a:srgbClr val="241B11"/>
                    </a:solidFill>
                  </a:tcPr>
                </a:tc>
                <a:tc>
                  <a:txBody>
                    <a:bodyPr wrap="square"/>
                    <a:lstStyle/>
                    <a:p>
                      <a:pPr algn="r"/>
                      <a:r>
                        <a:rPr sz="1300" b="0">
                          <a:solidFill>
                            <a:srgbClr val="F3E9D6"/>
                          </a:solidFill>
                          <a:latin typeface="Segoe UI"/>
                        </a:rPr>
                        <a:t>$1,800,000</a:t>
                      </a:r>
                    </a:p>
                  </a:txBody>
                  <a:tcPr marL="88900" marR="88900" marT="38100" marB="38100" anchor="ctr">
                    <a:solidFill>
                      <a:srgbClr val="241B11"/>
                    </a:solidFill>
                  </a:tcPr>
                </a:tc>
              </a:tr>
              <a:tr h="491490">
                <a:tc>
                  <a:txBody>
                    <a:bodyPr wrap="square"/>
                    <a:lstStyle/>
                    <a:p>
                      <a:pPr algn="l"/>
                      <a:r>
                        <a:rPr sz="1300" b="0">
                          <a:solidFill>
                            <a:srgbClr val="F3E9D6"/>
                          </a:solidFill>
                          <a:latin typeface="Segoe UI"/>
                        </a:rPr>
                        <a:t>Cost of goods sold (30%)</a:t>
                      </a:r>
                    </a:p>
                  </a:txBody>
                  <a:tcPr marL="88900" marR="88900" marT="38100" marB="38100" anchor="ctr">
                    <a:solidFill>
                      <a:srgbClr val="2C2114"/>
                    </a:solidFill>
                  </a:tcPr>
                </a:tc>
                <a:tc>
                  <a:txBody>
                    <a:bodyPr wrap="square"/>
                    <a:lstStyle/>
                    <a:p>
                      <a:pPr algn="r"/>
                      <a:r>
                        <a:rPr sz="1300" b="0">
                          <a:solidFill>
                            <a:srgbClr val="F3E9D6"/>
                          </a:solidFill>
                          <a:latin typeface="Segoe UI"/>
                        </a:rPr>
                        <a:t>$315,000</a:t>
                      </a:r>
                    </a:p>
                  </a:txBody>
                  <a:tcPr marL="88900" marR="88900" marT="38100" marB="38100" anchor="ctr">
                    <a:solidFill>
                      <a:srgbClr val="2C2114"/>
                    </a:solidFill>
                  </a:tcPr>
                </a:tc>
                <a:tc>
                  <a:txBody>
                    <a:bodyPr wrap="square"/>
                    <a:lstStyle/>
                    <a:p>
                      <a:pPr algn="r"/>
                      <a:r>
                        <a:rPr sz="1300" b="0">
                          <a:solidFill>
                            <a:srgbClr val="F3E9D6"/>
                          </a:solidFill>
                          <a:latin typeface="Segoe UI"/>
                        </a:rPr>
                        <a:t>$225,000</a:t>
                      </a:r>
                    </a:p>
                  </a:txBody>
                  <a:tcPr marL="88900" marR="88900" marT="38100" marB="38100" anchor="ctr">
                    <a:solidFill>
                      <a:srgbClr val="2C2114"/>
                    </a:solidFill>
                  </a:tcPr>
                </a:tc>
                <a:tc>
                  <a:txBody>
                    <a:bodyPr wrap="square"/>
                    <a:lstStyle/>
                    <a:p>
                      <a:pPr algn="r"/>
                      <a:r>
                        <a:rPr sz="1300" b="0">
                          <a:solidFill>
                            <a:srgbClr val="F3E9D6"/>
                          </a:solidFill>
                          <a:latin typeface="Segoe UI"/>
                        </a:rPr>
                        <a:t>$540,000</a:t>
                      </a:r>
                    </a:p>
                  </a:txBody>
                  <a:tcPr marL="88900" marR="88900" marT="38100" marB="38100" anchor="ctr">
                    <a:solidFill>
                      <a:srgbClr val="2C2114"/>
                    </a:solidFill>
                  </a:tcPr>
                </a:tc>
              </a:tr>
              <a:tr h="491490">
                <a:tc>
                  <a:txBody>
                    <a:bodyPr wrap="square"/>
                    <a:lstStyle/>
                    <a:p>
                      <a:pPr algn="l"/>
                      <a:r>
                        <a:rPr sz="1300" b="0">
                          <a:solidFill>
                            <a:srgbClr val="F3E9D6"/>
                          </a:solidFill>
                          <a:latin typeface="Segoe UI"/>
                        </a:rPr>
                        <a:t>Gross profit</a:t>
                      </a:r>
                    </a:p>
                  </a:txBody>
                  <a:tcPr marL="88900" marR="88900" marT="38100" marB="38100" anchor="ctr">
                    <a:solidFill>
                      <a:srgbClr val="241B11"/>
                    </a:solidFill>
                  </a:tcPr>
                </a:tc>
                <a:tc>
                  <a:txBody>
                    <a:bodyPr wrap="square"/>
                    <a:lstStyle/>
                    <a:p>
                      <a:pPr algn="r"/>
                      <a:r>
                        <a:rPr sz="1300" b="0">
                          <a:solidFill>
                            <a:srgbClr val="F3E9D6"/>
                          </a:solidFill>
                          <a:latin typeface="Segoe UI"/>
                        </a:rPr>
                        <a:t>$735,000</a:t>
                      </a:r>
                    </a:p>
                  </a:txBody>
                  <a:tcPr marL="88900" marR="88900" marT="38100" marB="38100" anchor="ctr">
                    <a:solidFill>
                      <a:srgbClr val="241B11"/>
                    </a:solidFill>
                  </a:tcPr>
                </a:tc>
                <a:tc>
                  <a:txBody>
                    <a:bodyPr wrap="square"/>
                    <a:lstStyle/>
                    <a:p>
                      <a:pPr algn="r"/>
                      <a:r>
                        <a:rPr sz="1300" b="0">
                          <a:solidFill>
                            <a:srgbClr val="F3E9D6"/>
                          </a:solidFill>
                          <a:latin typeface="Segoe UI"/>
                        </a:rPr>
                        <a:t>$525,000</a:t>
                      </a:r>
                    </a:p>
                  </a:txBody>
                  <a:tcPr marL="88900" marR="88900" marT="38100" marB="38100" anchor="ctr">
                    <a:solidFill>
                      <a:srgbClr val="241B11"/>
                    </a:solidFill>
                  </a:tcPr>
                </a:tc>
                <a:tc>
                  <a:txBody>
                    <a:bodyPr wrap="square"/>
                    <a:lstStyle/>
                    <a:p>
                      <a:pPr algn="r"/>
                      <a:r>
                        <a:rPr sz="1300" b="0">
                          <a:solidFill>
                            <a:srgbClr val="F3E9D6"/>
                          </a:solidFill>
                          <a:latin typeface="Segoe UI"/>
                        </a:rPr>
                        <a:t>$1,260,000</a:t>
                      </a:r>
                    </a:p>
                  </a:txBody>
                  <a:tcPr marL="88900" marR="88900" marT="38100" marB="38100" anchor="ctr">
                    <a:solidFill>
                      <a:srgbClr val="241B11"/>
                    </a:solidFill>
                  </a:tcPr>
                </a:tc>
              </a:tr>
              <a:tr h="491490">
                <a:tc>
                  <a:txBody>
                    <a:bodyPr wrap="square"/>
                    <a:lstStyle/>
                    <a:p>
                      <a:pPr algn="l"/>
                      <a:r>
                        <a:rPr sz="1300" b="0">
                          <a:solidFill>
                            <a:srgbClr val="F3E9D6"/>
                          </a:solidFill>
                          <a:latin typeface="Segoe UI"/>
                        </a:rPr>
                        <a:t>Labor (34%)</a:t>
                      </a:r>
                    </a:p>
                  </a:txBody>
                  <a:tcPr marL="88900" marR="88900" marT="38100" marB="38100" anchor="ctr">
                    <a:solidFill>
                      <a:srgbClr val="2C2114"/>
                    </a:solidFill>
                  </a:tcPr>
                </a:tc>
                <a:tc>
                  <a:txBody>
                    <a:bodyPr wrap="square"/>
                    <a:lstStyle/>
                    <a:p>
                      <a:pPr algn="r"/>
                      <a:r>
                        <a:rPr sz="1300" b="0">
                          <a:solidFill>
                            <a:srgbClr val="F3E9D6"/>
                          </a:solidFill>
                          <a:latin typeface="Segoe UI"/>
                        </a:rPr>
                        <a:t>$357,000</a:t>
                      </a:r>
                    </a:p>
                  </a:txBody>
                  <a:tcPr marL="88900" marR="88900" marT="38100" marB="38100" anchor="ctr">
                    <a:solidFill>
                      <a:srgbClr val="2C2114"/>
                    </a:solidFill>
                  </a:tcPr>
                </a:tc>
                <a:tc>
                  <a:txBody>
                    <a:bodyPr wrap="square"/>
                    <a:lstStyle/>
                    <a:p>
                      <a:pPr algn="r"/>
                      <a:r>
                        <a:rPr sz="1300" b="0">
                          <a:solidFill>
                            <a:srgbClr val="F3E9D6"/>
                          </a:solidFill>
                          <a:latin typeface="Segoe UI"/>
                        </a:rPr>
                        <a:t>$255,000</a:t>
                      </a:r>
                    </a:p>
                  </a:txBody>
                  <a:tcPr marL="88900" marR="88900" marT="38100" marB="38100" anchor="ctr">
                    <a:solidFill>
                      <a:srgbClr val="2C2114"/>
                    </a:solidFill>
                  </a:tcPr>
                </a:tc>
                <a:tc>
                  <a:txBody>
                    <a:bodyPr wrap="square"/>
                    <a:lstStyle/>
                    <a:p>
                      <a:pPr algn="r"/>
                      <a:r>
                        <a:rPr sz="1300" b="0">
                          <a:solidFill>
                            <a:srgbClr val="F3E9D6"/>
                          </a:solidFill>
                          <a:latin typeface="Segoe UI"/>
                        </a:rPr>
                        <a:t>$612,000</a:t>
                      </a:r>
                    </a:p>
                  </a:txBody>
                  <a:tcPr marL="88900" marR="88900" marT="38100" marB="38100" anchor="ctr">
                    <a:solidFill>
                      <a:srgbClr val="2C2114"/>
                    </a:solidFill>
                  </a:tcPr>
                </a:tc>
              </a:tr>
              <a:tr h="491490">
                <a:tc>
                  <a:txBody>
                    <a:bodyPr wrap="square"/>
                    <a:lstStyle/>
                    <a:p>
                      <a:pPr algn="l"/>
                      <a:r>
                        <a:rPr sz="1300" b="0">
                          <a:solidFill>
                            <a:srgbClr val="F3E9D6"/>
                          </a:solidFill>
                          <a:latin typeface="Segoe UI"/>
                        </a:rPr>
                        <a:t>Rent and occupancy</a:t>
                      </a:r>
                    </a:p>
                  </a:txBody>
                  <a:tcPr marL="88900" marR="88900" marT="38100" marB="38100" anchor="ctr">
                    <a:solidFill>
                      <a:srgbClr val="241B11"/>
                    </a:solidFill>
                  </a:tcPr>
                </a:tc>
                <a:tc>
                  <a:txBody>
                    <a:bodyPr wrap="square"/>
                    <a:lstStyle/>
                    <a:p>
                      <a:pPr algn="r"/>
                      <a:r>
                        <a:rPr sz="1300" b="0">
                          <a:solidFill>
                            <a:srgbClr val="F3E9D6"/>
                          </a:solidFill>
                          <a:latin typeface="Segoe UI"/>
                        </a:rPr>
                        <a:t>$36,000</a:t>
                      </a:r>
                    </a:p>
                  </a:txBody>
                  <a:tcPr marL="88900" marR="88900" marT="38100" marB="38100" anchor="ctr">
                    <a:solidFill>
                      <a:srgbClr val="241B11"/>
                    </a:solidFill>
                  </a:tcPr>
                </a:tc>
                <a:tc>
                  <a:txBody>
                    <a:bodyPr wrap="square"/>
                    <a:lstStyle/>
                    <a:p>
                      <a:pPr algn="r"/>
                      <a:r>
                        <a:rPr sz="1300" b="0">
                          <a:solidFill>
                            <a:srgbClr val="F3E9D6"/>
                          </a:solidFill>
                          <a:latin typeface="Segoe UI"/>
                        </a:rPr>
                        <a:t>$57,600</a:t>
                      </a:r>
                    </a:p>
                  </a:txBody>
                  <a:tcPr marL="88900" marR="88900" marT="38100" marB="38100" anchor="ctr">
                    <a:solidFill>
                      <a:srgbClr val="241B11"/>
                    </a:solidFill>
                  </a:tcPr>
                </a:tc>
                <a:tc>
                  <a:txBody>
                    <a:bodyPr wrap="square"/>
                    <a:lstStyle/>
                    <a:p>
                      <a:pPr algn="r"/>
                      <a:r>
                        <a:rPr sz="1300" b="0">
                          <a:solidFill>
                            <a:srgbClr val="F3E9D6"/>
                          </a:solidFill>
                          <a:latin typeface="Segoe UI"/>
                        </a:rPr>
                        <a:t>$93,600</a:t>
                      </a:r>
                    </a:p>
                  </a:txBody>
                  <a:tcPr marL="88900" marR="88900" marT="38100" marB="38100" anchor="ctr">
                    <a:solidFill>
                      <a:srgbClr val="241B11"/>
                    </a:solidFill>
                  </a:tcPr>
                </a:tc>
              </a:tr>
              <a:tr h="491490">
                <a:tc>
                  <a:txBody>
                    <a:bodyPr wrap="square"/>
                    <a:lstStyle/>
                    <a:p>
                      <a:pPr algn="l"/>
                      <a:r>
                        <a:rPr sz="1300" b="0">
                          <a:solidFill>
                            <a:srgbClr val="F3E9D6"/>
                          </a:solidFill>
                          <a:latin typeface="Segoe UI"/>
                        </a:rPr>
                        <a:t>Other operating</a:t>
                      </a:r>
                    </a:p>
                  </a:txBody>
                  <a:tcPr marL="88900" marR="88900" marT="38100" marB="38100" anchor="ctr">
                    <a:solidFill>
                      <a:srgbClr val="2C2114"/>
                    </a:solidFill>
                  </a:tcPr>
                </a:tc>
                <a:tc>
                  <a:txBody>
                    <a:bodyPr wrap="square"/>
                    <a:lstStyle/>
                    <a:p>
                      <a:pPr algn="r"/>
                      <a:r>
                        <a:rPr sz="1300" b="0">
                          <a:solidFill>
                            <a:srgbClr val="F3E9D6"/>
                          </a:solidFill>
                          <a:latin typeface="Segoe UI"/>
                        </a:rPr>
                        <a:t>$67,400</a:t>
                      </a:r>
                    </a:p>
                  </a:txBody>
                  <a:tcPr marL="88900" marR="88900" marT="38100" marB="38100" anchor="ctr">
                    <a:solidFill>
                      <a:srgbClr val="2C2114"/>
                    </a:solidFill>
                  </a:tcPr>
                </a:tc>
                <a:tc>
                  <a:txBody>
                    <a:bodyPr wrap="square"/>
                    <a:lstStyle/>
                    <a:p>
                      <a:pPr algn="r"/>
                      <a:r>
                        <a:rPr sz="1300" b="0">
                          <a:solidFill>
                            <a:srgbClr val="F3E9D6"/>
                          </a:solidFill>
                          <a:latin typeface="Segoe UI"/>
                        </a:rPr>
                        <a:t>$52,300</a:t>
                      </a:r>
                    </a:p>
                  </a:txBody>
                  <a:tcPr marL="88900" marR="88900" marT="38100" marB="38100" anchor="ctr">
                    <a:solidFill>
                      <a:srgbClr val="2C2114"/>
                    </a:solidFill>
                  </a:tcPr>
                </a:tc>
                <a:tc>
                  <a:txBody>
                    <a:bodyPr wrap="square"/>
                    <a:lstStyle/>
                    <a:p>
                      <a:pPr algn="r"/>
                      <a:r>
                        <a:rPr sz="1300" b="0">
                          <a:solidFill>
                            <a:srgbClr val="F3E9D6"/>
                          </a:solidFill>
                          <a:latin typeface="Segoe UI"/>
                        </a:rPr>
                        <a:t>$119,700</a:t>
                      </a:r>
                    </a:p>
                  </a:txBody>
                  <a:tcPr marL="88900" marR="88900" marT="38100" marB="38100" anchor="ctr">
                    <a:solidFill>
                      <a:srgbClr val="2C2114"/>
                    </a:solidFill>
                  </a:tcPr>
                </a:tc>
              </a:tr>
              <a:tr h="491490">
                <a:tc>
                  <a:txBody>
                    <a:bodyPr wrap="square"/>
                    <a:lstStyle/>
                    <a:p>
                      <a:pPr algn="l"/>
                      <a:r>
                        <a:rPr sz="1300" b="0">
                          <a:solidFill>
                            <a:srgbClr val="F3E9D6"/>
                          </a:solidFill>
                          <a:latin typeface="Segoe UI"/>
                        </a:rPr>
                        <a:t>Net operating income</a:t>
                      </a:r>
                    </a:p>
                  </a:txBody>
                  <a:tcPr marL="88900" marR="88900" marT="38100" marB="38100" anchor="ctr">
                    <a:solidFill>
                      <a:srgbClr val="241B11"/>
                    </a:solidFill>
                  </a:tcPr>
                </a:tc>
                <a:tc>
                  <a:txBody>
                    <a:bodyPr wrap="square"/>
                    <a:lstStyle/>
                    <a:p>
                      <a:pPr algn="r"/>
                      <a:r>
                        <a:rPr sz="1300" b="0">
                          <a:solidFill>
                            <a:srgbClr val="F3E9D6"/>
                          </a:solidFill>
                          <a:latin typeface="Segoe UI"/>
                        </a:rPr>
                        <a:t>$274,600</a:t>
                      </a:r>
                    </a:p>
                  </a:txBody>
                  <a:tcPr marL="88900" marR="88900" marT="38100" marB="38100" anchor="ctr">
                    <a:solidFill>
                      <a:srgbClr val="241B11"/>
                    </a:solidFill>
                  </a:tcPr>
                </a:tc>
                <a:tc>
                  <a:txBody>
                    <a:bodyPr wrap="square"/>
                    <a:lstStyle/>
                    <a:p>
                      <a:pPr algn="r"/>
                      <a:r>
                        <a:rPr sz="1300" b="0">
                          <a:solidFill>
                            <a:srgbClr val="F3E9D6"/>
                          </a:solidFill>
                          <a:latin typeface="Segoe UI"/>
                        </a:rPr>
                        <a:t>$160,100</a:t>
                      </a:r>
                    </a:p>
                  </a:txBody>
                  <a:tcPr marL="88900" marR="88900" marT="38100" marB="38100" anchor="ctr">
                    <a:solidFill>
                      <a:srgbClr val="241B11"/>
                    </a:solidFill>
                  </a:tcPr>
                </a:tc>
                <a:tc>
                  <a:txBody>
                    <a:bodyPr wrap="square"/>
                    <a:lstStyle/>
                    <a:p>
                      <a:pPr algn="r"/>
                      <a:r>
                        <a:rPr sz="1300" b="0">
                          <a:solidFill>
                            <a:srgbClr val="F3E9D6"/>
                          </a:solidFill>
                          <a:latin typeface="Segoe UI"/>
                        </a:rPr>
                        <a:t>$434,700</a:t>
                      </a:r>
                    </a:p>
                  </a:txBody>
                  <a:tcPr marL="88900" marR="88900" marT="38100" marB="38100" anchor="ctr">
                    <a:solidFill>
                      <a:srgbClr val="241B11"/>
                    </a:solidFill>
                  </a:tcPr>
                </a:tc>
              </a:tr>
            </a:tbl>
          </a:graphicData>
        </a:graphic>
      </p:graphicFrame>
      <p:sp>
        <p:nvSpPr>
          <p:cNvPr id="11" name="TextBox 10"/>
          <p:cNvSpPr txBox="1"/>
          <p:nvPr/>
        </p:nvSpPr>
        <p:spPr>
          <a:xfrm>
            <a:off x="640080" y="5989320"/>
            <a:ext cx="10881360" cy="365760"/>
          </a:xfrm>
          <a:prstGeom prst="rect">
            <a:avLst/>
          </a:prstGeom>
          <a:noFill/>
        </p:spPr>
        <p:txBody>
          <a:bodyPr wrap="square" anchor="t" lIns="0" rIns="0" tIns="0" bIns="0">
            <a:spAutoFit/>
          </a:bodyPr>
          <a:lstStyle/>
          <a:p>
            <a:pPr algn="l"/>
            <a:r>
              <a:rPr sz="1100" b="0" i="0">
                <a:solidFill>
                  <a:srgbClr val="B8A888"/>
                </a:solidFill>
                <a:latin typeface="Segoe UI"/>
              </a:rPr>
              <a:t>Wayne rent of $57,600 a year ($4,800 a month) is the heaviest fixed cost on that location.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1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E6A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57200"/>
            <a:ext cx="10515600" cy="365760"/>
          </a:xfrm>
          <a:prstGeom prst="rect">
            <a:avLst/>
          </a:prstGeom>
          <a:noFill/>
        </p:spPr>
        <p:txBody>
          <a:bodyPr wrap="square" anchor="t" lIns="0" rIns="0" tIns="0" bIns="0">
            <a:spAutoFit/>
          </a:bodyPr>
          <a:lstStyle/>
          <a:p>
            <a:pPr algn="l"/>
            <a:r>
              <a:rPr sz="1300" b="1" i="0">
                <a:solidFill>
                  <a:srgbClr val="E6A93A"/>
                </a:solidFill>
                <a:latin typeface="Segoe UI"/>
              </a:rPr>
              <a:t>COST PRESSURE</a:t>
            </a:r>
          </a:p>
        </p:txBody>
      </p:sp>
      <p:sp>
        <p:nvSpPr>
          <p:cNvPr id="5" name="TextBox 4"/>
          <p:cNvSpPr txBox="1"/>
          <p:nvPr/>
        </p:nvSpPr>
        <p:spPr>
          <a:xfrm>
            <a:off x="640080" y="841248"/>
            <a:ext cx="10881360" cy="822960"/>
          </a:xfrm>
          <a:prstGeom prst="rect">
            <a:avLst/>
          </a:prstGeom>
          <a:noFill/>
        </p:spPr>
        <p:txBody>
          <a:bodyPr wrap="square" anchor="t" lIns="0" rIns="0" tIns="0" bIns="0">
            <a:spAutoFit/>
          </a:bodyPr>
          <a:lstStyle/>
          <a:p>
            <a:pPr algn="l"/>
            <a:r>
              <a:rPr sz="3000" b="1" i="0">
                <a:solidFill>
                  <a:srgbClr val="F3E9D6"/>
                </a:solidFill>
                <a:latin typeface="Segoe UI"/>
              </a:rPr>
              <a:t>Food cost and the price of lamb</a:t>
            </a:r>
          </a:p>
        </p:txBody>
      </p:sp>
      <p:sp>
        <p:nvSpPr>
          <p:cNvPr id="6" name="Rectangle 5"/>
          <p:cNvSpPr/>
          <p:nvPr/>
        </p:nvSpPr>
        <p:spPr>
          <a:xfrm>
            <a:off x="658368" y="1627632"/>
            <a:ext cx="1828800" cy="36576"/>
          </a:xfrm>
          <a:prstGeom prst="rect">
            <a:avLst/>
          </a:prstGeom>
          <a:solidFill>
            <a:srgbClr val="E6A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55664"/>
            <a:ext cx="12191695" cy="54864"/>
          </a:xfrm>
          <a:prstGeom prst="rect">
            <a:avLst/>
          </a:prstGeom>
          <a:solidFill>
            <a:srgbClr val="3A2E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455664"/>
            <a:ext cx="7619809" cy="54864"/>
          </a:xfrm>
          <a:prstGeom prst="rect">
            <a:avLst/>
          </a:prstGeom>
          <a:solidFill>
            <a:srgbClr val="E6A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881360" y="6400800"/>
            <a:ext cx="1188720" cy="274320"/>
          </a:xfrm>
          <a:prstGeom prst="rect">
            <a:avLst/>
          </a:prstGeom>
          <a:noFill/>
        </p:spPr>
        <p:txBody>
          <a:bodyPr wrap="square" anchor="t" lIns="0" rIns="0" tIns="0" bIns="0">
            <a:spAutoFit/>
          </a:bodyPr>
          <a:lstStyle/>
          <a:p>
            <a:pPr algn="r"/>
            <a:r>
              <a:rPr sz="1000" b="0" i="0">
                <a:solidFill>
                  <a:srgbClr val="B8A888"/>
                </a:solidFill>
                <a:latin typeface="Segoe UI"/>
              </a:rPr>
              <a:t>5 / 8</a:t>
            </a:r>
          </a:p>
        </p:txBody>
      </p:sp>
      <p:graphicFrame>
        <p:nvGraphicFramePr>
          <p:cNvPr id="10" name="Chart 9"/>
          <p:cNvGraphicFramePr>
            <a:graphicFrameLocks noGrp="1"/>
          </p:cNvGraphicFramePr>
          <p:nvPr/>
        </p:nvGraphicFramePr>
        <p:xfrm>
          <a:off x="457200" y="2011680"/>
          <a:ext cx="5120640" cy="4023360"/>
        </p:xfrm>
        <a:graphic>
          <a:graphicData uri="http://schemas.openxmlformats.org/drawingml/2006/chart">
            <c:chart xmlns:c="http://schemas.openxmlformats.org/drawingml/2006/chart" r:id="rId2"/>
          </a:graphicData>
        </a:graphic>
      </p:graphicFrame>
      <p:graphicFrame>
        <p:nvGraphicFramePr>
          <p:cNvPr id="11" name="Chart 10"/>
          <p:cNvGraphicFramePr>
            <a:graphicFrameLocks noGrp="1"/>
          </p:cNvGraphicFramePr>
          <p:nvPr/>
        </p:nvGraphicFramePr>
        <p:xfrm>
          <a:off x="5852160" y="2011680"/>
          <a:ext cx="5669280" cy="3657600"/>
        </p:xfrm>
        <a:graphic>
          <a:graphicData uri="http://schemas.openxmlformats.org/drawingml/2006/chart">
            <c:chart xmlns:c="http://schemas.openxmlformats.org/drawingml/2006/chart" r:id="rId3"/>
          </a:graphicData>
        </a:graphic>
      </p:graphicFrame>
      <p:sp>
        <p:nvSpPr>
          <p:cNvPr id="12" name="TextBox 11"/>
          <p:cNvSpPr txBox="1"/>
          <p:nvPr/>
        </p:nvSpPr>
        <p:spPr>
          <a:xfrm>
            <a:off x="5852160" y="5715000"/>
            <a:ext cx="5669280" cy="548640"/>
          </a:xfrm>
          <a:prstGeom prst="rect">
            <a:avLst/>
          </a:prstGeom>
          <a:noFill/>
        </p:spPr>
        <p:txBody>
          <a:bodyPr wrap="square" anchor="t" lIns="0" rIns="0" tIns="0" bIns="0">
            <a:spAutoFit/>
          </a:bodyPr>
          <a:lstStyle/>
          <a:p>
            <a:pPr algn="l"/>
            <a:r>
              <a:rPr sz="1100" b="0" i="0">
                <a:solidFill>
                  <a:srgbClr val="B8A888"/>
                </a:solidFill>
                <a:latin typeface="Segoe UI"/>
              </a:rPr>
              <a:t>Lamb climbed from $6.10 to $7.40 a pound. Food cost sits at 30% against a 28% target, held there by quality not waste.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1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E6A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57200"/>
            <a:ext cx="10515600" cy="365760"/>
          </a:xfrm>
          <a:prstGeom prst="rect">
            <a:avLst/>
          </a:prstGeom>
          <a:noFill/>
        </p:spPr>
        <p:txBody>
          <a:bodyPr wrap="square" anchor="t" lIns="0" rIns="0" tIns="0" bIns="0">
            <a:spAutoFit/>
          </a:bodyPr>
          <a:lstStyle/>
          <a:p>
            <a:pPr algn="l"/>
            <a:r>
              <a:rPr sz="1300" b="1" i="0">
                <a:solidFill>
                  <a:srgbClr val="E6A93A"/>
                </a:solidFill>
                <a:latin typeface="Segoe UI"/>
              </a:rPr>
              <a:t>THE GAP</a:t>
            </a:r>
          </a:p>
        </p:txBody>
      </p:sp>
      <p:sp>
        <p:nvSpPr>
          <p:cNvPr id="5" name="TextBox 4"/>
          <p:cNvSpPr txBox="1"/>
          <p:nvPr/>
        </p:nvSpPr>
        <p:spPr>
          <a:xfrm>
            <a:off x="640080" y="841248"/>
            <a:ext cx="10881360" cy="822960"/>
          </a:xfrm>
          <a:prstGeom prst="rect">
            <a:avLst/>
          </a:prstGeom>
          <a:noFill/>
        </p:spPr>
        <p:txBody>
          <a:bodyPr wrap="square" anchor="t" lIns="0" rIns="0" tIns="0" bIns="0">
            <a:spAutoFit/>
          </a:bodyPr>
          <a:lstStyle/>
          <a:p>
            <a:pPr algn="l"/>
            <a:r>
              <a:rPr sz="3000" b="1" i="0">
                <a:solidFill>
                  <a:srgbClr val="F3E9D6"/>
                </a:solidFill>
                <a:latin typeface="Segoe UI"/>
              </a:rPr>
              <a:t>Weekday dinner covers at Wayne</a:t>
            </a:r>
          </a:p>
        </p:txBody>
      </p:sp>
      <p:sp>
        <p:nvSpPr>
          <p:cNvPr id="6" name="Rectangle 5"/>
          <p:cNvSpPr/>
          <p:nvPr/>
        </p:nvSpPr>
        <p:spPr>
          <a:xfrm>
            <a:off x="658368" y="1627632"/>
            <a:ext cx="1828800" cy="36576"/>
          </a:xfrm>
          <a:prstGeom prst="rect">
            <a:avLst/>
          </a:prstGeom>
          <a:solidFill>
            <a:srgbClr val="E6A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55664"/>
            <a:ext cx="12191695" cy="54864"/>
          </a:xfrm>
          <a:prstGeom prst="rect">
            <a:avLst/>
          </a:prstGeom>
          <a:solidFill>
            <a:srgbClr val="3A2E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455664"/>
            <a:ext cx="9143771" cy="54864"/>
          </a:xfrm>
          <a:prstGeom prst="rect">
            <a:avLst/>
          </a:prstGeom>
          <a:solidFill>
            <a:srgbClr val="E6A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881360" y="6400800"/>
            <a:ext cx="1188720" cy="274320"/>
          </a:xfrm>
          <a:prstGeom prst="rect">
            <a:avLst/>
          </a:prstGeom>
          <a:noFill/>
        </p:spPr>
        <p:txBody>
          <a:bodyPr wrap="square" anchor="t" lIns="0" rIns="0" tIns="0" bIns="0">
            <a:spAutoFit/>
          </a:bodyPr>
          <a:lstStyle/>
          <a:p>
            <a:pPr algn="r"/>
            <a:r>
              <a:rPr sz="1000" b="0" i="0">
                <a:solidFill>
                  <a:srgbClr val="B8A888"/>
                </a:solidFill>
                <a:latin typeface="Segoe UI"/>
              </a:rPr>
              <a:t>6 / 8</a:t>
            </a:r>
          </a:p>
        </p:txBody>
      </p:sp>
      <p:sp>
        <p:nvSpPr>
          <p:cNvPr id="10" name="TextBox 9"/>
          <p:cNvSpPr txBox="1"/>
          <p:nvPr/>
        </p:nvSpPr>
        <p:spPr>
          <a:xfrm>
            <a:off x="640080" y="2194560"/>
            <a:ext cx="6858000" cy="365760"/>
          </a:xfrm>
          <a:prstGeom prst="rect">
            <a:avLst/>
          </a:prstGeom>
          <a:noFill/>
        </p:spPr>
        <p:txBody>
          <a:bodyPr wrap="square" anchor="t" lIns="0" rIns="0" tIns="0" bIns="0">
            <a:spAutoFit/>
          </a:bodyPr>
          <a:lstStyle/>
          <a:p>
            <a:pPr algn="l"/>
            <a:r>
              <a:rPr sz="1500" b="1" i="0">
                <a:solidFill>
                  <a:srgbClr val="F3E9D6"/>
                </a:solidFill>
                <a:latin typeface="Segoe UI"/>
              </a:rPr>
              <a:t>Monday to Thursday covers</a:t>
            </a:r>
          </a:p>
        </p:txBody>
      </p:sp>
      <p:sp>
        <p:nvSpPr>
          <p:cNvPr id="11" name="TextBox 10"/>
          <p:cNvSpPr txBox="1"/>
          <p:nvPr/>
        </p:nvSpPr>
        <p:spPr>
          <a:xfrm>
            <a:off x="9692640" y="2194560"/>
            <a:ext cx="1828800" cy="365760"/>
          </a:xfrm>
          <a:prstGeom prst="rect">
            <a:avLst/>
          </a:prstGeom>
          <a:noFill/>
        </p:spPr>
        <p:txBody>
          <a:bodyPr wrap="square" anchor="t" lIns="0" rIns="0" tIns="0" bIns="0">
            <a:spAutoFit/>
          </a:bodyPr>
          <a:lstStyle/>
          <a:p>
            <a:pPr algn="r"/>
            <a:r>
              <a:rPr sz="1200" b="0" i="0">
                <a:solidFill>
                  <a:srgbClr val="B8A888"/>
                </a:solidFill>
                <a:latin typeface="Segoe UI"/>
              </a:rPr>
              <a:t>target 90</a:t>
            </a:r>
          </a:p>
        </p:txBody>
      </p:sp>
      <p:sp>
        <p:nvSpPr>
          <p:cNvPr id="12" name="Rectangle 11"/>
          <p:cNvSpPr/>
          <p:nvPr/>
        </p:nvSpPr>
        <p:spPr>
          <a:xfrm>
            <a:off x="640080" y="2578608"/>
            <a:ext cx="10881360" cy="256032"/>
          </a:xfrm>
          <a:prstGeom prst="rect">
            <a:avLst/>
          </a:prstGeom>
          <a:solidFill>
            <a:srgbClr val="2C21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 y="2578608"/>
            <a:ext cx="6311188" cy="256032"/>
          </a:xfrm>
          <a:prstGeom prst="rect">
            <a:avLst/>
          </a:prstGeom>
          <a:solidFill>
            <a:srgbClr val="E6A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3108960"/>
            <a:ext cx="6858000" cy="365760"/>
          </a:xfrm>
          <a:prstGeom prst="rect">
            <a:avLst/>
          </a:prstGeom>
          <a:noFill/>
        </p:spPr>
        <p:txBody>
          <a:bodyPr wrap="square" anchor="t" lIns="0" rIns="0" tIns="0" bIns="0">
            <a:spAutoFit/>
          </a:bodyPr>
          <a:lstStyle/>
          <a:p>
            <a:pPr algn="l"/>
            <a:r>
              <a:rPr sz="1500" b="1" i="0">
                <a:solidFill>
                  <a:srgbClr val="F3E9D6"/>
                </a:solidFill>
                <a:latin typeface="Segoe UI"/>
              </a:rPr>
              <a:t>Online ordering share</a:t>
            </a:r>
          </a:p>
        </p:txBody>
      </p:sp>
      <p:sp>
        <p:nvSpPr>
          <p:cNvPr id="15" name="TextBox 14"/>
          <p:cNvSpPr txBox="1"/>
          <p:nvPr/>
        </p:nvSpPr>
        <p:spPr>
          <a:xfrm>
            <a:off x="9692640" y="3108960"/>
            <a:ext cx="1828800" cy="365760"/>
          </a:xfrm>
          <a:prstGeom prst="rect">
            <a:avLst/>
          </a:prstGeom>
          <a:noFill/>
        </p:spPr>
        <p:txBody>
          <a:bodyPr wrap="square" anchor="t" lIns="0" rIns="0" tIns="0" bIns="0">
            <a:spAutoFit/>
          </a:bodyPr>
          <a:lstStyle/>
          <a:p>
            <a:pPr algn="r"/>
            <a:r>
              <a:rPr sz="1200" b="0" i="0">
                <a:solidFill>
                  <a:srgbClr val="B8A888"/>
                </a:solidFill>
                <a:latin typeface="Segoe UI"/>
              </a:rPr>
              <a:t>target 40</a:t>
            </a:r>
          </a:p>
        </p:txBody>
      </p:sp>
      <p:sp>
        <p:nvSpPr>
          <p:cNvPr id="16" name="Rectangle 15"/>
          <p:cNvSpPr/>
          <p:nvPr/>
        </p:nvSpPr>
        <p:spPr>
          <a:xfrm>
            <a:off x="640080" y="3493008"/>
            <a:ext cx="10881360" cy="256032"/>
          </a:xfrm>
          <a:prstGeom prst="rect">
            <a:avLst/>
          </a:prstGeom>
          <a:solidFill>
            <a:srgbClr val="2C21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 y="3493008"/>
            <a:ext cx="2393899" cy="256032"/>
          </a:xfrm>
          <a:prstGeom prst="rect">
            <a:avLst/>
          </a:prstGeom>
          <a:solidFill>
            <a:srgbClr val="E6A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4023360"/>
            <a:ext cx="6858000" cy="365760"/>
          </a:xfrm>
          <a:prstGeom prst="rect">
            <a:avLst/>
          </a:prstGeom>
          <a:noFill/>
        </p:spPr>
        <p:txBody>
          <a:bodyPr wrap="square" anchor="t" lIns="0" rIns="0" tIns="0" bIns="0">
            <a:spAutoFit/>
          </a:bodyPr>
          <a:lstStyle/>
          <a:p>
            <a:pPr algn="l"/>
            <a:r>
              <a:rPr sz="1500" b="1" i="0">
                <a:solidFill>
                  <a:srgbClr val="F3E9D6"/>
                </a:solidFill>
                <a:latin typeface="Segoe UI"/>
              </a:rPr>
              <a:t>Repeat guest rate</a:t>
            </a:r>
          </a:p>
        </p:txBody>
      </p:sp>
      <p:sp>
        <p:nvSpPr>
          <p:cNvPr id="19" name="TextBox 18"/>
          <p:cNvSpPr txBox="1"/>
          <p:nvPr/>
        </p:nvSpPr>
        <p:spPr>
          <a:xfrm>
            <a:off x="9692640" y="4023360"/>
            <a:ext cx="1828800" cy="365760"/>
          </a:xfrm>
          <a:prstGeom prst="rect">
            <a:avLst/>
          </a:prstGeom>
          <a:noFill/>
        </p:spPr>
        <p:txBody>
          <a:bodyPr wrap="square" anchor="t" lIns="0" rIns="0" tIns="0" bIns="0">
            <a:spAutoFit/>
          </a:bodyPr>
          <a:lstStyle/>
          <a:p>
            <a:pPr algn="r"/>
            <a:r>
              <a:rPr sz="1200" b="0" i="0">
                <a:solidFill>
                  <a:srgbClr val="B8A888"/>
                </a:solidFill>
                <a:latin typeface="Segoe UI"/>
              </a:rPr>
              <a:t>target 65</a:t>
            </a:r>
          </a:p>
        </p:txBody>
      </p:sp>
      <p:sp>
        <p:nvSpPr>
          <p:cNvPr id="20" name="Rectangle 19"/>
          <p:cNvSpPr/>
          <p:nvPr/>
        </p:nvSpPr>
        <p:spPr>
          <a:xfrm>
            <a:off x="640080" y="4407408"/>
            <a:ext cx="10881360" cy="256032"/>
          </a:xfrm>
          <a:prstGeom prst="rect">
            <a:avLst/>
          </a:prstGeom>
          <a:solidFill>
            <a:srgbClr val="2C21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40080" y="4407408"/>
            <a:ext cx="5114239" cy="256032"/>
          </a:xfrm>
          <a:prstGeom prst="rect">
            <a:avLst/>
          </a:prstGeom>
          <a:solidFill>
            <a:srgbClr val="E6A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937760"/>
            <a:ext cx="6858000" cy="365760"/>
          </a:xfrm>
          <a:prstGeom prst="rect">
            <a:avLst/>
          </a:prstGeom>
          <a:noFill/>
        </p:spPr>
        <p:txBody>
          <a:bodyPr wrap="square" anchor="t" lIns="0" rIns="0" tIns="0" bIns="0">
            <a:spAutoFit/>
          </a:bodyPr>
          <a:lstStyle/>
          <a:p>
            <a:pPr algn="l"/>
            <a:r>
              <a:rPr sz="1500" b="1" i="0">
                <a:solidFill>
                  <a:srgbClr val="F3E9D6"/>
                </a:solidFill>
                <a:latin typeface="Segoe UI"/>
              </a:rPr>
              <a:t>Catering leads from Wayne</a:t>
            </a:r>
          </a:p>
        </p:txBody>
      </p:sp>
      <p:sp>
        <p:nvSpPr>
          <p:cNvPr id="23" name="TextBox 22"/>
          <p:cNvSpPr txBox="1"/>
          <p:nvPr/>
        </p:nvSpPr>
        <p:spPr>
          <a:xfrm>
            <a:off x="9692640" y="4937760"/>
            <a:ext cx="1828800" cy="365760"/>
          </a:xfrm>
          <a:prstGeom prst="rect">
            <a:avLst/>
          </a:prstGeom>
          <a:noFill/>
        </p:spPr>
        <p:txBody>
          <a:bodyPr wrap="square" anchor="t" lIns="0" rIns="0" tIns="0" bIns="0">
            <a:spAutoFit/>
          </a:bodyPr>
          <a:lstStyle/>
          <a:p>
            <a:pPr algn="r"/>
            <a:r>
              <a:rPr sz="1200" b="0" i="0">
                <a:solidFill>
                  <a:srgbClr val="B8A888"/>
                </a:solidFill>
                <a:latin typeface="Segoe UI"/>
              </a:rPr>
              <a:t>target 60</a:t>
            </a:r>
          </a:p>
        </p:txBody>
      </p:sp>
      <p:sp>
        <p:nvSpPr>
          <p:cNvPr id="24" name="Rectangle 23"/>
          <p:cNvSpPr/>
          <p:nvPr/>
        </p:nvSpPr>
        <p:spPr>
          <a:xfrm>
            <a:off x="640080" y="5321808"/>
            <a:ext cx="10881360" cy="256032"/>
          </a:xfrm>
          <a:prstGeom prst="rect">
            <a:avLst/>
          </a:prstGeom>
          <a:solidFill>
            <a:srgbClr val="2C21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0080" y="5321808"/>
            <a:ext cx="3264408" cy="256032"/>
          </a:xfrm>
          <a:prstGeom prst="rect">
            <a:avLst/>
          </a:prstGeom>
          <a:solidFill>
            <a:srgbClr val="E6A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1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E6A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57200"/>
            <a:ext cx="10515600" cy="365760"/>
          </a:xfrm>
          <a:prstGeom prst="rect">
            <a:avLst/>
          </a:prstGeom>
          <a:noFill/>
        </p:spPr>
        <p:txBody>
          <a:bodyPr wrap="square" anchor="t" lIns="0" rIns="0" tIns="0" bIns="0">
            <a:spAutoFit/>
          </a:bodyPr>
          <a:lstStyle/>
          <a:p>
            <a:pPr algn="l"/>
            <a:r>
              <a:rPr sz="1300" b="1" i="0">
                <a:solidFill>
                  <a:srgbClr val="E6A93A"/>
                </a:solidFill>
                <a:latin typeface="Segoe UI"/>
              </a:rPr>
              <a:t>THE PLAN</a:t>
            </a:r>
          </a:p>
        </p:txBody>
      </p:sp>
      <p:sp>
        <p:nvSpPr>
          <p:cNvPr id="5" name="TextBox 4"/>
          <p:cNvSpPr txBox="1"/>
          <p:nvPr/>
        </p:nvSpPr>
        <p:spPr>
          <a:xfrm>
            <a:off x="640080" y="841248"/>
            <a:ext cx="10881360" cy="822960"/>
          </a:xfrm>
          <a:prstGeom prst="rect">
            <a:avLst/>
          </a:prstGeom>
          <a:noFill/>
        </p:spPr>
        <p:txBody>
          <a:bodyPr wrap="square" anchor="t" lIns="0" rIns="0" tIns="0" bIns="0">
            <a:spAutoFit/>
          </a:bodyPr>
          <a:lstStyle/>
          <a:p>
            <a:pPr algn="l"/>
            <a:r>
              <a:rPr sz="3000" b="1" i="0">
                <a:solidFill>
                  <a:srgbClr val="F3E9D6"/>
                </a:solidFill>
                <a:latin typeface="Segoe UI"/>
              </a:rPr>
              <a:t>Four moves for 2026</a:t>
            </a:r>
          </a:p>
        </p:txBody>
      </p:sp>
      <p:sp>
        <p:nvSpPr>
          <p:cNvPr id="6" name="Rectangle 5"/>
          <p:cNvSpPr/>
          <p:nvPr/>
        </p:nvSpPr>
        <p:spPr>
          <a:xfrm>
            <a:off x="658368" y="1627632"/>
            <a:ext cx="1828800" cy="36576"/>
          </a:xfrm>
          <a:prstGeom prst="rect">
            <a:avLst/>
          </a:prstGeom>
          <a:solidFill>
            <a:srgbClr val="E6A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55664"/>
            <a:ext cx="12191695" cy="54864"/>
          </a:xfrm>
          <a:prstGeom prst="rect">
            <a:avLst/>
          </a:prstGeom>
          <a:solidFill>
            <a:srgbClr val="3A2E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455664"/>
            <a:ext cx="10667733" cy="54864"/>
          </a:xfrm>
          <a:prstGeom prst="rect">
            <a:avLst/>
          </a:prstGeom>
          <a:solidFill>
            <a:srgbClr val="E6A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881360" y="6400800"/>
            <a:ext cx="1188720" cy="274320"/>
          </a:xfrm>
          <a:prstGeom prst="rect">
            <a:avLst/>
          </a:prstGeom>
          <a:noFill/>
        </p:spPr>
        <p:txBody>
          <a:bodyPr wrap="square" anchor="t" lIns="0" rIns="0" tIns="0" bIns="0">
            <a:spAutoFit/>
          </a:bodyPr>
          <a:lstStyle/>
          <a:p>
            <a:pPr algn="r"/>
            <a:r>
              <a:rPr sz="1000" b="0" i="0">
                <a:solidFill>
                  <a:srgbClr val="B8A888"/>
                </a:solidFill>
                <a:latin typeface="Segoe UI"/>
              </a:rPr>
              <a:t>7 / 8</a:t>
            </a:r>
          </a:p>
        </p:txBody>
      </p:sp>
      <p:pic>
        <p:nvPicPr>
          <p:cNvPr id="10" name="Picture 9" descr="2087.jpg"/>
          <p:cNvPicPr>
            <a:picLocks noChangeAspect="1"/>
          </p:cNvPicPr>
          <p:nvPr/>
        </p:nvPicPr>
        <p:blipFill>
          <a:blip r:embed="rId2"/>
          <a:stretch>
            <a:fillRect/>
          </a:stretch>
        </p:blipFill>
        <p:spPr>
          <a:xfrm>
            <a:off x="7955279" y="2011680"/>
            <a:ext cx="3566160" cy="4023360"/>
          </a:xfrm>
          <a:prstGeom prst="rect">
            <a:avLst/>
          </a:prstGeom>
        </p:spPr>
      </p:pic>
      <p:sp>
        <p:nvSpPr>
          <p:cNvPr id="11" name="Oval 10"/>
          <p:cNvSpPr/>
          <p:nvPr/>
        </p:nvSpPr>
        <p:spPr>
          <a:xfrm>
            <a:off x="640080" y="2057400"/>
            <a:ext cx="457200" cy="457200"/>
          </a:xfrm>
          <a:prstGeom prst="ellipse">
            <a:avLst/>
          </a:prstGeom>
          <a:solidFill>
            <a:srgbClr val="E6A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075688"/>
            <a:ext cx="457200" cy="420624"/>
          </a:xfrm>
          <a:prstGeom prst="rect">
            <a:avLst/>
          </a:prstGeom>
          <a:noFill/>
        </p:spPr>
        <p:txBody>
          <a:bodyPr wrap="square" anchor="ctr" lIns="0" rIns="0" tIns="0" bIns="0">
            <a:spAutoFit/>
          </a:bodyPr>
          <a:lstStyle/>
          <a:p>
            <a:pPr algn="ctr"/>
            <a:r>
              <a:rPr sz="1800" b="1" i="0">
                <a:solidFill>
                  <a:srgbClr val="2A1D0C"/>
                </a:solidFill>
                <a:latin typeface="Segoe UI"/>
              </a:rPr>
              <a:t>1</a:t>
            </a:r>
          </a:p>
        </p:txBody>
      </p:sp>
      <p:sp>
        <p:nvSpPr>
          <p:cNvPr id="13" name="TextBox 12"/>
          <p:cNvSpPr txBox="1"/>
          <p:nvPr/>
        </p:nvSpPr>
        <p:spPr>
          <a:xfrm>
            <a:off x="1280160" y="2011680"/>
            <a:ext cx="6400800" cy="1005840"/>
          </a:xfrm>
          <a:prstGeom prst="rect">
            <a:avLst/>
          </a:prstGeom>
          <a:noFill/>
        </p:spPr>
        <p:txBody>
          <a:bodyPr wrap="square" anchor="t" lIns="0" rIns="0" tIns="0" bIns="0">
            <a:spAutoFit/>
          </a:bodyPr>
          <a:lstStyle/>
          <a:p>
            <a:pPr algn="l"/>
            <a:r>
              <a:rPr sz="1500" b="1" i="0">
                <a:solidFill>
                  <a:srgbClr val="E6A93A"/>
                </a:solidFill>
                <a:latin typeface="Segoe UI"/>
              </a:rPr>
              <a:t>Lunch at Wayne</a:t>
            </a:r>
          </a:p>
          <a:p>
            <a:pPr algn="l">
              <a:lnSpc>
                <a:spcPct val="105000"/>
              </a:lnSpc>
              <a:spcBef>
                <a:spcPts val="200"/>
              </a:spcBef>
            </a:pPr>
            <a:r>
              <a:rPr sz="1200" b="0" i="0">
                <a:solidFill>
                  <a:srgbClr val="F3E9D6"/>
                </a:solidFill>
                <a:latin typeface="Segoe UI"/>
              </a:rPr>
              <a:t>Open a weekday lunch service mirroring Main Street, with a fast pide and wrap menu.</a:t>
            </a:r>
          </a:p>
        </p:txBody>
      </p:sp>
      <p:sp>
        <p:nvSpPr>
          <p:cNvPr id="14" name="Oval 13"/>
          <p:cNvSpPr/>
          <p:nvPr/>
        </p:nvSpPr>
        <p:spPr>
          <a:xfrm>
            <a:off x="640080" y="3044952"/>
            <a:ext cx="457200" cy="457200"/>
          </a:xfrm>
          <a:prstGeom prst="ellipse">
            <a:avLst/>
          </a:prstGeom>
          <a:solidFill>
            <a:srgbClr val="E6A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3063240"/>
            <a:ext cx="457200" cy="420624"/>
          </a:xfrm>
          <a:prstGeom prst="rect">
            <a:avLst/>
          </a:prstGeom>
          <a:noFill/>
        </p:spPr>
        <p:txBody>
          <a:bodyPr wrap="square" anchor="ctr" lIns="0" rIns="0" tIns="0" bIns="0">
            <a:spAutoFit/>
          </a:bodyPr>
          <a:lstStyle/>
          <a:p>
            <a:pPr algn="ctr"/>
            <a:r>
              <a:rPr sz="1800" b="1" i="0">
                <a:solidFill>
                  <a:srgbClr val="2A1D0C"/>
                </a:solidFill>
                <a:latin typeface="Segoe UI"/>
              </a:rPr>
              <a:t>2</a:t>
            </a:r>
          </a:p>
        </p:txBody>
      </p:sp>
      <p:sp>
        <p:nvSpPr>
          <p:cNvPr id="16" name="TextBox 15"/>
          <p:cNvSpPr txBox="1"/>
          <p:nvPr/>
        </p:nvSpPr>
        <p:spPr>
          <a:xfrm>
            <a:off x="1280160" y="2999232"/>
            <a:ext cx="6400800" cy="1005840"/>
          </a:xfrm>
          <a:prstGeom prst="rect">
            <a:avLst/>
          </a:prstGeom>
          <a:noFill/>
        </p:spPr>
        <p:txBody>
          <a:bodyPr wrap="square" anchor="t" lIns="0" rIns="0" tIns="0" bIns="0">
            <a:spAutoFit/>
          </a:bodyPr>
          <a:lstStyle/>
          <a:p>
            <a:pPr algn="l"/>
            <a:r>
              <a:rPr sz="1500" b="1" i="0">
                <a:solidFill>
                  <a:srgbClr val="E6A93A"/>
                </a:solidFill>
                <a:latin typeface="Segoe UI"/>
              </a:rPr>
              <a:t>Online ordering push</a:t>
            </a:r>
          </a:p>
          <a:p>
            <a:pPr algn="l">
              <a:lnSpc>
                <a:spcPct val="105000"/>
              </a:lnSpc>
              <a:spcBef>
                <a:spcPts val="200"/>
              </a:spcBef>
            </a:pPr>
            <a:r>
              <a:rPr sz="1200" b="0" i="0">
                <a:solidFill>
                  <a:srgbClr val="F3E9D6"/>
                </a:solidFill>
                <a:latin typeface="Segoe UI"/>
              </a:rPr>
              <a:t>Promote the pickup menu and tune the checkout funnel with the volunteer engineer.</a:t>
            </a:r>
          </a:p>
        </p:txBody>
      </p:sp>
      <p:sp>
        <p:nvSpPr>
          <p:cNvPr id="17" name="Oval 16"/>
          <p:cNvSpPr/>
          <p:nvPr/>
        </p:nvSpPr>
        <p:spPr>
          <a:xfrm>
            <a:off x="640080" y="4032504"/>
            <a:ext cx="457200" cy="457200"/>
          </a:xfrm>
          <a:prstGeom prst="ellipse">
            <a:avLst/>
          </a:prstGeom>
          <a:solidFill>
            <a:srgbClr val="E6A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4050792"/>
            <a:ext cx="457200" cy="420624"/>
          </a:xfrm>
          <a:prstGeom prst="rect">
            <a:avLst/>
          </a:prstGeom>
          <a:noFill/>
        </p:spPr>
        <p:txBody>
          <a:bodyPr wrap="square" anchor="ctr" lIns="0" rIns="0" tIns="0" bIns="0">
            <a:spAutoFit/>
          </a:bodyPr>
          <a:lstStyle/>
          <a:p>
            <a:pPr algn="ctr"/>
            <a:r>
              <a:rPr sz="1800" b="1" i="0">
                <a:solidFill>
                  <a:srgbClr val="2A1D0C"/>
                </a:solidFill>
                <a:latin typeface="Segoe UI"/>
              </a:rPr>
              <a:t>3</a:t>
            </a:r>
          </a:p>
        </p:txBody>
      </p:sp>
      <p:sp>
        <p:nvSpPr>
          <p:cNvPr id="19" name="TextBox 18"/>
          <p:cNvSpPr txBox="1"/>
          <p:nvPr/>
        </p:nvSpPr>
        <p:spPr>
          <a:xfrm>
            <a:off x="1280160" y="3986784"/>
            <a:ext cx="6400800" cy="1005840"/>
          </a:xfrm>
          <a:prstGeom prst="rect">
            <a:avLst/>
          </a:prstGeom>
          <a:noFill/>
        </p:spPr>
        <p:txBody>
          <a:bodyPr wrap="square" anchor="t" lIns="0" rIns="0" tIns="0" bIns="0">
            <a:spAutoFit/>
          </a:bodyPr>
          <a:lstStyle/>
          <a:p>
            <a:pPr algn="l"/>
            <a:r>
              <a:rPr sz="1500" b="1" i="0">
                <a:solidFill>
                  <a:srgbClr val="E6A93A"/>
                </a:solidFill>
                <a:latin typeface="Segoe UI"/>
              </a:rPr>
              <a:t>Catering from Wayne</a:t>
            </a:r>
          </a:p>
          <a:p>
            <a:pPr algn="l">
              <a:lnSpc>
                <a:spcPct val="105000"/>
              </a:lnSpc>
              <a:spcBef>
                <a:spcPts val="200"/>
              </a:spcBef>
            </a:pPr>
            <a:r>
              <a:rPr sz="1200" b="0" i="0">
                <a:solidFill>
                  <a:srgbClr val="F3E9D6"/>
                </a:solidFill>
                <a:latin typeface="Segoe UI"/>
              </a:rPr>
              <a:t>Run corporate lunches out of the open kitchen to fill the slow midweek.</a:t>
            </a:r>
          </a:p>
        </p:txBody>
      </p:sp>
      <p:sp>
        <p:nvSpPr>
          <p:cNvPr id="20" name="Oval 19"/>
          <p:cNvSpPr/>
          <p:nvPr/>
        </p:nvSpPr>
        <p:spPr>
          <a:xfrm>
            <a:off x="640080" y="5020056"/>
            <a:ext cx="457200" cy="457200"/>
          </a:xfrm>
          <a:prstGeom prst="ellipse">
            <a:avLst/>
          </a:prstGeom>
          <a:solidFill>
            <a:srgbClr val="E6A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5038344"/>
            <a:ext cx="457200" cy="420624"/>
          </a:xfrm>
          <a:prstGeom prst="rect">
            <a:avLst/>
          </a:prstGeom>
          <a:noFill/>
        </p:spPr>
        <p:txBody>
          <a:bodyPr wrap="square" anchor="ctr" lIns="0" rIns="0" tIns="0" bIns="0">
            <a:spAutoFit/>
          </a:bodyPr>
          <a:lstStyle/>
          <a:p>
            <a:pPr algn="ctr"/>
            <a:r>
              <a:rPr sz="1800" b="1" i="0">
                <a:solidFill>
                  <a:srgbClr val="2A1D0C"/>
                </a:solidFill>
                <a:latin typeface="Segoe UI"/>
              </a:rPr>
              <a:t>4</a:t>
            </a:r>
          </a:p>
        </p:txBody>
      </p:sp>
      <p:sp>
        <p:nvSpPr>
          <p:cNvPr id="22" name="TextBox 21"/>
          <p:cNvSpPr txBox="1"/>
          <p:nvPr/>
        </p:nvSpPr>
        <p:spPr>
          <a:xfrm>
            <a:off x="1280160" y="4974336"/>
            <a:ext cx="6400800" cy="1005840"/>
          </a:xfrm>
          <a:prstGeom prst="rect">
            <a:avLst/>
          </a:prstGeom>
          <a:noFill/>
        </p:spPr>
        <p:txBody>
          <a:bodyPr wrap="square" anchor="t" lIns="0" rIns="0" tIns="0" bIns="0">
            <a:spAutoFit/>
          </a:bodyPr>
          <a:lstStyle/>
          <a:p>
            <a:pPr algn="l"/>
            <a:r>
              <a:rPr sz="1500" b="1" i="0">
                <a:solidFill>
                  <a:srgbClr val="E6A93A"/>
                </a:solidFill>
                <a:latin typeface="Segoe UI"/>
              </a:rPr>
              <a:t>Loyalty for regulars</a:t>
            </a:r>
          </a:p>
          <a:p>
            <a:pPr algn="l">
              <a:lnSpc>
                <a:spcPct val="105000"/>
              </a:lnSpc>
              <a:spcBef>
                <a:spcPts val="200"/>
              </a:spcBef>
            </a:pPr>
            <a:r>
              <a:rPr sz="1200" b="0" i="0">
                <a:solidFill>
                  <a:srgbClr val="F3E9D6"/>
                </a:solidFill>
                <a:latin typeface="Segoe UI"/>
              </a:rPr>
              <a:t>A simple repeat guest card, no app, run through the point of sale.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6110C"/>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161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926080"/>
            <a:ext cx="12191695" cy="54864"/>
          </a:xfrm>
          <a:prstGeom prst="rect">
            <a:avLst/>
          </a:prstGeom>
          <a:solidFill>
            <a:srgbClr val="E6A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828800"/>
            <a:ext cx="10607040" cy="1097280"/>
          </a:xfrm>
          <a:prstGeom prst="rect">
            <a:avLst/>
          </a:prstGeom>
          <a:noFill/>
        </p:spPr>
        <p:txBody>
          <a:bodyPr wrap="square" anchor="t" lIns="0" rIns="0" tIns="0" bIns="0">
            <a:spAutoFit/>
          </a:bodyPr>
          <a:lstStyle/>
          <a:p>
            <a:pPr algn="l"/>
            <a:r>
              <a:rPr sz="3400" b="1" i="0">
                <a:solidFill>
                  <a:srgbClr val="F3E9D6"/>
                </a:solidFill>
                <a:latin typeface="Segoe UI"/>
              </a:rPr>
              <a:t>Target: close the Wayne gap by year end</a:t>
            </a:r>
          </a:p>
        </p:txBody>
      </p:sp>
      <p:sp>
        <p:nvSpPr>
          <p:cNvPr id="5" name="TextBox 4"/>
          <p:cNvSpPr txBox="1"/>
          <p:nvPr/>
        </p:nvSpPr>
        <p:spPr>
          <a:xfrm>
            <a:off x="822960" y="3200400"/>
            <a:ext cx="10607040" cy="1828800"/>
          </a:xfrm>
          <a:prstGeom prst="rect">
            <a:avLst/>
          </a:prstGeom>
          <a:noFill/>
        </p:spPr>
        <p:txBody>
          <a:bodyPr wrap="square" anchor="t" lIns="0" rIns="0" tIns="0" bIns="0">
            <a:spAutoFit/>
          </a:bodyPr>
          <a:lstStyle/>
          <a:p>
            <a:pPr algn="l"/>
            <a:r>
              <a:rPr sz="1700" b="0" i="0">
                <a:solidFill>
                  <a:srgbClr val="E6A93A"/>
                </a:solidFill>
                <a:latin typeface="Segoe UI"/>
              </a:rPr>
              <a:t>Lift combined revenue toward $2.0M, pay off the $28,000 kitchen equipment loan by December, and bring Wayne food cost back toward 28%.</a:t>
            </a:r>
          </a:p>
          <a:p>
            <a:pPr algn="l">
              <a:spcBef>
                <a:spcPts val="1000"/>
              </a:spcBef>
            </a:pPr>
            <a:r>
              <a:rPr sz="1300" b="0" i="0">
                <a:solidFill>
                  <a:srgbClr val="B8A888"/>
                </a:solidFill>
                <a:latin typeface="Segoe UI"/>
              </a:rPr>
              <a:t>Reviewed monthly on the 15th with Frank Moretti.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