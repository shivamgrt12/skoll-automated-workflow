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Catering revenue</c:v>
                </c:pt>
              </c:strCache>
            </c:strRef>
          </c:tx>
          <c:spPr>
            <a:solidFill>
              <a:srgbClr val="C14524"/>
            </a:solidFill>
          </c:spP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plan</c:v>
                </c:pt>
                <c:pt idx="4">
                  <c:v>2027 goal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7.0</c:v>
                </c:pt>
                <c:pt idx="1">
                  <c:v>11.0</c:v>
                </c:pt>
                <c:pt idx="2">
                  <c:v>18.0</c:v>
                </c:pt>
                <c:pt idx="3">
                  <c:v>28.0</c:v>
                </c:pt>
                <c:pt idx="4">
                  <c:v>40.0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2A1E"/>
            </a:solidFill>
          </a:ln>
        </c:spPr>
        <c:txPr>
          <a:bodyPr/>
          <a:lstStyle/>
          <a:p>
            <a:pPr>
              <a:defRPr sz="1000">
                <a:solidFill>
                  <a:srgbClr val="3A2A1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&quot;$&quot;#,##0&quot;, K&quot;" sourceLinked="0"/>
        <c:majorTickMark val="out"/>
        <c:minorTickMark val="none"/>
        <c:tickLblPos val="nextTo"/>
        <c:spPr>
          <a:ln>
            <a:solidFill>
              <a:srgbClr val="3A2A1E"/>
            </a:solidFill>
          </a:ln>
        </c:spPr>
        <c:txPr>
          <a:bodyPr/>
          <a:lstStyle/>
          <a:p>
            <a:pPr>
              <a:defRPr sz="1000">
                <a:solidFill>
                  <a:srgbClr val="3A2A1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C14524"/>
              </a:solidFill>
            </c:spPr>
          </c:dPt>
          <c:dPt>
            <c:idx val="1"/>
            <c:spPr>
              <a:solidFill>
                <a:srgbClr val="CF9433"/>
              </a:solidFill>
            </c:spPr>
          </c:dPt>
          <c:dPt>
            <c:idx val="2"/>
            <c:spPr>
              <a:solidFill>
                <a:srgbClr val="3F6B4F"/>
              </a:solidFill>
            </c:spPr>
          </c:dPt>
          <c:dPt>
            <c:idx val="3"/>
            <c:spPr>
              <a:solidFill>
                <a:srgbClr val="4A8FB0"/>
              </a:solidFill>
            </c:spPr>
          </c:dPt>
          <c:dPt>
            <c:idx val="4"/>
            <c:spPr>
              <a:solidFill>
                <a:srgbClr val="B0603A"/>
              </a:solidFill>
            </c:spPr>
          </c:dPt>
          <c:cat>
            <c:strRef>
              <c:f>Sheet1!$A$2:$A$6</c:f>
              <c:strCache>
                <c:ptCount val="5"/>
                <c:pt idx="0">
                  <c:v>Weddings</c:v>
                </c:pt>
                <c:pt idx="1">
                  <c:v>Engagement parties</c:v>
                </c:pt>
                <c:pt idx="2">
                  <c:v>Circumcision</c:v>
                </c:pt>
                <c:pt idx="3">
                  <c:v>Corporate lunch</c:v>
                </c:pt>
                <c:pt idx="4">
                  <c:v>Community events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0.34</c:v>
                </c:pt>
                <c:pt idx="1">
                  <c:v>0.2</c:v>
                </c:pt>
                <c:pt idx="2">
                  <c:v>0.16</c:v>
                </c:pt>
                <c:pt idx="3">
                  <c:v>0.18</c:v>
                </c:pt>
                <c:pt idx="4">
                  <c:v>0.12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>
              <a:solidFill>
                <a:srgbClr val="3A2A1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109728" cy="6858000"/>
          </a:xfrm>
          <a:prstGeom prst="rect">
            <a:avLst/>
          </a:prstGeom>
          <a:solidFill>
            <a:srgbClr val="CF9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3108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BF3E6"/>
                </a:solidFill>
                <a:latin typeface="Segoe UI"/>
              </a:rPr>
              <a:t>ANATOLIA</a:t>
            </a:r>
          </a:p>
          <a:p>
            <a:pPr algn="l"/>
            <a:r>
              <a:rPr sz="2400" b="1" i="0">
                <a:solidFill>
                  <a:srgbClr val="CF9433"/>
                </a:solidFill>
                <a:latin typeface="Segoe UI"/>
              </a:rPr>
              <a:t>CATERING</a:t>
            </a:r>
          </a:p>
          <a:p>
            <a:pPr algn="l">
              <a:spcBef>
                <a:spcPts val="1200"/>
              </a:spcBef>
            </a:pPr>
            <a:r>
              <a:rPr sz="1200" b="0" i="0">
                <a:solidFill>
                  <a:srgbClr val="F0DCC8"/>
                </a:solidFill>
                <a:latin typeface="Segoe UI"/>
              </a:rPr>
              <a:t>Hand selected. Halal. Over coal.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011680"/>
            <a:ext cx="7040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3A2A1E"/>
                </a:solidFill>
                <a:latin typeface="Segoe UI"/>
              </a:rPr>
              <a:t>Catering Growth Plan</a:t>
            </a:r>
          </a:p>
          <a:p>
            <a:pPr algn="l"/>
            <a:r>
              <a:rPr sz="2400" b="1" i="0">
                <a:solidFill>
                  <a:srgbClr val="C14524"/>
                </a:solidFill>
                <a:latin typeface="Segoe UI"/>
              </a:rPr>
              <a:t>the road to $40,000 by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75488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7559"/>
                </a:solidFill>
                <a:latin typeface="Segoe UI"/>
              </a:rPr>
              <a:t>Prepared by Jason Rivera  .  run from the Main Street kitchen with Yusuf</a:t>
            </a:r>
          </a:p>
          <a:p>
            <a:pPr algn="l"/>
            <a:r>
              <a:rPr sz="1200" b="0" i="0">
                <a:solidFill>
                  <a:srgbClr val="8A7559"/>
                </a:solidFill>
                <a:latin typeface="Segoe UI"/>
              </a:rPr>
              <a:t>Planning note, December 2025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45720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14524"/>
                </a:solidFill>
                <a:latin typeface="Segoe UI"/>
              </a:rPr>
              <a:t>MOMENTUM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3A2A1E"/>
                </a:solidFill>
                <a:latin typeface="Segoe UI"/>
              </a:rPr>
              <a:t>Where catering revenue is heading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91695" cy="54864"/>
          </a:xfrm>
          <a:prstGeom prst="rect">
            <a:avLst/>
          </a:prstGeom>
          <a:solidFill>
            <a:srgbClr val="E6D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55664"/>
            <a:ext cx="3483341" cy="54864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825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7559"/>
                </a:solidFill>
                <a:latin typeface="Segoe UI"/>
              </a:rPr>
              <a:t>2 / 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82880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955279" y="192024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2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108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9C2B16"/>
                </a:solidFill>
                <a:latin typeface="Segoe UI"/>
              </a:rPr>
              <a:t>Up 64% in 2025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300" b="0" i="0">
                <a:solidFill>
                  <a:srgbClr val="3A2A1E"/>
                </a:solidFill>
                <a:latin typeface="Segoe UI"/>
              </a:rPr>
              <a:t>From $11K to $18K in a single year, with no advertising, all word of mouth across the Turkish community.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300" b="0" i="0">
                <a:solidFill>
                  <a:srgbClr val="3A2A1E"/>
                </a:solidFill>
                <a:latin typeface="Segoe UI"/>
              </a:rPr>
              <a:t>The 2027 goal needs a dedicated menu, online ordering, and a second insulated van.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7559"/>
                </a:solidFill>
                <a:latin typeface="Segoe UI"/>
              </a:rPr>
              <a:t>Revenue in thousands.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45720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14524"/>
                </a:solidFill>
                <a:latin typeface="Segoe UI"/>
              </a:rPr>
              <a:t>THE MIX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3A2A1E"/>
                </a:solidFill>
                <a:latin typeface="Segoe UI"/>
              </a:rPr>
              <a:t>What we cater, by share of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91695" cy="54864"/>
          </a:xfrm>
          <a:prstGeom prst="rect">
            <a:avLst/>
          </a:prstGeom>
          <a:solidFill>
            <a:srgbClr val="E6D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55664"/>
            <a:ext cx="5225012" cy="54864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825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7559"/>
                </a:solidFill>
                <a:latin typeface="Segoe UI"/>
              </a:rPr>
              <a:t>3 / 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2880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949440" y="2057400"/>
            <a:ext cx="164592" cy="640080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201168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2A1E"/>
                </a:solidFill>
                <a:latin typeface="Segoe UI"/>
              </a:rPr>
              <a:t>Weddings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50" b="0" i="0">
                <a:solidFill>
                  <a:srgbClr val="8A7559"/>
                </a:solidFill>
                <a:latin typeface="Segoe UI"/>
              </a:rPr>
              <a:t>Largest tickets, $4,000 and up, Jason on the grill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3017520"/>
            <a:ext cx="164592" cy="640080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2A1E"/>
                </a:solidFill>
                <a:latin typeface="Segoe UI"/>
              </a:rPr>
              <a:t>Engagement and circumcision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50" b="0" i="0">
                <a:solidFill>
                  <a:srgbClr val="8A7559"/>
                </a:solidFill>
                <a:latin typeface="Segoe UI"/>
              </a:rPr>
              <a:t>Steady community bookings through the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977640"/>
            <a:ext cx="164592" cy="640080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393192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2A1E"/>
                </a:solidFill>
                <a:latin typeface="Segoe UI"/>
              </a:rPr>
              <a:t>Corporate lunches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50" b="0" i="0">
                <a:solidFill>
                  <a:srgbClr val="8A7559"/>
                </a:solidFill>
                <a:latin typeface="Segoe UI"/>
              </a:rPr>
              <a:t>Fastest growing, weekday volume, repeatable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164592" cy="640080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89204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2A1E"/>
                </a:solidFill>
                <a:latin typeface="Segoe UI"/>
              </a:rPr>
              <a:t>Community events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150" b="0" i="0">
                <a:solidFill>
                  <a:srgbClr val="8A7559"/>
                </a:solidFill>
                <a:latin typeface="Segoe UI"/>
              </a:rPr>
              <a:t>Cultural center and mosque, relationship work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45720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14524"/>
                </a:solidFill>
                <a:latin typeface="Segoe UI"/>
              </a:rPr>
              <a:t>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3A2A1E"/>
                </a:solidFill>
                <a:latin typeface="Segoe UI"/>
              </a:rPr>
              <a:t>Menus and per guest pricing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91695" cy="54864"/>
          </a:xfrm>
          <a:prstGeom prst="rect">
            <a:avLst/>
          </a:prstGeom>
          <a:solidFill>
            <a:srgbClr val="E6D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55664"/>
            <a:ext cx="6966682" cy="54864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825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7559"/>
                </a:solidFill>
                <a:latin typeface="Segoe UI"/>
              </a:rPr>
              <a:t>4 / 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920240"/>
          <a:ext cx="1088136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463040"/>
                <a:gridCol w="4206240"/>
                <a:gridCol w="274320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Package</a:t>
                      </a:r>
                    </a:p>
                  </a:txBody>
                  <a:tcPr marL="88900" marR="88900" marT="38100" marB="38100" anchor="ctr">
                    <a:solidFill>
                      <a:srgbClr val="9C2B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Per guest</a:t>
                      </a:r>
                    </a:p>
                  </a:txBody>
                  <a:tcPr marL="88900" marR="88900" marT="38100" marB="38100" anchor="ctr">
                    <a:solidFill>
                      <a:srgbClr val="9C2B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Includes</a:t>
                      </a:r>
                    </a:p>
                  </a:txBody>
                  <a:tcPr marL="88900" marR="88900" marT="38100" marB="38100" anchor="ctr">
                    <a:solidFill>
                      <a:srgbClr val="9C2B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Best for</a:t>
                      </a:r>
                    </a:p>
                  </a:txBody>
                  <a:tcPr marL="88900" marR="88900" marT="38100" marB="38100" anchor="ctr">
                    <a:solidFill>
                      <a:srgbClr val="9C2B1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Mezze and grill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$26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Two mains, mezze, pilav, tea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Smaller parties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Full Turkish buffet</a:t>
                      </a:r>
                    </a:p>
                  </a:txBody>
                  <a:tcPr marL="88900" marR="88900" marT="38100" marB="38100" anchor="ctr">
                    <a:solidFill>
                      <a:srgbClr val="F6EA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$32</a:t>
                      </a:r>
                    </a:p>
                  </a:txBody>
                  <a:tcPr marL="88900" marR="88900" marT="38100" marB="38100" anchor="ctr">
                    <a:solidFill>
                      <a:srgbClr val="F6EA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Four mains, iskender, dessert, tea</a:t>
                      </a:r>
                    </a:p>
                  </a:txBody>
                  <a:tcPr marL="88900" marR="88900" marT="38100" marB="38100" anchor="ctr">
                    <a:solidFill>
                      <a:srgbClr val="F6EA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Weddings</a:t>
                      </a:r>
                    </a:p>
                  </a:txBody>
                  <a:tcPr marL="88900" marR="88900" marT="38100" marB="38100" anchor="ctr">
                    <a:solidFill>
                      <a:srgbClr val="F6EAD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Corporate lunch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$18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Platters, wraps, baklava, delivery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Offices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Community rate</a:t>
                      </a:r>
                    </a:p>
                  </a:txBody>
                  <a:tcPr marL="88900" marR="88900" marT="38100" marB="38100" anchor="ctr">
                    <a:solidFill>
                      <a:srgbClr val="F6EA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$14</a:t>
                      </a:r>
                    </a:p>
                  </a:txBody>
                  <a:tcPr marL="88900" marR="88900" marT="38100" marB="38100" anchor="ctr">
                    <a:solidFill>
                      <a:srgbClr val="F6EA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Grill, pilav, bread, tea service</a:t>
                      </a:r>
                    </a:p>
                  </a:txBody>
                  <a:tcPr marL="88900" marR="88900" marT="38100" marB="38100" anchor="ctr">
                    <a:solidFill>
                      <a:srgbClr val="F6EA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A2A1E"/>
                          </a:solidFill>
                          <a:latin typeface="Segoe UI"/>
                        </a:rPr>
                        <a:t>Cultural center</a:t>
                      </a:r>
                    </a:p>
                  </a:txBody>
                  <a:tcPr marL="88900" marR="88900" marT="38100" marB="38100" anchor="ctr">
                    <a:solidFill>
                      <a:srgbClr val="F6EAD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2A1E"/>
                </a:solidFill>
                <a:latin typeface="Segoe UI"/>
              </a:rPr>
              <a:t>Staff, delivery, setup, and breakdown are included within twenty miles of Paterson. A deposit holds the date and the balance is due seven days before the event. All meat is halal and we do not serve alcohol.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45720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14524"/>
                </a:solidFill>
                <a:latin typeface="Segoe UI"/>
              </a:rPr>
              <a:t>LEVERS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3A2A1E"/>
                </a:solidFill>
                <a:latin typeface="Segoe UI"/>
              </a:rPr>
              <a:t>What moves the number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91695" cy="54864"/>
          </a:xfrm>
          <a:prstGeom prst="rect">
            <a:avLst/>
          </a:prstGeom>
          <a:solidFill>
            <a:srgbClr val="E6D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55664"/>
            <a:ext cx="8708353" cy="54864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825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7559"/>
                </a:solidFill>
                <a:latin typeface="Segoe UI"/>
              </a:rPr>
              <a:t>5 / 7</a:t>
            </a:r>
          </a:p>
        </p:txBody>
      </p:sp>
      <p:pic>
        <p:nvPicPr>
          <p:cNvPr id="10" name="Picture 9" descr="2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0"/>
            <a:ext cx="347472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0116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2A1E"/>
                </a:solidFill>
                <a:latin typeface="Segoe UI"/>
              </a:rPr>
              <a:t>Dedicated catering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9C2B16"/>
                </a:solidFill>
                <a:latin typeface="Segoe UI"/>
              </a:rPr>
              <a:t>70%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95728"/>
            <a:ext cx="7040880" cy="237744"/>
          </a:xfrm>
          <a:prstGeom prst="rect">
            <a:avLst/>
          </a:prstGeom>
          <a:solidFill>
            <a:srgbClr val="E6D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395728"/>
            <a:ext cx="4928616" cy="237744"/>
          </a:xfrm>
          <a:prstGeom prst="rect">
            <a:avLst/>
          </a:prstGeom>
          <a:solidFill>
            <a:srgbClr val="CF9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44368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2A1E"/>
                </a:solidFill>
                <a:latin typeface="Segoe UI"/>
              </a:rPr>
              <a:t>Online ordering and deposits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4436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9C2B16"/>
                </a:solidFill>
                <a:latin typeface="Segoe UI"/>
              </a:rPr>
              <a:t>45%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28416"/>
            <a:ext cx="7040880" cy="237744"/>
          </a:xfrm>
          <a:prstGeom prst="rect">
            <a:avLst/>
          </a:prstGeom>
          <a:solidFill>
            <a:srgbClr val="E6D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28416"/>
            <a:ext cx="3168396" cy="237744"/>
          </a:xfrm>
          <a:prstGeom prst="rect">
            <a:avLst/>
          </a:prstGeom>
          <a:solidFill>
            <a:srgbClr val="CF9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77056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2A1E"/>
                </a:solidFill>
                <a:latin typeface="Segoe UI"/>
              </a:rPr>
              <a:t>Second insulated van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7705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9C2B16"/>
                </a:solidFill>
                <a:latin typeface="Segoe UI"/>
              </a:rPr>
              <a:t>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61104"/>
            <a:ext cx="7040880" cy="237744"/>
          </a:xfrm>
          <a:prstGeom prst="rect">
            <a:avLst/>
          </a:prstGeom>
          <a:solidFill>
            <a:srgbClr val="E6D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61104"/>
            <a:ext cx="1760220" cy="237744"/>
          </a:xfrm>
          <a:prstGeom prst="rect">
            <a:avLst/>
          </a:prstGeom>
          <a:solidFill>
            <a:srgbClr val="CF9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0974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2A1E"/>
                </a:solidFill>
                <a:latin typeface="Segoe UI"/>
              </a:rPr>
              <a:t>Corporate client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0974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9C2B16"/>
                </a:solidFill>
                <a:latin typeface="Segoe UI"/>
              </a:rPr>
              <a:t>55%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93792"/>
            <a:ext cx="7040880" cy="237744"/>
          </a:xfrm>
          <a:prstGeom prst="rect">
            <a:avLst/>
          </a:prstGeom>
          <a:solidFill>
            <a:srgbClr val="E6D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193792"/>
            <a:ext cx="3872484" cy="237744"/>
          </a:xfrm>
          <a:prstGeom prst="rect">
            <a:avLst/>
          </a:prstGeom>
          <a:solidFill>
            <a:srgbClr val="CF9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45720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14524"/>
                </a:solidFill>
                <a:latin typeface="Segoe U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3A2A1E"/>
                </a:solidFill>
                <a:latin typeface="Segoe UI"/>
              </a:rPr>
              <a:t>Milestones to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55664"/>
            <a:ext cx="12191695" cy="54864"/>
          </a:xfrm>
          <a:prstGeom prst="rect">
            <a:avLst/>
          </a:prstGeom>
          <a:solidFill>
            <a:srgbClr val="E6D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55664"/>
            <a:ext cx="10450024" cy="54864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825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7559"/>
                </a:solidFill>
                <a:latin typeface="Segoe UI"/>
              </a:rPr>
              <a:t>6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10881360" cy="54864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63040" y="3044952"/>
            <a:ext cx="365760" cy="365760"/>
          </a:xfrm>
          <a:prstGeom prst="ellipse">
            <a:avLst/>
          </a:prstGeom>
          <a:solidFill>
            <a:srgbClr val="CF9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9C2B16"/>
                </a:solidFill>
                <a:latin typeface="Segoe UI"/>
              </a:rPr>
              <a:t>Late 2025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50" b="0" i="0">
                <a:solidFill>
                  <a:srgbClr val="3A2A1E"/>
                </a:solidFill>
                <a:latin typeface="Segoe UI"/>
              </a:rPr>
              <a:t>Build the dedicated catering menu and pricing</a:t>
            </a:r>
          </a:p>
        </p:txBody>
      </p:sp>
      <p:sp>
        <p:nvSpPr>
          <p:cNvPr id="13" name="Oval 12"/>
          <p:cNvSpPr/>
          <p:nvPr/>
        </p:nvSpPr>
        <p:spPr>
          <a:xfrm>
            <a:off x="4183380" y="3044952"/>
            <a:ext cx="365760" cy="365760"/>
          </a:xfrm>
          <a:prstGeom prst="ellipse">
            <a:avLst/>
          </a:prstGeom>
          <a:solidFill>
            <a:srgbClr val="CF9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6100" y="36118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9C2B16"/>
                </a:solidFill>
                <a:latin typeface="Segoe UI"/>
              </a:rPr>
              <a:t>Early 2026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50" b="0" i="0">
                <a:solidFill>
                  <a:srgbClr val="3A2A1E"/>
                </a:solidFill>
                <a:latin typeface="Segoe UI"/>
              </a:rPr>
              <a:t>Stand up online ordering and deposit collection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6903720" y="3044952"/>
            <a:ext cx="365760" cy="365760"/>
          </a:xfrm>
          <a:prstGeom prst="ellipse">
            <a:avLst/>
          </a:prstGeom>
          <a:solidFill>
            <a:srgbClr val="CF9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182880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9C2B16"/>
                </a:solidFill>
                <a:latin typeface="Segoe UI"/>
              </a:rPr>
              <a:t>Mid 2026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50" b="0" i="0">
                <a:solidFill>
                  <a:srgbClr val="3A2A1E"/>
                </a:solidFill>
                <a:latin typeface="Segoe UI"/>
              </a:rPr>
              <a:t>Add the second insulated van for parallel events</a:t>
            </a:r>
          </a:p>
        </p:txBody>
      </p:sp>
      <p:sp>
        <p:nvSpPr>
          <p:cNvPr id="17" name="Oval 16"/>
          <p:cNvSpPr/>
          <p:nvPr/>
        </p:nvSpPr>
        <p:spPr>
          <a:xfrm>
            <a:off x="9624060" y="3044952"/>
            <a:ext cx="365760" cy="365760"/>
          </a:xfrm>
          <a:prstGeom prst="ellipse">
            <a:avLst/>
          </a:prstGeom>
          <a:solidFill>
            <a:srgbClr val="CF9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6780" y="361188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9C2B16"/>
                </a:solidFill>
                <a:latin typeface="Segoe UI"/>
              </a:rPr>
              <a:t>2027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150" b="0" i="0">
                <a:solidFill>
                  <a:srgbClr val="3A2A1E"/>
                </a:solidFill>
                <a:latin typeface="Segoe UI"/>
              </a:rPr>
              <a:t>Reach $40,000 and a repeatable corporate pipeline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C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F9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BF3E6"/>
                </a:solidFill>
                <a:latin typeface="Segoe UI"/>
              </a:rPr>
              <a:t>Feed more families, grow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4E2D2"/>
                </a:solidFill>
                <a:latin typeface="Segoe UI"/>
              </a:rPr>
              <a:t>Catering is the side of the business that scales without a second dining room. The plan keeps it personal, keeps it halal, and keeps Jason on the grill for the events that matter.</a:t>
            </a:r>
          </a:p>
          <a:p>
            <a:pPr algn="l">
              <a:spcBef>
                <a:spcPts val="1200"/>
              </a:spcBef>
            </a:pPr>
            <a:r>
              <a:rPr sz="1300" b="0" i="0">
                <a:solidFill>
                  <a:srgbClr val="CF9433"/>
                </a:solidFill>
                <a:latin typeface="Segoe UI"/>
              </a:rPr>
              <a:t>412 Main Street, Paterson  .  (973) 555-0400  .  jason.rivera@Finthesiss.ai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