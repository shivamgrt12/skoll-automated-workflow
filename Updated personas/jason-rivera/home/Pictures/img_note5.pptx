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c:v>
                </c:pt>
              </c:strCache>
            </c:strRef>
          </c:tx>
          <c:dPt>
            <c:idx val="0"/>
            <c:spPr>
              <a:solidFill>
                <a:srgbClr val="3FB9A3"/>
              </a:solidFill>
            </c:spPr>
          </c:dPt>
          <c:dPt>
            <c:idx val="1"/>
            <c:spPr>
              <a:solidFill>
                <a:srgbClr val="E0A93A"/>
              </a:solidFill>
            </c:spPr>
          </c:dPt>
          <c:dPt>
            <c:idx val="2"/>
            <c:spPr>
              <a:solidFill>
                <a:srgbClr val="5A9BD4"/>
              </a:solidFill>
            </c:spPr>
          </c:dPt>
          <c:dPt>
            <c:idx val="3"/>
            <c:spPr>
              <a:solidFill>
                <a:srgbClr val="D4694A"/>
              </a:solidFill>
            </c:spPr>
          </c:dPt>
          <c:cat>
            <c:strRef>
              <c:f>Sheet1!$A$2:$A$5</c:f>
              <c:strCache>
                <c:ptCount val="4"/>
                <c:pt idx="0">
                  <c:v>Commercial loan, 75%</c:v>
                </c:pt>
                <c:pt idx="1">
                  <c:v>Restaurant distributions</c:v>
                </c:pt>
                <c:pt idx="2">
                  <c:v>Real estate reserve</c:v>
                </c:pt>
                <c:pt idx="3">
                  <c:v>Closing cushion</c:v>
                </c:pt>
              </c:strCache>
            </c:strRef>
          </c:cat>
          <c:val>
            <c:numRef>
              <c:f>Sheet1!$B$2:$B$5</c:f>
              <c:numCache>
                <c:formatCode>General</c:formatCode>
                <c:ptCount val="4"/>
                <c:pt idx="0">
                  <c:v>0.75</c:v>
                </c:pt>
                <c:pt idx="1">
                  <c:v>0.13</c:v>
                </c:pt>
                <c:pt idx="2">
                  <c:v>0.08</c:v>
                </c:pt>
                <c:pt idx="3">
                  <c:v>0.04</c:v>
                </c:pt>
              </c:numCache>
            </c:numRef>
          </c:val>
        </c:ser>
        <c:dLbls>
          <c:numFmt formatCode="0%" sourceLinked="0"/>
          <c:txPr>
            <a:bodyPr/>
            <a:lstStyle/>
            <a:p>
              <a:pPr>
                <a:defRPr sz="1000">
                  <a:solidFill>
                    <a:srgbClr val="FFFFFF"/>
                  </a:solidFill>
                </a:defRPr>
              </a:pPr>
            </a:p>
          </c:txPr>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solidFill>
                <a:srgbClr val="EEE7D6"/>
              </a:solidFill>
            </a:defRPr>
          </a:pPr>
        </a:p>
      </c:txPr>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Cap rate at asking</c:v>
                </c:pt>
              </c:strCache>
            </c:strRef>
          </c:tx>
          <c:spPr>
            <a:solidFill>
              <a:srgbClr val="3FB9A3"/>
            </a:solidFill>
          </c:spPr>
          <c:cat>
            <c:strRef>
              <c:f>Sheet1!$A$2:$A$5</c:f>
              <c:strCache>
                <c:ptCount val="4"/>
                <c:pt idx="0">
                  <c:v>Van Houten
(owned)</c:v>
                </c:pt>
                <c:pt idx="1">
                  <c:v>Loopnet A
Paterson</c:v>
                </c:pt>
                <c:pt idx="2">
                  <c:v>Loopnet B
Haledon</c:v>
                </c:pt>
                <c:pt idx="3">
                  <c:v>Loopnet C
Prospect Park</c:v>
                </c:pt>
              </c:strCache>
            </c:strRef>
          </c:cat>
          <c:val>
            <c:numRef>
              <c:f>Sheet1!$B$2:$B$5</c:f>
              <c:numCache>
                <c:formatCode>General</c:formatCode>
                <c:ptCount val="4"/>
                <c:pt idx="0">
                  <c:v>7.6</c:v>
                </c:pt>
                <c:pt idx="1">
                  <c:v>6.4</c:v>
                </c:pt>
                <c:pt idx="2">
                  <c:v>7.2</c:v>
                </c:pt>
                <c:pt idx="3">
                  <c:v>8.1</c:v>
                </c:pt>
              </c:numCache>
            </c:numRef>
          </c:val>
        </c:ser>
        <c:axId val="-2068027336"/>
        <c:axId val="-2113994440"/>
      </c:barChart>
      <c:catAx>
        <c:axId val="-2068027336"/>
        <c:scaling>
          <c:orientation val="minMax"/>
        </c:scaling>
        <c:delete val="0"/>
        <c:axPos val="b"/>
        <c:majorTickMark val="out"/>
        <c:minorTickMark val="none"/>
        <c:tickLblPos val="nextTo"/>
        <c:spPr>
          <a:ln>
            <a:solidFill>
              <a:srgbClr val="EEE7D6"/>
            </a:solidFill>
          </a:ln>
        </c:spPr>
        <c:txPr>
          <a:bodyPr/>
          <a:lstStyle/>
          <a:p>
            <a:pPr>
              <a:defRPr sz="1000">
                <a:solidFill>
                  <a:srgbClr val="EEE7D6"/>
                </a:solidFill>
              </a:defRPr>
            </a:pPr>
          </a:p>
        </c:txPr>
        <c:crossAx val="-2113994440"/>
        <c:crosses val="autoZero"/>
        <c:auto val="1"/>
        <c:lblAlgn val="ctr"/>
        <c:lblOffset val="100"/>
        <c:noMultiLvlLbl val="0"/>
      </c:catAx>
      <c:valAx>
        <c:axId val="-2113994440"/>
        <c:scaling/>
        <c:delete val="0"/>
        <c:axPos val="l"/>
        <c:numFmt formatCode="0.0&quot;%&quot;" sourceLinked="0"/>
        <c:majorTickMark val="out"/>
        <c:minorTickMark val="none"/>
        <c:tickLblPos val="nextTo"/>
        <c:spPr>
          <a:ln>
            <a:solidFill>
              <a:srgbClr val="EEE7D6"/>
            </a:solidFill>
          </a:ln>
        </c:spPr>
        <c:txPr>
          <a:bodyPr/>
          <a:lstStyle/>
          <a:p>
            <a:pPr>
              <a:defRPr sz="1000">
                <a:solidFill>
                  <a:srgbClr val="EEE7D6"/>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3029"/>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23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663440"/>
            <a:ext cx="12191695" cy="2194560"/>
          </a:xfrm>
          <a:prstGeom prst="rect">
            <a:avLst/>
          </a:prstGeom>
          <a:solidFill>
            <a:srgbClr val="18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08576"/>
            <a:ext cx="12191695" cy="54864"/>
          </a:xfrm>
          <a:prstGeom prst="rect">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005840"/>
            <a:ext cx="10058400" cy="457200"/>
          </a:xfrm>
          <a:prstGeom prst="rect">
            <a:avLst/>
          </a:prstGeom>
          <a:noFill/>
        </p:spPr>
        <p:txBody>
          <a:bodyPr wrap="square" anchor="t" lIns="0" rIns="0" tIns="0" bIns="0">
            <a:spAutoFit/>
          </a:bodyPr>
          <a:lstStyle/>
          <a:p>
            <a:pPr algn="l"/>
            <a:r>
              <a:rPr sz="1400" b="1" i="0">
                <a:solidFill>
                  <a:srgbClr val="3FB9A3"/>
                </a:solidFill>
                <a:latin typeface="Segoe UI"/>
              </a:rPr>
              <a:t>RIVERA REAL ESTATE  .  WORKING NOTES</a:t>
            </a:r>
          </a:p>
        </p:txBody>
      </p:sp>
      <p:sp>
        <p:nvSpPr>
          <p:cNvPr id="6" name="TextBox 5"/>
          <p:cNvSpPr txBox="1"/>
          <p:nvPr/>
        </p:nvSpPr>
        <p:spPr>
          <a:xfrm>
            <a:off x="822960" y="1554480"/>
            <a:ext cx="10607040" cy="2194560"/>
          </a:xfrm>
          <a:prstGeom prst="rect">
            <a:avLst/>
          </a:prstGeom>
          <a:noFill/>
        </p:spPr>
        <p:txBody>
          <a:bodyPr wrap="square" anchor="t" lIns="0" rIns="0" tIns="0" bIns="0">
            <a:spAutoFit/>
          </a:bodyPr>
          <a:lstStyle/>
          <a:p>
            <a:pPr algn="l"/>
            <a:r>
              <a:rPr sz="4600" b="1" i="0">
                <a:solidFill>
                  <a:srgbClr val="EEE7D6"/>
                </a:solidFill>
                <a:latin typeface="Segoe UI"/>
              </a:rPr>
              <a:t>Second Commercial</a:t>
            </a:r>
          </a:p>
          <a:p>
            <a:pPr algn="l"/>
            <a:r>
              <a:rPr sz="4600" b="1" i="0">
                <a:solidFill>
                  <a:srgbClr val="E0A93A"/>
                </a:solidFill>
                <a:latin typeface="Segoe UI"/>
              </a:rPr>
              <a:t>Property Acquisition</a:t>
            </a:r>
          </a:p>
        </p:txBody>
      </p:sp>
      <p:sp>
        <p:nvSpPr>
          <p:cNvPr id="7" name="TextBox 6"/>
          <p:cNvSpPr txBox="1"/>
          <p:nvPr/>
        </p:nvSpPr>
        <p:spPr>
          <a:xfrm>
            <a:off x="822960" y="4937760"/>
            <a:ext cx="10607040" cy="1280160"/>
          </a:xfrm>
          <a:prstGeom prst="rect">
            <a:avLst/>
          </a:prstGeom>
          <a:noFill/>
        </p:spPr>
        <p:txBody>
          <a:bodyPr wrap="square" anchor="t" lIns="0" rIns="0" tIns="0" bIns="0">
            <a:spAutoFit/>
          </a:bodyPr>
          <a:lstStyle/>
          <a:p>
            <a:pPr algn="l"/>
            <a:r>
              <a:rPr sz="1600" b="0" i="0">
                <a:solidFill>
                  <a:srgbClr val="EEE7D6"/>
                </a:solidFill>
                <a:latin typeface="Segoe UI"/>
              </a:rPr>
              <a:t>A plan to add a second small mixed use building near Paterson by the end of 2027</a:t>
            </a:r>
          </a:p>
          <a:p>
            <a:pPr algn="l"/>
            <a:r>
              <a:rPr sz="1250" b="0" i="0">
                <a:solidFill>
                  <a:srgbClr val="9DB3A8"/>
                </a:solidFill>
                <a:latin typeface="Segoe UI"/>
              </a:rPr>
              <a:t>Private working notes, Jason Rivera  .  reviewed with Selim Basaran on the legal side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3029"/>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23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365760" cy="365760"/>
          </a:xfrm>
          <a:prstGeom prst="ellipse">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457200"/>
            <a:ext cx="10058400" cy="320040"/>
          </a:xfrm>
          <a:prstGeom prst="rect">
            <a:avLst/>
          </a:prstGeom>
          <a:noFill/>
        </p:spPr>
        <p:txBody>
          <a:bodyPr wrap="square" anchor="t" lIns="0" rIns="0" tIns="0" bIns="0">
            <a:spAutoFit/>
          </a:bodyPr>
          <a:lstStyle/>
          <a:p>
            <a:pPr algn="l"/>
            <a:r>
              <a:rPr sz="1200" b="1" i="0">
                <a:solidFill>
                  <a:srgbClr val="3FB9A3"/>
                </a:solidFill>
                <a:latin typeface="Segoe UI"/>
              </a:rPr>
              <a:t>WHY NOW</a:t>
            </a:r>
          </a:p>
        </p:txBody>
      </p:sp>
      <p:sp>
        <p:nvSpPr>
          <p:cNvPr id="5" name="TextBox 4"/>
          <p:cNvSpPr txBox="1"/>
          <p:nvPr/>
        </p:nvSpPr>
        <p:spPr>
          <a:xfrm>
            <a:off x="1143000" y="786384"/>
            <a:ext cx="10515600" cy="731520"/>
          </a:xfrm>
          <a:prstGeom prst="rect">
            <a:avLst/>
          </a:prstGeom>
          <a:noFill/>
        </p:spPr>
        <p:txBody>
          <a:bodyPr wrap="square" anchor="t" lIns="0" rIns="0" tIns="0" bIns="0">
            <a:spAutoFit/>
          </a:bodyPr>
          <a:lstStyle/>
          <a:p>
            <a:pPr algn="l"/>
            <a:r>
              <a:rPr sz="2800" b="1" i="0">
                <a:solidFill>
                  <a:srgbClr val="EEE7D6"/>
                </a:solidFill>
                <a:latin typeface="Segoe UI"/>
              </a:rPr>
              <a:t>What the first building proved</a:t>
            </a:r>
          </a:p>
        </p:txBody>
      </p:sp>
      <p:sp>
        <p:nvSpPr>
          <p:cNvPr id="6" name="Rectangle 5"/>
          <p:cNvSpPr/>
          <p:nvPr/>
        </p:nvSpPr>
        <p:spPr>
          <a:xfrm>
            <a:off x="1161288" y="1481328"/>
            <a:ext cx="1828800" cy="36576"/>
          </a:xfrm>
          <a:prstGeom prst="rect">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55664"/>
            <a:ext cx="12191695" cy="54864"/>
          </a:xfrm>
          <a:prstGeom prst="rect">
            <a:avLst/>
          </a:prstGeom>
          <a:solidFill>
            <a:srgbClr val="284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55664"/>
            <a:ext cx="3483341" cy="54864"/>
          </a:xfrm>
          <a:prstGeom prst="rect">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81360" y="6382512"/>
            <a:ext cx="1188720" cy="274320"/>
          </a:xfrm>
          <a:prstGeom prst="rect">
            <a:avLst/>
          </a:prstGeom>
          <a:noFill/>
        </p:spPr>
        <p:txBody>
          <a:bodyPr wrap="square" anchor="t" lIns="0" rIns="0" tIns="0" bIns="0">
            <a:spAutoFit/>
          </a:bodyPr>
          <a:lstStyle/>
          <a:p>
            <a:pPr algn="r"/>
            <a:r>
              <a:rPr sz="1000" b="0" i="0">
                <a:solidFill>
                  <a:srgbClr val="9DB3A8"/>
                </a:solidFill>
                <a:latin typeface="Segoe UI"/>
              </a:rPr>
              <a:t>2 / 7</a:t>
            </a:r>
          </a:p>
        </p:txBody>
      </p:sp>
      <p:sp>
        <p:nvSpPr>
          <p:cNvPr id="10" name="Rectangle 9"/>
          <p:cNvSpPr/>
          <p:nvPr/>
        </p:nvSpPr>
        <p:spPr>
          <a:xfrm>
            <a:off x="640080" y="2011680"/>
            <a:ext cx="3520440" cy="1920240"/>
          </a:xfrm>
          <a:prstGeom prst="rect">
            <a:avLst/>
          </a:prstGeom>
          <a:solidFill>
            <a:srgbClr val="183A31"/>
          </a:solidFill>
          <a:ln w="12700">
            <a:solidFill>
              <a:srgbClr val="3FB9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240280"/>
            <a:ext cx="3017520" cy="1645920"/>
          </a:xfrm>
          <a:prstGeom prst="rect">
            <a:avLst/>
          </a:prstGeom>
          <a:noFill/>
        </p:spPr>
        <p:txBody>
          <a:bodyPr wrap="square" anchor="t" lIns="0" rIns="0" tIns="0" bIns="0">
            <a:spAutoFit/>
          </a:bodyPr>
          <a:lstStyle/>
          <a:p>
            <a:pPr algn="l"/>
            <a:r>
              <a:rPr sz="2600" b="1" i="0">
                <a:solidFill>
                  <a:srgbClr val="E0A93A"/>
                </a:solidFill>
                <a:latin typeface="Segoe UI"/>
              </a:rPr>
              <a:t>$385K to $520K</a:t>
            </a:r>
          </a:p>
          <a:p>
            <a:pPr algn="l">
              <a:spcBef>
                <a:spcPts val="400"/>
              </a:spcBef>
            </a:pPr>
            <a:r>
              <a:rPr sz="1350" b="1" i="0">
                <a:solidFill>
                  <a:srgbClr val="EEE7D6"/>
                </a:solidFill>
                <a:latin typeface="Segoe UI"/>
              </a:rPr>
              <a:t>Van Houten value since 2020</a:t>
            </a:r>
          </a:p>
          <a:p>
            <a:pPr algn="l">
              <a:lnSpc>
                <a:spcPct val="105000"/>
              </a:lnSpc>
              <a:spcBef>
                <a:spcPts val="300"/>
              </a:spcBef>
            </a:pPr>
            <a:r>
              <a:rPr sz="1100" b="0" i="0">
                <a:solidFill>
                  <a:srgbClr val="9DB3A8"/>
                </a:solidFill>
                <a:latin typeface="Segoe UI"/>
              </a:rPr>
              <a:t>roughly $135K of appreciation in five years</a:t>
            </a:r>
          </a:p>
        </p:txBody>
      </p:sp>
      <p:sp>
        <p:nvSpPr>
          <p:cNvPr id="12" name="Rectangle 11"/>
          <p:cNvSpPr/>
          <p:nvPr/>
        </p:nvSpPr>
        <p:spPr>
          <a:xfrm>
            <a:off x="4434840" y="2011680"/>
            <a:ext cx="3520440" cy="1920240"/>
          </a:xfrm>
          <a:prstGeom prst="rect">
            <a:avLst/>
          </a:prstGeom>
          <a:solidFill>
            <a:srgbClr val="183A31"/>
          </a:solidFill>
          <a:ln w="12700">
            <a:solidFill>
              <a:srgbClr val="3FB9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60" y="2240280"/>
            <a:ext cx="3017520" cy="1645920"/>
          </a:xfrm>
          <a:prstGeom prst="rect">
            <a:avLst/>
          </a:prstGeom>
          <a:noFill/>
        </p:spPr>
        <p:txBody>
          <a:bodyPr wrap="square" anchor="t" lIns="0" rIns="0" tIns="0" bIns="0">
            <a:spAutoFit/>
          </a:bodyPr>
          <a:lstStyle/>
          <a:p>
            <a:pPr algn="l"/>
            <a:r>
              <a:rPr sz="2600" b="1" i="0">
                <a:solidFill>
                  <a:srgbClr val="E0A93A"/>
                </a:solidFill>
                <a:latin typeface="Segoe UI"/>
              </a:rPr>
              <a:t>$14,200</a:t>
            </a:r>
          </a:p>
          <a:p>
            <a:pPr algn="l">
              <a:spcBef>
                <a:spcPts val="400"/>
              </a:spcBef>
            </a:pPr>
            <a:r>
              <a:rPr sz="1350" b="1" i="0">
                <a:solidFill>
                  <a:srgbClr val="EEE7D6"/>
                </a:solidFill>
                <a:latin typeface="Segoe UI"/>
              </a:rPr>
              <a:t>Net cash flow per year</a:t>
            </a:r>
          </a:p>
          <a:p>
            <a:pPr algn="l">
              <a:lnSpc>
                <a:spcPct val="105000"/>
              </a:lnSpc>
              <a:spcBef>
                <a:spcPts val="300"/>
              </a:spcBef>
            </a:pPr>
            <a:r>
              <a:rPr sz="1100" b="0" i="0">
                <a:solidFill>
                  <a:srgbClr val="9DB3A8"/>
                </a:solidFill>
                <a:latin typeface="Segoe UI"/>
              </a:rPr>
              <a:t>after mortgage, taxes, and insurance</a:t>
            </a:r>
          </a:p>
        </p:txBody>
      </p:sp>
      <p:sp>
        <p:nvSpPr>
          <p:cNvPr id="14" name="Rectangle 13"/>
          <p:cNvSpPr/>
          <p:nvPr/>
        </p:nvSpPr>
        <p:spPr>
          <a:xfrm>
            <a:off x="8229600" y="2011680"/>
            <a:ext cx="3520440" cy="1920240"/>
          </a:xfrm>
          <a:prstGeom prst="rect">
            <a:avLst/>
          </a:prstGeom>
          <a:solidFill>
            <a:srgbClr val="183A31"/>
          </a:solidFill>
          <a:ln w="12700">
            <a:solidFill>
              <a:srgbClr val="3FB9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2240280"/>
            <a:ext cx="3017520" cy="1645920"/>
          </a:xfrm>
          <a:prstGeom prst="rect">
            <a:avLst/>
          </a:prstGeom>
          <a:noFill/>
        </p:spPr>
        <p:txBody>
          <a:bodyPr wrap="square" anchor="t" lIns="0" rIns="0" tIns="0" bIns="0">
            <a:spAutoFit/>
          </a:bodyPr>
          <a:lstStyle/>
          <a:p>
            <a:pPr algn="l"/>
            <a:r>
              <a:rPr sz="2600" b="1" i="0">
                <a:solidFill>
                  <a:srgbClr val="E0A93A"/>
                </a:solidFill>
                <a:latin typeface="Segoe UI"/>
              </a:rPr>
              <a:t>$220K</a:t>
            </a:r>
          </a:p>
          <a:p>
            <a:pPr algn="l">
              <a:spcBef>
                <a:spcPts val="400"/>
              </a:spcBef>
            </a:pPr>
            <a:r>
              <a:rPr sz="1350" b="1" i="0">
                <a:solidFill>
                  <a:srgbClr val="EEE7D6"/>
                </a:solidFill>
                <a:latin typeface="Segoe UI"/>
              </a:rPr>
              <a:t>Equity built</a:t>
            </a:r>
          </a:p>
          <a:p>
            <a:pPr algn="l">
              <a:lnSpc>
                <a:spcPct val="105000"/>
              </a:lnSpc>
              <a:spcBef>
                <a:spcPts val="300"/>
              </a:spcBef>
            </a:pPr>
            <a:r>
              <a:rPr sz="1100" b="0" i="0">
                <a:solidFill>
                  <a:srgbClr val="9DB3A8"/>
                </a:solidFill>
                <a:latin typeface="Segoe UI"/>
              </a:rPr>
              <a:t>the down payment engine for number two</a:t>
            </a:r>
          </a:p>
        </p:txBody>
      </p:sp>
      <p:sp>
        <p:nvSpPr>
          <p:cNvPr id="16" name="TextBox 15"/>
          <p:cNvSpPr txBox="1"/>
          <p:nvPr/>
        </p:nvSpPr>
        <p:spPr>
          <a:xfrm>
            <a:off x="640080" y="4389120"/>
            <a:ext cx="10881360" cy="1463040"/>
          </a:xfrm>
          <a:prstGeom prst="rect">
            <a:avLst/>
          </a:prstGeom>
          <a:noFill/>
        </p:spPr>
        <p:txBody>
          <a:bodyPr wrap="square" anchor="t" lIns="0" rIns="0" tIns="0" bIns="0">
            <a:spAutoFit/>
          </a:bodyPr>
          <a:lstStyle/>
          <a:p>
            <a:pPr algn="l"/>
            <a:r>
              <a:rPr sz="1600" b="1" i="0">
                <a:solidFill>
                  <a:srgbClr val="3FB9A3"/>
                </a:solidFill>
                <a:latin typeface="Segoe UI"/>
              </a:rPr>
              <a:t>The model works: </a:t>
            </a:r>
            <a:r>
              <a:rPr sz="1600" b="0" i="0">
                <a:solidFill>
                  <a:srgbClr val="EEE7D6"/>
                </a:solidFill>
                <a:latin typeface="Segoe UI"/>
              </a:rPr>
              <a:t>buy a sound mixed use building, self manage it, let Selim handle the leases, and let the rent carry the mortgage. A second building near the Main Street kitchen repeats that and builds toward the long game.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3029"/>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23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365760" cy="365760"/>
          </a:xfrm>
          <a:prstGeom prst="ellipse">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457200"/>
            <a:ext cx="10058400" cy="320040"/>
          </a:xfrm>
          <a:prstGeom prst="rect">
            <a:avLst/>
          </a:prstGeom>
          <a:noFill/>
        </p:spPr>
        <p:txBody>
          <a:bodyPr wrap="square" anchor="t" lIns="0" rIns="0" tIns="0" bIns="0">
            <a:spAutoFit/>
          </a:bodyPr>
          <a:lstStyle/>
          <a:p>
            <a:pPr algn="l"/>
            <a:r>
              <a:rPr sz="1200" b="1" i="0">
                <a:solidFill>
                  <a:srgbClr val="3FB9A3"/>
                </a:solidFill>
                <a:latin typeface="Segoe UI"/>
              </a:rPr>
              <a:t>THE BOX</a:t>
            </a:r>
          </a:p>
        </p:txBody>
      </p:sp>
      <p:sp>
        <p:nvSpPr>
          <p:cNvPr id="5" name="TextBox 4"/>
          <p:cNvSpPr txBox="1"/>
          <p:nvPr/>
        </p:nvSpPr>
        <p:spPr>
          <a:xfrm>
            <a:off x="1143000" y="786384"/>
            <a:ext cx="10515600" cy="731520"/>
          </a:xfrm>
          <a:prstGeom prst="rect">
            <a:avLst/>
          </a:prstGeom>
          <a:noFill/>
        </p:spPr>
        <p:txBody>
          <a:bodyPr wrap="square" anchor="t" lIns="0" rIns="0" tIns="0" bIns="0">
            <a:spAutoFit/>
          </a:bodyPr>
          <a:lstStyle/>
          <a:p>
            <a:pPr algn="l"/>
            <a:r>
              <a:rPr sz="2800" b="1" i="0">
                <a:solidFill>
                  <a:srgbClr val="EEE7D6"/>
                </a:solidFill>
                <a:latin typeface="Segoe UI"/>
              </a:rPr>
              <a:t>Target criteria</a:t>
            </a:r>
          </a:p>
        </p:txBody>
      </p:sp>
      <p:sp>
        <p:nvSpPr>
          <p:cNvPr id="6" name="Rectangle 5"/>
          <p:cNvSpPr/>
          <p:nvPr/>
        </p:nvSpPr>
        <p:spPr>
          <a:xfrm>
            <a:off x="1161288" y="1481328"/>
            <a:ext cx="1828800" cy="36576"/>
          </a:xfrm>
          <a:prstGeom prst="rect">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55664"/>
            <a:ext cx="12191695" cy="54864"/>
          </a:xfrm>
          <a:prstGeom prst="rect">
            <a:avLst/>
          </a:prstGeom>
          <a:solidFill>
            <a:srgbClr val="284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55664"/>
            <a:ext cx="5225012" cy="54864"/>
          </a:xfrm>
          <a:prstGeom prst="rect">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81360" y="6382512"/>
            <a:ext cx="1188720" cy="274320"/>
          </a:xfrm>
          <a:prstGeom prst="rect">
            <a:avLst/>
          </a:prstGeom>
          <a:noFill/>
        </p:spPr>
        <p:txBody>
          <a:bodyPr wrap="square" anchor="t" lIns="0" rIns="0" tIns="0" bIns="0">
            <a:spAutoFit/>
          </a:bodyPr>
          <a:lstStyle/>
          <a:p>
            <a:pPr algn="r"/>
            <a:r>
              <a:rPr sz="1000" b="0" i="0">
                <a:solidFill>
                  <a:srgbClr val="9DB3A8"/>
                </a:solidFill>
                <a:latin typeface="Segoe UI"/>
              </a:rPr>
              <a:t>3 / 7</a:t>
            </a:r>
          </a:p>
        </p:txBody>
      </p:sp>
      <p:graphicFrame>
        <p:nvGraphicFramePr>
          <p:cNvPr id="10" name="Table 9"/>
          <p:cNvGraphicFramePr>
            <a:graphicFrameLocks noGrp="1"/>
          </p:cNvGraphicFramePr>
          <p:nvPr/>
        </p:nvGraphicFramePr>
        <p:xfrm>
          <a:off x="640080" y="1874519"/>
          <a:ext cx="10881360" cy="3840480"/>
        </p:xfrm>
        <a:graphic>
          <a:graphicData uri="http://schemas.openxmlformats.org/drawingml/2006/table">
            <a:tbl>
              <a:tblPr>
                <a:tableStyleId>{5C22544A-7EE6-4342-B048-85BDC9FD1C3A}</a:tableStyleId>
              </a:tblPr>
              <a:tblGrid>
                <a:gridCol w="3291840"/>
                <a:gridCol w="3383280"/>
                <a:gridCol w="4206240"/>
              </a:tblGrid>
              <a:tr h="548640">
                <a:tc>
                  <a:txBody>
                    <a:bodyPr wrap="square"/>
                    <a:lstStyle/>
                    <a:p>
                      <a:pPr algn="l"/>
                      <a:r>
                        <a:rPr sz="1300" b="1">
                          <a:solidFill>
                            <a:srgbClr val="1C2B16"/>
                          </a:solidFill>
                          <a:latin typeface="Segoe UI"/>
                        </a:rPr>
                        <a:t>Criterion</a:t>
                      </a:r>
                    </a:p>
                  </a:txBody>
                  <a:tcPr marL="88900" marR="88900" marT="38100" marB="38100" anchor="ctr">
                    <a:solidFill>
                      <a:srgbClr val="E0A93A"/>
                    </a:solidFill>
                  </a:tcPr>
                </a:tc>
                <a:tc>
                  <a:txBody>
                    <a:bodyPr wrap="square"/>
                    <a:lstStyle/>
                    <a:p>
                      <a:pPr algn="l"/>
                      <a:r>
                        <a:rPr sz="1300" b="1">
                          <a:solidFill>
                            <a:srgbClr val="1C2B16"/>
                          </a:solidFill>
                          <a:latin typeface="Segoe UI"/>
                        </a:rPr>
                        <a:t>Target</a:t>
                      </a:r>
                    </a:p>
                  </a:txBody>
                  <a:tcPr marL="88900" marR="88900" marT="38100" marB="38100" anchor="ctr">
                    <a:solidFill>
                      <a:srgbClr val="E0A93A"/>
                    </a:solidFill>
                  </a:tcPr>
                </a:tc>
                <a:tc>
                  <a:txBody>
                    <a:bodyPr wrap="square"/>
                    <a:lstStyle/>
                    <a:p>
                      <a:pPr algn="l"/>
                      <a:r>
                        <a:rPr sz="1300" b="1">
                          <a:solidFill>
                            <a:srgbClr val="1C2B16"/>
                          </a:solidFill>
                          <a:latin typeface="Segoe UI"/>
                        </a:rPr>
                        <a:t>Why it matters</a:t>
                      </a:r>
                    </a:p>
                  </a:txBody>
                  <a:tcPr marL="88900" marR="88900" marT="38100" marB="38100" anchor="ctr">
                    <a:solidFill>
                      <a:srgbClr val="E0A93A"/>
                    </a:solidFill>
                  </a:tcPr>
                </a:tc>
              </a:tr>
              <a:tr h="548640">
                <a:tc>
                  <a:txBody>
                    <a:bodyPr wrap="square"/>
                    <a:lstStyle/>
                    <a:p>
                      <a:pPr algn="l"/>
                      <a:r>
                        <a:rPr sz="1300" b="0">
                          <a:solidFill>
                            <a:srgbClr val="EEE7D6"/>
                          </a:solidFill>
                          <a:latin typeface="Segoe UI"/>
                        </a:rPr>
                        <a:t>Price range</a:t>
                      </a:r>
                    </a:p>
                  </a:txBody>
                  <a:tcPr marL="88900" marR="88900" marT="38100" marB="38100" anchor="ctr">
                    <a:solidFill>
                      <a:srgbClr val="16352C"/>
                    </a:solidFill>
                  </a:tcPr>
                </a:tc>
                <a:tc>
                  <a:txBody>
                    <a:bodyPr wrap="square"/>
                    <a:lstStyle/>
                    <a:p>
                      <a:pPr algn="l"/>
                      <a:r>
                        <a:rPr sz="1300" b="0">
                          <a:solidFill>
                            <a:srgbClr val="EEE7D6"/>
                          </a:solidFill>
                          <a:latin typeface="Segoe UI"/>
                        </a:rPr>
                        <a:t>$400,000 to $600,000</a:t>
                      </a:r>
                    </a:p>
                  </a:txBody>
                  <a:tcPr marL="88900" marR="88900" marT="38100" marB="38100" anchor="ctr">
                    <a:solidFill>
                      <a:srgbClr val="16352C"/>
                    </a:solidFill>
                  </a:tcPr>
                </a:tc>
                <a:tc>
                  <a:txBody>
                    <a:bodyPr wrap="square"/>
                    <a:lstStyle/>
                    <a:p>
                      <a:pPr algn="l"/>
                      <a:r>
                        <a:rPr sz="1300" b="0">
                          <a:solidFill>
                            <a:srgbClr val="EEE7D6"/>
                          </a:solidFill>
                          <a:latin typeface="Segoe UI"/>
                        </a:rPr>
                        <a:t>Fits a 25% down payment from reserves</a:t>
                      </a:r>
                    </a:p>
                  </a:txBody>
                  <a:tcPr marL="88900" marR="88900" marT="38100" marB="38100" anchor="ctr">
                    <a:solidFill>
                      <a:srgbClr val="16352C"/>
                    </a:solidFill>
                  </a:tcPr>
                </a:tc>
              </a:tr>
              <a:tr h="548640">
                <a:tc>
                  <a:txBody>
                    <a:bodyPr wrap="square"/>
                    <a:lstStyle/>
                    <a:p>
                      <a:pPr algn="l"/>
                      <a:r>
                        <a:rPr sz="1300" b="0">
                          <a:solidFill>
                            <a:srgbClr val="EEE7D6"/>
                          </a:solidFill>
                          <a:latin typeface="Segoe UI"/>
                        </a:rPr>
                        <a:t>Units</a:t>
                      </a:r>
                    </a:p>
                  </a:txBody>
                  <a:tcPr marL="88900" marR="88900" marT="38100" marB="38100" anchor="ctr">
                    <a:solidFill>
                      <a:srgbClr val="1B3E33"/>
                    </a:solidFill>
                  </a:tcPr>
                </a:tc>
                <a:tc>
                  <a:txBody>
                    <a:bodyPr wrap="square"/>
                    <a:lstStyle/>
                    <a:p>
                      <a:pPr algn="l"/>
                      <a:r>
                        <a:rPr sz="1300" b="0">
                          <a:solidFill>
                            <a:srgbClr val="EEE7D6"/>
                          </a:solidFill>
                          <a:latin typeface="Segoe UI"/>
                        </a:rPr>
                        <a:t>Two to four, mixed use</a:t>
                      </a:r>
                    </a:p>
                  </a:txBody>
                  <a:tcPr marL="88900" marR="88900" marT="38100" marB="38100" anchor="ctr">
                    <a:solidFill>
                      <a:srgbClr val="1B3E33"/>
                    </a:solidFill>
                  </a:tcPr>
                </a:tc>
                <a:tc>
                  <a:txBody>
                    <a:bodyPr wrap="square"/>
                    <a:lstStyle/>
                    <a:p>
                      <a:pPr algn="l"/>
                      <a:r>
                        <a:rPr sz="1300" b="0">
                          <a:solidFill>
                            <a:srgbClr val="EEE7D6"/>
                          </a:solidFill>
                          <a:latin typeface="Segoe UI"/>
                        </a:rPr>
                        <a:t>Retail income plus a residential unit</a:t>
                      </a:r>
                    </a:p>
                  </a:txBody>
                  <a:tcPr marL="88900" marR="88900" marT="38100" marB="38100" anchor="ctr">
                    <a:solidFill>
                      <a:srgbClr val="1B3E33"/>
                    </a:solidFill>
                  </a:tcPr>
                </a:tc>
              </a:tr>
              <a:tr h="548640">
                <a:tc>
                  <a:txBody>
                    <a:bodyPr wrap="square"/>
                    <a:lstStyle/>
                    <a:p>
                      <a:pPr algn="l"/>
                      <a:r>
                        <a:rPr sz="1300" b="0">
                          <a:solidFill>
                            <a:srgbClr val="EEE7D6"/>
                          </a:solidFill>
                          <a:latin typeface="Segoe UI"/>
                        </a:rPr>
                        <a:t>Cap rate at current rents</a:t>
                      </a:r>
                    </a:p>
                  </a:txBody>
                  <a:tcPr marL="88900" marR="88900" marT="38100" marB="38100" anchor="ctr">
                    <a:solidFill>
                      <a:srgbClr val="16352C"/>
                    </a:solidFill>
                  </a:tcPr>
                </a:tc>
                <a:tc>
                  <a:txBody>
                    <a:bodyPr wrap="square"/>
                    <a:lstStyle/>
                    <a:p>
                      <a:pPr algn="l"/>
                      <a:r>
                        <a:rPr sz="1300" b="0">
                          <a:solidFill>
                            <a:srgbClr val="EEE7D6"/>
                          </a:solidFill>
                          <a:latin typeface="Segoe UI"/>
                        </a:rPr>
                        <a:t>7% or better</a:t>
                      </a:r>
                    </a:p>
                  </a:txBody>
                  <a:tcPr marL="88900" marR="88900" marT="38100" marB="38100" anchor="ctr">
                    <a:solidFill>
                      <a:srgbClr val="16352C"/>
                    </a:solidFill>
                  </a:tcPr>
                </a:tc>
                <a:tc>
                  <a:txBody>
                    <a:bodyPr wrap="square"/>
                    <a:lstStyle/>
                    <a:p>
                      <a:pPr algn="l"/>
                      <a:r>
                        <a:rPr sz="1300" b="0">
                          <a:solidFill>
                            <a:srgbClr val="EEE7D6"/>
                          </a:solidFill>
                          <a:latin typeface="Segoe UI"/>
                        </a:rPr>
                        <a:t>Cash flow from day one</a:t>
                      </a:r>
                    </a:p>
                  </a:txBody>
                  <a:tcPr marL="88900" marR="88900" marT="38100" marB="38100" anchor="ctr">
                    <a:solidFill>
                      <a:srgbClr val="16352C"/>
                    </a:solidFill>
                  </a:tcPr>
                </a:tc>
              </a:tr>
              <a:tr h="548640">
                <a:tc>
                  <a:txBody>
                    <a:bodyPr wrap="square"/>
                    <a:lstStyle/>
                    <a:p>
                      <a:pPr algn="l"/>
                      <a:r>
                        <a:rPr sz="1300" b="0">
                          <a:solidFill>
                            <a:srgbClr val="EEE7D6"/>
                          </a:solidFill>
                          <a:latin typeface="Segoe UI"/>
                        </a:rPr>
                        <a:t>Distance from Main Street</a:t>
                      </a:r>
                    </a:p>
                  </a:txBody>
                  <a:tcPr marL="88900" marR="88900" marT="38100" marB="38100" anchor="ctr">
                    <a:solidFill>
                      <a:srgbClr val="1B3E33"/>
                    </a:solidFill>
                  </a:tcPr>
                </a:tc>
                <a:tc>
                  <a:txBody>
                    <a:bodyPr wrap="square"/>
                    <a:lstStyle/>
                    <a:p>
                      <a:pPr algn="l"/>
                      <a:r>
                        <a:rPr sz="1300" b="0">
                          <a:solidFill>
                            <a:srgbClr val="EEE7D6"/>
                          </a:solidFill>
                          <a:latin typeface="Segoe UI"/>
                        </a:rPr>
                        <a:t>Within 15 minutes</a:t>
                      </a:r>
                    </a:p>
                  </a:txBody>
                  <a:tcPr marL="88900" marR="88900" marT="38100" marB="38100" anchor="ctr">
                    <a:solidFill>
                      <a:srgbClr val="1B3E33"/>
                    </a:solidFill>
                  </a:tcPr>
                </a:tc>
                <a:tc>
                  <a:txBody>
                    <a:bodyPr wrap="square"/>
                    <a:lstStyle/>
                    <a:p>
                      <a:pPr algn="l"/>
                      <a:r>
                        <a:rPr sz="1300" b="0">
                          <a:solidFill>
                            <a:srgbClr val="EEE7D6"/>
                          </a:solidFill>
                          <a:latin typeface="Segoe UI"/>
                        </a:rPr>
                        <a:t>Self management stays practical</a:t>
                      </a:r>
                    </a:p>
                  </a:txBody>
                  <a:tcPr marL="88900" marR="88900" marT="38100" marB="38100" anchor="ctr">
                    <a:solidFill>
                      <a:srgbClr val="1B3E33"/>
                    </a:solidFill>
                  </a:tcPr>
                </a:tc>
              </a:tr>
              <a:tr h="548640">
                <a:tc>
                  <a:txBody>
                    <a:bodyPr wrap="square"/>
                    <a:lstStyle/>
                    <a:p>
                      <a:pPr algn="l"/>
                      <a:r>
                        <a:rPr sz="1300" b="0">
                          <a:solidFill>
                            <a:srgbClr val="EEE7D6"/>
                          </a:solidFill>
                          <a:latin typeface="Segoe UI"/>
                        </a:rPr>
                        <a:t>Condition</a:t>
                      </a:r>
                    </a:p>
                  </a:txBody>
                  <a:tcPr marL="88900" marR="88900" marT="38100" marB="38100" anchor="ctr">
                    <a:solidFill>
                      <a:srgbClr val="16352C"/>
                    </a:solidFill>
                  </a:tcPr>
                </a:tc>
                <a:tc>
                  <a:txBody>
                    <a:bodyPr wrap="square"/>
                    <a:lstStyle/>
                    <a:p>
                      <a:pPr algn="l"/>
                      <a:r>
                        <a:rPr sz="1300" b="0">
                          <a:solidFill>
                            <a:srgbClr val="EEE7D6"/>
                          </a:solidFill>
                          <a:latin typeface="Segoe UI"/>
                        </a:rPr>
                        <a:t>Sound roof and systems</a:t>
                      </a:r>
                    </a:p>
                  </a:txBody>
                  <a:tcPr marL="88900" marR="88900" marT="38100" marB="38100" anchor="ctr">
                    <a:solidFill>
                      <a:srgbClr val="16352C"/>
                    </a:solidFill>
                  </a:tcPr>
                </a:tc>
                <a:tc>
                  <a:txBody>
                    <a:bodyPr wrap="square"/>
                    <a:lstStyle/>
                    <a:p>
                      <a:pPr algn="l"/>
                      <a:r>
                        <a:rPr sz="1300" b="0">
                          <a:solidFill>
                            <a:srgbClr val="EEE7D6"/>
                          </a:solidFill>
                          <a:latin typeface="Segoe UI"/>
                        </a:rPr>
                        <a:t>No major deferred work</a:t>
                      </a:r>
                    </a:p>
                  </a:txBody>
                  <a:tcPr marL="88900" marR="88900" marT="38100" marB="38100" anchor="ctr">
                    <a:solidFill>
                      <a:srgbClr val="16352C"/>
                    </a:solidFill>
                  </a:tcPr>
                </a:tc>
              </a:tr>
              <a:tr h="548640">
                <a:tc>
                  <a:txBody>
                    <a:bodyPr wrap="square"/>
                    <a:lstStyle/>
                    <a:p>
                      <a:pPr algn="l"/>
                      <a:r>
                        <a:rPr sz="1300" b="0">
                          <a:solidFill>
                            <a:srgbClr val="EEE7D6"/>
                          </a:solidFill>
                          <a:latin typeface="Segoe UI"/>
                        </a:rPr>
                        <a:t>Tenants</a:t>
                      </a:r>
                    </a:p>
                  </a:txBody>
                  <a:tcPr marL="88900" marR="88900" marT="38100" marB="38100" anchor="ctr">
                    <a:solidFill>
                      <a:srgbClr val="1B3E33"/>
                    </a:solidFill>
                  </a:tcPr>
                </a:tc>
                <a:tc>
                  <a:txBody>
                    <a:bodyPr wrap="square"/>
                    <a:lstStyle/>
                    <a:p>
                      <a:pPr algn="l"/>
                      <a:r>
                        <a:rPr sz="1300" b="0">
                          <a:solidFill>
                            <a:srgbClr val="EEE7D6"/>
                          </a:solidFill>
                          <a:latin typeface="Segoe UI"/>
                        </a:rPr>
                        <a:t>Clean payment history</a:t>
                      </a:r>
                    </a:p>
                  </a:txBody>
                  <a:tcPr marL="88900" marR="88900" marT="38100" marB="38100" anchor="ctr">
                    <a:solidFill>
                      <a:srgbClr val="1B3E33"/>
                    </a:solidFill>
                  </a:tcPr>
                </a:tc>
                <a:tc>
                  <a:txBody>
                    <a:bodyPr wrap="square"/>
                    <a:lstStyle/>
                    <a:p>
                      <a:pPr algn="l"/>
                      <a:r>
                        <a:rPr sz="1300" b="0">
                          <a:solidFill>
                            <a:srgbClr val="EEE7D6"/>
                          </a:solidFill>
                          <a:latin typeface="Segoe UI"/>
                        </a:rPr>
                        <a:t>Income that is real, not hoped for</a:t>
                      </a:r>
                    </a:p>
                  </a:txBody>
                  <a:tcPr marL="88900" marR="88900" marT="38100" marB="38100" anchor="ctr">
                    <a:solidFill>
                      <a:srgbClr val="1B3E33"/>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3029"/>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23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365760" cy="365760"/>
          </a:xfrm>
          <a:prstGeom prst="ellipse">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457200"/>
            <a:ext cx="10058400" cy="320040"/>
          </a:xfrm>
          <a:prstGeom prst="rect">
            <a:avLst/>
          </a:prstGeom>
          <a:noFill/>
        </p:spPr>
        <p:txBody>
          <a:bodyPr wrap="square" anchor="t" lIns="0" rIns="0" tIns="0" bIns="0">
            <a:spAutoFit/>
          </a:bodyPr>
          <a:lstStyle/>
          <a:p>
            <a:pPr algn="l"/>
            <a:r>
              <a:rPr sz="1200" b="1" i="0">
                <a:solidFill>
                  <a:srgbClr val="3FB9A3"/>
                </a:solidFill>
                <a:latin typeface="Segoe UI"/>
              </a:rPr>
              <a:t>THE MONEY</a:t>
            </a:r>
          </a:p>
        </p:txBody>
      </p:sp>
      <p:sp>
        <p:nvSpPr>
          <p:cNvPr id="5" name="TextBox 4"/>
          <p:cNvSpPr txBox="1"/>
          <p:nvPr/>
        </p:nvSpPr>
        <p:spPr>
          <a:xfrm>
            <a:off x="1143000" y="786384"/>
            <a:ext cx="10515600" cy="731520"/>
          </a:xfrm>
          <a:prstGeom prst="rect">
            <a:avLst/>
          </a:prstGeom>
          <a:noFill/>
        </p:spPr>
        <p:txBody>
          <a:bodyPr wrap="square" anchor="t" lIns="0" rIns="0" tIns="0" bIns="0">
            <a:spAutoFit/>
          </a:bodyPr>
          <a:lstStyle/>
          <a:p>
            <a:pPr algn="l"/>
            <a:r>
              <a:rPr sz="2800" b="1" i="0">
                <a:solidFill>
                  <a:srgbClr val="EEE7D6"/>
                </a:solidFill>
                <a:latin typeface="Segoe UI"/>
              </a:rPr>
              <a:t>How a $500,000 deal gets funded</a:t>
            </a:r>
          </a:p>
        </p:txBody>
      </p:sp>
      <p:sp>
        <p:nvSpPr>
          <p:cNvPr id="6" name="Rectangle 5"/>
          <p:cNvSpPr/>
          <p:nvPr/>
        </p:nvSpPr>
        <p:spPr>
          <a:xfrm>
            <a:off x="1161288" y="1481328"/>
            <a:ext cx="1828800" cy="36576"/>
          </a:xfrm>
          <a:prstGeom prst="rect">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55664"/>
            <a:ext cx="12191695" cy="54864"/>
          </a:xfrm>
          <a:prstGeom prst="rect">
            <a:avLst/>
          </a:prstGeom>
          <a:solidFill>
            <a:srgbClr val="284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55664"/>
            <a:ext cx="6966682" cy="54864"/>
          </a:xfrm>
          <a:prstGeom prst="rect">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81360" y="6382512"/>
            <a:ext cx="1188720" cy="274320"/>
          </a:xfrm>
          <a:prstGeom prst="rect">
            <a:avLst/>
          </a:prstGeom>
          <a:noFill/>
        </p:spPr>
        <p:txBody>
          <a:bodyPr wrap="square" anchor="t" lIns="0" rIns="0" tIns="0" bIns="0">
            <a:spAutoFit/>
          </a:bodyPr>
          <a:lstStyle/>
          <a:p>
            <a:pPr algn="r"/>
            <a:r>
              <a:rPr sz="1000" b="0" i="0">
                <a:solidFill>
                  <a:srgbClr val="9DB3A8"/>
                </a:solidFill>
                <a:latin typeface="Segoe UI"/>
              </a:rPr>
              <a:t>4 / 7</a:t>
            </a:r>
          </a:p>
        </p:txBody>
      </p:sp>
      <p:graphicFrame>
        <p:nvGraphicFramePr>
          <p:cNvPr id="10" name="Chart 9"/>
          <p:cNvGraphicFramePr>
            <a:graphicFrameLocks noGrp="1"/>
          </p:cNvGraphicFramePr>
          <p:nvPr/>
        </p:nvGraphicFramePr>
        <p:xfrm>
          <a:off x="548640" y="1828800"/>
          <a:ext cx="5852160" cy="4206240"/>
        </p:xfrm>
        <a:graphic>
          <a:graphicData uri="http://schemas.openxmlformats.org/drawingml/2006/chart">
            <c:chart xmlns:c="http://schemas.openxmlformats.org/drawingml/2006/chart" r:id="rId2"/>
          </a:graphicData>
        </a:graphic>
      </p:graphicFrame>
      <p:sp>
        <p:nvSpPr>
          <p:cNvPr id="11" name="Rectangle 10"/>
          <p:cNvSpPr/>
          <p:nvPr/>
        </p:nvSpPr>
        <p:spPr>
          <a:xfrm>
            <a:off x="6858000" y="2057400"/>
            <a:ext cx="164592" cy="658368"/>
          </a:xfrm>
          <a:prstGeom prst="rect">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78040" y="2011680"/>
            <a:ext cx="4480560" cy="868680"/>
          </a:xfrm>
          <a:prstGeom prst="rect">
            <a:avLst/>
          </a:prstGeom>
          <a:noFill/>
        </p:spPr>
        <p:txBody>
          <a:bodyPr wrap="square" anchor="t" lIns="0" rIns="0" tIns="0" bIns="0">
            <a:spAutoFit/>
          </a:bodyPr>
          <a:lstStyle/>
          <a:p>
            <a:pPr algn="l"/>
            <a:r>
              <a:rPr sz="1350" b="1" i="0">
                <a:solidFill>
                  <a:srgbClr val="E0A93A"/>
                </a:solidFill>
                <a:latin typeface="Segoe UI"/>
              </a:rPr>
              <a:t>Down payment, 25%</a:t>
            </a:r>
          </a:p>
          <a:p>
            <a:pPr algn="l">
              <a:lnSpc>
                <a:spcPct val="105000"/>
              </a:lnSpc>
              <a:spcBef>
                <a:spcPts val="200"/>
              </a:spcBef>
            </a:pPr>
            <a:r>
              <a:rPr sz="1150" b="0" i="0">
                <a:solidFill>
                  <a:srgbClr val="EEE7D6"/>
                </a:solidFill>
                <a:latin typeface="Segoe UI"/>
              </a:rPr>
              <a:t>About $125,000 from distributions and the reserve account</a:t>
            </a:r>
          </a:p>
        </p:txBody>
      </p:sp>
      <p:sp>
        <p:nvSpPr>
          <p:cNvPr id="13" name="Rectangle 12"/>
          <p:cNvSpPr/>
          <p:nvPr/>
        </p:nvSpPr>
        <p:spPr>
          <a:xfrm>
            <a:off x="6858000" y="3035808"/>
            <a:ext cx="164592" cy="658368"/>
          </a:xfrm>
          <a:prstGeom prst="rect">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78040" y="2990088"/>
            <a:ext cx="4480560" cy="868680"/>
          </a:xfrm>
          <a:prstGeom prst="rect">
            <a:avLst/>
          </a:prstGeom>
          <a:noFill/>
        </p:spPr>
        <p:txBody>
          <a:bodyPr wrap="square" anchor="t" lIns="0" rIns="0" tIns="0" bIns="0">
            <a:spAutoFit/>
          </a:bodyPr>
          <a:lstStyle/>
          <a:p>
            <a:pPr algn="l"/>
            <a:r>
              <a:rPr sz="1350" b="1" i="0">
                <a:solidFill>
                  <a:srgbClr val="E0A93A"/>
                </a:solidFill>
                <a:latin typeface="Segoe UI"/>
              </a:rPr>
              <a:t>Commercial loan, 75%</a:t>
            </a:r>
          </a:p>
          <a:p>
            <a:pPr algn="l">
              <a:lnSpc>
                <a:spcPct val="105000"/>
              </a:lnSpc>
              <a:spcBef>
                <a:spcPts val="200"/>
              </a:spcBef>
            </a:pPr>
            <a:r>
              <a:rPr sz="1150" b="0" i="0">
                <a:solidFill>
                  <a:srgbClr val="EEE7D6"/>
                </a:solidFill>
                <a:latin typeface="Segoe UI"/>
              </a:rPr>
              <a:t>Talk to Valley National and TD once a building is identified</a:t>
            </a:r>
          </a:p>
        </p:txBody>
      </p:sp>
      <p:sp>
        <p:nvSpPr>
          <p:cNvPr id="15" name="Rectangle 14"/>
          <p:cNvSpPr/>
          <p:nvPr/>
        </p:nvSpPr>
        <p:spPr>
          <a:xfrm>
            <a:off x="6858000" y="4014216"/>
            <a:ext cx="164592" cy="658368"/>
          </a:xfrm>
          <a:prstGeom prst="rect">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78040" y="3968496"/>
            <a:ext cx="4480560" cy="868680"/>
          </a:xfrm>
          <a:prstGeom prst="rect">
            <a:avLst/>
          </a:prstGeom>
          <a:noFill/>
        </p:spPr>
        <p:txBody>
          <a:bodyPr wrap="square" anchor="t" lIns="0" rIns="0" tIns="0" bIns="0">
            <a:spAutoFit/>
          </a:bodyPr>
          <a:lstStyle/>
          <a:p>
            <a:pPr algn="l"/>
            <a:r>
              <a:rPr sz="1350" b="1" i="0">
                <a:solidFill>
                  <a:srgbClr val="E0A93A"/>
                </a:solidFill>
                <a:latin typeface="Segoe UI"/>
              </a:rPr>
              <a:t>Emergency fund</a:t>
            </a:r>
          </a:p>
          <a:p>
            <a:pPr algn="l">
              <a:lnSpc>
                <a:spcPct val="105000"/>
              </a:lnSpc>
              <a:spcBef>
                <a:spcPts val="200"/>
              </a:spcBef>
            </a:pPr>
            <a:r>
              <a:rPr sz="1150" b="0" i="0">
                <a:solidFill>
                  <a:srgbClr val="EEE7D6"/>
                </a:solidFill>
                <a:latin typeface="Segoe UI"/>
              </a:rPr>
              <a:t>Stays untouched at $42,000, this is a rule</a:t>
            </a:r>
          </a:p>
        </p:txBody>
      </p:sp>
      <p:sp>
        <p:nvSpPr>
          <p:cNvPr id="17" name="Rectangle 16"/>
          <p:cNvSpPr/>
          <p:nvPr/>
        </p:nvSpPr>
        <p:spPr>
          <a:xfrm>
            <a:off x="6858000" y="4992624"/>
            <a:ext cx="164592" cy="658368"/>
          </a:xfrm>
          <a:prstGeom prst="rect">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78040" y="4946904"/>
            <a:ext cx="4480560" cy="868680"/>
          </a:xfrm>
          <a:prstGeom prst="rect">
            <a:avLst/>
          </a:prstGeom>
          <a:noFill/>
        </p:spPr>
        <p:txBody>
          <a:bodyPr wrap="square" anchor="t" lIns="0" rIns="0" tIns="0" bIns="0">
            <a:spAutoFit/>
          </a:bodyPr>
          <a:lstStyle/>
          <a:p>
            <a:pPr algn="l"/>
            <a:r>
              <a:rPr sz="1350" b="1" i="0">
                <a:solidFill>
                  <a:srgbClr val="E0A93A"/>
                </a:solidFill>
                <a:latin typeface="Segoe UI"/>
              </a:rPr>
              <a:t>Trigger</a:t>
            </a:r>
          </a:p>
          <a:p>
            <a:pPr algn="l">
              <a:lnSpc>
                <a:spcPct val="105000"/>
              </a:lnSpc>
              <a:spcBef>
                <a:spcPts val="200"/>
              </a:spcBef>
            </a:pPr>
            <a:r>
              <a:rPr sz="1150" b="0" i="0">
                <a:solidFill>
                  <a:srgbClr val="EEE7D6"/>
                </a:solidFill>
                <a:latin typeface="Segoe UI"/>
              </a:rPr>
              <a:t>Move after the Wayne equipment loan is paid off in December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3029"/>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23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365760" cy="365760"/>
          </a:xfrm>
          <a:prstGeom prst="ellipse">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457200"/>
            <a:ext cx="10058400" cy="320040"/>
          </a:xfrm>
          <a:prstGeom prst="rect">
            <a:avLst/>
          </a:prstGeom>
          <a:noFill/>
        </p:spPr>
        <p:txBody>
          <a:bodyPr wrap="square" anchor="t" lIns="0" rIns="0" tIns="0" bIns="0">
            <a:spAutoFit/>
          </a:bodyPr>
          <a:lstStyle/>
          <a:p>
            <a:pPr algn="l"/>
            <a:r>
              <a:rPr sz="1200" b="1" i="0">
                <a:solidFill>
                  <a:srgbClr val="3FB9A3"/>
                </a:solidFill>
                <a:latin typeface="Segoe UI"/>
              </a:rPr>
              <a:t>SCANNING</a:t>
            </a:r>
          </a:p>
        </p:txBody>
      </p:sp>
      <p:sp>
        <p:nvSpPr>
          <p:cNvPr id="5" name="TextBox 4"/>
          <p:cNvSpPr txBox="1"/>
          <p:nvPr/>
        </p:nvSpPr>
        <p:spPr>
          <a:xfrm>
            <a:off x="1143000" y="786384"/>
            <a:ext cx="10515600" cy="731520"/>
          </a:xfrm>
          <a:prstGeom prst="rect">
            <a:avLst/>
          </a:prstGeom>
          <a:noFill/>
        </p:spPr>
        <p:txBody>
          <a:bodyPr wrap="square" anchor="t" lIns="0" rIns="0" tIns="0" bIns="0">
            <a:spAutoFit/>
          </a:bodyPr>
          <a:lstStyle/>
          <a:p>
            <a:pPr algn="l"/>
            <a:r>
              <a:rPr sz="2800" b="1" i="0">
                <a:solidFill>
                  <a:srgbClr val="EEE7D6"/>
                </a:solidFill>
                <a:latin typeface="Segoe UI"/>
              </a:rPr>
              <a:t>Cap rate on three watch list buildings</a:t>
            </a:r>
          </a:p>
        </p:txBody>
      </p:sp>
      <p:sp>
        <p:nvSpPr>
          <p:cNvPr id="6" name="Rectangle 5"/>
          <p:cNvSpPr/>
          <p:nvPr/>
        </p:nvSpPr>
        <p:spPr>
          <a:xfrm>
            <a:off x="1161288" y="1481328"/>
            <a:ext cx="1828800" cy="36576"/>
          </a:xfrm>
          <a:prstGeom prst="rect">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55664"/>
            <a:ext cx="12191695" cy="54864"/>
          </a:xfrm>
          <a:prstGeom prst="rect">
            <a:avLst/>
          </a:prstGeom>
          <a:solidFill>
            <a:srgbClr val="284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55664"/>
            <a:ext cx="8708353" cy="54864"/>
          </a:xfrm>
          <a:prstGeom prst="rect">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81360" y="6382512"/>
            <a:ext cx="1188720" cy="274320"/>
          </a:xfrm>
          <a:prstGeom prst="rect">
            <a:avLst/>
          </a:prstGeom>
          <a:noFill/>
        </p:spPr>
        <p:txBody>
          <a:bodyPr wrap="square" anchor="t" lIns="0" rIns="0" tIns="0" bIns="0">
            <a:spAutoFit/>
          </a:bodyPr>
          <a:lstStyle/>
          <a:p>
            <a:pPr algn="r"/>
            <a:r>
              <a:rPr sz="1000" b="0" i="0">
                <a:solidFill>
                  <a:srgbClr val="9DB3A8"/>
                </a:solidFill>
                <a:latin typeface="Segoe UI"/>
              </a:rPr>
              <a:t>5 / 7</a:t>
            </a:r>
          </a:p>
        </p:txBody>
      </p:sp>
      <p:graphicFrame>
        <p:nvGraphicFramePr>
          <p:cNvPr id="10" name="Chart 9"/>
          <p:cNvGraphicFramePr>
            <a:graphicFrameLocks noGrp="1"/>
          </p:cNvGraphicFramePr>
          <p:nvPr/>
        </p:nvGraphicFramePr>
        <p:xfrm>
          <a:off x="640080" y="1920240"/>
          <a:ext cx="10881360" cy="3657600"/>
        </p:xfrm>
        <a:graphic>
          <a:graphicData uri="http://schemas.openxmlformats.org/drawingml/2006/chart">
            <c:chart xmlns:c="http://schemas.openxmlformats.org/drawingml/2006/chart" r:id="rId2"/>
          </a:graphicData>
        </a:graphic>
      </p:graphicFrame>
      <p:sp>
        <p:nvSpPr>
          <p:cNvPr id="11" name="TextBox 10"/>
          <p:cNvSpPr txBox="1"/>
          <p:nvPr/>
        </p:nvSpPr>
        <p:spPr>
          <a:xfrm>
            <a:off x="640080" y="5715000"/>
            <a:ext cx="10881360" cy="640080"/>
          </a:xfrm>
          <a:prstGeom prst="rect">
            <a:avLst/>
          </a:prstGeom>
          <a:noFill/>
        </p:spPr>
        <p:txBody>
          <a:bodyPr wrap="square" anchor="t" lIns="0" rIns="0" tIns="0" bIns="0">
            <a:spAutoFit/>
          </a:bodyPr>
          <a:lstStyle/>
          <a:p>
            <a:pPr algn="l"/>
            <a:r>
              <a:rPr sz="1200" b="0" i="0">
                <a:solidFill>
                  <a:srgbClr val="9DB3A8"/>
                </a:solidFill>
                <a:latin typeface="Segoe UI"/>
              </a:rPr>
              <a:t>Only the buildings at or above 7% get a real underwriting pass. Prospect Park looks strong on paper and goes to the top of the list to walk with Selim.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3029"/>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23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02920"/>
            <a:ext cx="365760" cy="365760"/>
          </a:xfrm>
          <a:prstGeom prst="ellipse">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457200"/>
            <a:ext cx="10058400" cy="320040"/>
          </a:xfrm>
          <a:prstGeom prst="rect">
            <a:avLst/>
          </a:prstGeom>
          <a:noFill/>
        </p:spPr>
        <p:txBody>
          <a:bodyPr wrap="square" anchor="t" lIns="0" rIns="0" tIns="0" bIns="0">
            <a:spAutoFit/>
          </a:bodyPr>
          <a:lstStyle/>
          <a:p>
            <a:pPr algn="l"/>
            <a:r>
              <a:rPr sz="1200" b="1" i="0">
                <a:solidFill>
                  <a:srgbClr val="3FB9A3"/>
                </a:solidFill>
                <a:latin typeface="Segoe UI"/>
              </a:rPr>
              <a:t>PATH</a:t>
            </a:r>
          </a:p>
        </p:txBody>
      </p:sp>
      <p:sp>
        <p:nvSpPr>
          <p:cNvPr id="5" name="TextBox 4"/>
          <p:cNvSpPr txBox="1"/>
          <p:nvPr/>
        </p:nvSpPr>
        <p:spPr>
          <a:xfrm>
            <a:off x="1143000" y="786384"/>
            <a:ext cx="10515600" cy="731520"/>
          </a:xfrm>
          <a:prstGeom prst="rect">
            <a:avLst/>
          </a:prstGeom>
          <a:noFill/>
        </p:spPr>
        <p:txBody>
          <a:bodyPr wrap="square" anchor="t" lIns="0" rIns="0" tIns="0" bIns="0">
            <a:spAutoFit/>
          </a:bodyPr>
          <a:lstStyle/>
          <a:p>
            <a:pPr algn="l"/>
            <a:r>
              <a:rPr sz="2800" b="1" i="0">
                <a:solidFill>
                  <a:srgbClr val="EEE7D6"/>
                </a:solidFill>
                <a:latin typeface="Segoe UI"/>
              </a:rPr>
              <a:t>From watch list to keys</a:t>
            </a:r>
          </a:p>
        </p:txBody>
      </p:sp>
      <p:sp>
        <p:nvSpPr>
          <p:cNvPr id="6" name="Rectangle 5"/>
          <p:cNvSpPr/>
          <p:nvPr/>
        </p:nvSpPr>
        <p:spPr>
          <a:xfrm>
            <a:off x="1161288" y="1481328"/>
            <a:ext cx="1828800" cy="36576"/>
          </a:xfrm>
          <a:prstGeom prst="rect">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55664"/>
            <a:ext cx="12191695" cy="54864"/>
          </a:xfrm>
          <a:prstGeom prst="rect">
            <a:avLst/>
          </a:prstGeom>
          <a:solidFill>
            <a:srgbClr val="284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455664"/>
            <a:ext cx="10450024" cy="54864"/>
          </a:xfrm>
          <a:prstGeom prst="rect">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81360" y="6382512"/>
            <a:ext cx="1188720" cy="274320"/>
          </a:xfrm>
          <a:prstGeom prst="rect">
            <a:avLst/>
          </a:prstGeom>
          <a:noFill/>
        </p:spPr>
        <p:txBody>
          <a:bodyPr wrap="square" anchor="t" lIns="0" rIns="0" tIns="0" bIns="0">
            <a:spAutoFit/>
          </a:bodyPr>
          <a:lstStyle/>
          <a:p>
            <a:pPr algn="r"/>
            <a:r>
              <a:rPr sz="1000" b="0" i="0">
                <a:solidFill>
                  <a:srgbClr val="9DB3A8"/>
                </a:solidFill>
                <a:latin typeface="Segoe UI"/>
              </a:rPr>
              <a:t>6 / 7</a:t>
            </a:r>
          </a:p>
        </p:txBody>
      </p:sp>
      <p:pic>
        <p:nvPicPr>
          <p:cNvPr id="10" name="Picture 9" descr="1950.png"/>
          <p:cNvPicPr>
            <a:picLocks noChangeAspect="1"/>
          </p:cNvPicPr>
          <p:nvPr/>
        </p:nvPicPr>
        <p:blipFill>
          <a:blip r:embed="rId2"/>
          <a:stretch>
            <a:fillRect/>
          </a:stretch>
        </p:blipFill>
        <p:spPr>
          <a:xfrm>
            <a:off x="8229600" y="1828800"/>
            <a:ext cx="3291840" cy="4114800"/>
          </a:xfrm>
          <a:prstGeom prst="rect">
            <a:avLst/>
          </a:prstGeom>
        </p:spPr>
      </p:pic>
      <p:sp>
        <p:nvSpPr>
          <p:cNvPr id="11" name="Rectangle 10"/>
          <p:cNvSpPr/>
          <p:nvPr/>
        </p:nvSpPr>
        <p:spPr>
          <a:xfrm>
            <a:off x="640080" y="2011680"/>
            <a:ext cx="1371600" cy="502920"/>
          </a:xfrm>
          <a:prstGeom prst="rect">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11680"/>
            <a:ext cx="1371600" cy="502920"/>
          </a:xfrm>
          <a:prstGeom prst="rect">
            <a:avLst/>
          </a:prstGeom>
          <a:noFill/>
        </p:spPr>
        <p:txBody>
          <a:bodyPr wrap="square" anchor="ctr" lIns="0" rIns="0" tIns="0" bIns="0">
            <a:spAutoFit/>
          </a:bodyPr>
          <a:lstStyle/>
          <a:p>
            <a:pPr algn="ctr"/>
            <a:r>
              <a:rPr sz="1250" b="1" i="0">
                <a:solidFill>
                  <a:srgbClr val="1C2B16"/>
                </a:solidFill>
                <a:latin typeface="Segoe UI"/>
              </a:rPr>
              <a:t>Now</a:t>
            </a:r>
          </a:p>
        </p:txBody>
      </p:sp>
      <p:sp>
        <p:nvSpPr>
          <p:cNvPr id="13" name="TextBox 12"/>
          <p:cNvSpPr txBox="1"/>
          <p:nvPr/>
        </p:nvSpPr>
        <p:spPr>
          <a:xfrm>
            <a:off x="2194560" y="2011680"/>
            <a:ext cx="5669280" cy="822960"/>
          </a:xfrm>
          <a:prstGeom prst="rect">
            <a:avLst/>
          </a:prstGeom>
          <a:noFill/>
        </p:spPr>
        <p:txBody>
          <a:bodyPr wrap="square" anchor="ctr" lIns="0" rIns="0" tIns="0" bIns="0">
            <a:spAutoFit/>
          </a:bodyPr>
          <a:lstStyle/>
          <a:p>
            <a:pPr algn="l"/>
            <a:r>
              <a:rPr sz="1250" b="0" i="0">
                <a:solidFill>
                  <a:srgbClr val="EEE7D6"/>
                </a:solidFill>
                <a:latin typeface="Segoe UI"/>
              </a:rPr>
              <a:t>Loopnet daily, NJ commercial meetups, ask Selim for off market leads</a:t>
            </a:r>
          </a:p>
        </p:txBody>
      </p:sp>
      <p:sp>
        <p:nvSpPr>
          <p:cNvPr id="14" name="Rectangle 13"/>
          <p:cNvSpPr/>
          <p:nvPr/>
        </p:nvSpPr>
        <p:spPr>
          <a:xfrm>
            <a:off x="640080" y="2971800"/>
            <a:ext cx="1371600" cy="502920"/>
          </a:xfrm>
          <a:prstGeom prst="rect">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971800"/>
            <a:ext cx="1371600" cy="502920"/>
          </a:xfrm>
          <a:prstGeom prst="rect">
            <a:avLst/>
          </a:prstGeom>
          <a:noFill/>
        </p:spPr>
        <p:txBody>
          <a:bodyPr wrap="square" anchor="ctr" lIns="0" rIns="0" tIns="0" bIns="0">
            <a:spAutoFit/>
          </a:bodyPr>
          <a:lstStyle/>
          <a:p>
            <a:pPr algn="ctr"/>
            <a:r>
              <a:rPr sz="1250" b="1" i="0">
                <a:solidFill>
                  <a:srgbClr val="1C2B16"/>
                </a:solidFill>
                <a:latin typeface="Segoe UI"/>
              </a:rPr>
              <a:t>Dec 2026</a:t>
            </a:r>
          </a:p>
        </p:txBody>
      </p:sp>
      <p:sp>
        <p:nvSpPr>
          <p:cNvPr id="16" name="TextBox 15"/>
          <p:cNvSpPr txBox="1"/>
          <p:nvPr/>
        </p:nvSpPr>
        <p:spPr>
          <a:xfrm>
            <a:off x="2194560" y="2971800"/>
            <a:ext cx="5669280" cy="822960"/>
          </a:xfrm>
          <a:prstGeom prst="rect">
            <a:avLst/>
          </a:prstGeom>
          <a:noFill/>
        </p:spPr>
        <p:txBody>
          <a:bodyPr wrap="square" anchor="ctr" lIns="0" rIns="0" tIns="0" bIns="0">
            <a:spAutoFit/>
          </a:bodyPr>
          <a:lstStyle/>
          <a:p>
            <a:pPr algn="l"/>
            <a:r>
              <a:rPr sz="1250" b="0" i="0">
                <a:solidFill>
                  <a:srgbClr val="EEE7D6"/>
                </a:solidFill>
                <a:latin typeface="Segoe UI"/>
              </a:rPr>
              <a:t>Wayne equipment loan paid off, free up cash flow</a:t>
            </a:r>
          </a:p>
        </p:txBody>
      </p:sp>
      <p:sp>
        <p:nvSpPr>
          <p:cNvPr id="17" name="Rectangle 16"/>
          <p:cNvSpPr/>
          <p:nvPr/>
        </p:nvSpPr>
        <p:spPr>
          <a:xfrm>
            <a:off x="640080" y="3931920"/>
            <a:ext cx="1371600" cy="502920"/>
          </a:xfrm>
          <a:prstGeom prst="rect">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931920"/>
            <a:ext cx="1371600" cy="502920"/>
          </a:xfrm>
          <a:prstGeom prst="rect">
            <a:avLst/>
          </a:prstGeom>
          <a:noFill/>
        </p:spPr>
        <p:txBody>
          <a:bodyPr wrap="square" anchor="ctr" lIns="0" rIns="0" tIns="0" bIns="0">
            <a:spAutoFit/>
          </a:bodyPr>
          <a:lstStyle/>
          <a:p>
            <a:pPr algn="ctr"/>
            <a:r>
              <a:rPr sz="1250" b="1" i="0">
                <a:solidFill>
                  <a:srgbClr val="1C2B16"/>
                </a:solidFill>
                <a:latin typeface="Segoe UI"/>
              </a:rPr>
              <a:t>Early 2027</a:t>
            </a:r>
          </a:p>
        </p:txBody>
      </p:sp>
      <p:sp>
        <p:nvSpPr>
          <p:cNvPr id="19" name="TextBox 18"/>
          <p:cNvSpPr txBox="1"/>
          <p:nvPr/>
        </p:nvSpPr>
        <p:spPr>
          <a:xfrm>
            <a:off x="2194560" y="3931920"/>
            <a:ext cx="5669280" cy="822960"/>
          </a:xfrm>
          <a:prstGeom prst="rect">
            <a:avLst/>
          </a:prstGeom>
          <a:noFill/>
        </p:spPr>
        <p:txBody>
          <a:bodyPr wrap="square" anchor="ctr" lIns="0" rIns="0" tIns="0" bIns="0">
            <a:spAutoFit/>
          </a:bodyPr>
          <a:lstStyle/>
          <a:p>
            <a:pPr algn="l"/>
            <a:r>
              <a:rPr sz="1250" b="0" i="0">
                <a:solidFill>
                  <a:srgbClr val="EEE7D6"/>
                </a:solidFill>
                <a:latin typeface="Segoe UI"/>
              </a:rPr>
              <a:t>Underwrite shortlisted buildings, run cap rate before getting attached</a:t>
            </a:r>
          </a:p>
        </p:txBody>
      </p:sp>
      <p:sp>
        <p:nvSpPr>
          <p:cNvPr id="20" name="Rectangle 19"/>
          <p:cNvSpPr/>
          <p:nvPr/>
        </p:nvSpPr>
        <p:spPr>
          <a:xfrm>
            <a:off x="640080" y="4892040"/>
            <a:ext cx="1371600" cy="502920"/>
          </a:xfrm>
          <a:prstGeom prst="rect">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892040"/>
            <a:ext cx="1371600" cy="502920"/>
          </a:xfrm>
          <a:prstGeom prst="rect">
            <a:avLst/>
          </a:prstGeom>
          <a:noFill/>
        </p:spPr>
        <p:txBody>
          <a:bodyPr wrap="square" anchor="ctr" lIns="0" rIns="0" tIns="0" bIns="0">
            <a:spAutoFit/>
          </a:bodyPr>
          <a:lstStyle/>
          <a:p>
            <a:pPr algn="ctr"/>
            <a:r>
              <a:rPr sz="1250" b="1" i="0">
                <a:solidFill>
                  <a:srgbClr val="1C2B16"/>
                </a:solidFill>
                <a:latin typeface="Segoe UI"/>
              </a:rPr>
              <a:t>End 2027</a:t>
            </a:r>
          </a:p>
        </p:txBody>
      </p:sp>
      <p:sp>
        <p:nvSpPr>
          <p:cNvPr id="22" name="TextBox 21"/>
          <p:cNvSpPr txBox="1"/>
          <p:nvPr/>
        </p:nvSpPr>
        <p:spPr>
          <a:xfrm>
            <a:off x="2194560" y="4892040"/>
            <a:ext cx="5669280" cy="822960"/>
          </a:xfrm>
          <a:prstGeom prst="rect">
            <a:avLst/>
          </a:prstGeom>
          <a:noFill/>
        </p:spPr>
        <p:txBody>
          <a:bodyPr wrap="square" anchor="ctr" lIns="0" rIns="0" tIns="0" bIns="0">
            <a:spAutoFit/>
          </a:bodyPr>
          <a:lstStyle/>
          <a:p>
            <a:pPr algn="l"/>
            <a:r>
              <a:rPr sz="1250" b="0" i="0">
                <a:solidFill>
                  <a:srgbClr val="EEE7D6"/>
                </a:solidFill>
                <a:latin typeface="Segoe UI"/>
              </a:rPr>
              <a:t>Close on the right building, 25% down, repeat the model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3029"/>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23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88920"/>
            <a:ext cx="12191695" cy="54864"/>
          </a:xfrm>
          <a:prstGeom prst="rect">
            <a:avLst/>
          </a:prstGeom>
          <a:solidFill>
            <a:srgbClr val="E0A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28800"/>
            <a:ext cx="10607040" cy="1097280"/>
          </a:xfrm>
          <a:prstGeom prst="rect">
            <a:avLst/>
          </a:prstGeom>
          <a:noFill/>
        </p:spPr>
        <p:txBody>
          <a:bodyPr wrap="square" anchor="t" lIns="0" rIns="0" tIns="0" bIns="0">
            <a:spAutoFit/>
          </a:bodyPr>
          <a:lstStyle/>
          <a:p>
            <a:pPr algn="l"/>
            <a:r>
              <a:rPr sz="3400" b="1" i="0">
                <a:solidFill>
                  <a:srgbClr val="EEE7D6"/>
                </a:solidFill>
                <a:latin typeface="Segoe UI"/>
              </a:rPr>
              <a:t>Patient money, one building at a time</a:t>
            </a:r>
          </a:p>
        </p:txBody>
      </p:sp>
      <p:sp>
        <p:nvSpPr>
          <p:cNvPr id="5" name="TextBox 4"/>
          <p:cNvSpPr txBox="1"/>
          <p:nvPr/>
        </p:nvSpPr>
        <p:spPr>
          <a:xfrm>
            <a:off x="822960" y="3108960"/>
            <a:ext cx="10607040" cy="1828800"/>
          </a:xfrm>
          <a:prstGeom prst="rect">
            <a:avLst/>
          </a:prstGeom>
          <a:noFill/>
        </p:spPr>
        <p:txBody>
          <a:bodyPr wrap="square" anchor="t" lIns="0" rIns="0" tIns="0" bIns="0">
            <a:spAutoFit/>
          </a:bodyPr>
          <a:lstStyle/>
          <a:p>
            <a:pPr algn="l"/>
            <a:r>
              <a:rPr sz="1700" b="0" i="0">
                <a:solidFill>
                  <a:srgbClr val="3FB9A3"/>
                </a:solidFill>
                <a:latin typeface="Segoe UI"/>
              </a:rPr>
              <a:t>The first building was nine years of discipline. The second is the same playbook with more equity behind it. No stretching the household, no touching the emergency fund, no deal that does not clear 7%.</a:t>
            </a:r>
          </a:p>
          <a:p>
            <a:pPr algn="l">
              <a:spcBef>
                <a:spcPts val="1200"/>
              </a:spcBef>
            </a:pPr>
            <a:r>
              <a:rPr sz="1350" b="0" i="0">
                <a:solidFill>
                  <a:srgbClr val="9DB3A8"/>
                </a:solidFill>
                <a:latin typeface="Segoe UI"/>
              </a:rPr>
              <a:t>Goal: a second commercial property by the end of 2027.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