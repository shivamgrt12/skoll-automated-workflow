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Approx survival rate, percent</c:v>
                </c:pt>
              </c:strCache>
            </c:strRef>
          </c:tx>
          <c:spPr>
            <a:solidFill>
              <a:srgbClr val="2E6DA4"/>
            </a:solidFill>
          </c:spPr>
          <c:cat>
            <c:strRef>
              <c:f>Sheet1!$A$2:$A$5</c:f>
              <c:strCache>
                <c:ptCount val="4"/>
                <c:pt idx="0">
                  <c:v>0 to 15 min</c:v>
                </c:pt>
                <c:pt idx="1">
                  <c:v>15 to 30 min</c:v>
                </c:pt>
                <c:pt idx="2">
                  <c:v>30 to 45 min</c:v>
                </c:pt>
                <c:pt idx="3">
                  <c:v>Over 45 min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30</c:v>
                </c:pt>
                <c:pt idx="2">
                  <c:v>24</c:v>
                </c:pt>
                <c:pt idx="3">
                  <c:v>14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2A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718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40080"/>
            <a:ext cx="164592" cy="1097280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FA7D6"/>
                </a:solidFill>
                <a:latin typeface="Calibri"/>
              </a:rPr>
              <a:t>AVALANCHE 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24128"/>
            <a:ext cx="102412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Reading the Snow, Reading the Slope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1">
                <a:solidFill>
                  <a:srgbClr val="1B2A3A"/>
                </a:solidFill>
                <a:latin typeface="Calibri"/>
              </a:rPr>
              <a:t>A two day field course in recognizing avalanche terrain, understanding the snowpack, and making safer decisions in a group.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572000"/>
            <a:ext cx="109728" cy="31089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35424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5B7187"/>
                </a:solidFill>
                <a:latin typeface="Calibri"/>
              </a:rPr>
              <a:t>Instructor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Jeff Peterson, Avalanche Level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047488"/>
            <a:ext cx="109728" cy="31089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10912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5B7187"/>
                </a:solidFill>
                <a:latin typeface="Calibri"/>
              </a:rPr>
              <a:t>Provider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Teton Summit Resort Avalanche Education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522975"/>
            <a:ext cx="109728" cy="31089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86399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5B7187"/>
                </a:solidFill>
                <a:latin typeface="Calibri"/>
              </a:rPr>
              <a:t>Meeting point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Teton Pass winter lot, 7:30 AM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7432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 i="0">
                <a:solidFill>
                  <a:srgbClr val="3FA7D6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97180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Why this course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1">
                <a:solidFill>
                  <a:srgbClr val="1B2A3A"/>
                </a:solidFill>
                <a:latin typeface="Calibri"/>
              </a:rPr>
              <a:t>Most people caught in avalanches trigger the slide themselves. The goal of this weekend is to give you the judgment to avoid that, and the skills to rescue a partner if it happens.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THE CASE FOR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The problem in three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322320" cy="2468880"/>
          </a:xfrm>
          <a:prstGeom prst="round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322320" cy="1097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2E6DA4"/>
                </a:solidFill>
                <a:latin typeface="Calibri"/>
              </a:rP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of avalanche fatalities are triggered by the victim or someone in the party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1040" y="1828800"/>
            <a:ext cx="3322320" cy="2468880"/>
          </a:xfrm>
          <a:prstGeom prst="round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1040" y="1828800"/>
            <a:ext cx="3322320" cy="109728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104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3FA7D6"/>
                </a:solidFill>
                <a:latin typeface="Calibri"/>
              </a:rPr>
              <a:t>15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the window where a buried subject has the best chance of survival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400" y="1828800"/>
            <a:ext cx="3322320" cy="2468880"/>
          </a:xfrm>
          <a:prstGeom prst="round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400" y="1828800"/>
            <a:ext cx="3322320" cy="109728"/>
          </a:xfrm>
          <a:prstGeom prst="rect">
            <a:avLst/>
          </a:prstGeom>
          <a:solidFill>
            <a:srgbClr val="8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40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8FB8D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tools every traveler carries, transceiver, probe, and shovel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1">
                <a:solidFill>
                  <a:srgbClr val="5B7187"/>
                </a:solidFill>
                <a:latin typeface="Calibri"/>
              </a:rPr>
              <a:t>Avalanche safety is a decision making skill first and a rescue skill second. We train both.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MODULE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How an avalanche 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550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Slab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A cohesive layer of snow bonded over a weaker layer below.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Weak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Facets, surface hoar, or a buried crust that fails under 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581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Added weight, often a skier, that tips the balance.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982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Slope angle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725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Most slides release on slopes between 30 and 45 degrees.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MODULE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Terrain is the one thing you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4937760" cy="4663440"/>
          </a:xfrm>
          <a:prstGeom prst="round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4937760" cy="50292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91056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Higher consequence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Slopes 30 to 45 degrees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Convex rolls and wind loaded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74136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Terrain traps, gullies and trees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41064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Connected slopes above you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4937760" cy="4663440"/>
          </a:xfrm>
          <a:prstGeom prst="round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4937760" cy="502920"/>
          </a:xfrm>
          <a:prstGeom prst="round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91056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Lower consequence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7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Slopes under 30 degrees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07208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7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Supported, planar terrain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74136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7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Ridgelines and dense timber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41064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7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Open runouts with no trap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MODULE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The daily advisory is your starting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550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Read it every 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Hazard rating, problem type, aspect, and elevation.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Match it to your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Avoid the aspects and elevations called out as the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Watch for red 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581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Recent avalanches, shooting cracks, whumpfing, rapid warming.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982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Plan a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725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Pick terrain that still works if the forecast is one notch off.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MODULE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North American danger scale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00200"/>
          <a:ext cx="10469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480060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anchor="ctr" marL="76200" marT="25400" marB="25400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 anchor="ctr" marL="76200" marT="25400" marB="25400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Travel advice</a:t>
                      </a:r>
                    </a:p>
                  </a:txBody>
                  <a:tcPr anchor="ctr" marL="76200" marT="25400" marB="25400">
                    <a:solidFill>
                      <a:srgbClr val="1B3A5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Unlikely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Generally safe, watch isolated features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Possible on specific features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Evaluate snow and terrain carefully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Considerable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Likely on the problem feature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Conservative terrain choices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Very likely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Avoid avalanche terrain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Extreme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Certain and large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Stay out of avalanche terrain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p14:dur="6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7432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 i="0">
                <a:solidFill>
                  <a:srgbClr val="3FA7D6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97180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Companion rescue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1">
                <a:solidFill>
                  <a:srgbClr val="1B2A3A"/>
                </a:solidFill>
                <a:latin typeface="Calibri"/>
              </a:rPr>
              <a:t>If a partner is buried, you are the rescue. No outside help arrives in time. The next slides are the sequence we practice until it is automatic.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MODULE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The rescue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550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Watch and 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Keep eyes on the subject, note the last seen 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Switch to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All transceivers to search, call the group, pick a leader.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Signal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581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Move fast to first signal, then bracket the flux 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982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Pinpoint and 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725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Fine search in a grid, probe to confirm, then dig.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312664"/>
            <a:ext cx="256032" cy="256032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2395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3A"/>
                </a:solidFill>
                <a:latin typeface="Calibri"/>
              </a:rPr>
              <a:t>Strategic shoveling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5869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B7187"/>
                </a:solidFill>
                <a:latin typeface="Calibri"/>
              </a:rPr>
              <a:t>Dig in from downhill, move snow, expose the airway first.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MODULE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Why speed is everything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54480"/>
          <a:ext cx="104698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6080760"/>
            <a:ext cx="10469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5B7187"/>
                </a:solidFill>
                <a:latin typeface="Calibri"/>
              </a:rPr>
              <a:t>Survival falls sharply after the first fifteen minutes. A practiced party is the difference.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What to bring on course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4937760" cy="4663440"/>
          </a:xfrm>
          <a:prstGeom prst="round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4937760" cy="50292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91056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Transceiver, probe, shovel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Touring setup or splitboard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74136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Full winter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41064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Food and water for a full 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4937760" cy="4663440"/>
          </a:xfrm>
          <a:prstGeom prst="round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4937760" cy="502920"/>
          </a:xfrm>
          <a:prstGeom prst="round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91056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7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Rentals available on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07208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7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No scented products, wildlife country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74136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7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Arrive for the trailhead beacon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41064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7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A3A"/>
                </a:solidFill>
                <a:latin typeface="Calibri"/>
              </a:rPr>
              <a:t>Course runs in most weather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E6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7D6"/>
                </a:solidFill>
                <a:latin typeface="Calibri"/>
              </a:rPr>
              <a:t>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Calibri"/>
              </a:rPr>
              <a:t>Two day schedule at a glance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00200"/>
          <a:ext cx="10469880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389120"/>
                <a:gridCol w="4434840"/>
              </a:tblGrid>
              <a:tr h="4328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anchor="ctr" marL="76200" marT="25400" marB="25400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Morning</a:t>
                      </a:r>
                    </a:p>
                  </a:txBody>
                  <a:tcPr anchor="ctr" marL="76200" marT="25400" marB="25400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Afternoon</a:t>
                      </a:r>
                    </a:p>
                  </a:txBody>
                  <a:tcPr anchor="ctr" marL="76200" marT="25400" marB="25400">
                    <a:solidFill>
                      <a:srgbClr val="1B3A57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Day one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Terrain and the advisory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Companion rescue and burial practice</a:t>
                      </a:r>
                    </a:p>
                  </a:txBody>
                  <a:tcPr anchor="ctr" marL="76200" marT="25400" marB="25400">
                    <a:solidFill>
                      <a:srgbClr val="E6EDF4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Day two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Snowpack tests in a pit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A tour with real decisions</a:t>
                      </a:r>
                    </a:p>
                  </a:txBody>
                  <a:tcPr anchor="ctr" marL="76200" marT="25400" marB="2540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p14:dur="6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82880" cy="914400"/>
          </a:xfrm>
          <a:prstGeom prst="rect">
            <a:avLst/>
          </a:prstGeom>
          <a:solidFill>
            <a:srgbClr val="3FA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Your takeaway for every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3FA7D6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Plan the day against the advisory before you leave the trailhead.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3814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3FA7D6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Choose terrain with a margin, not terrain at the edge of the forecast.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3FA7D6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Carry the gear, and practice the rescue until it is muscle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5152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3FA7D6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1B2A3A"/>
                </a:solidFill>
                <a:latin typeface="Calibri"/>
              </a:rPr>
              <a:t>The best decision in avalanche terrain is usually the humble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5B7187"/>
                </a:solidFill>
                <a:latin typeface="Calibri"/>
              </a:rPr>
              <a:t>Jeff Peterson, Avalanche Level 3, Teton Summit Resort Avalanche Education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Jeff Peterson</dc:creator>
  <cp:keywords/>
  <dc:description/>
  <cp:lastModifiedBy>Jeff Peterson</cp:lastModifiedBy>
  <cp:revision>2</cp:revision>
  <dcterms:created xsi:type="dcterms:W3CDTF">2026-02-20T09:00:00Z</dcterms:created>
  <dcterms:modified xsi:type="dcterms:W3CDTF">2026-02-20T09:00:00Z</dcterms:modified>
</cp:coreProperties>
</file>