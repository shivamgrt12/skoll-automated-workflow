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 responded</c:v>
                </c:pt>
              </c:strCache>
            </c:strRef>
          </c:tx>
          <c:spPr>
            <a:solidFill>
              <a:srgbClr val="1F7A5A"/>
            </a:solidFill>
          </c:spPr>
          <c:cat>
            <c:strRef>
              <c:f>Sheet1!$A$2:$A$6</c:f>
              <c:strCache>
                <c:ptCount val="5"/>
                <c:pt idx="0">
                  <c:v>Cody Bowl</c:v>
                </c:pt>
                <c:pt idx="1">
                  <c:v>Rendezvous</c:v>
                </c:pt>
                <c:pt idx="2">
                  <c:v>Highway 22</c:v>
                </c:pt>
                <c:pt idx="3">
                  <c:v>Backcountry gate</c:v>
                </c:pt>
                <c:pt idx="4">
                  <c:v>Tower Three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323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F6B6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40080"/>
            <a:ext cx="16459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PATROL SEASON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24128"/>
            <a:ext cx="102412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Snowpack, Hazard, and Control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1">
                <a:solidFill>
                  <a:srgbClr val="13231D"/>
                </a:solidFill>
                <a:latin typeface="Calibri"/>
              </a:rPr>
              <a:t>A pre season briefing for the patrol team on the current snowpack setup, the season's main avalanche problem, and the control plan for route opening and the highway.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109728" cy="31089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35424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F6B61"/>
                </a:solidFill>
                <a:latin typeface="Calibri"/>
              </a:rPr>
              <a:t>Presenter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Jeff Peterson, Avalanche Level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047488"/>
            <a:ext cx="109728" cy="31089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10912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F6B61"/>
                </a:solidFill>
                <a:latin typeface="Calibri"/>
              </a:rPr>
              <a:t>Co author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Jake Tanner, Patrol Director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522975"/>
            <a:ext cx="109728" cy="31089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399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F6B61"/>
                </a:solidFill>
                <a:latin typeface="Calibri"/>
              </a:rPr>
              <a:t>Audience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Teton Summit Resort patrol team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C0392B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Where the snowpack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13231D"/>
                </a:solidFill>
                <a:latin typeface="Calibri"/>
              </a:rPr>
              <a:t>The season set up on a weak base. Understanding that structure is the key to reading hazard for the rest of the winter.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SNOWPACK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The snowpack story this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Early weak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Faceted snow and basal depth hoar near the 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A buried crust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 January melt freeze crust now buried mid pack.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Persistent facets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 weak layer near 95 cm sitting on that crust.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Fresh wind slabs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New snow on a steady southwest wind, loading the east.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SNOWPACK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Pit summary, Mount Glory shoulder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10469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544068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6200" marT="25400" marB="25400">
                    <a:solidFill>
                      <a:srgbClr val="12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anchor="ctr" marL="76200" marT="25400" marB="25400">
                    <a:solidFill>
                      <a:srgbClr val="12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result</a:t>
                      </a:r>
                    </a:p>
                  </a:txBody>
                  <a:tcPr anchor="ctr" marL="76200" marT="25400" marB="25400">
                    <a:solidFill>
                      <a:srgbClr val="123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New storm snow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0 cm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Soft, unconsolidated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Wind slab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18 cm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Cross loaded from the southwest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January crust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72 cm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Hard melt freeze layer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Persistent facets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95 cm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CT14 Q2, ECTP21, PST 38 of 100</a:t>
                      </a:r>
                    </a:p>
                  </a:txBody>
                  <a:tcPr anchor="ctr" marL="76200" marT="25400" marB="25400">
                    <a:solidFill>
                      <a:srgbClr val="F2F6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Basal depth hoar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120 cm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31D"/>
                          </a:solidFill>
                          <a:latin typeface="Calibri"/>
                        </a:rPr>
                        <a:t>Weak base near the ground</a:t>
                      </a:r>
                    </a:p>
                  </a:txBody>
                  <a:tcPr anchor="ctr" marL="76200" marT="25400" marB="25400">
                    <a:solidFill>
                      <a:srgbClr val="E1EB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p14:dur="6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Season incident log to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22320" cy="2468880"/>
          </a:xfrm>
          <a:prstGeom prst="round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322320" cy="1097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F7A5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avalanche involvements responded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1040" y="1828800"/>
            <a:ext cx="3322320" cy="2468880"/>
          </a:xfrm>
          <a:prstGeom prst="round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1040" y="1828800"/>
            <a:ext cx="33223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04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C0392B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traumatic injuries treated on the hill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0" y="1828800"/>
            <a:ext cx="3322320" cy="2468880"/>
          </a:xfrm>
          <a:prstGeom prst="round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400" y="1828800"/>
            <a:ext cx="3322320" cy="109728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40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2E9E8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helicopter evacuations coordinated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1">
                <a:solidFill>
                  <a:srgbClr val="4F6B61"/>
                </a:solidFill>
                <a:latin typeface="Calibri"/>
              </a:rPr>
              <a:t>The February 14 Cody Bowl full burial ended with the subject recovered alive. Stay sharp.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Where injuries happened this season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54480"/>
          <a:ext cx="104698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6080760"/>
            <a:ext cx="10469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4F6B61"/>
                </a:solidFill>
                <a:latin typeface="Calibri"/>
              </a:rPr>
              <a:t>Cody Bowl remains the feature that demands the most attention on a loaded day.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C0392B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control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13231D"/>
                </a:solidFill>
                <a:latin typeface="Calibri"/>
              </a:rPr>
              <a:t>Our job is to open safe terrain and keep the highway moving. Here is how we handle the main problem through route opening and mitigation.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Route opening and mitigation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4937760" cy="4663440"/>
          </a:xfrm>
          <a:prstGeom prst="round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4937760" cy="502920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Resort route opening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7A5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Hand charges on Cody Bowl wind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7A5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Ski cuts on supported test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7A5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Close the gate until checks clear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7A5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Document every shot and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4937760" cy="4663440"/>
          </a:xfrm>
          <a:prstGeom prst="round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493776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Highway 22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On standby for the next loading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Coordinate the road closure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Recoilless rifle for the start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3231D"/>
                </a:solidFill>
                <a:latin typeface="Calibri"/>
              </a:rPr>
              <a:t>Reopen only after the path is checked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Red flags to call in immediately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Recent avalanches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Any natural or triggered slide, report it on the 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Shooting cracks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Cracks running out from your skis, back 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Collapsing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 whumpf underfoot means the weak layer is active.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Rapid warming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Sun or warm air loosening the surface, watch the aspect.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1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3231D"/>
                </a:solidFill>
                <a:latin typeface="Calibri"/>
              </a:rPr>
              <a:t>Communication and embargo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One net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Assign a single voice on the radio for an incident.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Advisory embargo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Do not release the forecast before the official posting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Clear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Name the leader, the searcher, the digger before you 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3231D"/>
                </a:solidFill>
                <a:latin typeface="Calibri"/>
              </a:rPr>
              <a:t>Debrief every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4F6B61"/>
                </a:solidFill>
                <a:latin typeface="Calibri"/>
              </a:rPr>
              <a:t>Capture what went well and what to fix while it is fresh.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828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season ask from all of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3231D"/>
                </a:solidFill>
                <a:latin typeface="Calibri"/>
              </a:rPr>
              <a:t>Read the advisory and the pit data before every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3814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3231D"/>
                </a:solidFill>
                <a:latin typeface="Calibri"/>
              </a:rPr>
              <a:t>Treat the 95 cm facet layer as listening all season.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3231D"/>
                </a:solidFill>
                <a:latin typeface="Calibri"/>
              </a:rPr>
              <a:t>Run the control plan by the book, document every 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3231D"/>
                </a:solidFill>
                <a:latin typeface="Calibri"/>
              </a:rPr>
              <a:t>Look out for each other, ego is what gets people hurt.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4F6B61"/>
                </a:solidFill>
                <a:latin typeface="Calibri"/>
              </a:rPr>
              <a:t>Jeff Peterson and Jake Tanner, Teton Summit Resort Patrol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Jeff Peterson</dc:creator>
  <cp:keywords/>
  <dc:description/>
  <cp:lastModifiedBy>Jeff Peterson</cp:lastModifiedBy>
  <cp:revision>2</cp:revision>
  <dcterms:created xsi:type="dcterms:W3CDTF">2026-02-20T09:00:00Z</dcterms:created>
  <dcterms:modified xsi:type="dcterms:W3CDTF">2026-02-20T09:00:00Z</dcterms:modified>
</cp:coreProperties>
</file>