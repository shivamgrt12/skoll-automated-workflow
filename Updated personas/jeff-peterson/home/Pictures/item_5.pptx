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Denali Mountain Guides, USD</c:v>
                </c:pt>
              </c:strCache>
            </c:strRef>
          </c:tx>
          <c:spPr>
            <a:solidFill>
              <a:srgbClr val="E8913A"/>
            </a:solidFill>
          </c:spPr>
          <c:cat>
            <c:strRef>
              <c:f>Sheet1!$A$2:$A$6</c:f>
              <c:strCache>
                <c:ptCount val="5"/>
                <c:pt idx="0">
                  <c:v>Guided fee</c:v>
                </c:pt>
                <c:pt idx="1">
                  <c:v>Park permit</c:v>
                </c:pt>
                <c:pt idx="2">
                  <c:v>Flights</c:v>
                </c:pt>
                <c:pt idx="3">
                  <c:v>Air taxi</c:v>
                </c:pt>
                <c:pt idx="4">
                  <c:v>Gear and insurance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8400</c:v>
                </c:pt>
                <c:pt idx="1">
                  <c:v>420</c:v>
                </c:pt>
                <c:pt idx="2">
                  <c:v>560</c:v>
                </c:pt>
                <c:pt idx="3">
                  <c:v>1250</c:v>
                </c:pt>
                <c:pt idx="4">
                  <c:v>1460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Summit Peak Expeditions, USD</c:v>
                </c:pt>
              </c:strCache>
            </c:strRef>
          </c:tx>
          <c:spPr>
            <a:solidFill>
              <a:srgbClr val="F2B705"/>
            </a:solidFill>
          </c:spPr>
          <c:cat>
            <c:strRef>
              <c:f>Sheet1!$A$2:$A$6</c:f>
              <c:strCache>
                <c:ptCount val="5"/>
                <c:pt idx="0">
                  <c:v>Guided fee</c:v>
                </c:pt>
                <c:pt idx="1">
                  <c:v>Park permit</c:v>
                </c:pt>
                <c:pt idx="2">
                  <c:v>Flights</c:v>
                </c:pt>
                <c:pt idx="3">
                  <c:v>Air taxi</c:v>
                </c:pt>
                <c:pt idx="4">
                  <c:v>Gear and insurance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7950</c:v>
                </c:pt>
                <c:pt idx="1">
                  <c:v>420</c:v>
                </c:pt>
                <c:pt idx="2">
                  <c:v>560</c:v>
                </c:pt>
                <c:pt idx="3">
                  <c:v>1250</c:v>
                </c:pt>
                <c:pt idx="4">
                  <c:v>1410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DEF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AA4B2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EDEFF2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0E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40080"/>
            <a:ext cx="164592" cy="10972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B705"/>
                </a:solidFill>
                <a:latin typeface="Calibri"/>
              </a:rPr>
              <a:t>DENALI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24128"/>
            <a:ext cx="102412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West Buttress Expedition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1">
                <a:solidFill>
                  <a:srgbClr val="EDEFF2"/>
                </a:solidFill>
                <a:latin typeface="Calibri"/>
              </a:rPr>
              <a:t>A guided ascent of Denali by the West Buttress, built on a long base of Teton and Cascade mountaineering, with margin for weather on the upper mountain.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572000"/>
            <a:ext cx="109728" cy="310896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35424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9AA4B2"/>
                </a:solidFill>
                <a:latin typeface="Calibri"/>
              </a:rPr>
              <a:t>Climber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Jeff Peterson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047488"/>
            <a:ext cx="109728" cy="310896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10912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9AA4B2"/>
                </a:solidFill>
                <a:latin typeface="Calibri"/>
              </a:rPr>
              <a:t>Route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West Buttress, 20,310 feet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522975"/>
            <a:ext cx="109728" cy="310896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86399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9AA4B2"/>
                </a:solidFill>
                <a:latin typeface="Calibri"/>
              </a:rPr>
              <a:t>Window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Late May to mid June 2027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7432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 i="0">
                <a:solidFill>
                  <a:srgbClr val="F2B705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97180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1">
                <a:solidFill>
                  <a:srgbClr val="EDEFF2"/>
                </a:solidFill>
                <a:latin typeface="Calibri"/>
              </a:rPr>
              <a:t>Summit Denali safely and well acclimatized after eight Grand Teton summits and two Rainier climbs. This is the next step, planned carefully rather than rushed.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DEFF2"/>
                </a:solidFill>
                <a:latin typeface="Calibri"/>
              </a:rPr>
              <a:t>The mountain by the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322320" cy="2468880"/>
          </a:xfrm>
          <a:prstGeom prst="round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322320" cy="109728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E8913A"/>
                </a:solidFill>
                <a:latin typeface="Calibri"/>
              </a:rPr>
              <a:t>20,310 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summit elevation, the highest in North America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1040" y="1828800"/>
            <a:ext cx="3322320" cy="2468880"/>
          </a:xfrm>
          <a:prstGeom prst="round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1040" y="1828800"/>
            <a:ext cx="3322320" cy="10972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104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2B705"/>
                </a:solidFill>
                <a:latin typeface="Calibri"/>
              </a:rPr>
              <a:t>21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planned expedition length, base to summit and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400" y="1828800"/>
            <a:ext cx="3322320" cy="2468880"/>
          </a:xfrm>
          <a:prstGeom prst="round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400" y="1828800"/>
            <a:ext cx="3322320" cy="109728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40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6FA8B8"/>
                </a:solidFill>
                <a:latin typeface="Calibri"/>
              </a:rPr>
              <a:t>17,200 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high camp, the launch point for the summit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1">
                <a:solidFill>
                  <a:srgbClr val="9AA4B2"/>
                </a:solidFill>
                <a:latin typeface="Calibri"/>
              </a:rPr>
              <a:t>The limiter is load carrying at altitude, not cold tolerance. Training is built around that.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THE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DEFF2"/>
                </a:solidFill>
                <a:latin typeface="Calibri"/>
              </a:rPr>
              <a:t>Route stages on the West Buttress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55064"/>
            <a:ext cx="256032" cy="256032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DEFF2"/>
                </a:solidFill>
                <a:latin typeface="Calibri"/>
              </a:rPr>
              <a:t>Glacier landing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Air taxi to the Kahiltna at 7,200 feet.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256032" cy="256032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DEFF2"/>
                </a:solidFill>
                <a:latin typeface="Calibri"/>
              </a:rPr>
              <a:t>Carry and 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Move loads to 11,000 camp, then 14,200 camp.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4"/>
            <a:ext cx="256032" cy="256032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DEFF2"/>
                </a:solidFill>
                <a:latin typeface="Calibri"/>
              </a:rPr>
              <a:t>Fixed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581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Up the headwall to 16,200, carry to high camp at 17,200.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98264"/>
            <a:ext cx="256032" cy="256032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DEFF2"/>
                </a:solidFill>
                <a:latin typeface="Calibri"/>
              </a:rPr>
              <a:t>Summit 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725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From high camp on the first clear weather window.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THE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DEFF2"/>
                </a:solidFill>
                <a:latin typeface="Calibri"/>
              </a:rPr>
              <a:t>Expedition timeline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00200"/>
          <a:ext cx="10469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468880"/>
                <a:gridCol w="580644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 marL="76200" marT="25400" marB="25400"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Elevation</a:t>
                      </a:r>
                    </a:p>
                  </a:txBody>
                  <a:tcPr anchor="ctr" marL="76200" marT="25400" marB="25400"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anchor="ctr" marL="76200" marT="25400" marB="25400">
                    <a:solidFill>
                      <a:srgbClr val="0E101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Fly in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7,200 ft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Anchorage to Talkeetna, glacier landing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Lower mountain</a:t>
                      </a:r>
                    </a:p>
                  </a:txBody>
                  <a:tcPr anchor="ctr" marL="76200" marT="25400" marB="2540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11,000 ft</a:t>
                      </a:r>
                    </a:p>
                  </a:txBody>
                  <a:tcPr anchor="ctr" marL="76200" marT="25400" marB="2540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Carry and cache, single push days</a:t>
                      </a:r>
                    </a:p>
                  </a:txBody>
                  <a:tcPr anchor="ctr" marL="76200" marT="25400" marB="25400">
                    <a:solidFill>
                      <a:srgbClr val="14171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Acclimatize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14,200 ft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Rest and load carries to the headwall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Upper mountain</a:t>
                      </a:r>
                    </a:p>
                  </a:txBody>
                  <a:tcPr anchor="ctr" marL="76200" marT="25400" marB="2540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16,200 to 17,200 ft</a:t>
                      </a:r>
                    </a:p>
                  </a:txBody>
                  <a:tcPr anchor="ctr" marL="76200" marT="25400" marB="25400"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Fixed lines and move to high camp</a:t>
                      </a:r>
                    </a:p>
                  </a:txBody>
                  <a:tcPr anchor="ctr" marL="76200" marT="25400" marB="25400">
                    <a:solidFill>
                      <a:srgbClr val="14171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Summit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20,310 ft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DEFF2"/>
                          </a:solidFill>
                          <a:latin typeface="Calibri"/>
                        </a:rPr>
                        <a:t>Push on the first clear window, then descend</a:t>
                      </a:r>
                    </a:p>
                  </a:txBody>
                  <a:tcPr anchor="ctr" marL="76200" marT="25400" marB="25400">
                    <a:solidFill>
                      <a:srgbClr val="2025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p14:dur="6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DEFF2"/>
                </a:solidFill>
                <a:latin typeface="Calibri"/>
              </a:rPr>
              <a:t>Guide service price comparison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54480"/>
          <a:ext cx="104698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6080760"/>
            <a:ext cx="10469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9AA4B2"/>
                </a:solidFill>
                <a:latin typeface="Calibri"/>
              </a:rPr>
              <a:t>Summit Peak leads on price. Final call rests on guide to climber ratio and recent reviews.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DEFF2"/>
                </a:solidFill>
                <a:latin typeface="Calibri"/>
              </a:rPr>
              <a:t>Budget and funding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322320" cy="2468880"/>
          </a:xfrm>
          <a:prstGeom prst="round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322320" cy="109728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E8913A"/>
                </a:solidFill>
                <a:latin typeface="Calibri"/>
              </a:rPr>
              <a:t>$11,590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estimated total with Summit Peak Expeditions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1040" y="1828800"/>
            <a:ext cx="3322320" cy="2468880"/>
          </a:xfrm>
          <a:prstGeom prst="round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1040" y="1828800"/>
            <a:ext cx="3322320" cy="10972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104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2B705"/>
                </a:solidFill>
                <a:latin typeface="Calibri"/>
              </a:rPr>
              <a:t>$700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refundable hold placed to lock a 2027 slot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400" y="1828800"/>
            <a:ext cx="3322320" cy="2468880"/>
          </a:xfrm>
          <a:prstGeom prst="round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3400" y="1828800"/>
            <a:ext cx="3322320" cy="109728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400" y="2240280"/>
            <a:ext cx="33223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6FA8B8"/>
                </a:solidFill>
                <a:latin typeface="Calibri"/>
              </a:rPr>
              <a:t>$500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91840"/>
            <a:ext cx="3048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monthly transfer into the dedicated Denali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1">
                <a:solidFill>
                  <a:srgbClr val="9AA4B2"/>
                </a:solidFill>
                <a:latin typeface="Calibri"/>
              </a:rPr>
              <a:t>Funded from the Denali line in the Ally savings account. Most technical gear is already owned.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7432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 i="0">
                <a:solidFill>
                  <a:srgbClr val="F2B705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971800"/>
            <a:ext cx="104241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Getting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 i="1">
                <a:solidFill>
                  <a:srgbClr val="EDEFF2"/>
                </a:solidFill>
                <a:latin typeface="Calibri"/>
              </a:rPr>
              <a:t>A successful expedition is mostly built in the year before it. The plan below turns ordinary patrol season fitness into expedition readiness.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DEFF2"/>
                </a:solidFill>
                <a:latin typeface="Calibri"/>
              </a:rPr>
              <a:t>Training plan through winter 2026 to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4937760" cy="4663440"/>
          </a:xfrm>
          <a:prstGeom prst="round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4937760" cy="502920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91056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Already in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8913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15,000 plus vertical feet a week touring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8913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Strength three days a week, legs and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74136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8913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Cold tolerance from patrol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41064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8913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Strong aerobic base from trail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4937760" cy="4663440"/>
          </a:xfrm>
          <a:prstGeom prst="round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4937760" cy="50292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91056"/>
            <a:ext cx="44805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To 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B70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Weighted pack carries, build the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07208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B70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Back to back long days on snow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74136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B70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Sustained uphill under a heavy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41064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B70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EDEFF2"/>
                </a:solidFill>
                <a:latin typeface="Calibri"/>
              </a:rPr>
              <a:t>Sled drag drills for glacier travel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2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"/>
            <a:ext cx="146304" cy="60350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50292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DEFF2"/>
                </a:solidFill>
                <a:latin typeface="Calibri"/>
              </a:rPr>
              <a:t>Risk and how the plan manages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55064"/>
            <a:ext cx="256032" cy="256032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DEFF2"/>
                </a:solidFill>
                <a:latin typeface="Calibri"/>
              </a:rPr>
              <a:t>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Buffer days built in, summit only on a clear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256032" cy="256032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DEFF2"/>
                </a:solidFill>
                <a:latin typeface="Calibri"/>
              </a:rPr>
              <a:t>Altitude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A measured carry and cache rhythm for acclimatization.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83864"/>
            <a:ext cx="256032" cy="256032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DEFF2"/>
                </a:solidFill>
                <a:latin typeface="Calibri"/>
              </a:rPr>
              <a:t>Cold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581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Tested systems and layering from years of winter patrol.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98264"/>
            <a:ext cx="256032" cy="256032"/>
          </a:xfrm>
          <a:prstGeom prst="round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EDEFF2"/>
                </a:solidFill>
                <a:latin typeface="Calibri"/>
              </a:rPr>
              <a:t>Fatigue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7258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Calibri"/>
              </a:rPr>
              <a:t>Conservative daily loads, rest days scheduled at 14,200.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82880" cy="9144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Decision points before deposit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2B705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EDEFF2"/>
                </a:solidFill>
                <a:latin typeface="Calibri"/>
              </a:rPr>
              <a:t>Confirm guide to climber ratio for both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38144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2B705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EDEFF2"/>
                </a:solidFill>
                <a:latin typeface="Calibri"/>
              </a:rPr>
              <a:t>Read recent season reviews and talk to past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2B705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EDEFF2"/>
                </a:solidFill>
                <a:latin typeface="Calibri"/>
              </a:rPr>
              <a:t>Lock the 2027 window and convert the hold to a deposit.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5152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2B705"/>
                </a:solidFill>
                <a:latin typeface="Calibri"/>
              </a:rPr>
              <a:t>→  </a:t>
            </a:r>
            <a:r>
              <a:rPr sz="1600" b="0" i="0">
                <a:solidFill>
                  <a:srgbClr val="EDEFF2"/>
                </a:solidFill>
                <a:latin typeface="Calibri"/>
              </a:rPr>
              <a:t>Finalize the training block start for fall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9AA4B2"/>
                </a:solidFill>
                <a:latin typeface="Calibri"/>
              </a:rPr>
              <a:t>Jeff Peterson, planning hub tracked in the expedition notebook</a:t>
            </a: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Jeff Peterson</dc:creator>
  <cp:keywords/>
  <dc:description/>
  <cp:lastModifiedBy>Jeff Peterson</cp:lastModifiedBy>
  <cp:revision>2</cp:revision>
  <dcterms:created xsi:type="dcterms:W3CDTF">2026-02-20T09:00:00Z</dcterms:created>
  <dcterms:modified xsi:type="dcterms:W3CDTF">2026-02-20T09:00:00Z</dcterms:modified>
</cp:coreProperties>
</file>