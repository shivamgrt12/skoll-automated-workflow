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revenue</c:v>
                </c:pt>
              </c:strCache>
            </c:strRef>
          </c:tx>
          <c:dPt>
            <c:idx val="0"/>
            <c:spPr>
              <a:solidFill>
                <a:srgbClr val="C9A227"/>
              </a:solidFill>
            </c:spPr>
          </c:dPt>
          <c:dPt>
            <c:idx val="1"/>
            <c:spPr>
              <a:solidFill>
                <a:srgbClr val="1B2A4A"/>
              </a:solidFill>
            </c:spPr>
          </c:dPt>
          <c:cat>
            <c:strRef>
              <c:f>Sheet1!$A$2:$A$3</c:f>
              <c:strCache>
                <c:ptCount val="2"/>
                <c:pt idx="0">
                  <c:v>Insurance sessions</c:v>
                </c:pt>
                <c:pt idx="1">
                  <c:v>Cash pay sessions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2025, in thousands</c:v>
                </c:pt>
              </c:strCache>
            </c:strRef>
          </c:tx>
          <c:spPr>
            <a:solidFill>
              <a:srgbClr val="C9A227"/>
            </a:solidFill>
          </c:spPr>
          <c:cat>
            <c:strRef>
              <c:f>Sheet1!$A$2:$A$4</c:f>
              <c:strCache>
                <c:ptCount val="3"/>
                <c:pt idx="0">
                  <c:v>Revenue</c:v>
                </c:pt>
                <c:pt idx="1">
                  <c:v>Expenses</c:v>
                </c:pt>
                <c:pt idx="2">
                  <c:v>Net income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185</c:v>
                </c:pt>
                <c:pt idx="1">
                  <c:v>62</c:v>
                </c:pt>
                <c:pt idx="2">
                  <c:v>123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C9A227"/>
                </a:solidFill>
                <a:latin typeface="Calibri"/>
              </a:rPr>
              <a:t>ANNUAL PRACTICE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2025 Year in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E9DDAE"/>
                </a:solidFill>
                <a:latin typeface="Calibri"/>
              </a:rPr>
              <a:t>Long Pediatric Therapy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Prepared by Jennifer Long, OTR/L  | 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B2A4A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292608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1E2637"/>
                </a:solidFill>
                <a:latin typeface="Calibri"/>
              </a:rPr>
              <a:t>▸  The year at a glance.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1E2637"/>
                </a:solidFill>
                <a:latin typeface="Calibri"/>
              </a:rPr>
              <a:t>▸  Revenue, expenses, and net income.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1E2637"/>
                </a:solidFill>
                <a:latin typeface="Calibri"/>
              </a:rPr>
              <a:t>▸  Caseload, waitlist, and payer mix.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1E2637"/>
                </a:solidFill>
                <a:latin typeface="Calibri"/>
              </a:rPr>
              <a:t>▸  Looking ahead: capacity, the manuscript, and continuing education.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891A3"/>
                </a:solidFill>
                <a:latin typeface="Calibri"/>
              </a:rPr>
              <a:t>Long Pediatric Therapy  |  Confidential practice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554480" cy="1554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1B2A4A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560320"/>
            <a:ext cx="85039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B2A4A"/>
                </a:solidFill>
                <a:latin typeface="Calibri"/>
              </a:rPr>
              <a:t>The year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3977639"/>
            <a:ext cx="8412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E2637"/>
                </a:solidFill>
                <a:latin typeface="Calibri"/>
              </a:rPr>
              <a:t>A steady, healthy year with demand outpacing a solo schedule.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B2A4A"/>
                </a:solidFill>
                <a:latin typeface="Calibri"/>
              </a:rPr>
              <a:t>Headline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292608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03120"/>
            <a:ext cx="3352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03120"/>
            <a:ext cx="3352800" cy="12801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335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1B2A4A"/>
                </a:solidFill>
                <a:latin typeface="Calibri"/>
              </a:rPr>
              <a:t>$185K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307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E2637"/>
                </a:solidFill>
                <a:latin typeface="Calibri"/>
              </a:rPr>
              <a:t>Gross revenue for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4360" y="2103120"/>
            <a:ext cx="3352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4360" y="2103120"/>
            <a:ext cx="3352800" cy="12801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4360" y="2560320"/>
            <a:ext cx="335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1B2A4A"/>
                </a:solidFill>
                <a:latin typeface="Calibri"/>
              </a:rPr>
              <a:t>$123K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1520" y="3703320"/>
            <a:ext cx="307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E2637"/>
                </a:solidFill>
                <a:latin typeface="Calibri"/>
              </a:rPr>
              <a:t>Net income after expenses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2920" y="2103120"/>
            <a:ext cx="3352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2920" y="2103120"/>
            <a:ext cx="3352800" cy="12801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2920" y="2560320"/>
            <a:ext cx="335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1B2A4A"/>
                </a:solidFill>
                <a:latin typeface="Calibri"/>
              </a:rPr>
              <a:t>22 to 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0080" y="3703320"/>
            <a:ext cx="307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E2637"/>
                </a:solidFill>
                <a:latin typeface="Calibri"/>
              </a:rPr>
              <a:t>Sessions per week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891A3"/>
                </a:solidFill>
                <a:latin typeface="Calibri"/>
              </a:rPr>
              <a:t>Figures rounded. Full detail in the profit and loss statement.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B2A4A"/>
                </a:solidFill>
                <a:latin typeface="Calibri"/>
              </a:rPr>
              <a:t>Where revenue came from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292608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097280" y="1554480"/>
          <a:ext cx="99669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891A3"/>
                </a:solidFill>
                <a:latin typeface="Calibri"/>
              </a:rPr>
              <a:t>Insurance $148,500 and cash pay $36,500 of $185,000 total.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B2A4A"/>
                </a:solidFill>
                <a:latin typeface="Calibri"/>
              </a:rPr>
              <a:t>Revenue, expenses, and 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292608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097280" y="1554480"/>
          <a:ext cx="99669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891A3"/>
                </a:solidFill>
                <a:latin typeface="Calibri"/>
              </a:rPr>
              <a:t>Expenses include rent, admin wages, supplies, insurance, software, and fees.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B2A4A"/>
                </a:solidFill>
                <a:latin typeface="Calibri"/>
              </a:rPr>
              <a:t>Caseload and waitlist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292608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6304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/>
                <a:gridCol w="40233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 marL="109728" marT="36576" marB="36576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marL="109728" marT="36576" marB="36576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E2637"/>
                          </a:solidFill>
                          <a:latin typeface="Calibri"/>
                        </a:rPr>
                        <a:t>Sessions per week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637"/>
                          </a:solidFill>
                          <a:latin typeface="Calibri"/>
                        </a:rPr>
                        <a:t>22 to 25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E2637"/>
                          </a:solidFill>
                          <a:latin typeface="Calibri"/>
                        </a:rPr>
                        <a:t>Session length</a:t>
                      </a:r>
                    </a:p>
                  </a:txBody>
                  <a:tcPr marL="109728" marT="27432" marB="27432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637"/>
                          </a:solidFill>
                          <a:latin typeface="Calibri"/>
                        </a:rPr>
                        <a:t>45 minutes</a:t>
                      </a:r>
                    </a:p>
                  </a:txBody>
                  <a:tcPr marL="109728" marT="27432" marB="27432">
                    <a:solidFill>
                      <a:srgbClr val="EEF1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E2637"/>
                          </a:solidFill>
                          <a:latin typeface="Calibri"/>
                        </a:rPr>
                        <a:t>Client ages served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637"/>
                          </a:solidFill>
                          <a:latin typeface="Calibri"/>
                        </a:rPr>
                        <a:t>2 to 12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E2637"/>
                          </a:solidFill>
                          <a:latin typeface="Calibri"/>
                        </a:rPr>
                        <a:t>Families on the waitlist</a:t>
                      </a:r>
                    </a:p>
                  </a:txBody>
                  <a:tcPr marL="109728" marT="27432" marB="27432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6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09728" marT="27432" marB="27432">
                    <a:solidFill>
                      <a:srgbClr val="EEF1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E2637"/>
                          </a:solidFill>
                          <a:latin typeface="Calibri"/>
                        </a:rPr>
                        <a:t>Average wait for a new evaluation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637"/>
                          </a:solidFill>
                          <a:latin typeface="Calibri"/>
                        </a:rPr>
                        <a:t>3 weeks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891A3"/>
                </a:solidFill>
                <a:latin typeface="Calibri"/>
              </a:rPr>
              <a:t>Waitlist demand supports considering a second therapist.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B2A4A"/>
                </a:solidFill>
                <a:latin typeface="Calibri"/>
              </a:rPr>
              <a:t>Payer mix and session rates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292608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63040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53949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Payer type</a:t>
                      </a:r>
                    </a:p>
                  </a:txBody>
                  <a:tcPr marL="109728" marT="36576" marB="36576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Approx. rate</a:t>
                      </a:r>
                    </a:p>
                  </a:txBody>
                  <a:tcPr marL="109728" marT="36576" marB="36576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L="109728" marT="36576" marB="36576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E2637"/>
                          </a:solidFill>
                          <a:latin typeface="Calibri"/>
                        </a:rPr>
                        <a:t>Insurance panels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637"/>
                          </a:solidFill>
                          <a:latin typeface="Calibri"/>
                        </a:rPr>
                        <a:t>$135 / session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637"/>
                          </a:solidFill>
                          <a:latin typeface="Calibri"/>
                        </a:rPr>
                        <a:t>Premera, Regence, Tricare, Pacific Health Partners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E2637"/>
                          </a:solidFill>
                          <a:latin typeface="Calibri"/>
                        </a:rPr>
                        <a:t>Cash pay</a:t>
                      </a:r>
                    </a:p>
                  </a:txBody>
                  <a:tcPr marL="109728" marT="27432" marB="27432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637"/>
                          </a:solidFill>
                          <a:latin typeface="Calibri"/>
                        </a:rPr>
                        <a:t>$165 / session</a:t>
                      </a:r>
                    </a:p>
                  </a:txBody>
                  <a:tcPr marL="109728" marT="27432" marB="27432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637"/>
                          </a:solidFill>
                          <a:latin typeface="Calibri"/>
                        </a:rPr>
                        <a:t>About 20 percent of the caseload</a:t>
                      </a:r>
                    </a:p>
                  </a:txBody>
                  <a:tcPr marL="109728" marT="27432" marB="27432"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891A3"/>
                </a:solidFill>
                <a:latin typeface="Calibri"/>
              </a:rPr>
              <a:t>Rates are averages across contracted panels.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554480" cy="1554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1B2A4A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560320"/>
            <a:ext cx="85039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B2A4A"/>
                </a:solidFill>
                <a:latin typeface="Calibri"/>
              </a:rPr>
              <a:t>Looking ahead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3977639"/>
            <a:ext cx="8412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E2637"/>
                </a:solidFill>
                <a:latin typeface="Calibri"/>
              </a:rPr>
              <a:t>Protecting quality of care while creating room to grow.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B2A4A"/>
                </a:solidFill>
                <a:latin typeface="Calibri"/>
              </a:rPr>
              <a:t>Considering a second therapist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292608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1E2637"/>
                </a:solidFill>
                <a:latin typeface="Calibri"/>
              </a:rPr>
              <a:t>▸  A part time OT at about 18 sessions a week would clear the waitlist.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1E2637"/>
                </a:solidFill>
                <a:latin typeface="Calibri"/>
              </a:rPr>
              <a:t>▸  That adds roughly $8,700 in monthly revenue before payroll.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1E2637"/>
                </a:solidFill>
                <a:latin typeface="Calibri"/>
              </a:rPr>
              <a:t>▸  Loaded part time payroll runs near $5,200 a month.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1E2637"/>
                </a:solidFill>
                <a:latin typeface="Calibri"/>
              </a:rPr>
              <a:t>▸  Open question: staggered room sharing versus a second treatment space.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1E2637"/>
                </a:solidFill>
                <a:latin typeface="Calibri"/>
              </a:rPr>
              <a:t>▸  Target: begin a quiet search now for a start after the new year.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891A3"/>
                </a:solidFill>
                <a:latin typeface="Calibri"/>
              </a:rPr>
              <a:t>Long Pediatric Therapy  |  Confidential practice review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B2A4A"/>
                </a:solidFill>
                <a:latin typeface="Calibri"/>
              </a:rPr>
              <a:t>Goals for the year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292608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2120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B2A4A"/>
                </a:solidFill>
                <a:latin typeface="Calibri"/>
              </a:rPr>
              <a:t>Manuscript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2148840"/>
            <a:ext cx="118872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6634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E2637"/>
                </a:solidFill>
                <a:latin typeface="Calibri"/>
              </a:rPr>
              <a:t>▸  Forty activity guide for parents and therapists.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E2637"/>
                </a:solidFill>
                <a:latin typeface="Calibri"/>
              </a:rPr>
              <a:t>▸  Eighteen activities drafted, twenty two to go.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E2637"/>
                </a:solidFill>
                <a:latin typeface="Calibri"/>
              </a:rPr>
              <a:t>▸  Target completion by December.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417320"/>
            <a:ext cx="52120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60020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B2A4A"/>
                </a:solidFill>
                <a:latin typeface="Calibri"/>
              </a:rPr>
              <a:t>Continuing education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47688" y="2148840"/>
            <a:ext cx="118872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331720"/>
            <a:ext cx="46634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E2637"/>
                </a:solidFill>
                <a:latin typeface="Calibri"/>
              </a:rPr>
              <a:t>▸  Twenty contact hours required by December 31.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E2637"/>
                </a:solidFill>
                <a:latin typeface="Calibri"/>
              </a:rPr>
              <a:t>▸  Eight hours completed so far.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E2637"/>
                </a:solidFill>
                <a:latin typeface="Calibri"/>
              </a:rPr>
              <a:t>▸  Fall conference and online courses planned.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891A3"/>
                </a:solidFill>
                <a:latin typeface="Calibri"/>
              </a:rPr>
              <a:t>Long Pediatric Therapy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A strong base to build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E9DDAE"/>
                </a:solidFill>
                <a:latin typeface="Calibri"/>
              </a:rPr>
              <a:t>▸  Healthy net income and steady demand.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E9DDAE"/>
                </a:solidFill>
                <a:latin typeface="Calibri"/>
              </a:rPr>
              <a:t>▸  A clear path to more capacity.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E9DDAE"/>
                </a:solidFill>
                <a:latin typeface="Calibri"/>
              </a:rPr>
              <a:t>▸  Room to finish the manuscript and grow the practice.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Long Pediatric Therapy  |  3812 N 26th St, Suite 201, Tacoma, WA 98407  |  (253) 555-0133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 Year in Review</dc:title>
  <dc:subject>Practice review</dc:subject>
  <dc:creator>Jennifer Long</dc:creator>
  <cp:keywords/>
  <dc:description/>
  <cp:lastModifiedBy>Jennifer Long</cp:lastModifiedBy>
  <cp:revision>2</cp:revision>
  <dcterms:created xsi:type="dcterms:W3CDTF">2026-01-25T09:00:00Z</dcterms:created>
  <dcterms:modified xsi:type="dcterms:W3CDTF">2026-01-25T09:00:00Z</dcterms:modified>
  <cp:category/>
</cp:coreProperties>
</file>