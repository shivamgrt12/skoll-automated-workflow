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82296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4532A"/>
                </a:solidFill>
                <a:latin typeface="Georgia"/>
              </a:rPr>
              <a:t>PUBLISHING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Sensory Play Resource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E7C9B4"/>
                </a:solidFill>
                <a:latin typeface="Georgia"/>
              </a:rPr>
              <a:t>A forty activity guide for parents and occupational therapists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Jennifer Long, OTR/L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4A2E4D"/>
                </a:solidFill>
                <a:latin typeface="Georgia"/>
              </a:rPr>
              <a:t>The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0881360" cy="27432"/>
          </a:xfrm>
          <a:prstGeom prst="rect">
            <a:avLst/>
          </a:prstGeom>
          <a:solidFill>
            <a:srgbClr val="DF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2377440" cy="2743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3A2B33"/>
                </a:solidFill>
                <a:latin typeface="Georgia"/>
              </a:rPr>
              <a:t>◆  A warm, practical guide a tired parent can actually use.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3A2B33"/>
                </a:solidFill>
                <a:latin typeface="Georgia"/>
              </a:rPr>
              <a:t>◆  Forty activities, each with materials, targets, and simple modifications.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3A2B33"/>
                </a:solidFill>
                <a:latin typeface="Georgia"/>
              </a:rPr>
              <a:t>◆  Clear line illustrations, one per activity, for easy setup.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600" b="0" i="0">
                <a:solidFill>
                  <a:srgbClr val="3A2B33"/>
                </a:solidFill>
                <a:latin typeface="Georgia"/>
              </a:rPr>
              <a:t>◆  Useful in the clinic, the classroom, and at the kitchen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B8A90"/>
                </a:solidFill>
                <a:latin typeface="Georgia"/>
              </a:rPr>
              <a:t>The Sensory Play Resource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60320"/>
            <a:ext cx="85039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4A2E4D"/>
                </a:solidFill>
                <a:latin typeface="Georgia"/>
              </a:rPr>
              <a:t>The 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977639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A2B33"/>
                </a:solidFill>
                <a:latin typeface="Georgia"/>
              </a:rPr>
              <a:t>Grounded in practice, written for the people who use it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4A2E4D"/>
                </a:solidFill>
                <a:latin typeface="Georgia"/>
              </a:rPr>
              <a:t>Where the manuscript stands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0881360" cy="27432"/>
          </a:xfrm>
          <a:prstGeom prst="rect">
            <a:avLst/>
          </a:prstGeom>
          <a:solidFill>
            <a:srgbClr val="DF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2377440" cy="2743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03120"/>
            <a:ext cx="3352800" cy="128016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4A2E4D"/>
                </a:solidFill>
                <a:latin typeface="Georgia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2B33"/>
                </a:solidFill>
                <a:latin typeface="Georgia"/>
              </a:rPr>
              <a:t>Activities in the guide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436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4360" y="2103120"/>
            <a:ext cx="3352800" cy="128016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436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4A2E4D"/>
                </a:solidFill>
                <a:latin typeface="Georgia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152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2B33"/>
                </a:solidFill>
                <a:latin typeface="Georgia"/>
              </a:rPr>
              <a:t>Drafted so far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2920" y="2103120"/>
            <a:ext cx="3352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F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2103120"/>
            <a:ext cx="3352800" cy="128016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2920" y="2560320"/>
            <a:ext cx="335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4A2E4D"/>
                </a:solidFill>
                <a:latin typeface="Georgia"/>
              </a:rPr>
              <a:t>2 to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3703320"/>
            <a:ext cx="3078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3A2B33"/>
                </a:solidFill>
                <a:latin typeface="Georgia"/>
              </a:rPr>
              <a:t>Target age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B8A90"/>
                </a:solidFill>
                <a:latin typeface="Georgia"/>
              </a:rPr>
              <a:t>Remaining twenty two activities are outlined and in progress.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4A2E4D"/>
                </a:solidFill>
                <a:latin typeface="Georgia"/>
              </a:rPr>
              <a:t>What is inside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0881360" cy="27432"/>
          </a:xfrm>
          <a:prstGeom prst="rect">
            <a:avLst/>
          </a:prstGeom>
          <a:solidFill>
            <a:srgbClr val="DF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2377440" cy="2743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675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Section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Focus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Getting started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How to read cues and set up at home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Tactile play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Building tolerance one small step at a time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Fine motor and handwriting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Hand strength, grasp, and letter skills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Heavy work and regulation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Calming input for focus and mood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Feeding and oral motor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Gentle strategies for cautious eaters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Parent appendix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Handouts, materials lists, and progress notes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B8A90"/>
                </a:solidFill>
                <a:latin typeface="Georgia"/>
              </a:rPr>
              <a:t>The Sensory Play Resource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4A2E4D"/>
                </a:solidFill>
                <a:latin typeface="Georgia"/>
              </a:rPr>
              <a:t>Who it is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0881360" cy="27432"/>
          </a:xfrm>
          <a:prstGeom prst="rect">
            <a:avLst/>
          </a:prstGeom>
          <a:solidFill>
            <a:srgbClr val="DF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2377440" cy="2743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A2E4D"/>
                </a:solidFill>
                <a:latin typeface="Georgia"/>
              </a:rPr>
              <a:t>Parents and caregivers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48840"/>
            <a:ext cx="1188720" cy="45720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Plain language, no jargon.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Activities that use household items.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Reassurance that leaving an activity is allowed.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A2E4D"/>
                </a:solidFill>
                <a:latin typeface="Georgia"/>
              </a:rPr>
              <a:t>Occupational therapists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2148840"/>
            <a:ext cx="1188720" cy="45720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Developmental targets for each activity.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Grading up and down for a range of ages.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A shared language for parent coaching.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B8A90"/>
                </a:solidFill>
                <a:latin typeface="Georgia"/>
              </a:rPr>
              <a:t>The Sensory Play Resource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4A2E4D"/>
                </a:solidFill>
                <a:latin typeface="Georgia"/>
              </a:rPr>
              <a:t>Publishing routes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0881360" cy="27432"/>
          </a:xfrm>
          <a:prstGeom prst="rect">
            <a:avLst/>
          </a:prstGeom>
          <a:solidFill>
            <a:srgbClr val="DF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2377440" cy="2743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840480"/>
                <a:gridCol w="3383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Route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Upside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Trade off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Self publish, print on demand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Full control, low upfront cost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More marketing on the author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Self publish with a distributor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Wider store and library reach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Setup fees and list price rules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Association press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Built in professional audience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Longer timeline, less control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B8A90"/>
                </a:solidFill>
                <a:latin typeface="Georgia"/>
              </a:rPr>
              <a:t>Decision targeted alongside manuscript completion.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4A2E4D"/>
                </a:solidFill>
                <a:latin typeface="Georgia"/>
              </a:rPr>
              <a:t>Budget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0881360" cy="27432"/>
          </a:xfrm>
          <a:prstGeom prst="rect">
            <a:avLst/>
          </a:prstGeom>
          <a:solidFill>
            <a:srgbClr val="DF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2377440" cy="2743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92608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Item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Estimate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Committed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Illustrations, forty plus cover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$3,000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$3,000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Self publishing setup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$450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$0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Freelance editing pass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$1,200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$0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Cover design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$600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$0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Sample print proofs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$180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$0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Total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$5,430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$3,000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B8A90"/>
                </a:solidFill>
                <a:latin typeface="Georgia"/>
              </a:rPr>
              <a:t>Illustration contract signed with Helen Carter.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4A2E4D"/>
                </a:solidFill>
                <a:latin typeface="Georgia"/>
              </a:rPr>
              <a:t>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0881360" cy="27432"/>
          </a:xfrm>
          <a:prstGeom prst="rect">
            <a:avLst/>
          </a:prstGeom>
          <a:solidFill>
            <a:srgbClr val="DF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2377440" cy="2743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017520"/>
                <a:gridCol w="3108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Milestone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Owner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Georgia"/>
                        </a:rPr>
                        <a:t>Target</a:t>
                      </a:r>
                    </a:p>
                  </a:txBody>
                  <a:tcPr marL="109728" marT="36576" marB="36576">
                    <a:solidFill>
                      <a:srgbClr val="4A2E4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Final activity text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Author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November 15, 2026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Illustrations delivered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Illustrator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January 31, 2027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Internal clinical review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Colleague OT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January 15, 2027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Publishing route chosen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Author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December 31, 2026</a:t>
                      </a:r>
                    </a:p>
                  </a:txBody>
                  <a:tcPr marL="109728" marT="27432" marB="27432">
                    <a:solidFill>
                      <a:srgbClr val="F5ECE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3A2B33"/>
                          </a:solidFill>
                          <a:latin typeface="Georgia"/>
                        </a:rPr>
                        <a:t>Manuscript assembled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Author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3A2B33"/>
                          </a:solidFill>
                          <a:latin typeface="Georgia"/>
                        </a:rPr>
                        <a:t>February 28, 2027</a:t>
                      </a:r>
                    </a:p>
                  </a:txBody>
                  <a:tcPr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B8A90"/>
                </a:solidFill>
                <a:latin typeface="Georgia"/>
              </a:rPr>
              <a:t>The Sensory Play Resource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2560320"/>
            <a:ext cx="85039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4A2E4D"/>
                </a:solidFill>
                <a:latin typeface="Georgia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3977639"/>
            <a:ext cx="8412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A2B33"/>
                </a:solidFill>
                <a:latin typeface="Georgia"/>
              </a:rPr>
              <a:t>Finish the draft, lock the route, and prepare for launch.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4A2E4D"/>
                </a:solidFill>
                <a:latin typeface="Georgia"/>
              </a:rPr>
              <a:t>Risks and how we manage them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10881360" cy="27432"/>
          </a:xfrm>
          <a:prstGeom prst="rect">
            <a:avLst/>
          </a:prstGeom>
          <a:solidFill>
            <a:srgbClr val="DFCD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2377440" cy="27432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A2E4D"/>
                </a:solidFill>
                <a:latin typeface="Georgia"/>
              </a:rPr>
              <a:t>Risks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148840"/>
            <a:ext cx="1188720" cy="45720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Writing time competes with a full caseload.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Illustration timeline runs into the new year.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Marketing effort for a self published title.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417320"/>
            <a:ext cx="521208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FC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600200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4A2E4D"/>
                </a:solidFill>
                <a:latin typeface="Georgia"/>
              </a:rPr>
              <a:t>How we manage them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7688" y="2148840"/>
            <a:ext cx="1188720" cy="45720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331720"/>
            <a:ext cx="46634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Protected evening writing blocks, three nights a week.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Batch delivery so art starts before the last chapter.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3A2B33"/>
                </a:solidFill>
                <a:latin typeface="Georgia"/>
              </a:rPr>
              <a:t>◆  Build a parent mailing list ahead of launch.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B8A90"/>
                </a:solidFill>
                <a:latin typeface="Georgia"/>
              </a:rPr>
              <a:t>The Sensory Play Resource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82296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Georgia"/>
              </a:rPr>
              <a:t>From practice to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7C9B4"/>
                </a:solidFill>
                <a:latin typeface="Georgia"/>
              </a:rPr>
              <a:t>◆  The content is proven in real sessions.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7C9B4"/>
                </a:solidFill>
                <a:latin typeface="Georgia"/>
              </a:rPr>
              <a:t>◆  The plan and budget are in place.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0" i="0">
                <a:solidFill>
                  <a:srgbClr val="E7C9B4"/>
                </a:solidFill>
                <a:latin typeface="Georgia"/>
              </a:rPr>
              <a:t>◆  A finished guide by the end of the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FFFFFF"/>
                </a:solidFill>
                <a:latin typeface="Georgia"/>
              </a:rPr>
              <a:t>Long Pediatric Therapy  |  3812 N 26th St, Suite 201, Tacoma, WA 98407  |  (253) 555-0133  |  jennifer@longpediatrictherapy.com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Sensory Play Resource Guide Publishing Plan</dc:title>
  <dc:subject>Publishing plan</dc:subject>
  <dc:creator>Jennifer Long</dc:creator>
  <cp:keywords/>
  <dc:description/>
  <cp:lastModifiedBy>Jennifer Long</cp:lastModifiedBy>
  <cp:revision>2</cp:revision>
  <dcterms:created xsi:type="dcterms:W3CDTF">2026-10-15T09:00:00Z</dcterms:created>
  <dcterms:modified xsi:type="dcterms:W3CDTF">2026-10-15T09:00:00Z</dcterms:modified>
  <cp:category/>
</cp:coreProperties>
</file>