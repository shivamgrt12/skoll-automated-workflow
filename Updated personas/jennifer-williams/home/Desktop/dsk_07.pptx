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in dollars</c:v>
                </c:pt>
              </c:strCache>
            </c:strRef>
          </c:tx>
          <c:spPr>
            <a:solidFill>
              <a:srgbClr val="C05B3B"/>
            </a:solidFill>
          </c:spPr>
          <c:cat>
            <c:strRef>
              <c:f>Sheet1!$A$2:$A$5</c:f>
              <c:strCache>
                <c:ptCount val="4"/>
                <c:pt idx="0">
                  <c:v>Cover stock</c:v>
                </c:pt>
                <c:pt idx="1">
                  <c:v>Interior pages</c:v>
                </c:pt>
                <c:pt idx="2">
                  <c:v>Staples</c:v>
                </c:pt>
                <c:pt idx="3">
                  <c:v>Shop listing fee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27.6</c:v>
                </c:pt>
                <c:pt idx="2">
                  <c:v>6.0</c:v>
                </c:pt>
                <c:pt idx="3">
                  <c:v>2.4</c:v>
                </c:pt>
              </c:numCache>
            </c:numRef>
          </c:val>
        </c:ser>
        <c:dLbls>
          <c:numFmt formatCode="&quot;$&quot;0.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B262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2194560" cy="109728"/>
          </a:xfrm>
          <a:prstGeom prst="rect">
            <a:avLst/>
          </a:prstGeom>
          <a:solidFill>
            <a:srgbClr val="6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B7A5A"/>
                </a:solidFill>
                <a:latin typeface="Calibri"/>
              </a:rPr>
              <a:t>THREAD &amp; BONE  /  ISSUE SEVEN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 i="0">
                <a:solidFill>
                  <a:srgbClr val="2B2622"/>
                </a:solidFill>
                <a:latin typeface="Georgia"/>
              </a:rPr>
              <a:t>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2B2622"/>
                </a:solidFill>
                <a:latin typeface="Georgia"/>
              </a:rPr>
              <a:t>A production and release plan for the fall quarterly zine.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377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6B7A5A"/>
                </a:solidFill>
                <a:latin typeface="Calibri"/>
              </a:rPr>
              <a:t>Editor and maker  </a:t>
            </a:r>
            <a:r>
              <a:rPr sz="1400" b="0" i="0">
                <a:solidFill>
                  <a:srgbClr val="2B2622"/>
                </a:solidFill>
                <a:latin typeface="Calibri"/>
              </a:rPr>
              <a:t>Jennifer Williams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6B7A5A"/>
                </a:solidFill>
                <a:latin typeface="Calibri"/>
              </a:rPr>
              <a:t>Target release  </a:t>
            </a:r>
            <a:r>
              <a:rPr sz="1400" b="0" i="0">
                <a:solidFill>
                  <a:srgbClr val="2B2622"/>
                </a:solidFill>
                <a:latin typeface="Calibri"/>
              </a:rPr>
              <a:t>November 2026, Fox Point, Providence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737360"/>
            <a:ext cx="2468880" cy="3108960"/>
          </a:xfrm>
          <a:prstGeom prst="rect">
            <a:avLst/>
          </a:prstGeom>
          <a:solidFill>
            <a:srgbClr val="E5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98280" y="1965960"/>
            <a:ext cx="2011680" cy="2651760"/>
          </a:xfrm>
          <a:prstGeom prst="rect">
            <a:avLst/>
          </a:prstGeom>
          <a:solidFill>
            <a:srgbClr val="F4EEE2"/>
          </a:solidFill>
          <a:ln w="19050">
            <a:solidFill>
              <a:srgbClr val="C05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283464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C05B3B"/>
                </a:solidFill>
                <a:latin typeface="Georgia"/>
              </a:rPr>
              <a:t>No.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A5A"/>
                </a:solidFill>
                <a:latin typeface="Consolas"/>
              </a:rPr>
              <a:t>01 / 12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A441"/>
                </a:solidFill>
                <a:latin typeface="Calibri"/>
              </a:rPr>
              <a:t>THE 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4EEE2"/>
                </a:solidFill>
                <a:latin typeface="Georgia"/>
              </a:rPr>
              <a:t>What we count, and what counts 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6400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F4EEE2"/>
                </a:solidFill>
                <a:latin typeface="Georgia"/>
              </a:rPr>
              <a:t>Inventory is the running tally we keep without meaning to. Money, hours, groceries, the small ledgers of a life. Issue Seven gathers poems and short prose that read the working day back to itself.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2926080"/>
            <a:ext cx="3749039" cy="658368"/>
          </a:xfrm>
          <a:prstGeom prst="rect">
            <a:avLst/>
          </a:prstGeom>
          <a:solidFill>
            <a:srgbClr val="3A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2926080"/>
            <a:ext cx="109728" cy="658368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926080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A441"/>
                </a:solidFill>
                <a:latin typeface="Calibri"/>
              </a:rPr>
              <a:t>Poems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926080"/>
            <a:ext cx="1645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F4EEE2"/>
                </a:solidFill>
                <a:latin typeface="Calibri"/>
              </a:rPr>
              <a:t>7 pieces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3703320"/>
            <a:ext cx="3749039" cy="658368"/>
          </a:xfrm>
          <a:prstGeom prst="rect">
            <a:avLst/>
          </a:prstGeom>
          <a:solidFill>
            <a:srgbClr val="3A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3703320"/>
            <a:ext cx="109728" cy="658368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703320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A441"/>
                </a:solidFill>
                <a:latin typeface="Calibri"/>
              </a:rPr>
              <a:t>Prose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703320"/>
            <a:ext cx="1645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F4EEE2"/>
                </a:solidFill>
                <a:latin typeface="Calibri"/>
              </a:rPr>
              <a:t>2 guest essays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4480560"/>
            <a:ext cx="3749039" cy="658368"/>
          </a:xfrm>
          <a:prstGeom prst="rect">
            <a:avLst/>
          </a:prstGeom>
          <a:solidFill>
            <a:srgbClr val="3A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4480560"/>
            <a:ext cx="109728" cy="658368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4480560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A441"/>
                </a:solidFill>
                <a:latin typeface="Calibri"/>
              </a:rPr>
              <a:t>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480560"/>
            <a:ext cx="1645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F4EEE2"/>
                </a:solidFill>
                <a:latin typeface="Calibri"/>
              </a:rPr>
              <a:t>20 interior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5257800"/>
            <a:ext cx="3749039" cy="658368"/>
          </a:xfrm>
          <a:prstGeom prst="rect">
            <a:avLst/>
          </a:prstGeom>
          <a:solidFill>
            <a:srgbClr val="3A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5257800"/>
            <a:ext cx="109728" cy="658368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5257800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A441"/>
                </a:solidFill>
                <a:latin typeface="Calibri"/>
              </a:rPr>
              <a:t>Copies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57800"/>
            <a:ext cx="1645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F4EEE2"/>
                </a:solidFill>
                <a:latin typeface="Calibri"/>
              </a:rPr>
              <a:t>60 print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D9A441"/>
                </a:solidFill>
                <a:latin typeface="Consolas"/>
              </a:rPr>
              <a:t>02 / 12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B2622"/>
                </a:solidFill>
                <a:latin typeface="Georgia"/>
              </a:rPr>
              <a:t>Contents,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10515600" cy="566928"/>
          </a:xfrm>
          <a:prstGeom prst="rect">
            <a:avLst/>
          </a:prstGeom>
          <a:solidFill>
            <a:srgbClr val="E5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05B3B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4592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622"/>
                </a:solidFill>
                <a:latin typeface="Calibri"/>
              </a:rPr>
              <a:t>Opening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A5A"/>
                </a:solidFill>
                <a:latin typeface="Calibri"/>
              </a:rPr>
              <a:t>Jennifer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622"/>
                </a:solidFill>
                <a:latin typeface="Calibri"/>
              </a:rPr>
              <a:t>Half page, written last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04288"/>
            <a:ext cx="10515600" cy="566928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05B3B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304288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622"/>
                </a:solidFill>
                <a:latin typeface="Calibri"/>
              </a:rPr>
              <a:t>Fox Point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304288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A5A"/>
                </a:solidFill>
                <a:latin typeface="Calibri"/>
              </a:rPr>
              <a:t>Jennifer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04288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622"/>
                </a:solidFill>
                <a:latin typeface="Calibri"/>
              </a:rPr>
              <a:t>Lead poem, full 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962656"/>
            <a:ext cx="10515600" cy="566928"/>
          </a:xfrm>
          <a:prstGeom prst="rect">
            <a:avLst/>
          </a:prstGeom>
          <a:solidFill>
            <a:srgbClr val="E5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962656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05B3B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962656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622"/>
                </a:solidFill>
                <a:latin typeface="Calibri"/>
              </a:rPr>
              <a:t>Three short poems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962656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A5A"/>
                </a:solidFill>
                <a:latin typeface="Calibri"/>
              </a:rPr>
              <a:t>Dex Morales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962656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622"/>
                </a:solidFill>
                <a:latin typeface="Calibri"/>
              </a:rPr>
              <a:t>Solicited, due Oct 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621024"/>
            <a:ext cx="10515600" cy="566928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21024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05B3B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621024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622"/>
                </a:solidFill>
                <a:latin typeface="Calibri"/>
              </a:rPr>
              <a:t>What the Tip Jar Knows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621024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A5A"/>
                </a:solidFill>
                <a:latin typeface="Calibri"/>
              </a:rPr>
              <a:t>Jennifer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621024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622"/>
                </a:solidFill>
                <a:latin typeface="Calibri"/>
              </a:rPr>
              <a:t>Pairs with the cover image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279392"/>
            <a:ext cx="10515600" cy="566928"/>
          </a:xfrm>
          <a:prstGeom prst="rect">
            <a:avLst/>
          </a:prstGeom>
          <a:solidFill>
            <a:srgbClr val="E5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279392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05B3B"/>
                </a:solidFill>
                <a:latin typeface="Georg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279392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622"/>
                </a:solidFill>
                <a:latin typeface="Calibri"/>
              </a:rPr>
              <a:t>Guest essay, on thrift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279392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A5A"/>
                </a:solidFill>
                <a:latin typeface="Calibri"/>
              </a:rPr>
              <a:t>Nia Okafor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279392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622"/>
                </a:solidFill>
                <a:latin typeface="Calibri"/>
              </a:rPr>
              <a:t>800 words, first contributor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937760"/>
            <a:ext cx="10515600" cy="566928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937760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05B3B"/>
                </a:solidFill>
                <a:latin typeface="Georgia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93776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622"/>
                </a:solidFill>
                <a:latin typeface="Calibri"/>
              </a:rPr>
              <a:t>Found poem from a receipt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93776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A5A"/>
                </a:solidFill>
                <a:latin typeface="Calibri"/>
              </a:rPr>
              <a:t>Jennifer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937760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622"/>
                </a:solidFill>
                <a:latin typeface="Calibri"/>
              </a:rPr>
              <a:t>Visual piece, scanned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596128"/>
            <a:ext cx="10515600" cy="566928"/>
          </a:xfrm>
          <a:prstGeom prst="rect">
            <a:avLst/>
          </a:prstGeom>
          <a:solidFill>
            <a:srgbClr val="E5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59612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05B3B"/>
                </a:solidFill>
                <a:latin typeface="Georgia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5596128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B2622"/>
                </a:solidFill>
                <a:latin typeface="Calibri"/>
              </a:rPr>
              <a:t>Back cover, colophon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5596128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A5A"/>
                </a:solidFill>
                <a:latin typeface="Calibri"/>
              </a:rPr>
              <a:t>Jennifer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596128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2B2622"/>
                </a:solidFill>
                <a:latin typeface="Calibri"/>
              </a:rPr>
              <a:t>Pricing and credits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A5A"/>
                </a:solidFill>
                <a:latin typeface="Consolas"/>
              </a:rPr>
              <a:t>03 / 12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4EEE2"/>
                </a:solidFill>
                <a:latin typeface="Georgia"/>
              </a:rPr>
              <a:t>Production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828800"/>
            <a:ext cx="54864" cy="4206240"/>
          </a:xfrm>
          <a:prstGeom prst="rect">
            <a:avLst/>
          </a:prstGeom>
          <a:solidFill>
            <a:srgbClr val="6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" y="1828800"/>
            <a:ext cx="384048" cy="384048"/>
          </a:xfrm>
          <a:prstGeom prst="ellipse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9A441"/>
                </a:solidFill>
                <a:latin typeface="Calibri"/>
              </a:rPr>
              <a:t>Oct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783080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4EEE2"/>
                </a:solidFill>
                <a:latin typeface="Calibri"/>
              </a:rPr>
              <a:t>Solicit contributor pieces, set Oct 20 deadline</a:t>
            </a:r>
          </a:p>
        </p:txBody>
      </p:sp>
      <p:sp>
        <p:nvSpPr>
          <p:cNvPr id="8" name="Oval 7"/>
          <p:cNvSpPr/>
          <p:nvPr/>
        </p:nvSpPr>
        <p:spPr>
          <a:xfrm>
            <a:off x="1115568" y="2542032"/>
            <a:ext cx="384048" cy="384048"/>
          </a:xfrm>
          <a:prstGeom prst="ellipse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496312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9A441"/>
                </a:solidFill>
                <a:latin typeface="Calibri"/>
              </a:rPr>
              <a:t>Oct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96312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4EEE2"/>
                </a:solidFill>
                <a:latin typeface="Calibri"/>
              </a:rPr>
              <a:t>Full draft assembled in the layout app</a:t>
            </a:r>
          </a:p>
        </p:txBody>
      </p:sp>
      <p:sp>
        <p:nvSpPr>
          <p:cNvPr id="11" name="Oval 10"/>
          <p:cNvSpPr/>
          <p:nvPr/>
        </p:nvSpPr>
        <p:spPr>
          <a:xfrm>
            <a:off x="1115568" y="3255264"/>
            <a:ext cx="384048" cy="384048"/>
          </a:xfrm>
          <a:prstGeom prst="ellipse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209544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9A441"/>
                </a:solidFill>
                <a:latin typeface="Calibri"/>
              </a:rPr>
              <a:t>Oct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209544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4EEE2"/>
                </a:solidFill>
                <a:latin typeface="Calibri"/>
              </a:rPr>
              <a:t>Proof printed, read aloud with Dex over coffee</a:t>
            </a:r>
          </a:p>
        </p:txBody>
      </p:sp>
      <p:sp>
        <p:nvSpPr>
          <p:cNvPr id="14" name="Oval 13"/>
          <p:cNvSpPr/>
          <p:nvPr/>
        </p:nvSpPr>
        <p:spPr>
          <a:xfrm>
            <a:off x="1115568" y="3968496"/>
            <a:ext cx="384048" cy="384048"/>
          </a:xfrm>
          <a:prstGeom prst="ellipse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392277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9A441"/>
                </a:solidFill>
                <a:latin typeface="Calibri"/>
              </a:rPr>
              <a:t>Nov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922776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4EEE2"/>
                </a:solidFill>
                <a:latin typeface="Calibri"/>
              </a:rPr>
              <a:t>Corrections, final export to a print file</a:t>
            </a:r>
          </a:p>
        </p:txBody>
      </p:sp>
      <p:sp>
        <p:nvSpPr>
          <p:cNvPr id="17" name="Oval 16"/>
          <p:cNvSpPr/>
          <p:nvPr/>
        </p:nvSpPr>
        <p:spPr>
          <a:xfrm>
            <a:off x="1115568" y="4681728"/>
            <a:ext cx="384048" cy="384048"/>
          </a:xfrm>
          <a:prstGeom prst="ellipse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636008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9A441"/>
                </a:solidFill>
                <a:latin typeface="Calibri"/>
              </a:rPr>
              <a:t>Nov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63600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4EEE2"/>
                </a:solidFill>
                <a:latin typeface="Calibri"/>
              </a:rPr>
              <a:t>Print run of 60 copies at Fox Point Copy</a:t>
            </a:r>
          </a:p>
        </p:txBody>
      </p:sp>
      <p:sp>
        <p:nvSpPr>
          <p:cNvPr id="20" name="Oval 19"/>
          <p:cNvSpPr/>
          <p:nvPr/>
        </p:nvSpPr>
        <p:spPr>
          <a:xfrm>
            <a:off x="1115568" y="5394960"/>
            <a:ext cx="384048" cy="384048"/>
          </a:xfrm>
          <a:prstGeom prst="ellipse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534924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9A441"/>
                </a:solidFill>
                <a:latin typeface="Calibri"/>
              </a:rPr>
              <a:t>Nov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349240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4EEE2"/>
                </a:solidFill>
                <a:latin typeface="Calibri"/>
              </a:rPr>
              <a:t>Release, drop at two shops, list on the shop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D9A441"/>
                </a:solidFill>
                <a:latin typeface="Consolas"/>
              </a:rPr>
              <a:t>04 / 12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B2622"/>
                </a:solidFill>
                <a:latin typeface="Georgia"/>
              </a:rPr>
              <a:t>Print run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6B7A5A"/>
                </a:solidFill>
                <a:latin typeface="Georgia"/>
              </a:rPr>
              <a:t>60 copies. Total cost 54 dollars, about 0.90 per copy.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2011680"/>
          <a:ext cx="67665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2103120"/>
            <a:ext cx="3383280" cy="658368"/>
          </a:xfrm>
          <a:prstGeom prst="rect">
            <a:avLst/>
          </a:prstGeom>
          <a:solidFill>
            <a:srgbClr val="E5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2103120"/>
            <a:ext cx="91440" cy="658368"/>
          </a:xfrm>
          <a:prstGeom prst="rect">
            <a:avLst/>
          </a:prstGeom>
          <a:solidFill>
            <a:srgbClr val="6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9" y="2103120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B2622"/>
                </a:solidFill>
                <a:latin typeface="Calibri"/>
              </a:rPr>
              <a:t>Total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9" y="2103120"/>
            <a:ext cx="1371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C05B3B"/>
                </a:solidFill>
                <a:latin typeface="Georgia"/>
              </a:rPr>
              <a:t>$54.00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889504"/>
            <a:ext cx="3383280" cy="658368"/>
          </a:xfrm>
          <a:prstGeom prst="rect">
            <a:avLst/>
          </a:prstGeom>
          <a:solidFill>
            <a:srgbClr val="E5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2889504"/>
            <a:ext cx="91440" cy="658368"/>
          </a:xfrm>
          <a:prstGeom prst="rect">
            <a:avLst/>
          </a:prstGeom>
          <a:solidFill>
            <a:srgbClr val="6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2889504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B2622"/>
                </a:solidFill>
                <a:latin typeface="Calibri"/>
              </a:rPr>
              <a:t>Cost per copy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79" y="2889504"/>
            <a:ext cx="1371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C05B3B"/>
                </a:solidFill>
                <a:latin typeface="Georgia"/>
              </a:rPr>
              <a:t>$0.90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3675888"/>
            <a:ext cx="3383280" cy="658368"/>
          </a:xfrm>
          <a:prstGeom prst="rect">
            <a:avLst/>
          </a:prstGeom>
          <a:solidFill>
            <a:srgbClr val="E5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3675888"/>
            <a:ext cx="91440" cy="658368"/>
          </a:xfrm>
          <a:prstGeom prst="rect">
            <a:avLst/>
          </a:prstGeom>
          <a:solidFill>
            <a:srgbClr val="6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3675888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B2622"/>
                </a:solidFill>
                <a:latin typeface="Calibri"/>
              </a:rPr>
              <a:t>Retail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79" y="3675888"/>
            <a:ext cx="1371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C05B3B"/>
                </a:solidFill>
                <a:latin typeface="Georgia"/>
              </a:rPr>
              <a:t>$8.00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4462272"/>
            <a:ext cx="3383280" cy="658368"/>
          </a:xfrm>
          <a:prstGeom prst="rect">
            <a:avLst/>
          </a:prstGeom>
          <a:solidFill>
            <a:srgbClr val="E5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4462272"/>
            <a:ext cx="91440" cy="658368"/>
          </a:xfrm>
          <a:prstGeom prst="rect">
            <a:avLst/>
          </a:prstGeom>
          <a:solidFill>
            <a:srgbClr val="6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4462272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B2622"/>
                </a:solidFill>
                <a:latin typeface="Calibri"/>
              </a:rPr>
              <a:t>Margin per copy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79" y="4462272"/>
            <a:ext cx="1371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C05B3B"/>
                </a:solidFill>
                <a:latin typeface="Georgia"/>
              </a:rPr>
              <a:t>$7.10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5248656"/>
            <a:ext cx="3383280" cy="658368"/>
          </a:xfrm>
          <a:prstGeom prst="rect">
            <a:avLst/>
          </a:prstGeom>
          <a:solidFill>
            <a:srgbClr val="E5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5248656"/>
            <a:ext cx="91440" cy="658368"/>
          </a:xfrm>
          <a:prstGeom prst="rect">
            <a:avLst/>
          </a:prstGeom>
          <a:solidFill>
            <a:srgbClr val="6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5248656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B2622"/>
                </a:solidFill>
                <a:latin typeface="Calibri"/>
              </a:rPr>
              <a:t>Break even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9" y="5248656"/>
            <a:ext cx="1371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C05B3B"/>
                </a:solidFill>
                <a:latin typeface="Georgia"/>
              </a:rPr>
              <a:t>7 copies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A5A"/>
                </a:solidFill>
                <a:latin typeface="Consolas"/>
              </a:rPr>
              <a:t>05 / 12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4EEE2"/>
                </a:solidFill>
                <a:latin typeface="Georgia"/>
              </a:rPr>
              <a:t>Where the copies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5120640" cy="192024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5120640" cy="128016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5740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B2622"/>
                </a:solidFill>
                <a:latin typeface="Georgia"/>
              </a:rPr>
              <a:t>Symposium 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974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05B3B"/>
                </a:solidFill>
                <a:latin typeface="Calibri"/>
              </a:rPr>
              <a:t>Consignment, 12 copies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1089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55049"/>
                </a:solidFill>
                <a:latin typeface="Calibri"/>
              </a:rPr>
              <a:t>Thayer Street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120640" cy="192024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120640" cy="128016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5740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B2622"/>
                </a:solidFill>
                <a:latin typeface="Georgia"/>
              </a:rPr>
              <a:t>Books on the Square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974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05B3B"/>
                </a:solidFill>
                <a:latin typeface="Calibri"/>
              </a:rPr>
              <a:t>Consignment, 12 copies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089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55049"/>
                </a:solidFill>
                <a:latin typeface="Calibri"/>
              </a:rPr>
              <a:t>Wayland Square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31920"/>
            <a:ext cx="5120640" cy="192024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931920"/>
            <a:ext cx="5120640" cy="128016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25196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B2622"/>
                </a:solidFill>
                <a:latin typeface="Georgia"/>
              </a:rPr>
              <a:t>The shop online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89204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05B3B"/>
                </a:solidFill>
                <a:latin typeface="Calibri"/>
              </a:rPr>
              <a:t>Listed at 8 dollars 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035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55049"/>
                </a:solidFill>
                <a:latin typeface="Calibri"/>
              </a:rPr>
              <a:t>Ships in a padded mailer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5120640" cy="192024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931920"/>
            <a:ext cx="5120640" cy="128016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25196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B2622"/>
                </a:solidFill>
                <a:latin typeface="Georgia"/>
              </a:rPr>
              <a:t>Open mic, Alchemy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89204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05B3B"/>
                </a:solidFill>
                <a:latin typeface="Calibri"/>
              </a:rPr>
              <a:t>Sold from the tote, 5 dollars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3035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55049"/>
                </a:solidFill>
                <a:latin typeface="Calibri"/>
              </a:rPr>
              <a:t>Exact change to the tin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4EEE2"/>
                </a:solidFill>
                <a:latin typeface="Consolas"/>
              </a:rPr>
              <a:t>06 / 12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B2622"/>
                </a:solidFill>
                <a:latin typeface="Georgia"/>
              </a:rPr>
              <a:t>The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4206240" cy="4206240"/>
          </a:xfrm>
          <a:prstGeom prst="rect">
            <a:avLst/>
          </a:prstGeom>
          <a:solidFill>
            <a:srgbClr val="E5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2057400"/>
            <a:ext cx="3566160" cy="3566160"/>
          </a:xfrm>
          <a:prstGeom prst="rect">
            <a:avLst/>
          </a:prstGeom>
          <a:solidFill>
            <a:srgbClr val="F4EEE2"/>
          </a:solidFill>
          <a:ln w="15875">
            <a:solidFill>
              <a:srgbClr val="2B26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108960"/>
            <a:ext cx="3566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C05B3B"/>
                </a:solidFill>
                <a:latin typeface="Georgia"/>
              </a:rPr>
              <a:t>THREAD</a:t>
            </a:r>
          </a:p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C05B3B"/>
                </a:solidFill>
                <a:latin typeface="Georgia"/>
              </a:rPr>
              <a:t>&amp; BONE</a:t>
            </a:r>
          </a:p>
          <a:p>
            <a:pPr algn="ctr">
              <a:spcAft>
                <a:spcPts val="200"/>
              </a:spcAft>
            </a:pPr>
            <a:r>
              <a:rPr sz="1600" b="0" i="1">
                <a:solidFill>
                  <a:srgbClr val="6B7A5A"/>
                </a:solidFill>
                <a:latin typeface="Georgia"/>
              </a:rPr>
              <a:t>no. seven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828800"/>
            <a:ext cx="5852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 i="0">
                <a:solidFill>
                  <a:srgbClr val="6B7A5A"/>
                </a:solidFill>
                <a:latin typeface="Calibri"/>
              </a:rPr>
              <a:t>Direction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2B2622"/>
                </a:solidFill>
                <a:latin typeface="Georgia"/>
              </a:rPr>
              <a:t>A found-object still life, a receipt tape unspooling into a list of small numbers. Warm paper stock, one spot color pulled from the terracotta of the mug rail at work.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 i="0">
                <a:solidFill>
                  <a:srgbClr val="6B7A5A"/>
                </a:solidFill>
                <a:latin typeface="Calibri"/>
              </a:rPr>
              <a:t>Type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2B2622"/>
                </a:solidFill>
                <a:latin typeface="Georgia"/>
              </a:rPr>
              <a:t>Hand-set title, letterpress feel, kept rough on purpose so it looks made and not printed.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 i="0">
                <a:solidFill>
                  <a:srgbClr val="6B7A5A"/>
                </a:solidFill>
                <a:latin typeface="Calibri"/>
              </a:rPr>
              <a:t>Paper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2B2622"/>
                </a:solidFill>
                <a:latin typeface="Georgia"/>
              </a:rPr>
              <a:t>Card weight cover, uncoated. It should take a thumbprint and keep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A5A"/>
                </a:solidFill>
                <a:latin typeface="Consolas"/>
              </a:rPr>
              <a:t>07 / 12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A441"/>
                </a:solidFill>
                <a:latin typeface="Calibri"/>
              </a:rPr>
              <a:t>RELEASE 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4EEE2"/>
                </a:solidFill>
                <a:latin typeface="Georgia"/>
              </a:rPr>
              <a:t>A small room, a full tote, exact change.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715768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441"/>
                </a:solidFill>
                <a:latin typeface="Calibri"/>
              </a:rPr>
              <a:t>Doors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715768"/>
            <a:ext cx="7498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4EEE2"/>
                </a:solidFill>
                <a:latin typeface="Georgia"/>
              </a:rPr>
              <a:t>6:30 PM, coffee and the good cheap beer at the counter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84448"/>
            <a:ext cx="457200" cy="457200"/>
          </a:xfrm>
          <a:prstGeom prst="ellipse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557016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441"/>
                </a:solidFill>
                <a:latin typeface="Calibri"/>
              </a:rPr>
              <a:t>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557016"/>
            <a:ext cx="7498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4EEE2"/>
                </a:solidFill>
                <a:latin typeface="Georgia"/>
              </a:rPr>
              <a:t>7:30 PM, four contributors read one piece each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425696"/>
            <a:ext cx="457200" cy="457200"/>
          </a:xfrm>
          <a:prstGeom prst="ellipse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398264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441"/>
                </a:solidFill>
                <a:latin typeface="Calibri"/>
              </a:rPr>
              <a:t>The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398264"/>
            <a:ext cx="7498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4EEE2"/>
                </a:solidFill>
                <a:latin typeface="Georgia"/>
              </a:rPr>
              <a:t>Copies, back issues, a jar for the tin, a sign-up sheet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266944"/>
            <a:ext cx="457200" cy="457200"/>
          </a:xfrm>
          <a:prstGeom prst="ellipse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239512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441"/>
                </a:solidFill>
                <a:latin typeface="Calibri"/>
              </a:rPr>
              <a:t>The 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239512"/>
            <a:ext cx="749807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4EEE2"/>
                </a:solidFill>
                <a:latin typeface="Georgia"/>
              </a:rPr>
              <a:t>Buy a zine, take a flyer, come to the next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D9A441"/>
                </a:solidFill>
                <a:latin typeface="Consolas"/>
              </a:rPr>
              <a:t>08 / 12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B2622"/>
                </a:solidFill>
                <a:latin typeface="Georgia"/>
              </a:rPr>
              <a:t>Getting the word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33832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3383280" cy="822960"/>
          </a:xfrm>
          <a:prstGeom prst="rect">
            <a:avLst/>
          </a:prstGeom>
          <a:solidFill>
            <a:srgbClr val="6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2834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Two weeks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B2622"/>
                </a:solidFill>
                <a:latin typeface="Georgia"/>
              </a:rPr>
              <a:t>Newsletter teaser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2834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44038"/>
                </a:solidFill>
                <a:latin typeface="Calibri"/>
              </a:rPr>
              <a:t>A single poem from the issue, plus the date and the two shops.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828800"/>
            <a:ext cx="33832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3383280" cy="822960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965960"/>
            <a:ext cx="2834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Release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4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B2622"/>
                </a:solidFill>
                <a:latin typeface="Georgia"/>
              </a:rPr>
              <a:t>Newsletter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611880"/>
            <a:ext cx="2834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44038"/>
                </a:solidFill>
                <a:latin typeface="Calibri"/>
              </a:rPr>
              <a:t>Cover reveal, buy links, and the open mic invite.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3832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383280" cy="82296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65960"/>
            <a:ext cx="2834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B2622"/>
                </a:solidFill>
                <a:latin typeface="Georgia"/>
              </a:rPr>
              <a:t>Back-issue nudge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611880"/>
            <a:ext cx="2834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44038"/>
                </a:solidFill>
                <a:latin typeface="Calibri"/>
              </a:rPr>
              <a:t>Bundle No. 5 to 7, ship anywhere, thank the readers.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A5A"/>
                </a:solidFill>
                <a:latin typeface="Consolas"/>
              </a:rPr>
              <a:t>09 / 12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D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B2622"/>
                </a:solidFill>
                <a:latin typeface="Georgia"/>
              </a:rPr>
              <a:t>What could slip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0515600" cy="86868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28016" cy="868680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47088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B2622"/>
                </a:solidFill>
                <a:latin typeface="Calibri"/>
              </a:rPr>
              <a:t>Contributor pieces 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737360"/>
            <a:ext cx="5852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55049"/>
                </a:solidFill>
                <a:latin typeface="Calibri"/>
              </a:rPr>
              <a:t>Hard deadline Oct 20, hold two backup poems from the drawer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10515600" cy="86868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88920"/>
            <a:ext cx="128016" cy="868680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898648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B2622"/>
                </a:solidFill>
                <a:latin typeface="Calibri"/>
              </a:rPr>
              <a:t>Printer backlog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788920"/>
            <a:ext cx="5852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55049"/>
                </a:solidFill>
                <a:latin typeface="Calibri"/>
              </a:rPr>
              <a:t>Book the Nov 6 run now, ask for a firm pickup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40480"/>
            <a:ext cx="10515600" cy="86868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840480"/>
            <a:ext cx="128016" cy="868680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950208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B2622"/>
                </a:solidFill>
                <a:latin typeface="Calibri"/>
              </a:rPr>
              <a:t>Budget creep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840480"/>
            <a:ext cx="5852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55049"/>
                </a:solidFill>
                <a:latin typeface="Calibri"/>
              </a:rPr>
              <a:t>Cap at the 30 dollar zine line plus carryover, no color interior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892040"/>
            <a:ext cx="10515600" cy="86868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892040"/>
            <a:ext cx="128016" cy="868680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01768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B2622"/>
                </a:solidFill>
                <a:latin typeface="Calibri"/>
              </a:rPr>
              <a:t>Thin turnout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892040"/>
            <a:ext cx="5852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55049"/>
                </a:solidFill>
                <a:latin typeface="Calibri"/>
              </a:rPr>
              <a:t>Cross-post the open mic, text the regulars, bring Reese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A5A"/>
                </a:solidFill>
                <a:latin typeface="Consolas"/>
              </a:rPr>
              <a:t>10 / 12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4EEE2"/>
                </a:solidFill>
                <a:latin typeface="Georgia"/>
              </a:rPr>
              <a:t>The numbers that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3383280" cy="1828800"/>
          </a:xfrm>
          <a:prstGeom prst="rect">
            <a:avLst/>
          </a:prstGeom>
          <a:solidFill>
            <a:srgbClr val="26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3730752"/>
            <a:ext cx="338328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D9A441"/>
                </a:solidFill>
                <a:latin typeface="Georgia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F4EEE2"/>
                </a:solidFill>
                <a:latin typeface="Calibri"/>
              </a:rPr>
              <a:t>copies printed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920240"/>
            <a:ext cx="3383280" cy="1828800"/>
          </a:xfrm>
          <a:prstGeom prst="rect">
            <a:avLst/>
          </a:prstGeom>
          <a:solidFill>
            <a:srgbClr val="26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3730752"/>
            <a:ext cx="338328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D9A441"/>
                </a:solidFill>
                <a:latin typeface="Georgia"/>
              </a:rPr>
              <a:t>$8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1546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F4EEE2"/>
                </a:solidFill>
                <a:latin typeface="Calibri"/>
              </a:rPr>
              <a:t>retail price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920240"/>
            <a:ext cx="3383280" cy="1828800"/>
          </a:xfrm>
          <a:prstGeom prst="rect">
            <a:avLst/>
          </a:prstGeom>
          <a:solidFill>
            <a:srgbClr val="26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3730752"/>
            <a:ext cx="338328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10312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D9A441"/>
                </a:solidFill>
                <a:latin typeface="Georgia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1546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F4EEE2"/>
                </a:solidFill>
                <a:latin typeface="Calibri"/>
              </a:rPr>
              <a:t>copies to break even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23360"/>
            <a:ext cx="3383280" cy="1828800"/>
          </a:xfrm>
          <a:prstGeom prst="rect">
            <a:avLst/>
          </a:prstGeom>
          <a:solidFill>
            <a:srgbClr val="26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833872"/>
            <a:ext cx="338328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D9A441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578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F4EEE2"/>
                </a:solidFill>
                <a:latin typeface="Calibri"/>
              </a:rPr>
              <a:t>shops on consignment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3383280" cy="1828800"/>
          </a:xfrm>
          <a:prstGeom prst="rect">
            <a:avLst/>
          </a:prstGeom>
          <a:solidFill>
            <a:srgbClr val="26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5833872"/>
            <a:ext cx="338328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2062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D9A441"/>
                </a:solidFill>
                <a:latin typeface="Georgia"/>
              </a:rPr>
              <a:t>$54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2578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F4EEE2"/>
                </a:solidFill>
                <a:latin typeface="Calibri"/>
              </a:rPr>
              <a:t>total print 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4023360"/>
            <a:ext cx="3383280" cy="1828800"/>
          </a:xfrm>
          <a:prstGeom prst="rect">
            <a:avLst/>
          </a:prstGeom>
          <a:solidFill>
            <a:srgbClr val="26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5833872"/>
            <a:ext cx="338328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42062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D9A441"/>
                </a:solidFill>
                <a:latin typeface="Georgia"/>
              </a:rPr>
              <a:t>Nov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2578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F4EEE2"/>
                </a:solidFill>
                <a:latin typeface="Calibri"/>
              </a:rPr>
              <a:t>release 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D9A441"/>
                </a:solidFill>
                <a:latin typeface="Consolas"/>
              </a:rPr>
              <a:t>11 / 12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5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4EEE2"/>
                </a:solidFill>
                <a:latin typeface="Georgia"/>
              </a:rPr>
              <a:t>Keep poetry free at the counter.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49039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F4EEE2"/>
                </a:solidFill>
                <a:latin typeface="Georgia"/>
              </a:rPr>
              <a:t>Print small, sell cheap, read it out loud, do it again in the spring.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937760"/>
            <a:ext cx="2194560" cy="91440"/>
          </a:xfrm>
          <a:prstGeom prst="rect">
            <a:avLst/>
          </a:prstGeom>
          <a:solidFill>
            <a:srgbClr val="F4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4EEE2"/>
                </a:solidFill>
                <a:latin typeface="Calibri"/>
              </a:rPr>
              <a:t>Thread &amp; Bone  /  a quarterly poetry zine  /  Providence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4EEE2"/>
                </a:solidFill>
                <a:latin typeface="Consolas"/>
              </a:rPr>
              <a:t>12 / 12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