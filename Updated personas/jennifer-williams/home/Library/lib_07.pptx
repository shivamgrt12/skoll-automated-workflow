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C9A24B"/>
              </a:solidFill>
            </c:spPr>
          </c:dPt>
          <c:dPt>
            <c:idx val="1"/>
            <c:spPr>
              <a:solidFill>
                <a:srgbClr val="E0C079"/>
              </a:solidFill>
            </c:spPr>
          </c:dPt>
          <c:dPt>
            <c:idx val="2"/>
            <c:spPr>
              <a:solidFill>
                <a:srgbClr val="3C4A63"/>
              </a:solidFill>
            </c:spPr>
          </c:dPt>
          <c:dPt>
            <c:idx val="3"/>
            <c:spPr>
              <a:solidFill>
                <a:srgbClr val="5A6B86"/>
              </a:solidFill>
            </c:spPr>
          </c:dPt>
          <c:dPt>
            <c:idx val="4"/>
            <c:spPr>
              <a:solidFill>
                <a:srgbClr val="8894AC"/>
              </a:solidFill>
            </c:spPr>
          </c:dPt>
          <c:cat>
            <c:strRef>
              <c:f>Sheet1!$A$2:$A$6</c:f>
              <c:strCache>
                <c:ptCount val="5"/>
                <c:pt idx="0">
                  <c:v>Artist time</c:v>
                </c:pt>
                <c:pt idx="1">
                  <c:v>Reader honoraria</c:v>
                </c:pt>
                <c:pt idx="2">
                  <c:v>Printing</c:v>
                </c:pt>
                <c:pt idx="3">
                  <c:v>Submission fees</c:v>
                </c:pt>
                <c:pt idx="4">
                  <c:v>Materials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750</c:v>
                </c:pt>
                <c:pt idx="1">
                  <c:v>300</c:v>
                </c:pt>
                <c:pt idx="2">
                  <c:v>240</c:v>
                </c:pt>
                <c:pt idx="3">
                  <c:v>120</c:v>
                </c:pt>
                <c:pt idx="4">
                  <c:v>90</c:v>
                </c:pt>
              </c:numCache>
            </c:numRef>
          </c:val>
        </c:ser>
        <c:dLbls>
          <c:numFmt formatCode="0%" sourceLinked="0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200">
          <a:solidFill>
            <a:srgbClr val="F7F5E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1828800" cy="914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A24B"/>
                </a:solidFill>
                <a:latin typeface="Calibri"/>
              </a:rPr>
              <a:t>PROJECT GRANT FOR INDIVIDUALS  /  LITERARY 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0" i="0">
                <a:solidFill>
                  <a:srgbClr val="F7F5EF"/>
                </a:solidFill>
                <a:latin typeface="Georgia"/>
              </a:rPr>
              <a:t>Poetry, Free at the</a:t>
            </a:r>
          </a:p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7F5EF"/>
                </a:solidFill>
                <a:latin typeface="Georgia"/>
              </a:rPr>
              <a:t>Point of 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C7D0E0"/>
                </a:solidFill>
                <a:latin typeface="Georgia"/>
              </a:rPr>
              <a:t>A neighborhood reading series and two free zine editions in Fox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89320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A24B"/>
                </a:solidFill>
                <a:latin typeface="Calibri"/>
              </a:rPr>
              <a:t>Applicant  </a:t>
            </a:r>
            <a:r>
              <a:rPr sz="1300" b="0" i="0">
                <a:solidFill>
                  <a:srgbClr val="F7F5EF"/>
                </a:solidFill>
                <a:latin typeface="Calibri"/>
              </a:rPr>
              <a:t>Jennifer Avery Williams</a:t>
            </a:r>
            <a:r>
              <a:rPr sz="1300" b="1" i="0">
                <a:solidFill>
                  <a:srgbClr val="C9A24B"/>
                </a:solidFill>
                <a:latin typeface="Calibri"/>
              </a:rPr>
              <a:t>      Amount requested  </a:t>
            </a:r>
            <a:r>
              <a:rPr sz="1300" b="0" i="0">
                <a:solidFill>
                  <a:srgbClr val="F7F5EF"/>
                </a:solidFill>
                <a:latin typeface="Calibri"/>
              </a:rPr>
              <a:t>$1,500</a:t>
            </a:r>
            <a:r>
              <a:rPr sz="1300" b="1" i="0">
                <a:solidFill>
                  <a:srgbClr val="C9A24B"/>
                </a:solidFill>
                <a:latin typeface="Calibri"/>
              </a:rPr>
              <a:t>      Submitted  </a:t>
            </a:r>
            <a:r>
              <a:rPr sz="1300" b="0" i="0">
                <a:solidFill>
                  <a:srgbClr val="F7F5EF"/>
                </a:solidFill>
                <a:latin typeface="Calibri"/>
              </a:rPr>
              <a:t>October 16,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9A24B"/>
                </a:solidFill>
                <a:latin typeface="Consolas"/>
              </a:rPr>
              <a:t>01 / 12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3017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 i="1">
                <a:solidFill>
                  <a:srgbClr val="C9A24B"/>
                </a:solidFill>
                <a:latin typeface="Georgia"/>
              </a:rPr>
              <a:t>The</a:t>
            </a:r>
          </a:p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7F5EF"/>
                </a:solidFill>
                <a:latin typeface="Georgia"/>
              </a:rPr>
              <a:t>Applicant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3108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9A24B"/>
                </a:solidFill>
                <a:latin typeface="Calibri"/>
              </a:rPr>
              <a:t>Poet and barista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7D0E0"/>
                </a:solidFill>
                <a:latin typeface="Calibri"/>
              </a:rPr>
              <a:t>Providence, Rhode Island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F7F5E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7D0E0"/>
                </a:solidFill>
                <a:latin typeface="Calibri"/>
              </a:rPr>
              <a:t>Narragansett Bay College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6B86"/>
                </a:solidFill>
                <a:latin typeface="Calibri"/>
              </a:rPr>
              <a:t>BA English, honors,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822960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Artist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69494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0" i="0">
                <a:solidFill>
                  <a:srgbClr val="14203A"/>
                </a:solidFill>
                <a:latin typeface="Georgia"/>
              </a:rPr>
              <a:t>I am a poet and barista. I treat language as material with weight and texture, and I write about the small ledgers of an ordinary working life.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0" i="0">
                <a:solidFill>
                  <a:srgbClr val="14203A"/>
                </a:solidFill>
                <a:latin typeface="Georgia"/>
              </a:rPr>
              <a:t>I publish in small magazines, most recently Poetry Northwest, and I believe the work belongs close to the people who live it, on open mic stages and in stapled zines, not only in subscription journals.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0" i="1">
                <a:solidFill>
                  <a:srgbClr val="3C4A63"/>
                </a:solidFill>
                <a:latin typeface="Georgia"/>
              </a:rPr>
              <a:t>This project keeps that work free where a five dollar cover or a journal price would otherwise stand in the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86"/>
                </a:solidFill>
                <a:latin typeface="Consolas"/>
              </a:rPr>
              <a:t>02 / 12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7F5EF"/>
                </a:solidFill>
                <a:latin typeface="Georgia"/>
              </a:rPr>
              <a:t>Why this, why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3383280" cy="4206240"/>
          </a:xfrm>
          <a:prstGeom prst="rect">
            <a:avLst/>
          </a:prstGeom>
          <a:solidFill>
            <a:srgbClr val="223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3383280" cy="1097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A24B"/>
                </a:solidFill>
                <a:latin typeface="Georgia"/>
              </a:rPr>
              <a:t>Working neighborhood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00400"/>
            <a:ext cx="2788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D8DEEA"/>
                </a:solidFill>
                <a:latin typeface="Calibri"/>
              </a:rPr>
              <a:t>Fox Point is mixed income and largely renting. A journal subscription is a luxury, a stapled zine handed across a counter is 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737360"/>
            <a:ext cx="3383280" cy="4206240"/>
          </a:xfrm>
          <a:prstGeom prst="rect">
            <a:avLst/>
          </a:prstGeom>
          <a:solidFill>
            <a:srgbClr val="223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737360"/>
            <a:ext cx="3383280" cy="1097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0574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A24B"/>
                </a:solidFill>
                <a:latin typeface="Georgia"/>
              </a:rPr>
              <a:t>Room already warm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200400"/>
            <a:ext cx="2788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D8DEEA"/>
                </a:solidFill>
                <a:latin typeface="Calibri"/>
              </a:rPr>
              <a:t>Alchemy hosts an open mic twice a month. The audience exists. What it lacks is a printed page to take home.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737360"/>
            <a:ext cx="3383280" cy="4206240"/>
          </a:xfrm>
          <a:prstGeom prst="rect">
            <a:avLst/>
          </a:prstGeom>
          <a:solidFill>
            <a:srgbClr val="223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737360"/>
            <a:ext cx="3383280" cy="1097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0574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A24B"/>
                </a:solidFill>
                <a:latin typeface="Georgia"/>
              </a:rPr>
              <a:t>Local writers, local 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200400"/>
            <a:ext cx="2788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D8DEEA"/>
                </a:solidFill>
                <a:latin typeface="Calibri"/>
              </a:rPr>
              <a:t>Guest slots and honoraria give neighborhood poets a first paid reading and a reason to send new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9A24B"/>
                </a:solidFill>
                <a:latin typeface="Consolas"/>
              </a:rPr>
              <a:t>03 / 12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B2A4A"/>
                </a:solidFill>
                <a:latin typeface="Georgia"/>
              </a:rPr>
              <a:t>The reading series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15600" cy="786384"/>
          </a:xfrm>
          <a:prstGeom prst="rect">
            <a:avLst/>
          </a:prstGeom>
          <a:solidFill>
            <a:srgbClr val="EC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109728" cy="78638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45920"/>
            <a:ext cx="2743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Cadence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45920"/>
            <a:ext cx="7132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4203A"/>
                </a:solidFill>
                <a:latin typeface="Calibri"/>
              </a:rPr>
              <a:t>One reading a month for the grant year, at Alchemy Coffee Collective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42032"/>
            <a:ext cx="10515600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542032"/>
            <a:ext cx="109728" cy="78638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542032"/>
            <a:ext cx="2743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542032"/>
            <a:ext cx="7132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4203A"/>
                </a:solidFill>
                <a:latin typeface="Calibri"/>
              </a:rPr>
              <a:t>Two guest poets and an open list, five minutes a reader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38144"/>
            <a:ext cx="10515600" cy="786384"/>
          </a:xfrm>
          <a:prstGeom prst="rect">
            <a:avLst/>
          </a:prstGeom>
          <a:solidFill>
            <a:srgbClr val="EC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438144"/>
            <a:ext cx="109728" cy="78638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38144"/>
            <a:ext cx="2743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Honoraria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438144"/>
            <a:ext cx="7132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4203A"/>
                </a:solidFill>
                <a:latin typeface="Calibri"/>
              </a:rPr>
              <a:t>Seventy five dollars per guest, four guests supported this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34256"/>
            <a:ext cx="10515600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334256"/>
            <a:ext cx="109728" cy="78638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334256"/>
            <a:ext cx="2743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Zine tie-in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334256"/>
            <a:ext cx="7132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4203A"/>
                </a:solidFill>
                <a:latin typeface="Calibri"/>
              </a:rPr>
              <a:t>Each reading seeds the next quarterly edition of Thread &amp; Bone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230368"/>
            <a:ext cx="10515600" cy="786384"/>
          </a:xfrm>
          <a:prstGeom prst="rect">
            <a:avLst/>
          </a:prstGeom>
          <a:solidFill>
            <a:srgbClr val="EC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5230368"/>
            <a:ext cx="109728" cy="78638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0368"/>
            <a:ext cx="2743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230368"/>
            <a:ext cx="7132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4203A"/>
                </a:solidFill>
                <a:latin typeface="Calibri"/>
              </a:rPr>
              <a:t>Free to attend, free to read, copies given to first-time readers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86"/>
                </a:solidFill>
                <a:latin typeface="Consolas"/>
              </a:rPr>
              <a:t>04 / 12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7F5EF"/>
                </a:solidFill>
                <a:latin typeface="Georgia"/>
              </a:rPr>
              <a:t>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C7D0E0"/>
                </a:solidFill>
                <a:latin typeface="Georgia"/>
              </a:rPr>
              <a:t>Total request 1,500 dollars. Every line serves free local distribution.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828800"/>
          <a:ext cx="51206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126480" y="1920240"/>
            <a:ext cx="5394960" cy="658368"/>
          </a:xfrm>
          <a:prstGeom prst="rect">
            <a:avLst/>
          </a:prstGeom>
          <a:solidFill>
            <a:srgbClr val="1F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920240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7F5EF"/>
                </a:solidFill>
                <a:latin typeface="Calibri"/>
              </a:rPr>
              <a:t>Printing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20240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7D0E0"/>
                </a:solidFill>
                <a:latin typeface="Calibri"/>
              </a:rPr>
              <a:t>Two zine runs, 60 copies 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920240"/>
            <a:ext cx="868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C9A24B"/>
                </a:solidFill>
                <a:latin typeface="Georgia"/>
              </a:rPr>
              <a:t>$240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633472"/>
            <a:ext cx="5394960" cy="658368"/>
          </a:xfrm>
          <a:prstGeom prst="rect">
            <a:avLst/>
          </a:prstGeom>
          <a:solidFill>
            <a:srgbClr val="223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633472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7F5EF"/>
                </a:solidFill>
                <a:latin typeface="Calibri"/>
              </a:rPr>
              <a:t>Reader honoraria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33472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7D0E0"/>
                </a:solidFill>
                <a:latin typeface="Calibri"/>
              </a:rPr>
              <a:t>Four guest poets at $75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633472"/>
            <a:ext cx="868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C9A24B"/>
                </a:solidFill>
                <a:latin typeface="Georgia"/>
              </a:rPr>
              <a:t>$300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346704"/>
            <a:ext cx="5394960" cy="658368"/>
          </a:xfrm>
          <a:prstGeom prst="rect">
            <a:avLst/>
          </a:prstGeom>
          <a:solidFill>
            <a:srgbClr val="1F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346704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7F5EF"/>
                </a:solidFill>
                <a:latin typeface="Calibri"/>
              </a:rPr>
              <a:t>Submission fees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46704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7D0E0"/>
                </a:solidFill>
                <a:latin typeface="Calibri"/>
              </a:rPr>
              <a:t>A year of magazine submissions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3346704"/>
            <a:ext cx="868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C9A24B"/>
                </a:solidFill>
                <a:latin typeface="Georgia"/>
              </a:rPr>
              <a:t>$120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059936"/>
            <a:ext cx="5394960" cy="658368"/>
          </a:xfrm>
          <a:prstGeom prst="rect">
            <a:avLst/>
          </a:prstGeom>
          <a:solidFill>
            <a:srgbClr val="223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059936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7F5EF"/>
                </a:solidFill>
                <a:latin typeface="Calibri"/>
              </a:rPr>
              <a:t>Materials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059936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7D0E0"/>
                </a:solidFill>
                <a:latin typeface="Calibri"/>
              </a:rPr>
              <a:t>Layout, staples, supplies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4059936"/>
            <a:ext cx="868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C9A24B"/>
                </a:solidFill>
                <a:latin typeface="Georgia"/>
              </a:rPr>
              <a:t>$90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773168"/>
            <a:ext cx="5394960" cy="658368"/>
          </a:xfrm>
          <a:prstGeom prst="rect">
            <a:avLst/>
          </a:prstGeom>
          <a:solidFill>
            <a:srgbClr val="1F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773168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7F5EF"/>
                </a:solidFill>
                <a:latin typeface="Calibri"/>
              </a:rPr>
              <a:t>Artist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773168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7D0E0"/>
                </a:solidFill>
                <a:latin typeface="Calibri"/>
              </a:rPr>
              <a:t>Editing and 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4773168"/>
            <a:ext cx="868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C9A24B"/>
                </a:solidFill>
                <a:latin typeface="Georgia"/>
              </a:rPr>
              <a:t>$750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5486400"/>
            <a:ext cx="5394960" cy="65836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5486400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03A"/>
                </a:solidFill>
                <a:latin typeface="Calibri"/>
              </a:rPr>
              <a:t>Total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486400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4203A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5486400"/>
            <a:ext cx="868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4203A"/>
                </a:solidFill>
                <a:latin typeface="Georgia"/>
              </a:rPr>
              <a:t>$1,500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9A24B"/>
                </a:solidFill>
                <a:latin typeface="Consolas"/>
              </a:rPr>
              <a:t>05 / 12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B2A4A"/>
                </a:solidFill>
                <a:latin typeface="Georgia"/>
              </a:rPr>
              <a:t>Grant year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24688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246888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C9A24B"/>
                </a:solidFill>
                <a:latin typeface="Georgia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920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4203A"/>
                </a:solidFill>
                <a:latin typeface="Calibri"/>
              </a:rPr>
              <a:t>Launch reading, first guest pair, winter zine edition printed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310896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9A24B"/>
                </a:solidFill>
                <a:latin typeface="Calibri"/>
              </a:rPr>
              <a:t>»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920240"/>
            <a:ext cx="24688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920240"/>
            <a:ext cx="246888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05740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C9A24B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017520"/>
            <a:ext cx="1920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4203A"/>
                </a:solidFill>
                <a:latin typeface="Calibri"/>
              </a:rPr>
              <a:t>Two readings, submission-fee support for four contributors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10896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9A24B"/>
                </a:solidFill>
                <a:latin typeface="Calibri"/>
              </a:rPr>
              <a:t>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920240"/>
            <a:ext cx="24688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920240"/>
            <a:ext cx="246888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05740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C9A24B"/>
                </a:solidFill>
                <a:latin typeface="Georgia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17520"/>
            <a:ext cx="1920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4203A"/>
                </a:solidFill>
                <a:latin typeface="Calibri"/>
              </a:rPr>
              <a:t>Summer reading, layout of the fall edition begins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10896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9A24B"/>
                </a:solidFill>
                <a:latin typeface="Calibri"/>
              </a:rPr>
              <a:t>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920240"/>
            <a:ext cx="24688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1920240"/>
            <a:ext cx="246888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05740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C9A24B"/>
                </a:solidFill>
                <a:latin typeface="Georgia"/>
              </a:rP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017520"/>
            <a:ext cx="1920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4203A"/>
                </a:solidFill>
                <a:latin typeface="Calibri"/>
              </a:rPr>
              <a:t>Fall zine edition, year-end reading, final report to the council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86"/>
                </a:solidFill>
                <a:latin typeface="Consolas"/>
              </a:rPr>
              <a:t>06 / 12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7F5EF"/>
                </a:solidFill>
                <a:latin typeface="Georgia"/>
              </a:rPr>
              <a:t>What the year produces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3383280" cy="1828800"/>
          </a:xfrm>
          <a:prstGeom prst="rect">
            <a:avLst/>
          </a:prstGeom>
          <a:solidFill>
            <a:srgbClr val="1F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9728" cy="1828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C9A24B"/>
                </a:solidFill>
                <a:latin typeface="Georgia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089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8DEEA"/>
                </a:solidFill>
                <a:latin typeface="Calibri"/>
              </a:rPr>
              <a:t>free public readings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3383280" cy="1828800"/>
          </a:xfrm>
          <a:prstGeom prst="rect">
            <a:avLst/>
          </a:prstGeom>
          <a:solidFill>
            <a:srgbClr val="1F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109728" cy="1828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05740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C9A24B"/>
                </a:solidFill>
                <a:latin typeface="Georgia"/>
              </a:rPr>
              <a:t>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1089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8DEEA"/>
                </a:solidFill>
                <a:latin typeface="Calibri"/>
              </a:rPr>
              <a:t>zine copies given free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28800"/>
            <a:ext cx="3383280" cy="1828800"/>
          </a:xfrm>
          <a:prstGeom prst="rect">
            <a:avLst/>
          </a:prstGeom>
          <a:solidFill>
            <a:srgbClr val="1F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109728" cy="1828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C9A24B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089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8DEEA"/>
                </a:solidFill>
                <a:latin typeface="Calibri"/>
              </a:rPr>
              <a:t>paid guest poets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931920"/>
            <a:ext cx="3383280" cy="1828800"/>
          </a:xfrm>
          <a:prstGeom prst="rect">
            <a:avLst/>
          </a:prstGeom>
          <a:solidFill>
            <a:srgbClr val="1F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931920"/>
            <a:ext cx="109728" cy="1828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6052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C9A24B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2120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8DEEA"/>
                </a:solidFill>
                <a:latin typeface="Calibri"/>
              </a:rPr>
              <a:t>printed editions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3931920"/>
            <a:ext cx="3383280" cy="1828800"/>
          </a:xfrm>
          <a:prstGeom prst="rect">
            <a:avLst/>
          </a:prstGeom>
          <a:solidFill>
            <a:srgbClr val="1F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931920"/>
            <a:ext cx="109728" cy="1828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16052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C9A24B"/>
                </a:solidFill>
                <a:latin typeface="Georgia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52120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8DEEA"/>
                </a:solidFill>
                <a:latin typeface="Calibri"/>
              </a:rPr>
              <a:t>submission fees covered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931920"/>
            <a:ext cx="3383280" cy="1828800"/>
          </a:xfrm>
          <a:prstGeom prst="rect">
            <a:avLst/>
          </a:prstGeom>
          <a:solidFill>
            <a:srgbClr val="1F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931920"/>
            <a:ext cx="109728" cy="1828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16052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C9A24B"/>
                </a:solidFill>
                <a:latin typeface="Georgia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52120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8DEEA"/>
                </a:solidFill>
                <a:latin typeface="Calibri"/>
              </a:rPr>
              <a:t>cost at the door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9A24B"/>
                </a:solidFill>
                <a:latin typeface="Consolas"/>
              </a:rPr>
              <a:t>07 / 12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B2A4A"/>
                </a:solidFill>
                <a:latin typeface="Georgia"/>
              </a:rPr>
              <a:t>After the grant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6692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100" b="1" i="0">
                <a:solidFill>
                  <a:srgbClr val="1B2A4A"/>
                </a:solidFill>
                <a:latin typeface="Georgia"/>
              </a:rPr>
              <a:t>The series is built to outlast the funding.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0" i="0">
                <a:solidFill>
                  <a:srgbClr val="14203A"/>
                </a:solidFill>
                <a:latin typeface="Georgia"/>
              </a:rPr>
              <a:t>Zine sales at eight dollars a copy return a small margin that seeds the next print run. The reading needs only a room, and Alchemy already gives that free.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0" i="1">
                <a:solidFill>
                  <a:srgbClr val="3C4A63"/>
                </a:solidFill>
                <a:latin typeface="Georgia"/>
              </a:rPr>
              <a:t>The grant buys the first year of honoraria and free copies. The habit, once set, is cheap to keep.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554480"/>
            <a:ext cx="45720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1554480"/>
            <a:ext cx="109728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66420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Print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0574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A63"/>
                </a:solidFill>
                <a:latin typeface="Calibri"/>
              </a:rPr>
              <a:t>About $7 a copy funds the next issue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651760"/>
            <a:ext cx="45720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2651760"/>
            <a:ext cx="109728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76148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154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A63"/>
                </a:solidFill>
                <a:latin typeface="Calibri"/>
              </a:rPr>
              <a:t>Donated by the shop, no rent 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749040"/>
            <a:ext cx="45720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3749040"/>
            <a:ext cx="109728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385876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Volunteers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251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A63"/>
                </a:solidFill>
                <a:latin typeface="Calibri"/>
              </a:rPr>
              <a:t>Two housemates handle distribution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4846320"/>
            <a:ext cx="45720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4846320"/>
            <a:ext cx="109728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495604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Readers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3492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A63"/>
                </a:solidFill>
                <a:latin typeface="Calibri"/>
              </a:rPr>
              <a:t>A newsletter of 340 carries each announcement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86"/>
                </a:solidFill>
                <a:latin typeface="Consolas"/>
              </a:rPr>
              <a:t>08 / 12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4B"/>
                </a:solidFill>
                <a:latin typeface="Calibri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1">
                <a:solidFill>
                  <a:srgbClr val="F7F5EF"/>
                </a:solidFill>
                <a:latin typeface="Georgia"/>
              </a:rPr>
              <a:t>“Jennifer writes from inside the working day, and she has the rare gift of making a reader feel counted rather than surveyed.”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06240"/>
            <a:ext cx="2011680" cy="7315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C9A24B"/>
                </a:solidFill>
                <a:latin typeface="Georgia"/>
              </a:rPr>
              <a:t>Professor Clara Wentworth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C7D0E0"/>
                </a:solidFill>
                <a:latin typeface="Calibri"/>
              </a:rPr>
              <a:t>Narragansett Bay College, cwentworth@narragansettbay.edu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9A24B"/>
                </a:solidFill>
                <a:latin typeface="Consolas"/>
              </a:rPr>
              <a:t>09 / 12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03A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B2A4A"/>
                </a:solidFill>
                <a:latin typeface="Georgia"/>
              </a:rPr>
              <a:t>One thousand five hundred dollars.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14203A"/>
                </a:solidFill>
                <a:latin typeface="Georgia"/>
              </a:rPr>
              <a:t>It buys a year of free readings and two editions of a zine that costs nothing to hold.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572000"/>
            <a:ext cx="3291840" cy="1554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7548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C9A24B"/>
                </a:solidFill>
                <a:latin typeface="Georgia"/>
              </a:rPr>
              <a:t>$1,500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235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7F5EF"/>
                </a:solidFill>
                <a:latin typeface="Calibri"/>
              </a:rPr>
              <a:t>total 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4572000"/>
            <a:ext cx="3291840" cy="1554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47548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C9A24B"/>
                </a:solidFill>
                <a:latin typeface="Georgia"/>
              </a:rPr>
              <a:t>12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56235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7F5EF"/>
                </a:solidFill>
                <a:latin typeface="Calibri"/>
              </a:rPr>
              <a:t>grant period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4572000"/>
            <a:ext cx="3291840" cy="1554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47548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C9A24B"/>
                </a:solidFill>
                <a:latin typeface="Georgia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56235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7F5EF"/>
                </a:solidFill>
                <a:latin typeface="Calibri"/>
              </a:rPr>
              <a:t>toward free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1B2A4A"/>
                </a:solidFill>
                <a:latin typeface="Consolas"/>
              </a:rPr>
              <a:t>10 / 12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F5EF"/>
                </a:solidFill>
                <a:latin typeface="Georgia"/>
              </a:rPr>
              <a:t>Thank you for reading the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A24B"/>
                </a:solidFill>
                <a:latin typeface="Calibri"/>
              </a:rPr>
              <a:t>Jennifer Avery Williams  /  Literary Arts, Poetry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7D0E0"/>
                </a:solidFill>
                <a:latin typeface="Calibri"/>
              </a:rPr>
              <a:t>47 Ives Street, Apt 2, Providence, RI 02906  /  (401) 555-0188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7D0E0"/>
                </a:solidFill>
                <a:latin typeface="Calibri"/>
              </a:rPr>
              <a:t>jennifer.williams@greenridertech.in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9A24B"/>
                </a:solidFill>
                <a:latin typeface="Consolas"/>
              </a:rPr>
              <a:t>11 / 12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