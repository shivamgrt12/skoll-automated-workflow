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64592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A CRAFT TALK  /  ALCHEMY, AFTER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0" i="0">
                <a:solidFill>
                  <a:srgbClr val="ECE6D6"/>
                </a:solidFill>
                <a:latin typeface="Georgia"/>
              </a:rPr>
              <a:t>The Poetics of</a:t>
            </a:r>
          </a:p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ECE6D6"/>
                </a:solidFill>
                <a:latin typeface="Georgia"/>
              </a:rPr>
              <a:t>the Working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8A8578"/>
                </a:solidFill>
                <a:latin typeface="Georgia"/>
              </a:rPr>
              <a:t>On writing the shift, the receipt, and the small ledgers of a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Jennifer Williams  /  poet and barista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578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THE PREMISE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ECE6D6"/>
                </a:solidFill>
                <a:latin typeface="Georgia"/>
              </a:rPr>
              <a:t>The working day is not a subject you lower poetry onto. It is already made of the stuff, timing, repetition, small numbers, the body at the end of a 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8A8578"/>
                </a:solidFill>
                <a:latin typeface="Georgia"/>
              </a:rPr>
              <a:t>This talk is about noticing it, and not flinching when it turns out to be about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578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CE6D6"/>
                </a:solidFill>
                <a:latin typeface="Georgia"/>
              </a:rPr>
              <a:t>Four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0A458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6537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CE6D6"/>
                </a:solidFill>
                <a:latin typeface="Georgia"/>
              </a:rPr>
              <a:t>The concrete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304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8578"/>
                </a:solidFill>
                <a:latin typeface="Calibri"/>
              </a:rPr>
              <a:t>Let the real objects and numbers carry the feeling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0A458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96265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CE6D6"/>
                </a:solidFill>
                <a:latin typeface="Georgia"/>
              </a:rPr>
              <a:t>The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401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8578"/>
                </a:solidFill>
                <a:latin typeface="Calibri"/>
              </a:rPr>
              <a:t>Earn one swerve from fact to meaning, no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0A458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05993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CE6D6"/>
                </a:solidFill>
                <a:latin typeface="Georgia"/>
              </a:rPr>
              <a:t>The plain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4988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8578"/>
                </a:solidFill>
                <a:latin typeface="Calibri"/>
              </a:rPr>
              <a:t>Trust the register of talk, then break it once on 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0A458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15721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CE6D6"/>
                </a:solidFill>
                <a:latin typeface="Georgia"/>
              </a:rPr>
              <a:t>The held 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59612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8578"/>
                </a:solidFill>
                <a:latin typeface="Calibri"/>
              </a:rPr>
              <a:t>Land quiet, do not explain the last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MOVE ONE  /  THE CONCRETE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486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600" b="1" i="0">
                <a:solidFill>
                  <a:srgbClr val="ECE6D6"/>
                </a:solidFill>
                <a:latin typeface="Georgia"/>
              </a:rPr>
              <a:t>Count the real things.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0" i="0">
                <a:solidFill>
                  <a:srgbClr val="ECE6D6"/>
                </a:solidFill>
                <a:latin typeface="Georgia"/>
              </a:rPr>
              <a:t>One bed, one desk, one jar of pens. A five dollar cover. A plant on the sill leaning at the window.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 i="1">
                <a:solidFill>
                  <a:srgbClr val="8A8578"/>
                </a:solidFill>
                <a:latin typeface="Georgia"/>
              </a:rPr>
              <a:t>The inventory does the emotional work so you do not have to announce it. Name the object, and the ache arrives on its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371600"/>
            <a:ext cx="4572000" cy="448056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371600"/>
            <a:ext cx="4572000" cy="4572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41732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71A"/>
                </a:solidFill>
                <a:latin typeface="Calibri"/>
              </a:rPr>
              <a:t>from  Fox Point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011680"/>
            <a:ext cx="4023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1">
                <a:solidFill>
                  <a:srgbClr val="ECE6D6"/>
                </a:solidFill>
                <a:latin typeface="Georgia"/>
              </a:rPr>
              <a:t>This is the inventory: one bed,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1">
                <a:solidFill>
                  <a:srgbClr val="ECE6D6"/>
                </a:solidFill>
                <a:latin typeface="Georgia"/>
              </a:rPr>
              <a:t>one desk, one jar of pens,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1">
                <a:solidFill>
                  <a:srgbClr val="ECE6D6"/>
                </a:solidFill>
                <a:latin typeface="Georgia"/>
              </a:rPr>
              <a:t>a sister an hour north who picks up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1">
                <a:solidFill>
                  <a:srgbClr val="ECE6D6"/>
                </a:solidFill>
                <a:latin typeface="Georgia"/>
              </a:rPr>
              <a:t>on the second ring, and a city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1">
                <a:solidFill>
                  <a:srgbClr val="E0A458"/>
                </a:solidFill>
                <a:latin typeface="Georgia"/>
              </a:rPr>
              <a:t>that keeps almost being enough.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MOVE TWO  /  THE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ECE6D6"/>
                </a:solidFill>
                <a:latin typeface="Georgia"/>
              </a:rPr>
              <a:t>“Rent is a kind of weather. It comes. You dress for 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 i="0">
                <a:solidFill>
                  <a:srgbClr val="ECE6D6"/>
                </a:solidFill>
                <a:latin typeface="Georgia"/>
              </a:rPr>
              <a:t>One clean swerve from the literal to the figurative buys the whole poem.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8A8578"/>
                </a:solidFill>
                <a:latin typeface="Calibri"/>
              </a:rPr>
              <a:t>Weather is inevitable, indifferent, survivable. Put it next to rent and the reader does the math without being told the sum. Spend the move once. A poem that turns on every line turns on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MOVE THREE  /  THE PLAIN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3383280" cy="420624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3383280" cy="109728"/>
          </a:xfrm>
          <a:prstGeom prst="rect">
            <a:avLst/>
          </a:prstGeom>
          <a:solidFill>
            <a:srgbClr val="C8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0A458"/>
                </a:solidFill>
                <a:latin typeface="Georgia"/>
              </a:rPr>
              <a:t>Speak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51760"/>
            <a:ext cx="2788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ECE6D6"/>
                </a:solidFill>
                <a:latin typeface="Calibri"/>
              </a:rPr>
              <a:t>Write it the way you would tell Reese on the Sunday call. Plain, exact, unhurried.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554480"/>
            <a:ext cx="3383280" cy="420624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3383280" cy="109728"/>
          </a:xfrm>
          <a:prstGeom prst="rect">
            <a:avLst/>
          </a:prstGeom>
          <a:solidFill>
            <a:srgbClr val="C8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8288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0A458"/>
                </a:solidFill>
                <a:latin typeface="Georgia"/>
              </a:rPr>
              <a:t>Then break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2788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ECE6D6"/>
                </a:solidFill>
                <a:latin typeface="Calibri"/>
              </a:rPr>
              <a:t>Once per poem, let a strange or gorgeous phrase cut across the plain line. The contrast is the music.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383280" cy="420624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383280" cy="109728"/>
          </a:xfrm>
          <a:prstGeom prst="rect">
            <a:avLst/>
          </a:prstGeom>
          <a:solidFill>
            <a:srgbClr val="C8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8288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0A458"/>
                </a:solidFill>
                <a:latin typeface="Georgia"/>
              </a:rPr>
              <a:t>Read it aloud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51760"/>
            <a:ext cx="2788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ECE6D6"/>
                </a:solidFill>
                <a:latin typeface="Calibri"/>
              </a:rPr>
              <a:t>If it trips the tongue at the open mic, it is not done. The ear is the last editor.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MOVE FOUR  /  THE HELD 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ECE6D6"/>
                </a:solidFill>
                <a:latin typeface="Georgia"/>
              </a:rPr>
              <a:t>End on the thing, not the thought about the 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319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 i="0">
                <a:solidFill>
                  <a:srgbClr val="ECE6D6"/>
                </a:solidFill>
                <a:latin typeface="Georgia"/>
              </a:rPr>
              <a:t>The last poem in a set should land quiet and stay unexplained. Let the tip jar keep its own counsel.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1">
                <a:solidFill>
                  <a:srgbClr val="8A8578"/>
                </a:solidFill>
                <a:latin typeface="Georgia"/>
              </a:rPr>
              <a:t>Trust the room. If the image is right, the silence after it is the applause you actually want.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CE6D6"/>
                </a:solidFill>
                <a:latin typeface="Georgia"/>
              </a:rPr>
              <a:t>A working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5120640" cy="1143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91440" cy="1143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836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0A458"/>
                </a:solidFill>
                <a:latin typeface="Georgia"/>
              </a:rPr>
              <a:t>The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408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Lines caught on the bus, at the bar, mid-shift. Most die, a few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1143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91440" cy="1143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836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0A458"/>
                </a:solidFill>
                <a:latin typeface="Georgia"/>
              </a:rPr>
              <a:t>The margin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408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Draft in the open, argue with yourself in the margin, keep the argument.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5120640" cy="1143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108960"/>
            <a:ext cx="91440" cy="1143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2552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0A458"/>
                </a:solidFill>
                <a:latin typeface="Georgia"/>
              </a:rPr>
              <a:t>The read-aloud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124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Every poem passes the mouth before it passes the editor.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08960"/>
            <a:ext cx="5120640" cy="1143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91440" cy="1143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2552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0A458"/>
                </a:solidFill>
                <a:latin typeface="Georgia"/>
              </a:rPr>
              <a:t>The drawer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124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Two backup poems ready, so a deadline never forces a weak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80560"/>
            <a:ext cx="5120640" cy="1143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480560"/>
            <a:ext cx="91440" cy="1143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6268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0A458"/>
                </a:solidFill>
                <a:latin typeface="Georgia"/>
              </a:rPr>
              <a:t>The playlist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840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Ambient to draft, something precise and sad to cut.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480560"/>
            <a:ext cx="5120640" cy="1143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480560"/>
            <a:ext cx="91440" cy="1143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6268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0A458"/>
                </a:solidFill>
                <a:latin typeface="Georgia"/>
              </a:rPr>
              <a:t>The deadline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0840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A real date on the calendar is the only muse that shows up on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140C"/>
                </a:solidFill>
                <a:latin typeface="Calibri"/>
              </a:rPr>
              <a:t>TRY THIS 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CE6D6"/>
                </a:solidFill>
                <a:latin typeface="Georgia"/>
              </a:rPr>
              <a:t>Write the inventory of one ordinary hour.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2A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0A458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ECE6D6"/>
                </a:solidFill>
                <a:latin typeface="Georgia"/>
              </a:rPr>
              <a:t>List ten real objects from your shift or your room. No adjectives yet.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2A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0A458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11880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ECE6D6"/>
                </a:solidFill>
                <a:latin typeface="Georgia"/>
              </a:rPr>
              <a:t>Give exactly one of them a feeling it should not logically have.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2A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0A458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80560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ECE6D6"/>
                </a:solidFill>
                <a:latin typeface="Georgia"/>
              </a:rPr>
              <a:t>Cut the line that explains why. Let the object hold the weight alone.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349240"/>
            <a:ext cx="548640" cy="548640"/>
          </a:xfrm>
          <a:prstGeom prst="ellipse">
            <a:avLst/>
          </a:prstGeom>
          <a:solidFill>
            <a:srgbClr val="2A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0A458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49240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ECE6D6"/>
                </a:solidFill>
                <a:latin typeface="Georgia"/>
              </a:rPr>
              <a:t>Read it out loud once. Keep whatever made you slow 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A140C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CE6D6"/>
                </a:solidFill>
                <a:latin typeface="Georgia"/>
              </a:rPr>
              <a:t>Where I learned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786384"/>
          </a:xfrm>
          <a:prstGeom prst="rect">
            <a:avLst/>
          </a:prstGeom>
          <a:solidFill>
            <a:srgbClr val="1B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A458"/>
                </a:solidFill>
                <a:latin typeface="Calibri"/>
              </a:rPr>
              <a:t>Ross 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737360"/>
            <a:ext cx="4023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CE6D6"/>
                </a:solidFill>
                <a:latin typeface="Georgia"/>
              </a:rPr>
              <a:t>Catalog of Unabashed Gratitude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737360"/>
            <a:ext cx="3108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578"/>
                </a:solidFill>
                <a:latin typeface="Calibri"/>
              </a:rPr>
              <a:t>Joy as a discipline, not a mood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15184"/>
            <a:ext cx="10515600" cy="786384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15184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A458"/>
                </a:solidFill>
                <a:latin typeface="Calibri"/>
              </a:rPr>
              <a:t>Maggie Nelson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15184"/>
            <a:ext cx="4023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CE6D6"/>
                </a:solidFill>
                <a:latin typeface="Georgia"/>
              </a:rPr>
              <a:t>Bluets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15184"/>
            <a:ext cx="3108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578"/>
                </a:solidFill>
                <a:latin typeface="Calibri"/>
              </a:rPr>
              <a:t>240 fragments, one blue ache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93008"/>
            <a:ext cx="10515600" cy="786384"/>
          </a:xfrm>
          <a:prstGeom prst="rect">
            <a:avLst/>
          </a:prstGeom>
          <a:solidFill>
            <a:srgbClr val="1B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93008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A458"/>
                </a:solidFill>
                <a:latin typeface="Calibri"/>
              </a:rPr>
              <a:t>Lucille Clifton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93008"/>
            <a:ext cx="4023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CE6D6"/>
                </a:solidFill>
                <a:latin typeface="Georgia"/>
              </a:rPr>
              <a:t>The Collected Poems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493008"/>
            <a:ext cx="3108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578"/>
                </a:solidFill>
                <a:latin typeface="Calibri"/>
              </a:rPr>
              <a:t>Small lines that hold the whole weight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70832"/>
            <a:ext cx="10515600" cy="786384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70832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A458"/>
                </a:solidFill>
                <a:latin typeface="Calibri"/>
              </a:rPr>
              <a:t>Ocean Vuong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370832"/>
            <a:ext cx="4023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CE6D6"/>
                </a:solidFill>
                <a:latin typeface="Georgia"/>
              </a:rPr>
              <a:t>Night Sky with Exit Wounds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370832"/>
            <a:ext cx="3108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578"/>
                </a:solidFill>
                <a:latin typeface="Calibri"/>
              </a:rPr>
              <a:t>Tenderness with teeth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248656"/>
            <a:ext cx="10515600" cy="786384"/>
          </a:xfrm>
          <a:prstGeom prst="rect">
            <a:avLst/>
          </a:prstGeom>
          <a:solidFill>
            <a:srgbClr val="1B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48656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A458"/>
                </a:solidFill>
                <a:latin typeface="Calibri"/>
              </a:rPr>
              <a:t>Claudia Rankine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248656"/>
            <a:ext cx="4023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CE6D6"/>
                </a:solidFill>
                <a:latin typeface="Georgia"/>
              </a:rPr>
              <a:t>Citizen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248656"/>
            <a:ext cx="3108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578"/>
                </a:solidFill>
                <a:latin typeface="Calibri"/>
              </a:rPr>
              <a:t>The second person as an accusation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CE6D6"/>
                </a:solidFill>
                <a:latin typeface="Georgia"/>
              </a:rPr>
              <a:t>If you keep three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3383280" cy="329184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383280" cy="12801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A458"/>
                </a:solidFill>
                <a:latin typeface="Georgia"/>
              </a:rPr>
              <a:t>Name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6D6"/>
                </a:solidFill>
                <a:latin typeface="Calibri"/>
              </a:rPr>
              <a:t>the concrete object before the abstract feeling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920240"/>
            <a:ext cx="3383280" cy="329184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920240"/>
            <a:ext cx="3383280" cy="12801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2860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A458"/>
                </a:solidFill>
                <a:latin typeface="Georgia"/>
              </a:rPr>
              <a:t>Turn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0040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6D6"/>
                </a:solidFill>
                <a:latin typeface="Calibri"/>
              </a:rPr>
              <a:t>one honest swerve, then get out of the 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920240"/>
            <a:ext cx="3383280" cy="329184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383280" cy="12801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A458"/>
                </a:solidFill>
                <a:latin typeface="Georgia"/>
              </a:rPr>
              <a:t>Hold the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6D6"/>
                </a:solidFill>
                <a:latin typeface="Calibri"/>
              </a:rPr>
              <a:t>land quiet, trust the room, do not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0A458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ECE6D6"/>
                </a:solidFill>
                <a:latin typeface="Georgia"/>
              </a:rPr>
              <a:t>Now go write the shift.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31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8A8578"/>
                </a:solidFill>
                <a:latin typeface="Georgia"/>
              </a:rPr>
              <a:t>The poem is already there, in the timing, the tally, and the tired hands. You just have to count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5212080"/>
            <a:ext cx="2011680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6D6"/>
                </a:solidFill>
                <a:latin typeface="Calibri"/>
              </a:rPr>
              <a:t>Thank you. Sign the sheet by the register, the mic is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578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