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subscribers</c:v>
                </c:pt>
              </c:strCache>
            </c:strRef>
          </c:tx>
          <c:spPr>
            <a:ln w="38100">
              <a:solidFill>
                <a:srgbClr val="C06C8C"/>
              </a:solidFill>
            </a:ln>
          </c:spPr>
          <c:cat>
            <c:strRef>
              <c:f>Sheet1!$A$2:$A$8</c:f>
              <c:strCache>
                <c:ptCount val="7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288</c:v>
                </c:pt>
                <c:pt idx="1">
                  <c:v>301</c:v>
                </c:pt>
                <c:pt idx="2">
                  <c:v>315</c:v>
                </c:pt>
                <c:pt idx="3">
                  <c:v>322</c:v>
                </c:pt>
                <c:pt idx="4">
                  <c:v>331</c:v>
                </c:pt>
                <c:pt idx="5">
                  <c:v>340</c:v>
                </c:pt>
                <c:pt idx="6">
                  <c:v>352</c:v>
                </c:pt>
              </c:numCache>
            </c:numRef>
          </c:val>
          <c:smooth/>
        </c:ser>
        <c:dLbls>
          <c:txPr>
            <a:bodyPr/>
            <a:lstStyle/>
            <a:p>
              <a:pPr>
                <a:defRPr sz="1100">
                  <a:solidFill>
                    <a:srgbClr val="F4EDE6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E7C6D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paid revenue, dollars</c:v>
                </c:pt>
              </c:strCache>
            </c:strRef>
          </c:tx>
          <c:spPr>
            <a:solidFill>
              <a:srgbClr val="C06C8C"/>
            </a:solidFill>
          </c:spPr>
          <c:cat>
            <c:strRef>
              <c:f>Sheet1!$A$2:$A$6</c:f>
              <c:strCache>
                <c:ptCount val="5"/>
                <c:pt idx="0">
                  <c:v>Nov</c:v>
                </c:pt>
                <c:pt idx="1">
                  <c:v>Dec</c:v>
                </c:pt>
                <c:pt idx="2">
                  <c:v>Jan</c:v>
                </c:pt>
                <c:pt idx="3">
                  <c:v>Feb</c:v>
                </c:pt>
                <c:pt idx="4">
                  <c:v>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60</c:v>
                </c:pt>
                <c:pt idx="2">
                  <c:v>60</c:v>
                </c:pt>
                <c:pt idx="3">
                  <c:v>65</c:v>
                </c:pt>
                <c:pt idx="4">
                  <c:v>70</c:v>
                </c:pt>
              </c:numCache>
            </c:numRef>
          </c:val>
        </c:ser>
        <c:dLbls>
          <c:numFmt formatCode="&quot;$&quot;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D2C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7C6D2"/>
                </a:solidFill>
                <a:latin typeface="Calibri"/>
              </a:rPr>
              <a:t>A NEWSLETTER ABOUT READING, WRITING, AND GETTING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800" b="1" i="0">
                <a:solidFill>
                  <a:srgbClr val="F4EDE6"/>
                </a:solidFill>
                <a:latin typeface="Georgia"/>
              </a:rPr>
              <a:t>Marginal Notes</a:t>
            </a:r>
          </a:p>
          <a:p>
            <a:pPr algn="l">
              <a:spcAft>
                <a:spcPts val="200"/>
              </a:spcAft>
            </a:pPr>
            <a:r>
              <a:rPr sz="5800" b="0" i="1">
                <a:solidFill>
                  <a:srgbClr val="C06C8C"/>
                </a:solidFill>
                <a:latin typeface="Georgia"/>
              </a:rPr>
              <a:t>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E7C6D2"/>
                </a:solidFill>
                <a:latin typeface="Georgia"/>
              </a:rPr>
              <a:t>What a small letter to a few hundred readers actually did.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82A6"/>
                </a:solidFill>
                <a:latin typeface="Calibri"/>
              </a:rPr>
              <a:t>Written and sent by </a:t>
            </a:r>
            <a:r>
              <a:rPr sz="1400" b="1" i="0">
                <a:solidFill>
                  <a:srgbClr val="F4EDE6"/>
                </a:solidFill>
                <a:latin typeface="Calibri"/>
              </a:rPr>
              <a:t>Jennifer Williams</a:t>
            </a:r>
            <a:r>
              <a:rPr sz="1400" b="0" i="0">
                <a:solidFill>
                  <a:srgbClr val="9A82A6"/>
                </a:solidFill>
                <a:latin typeface="Calibri"/>
              </a:rPr>
              <a:t>   /   Providence, Rhode Island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7C6D2"/>
                </a:solidFill>
                <a:latin typeface="Consolas"/>
              </a:rPr>
              <a:t>01 / 11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D2C46"/>
                </a:solidFill>
                <a:latin typeface="Georgia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00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100" b="0" i="0">
                <a:solidFill>
                  <a:srgbClr val="271B2E"/>
                </a:solidFill>
                <a:latin typeface="Georgia"/>
              </a:rPr>
              <a:t>A short letter, sent a couple of times a month, on what I have been reading and what I have been making.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 i="0">
                <a:solidFill>
                  <a:srgbClr val="271B2E"/>
                </a:solidFill>
                <a:latin typeface="Georgia"/>
              </a:rPr>
              <a:t>One book I love, one note from the desk, one poem worth your minute. No hot takes, no funnel, no course at the end.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0" i="1">
                <a:solidFill>
                  <a:srgbClr val="6A5A72"/>
                </a:solidFill>
                <a:latin typeface="Georgia"/>
              </a:rPr>
              <a:t>It started as a way to keep the zine readers close between issues. It became the thing that keeps me writing on the weeks the poems will not 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463040"/>
            <a:ext cx="3566160" cy="1280160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463040"/>
            <a:ext cx="109728" cy="128016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2763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7C6D2"/>
                </a:solidFill>
                <a:latin typeface="Georgia"/>
              </a:rPr>
              <a:t>2x a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860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82A6"/>
                </a:solidFill>
                <a:latin typeface="Calibri"/>
              </a:rPr>
              <a:t>cadence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017520"/>
            <a:ext cx="3566160" cy="1280160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3017520"/>
            <a:ext cx="109728" cy="128016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18211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7C6D2"/>
                </a:solidFill>
                <a:latin typeface="Georgia"/>
              </a:rPr>
              <a:t>~8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840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82A6"/>
                </a:solidFill>
                <a:latin typeface="Calibri"/>
              </a:rPr>
              <a:t>to 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572000"/>
            <a:ext cx="3566160" cy="1280160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4572000"/>
            <a:ext cx="109728" cy="128016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73659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7C6D2"/>
                </a:solidFill>
                <a:latin typeface="Georgia"/>
              </a:rPr>
              <a:t>$7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394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82A6"/>
                </a:solidFill>
                <a:latin typeface="Calibri"/>
              </a:rPr>
              <a:t>paid tier,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82A6"/>
                </a:solidFill>
                <a:latin typeface="Consolas"/>
              </a:rPr>
              <a:t>02 / 11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DE6"/>
                </a:solidFill>
                <a:latin typeface="Georgia"/>
              </a:rPr>
              <a:t>The slow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7C6D2"/>
                </a:solidFill>
                <a:latin typeface="Georgia"/>
              </a:rPr>
              <a:t>Free subscribers, month by month. No spikes, just a line that keeps climbing.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2024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7C6D2"/>
                </a:solidFill>
                <a:latin typeface="Consolas"/>
              </a:rPr>
              <a:t>03 / 11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D2C46"/>
                </a:solidFill>
                <a:latin typeface="Georgia"/>
              </a:rPr>
              <a:t>One year, counted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3383280" cy="1874519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EDE6"/>
                </a:solidFill>
                <a:latin typeface="Georgia"/>
              </a:rPr>
              <a:t>352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C6D2"/>
                </a:solidFill>
                <a:latin typeface="Calibri"/>
              </a:rPr>
              <a:t>free subscribers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7C6D2"/>
                </a:solidFill>
                <a:latin typeface="Calibri"/>
              </a:rPr>
              <a:t>by the fall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37360"/>
            <a:ext cx="3383280" cy="1874519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20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EDE6"/>
                </a:solidFill>
                <a:latin typeface="Georgia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8346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C6D2"/>
                </a:solidFill>
                <a:latin typeface="Calibri"/>
              </a:rPr>
              <a:t>paid supporters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7C6D2"/>
                </a:solidFill>
                <a:latin typeface="Calibri"/>
              </a:rPr>
              <a:t>at seven dollars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383280" cy="1874519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20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EDE6"/>
                </a:solidFill>
                <a:latin typeface="Georgia"/>
              </a:rPr>
              <a:t>~60%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346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C6D2"/>
                </a:solidFill>
                <a:latin typeface="Calibri"/>
              </a:rPr>
              <a:t>open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7C6D2"/>
                </a:solidFill>
                <a:latin typeface="Calibri"/>
              </a:rPr>
              <a:t>well above the norm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86200"/>
            <a:ext cx="3383280" cy="1874519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690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EDE6"/>
                </a:solidFill>
                <a:latin typeface="Georgia"/>
              </a:rPr>
              <a:t>$70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834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C6D2"/>
                </a:solidFill>
                <a:latin typeface="Calibri"/>
              </a:rPr>
              <a:t>monthly from 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035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7C6D2"/>
                </a:solidFill>
                <a:latin typeface="Calibri"/>
              </a:rPr>
              <a:t>covers the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886200"/>
            <a:ext cx="3383280" cy="1874519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40690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EDE6"/>
                </a:solidFill>
                <a:latin typeface="Georgia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9834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C6D2"/>
                </a:solidFill>
                <a:latin typeface="Calibri"/>
              </a:rPr>
              <a:t>issues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3035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7C6D2"/>
                </a:solidFill>
                <a:latin typeface="Calibri"/>
              </a:rPr>
              <a:t>in just over a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886200"/>
            <a:ext cx="3383280" cy="1874519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0690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EDE6"/>
                </a:solidFill>
                <a:latin typeface="Georg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9834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7C6D2"/>
                </a:solidFill>
                <a:latin typeface="Calibri"/>
              </a:rPr>
              <a:t>reply threads a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53035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7C6D2"/>
                </a:solidFill>
                <a:latin typeface="Calibri"/>
              </a:rPr>
              <a:t>the part I keep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82A6"/>
                </a:solidFill>
                <a:latin typeface="Consolas"/>
              </a:rPr>
              <a:t>04 / 11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DE6"/>
                </a:solidFill>
                <a:latin typeface="Georgia"/>
              </a:rPr>
              <a:t>Letters that landed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960120"/>
          </a:xfrm>
          <a:prstGeom prst="rect">
            <a:avLst/>
          </a:prstGeom>
          <a:solidFill>
            <a:srgbClr val="45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9728" cy="96012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65376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4EDE6"/>
                </a:solidFill>
                <a:latin typeface="Georgia"/>
              </a:rPr>
              <a:t>On rereading Bluets a third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7C6D2"/>
                </a:solidFill>
                <a:latin typeface="Calibri"/>
              </a:rPr>
              <a:t>the comfort essay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82A6"/>
                </a:solidFill>
                <a:latin typeface="Calibri"/>
              </a:rPr>
              <a:t>72% open, most replies of the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98064"/>
            <a:ext cx="10515600" cy="960120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98064"/>
            <a:ext cx="109728" cy="96012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4EDE6"/>
                </a:solidFill>
                <a:latin typeface="Georgia"/>
              </a:rPr>
              <a:t>A poem I love, by Lucille Clifton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649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7C6D2"/>
                </a:solidFill>
                <a:latin typeface="Calibri"/>
              </a:rPr>
              <a:t>eight lines, eighty feelings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798064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82A6"/>
                </a:solidFill>
                <a:latin typeface="Calibri"/>
              </a:rPr>
              <a:t>new subscribers from a share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58768"/>
            <a:ext cx="10515600" cy="960120"/>
          </a:xfrm>
          <a:prstGeom prst="rect">
            <a:avLst/>
          </a:prstGeom>
          <a:solidFill>
            <a:srgbClr val="45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858768"/>
            <a:ext cx="109728" cy="96012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86784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4EDE6"/>
                </a:solidFill>
                <a:latin typeface="Georgia"/>
              </a:rPr>
              <a:t>What the tip jar knows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256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7C6D2"/>
                </a:solidFill>
                <a:latin typeface="Calibri"/>
              </a:rPr>
              <a:t>from the 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58768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82A6"/>
                </a:solidFill>
                <a:latin typeface="Calibri"/>
              </a:rPr>
              <a:t>the one that became a zine piece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19472"/>
            <a:ext cx="10515600" cy="960120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919472"/>
            <a:ext cx="109728" cy="96012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04748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4EDE6"/>
                </a:solidFill>
                <a:latin typeface="Georgia"/>
              </a:rPr>
              <a:t>Batch-cooking as a writing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4864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7C6D2"/>
                </a:solidFill>
                <a:latin typeface="Calibri"/>
              </a:rPr>
              <a:t>getting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19472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82A6"/>
                </a:solidFill>
                <a:latin typeface="Calibri"/>
              </a:rPr>
              <a:t>forwarded more than any 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7C6D2"/>
                </a:solidFill>
                <a:latin typeface="Consolas"/>
              </a:rPr>
              <a:t>05 / 11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D2C46"/>
                </a:solidFill>
                <a:latin typeface="Georgia"/>
              </a:rPr>
              <a:t>What worked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383280" cy="100584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4EDE6"/>
                </a:solidFill>
                <a:latin typeface="Georgia"/>
              </a:rPr>
              <a:t>Small and steady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2834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271B2E"/>
                </a:solidFill>
                <a:latin typeface="Calibri"/>
              </a:rPr>
              <a:t>One honest letter beats three anxious ones. Cadence is the whole trick.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3736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737360"/>
            <a:ext cx="3383280" cy="1005840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4EDE6"/>
                </a:solidFill>
                <a:latin typeface="Georgia"/>
              </a:rPr>
              <a:t>A voice, not a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71800"/>
            <a:ext cx="2834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271B2E"/>
                </a:solidFill>
                <a:latin typeface="Calibri"/>
              </a:rPr>
              <a:t>People reply because it sounds like a person at a counter, not a company.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3832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383280" cy="100584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4EDE6"/>
                </a:solidFill>
                <a:latin typeface="Georgia"/>
              </a:rPr>
              <a:t>The zine tie-in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71800"/>
            <a:ext cx="2834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271B2E"/>
                </a:solidFill>
                <a:latin typeface="Calibri"/>
              </a:rPr>
              <a:t>Every issue announcement moves a few copies. The letter and the paper feed each other.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82A6"/>
                </a:solidFill>
                <a:latin typeface="Consolas"/>
              </a:rPr>
              <a:t>06 / 11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DE6"/>
                </a:solidFill>
                <a:latin typeface="Georgia"/>
              </a:rPr>
              <a:t>What did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1143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6C8C"/>
                </a:solidFill>
                <a:latin typeface="Georgia"/>
              </a:rPr>
              <a:t>Chasing a viral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5915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7C6D2"/>
                </a:solidFill>
                <a:latin typeface="Calibri"/>
              </a:rPr>
              <a:t>One essay did numbers, none of them stayed. Growth from shares is a sugar high.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10515600" cy="1143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6C8C"/>
                </a:solidFill>
                <a:latin typeface="Georgia"/>
              </a:rPr>
              <a:t>Overthinking the paid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3075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7C6D2"/>
                </a:solidFill>
                <a:latin typeface="Calibri"/>
              </a:rPr>
              <a:t>Thirteen people pay because they like the work, not because of a locked post. Stop gating.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0515600" cy="1143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177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6C8C"/>
                </a:solidFill>
                <a:latin typeface="Georgia"/>
              </a:rPr>
              <a:t>A rigid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10235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7C6D2"/>
                </a:solidFill>
                <a:latin typeface="Calibri"/>
              </a:rPr>
              <a:t>The weeks I forced a letter were the weak ones. Skip a week honestly instead.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7C6D2"/>
                </a:solidFill>
                <a:latin typeface="Consolas"/>
              </a:rPr>
              <a:t>07 / 11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D2C46"/>
                </a:solidFill>
                <a:latin typeface="Georgia"/>
              </a:rPr>
              <a:t>The honest ledger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828800"/>
            <a:ext cx="3840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200" b="1" i="0">
                <a:solidFill>
                  <a:srgbClr val="3D2C46"/>
                </a:solidFill>
                <a:latin typeface="Georgia"/>
              </a:rPr>
              <a:t>It is not a living.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 i="0">
                <a:solidFill>
                  <a:srgbClr val="271B2E"/>
                </a:solidFill>
                <a:latin typeface="Georgia"/>
              </a:rPr>
              <a:t>Seventy dollars a month covers the paid tools and a little of the printing. That is the honest size of it.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0" i="1">
                <a:solidFill>
                  <a:srgbClr val="6A5A72"/>
                </a:solidFill>
                <a:latin typeface="Georgia"/>
              </a:rPr>
              <a:t>The letter earns its keep in a different currency, the readers who show up to the open mic because they read about it here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82A6"/>
                </a:solidFill>
                <a:latin typeface="Consolas"/>
              </a:rPr>
              <a:t>08 / 11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DE6"/>
                </a:solidFill>
                <a:latin typeface="Georgia"/>
              </a:rPr>
              <a:t>Year two, lightly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120640" cy="1737360"/>
          </a:xfrm>
          <a:prstGeom prst="rect">
            <a:avLst/>
          </a:prstGeom>
          <a:solidFill>
            <a:srgbClr val="45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9728" cy="173736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7C6D2"/>
                </a:solidFill>
                <a:latin typeface="Georgia"/>
              </a:rPr>
              <a:t>Keep the cadence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4EDE6"/>
                </a:solidFill>
                <a:latin typeface="Calibri"/>
              </a:rPr>
              <a:t>Every couple of weeks, no guilt on a skip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120640" cy="1737360"/>
          </a:xfrm>
          <a:prstGeom prst="rect">
            <a:avLst/>
          </a:prstGeom>
          <a:solidFill>
            <a:srgbClr val="45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109728" cy="173736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7C6D2"/>
                </a:solidFill>
                <a:latin typeface="Georgia"/>
              </a:rPr>
              <a:t>400 by winter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4EDE6"/>
                </a:solidFill>
                <a:latin typeface="Calibri"/>
              </a:rPr>
              <a:t>A gentle number, reached by being worth forwarding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40480"/>
            <a:ext cx="5120640" cy="1737360"/>
          </a:xfrm>
          <a:prstGeom prst="rect">
            <a:avLst/>
          </a:prstGeom>
          <a:solidFill>
            <a:srgbClr val="45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840480"/>
            <a:ext cx="109728" cy="173736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7C6D2"/>
                </a:solidFill>
                <a:latin typeface="Georgia"/>
              </a:rPr>
              <a:t>A quarterly long piece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006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4EDE6"/>
                </a:solidFill>
                <a:latin typeface="Calibri"/>
              </a:rPr>
              <a:t>One deeper essay per season, tied to the zine theme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840480"/>
            <a:ext cx="5120640" cy="1737360"/>
          </a:xfrm>
          <a:prstGeom prst="rect">
            <a:avLst/>
          </a:prstGeom>
          <a:solidFill>
            <a:srgbClr val="45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109728" cy="173736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7C6D2"/>
                </a:solidFill>
                <a:latin typeface="Georgia"/>
              </a:rPr>
              <a:t>Trade, not 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006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4EDE6"/>
                </a:solidFill>
                <a:latin typeface="Calibri"/>
              </a:rPr>
              <a:t>Swap letters with two poets I admire, share readers on 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7C6D2"/>
                </a:solidFill>
                <a:latin typeface="Consolas"/>
              </a:rPr>
              <a:t>09 / 11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6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DE6"/>
                </a:solidFill>
                <a:latin typeface="Georgia"/>
              </a:rPr>
              <a:t>If it found you on a hard week,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D2C46"/>
                </a:solidFill>
                <a:latin typeface="Georgia"/>
              </a:rPr>
              <a:t>I hope it was a small good 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46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4EDE6"/>
                </a:solidFill>
                <a:latin typeface="Georgia"/>
              </a:rPr>
              <a:t>Reply any time. I read them all.  /  Marginal Notes, until the next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EDE6"/>
                </a:solidFill>
                <a:latin typeface="Consolas"/>
              </a:rPr>
              <a:t>10 / 11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