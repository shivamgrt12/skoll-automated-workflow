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rgbClr val="35526B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52B30"/>
                        </a:solidFill>
                        <a:latin typeface="Calibri"/>
                      </a:rPr>
                      <a:t>42,000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52B30"/>
                        </a:solidFill>
                        <a:latin typeface="Calibri"/>
                      </a:rPr>
                      <a:t>42,000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52B30"/>
                        </a:solidFill>
                        <a:latin typeface="Calibri"/>
                      </a:rPr>
                      <a:t>42,000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52B30"/>
                        </a:solidFill>
                        <a:latin typeface="Calibri"/>
                      </a:rPr>
                      <a:t>18,000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52B30"/>
                        </a:solidFill>
                        <a:latin typeface="Calibri"/>
                      </a:rPr>
                      <a:t>6,000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Model A</c:v>
                </c:pt>
                <c:pt idx="1">
                  <c:v>Model B</c:v>
                </c:pt>
                <c:pt idx="2">
                  <c:v>Model C</c:v>
                </c:pt>
                <c:pt idx="3">
                  <c:v>Design and PM</c:v>
                </c:pt>
                <c:pt idx="4">
                  <c:v>Logistics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42000</c:v>
                </c:pt>
                <c:pt idx="1">
                  <c:v>42000</c:v>
                </c:pt>
                <c:pt idx="2">
                  <c:v>42000</c:v>
                </c:pt>
                <c:pt idx="3">
                  <c:v>18000</c:v>
                </c:pt>
                <c:pt idx="4">
                  <c:v>6000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252B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52B30"/>
            </a:solidFill>
          </a:ln>
        </c:spPr>
        <c:txPr>
          <a:bodyPr/>
          <a:lstStyle/>
          <a:p>
            <a:pPr>
              <a:defRPr sz="1000">
                <a:solidFill>
                  <a:srgbClr val="252B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52B30"/>
            </a:solidFill>
          </a:ln>
        </c:spPr>
        <c:txPr>
          <a:bodyPr/>
          <a:lstStyle/>
          <a:p>
            <a:pPr>
              <a:defRPr sz="1000">
                <a:solidFill>
                  <a:srgbClr val="252B3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rgbClr val="DECBA6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52B30"/>
                        </a:solidFill>
                        <a:latin typeface="Calibri"/>
                      </a:rPr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52B30"/>
                        </a:solidFill>
                        <a:latin typeface="Calibri"/>
                      </a:rPr>
                      <a:t>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52B30"/>
                        </a:solidFill>
                        <a:latin typeface="Calibri"/>
                      </a:rP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52B30"/>
                        </a:solidFill>
                        <a:latin typeface="Calibri"/>
                      </a:rPr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52B30"/>
                        </a:solidFill>
                        <a:latin typeface="Calibri"/>
                      </a:rPr>
                      <a:t>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Receiving</c:v>
                </c:pt>
                <c:pt idx="1">
                  <c:v>Delivery to homes</c:v>
                </c:pt>
                <c:pt idx="2">
                  <c:v>Styling and set</c:v>
                </c:pt>
                <c:pt idx="3">
                  <c:v>Photography prep</c:v>
                </c:pt>
                <c:pt idx="4">
                  <c:v>Walkthrough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252B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52B30"/>
            </a:solidFill>
          </a:ln>
        </c:spPr>
        <c:txPr>
          <a:bodyPr/>
          <a:lstStyle/>
          <a:p>
            <a:pPr>
              <a:defRPr sz="1000">
                <a:solidFill>
                  <a:srgbClr val="252B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52B30"/>
            </a:solidFill>
          </a:ln>
        </c:spPr>
        <c:txPr>
          <a:bodyPr/>
          <a:lstStyle/>
          <a:p>
            <a:pPr>
              <a:defRPr sz="1000">
                <a:solidFill>
                  <a:srgbClr val="252B3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52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023360"/>
            <a:ext cx="12191695" cy="73152"/>
          </a:xfrm>
          <a:prstGeom prst="rect">
            <a:avLst/>
          </a:prstGeom>
          <a:solidFill>
            <a:srgbClr val="DEC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ECBA6"/>
                </a:solidFill>
                <a:latin typeface="Calibri"/>
              </a:rPr>
              <a:t>SPENCER INTERIORS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Desert Vista Model Homes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DECBA6"/>
                </a:solidFill>
                <a:latin typeface="Calibri"/>
              </a:rPr>
              <a:t>Staging Proposal, Marana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Prepared for Acacia Homes, Attn Brian Torres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ECBA6"/>
                </a:solidFill>
                <a:latin typeface="Calibri"/>
              </a:rPr>
              <a:t>Project SI-2025-DV3  |  November 12, 2025  |  Approved at the proposed figure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35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91440" cy="6858000"/>
          </a:xfrm>
          <a:prstGeom prst="rect">
            <a:avLst/>
          </a:prstGeom>
          <a:solidFill>
            <a:srgbClr val="DEC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ECBA6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ECBA6"/>
                </a:solidFill>
                <a:latin typeface="Calibri"/>
              </a:rPr>
              <a:t>Desert Vista Model Homes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EDF1F4"/>
                </a:solidFill>
                <a:latin typeface="Calibri"/>
              </a:rPr>
              <a:t>Marana, three model homes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914400"/>
            <a:ext cx="21945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914400"/>
            <a:ext cx="2194560" cy="109728"/>
          </a:xfrm>
          <a:prstGeom prst="rect">
            <a:avLst/>
          </a:prstGeom>
          <a:solidFill>
            <a:srgbClr val="35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18872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35526B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8745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52B30"/>
                </a:solidFill>
                <a:latin typeface="Calibri"/>
              </a:rPr>
              <a:t>Model homes to stage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914400"/>
            <a:ext cx="21945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914400"/>
            <a:ext cx="2194560" cy="109728"/>
          </a:xfrm>
          <a:prstGeom prst="rect">
            <a:avLst/>
          </a:prstGeom>
          <a:solidFill>
            <a:srgbClr val="35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18872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35526B"/>
                </a:solidFill>
                <a:latin typeface="Calibri"/>
              </a:rPr>
              <a:t>$150,000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8745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52B30"/>
                </a:solidFill>
                <a:latin typeface="Calibri"/>
              </a:rPr>
              <a:t>Approved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914400"/>
            <a:ext cx="21945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914400"/>
            <a:ext cx="2194560" cy="109728"/>
          </a:xfrm>
          <a:prstGeom prst="rect">
            <a:avLst/>
          </a:prstGeom>
          <a:solidFill>
            <a:srgbClr val="35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18872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35526B"/>
                </a:solidFill>
                <a:latin typeface="Calibri"/>
              </a:rPr>
              <a:t>Oct 24,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8745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52B30"/>
                </a:solidFill>
                <a:latin typeface="Calibri"/>
              </a:rPr>
              <a:t>Install begins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26080"/>
            <a:ext cx="7040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52B30"/>
                </a:solidFill>
                <a:latin typeface="Calibri"/>
              </a:rPr>
              <a:t>Three distinct but related staging schemes show the range of the development while keeping a cohesive desert modern thread. Each home is styled to photograph well and to help buyers connect emotionally with the space, the way they will actually live in it.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35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91440" cy="6858000"/>
          </a:xfrm>
          <a:prstGeom prst="rect">
            <a:avLst/>
          </a:prstGeom>
          <a:solidFill>
            <a:srgbClr val="DEC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ECBA6"/>
                </a:solidFill>
                <a:latin typeface="Calibri"/>
              </a:rPr>
              <a:t>THREE SCHEMES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Staging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ECBA6"/>
                </a:solidFill>
                <a:latin typeface="Calibri"/>
              </a:rPr>
              <a:t>Desert Vista Model Homes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EDF1F4"/>
                </a:solidFill>
                <a:latin typeface="Calibri"/>
              </a:rPr>
              <a:t>Marana, three model homes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822960"/>
            <a:ext cx="70408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822960"/>
            <a:ext cx="128016" cy="1371600"/>
          </a:xfrm>
          <a:prstGeom prst="rect">
            <a:avLst/>
          </a:prstGeom>
          <a:solidFill>
            <a:srgbClr val="DEC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987552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5526B"/>
                </a:solidFill>
                <a:latin typeface="Calibri"/>
              </a:rPr>
              <a:t>Home A, Warm Minimal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81328"/>
            <a:ext cx="6492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52B30"/>
                </a:solidFill>
                <a:latin typeface="Calibri"/>
              </a:rPr>
              <a:t>Oatmeal and walnut, restrained and bright, for the entry level buyer.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377440"/>
            <a:ext cx="70408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377440"/>
            <a:ext cx="128016" cy="1371600"/>
          </a:xfrm>
          <a:prstGeom prst="rect">
            <a:avLst/>
          </a:prstGeom>
          <a:solidFill>
            <a:srgbClr val="DEC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42032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5526B"/>
                </a:solidFill>
                <a:latin typeface="Calibri"/>
              </a:rPr>
              <a:t>Home B, Collected Desert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035808"/>
            <a:ext cx="6492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52B30"/>
                </a:solidFill>
                <a:latin typeface="Calibri"/>
              </a:rPr>
              <a:t>Layered neutrals with vintage notes and tactile textiles, the flagship feel.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931920"/>
            <a:ext cx="70408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3931920"/>
            <a:ext cx="128016" cy="1371600"/>
          </a:xfrm>
          <a:prstGeom prst="rect">
            <a:avLst/>
          </a:prstGeom>
          <a:solidFill>
            <a:srgbClr val="DEC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4096512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5526B"/>
                </a:solidFill>
                <a:latin typeface="Calibri"/>
              </a:rPr>
              <a:t>Home C, Soft Contemporary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590288"/>
            <a:ext cx="6492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52B30"/>
                </a:solidFill>
                <a:latin typeface="Calibri"/>
              </a:rPr>
              <a:t>Cooler palette with sculptural pieces, aimed at the design forward buyer.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35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91440" cy="6858000"/>
          </a:xfrm>
          <a:prstGeom prst="rect">
            <a:avLst/>
          </a:prstGeom>
          <a:solidFill>
            <a:srgbClr val="DEC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ECBA6"/>
                </a:solidFill>
                <a:latin typeface="Calibri"/>
              </a:rPr>
              <a:t>WHERE THE $150,000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Budget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ECBA6"/>
                </a:solidFill>
                <a:latin typeface="Calibri"/>
              </a:rPr>
              <a:t>Desert Vista Model Homes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EDF1F4"/>
                </a:solidFill>
                <a:latin typeface="Calibri"/>
              </a:rPr>
              <a:t>Marana, three model homes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38912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35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91440" cy="6858000"/>
          </a:xfrm>
          <a:prstGeom prst="rect">
            <a:avLst/>
          </a:prstGeom>
          <a:solidFill>
            <a:srgbClr val="DEC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ECBA6"/>
                </a:solidFill>
                <a:latin typeface="Calibri"/>
              </a:rPr>
              <a:t>DAYS PER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Install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ECBA6"/>
                </a:solidFill>
                <a:latin typeface="Calibri"/>
              </a:rPr>
              <a:t>Desert Vista Model Homes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EDF1F4"/>
                </a:solidFill>
                <a:latin typeface="Calibri"/>
              </a:rPr>
              <a:t>Marana, three model homes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389120" y="1097280"/>
          <a:ext cx="6766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80560" y="5486400"/>
            <a:ext cx="6949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52B30"/>
                </a:solidFill>
                <a:latin typeface="Calibri"/>
              </a:rPr>
              <a:t>Install begins October 24, 2026. Furnishings are placed through trade accounts and return to inventory at the close of the program unless purchased.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52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2194560" cy="91440"/>
          </a:xfrm>
          <a:prstGeom prst="rect">
            <a:avLst/>
          </a:prstGeom>
          <a:solidFill>
            <a:srgbClr val="DEC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Ready when you are.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DECBA6"/>
                </a:solidFill>
                <a:latin typeface="Calibri"/>
              </a:rPr>
              <a:t>Approved at the proposed figure, schedule confirmed on acceptance.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DECBA6"/>
                </a:solidFill>
                <a:latin typeface="Calibri"/>
              </a:rPr>
              <a:t>Spencer Interiors  |  Jessica Spencer  |  (480) 555-0270  |  jessica.spencer@Finthesiss.ai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Productivity Suite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Jessica Spencer</dc:creator>
  <cp:keywords/>
  <dc:description/>
  <cp:lastModifiedBy>Jessica Spencer</cp:lastModifiedBy>
  <cp:revision>1</cp:revision>
  <dcterms:created xsi:type="dcterms:W3CDTF">2025-11-12T10:00:00Z</dcterms:created>
  <dcterms:modified xsi:type="dcterms:W3CDTF">2025-11-12T10:00:00Z</dcterms:modified>
  <cp:category/>
</cp:coreProperties>
</file>