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Budget</c:v>
                </c:pt>
              </c:strCache>
            </c:strRef>
          </c:tx>
          <c:spPr>
            <a:solidFill>
              <a:srgbClr val="5C4333"/>
            </a:solidFill>
            <a:ln>
              <a:noFill/>
            </a:ln>
          </c:spPr>
          <c:dLbls>
            <c:dLbl>
              <c:idx val="0"/>
              <c:tx>
                <c:rich>
                  <a:bodyPr/>
                  <a:lstStyle/>
                  <a:p>
                    <a:r>
                      <a:rPr sz="1000">
                        <a:solidFill>
                          <a:srgbClr val="2E2A26"/>
                        </a:solidFill>
                        <a:latin typeface="Calibri"/>
                      </a:rPr>
                      <a:t>62,000</a:t>
                    </a:r>
                  </a:p>
                </c:rich>
              </c:tx>
              <c:showLegendKey val="0"/>
              <c:showVal val="1"/>
              <c:showCatName val="0"/>
              <c:showSerName val="0"/>
              <c:showPercent val="0"/>
              <c:showBubbleSize val="0"/>
            </c:dLbl>
            <c:dLbl>
              <c:idx val="1"/>
              <c:tx>
                <c:rich>
                  <a:bodyPr/>
                  <a:lstStyle/>
                  <a:p>
                    <a:r>
                      <a:rPr sz="1000">
                        <a:solidFill>
                          <a:srgbClr val="2E2A26"/>
                        </a:solidFill>
                        <a:latin typeface="Calibri"/>
                      </a:rPr>
                      <a:t>54,000</a:t>
                    </a:r>
                  </a:p>
                </c:rich>
              </c:tx>
              <c:showLegendKey val="0"/>
              <c:showVal val="1"/>
              <c:showCatName val="0"/>
              <c:showSerName val="0"/>
              <c:showPercent val="0"/>
              <c:showBubbleSize val="0"/>
            </c:dLbl>
            <c:dLbl>
              <c:idx val="2"/>
              <c:tx>
                <c:rich>
                  <a:bodyPr/>
                  <a:lstStyle/>
                  <a:p>
                    <a:r>
                      <a:rPr sz="1000">
                        <a:solidFill>
                          <a:srgbClr val="2E2A26"/>
                        </a:solidFill>
                        <a:latin typeface="Calibri"/>
                      </a:rPr>
                      <a:t>48,000</a:t>
                    </a:r>
                  </a:p>
                </c:rich>
              </c:tx>
              <c:showLegendKey val="0"/>
              <c:showVal val="1"/>
              <c:showCatName val="0"/>
              <c:showSerName val="0"/>
              <c:showPercent val="0"/>
              <c:showBubbleSize val="0"/>
            </c:dLbl>
            <c:dLbl>
              <c:idx val="3"/>
              <c:tx>
                <c:rich>
                  <a:bodyPr/>
                  <a:lstStyle/>
                  <a:p>
                    <a:r>
                      <a:rPr sz="1000">
                        <a:solidFill>
                          <a:srgbClr val="2E2A26"/>
                        </a:solidFill>
                        <a:latin typeface="Calibri"/>
                      </a:rPr>
                      <a:t>40,000</a:t>
                    </a:r>
                  </a:p>
                </c:rich>
              </c:tx>
              <c:showLegendKey val="0"/>
              <c:showVal val="1"/>
              <c:showCatName val="0"/>
              <c:showSerName val="0"/>
              <c:showPercent val="0"/>
              <c:showBubbleSize val="0"/>
            </c:dLbl>
            <c:dLbl>
              <c:idx val="4"/>
              <c:tx>
                <c:rich>
                  <a:bodyPr/>
                  <a:lstStyle/>
                  <a:p>
                    <a:r>
                      <a:rPr sz="1000">
                        <a:solidFill>
                          <a:srgbClr val="2E2A26"/>
                        </a:solidFill>
                        <a:latin typeface="Calibri"/>
                      </a:rPr>
                      <a:t>22,000</a:t>
                    </a:r>
                  </a:p>
                </c:rich>
              </c:tx>
              <c:showLegendKey val="0"/>
              <c:showVal val="1"/>
              <c:showCatName val="0"/>
              <c:showSerName val="0"/>
              <c:showPercent val="0"/>
              <c:showBubbleSize val="0"/>
            </c:dLbl>
            <c:dLbl>
              <c:idx val="5"/>
              <c:tx>
                <c:rich>
                  <a:bodyPr/>
                  <a:lstStyle/>
                  <a:p>
                    <a:r>
                      <a:rPr sz="1000">
                        <a:solidFill>
                          <a:srgbClr val="2E2A26"/>
                        </a:solidFill>
                        <a:latin typeface="Calibri"/>
                      </a:rPr>
                      <a:t>28,000</a:t>
                    </a:r>
                  </a:p>
                </c:rich>
              </c:tx>
              <c:showLegendKey val="0"/>
              <c:showVal val="1"/>
              <c:showCatName val="0"/>
              <c:showSerName val="0"/>
              <c:showPercent val="0"/>
              <c:showBubbleSize val="0"/>
            </c:dLbl>
            <c:dLbl>
              <c:idx val="6"/>
              <c:tx>
                <c:rich>
                  <a:bodyPr/>
                  <a:lstStyle/>
                  <a:p>
                    <a:r>
                      <a:rPr sz="1000">
                        <a:solidFill>
                          <a:srgbClr val="2E2A26"/>
                        </a:solidFill>
                        <a:latin typeface="Calibri"/>
                      </a:rPr>
                      <a:t>24,000</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Furniture</c:v>
                </c:pt>
                <c:pt idx="1">
                  <c:v>Stone and tile</c:v>
                </c:pt>
                <c:pt idx="2">
                  <c:v>Cabinetry</c:v>
                </c:pt>
                <c:pt idx="3">
                  <c:v>Labor</c:v>
                </c:pt>
                <c:pt idx="4">
                  <c:v>Lighting</c:v>
                </c:pt>
                <c:pt idx="5">
                  <c:v>Textiles</c:v>
                </c:pt>
                <c:pt idx="6">
                  <c:v>Appliances</c:v>
                </c:pt>
              </c:strCache>
            </c:strRef>
          </c:cat>
          <c:val>
            <c:numRef>
              <c:f>Sheet1!$B$2:$B$8</c:f>
              <c:numCache>
                <c:formatCode>General</c:formatCode>
                <c:ptCount val="7"/>
                <c:pt idx="0">
                  <c:v>62000</c:v>
                </c:pt>
                <c:pt idx="1">
                  <c:v>54000</c:v>
                </c:pt>
                <c:pt idx="2">
                  <c:v>48000</c:v>
                </c:pt>
                <c:pt idx="3">
                  <c:v>40000</c:v>
                </c:pt>
                <c:pt idx="4">
                  <c:v>22000</c:v>
                </c:pt>
                <c:pt idx="5">
                  <c:v>28000</c:v>
                </c:pt>
                <c:pt idx="6">
                  <c:v>24000</c:v>
                </c:pt>
              </c:numCache>
            </c:numRef>
          </c:val>
        </c:ser>
        <c:ser>
          <c:idx val="1"/>
          <c:order val="1"/>
          <c:tx>
            <c:strRef>
              <c:f>Sheet1!$C$1</c:f>
              <c:strCache>
                <c:ptCount val="1"/>
                <c:pt idx="0">
                  <c:v>Spent to date</c:v>
                </c:pt>
              </c:strCache>
            </c:strRef>
          </c:tx>
          <c:spPr>
            <a:solidFill>
              <a:srgbClr val="B05A2B"/>
            </a:solidFill>
            <a:ln>
              <a:noFill/>
            </a:ln>
          </c:spPr>
          <c:dLbls>
            <c:dLbl>
              <c:idx val="0"/>
              <c:tx>
                <c:rich>
                  <a:bodyPr/>
                  <a:lstStyle/>
                  <a:p>
                    <a:r>
                      <a:rPr sz="1000">
                        <a:solidFill>
                          <a:srgbClr val="2E2A26"/>
                        </a:solidFill>
                        <a:latin typeface="Calibri"/>
                      </a:rPr>
                      <a:t>38,000</a:t>
                    </a:r>
                  </a:p>
                </c:rich>
              </c:tx>
              <c:showLegendKey val="0"/>
              <c:showVal val="1"/>
              <c:showCatName val="0"/>
              <c:showSerName val="0"/>
              <c:showPercent val="0"/>
              <c:showBubbleSize val="0"/>
            </c:dLbl>
            <c:dLbl>
              <c:idx val="1"/>
              <c:tx>
                <c:rich>
                  <a:bodyPr/>
                  <a:lstStyle/>
                  <a:p>
                    <a:r>
                      <a:rPr sz="1000">
                        <a:solidFill>
                          <a:srgbClr val="2E2A26"/>
                        </a:solidFill>
                        <a:latin typeface="Calibri"/>
                      </a:rPr>
                      <a:t>41,000</a:t>
                    </a:r>
                  </a:p>
                </c:rich>
              </c:tx>
              <c:showLegendKey val="0"/>
              <c:showVal val="1"/>
              <c:showCatName val="0"/>
              <c:showSerName val="0"/>
              <c:showPercent val="0"/>
              <c:showBubbleSize val="0"/>
            </c:dLbl>
            <c:dLbl>
              <c:idx val="2"/>
              <c:tx>
                <c:rich>
                  <a:bodyPr/>
                  <a:lstStyle/>
                  <a:p>
                    <a:r>
                      <a:rPr sz="1000">
                        <a:solidFill>
                          <a:srgbClr val="2E2A26"/>
                        </a:solidFill>
                        <a:latin typeface="Calibri"/>
                      </a:rPr>
                      <a:t>32,000</a:t>
                    </a:r>
                  </a:p>
                </c:rich>
              </c:tx>
              <c:showLegendKey val="0"/>
              <c:showVal val="1"/>
              <c:showCatName val="0"/>
              <c:showSerName val="0"/>
              <c:showPercent val="0"/>
              <c:showBubbleSize val="0"/>
            </c:dLbl>
            <c:dLbl>
              <c:idx val="3"/>
              <c:tx>
                <c:rich>
                  <a:bodyPr/>
                  <a:lstStyle/>
                  <a:p>
                    <a:r>
                      <a:rPr sz="1000">
                        <a:solidFill>
                          <a:srgbClr val="2E2A26"/>
                        </a:solidFill>
                        <a:latin typeface="Calibri"/>
                      </a:rPr>
                      <a:t>14,000</a:t>
                    </a:r>
                  </a:p>
                </c:rich>
              </c:tx>
              <c:showLegendKey val="0"/>
              <c:showVal val="1"/>
              <c:showCatName val="0"/>
              <c:showSerName val="0"/>
              <c:showPercent val="0"/>
              <c:showBubbleSize val="0"/>
            </c:dLbl>
            <c:dLbl>
              <c:idx val="4"/>
              <c:tx>
                <c:rich>
                  <a:bodyPr/>
                  <a:lstStyle/>
                  <a:p>
                    <a:r>
                      <a:rPr sz="1000">
                        <a:solidFill>
                          <a:srgbClr val="2E2A26"/>
                        </a:solidFill>
                        <a:latin typeface="Calibri"/>
                      </a:rPr>
                      <a:t>14,000</a:t>
                    </a:r>
                  </a:p>
                </c:rich>
              </c:tx>
              <c:showLegendKey val="0"/>
              <c:showVal val="1"/>
              <c:showCatName val="0"/>
              <c:showSerName val="0"/>
              <c:showPercent val="0"/>
              <c:showBubbleSize val="0"/>
            </c:dLbl>
            <c:dLbl>
              <c:idx val="5"/>
              <c:tx>
                <c:rich>
                  <a:bodyPr/>
                  <a:lstStyle/>
                  <a:p>
                    <a:r>
                      <a:rPr sz="1000">
                        <a:solidFill>
                          <a:srgbClr val="2E2A26"/>
                        </a:solidFill>
                        <a:latin typeface="Calibri"/>
                      </a:rPr>
                      <a:t>12,000</a:t>
                    </a:r>
                  </a:p>
                </c:rich>
              </c:tx>
              <c:showLegendKey val="0"/>
              <c:showVal val="1"/>
              <c:showCatName val="0"/>
              <c:showSerName val="0"/>
              <c:showPercent val="0"/>
              <c:showBubbleSize val="0"/>
            </c:dLbl>
            <c:dLbl>
              <c:idx val="6"/>
              <c:tx>
                <c:rich>
                  <a:bodyPr/>
                  <a:lstStyle/>
                  <a:p>
                    <a:r>
                      <a:rPr sz="1000">
                        <a:solidFill>
                          <a:srgbClr val="2E2A26"/>
                        </a:solidFill>
                        <a:latin typeface="Calibri"/>
                      </a:rPr>
                      <a:t>18,000</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Furniture</c:v>
                </c:pt>
                <c:pt idx="1">
                  <c:v>Stone and tile</c:v>
                </c:pt>
                <c:pt idx="2">
                  <c:v>Cabinetry</c:v>
                </c:pt>
                <c:pt idx="3">
                  <c:v>Labor</c:v>
                </c:pt>
                <c:pt idx="4">
                  <c:v>Lighting</c:v>
                </c:pt>
                <c:pt idx="5">
                  <c:v>Textiles</c:v>
                </c:pt>
                <c:pt idx="6">
                  <c:v>Appliances</c:v>
                </c:pt>
              </c:strCache>
            </c:strRef>
          </c:cat>
          <c:val>
            <c:numRef>
              <c:f>Sheet1!$C$2:$C$8</c:f>
              <c:numCache>
                <c:formatCode>General</c:formatCode>
                <c:ptCount val="7"/>
                <c:pt idx="0">
                  <c:v>38000</c:v>
                </c:pt>
                <c:pt idx="1">
                  <c:v>41000</c:v>
                </c:pt>
                <c:pt idx="2">
                  <c:v>32000</c:v>
                </c:pt>
                <c:pt idx="3">
                  <c:v>14000</c:v>
                </c:pt>
                <c:pt idx="4">
                  <c:v>14000</c:v>
                </c:pt>
                <c:pt idx="5">
                  <c:v>12000</c:v>
                </c:pt>
                <c:pt idx="6">
                  <c:v>18000</c:v>
                </c:pt>
              </c:numCache>
            </c:numRef>
          </c:val>
        </c:ser>
        <c:dLbls>
          <c:txPr>
            <a:bodyPr/>
            <a:lstStyle/>
            <a:p>
              <a:pPr>
                <a:defRPr sz="1000">
                  <a:solidFill>
                    <a:srgbClr val="2E2A26"/>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spPr>
          <a:ln>
            <a:solidFill>
              <a:srgbClr val="2E2A26"/>
            </a:solidFill>
          </a:ln>
        </c:spPr>
        <c:txPr>
          <a:bodyPr/>
          <a:lstStyle/>
          <a:p>
            <a:pPr>
              <a:defRPr sz="1000">
                <a:solidFill>
                  <a:srgbClr val="2E2A26"/>
                </a:solidFill>
              </a:defRPr>
            </a:pPr>
          </a:p>
        </c:txPr>
        <c:crossAx val="-2113994440"/>
        <c:crosses val="autoZero"/>
        <c:auto val="1"/>
        <c:lblAlgn val="ctr"/>
        <c:lblOffset val="100"/>
        <c:noMultiLvlLbl val="0"/>
      </c:catAx>
      <c:valAx>
        <c:axId val="-2113994440"/>
        <c:scaling/>
        <c:delete val="0"/>
        <c:axPos val="l"/>
        <c:majorGridlines>
          <c:spPr>
            <a:ln>
              <a:solidFill>
                <a:srgbClr val="DDDDDD"/>
              </a:solidFill>
            </a:ln>
          </c:spPr>
        </c:majorGridlines>
        <c:majorTickMark val="out"/>
        <c:minorTickMark val="none"/>
        <c:tickLblPos val="nextTo"/>
        <c:spPr>
          <a:ln>
            <a:solidFill>
              <a:srgbClr val="2E2A26"/>
            </a:solidFill>
          </a:ln>
        </c:spPr>
        <c:txPr>
          <a:bodyPr/>
          <a:lstStyle/>
          <a:p>
            <a:pPr>
              <a:defRPr sz="1000">
                <a:solidFill>
                  <a:srgbClr val="2E2A26"/>
                </a:solidFill>
              </a:defRPr>
            </a:pPr>
          </a:p>
        </c:txPr>
        <c:crossAx val="-2068027336"/>
        <c:crosses val="autoZero"/>
      </c:valAx>
    </c:plotArea>
    <c:legend>
      <c:legendPos val="t"/>
      <c:overlay val="0"/>
      <c:txPr>
        <a:bodyPr/>
        <a:lstStyle/>
        <a:p>
          <a:pPr>
            <a:defRPr sz="1100">
              <a:solidFill>
                <a:srgbClr val="2E2A26"/>
              </a:solidFill>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Dollars</c:v>
                </c:pt>
              </c:strCache>
            </c:strRef>
          </c:tx>
          <c:spPr>
            <a:solidFill>
              <a:srgbClr val="B05A2B"/>
            </a:solidFill>
            <a:ln>
              <a:noFill/>
            </a:ln>
          </c:spPr>
          <c:dLbls>
            <c:dLbl>
              <c:idx val="0"/>
              <c:tx>
                <c:rich>
                  <a:bodyPr/>
                  <a:lstStyle/>
                  <a:p>
                    <a:r>
                      <a:rPr sz="1000">
                        <a:solidFill>
                          <a:srgbClr val="2E2A26"/>
                        </a:solidFill>
                        <a:latin typeface="Calibri"/>
                      </a:rPr>
                      <a:t>187,000</a:t>
                    </a:r>
                  </a:p>
                </c:rich>
              </c:tx>
              <c:showLegendKey val="0"/>
              <c:showVal val="1"/>
              <c:showCatName val="0"/>
              <c:showSerName val="0"/>
              <c:showPercent val="0"/>
              <c:showBubbleSize val="0"/>
            </c:dLbl>
            <c:dLbl>
              <c:idx val="1"/>
              <c:tx>
                <c:rich>
                  <a:bodyPr/>
                  <a:lstStyle/>
                  <a:p>
                    <a:r>
                      <a:rPr sz="1000">
                        <a:solidFill>
                          <a:srgbClr val="2E2A26"/>
                        </a:solidFill>
                        <a:latin typeface="Calibri"/>
                      </a:rPr>
                      <a:t>73,000</a:t>
                    </a:r>
                  </a:p>
                </c:rich>
              </c:tx>
              <c:showLegendKey val="0"/>
              <c:showVal val="1"/>
              <c:showCatName val="0"/>
              <c:showSerName val="0"/>
              <c:showPercent val="0"/>
              <c:showBubbleSize val="0"/>
            </c:dLbl>
            <c:dLbl>
              <c:idx val="2"/>
              <c:tx>
                <c:rich>
                  <a:bodyPr/>
                  <a:lstStyle/>
                  <a:p>
                    <a:r>
                      <a:rPr sz="1000">
                        <a:solidFill>
                          <a:srgbClr val="2E2A26"/>
                        </a:solidFill>
                        <a:latin typeface="Calibri"/>
                      </a:rPr>
                      <a:t>60,000</a:t>
                    </a:r>
                  </a:p>
                </c:rich>
              </c:tx>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Spent to date</c:v>
                </c:pt>
                <c:pt idx="1">
                  <c:v>Committed not yet spent</c:v>
                </c:pt>
                <c:pt idx="2">
                  <c:v>Remaining</c:v>
                </c:pt>
              </c:strCache>
            </c:strRef>
          </c:cat>
          <c:val>
            <c:numRef>
              <c:f>Sheet1!$B$2:$B$4</c:f>
              <c:numCache>
                <c:formatCode>General</c:formatCode>
                <c:ptCount val="3"/>
                <c:pt idx="0">
                  <c:v>187000</c:v>
                </c:pt>
                <c:pt idx="1">
                  <c:v>73000</c:v>
                </c:pt>
                <c:pt idx="2">
                  <c:v>60000</c:v>
                </c:pt>
              </c:numCache>
            </c:numRef>
          </c:val>
        </c:ser>
        <c:dLbls>
          <c:txPr>
            <a:bodyPr/>
            <a:lstStyle/>
            <a:p>
              <a:pPr>
                <a:defRPr sz="1000">
                  <a:solidFill>
                    <a:srgbClr val="2E2A26"/>
                  </a:solidFill>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spPr>
          <a:ln>
            <a:solidFill>
              <a:srgbClr val="2E2A26"/>
            </a:solidFill>
          </a:ln>
        </c:spPr>
        <c:txPr>
          <a:bodyPr/>
          <a:lstStyle/>
          <a:p>
            <a:pPr>
              <a:defRPr sz="1000">
                <a:solidFill>
                  <a:srgbClr val="2E2A26"/>
                </a:solidFill>
              </a:defRPr>
            </a:pPr>
          </a:p>
        </c:txPr>
        <c:crossAx val="-2113994440"/>
        <c:crosses val="autoZero"/>
        <c:auto val="1"/>
        <c:lblAlgn val="ctr"/>
        <c:lblOffset val="100"/>
        <c:noMultiLvlLbl val="0"/>
      </c:catAx>
      <c:valAx>
        <c:axId val="-2113994440"/>
        <c:scaling/>
        <c:delete val="0"/>
        <c:axPos val="b"/>
        <c:majorGridlines>
          <c:spPr>
            <a:ln>
              <a:solidFill>
                <a:srgbClr val="DDDDDD"/>
              </a:solidFill>
            </a:ln>
          </c:spPr>
        </c:majorGridlines>
        <c:majorTickMark val="out"/>
        <c:minorTickMark val="none"/>
        <c:tickLblPos val="nextTo"/>
        <c:spPr>
          <a:ln>
            <a:solidFill>
              <a:srgbClr val="2E2A26"/>
            </a:solidFill>
          </a:ln>
        </c:spPr>
        <c:txPr>
          <a:bodyPr/>
          <a:lstStyle/>
          <a:p>
            <a:pPr>
              <a:defRPr sz="1000">
                <a:solidFill>
                  <a:srgbClr val="2E2A26"/>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Region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Region 4"/>
          <p:cNvSpPr>
            <a:spLocks noGrp="1"/>
          </p:cNvSpPr>
          <p:nvPr>
            <p:ph type="ftr" sz="quarter" idx="11"/>
          </p:nvPr>
        </p:nvSpPr>
        <p:spPr/>
        <p:txBody>
          <a:bodyPr/>
          <a:lstStyle/>
          <a:p>
            <a:endParaRPr lang="en-US"/>
          </a:p>
        </p:txBody>
      </p:sp>
      <p:sp>
        <p:nvSpPr>
          <p:cNvPr id="6" name="Slide Number Region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Region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Region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Region 4"/>
          <p:cNvSpPr>
            <a:spLocks noGrp="1"/>
          </p:cNvSpPr>
          <p:nvPr>
            <p:ph type="ftr" sz="quarter" idx="11"/>
          </p:nvPr>
        </p:nvSpPr>
        <p:spPr/>
        <p:txBody>
          <a:bodyPr/>
          <a:lstStyle/>
          <a:p>
            <a:endParaRPr lang="en-US"/>
          </a:p>
        </p:txBody>
      </p:sp>
      <p:sp>
        <p:nvSpPr>
          <p:cNvPr id="6" name="Slide Number Region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Region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Region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Region 4"/>
          <p:cNvSpPr>
            <a:spLocks noGrp="1"/>
          </p:cNvSpPr>
          <p:nvPr>
            <p:ph type="ftr" sz="quarter" idx="11"/>
          </p:nvPr>
        </p:nvSpPr>
        <p:spPr/>
        <p:txBody>
          <a:bodyPr/>
          <a:lstStyle/>
          <a:p>
            <a:endParaRPr lang="en-US"/>
          </a:p>
        </p:txBody>
      </p:sp>
      <p:sp>
        <p:nvSpPr>
          <p:cNvPr id="6" name="Slide Number Region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Region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Region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Region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Region 5"/>
          <p:cNvSpPr>
            <a:spLocks noGrp="1"/>
          </p:cNvSpPr>
          <p:nvPr>
            <p:ph type="ftr" sz="quarter" idx="11"/>
          </p:nvPr>
        </p:nvSpPr>
        <p:spPr/>
        <p:txBody>
          <a:bodyPr/>
          <a:lstStyle/>
          <a:p>
            <a:endParaRPr lang="en-US"/>
          </a:p>
        </p:txBody>
      </p:sp>
      <p:sp>
        <p:nvSpPr>
          <p:cNvPr id="7" name="Slide Number Region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Region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Region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Region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Region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Region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Region 7"/>
          <p:cNvSpPr>
            <a:spLocks noGrp="1"/>
          </p:cNvSpPr>
          <p:nvPr>
            <p:ph type="ftr" sz="quarter" idx="11"/>
          </p:nvPr>
        </p:nvSpPr>
        <p:spPr/>
        <p:txBody>
          <a:bodyPr/>
          <a:lstStyle/>
          <a:p>
            <a:endParaRPr lang="en-US"/>
          </a:p>
        </p:txBody>
      </p:sp>
      <p:sp>
        <p:nvSpPr>
          <p:cNvPr id="9" name="Slide Number Region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Region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Region 3"/>
          <p:cNvSpPr>
            <a:spLocks noGrp="1"/>
          </p:cNvSpPr>
          <p:nvPr>
            <p:ph type="ftr" sz="quarter" idx="11"/>
          </p:nvPr>
        </p:nvSpPr>
        <p:spPr/>
        <p:txBody>
          <a:bodyPr/>
          <a:lstStyle/>
          <a:p>
            <a:endParaRPr lang="en-US"/>
          </a:p>
        </p:txBody>
      </p:sp>
      <p:sp>
        <p:nvSpPr>
          <p:cNvPr id="5" name="Slide Number Region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Region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Region 2"/>
          <p:cNvSpPr>
            <a:spLocks noGrp="1"/>
          </p:cNvSpPr>
          <p:nvPr>
            <p:ph type="ftr" sz="quarter" idx="11"/>
          </p:nvPr>
        </p:nvSpPr>
        <p:spPr/>
        <p:txBody>
          <a:bodyPr/>
          <a:lstStyle/>
          <a:p>
            <a:endParaRPr lang="en-US"/>
          </a:p>
        </p:txBody>
      </p:sp>
      <p:sp>
        <p:nvSpPr>
          <p:cNvPr id="4" name="Slide Number Region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Region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Region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Region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Region 5"/>
          <p:cNvSpPr>
            <a:spLocks noGrp="1"/>
          </p:cNvSpPr>
          <p:nvPr>
            <p:ph type="ftr" sz="quarter" idx="11"/>
          </p:nvPr>
        </p:nvSpPr>
        <p:spPr/>
        <p:txBody>
          <a:bodyPr/>
          <a:lstStyle/>
          <a:p>
            <a:endParaRPr lang="en-US"/>
          </a:p>
        </p:txBody>
      </p:sp>
      <p:sp>
        <p:nvSpPr>
          <p:cNvPr id="7" name="Slide Number Region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Region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Region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Region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Region 5"/>
          <p:cNvSpPr>
            <a:spLocks noGrp="1"/>
          </p:cNvSpPr>
          <p:nvPr>
            <p:ph type="ftr" sz="quarter" idx="11"/>
          </p:nvPr>
        </p:nvSpPr>
        <p:spPr/>
        <p:txBody>
          <a:bodyPr/>
          <a:lstStyle/>
          <a:p>
            <a:endParaRPr lang="en-US"/>
          </a:p>
        </p:txBody>
      </p:sp>
      <p:sp>
        <p:nvSpPr>
          <p:cNvPr id="7" name="Slide Number Region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Region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Region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Region 4"/>
          <p:cNvSpPr>
            <a:spLocks noGrp="1"/>
          </p:cNvSpPr>
          <p:nvPr>
            <p:ph type="ftr" sz="quarter" idx="11"/>
          </p:nvPr>
        </p:nvSpPr>
        <p:spPr/>
        <p:txBody>
          <a:bodyPr/>
          <a:lstStyle/>
          <a:p>
            <a:endParaRPr lang="en-US"/>
          </a:p>
        </p:txBody>
      </p:sp>
      <p:sp>
        <p:nvSpPr>
          <p:cNvPr id="6" name="Slide Number Region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Region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Region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Region 4"/>
          <p:cNvSpPr>
            <a:spLocks noGrp="1"/>
          </p:cNvSpPr>
          <p:nvPr>
            <p:ph type="ftr" sz="quarter" idx="11"/>
          </p:nvPr>
        </p:nvSpPr>
        <p:spPr/>
        <p:txBody>
          <a:bodyPr/>
          <a:lstStyle/>
          <a:p>
            <a:endParaRPr lang="en-US"/>
          </a:p>
        </p:txBody>
      </p:sp>
      <p:sp>
        <p:nvSpPr>
          <p:cNvPr id="6" name="Slide Number Region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Region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Region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Region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Region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Region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5C4333"/>
        </a:solidFill>
        <a:effectLst/>
      </p:bgPr>
    </p:bg>
    <p:spTree>
      <p:nvGrpSpPr>
        <p:cNvPr id="1" name=""/>
        <p:cNvGrpSpPr/>
        <p:nvPr/>
      </p:nvGrpSpPr>
      <p:grpSpPr/>
      <p:sp>
        <p:nvSpPr>
          <p:cNvPr id="2" name="Rectangle 1"/>
          <p:cNvSpPr/>
          <p:nvPr/>
        </p:nvSpPr>
        <p:spPr>
          <a:xfrm>
            <a:off x="0" y="2377440"/>
            <a:ext cx="12191695" cy="45720"/>
          </a:xfrm>
          <a:prstGeom prst="rect">
            <a:avLst/>
          </a:prstGeom>
          <a:solidFill>
            <a:srgbClr val="B05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10515600" cy="457200"/>
          </a:xfrm>
          <a:prstGeom prst="rect">
            <a:avLst/>
          </a:prstGeom>
          <a:noFill/>
        </p:spPr>
        <p:txBody>
          <a:bodyPr wrap="square" anchor="t">
            <a:spAutoFit/>
          </a:bodyPr>
          <a:lstStyle/>
          <a:p>
            <a:pPr algn="l">
              <a:spcBef>
                <a:spcPts val="0"/>
              </a:spcBef>
              <a:spcAft>
                <a:spcPts val="600"/>
              </a:spcAft>
            </a:pPr>
            <a:r>
              <a:rPr sz="1600" b="1" i="0">
                <a:solidFill>
                  <a:srgbClr val="E3D4BF"/>
                </a:solidFill>
                <a:latin typeface="Calibri"/>
              </a:rPr>
              <a:t>SPENCER INTERIORS</a:t>
            </a:r>
          </a:p>
        </p:txBody>
      </p:sp>
      <p:sp>
        <p:nvSpPr>
          <p:cNvPr id="4" name="TextBox 3"/>
          <p:cNvSpPr txBox="1"/>
          <p:nvPr/>
        </p:nvSpPr>
        <p:spPr>
          <a:xfrm>
            <a:off x="777240" y="2468880"/>
            <a:ext cx="10607040" cy="1463040"/>
          </a:xfrm>
          <a:prstGeom prst="rect">
            <a:avLst/>
          </a:prstGeom>
          <a:noFill/>
        </p:spPr>
        <p:txBody>
          <a:bodyPr wrap="square" anchor="t">
            <a:spAutoFit/>
          </a:bodyPr>
          <a:lstStyle/>
          <a:p>
            <a:pPr algn="l">
              <a:spcBef>
                <a:spcPts val="0"/>
              </a:spcBef>
              <a:spcAft>
                <a:spcPts val="600"/>
              </a:spcAft>
            </a:pPr>
            <a:r>
              <a:rPr sz="4600" b="1" i="0">
                <a:solidFill>
                  <a:srgbClr val="F6F0E7"/>
                </a:solidFill>
                <a:latin typeface="Calibri"/>
              </a:rPr>
              <a:t>Hendricks Residence</a:t>
            </a:r>
          </a:p>
          <a:p>
            <a:pPr algn="l">
              <a:spcBef>
                <a:spcPts val="0"/>
              </a:spcBef>
              <a:spcAft>
                <a:spcPts val="600"/>
              </a:spcAft>
            </a:pPr>
            <a:r>
              <a:rPr sz="2200" b="0" i="0">
                <a:solidFill>
                  <a:srgbClr val="E3D4BF"/>
                </a:solidFill>
                <a:latin typeface="Calibri"/>
              </a:rPr>
              <a:t>Full Home Redesign, Paradise Valley</a:t>
            </a:r>
          </a:p>
        </p:txBody>
      </p:sp>
      <p:sp>
        <p:nvSpPr>
          <p:cNvPr id="5" name="TextBox 4"/>
          <p:cNvSpPr txBox="1"/>
          <p:nvPr/>
        </p:nvSpPr>
        <p:spPr>
          <a:xfrm>
            <a:off x="822960" y="4937760"/>
            <a:ext cx="10515600" cy="1097280"/>
          </a:xfrm>
          <a:prstGeom prst="rect">
            <a:avLst/>
          </a:prstGeom>
          <a:noFill/>
        </p:spPr>
        <p:txBody>
          <a:bodyPr wrap="square" anchor="t">
            <a:spAutoFit/>
          </a:bodyPr>
          <a:lstStyle/>
          <a:p>
            <a:pPr algn="l">
              <a:spcBef>
                <a:spcPts val="0"/>
              </a:spcBef>
              <a:spcAft>
                <a:spcPts val="600"/>
              </a:spcAft>
            </a:pPr>
            <a:r>
              <a:rPr sz="1600" b="1" i="0">
                <a:solidFill>
                  <a:srgbClr val="F6F0E7"/>
                </a:solidFill>
                <a:latin typeface="Calibri"/>
              </a:rPr>
              <a:t>Client Design Presentation</a:t>
            </a:r>
          </a:p>
          <a:p>
            <a:pPr algn="l">
              <a:spcBef>
                <a:spcPts val="0"/>
              </a:spcBef>
              <a:spcAft>
                <a:spcPts val="600"/>
              </a:spcAft>
            </a:pPr>
            <a:r>
              <a:rPr sz="1300" b="0" i="0">
                <a:solidFill>
                  <a:srgbClr val="E3D4BF"/>
                </a:solidFill>
                <a:latin typeface="Calibri"/>
              </a:rPr>
              <a:t>Tom and Rebecca Hendricks  |  February 24, 2026  |  Prepared by Jessica Spencer</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0E7"/>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B05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6032" y="502920"/>
            <a:ext cx="1463040" cy="82296"/>
          </a:xfrm>
          <a:prstGeom prst="rect">
            <a:avLst/>
          </a:prstGeom>
          <a:solidFill>
            <a:srgbClr val="5C4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0080"/>
            <a:ext cx="10972800" cy="411480"/>
          </a:xfrm>
          <a:prstGeom prst="rect">
            <a:avLst/>
          </a:prstGeom>
          <a:noFill/>
        </p:spPr>
        <p:txBody>
          <a:bodyPr wrap="square" anchor="t">
            <a:spAutoFit/>
          </a:bodyPr>
          <a:lstStyle/>
          <a:p>
            <a:pPr algn="l">
              <a:spcBef>
                <a:spcPts val="0"/>
              </a:spcBef>
              <a:spcAft>
                <a:spcPts val="600"/>
              </a:spcAft>
            </a:pPr>
            <a:r>
              <a:rPr sz="1300" b="1" i="0">
                <a:solidFill>
                  <a:srgbClr val="5C4333"/>
                </a:solidFill>
                <a:latin typeface="Calibri"/>
              </a:rPr>
              <a:t>WHERE WE ARE</a:t>
            </a:r>
          </a:p>
        </p:txBody>
      </p:sp>
      <p:sp>
        <p:nvSpPr>
          <p:cNvPr id="5" name="TextBox 4"/>
          <p:cNvSpPr txBox="1"/>
          <p:nvPr/>
        </p:nvSpPr>
        <p:spPr>
          <a:xfrm>
            <a:off x="457200" y="960120"/>
            <a:ext cx="11247120" cy="868680"/>
          </a:xfrm>
          <a:prstGeom prst="rect">
            <a:avLst/>
          </a:prstGeom>
          <a:noFill/>
        </p:spPr>
        <p:txBody>
          <a:bodyPr wrap="square" anchor="t">
            <a:spAutoFit/>
          </a:bodyPr>
          <a:lstStyle/>
          <a:p>
            <a:pPr algn="l">
              <a:spcBef>
                <a:spcPts val="0"/>
              </a:spcBef>
              <a:spcAft>
                <a:spcPts val="600"/>
              </a:spcAft>
            </a:pPr>
            <a:r>
              <a:rPr sz="3000" b="1" i="0">
                <a:solidFill>
                  <a:srgbClr val="2E2A26"/>
                </a:solidFill>
                <a:latin typeface="Calibri"/>
              </a:rPr>
              <a:t>Project Overview</a:t>
            </a:r>
          </a:p>
        </p:txBody>
      </p:sp>
      <p:sp>
        <p:nvSpPr>
          <p:cNvPr id="6" name="Rectangle 5"/>
          <p:cNvSpPr/>
          <p:nvPr/>
        </p:nvSpPr>
        <p:spPr>
          <a:xfrm>
            <a:off x="502920" y="6400800"/>
            <a:ext cx="11155680" cy="12700"/>
          </a:xfrm>
          <a:prstGeom prst="rect">
            <a:avLst/>
          </a:prstGeom>
          <a:solidFill>
            <a:srgbClr val="E3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37376"/>
            <a:ext cx="10972800" cy="274320"/>
          </a:xfrm>
          <a:prstGeom prst="rect">
            <a:avLst/>
          </a:prstGeom>
          <a:noFill/>
        </p:spPr>
        <p:txBody>
          <a:bodyPr wrap="square" anchor="t">
            <a:spAutoFit/>
          </a:bodyPr>
          <a:lstStyle/>
          <a:p>
            <a:pPr algn="l">
              <a:spcBef>
                <a:spcPts val="0"/>
              </a:spcBef>
              <a:spcAft>
                <a:spcPts val="600"/>
              </a:spcAft>
            </a:pPr>
            <a:r>
              <a:rPr sz="900" b="0" i="0">
                <a:solidFill>
                  <a:srgbClr val="7A7A52"/>
                </a:solidFill>
                <a:latin typeface="Calibri"/>
              </a:rPr>
              <a:t>Spencer Interiors  |  Project SI-2024-H01  |  Confidential client document</a:t>
            </a:r>
          </a:p>
        </p:txBody>
      </p:sp>
      <p:sp>
        <p:nvSpPr>
          <p:cNvPr id="8" name="Rectangle 7"/>
          <p:cNvSpPr/>
          <p:nvPr/>
        </p:nvSpPr>
        <p:spPr>
          <a:xfrm>
            <a:off x="548640" y="2011680"/>
            <a:ext cx="2606040" cy="1554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11680"/>
            <a:ext cx="2606040" cy="109728"/>
          </a:xfrm>
          <a:prstGeom prst="rect">
            <a:avLst/>
          </a:prstGeom>
          <a:solidFill>
            <a:srgbClr val="B05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286000"/>
            <a:ext cx="2331720" cy="731520"/>
          </a:xfrm>
          <a:prstGeom prst="rect">
            <a:avLst/>
          </a:prstGeom>
          <a:noFill/>
        </p:spPr>
        <p:txBody>
          <a:bodyPr wrap="square" anchor="t">
            <a:spAutoFit/>
          </a:bodyPr>
          <a:lstStyle/>
          <a:p>
            <a:pPr algn="l">
              <a:spcBef>
                <a:spcPts val="0"/>
              </a:spcBef>
              <a:spcAft>
                <a:spcPts val="600"/>
              </a:spcAft>
            </a:pPr>
            <a:r>
              <a:rPr sz="2200" b="1" i="0">
                <a:solidFill>
                  <a:srgbClr val="5C4333"/>
                </a:solidFill>
                <a:latin typeface="Calibri"/>
              </a:rPr>
              <a:t>4,200 sq ft</a:t>
            </a:r>
          </a:p>
        </p:txBody>
      </p:sp>
      <p:sp>
        <p:nvSpPr>
          <p:cNvPr id="11" name="TextBox 10"/>
          <p:cNvSpPr txBox="1"/>
          <p:nvPr/>
        </p:nvSpPr>
        <p:spPr>
          <a:xfrm>
            <a:off x="685800" y="2971800"/>
            <a:ext cx="2331720" cy="548640"/>
          </a:xfrm>
          <a:prstGeom prst="rect">
            <a:avLst/>
          </a:prstGeom>
          <a:noFill/>
        </p:spPr>
        <p:txBody>
          <a:bodyPr wrap="square" anchor="t">
            <a:spAutoFit/>
          </a:bodyPr>
          <a:lstStyle/>
          <a:p>
            <a:pPr algn="l">
              <a:spcBef>
                <a:spcPts val="0"/>
              </a:spcBef>
              <a:spcAft>
                <a:spcPts val="600"/>
              </a:spcAft>
            </a:pPr>
            <a:r>
              <a:rPr sz="1200" b="0" i="0">
                <a:solidFill>
                  <a:srgbClr val="2E2A26"/>
                </a:solidFill>
                <a:latin typeface="Calibri"/>
              </a:rPr>
              <a:t>Modern home, Paradise Valley</a:t>
            </a:r>
          </a:p>
        </p:txBody>
      </p:sp>
      <p:sp>
        <p:nvSpPr>
          <p:cNvPr id="12" name="Rectangle 11"/>
          <p:cNvSpPr/>
          <p:nvPr/>
        </p:nvSpPr>
        <p:spPr>
          <a:xfrm>
            <a:off x="3337560" y="2011680"/>
            <a:ext cx="2606040" cy="1554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37560" y="2011680"/>
            <a:ext cx="2606040" cy="109728"/>
          </a:xfrm>
          <a:prstGeom prst="rect">
            <a:avLst/>
          </a:prstGeom>
          <a:solidFill>
            <a:srgbClr val="B05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0" y="2286000"/>
            <a:ext cx="2331720" cy="731520"/>
          </a:xfrm>
          <a:prstGeom prst="rect">
            <a:avLst/>
          </a:prstGeom>
          <a:noFill/>
        </p:spPr>
        <p:txBody>
          <a:bodyPr wrap="square" anchor="t">
            <a:spAutoFit/>
          </a:bodyPr>
          <a:lstStyle/>
          <a:p>
            <a:pPr algn="l">
              <a:spcBef>
                <a:spcPts val="0"/>
              </a:spcBef>
              <a:spcAft>
                <a:spcPts val="600"/>
              </a:spcAft>
            </a:pPr>
            <a:r>
              <a:rPr sz="2200" b="1" i="0">
                <a:solidFill>
                  <a:srgbClr val="5C4333"/>
                </a:solidFill>
                <a:latin typeface="Calibri"/>
              </a:rPr>
              <a:t>$320,000</a:t>
            </a:r>
          </a:p>
        </p:txBody>
      </p:sp>
      <p:sp>
        <p:nvSpPr>
          <p:cNvPr id="15" name="TextBox 14"/>
          <p:cNvSpPr txBox="1"/>
          <p:nvPr/>
        </p:nvSpPr>
        <p:spPr>
          <a:xfrm>
            <a:off x="3474720" y="2971800"/>
            <a:ext cx="2331720" cy="548640"/>
          </a:xfrm>
          <a:prstGeom prst="rect">
            <a:avLst/>
          </a:prstGeom>
          <a:noFill/>
        </p:spPr>
        <p:txBody>
          <a:bodyPr wrap="square" anchor="t">
            <a:spAutoFit/>
          </a:bodyPr>
          <a:lstStyle/>
          <a:p>
            <a:pPr algn="l">
              <a:spcBef>
                <a:spcPts val="0"/>
              </a:spcBef>
              <a:spcAft>
                <a:spcPts val="600"/>
              </a:spcAft>
            </a:pPr>
            <a:r>
              <a:rPr sz="1200" b="0" i="0">
                <a:solidFill>
                  <a:srgbClr val="2E2A26"/>
                </a:solidFill>
                <a:latin typeface="Calibri"/>
              </a:rPr>
              <a:t>Approved project budget</a:t>
            </a:r>
          </a:p>
        </p:txBody>
      </p:sp>
      <p:sp>
        <p:nvSpPr>
          <p:cNvPr id="16" name="Rectangle 15"/>
          <p:cNvSpPr/>
          <p:nvPr/>
        </p:nvSpPr>
        <p:spPr>
          <a:xfrm>
            <a:off x="6126480" y="2011680"/>
            <a:ext cx="2606040" cy="1554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0" y="2011680"/>
            <a:ext cx="2606040" cy="109728"/>
          </a:xfrm>
          <a:prstGeom prst="rect">
            <a:avLst/>
          </a:prstGeom>
          <a:solidFill>
            <a:srgbClr val="B05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3640" y="2286000"/>
            <a:ext cx="2331720" cy="731520"/>
          </a:xfrm>
          <a:prstGeom prst="rect">
            <a:avLst/>
          </a:prstGeom>
          <a:noFill/>
        </p:spPr>
        <p:txBody>
          <a:bodyPr wrap="square" anchor="t">
            <a:spAutoFit/>
          </a:bodyPr>
          <a:lstStyle/>
          <a:p>
            <a:pPr algn="l">
              <a:spcBef>
                <a:spcPts val="0"/>
              </a:spcBef>
              <a:spcAft>
                <a:spcPts val="600"/>
              </a:spcAft>
            </a:pPr>
            <a:r>
              <a:rPr sz="2200" b="1" i="0">
                <a:solidFill>
                  <a:srgbClr val="5C4333"/>
                </a:solidFill>
                <a:latin typeface="Calibri"/>
              </a:rPr>
              <a:t>$187,000</a:t>
            </a:r>
          </a:p>
        </p:txBody>
      </p:sp>
      <p:sp>
        <p:nvSpPr>
          <p:cNvPr id="19" name="TextBox 18"/>
          <p:cNvSpPr txBox="1"/>
          <p:nvPr/>
        </p:nvSpPr>
        <p:spPr>
          <a:xfrm>
            <a:off x="6263640" y="2971800"/>
            <a:ext cx="2331720" cy="548640"/>
          </a:xfrm>
          <a:prstGeom prst="rect">
            <a:avLst/>
          </a:prstGeom>
          <a:noFill/>
        </p:spPr>
        <p:txBody>
          <a:bodyPr wrap="square" anchor="t">
            <a:spAutoFit/>
          </a:bodyPr>
          <a:lstStyle/>
          <a:p>
            <a:pPr algn="l">
              <a:spcBef>
                <a:spcPts val="0"/>
              </a:spcBef>
              <a:spcAft>
                <a:spcPts val="600"/>
              </a:spcAft>
            </a:pPr>
            <a:r>
              <a:rPr sz="1200" b="0" i="0">
                <a:solidFill>
                  <a:srgbClr val="2E2A26"/>
                </a:solidFill>
                <a:latin typeface="Calibri"/>
              </a:rPr>
              <a:t>Committed and spent to date</a:t>
            </a:r>
          </a:p>
        </p:txBody>
      </p:sp>
      <p:sp>
        <p:nvSpPr>
          <p:cNvPr id="20" name="Rectangle 19"/>
          <p:cNvSpPr/>
          <p:nvPr/>
        </p:nvSpPr>
        <p:spPr>
          <a:xfrm>
            <a:off x="8915400" y="2011680"/>
            <a:ext cx="2606040" cy="15544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15400" y="2011680"/>
            <a:ext cx="2606040" cy="109728"/>
          </a:xfrm>
          <a:prstGeom prst="rect">
            <a:avLst/>
          </a:prstGeom>
          <a:solidFill>
            <a:srgbClr val="B05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52560" y="2286000"/>
            <a:ext cx="2331720" cy="731520"/>
          </a:xfrm>
          <a:prstGeom prst="rect">
            <a:avLst/>
          </a:prstGeom>
          <a:noFill/>
        </p:spPr>
        <p:txBody>
          <a:bodyPr wrap="square" anchor="t">
            <a:spAutoFit/>
          </a:bodyPr>
          <a:lstStyle/>
          <a:p>
            <a:pPr algn="l">
              <a:spcBef>
                <a:spcPts val="0"/>
              </a:spcBef>
              <a:spcAft>
                <a:spcPts val="600"/>
              </a:spcAft>
            </a:pPr>
            <a:r>
              <a:rPr sz="2200" b="1" i="0">
                <a:solidFill>
                  <a:srgbClr val="5C4333"/>
                </a:solidFill>
                <a:latin typeface="Calibri"/>
              </a:rPr>
              <a:t>October 2026</a:t>
            </a:r>
          </a:p>
        </p:txBody>
      </p:sp>
      <p:sp>
        <p:nvSpPr>
          <p:cNvPr id="23" name="TextBox 22"/>
          <p:cNvSpPr txBox="1"/>
          <p:nvPr/>
        </p:nvSpPr>
        <p:spPr>
          <a:xfrm>
            <a:off x="9052560" y="2971800"/>
            <a:ext cx="2331720" cy="548640"/>
          </a:xfrm>
          <a:prstGeom prst="rect">
            <a:avLst/>
          </a:prstGeom>
          <a:noFill/>
        </p:spPr>
        <p:txBody>
          <a:bodyPr wrap="square" anchor="t">
            <a:spAutoFit/>
          </a:bodyPr>
          <a:lstStyle/>
          <a:p>
            <a:pPr algn="l">
              <a:spcBef>
                <a:spcPts val="0"/>
              </a:spcBef>
              <a:spcAft>
                <a:spcPts val="600"/>
              </a:spcAft>
            </a:pPr>
            <a:r>
              <a:rPr sz="1200" b="0" i="0">
                <a:solidFill>
                  <a:srgbClr val="2E2A26"/>
                </a:solidFill>
                <a:latin typeface="Calibri"/>
              </a:rPr>
              <a:t>Targeted completion</a:t>
            </a:r>
          </a:p>
        </p:txBody>
      </p:sp>
      <p:sp>
        <p:nvSpPr>
          <p:cNvPr id="24" name="TextBox 23"/>
          <p:cNvSpPr txBox="1"/>
          <p:nvPr/>
        </p:nvSpPr>
        <p:spPr>
          <a:xfrm>
            <a:off x="548640" y="4114800"/>
            <a:ext cx="10972800" cy="1463040"/>
          </a:xfrm>
          <a:prstGeom prst="rect">
            <a:avLst/>
          </a:prstGeom>
          <a:noFill/>
        </p:spPr>
        <p:txBody>
          <a:bodyPr wrap="square" anchor="t">
            <a:spAutoFit/>
          </a:bodyPr>
          <a:lstStyle/>
          <a:p>
            <a:pPr algn="l">
              <a:spcBef>
                <a:spcPts val="0"/>
              </a:spcBef>
              <a:spcAft>
                <a:spcPts val="600"/>
              </a:spcAft>
            </a:pPr>
            <a:r>
              <a:rPr sz="1500" b="0" i="0">
                <a:solidFill>
                  <a:srgbClr val="2E2A26"/>
                </a:solidFill>
                <a:latin typeface="Calibri"/>
              </a:rPr>
              <a:t>The redesign covers the full home with the primary suite, kitchen, and living spaces leading. Work moves through design, procurement, and install, with the custom marble for the master bath tracked as a long lead item. Spending sits well within plan at roughly 58 percent of budget.</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0E7"/>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B05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6032" y="502920"/>
            <a:ext cx="1463040" cy="82296"/>
          </a:xfrm>
          <a:prstGeom prst="rect">
            <a:avLst/>
          </a:prstGeom>
          <a:solidFill>
            <a:srgbClr val="5C4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0080"/>
            <a:ext cx="10972800" cy="411480"/>
          </a:xfrm>
          <a:prstGeom prst="rect">
            <a:avLst/>
          </a:prstGeom>
          <a:noFill/>
        </p:spPr>
        <p:txBody>
          <a:bodyPr wrap="square" anchor="t">
            <a:spAutoFit/>
          </a:bodyPr>
          <a:lstStyle/>
          <a:p>
            <a:pPr algn="l">
              <a:spcBef>
                <a:spcPts val="0"/>
              </a:spcBef>
              <a:spcAft>
                <a:spcPts val="600"/>
              </a:spcAft>
            </a:pPr>
            <a:r>
              <a:rPr sz="1300" b="1" i="0">
                <a:solidFill>
                  <a:srgbClr val="5C4333"/>
                </a:solidFill>
                <a:latin typeface="Calibri"/>
              </a:rPr>
              <a:t>THE DIRECTION</a:t>
            </a:r>
          </a:p>
        </p:txBody>
      </p:sp>
      <p:sp>
        <p:nvSpPr>
          <p:cNvPr id="5" name="TextBox 4"/>
          <p:cNvSpPr txBox="1"/>
          <p:nvPr/>
        </p:nvSpPr>
        <p:spPr>
          <a:xfrm>
            <a:off x="457200" y="960120"/>
            <a:ext cx="11247120" cy="868680"/>
          </a:xfrm>
          <a:prstGeom prst="rect">
            <a:avLst/>
          </a:prstGeom>
          <a:noFill/>
        </p:spPr>
        <p:txBody>
          <a:bodyPr wrap="square" anchor="t">
            <a:spAutoFit/>
          </a:bodyPr>
          <a:lstStyle/>
          <a:p>
            <a:pPr algn="l">
              <a:spcBef>
                <a:spcPts val="0"/>
              </a:spcBef>
              <a:spcAft>
                <a:spcPts val="600"/>
              </a:spcAft>
            </a:pPr>
            <a:r>
              <a:rPr sz="3000" b="1" i="0">
                <a:solidFill>
                  <a:srgbClr val="2E2A26"/>
                </a:solidFill>
                <a:latin typeface="Calibri"/>
              </a:rPr>
              <a:t>Design Concept</a:t>
            </a:r>
          </a:p>
        </p:txBody>
      </p:sp>
      <p:sp>
        <p:nvSpPr>
          <p:cNvPr id="6" name="Rectangle 5"/>
          <p:cNvSpPr/>
          <p:nvPr/>
        </p:nvSpPr>
        <p:spPr>
          <a:xfrm>
            <a:off x="502920" y="6400800"/>
            <a:ext cx="11155680" cy="12700"/>
          </a:xfrm>
          <a:prstGeom prst="rect">
            <a:avLst/>
          </a:prstGeom>
          <a:solidFill>
            <a:srgbClr val="E3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37376"/>
            <a:ext cx="10972800" cy="274320"/>
          </a:xfrm>
          <a:prstGeom prst="rect">
            <a:avLst/>
          </a:prstGeom>
          <a:noFill/>
        </p:spPr>
        <p:txBody>
          <a:bodyPr wrap="square" anchor="t">
            <a:spAutoFit/>
          </a:bodyPr>
          <a:lstStyle/>
          <a:p>
            <a:pPr algn="l">
              <a:spcBef>
                <a:spcPts val="0"/>
              </a:spcBef>
              <a:spcAft>
                <a:spcPts val="600"/>
              </a:spcAft>
            </a:pPr>
            <a:r>
              <a:rPr sz="900" b="0" i="0">
                <a:solidFill>
                  <a:srgbClr val="7A7A52"/>
                </a:solidFill>
                <a:latin typeface="Calibri"/>
              </a:rPr>
              <a:t>Spencer Interiors  |  Project SI-2024-H01  |  Confidential client document</a:t>
            </a:r>
          </a:p>
        </p:txBody>
      </p:sp>
      <p:sp>
        <p:nvSpPr>
          <p:cNvPr id="8" name="TextBox 7"/>
          <p:cNvSpPr txBox="1"/>
          <p:nvPr/>
        </p:nvSpPr>
        <p:spPr>
          <a:xfrm>
            <a:off x="548640" y="2011680"/>
            <a:ext cx="5486400" cy="3657600"/>
          </a:xfrm>
          <a:prstGeom prst="rect">
            <a:avLst/>
          </a:prstGeom>
          <a:noFill/>
        </p:spPr>
        <p:txBody>
          <a:bodyPr wrap="square">
            <a:spAutoFit/>
          </a:bodyPr>
          <a:lstStyle/>
          <a:p>
            <a:pPr>
              <a:spcAft>
                <a:spcPts val="1400"/>
              </a:spcAft>
            </a:pPr>
            <a:r>
              <a:rPr b="1" sz="1500">
                <a:solidFill>
                  <a:srgbClr val="B05A2B"/>
                </a:solidFill>
                <a:latin typeface="Calibri"/>
              </a:rPr>
              <a:t>Mid century modern, warmed.  </a:t>
            </a:r>
            <a:r>
              <a:rPr sz="1500">
                <a:solidFill>
                  <a:srgbClr val="2E2A26"/>
                </a:solidFill>
                <a:latin typeface="Calibri"/>
              </a:rPr>
              <a:t>Clean lines softened with comfort, never cold or empty.</a:t>
            </a:r>
          </a:p>
          <a:p>
            <a:pPr>
              <a:spcAft>
                <a:spcPts val="1400"/>
              </a:spcAft>
            </a:pPr>
            <a:r>
              <a:rPr b="1" sz="1500">
                <a:solidFill>
                  <a:srgbClr val="B05A2B"/>
                </a:solidFill>
                <a:latin typeface="Calibri"/>
              </a:rPr>
              <a:t>Materials lead.  </a:t>
            </a:r>
            <a:r>
              <a:rPr sz="1500">
                <a:solidFill>
                  <a:srgbClr val="2E2A26"/>
                </a:solidFill>
                <a:latin typeface="Calibri"/>
              </a:rPr>
              <a:t>Walnut, leather, wool, and natural stone carry the architecture.</a:t>
            </a:r>
          </a:p>
          <a:p>
            <a:pPr>
              <a:spcAft>
                <a:spcPts val="1400"/>
              </a:spcAft>
            </a:pPr>
            <a:r>
              <a:rPr b="1" sz="1500">
                <a:solidFill>
                  <a:srgbClr val="B05A2B"/>
                </a:solidFill>
                <a:latin typeface="Calibri"/>
              </a:rPr>
              <a:t>Layered light.  </a:t>
            </a:r>
            <a:r>
              <a:rPr sz="1500">
                <a:solidFill>
                  <a:srgbClr val="2E2A26"/>
                </a:solidFill>
                <a:latin typeface="Calibri"/>
              </a:rPr>
              <a:t>Warm and dimmable, never flat, room by room.</a:t>
            </a:r>
          </a:p>
          <a:p>
            <a:pPr>
              <a:spcAft>
                <a:spcPts val="1400"/>
              </a:spcAft>
            </a:pPr>
            <a:r>
              <a:rPr b="1" sz="1500">
                <a:solidFill>
                  <a:srgbClr val="B05A2B"/>
                </a:solidFill>
                <a:latin typeface="Calibri"/>
              </a:rPr>
              <a:t>Collected, not staged.  </a:t>
            </a:r>
            <a:r>
              <a:rPr sz="1500">
                <a:solidFill>
                  <a:srgbClr val="2E2A26"/>
                </a:solidFill>
                <a:latin typeface="Calibri"/>
              </a:rPr>
              <a:t>Vintage finds mixed with custom pieces so each room feels lived in.</a:t>
            </a:r>
          </a:p>
        </p:txBody>
      </p:sp>
      <p:sp>
        <p:nvSpPr>
          <p:cNvPr id="9" name="Rectangle 8"/>
          <p:cNvSpPr/>
          <p:nvPr/>
        </p:nvSpPr>
        <p:spPr>
          <a:xfrm>
            <a:off x="6400800" y="2011680"/>
            <a:ext cx="5212080" cy="3840480"/>
          </a:xfrm>
          <a:prstGeom prst="rect">
            <a:avLst/>
          </a:prstGeom>
          <a:solidFill>
            <a:srgbClr val="E3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0" y="2286000"/>
            <a:ext cx="4663440" cy="3291840"/>
          </a:xfrm>
          <a:prstGeom prst="rect">
            <a:avLst/>
          </a:prstGeom>
          <a:noFill/>
        </p:spPr>
        <p:txBody>
          <a:bodyPr wrap="square" anchor="t">
            <a:spAutoFit/>
          </a:bodyPr>
          <a:lstStyle/>
          <a:p>
            <a:pPr algn="l">
              <a:spcBef>
                <a:spcPts val="0"/>
              </a:spcBef>
              <a:spcAft>
                <a:spcPts val="1000"/>
              </a:spcAft>
            </a:pPr>
            <a:r>
              <a:rPr sz="1800" b="1" i="0">
                <a:solidFill>
                  <a:srgbClr val="5C4333"/>
                </a:solidFill>
                <a:latin typeface="Calibri"/>
              </a:rPr>
              <a:t>Palette and finish</a:t>
            </a:r>
          </a:p>
          <a:p>
            <a:pPr algn="l">
              <a:spcBef>
                <a:spcPts val="0"/>
              </a:spcBef>
              <a:spcAft>
                <a:spcPts val="1000"/>
              </a:spcAft>
            </a:pPr>
            <a:r>
              <a:rPr sz="1300" b="0" i="0">
                <a:solidFill>
                  <a:srgbClr val="2E2A26"/>
                </a:solidFill>
                <a:latin typeface="Calibri"/>
              </a:rPr>
              <a:t>Warm neutrals against walnut tone cabinetry.</a:t>
            </a:r>
          </a:p>
          <a:p>
            <a:pPr algn="l">
              <a:spcBef>
                <a:spcPts val="0"/>
              </a:spcBef>
              <a:spcAft>
                <a:spcPts val="1000"/>
              </a:spcAft>
            </a:pPr>
            <a:r>
              <a:rPr sz="1300" b="0" i="0">
                <a:solidFill>
                  <a:srgbClr val="2E2A26"/>
                </a:solidFill>
                <a:latin typeface="Calibri"/>
              </a:rPr>
              <a:t>Cognac mohair and oatmeal boucle seating.</a:t>
            </a:r>
          </a:p>
          <a:p>
            <a:pPr algn="l">
              <a:spcBef>
                <a:spcPts val="0"/>
              </a:spcBef>
              <a:spcAft>
                <a:spcPts val="1000"/>
              </a:spcAft>
            </a:pPr>
            <a:r>
              <a:rPr sz="1300" b="0" i="0">
                <a:solidFill>
                  <a:srgbClr val="2E2A26"/>
                </a:solidFill>
                <a:latin typeface="Calibri"/>
              </a:rPr>
              <a:t>Bookmatched Calacatta Viola at the master bath.</a:t>
            </a:r>
          </a:p>
          <a:p>
            <a:pPr algn="l">
              <a:spcBef>
                <a:spcPts val="0"/>
              </a:spcBef>
              <a:spcAft>
                <a:spcPts val="1000"/>
              </a:spcAft>
            </a:pPr>
            <a:r>
              <a:rPr sz="1300" b="0" i="0">
                <a:solidFill>
                  <a:srgbClr val="2E2A26"/>
                </a:solidFill>
                <a:latin typeface="Calibri"/>
              </a:rPr>
              <a:t>Brass accents in lighting and hardware.</a:t>
            </a:r>
          </a:p>
          <a:p>
            <a:pPr algn="l">
              <a:spcBef>
                <a:spcPts val="0"/>
              </a:spcBef>
              <a:spcAft>
                <a:spcPts val="1000"/>
              </a:spcAft>
            </a:pPr>
            <a:r>
              <a:rPr sz="1300" b="0" i="0">
                <a:solidFill>
                  <a:srgbClr val="2E2A26"/>
                </a:solidFill>
                <a:latin typeface="Calibri"/>
              </a:rPr>
              <a:t>Hand loomed wool and jute underfoot.</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0E7"/>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B05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6032" y="502920"/>
            <a:ext cx="1463040" cy="82296"/>
          </a:xfrm>
          <a:prstGeom prst="rect">
            <a:avLst/>
          </a:prstGeom>
          <a:solidFill>
            <a:srgbClr val="5C4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0080"/>
            <a:ext cx="10972800" cy="411480"/>
          </a:xfrm>
          <a:prstGeom prst="rect">
            <a:avLst/>
          </a:prstGeom>
          <a:noFill/>
        </p:spPr>
        <p:txBody>
          <a:bodyPr wrap="square" anchor="t">
            <a:spAutoFit/>
          </a:bodyPr>
          <a:lstStyle/>
          <a:p>
            <a:pPr algn="l">
              <a:spcBef>
                <a:spcPts val="0"/>
              </a:spcBef>
              <a:spcAft>
                <a:spcPts val="600"/>
              </a:spcAft>
            </a:pPr>
            <a:r>
              <a:rPr sz="1300" b="1" i="0">
                <a:solidFill>
                  <a:srgbClr val="5C4333"/>
                </a:solidFill>
                <a:latin typeface="Calibri"/>
              </a:rPr>
              <a:t>BUDGET VS SPEND</a:t>
            </a:r>
          </a:p>
        </p:txBody>
      </p:sp>
      <p:sp>
        <p:nvSpPr>
          <p:cNvPr id="5" name="TextBox 4"/>
          <p:cNvSpPr txBox="1"/>
          <p:nvPr/>
        </p:nvSpPr>
        <p:spPr>
          <a:xfrm>
            <a:off x="457200" y="960120"/>
            <a:ext cx="11247120" cy="868680"/>
          </a:xfrm>
          <a:prstGeom prst="rect">
            <a:avLst/>
          </a:prstGeom>
          <a:noFill/>
        </p:spPr>
        <p:txBody>
          <a:bodyPr wrap="square" anchor="t">
            <a:spAutoFit/>
          </a:bodyPr>
          <a:lstStyle/>
          <a:p>
            <a:pPr algn="l">
              <a:spcBef>
                <a:spcPts val="0"/>
              </a:spcBef>
              <a:spcAft>
                <a:spcPts val="600"/>
              </a:spcAft>
            </a:pPr>
            <a:r>
              <a:rPr sz="3000" b="1" i="0">
                <a:solidFill>
                  <a:srgbClr val="2E2A26"/>
                </a:solidFill>
                <a:latin typeface="Calibri"/>
              </a:rPr>
              <a:t>Budget by Category</a:t>
            </a:r>
          </a:p>
        </p:txBody>
      </p:sp>
      <p:sp>
        <p:nvSpPr>
          <p:cNvPr id="6" name="Rectangle 5"/>
          <p:cNvSpPr/>
          <p:nvPr/>
        </p:nvSpPr>
        <p:spPr>
          <a:xfrm>
            <a:off x="502920" y="6400800"/>
            <a:ext cx="11155680" cy="12700"/>
          </a:xfrm>
          <a:prstGeom prst="rect">
            <a:avLst/>
          </a:prstGeom>
          <a:solidFill>
            <a:srgbClr val="E3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37376"/>
            <a:ext cx="10972800" cy="274320"/>
          </a:xfrm>
          <a:prstGeom prst="rect">
            <a:avLst/>
          </a:prstGeom>
          <a:noFill/>
        </p:spPr>
        <p:txBody>
          <a:bodyPr wrap="square" anchor="t">
            <a:spAutoFit/>
          </a:bodyPr>
          <a:lstStyle/>
          <a:p>
            <a:pPr algn="l">
              <a:spcBef>
                <a:spcPts val="0"/>
              </a:spcBef>
              <a:spcAft>
                <a:spcPts val="600"/>
              </a:spcAft>
            </a:pPr>
            <a:r>
              <a:rPr sz="900" b="0" i="0">
                <a:solidFill>
                  <a:srgbClr val="7A7A52"/>
                </a:solidFill>
                <a:latin typeface="Calibri"/>
              </a:rPr>
              <a:t>Spencer Interiors  |  Project SI-2024-H01  |  Confidential client document</a:t>
            </a:r>
          </a:p>
        </p:txBody>
      </p:sp>
      <p:graphicFrame>
        <p:nvGraphicFramePr>
          <p:cNvPr id="8" name="Chart 7"/>
          <p:cNvGraphicFramePr>
            <a:graphicFrameLocks noGrp="1"/>
          </p:cNvGraphicFramePr>
          <p:nvPr/>
        </p:nvGraphicFramePr>
        <p:xfrm>
          <a:off x="548640" y="1920240"/>
          <a:ext cx="11064240" cy="4114800"/>
        </p:xfrm>
        <a:graphic>
          <a:graphicData uri="http://schemas.openxmlformats.org/drawingml/2006/chart">
            <c:chart xmlns:c="http://schemas.openxmlformats.org/drawingml/2006/chart" r:id="rId2"/>
          </a:graphicData>
        </a:graphic>
      </p:graphicFrame>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0E7"/>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B05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6032" y="502920"/>
            <a:ext cx="1463040" cy="82296"/>
          </a:xfrm>
          <a:prstGeom prst="rect">
            <a:avLst/>
          </a:prstGeom>
          <a:solidFill>
            <a:srgbClr val="5C4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0080"/>
            <a:ext cx="10972800" cy="411480"/>
          </a:xfrm>
          <a:prstGeom prst="rect">
            <a:avLst/>
          </a:prstGeom>
          <a:noFill/>
        </p:spPr>
        <p:txBody>
          <a:bodyPr wrap="square" anchor="t">
            <a:spAutoFit/>
          </a:bodyPr>
          <a:lstStyle/>
          <a:p>
            <a:pPr algn="l">
              <a:spcBef>
                <a:spcPts val="0"/>
              </a:spcBef>
              <a:spcAft>
                <a:spcPts val="600"/>
              </a:spcAft>
            </a:pPr>
            <a:r>
              <a:rPr sz="1300" b="1" i="0">
                <a:solidFill>
                  <a:srgbClr val="5C4333"/>
                </a:solidFill>
                <a:latin typeface="Calibri"/>
              </a:rPr>
              <a:t>ON BUDGET</a:t>
            </a:r>
          </a:p>
        </p:txBody>
      </p:sp>
      <p:sp>
        <p:nvSpPr>
          <p:cNvPr id="5" name="TextBox 4"/>
          <p:cNvSpPr txBox="1"/>
          <p:nvPr/>
        </p:nvSpPr>
        <p:spPr>
          <a:xfrm>
            <a:off x="457200" y="960120"/>
            <a:ext cx="11247120" cy="868680"/>
          </a:xfrm>
          <a:prstGeom prst="rect">
            <a:avLst/>
          </a:prstGeom>
          <a:noFill/>
        </p:spPr>
        <p:txBody>
          <a:bodyPr wrap="square" anchor="t">
            <a:spAutoFit/>
          </a:bodyPr>
          <a:lstStyle/>
          <a:p>
            <a:pPr algn="l">
              <a:spcBef>
                <a:spcPts val="0"/>
              </a:spcBef>
              <a:spcAft>
                <a:spcPts val="600"/>
              </a:spcAft>
            </a:pPr>
            <a:r>
              <a:rPr sz="3000" b="1" i="0">
                <a:solidFill>
                  <a:srgbClr val="2E2A26"/>
                </a:solidFill>
                <a:latin typeface="Calibri"/>
              </a:rPr>
              <a:t>Spend Progress</a:t>
            </a:r>
          </a:p>
        </p:txBody>
      </p:sp>
      <p:sp>
        <p:nvSpPr>
          <p:cNvPr id="6" name="Rectangle 5"/>
          <p:cNvSpPr/>
          <p:nvPr/>
        </p:nvSpPr>
        <p:spPr>
          <a:xfrm>
            <a:off x="502920" y="6400800"/>
            <a:ext cx="11155680" cy="12700"/>
          </a:xfrm>
          <a:prstGeom prst="rect">
            <a:avLst/>
          </a:prstGeom>
          <a:solidFill>
            <a:srgbClr val="E3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37376"/>
            <a:ext cx="10972800" cy="274320"/>
          </a:xfrm>
          <a:prstGeom prst="rect">
            <a:avLst/>
          </a:prstGeom>
          <a:noFill/>
        </p:spPr>
        <p:txBody>
          <a:bodyPr wrap="square" anchor="t">
            <a:spAutoFit/>
          </a:bodyPr>
          <a:lstStyle/>
          <a:p>
            <a:pPr algn="l">
              <a:spcBef>
                <a:spcPts val="0"/>
              </a:spcBef>
              <a:spcAft>
                <a:spcPts val="600"/>
              </a:spcAft>
            </a:pPr>
            <a:r>
              <a:rPr sz="900" b="0" i="0">
                <a:solidFill>
                  <a:srgbClr val="7A7A52"/>
                </a:solidFill>
                <a:latin typeface="Calibri"/>
              </a:rPr>
              <a:t>Spencer Interiors  |  Project SI-2024-H01  |  Confidential client document</a:t>
            </a:r>
          </a:p>
        </p:txBody>
      </p:sp>
      <p:graphicFrame>
        <p:nvGraphicFramePr>
          <p:cNvPr id="8" name="Chart 7"/>
          <p:cNvGraphicFramePr>
            <a:graphicFrameLocks noGrp="1"/>
          </p:cNvGraphicFramePr>
          <p:nvPr/>
        </p:nvGraphicFramePr>
        <p:xfrm>
          <a:off x="548640" y="1920240"/>
          <a:ext cx="6766560" cy="4023360"/>
        </p:xfrm>
        <a:graphic>
          <a:graphicData uri="http://schemas.openxmlformats.org/drawingml/2006/chart">
            <c:chart xmlns:c="http://schemas.openxmlformats.org/drawingml/2006/chart" r:id="rId2"/>
          </a:graphicData>
        </a:graphic>
      </p:graphicFrame>
      <p:sp>
        <p:nvSpPr>
          <p:cNvPr id="9" name="Rectangle 8"/>
          <p:cNvSpPr/>
          <p:nvPr/>
        </p:nvSpPr>
        <p:spPr>
          <a:xfrm>
            <a:off x="7680960" y="2103120"/>
            <a:ext cx="3931920" cy="35661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80960" y="2103120"/>
            <a:ext cx="3931920" cy="109728"/>
          </a:xfrm>
          <a:prstGeom prst="rect">
            <a:avLst/>
          </a:prstGeom>
          <a:solidFill>
            <a:srgbClr val="5C4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79" y="2377440"/>
            <a:ext cx="3474720" cy="3108960"/>
          </a:xfrm>
          <a:prstGeom prst="rect">
            <a:avLst/>
          </a:prstGeom>
          <a:noFill/>
        </p:spPr>
        <p:txBody>
          <a:bodyPr wrap="square" anchor="t">
            <a:spAutoFit/>
          </a:bodyPr>
          <a:lstStyle/>
          <a:p>
            <a:pPr algn="l">
              <a:spcBef>
                <a:spcPts val="0"/>
              </a:spcBef>
              <a:spcAft>
                <a:spcPts val="800"/>
              </a:spcAft>
            </a:pPr>
            <a:r>
              <a:rPr sz="4400" b="1" i="0">
                <a:solidFill>
                  <a:srgbClr val="B05A2B"/>
                </a:solidFill>
                <a:latin typeface="Calibri"/>
              </a:rPr>
              <a:t>58%</a:t>
            </a:r>
          </a:p>
          <a:p>
            <a:pPr algn="l">
              <a:spcBef>
                <a:spcPts val="0"/>
              </a:spcBef>
              <a:spcAft>
                <a:spcPts val="800"/>
              </a:spcAft>
            </a:pPr>
            <a:r>
              <a:rPr sz="1300" b="0" i="0">
                <a:solidFill>
                  <a:srgbClr val="2E2A26"/>
                </a:solidFill>
                <a:latin typeface="Calibri"/>
              </a:rPr>
              <a:t>of the $320,000 budget committed and spent</a:t>
            </a:r>
          </a:p>
          <a:p>
            <a:pPr algn="l">
              <a:spcBef>
                <a:spcPts val="0"/>
              </a:spcBef>
              <a:spcAft>
                <a:spcPts val="800"/>
              </a:spcAft>
            </a:pPr>
            <a:r>
              <a:rPr sz="2600" b="1" i="0">
                <a:solidFill>
                  <a:srgbClr val="5C4333"/>
                </a:solidFill>
                <a:latin typeface="Calibri"/>
              </a:rPr>
              <a:t>$133,000</a:t>
            </a:r>
          </a:p>
          <a:p>
            <a:pPr algn="l">
              <a:spcBef>
                <a:spcPts val="0"/>
              </a:spcBef>
              <a:spcAft>
                <a:spcPts val="800"/>
              </a:spcAft>
            </a:pPr>
            <a:r>
              <a:rPr sz="1300" b="0" i="0">
                <a:solidFill>
                  <a:srgbClr val="2E2A26"/>
                </a:solidFill>
                <a:latin typeface="Calibri"/>
              </a:rPr>
              <a:t>remaining across contingency and open categories</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0E7"/>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B05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6032" y="502920"/>
            <a:ext cx="1463040" cy="82296"/>
          </a:xfrm>
          <a:prstGeom prst="rect">
            <a:avLst/>
          </a:prstGeom>
          <a:solidFill>
            <a:srgbClr val="5C4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0080"/>
            <a:ext cx="10972800" cy="411480"/>
          </a:xfrm>
          <a:prstGeom prst="rect">
            <a:avLst/>
          </a:prstGeom>
          <a:noFill/>
        </p:spPr>
        <p:txBody>
          <a:bodyPr wrap="square" anchor="t">
            <a:spAutoFit/>
          </a:bodyPr>
          <a:lstStyle/>
          <a:p>
            <a:pPr algn="l">
              <a:spcBef>
                <a:spcPts val="0"/>
              </a:spcBef>
              <a:spcAft>
                <a:spcPts val="600"/>
              </a:spcAft>
            </a:pPr>
            <a:r>
              <a:rPr sz="1300" b="1" i="0">
                <a:solidFill>
                  <a:srgbClr val="5C4333"/>
                </a:solidFill>
                <a:latin typeface="Calibri"/>
              </a:rPr>
              <a:t>THE LONG LEAD ITEM</a:t>
            </a:r>
          </a:p>
        </p:txBody>
      </p:sp>
      <p:sp>
        <p:nvSpPr>
          <p:cNvPr id="5" name="TextBox 4"/>
          <p:cNvSpPr txBox="1"/>
          <p:nvPr/>
        </p:nvSpPr>
        <p:spPr>
          <a:xfrm>
            <a:off x="457200" y="960120"/>
            <a:ext cx="11247120" cy="868680"/>
          </a:xfrm>
          <a:prstGeom prst="rect">
            <a:avLst/>
          </a:prstGeom>
          <a:noFill/>
        </p:spPr>
        <p:txBody>
          <a:bodyPr wrap="square" anchor="t">
            <a:spAutoFit/>
          </a:bodyPr>
          <a:lstStyle/>
          <a:p>
            <a:pPr algn="l">
              <a:spcBef>
                <a:spcPts val="0"/>
              </a:spcBef>
              <a:spcAft>
                <a:spcPts val="600"/>
              </a:spcAft>
            </a:pPr>
            <a:r>
              <a:rPr sz="3000" b="1" i="0">
                <a:solidFill>
                  <a:srgbClr val="2E2A26"/>
                </a:solidFill>
                <a:latin typeface="Calibri"/>
              </a:rPr>
              <a:t>Feature, Master Bath Marble</a:t>
            </a:r>
          </a:p>
        </p:txBody>
      </p:sp>
      <p:sp>
        <p:nvSpPr>
          <p:cNvPr id="6" name="Rectangle 5"/>
          <p:cNvSpPr/>
          <p:nvPr/>
        </p:nvSpPr>
        <p:spPr>
          <a:xfrm>
            <a:off x="502920" y="6400800"/>
            <a:ext cx="11155680" cy="12700"/>
          </a:xfrm>
          <a:prstGeom prst="rect">
            <a:avLst/>
          </a:prstGeom>
          <a:solidFill>
            <a:srgbClr val="E3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37376"/>
            <a:ext cx="10972800" cy="274320"/>
          </a:xfrm>
          <a:prstGeom prst="rect">
            <a:avLst/>
          </a:prstGeom>
          <a:noFill/>
        </p:spPr>
        <p:txBody>
          <a:bodyPr wrap="square" anchor="t">
            <a:spAutoFit/>
          </a:bodyPr>
          <a:lstStyle/>
          <a:p>
            <a:pPr algn="l">
              <a:spcBef>
                <a:spcPts val="0"/>
              </a:spcBef>
              <a:spcAft>
                <a:spcPts val="600"/>
              </a:spcAft>
            </a:pPr>
            <a:r>
              <a:rPr sz="900" b="0" i="0">
                <a:solidFill>
                  <a:srgbClr val="7A7A52"/>
                </a:solidFill>
                <a:latin typeface="Calibri"/>
              </a:rPr>
              <a:t>Spencer Interiors  |  Project SI-2024-H01  |  Confidential client document</a:t>
            </a:r>
          </a:p>
        </p:txBody>
      </p:sp>
      <p:sp>
        <p:nvSpPr>
          <p:cNvPr id="8" name="Rectangle 7"/>
          <p:cNvSpPr/>
          <p:nvPr/>
        </p:nvSpPr>
        <p:spPr>
          <a:xfrm>
            <a:off x="548640" y="2011680"/>
            <a:ext cx="5303520" cy="374903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011680"/>
            <a:ext cx="128016" cy="3749039"/>
          </a:xfrm>
          <a:prstGeom prst="rect">
            <a:avLst/>
          </a:prstGeom>
          <a:solidFill>
            <a:srgbClr val="B05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286000"/>
            <a:ext cx="4754880" cy="3291840"/>
          </a:xfrm>
          <a:prstGeom prst="rect">
            <a:avLst/>
          </a:prstGeom>
          <a:noFill/>
        </p:spPr>
        <p:txBody>
          <a:bodyPr wrap="square" anchor="t">
            <a:spAutoFit/>
          </a:bodyPr>
          <a:lstStyle/>
          <a:p>
            <a:pPr algn="l">
              <a:spcBef>
                <a:spcPts val="0"/>
              </a:spcBef>
              <a:spcAft>
                <a:spcPts val="1200"/>
              </a:spcAft>
            </a:pPr>
            <a:r>
              <a:rPr sz="1800" b="1" i="0">
                <a:solidFill>
                  <a:srgbClr val="5C4333"/>
                </a:solidFill>
                <a:latin typeface="Calibri"/>
              </a:rPr>
              <a:t>Calacatta Viola, bookmatched</a:t>
            </a:r>
          </a:p>
          <a:p>
            <a:pPr algn="l">
              <a:spcBef>
                <a:spcPts val="0"/>
              </a:spcBef>
              <a:spcAft>
                <a:spcPts val="1200"/>
              </a:spcAft>
            </a:pPr>
            <a:r>
              <a:rPr sz="1300" b="0" i="0">
                <a:solidFill>
                  <a:srgbClr val="2E2A26"/>
                </a:solidFill>
                <a:latin typeface="Calibri"/>
              </a:rPr>
              <a:t>Two slabs reserved against the order</a:t>
            </a:r>
          </a:p>
          <a:p>
            <a:pPr algn="l">
              <a:spcBef>
                <a:spcPts val="0"/>
              </a:spcBef>
              <a:spcAft>
                <a:spcPts val="1200"/>
              </a:spcAft>
            </a:pPr>
            <a:r>
              <a:rPr sz="1300" b="0" i="0">
                <a:solidFill>
                  <a:srgbClr val="2E2A26"/>
                </a:solidFill>
                <a:latin typeface="Calibri"/>
              </a:rPr>
              <a:t>Fabrication, sealing, and Paradise Valley delivery included</a:t>
            </a:r>
          </a:p>
          <a:p>
            <a:pPr algn="l">
              <a:spcBef>
                <a:spcPts val="0"/>
              </a:spcBef>
              <a:spcAft>
                <a:spcPts val="1200"/>
              </a:spcAft>
            </a:pPr>
            <a:r>
              <a:rPr sz="1300" b="0" i="0">
                <a:solidFill>
                  <a:srgbClr val="2E2A26"/>
                </a:solidFill>
                <a:latin typeface="Calibri"/>
              </a:rPr>
              <a:t>Estimated delivery window early October 2026</a:t>
            </a:r>
          </a:p>
          <a:p>
            <a:pPr algn="l">
              <a:spcBef>
                <a:spcPts val="0"/>
              </a:spcBef>
              <a:spcAft>
                <a:spcPts val="1200"/>
              </a:spcAft>
            </a:pPr>
            <a:r>
              <a:rPr sz="1400" b="1" i="0">
                <a:solidFill>
                  <a:srgbClr val="B05A2B"/>
                </a:solidFill>
                <a:latin typeface="Calibri"/>
              </a:rPr>
              <a:t>Investment, $28,000 within stone and tile</a:t>
            </a:r>
          </a:p>
        </p:txBody>
      </p:sp>
      <p:sp>
        <p:nvSpPr>
          <p:cNvPr id="11" name="TextBox 10"/>
          <p:cNvSpPr txBox="1"/>
          <p:nvPr/>
        </p:nvSpPr>
        <p:spPr>
          <a:xfrm>
            <a:off x="6217920" y="2194560"/>
            <a:ext cx="5394960" cy="3657600"/>
          </a:xfrm>
          <a:prstGeom prst="rect">
            <a:avLst/>
          </a:prstGeom>
          <a:noFill/>
        </p:spPr>
        <p:txBody>
          <a:bodyPr wrap="square" anchor="t">
            <a:spAutoFit/>
          </a:bodyPr>
          <a:lstStyle/>
          <a:p>
            <a:pPr algn="l">
              <a:spcBef>
                <a:spcPts val="0"/>
              </a:spcBef>
              <a:spcAft>
                <a:spcPts val="1000"/>
              </a:spcAft>
            </a:pPr>
            <a:r>
              <a:rPr sz="1800" b="1" i="0">
                <a:solidFill>
                  <a:srgbClr val="5C4333"/>
                </a:solidFill>
                <a:latin typeface="Calibri"/>
              </a:rPr>
              <a:t>Why it is worth the wait</a:t>
            </a:r>
          </a:p>
          <a:p>
            <a:pPr algn="l">
              <a:spcBef>
                <a:spcPts val="0"/>
              </a:spcBef>
              <a:spcAft>
                <a:spcPts val="1000"/>
              </a:spcAft>
            </a:pPr>
            <a:r>
              <a:rPr sz="1400" b="0" i="0">
                <a:solidFill>
                  <a:srgbClr val="2E2A26"/>
                </a:solidFill>
                <a:latin typeface="Calibri"/>
              </a:rPr>
              <a:t>The violet veining anchors the primary suite and sets the tone for the warm neutral palette throughout the home. It is a statement that photographs beautifully and holds its value, the kind of detail that makes a room unmistakably yours. We track it separately so the rest of the install never waits on it.</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0E7"/>
        </a:solidFill>
        <a:effectLst/>
      </p:bgPr>
    </p:bg>
    <p:spTree>
      <p:nvGrpSpPr>
        <p:cNvPr id="1" name=""/>
        <p:cNvGrpSpPr/>
        <p:nvPr/>
      </p:nvGrpSpPr>
      <p:grpSpPr/>
      <p:sp>
        <p:nvSpPr>
          <p:cNvPr id="2" name="Rectangle 1"/>
          <p:cNvSpPr/>
          <p:nvPr/>
        </p:nvSpPr>
        <p:spPr>
          <a:xfrm>
            <a:off x="0" y="0"/>
            <a:ext cx="256032" cy="6858000"/>
          </a:xfrm>
          <a:prstGeom prst="rect">
            <a:avLst/>
          </a:prstGeom>
          <a:solidFill>
            <a:srgbClr val="B05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6032" y="502920"/>
            <a:ext cx="1463040" cy="82296"/>
          </a:xfrm>
          <a:prstGeom prst="rect">
            <a:avLst/>
          </a:prstGeom>
          <a:solidFill>
            <a:srgbClr val="5C4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0080"/>
            <a:ext cx="10972800" cy="411480"/>
          </a:xfrm>
          <a:prstGeom prst="rect">
            <a:avLst/>
          </a:prstGeom>
          <a:noFill/>
        </p:spPr>
        <p:txBody>
          <a:bodyPr wrap="square" anchor="t">
            <a:spAutoFit/>
          </a:bodyPr>
          <a:lstStyle/>
          <a:p>
            <a:pPr algn="l">
              <a:spcBef>
                <a:spcPts val="0"/>
              </a:spcBef>
              <a:spcAft>
                <a:spcPts val="600"/>
              </a:spcAft>
            </a:pPr>
            <a:r>
              <a:rPr sz="1300" b="1" i="0">
                <a:solidFill>
                  <a:srgbClr val="5C4333"/>
                </a:solidFill>
                <a:latin typeface="Calibri"/>
              </a:rPr>
              <a:t>WHAT COMES NEXT</a:t>
            </a:r>
          </a:p>
        </p:txBody>
      </p:sp>
      <p:sp>
        <p:nvSpPr>
          <p:cNvPr id="5" name="TextBox 4"/>
          <p:cNvSpPr txBox="1"/>
          <p:nvPr/>
        </p:nvSpPr>
        <p:spPr>
          <a:xfrm>
            <a:off x="457200" y="960120"/>
            <a:ext cx="11247120" cy="868680"/>
          </a:xfrm>
          <a:prstGeom prst="rect">
            <a:avLst/>
          </a:prstGeom>
          <a:noFill/>
        </p:spPr>
        <p:txBody>
          <a:bodyPr wrap="square" anchor="t">
            <a:spAutoFit/>
          </a:bodyPr>
          <a:lstStyle/>
          <a:p>
            <a:pPr algn="l">
              <a:spcBef>
                <a:spcPts val="0"/>
              </a:spcBef>
              <a:spcAft>
                <a:spcPts val="600"/>
              </a:spcAft>
            </a:pPr>
            <a:r>
              <a:rPr sz="3000" b="1" i="0">
                <a:solidFill>
                  <a:srgbClr val="2E2A26"/>
                </a:solidFill>
                <a:latin typeface="Calibri"/>
              </a:rPr>
              <a:t>Timeline</a:t>
            </a:r>
          </a:p>
        </p:txBody>
      </p:sp>
      <p:sp>
        <p:nvSpPr>
          <p:cNvPr id="6" name="Rectangle 5"/>
          <p:cNvSpPr/>
          <p:nvPr/>
        </p:nvSpPr>
        <p:spPr>
          <a:xfrm>
            <a:off x="502920" y="6400800"/>
            <a:ext cx="11155680" cy="12700"/>
          </a:xfrm>
          <a:prstGeom prst="rect">
            <a:avLst/>
          </a:prstGeom>
          <a:solidFill>
            <a:srgbClr val="E3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37376"/>
            <a:ext cx="10972800" cy="274320"/>
          </a:xfrm>
          <a:prstGeom prst="rect">
            <a:avLst/>
          </a:prstGeom>
          <a:noFill/>
        </p:spPr>
        <p:txBody>
          <a:bodyPr wrap="square" anchor="t">
            <a:spAutoFit/>
          </a:bodyPr>
          <a:lstStyle/>
          <a:p>
            <a:pPr algn="l">
              <a:spcBef>
                <a:spcPts val="0"/>
              </a:spcBef>
              <a:spcAft>
                <a:spcPts val="600"/>
              </a:spcAft>
            </a:pPr>
            <a:r>
              <a:rPr sz="900" b="0" i="0">
                <a:solidFill>
                  <a:srgbClr val="7A7A52"/>
                </a:solidFill>
                <a:latin typeface="Calibri"/>
              </a:rPr>
              <a:t>Spencer Interiors  |  Project SI-2024-H01  |  Confidential client document</a:t>
            </a:r>
          </a:p>
        </p:txBody>
      </p:sp>
      <p:sp>
        <p:nvSpPr>
          <p:cNvPr id="8" name="Oval 7"/>
          <p:cNvSpPr/>
          <p:nvPr/>
        </p:nvSpPr>
        <p:spPr>
          <a:xfrm>
            <a:off x="548640" y="2377440"/>
            <a:ext cx="411480" cy="411480"/>
          </a:xfrm>
          <a:prstGeom prst="ellipse">
            <a:avLst/>
          </a:prstGeom>
          <a:solidFill>
            <a:srgbClr val="B05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2395728"/>
            <a:ext cx="411480" cy="365760"/>
          </a:xfrm>
          <a:prstGeom prst="rect">
            <a:avLst/>
          </a:prstGeom>
          <a:noFill/>
        </p:spPr>
        <p:txBody>
          <a:bodyPr wrap="square" anchor="t">
            <a:spAutoFit/>
          </a:bodyPr>
          <a:lstStyle/>
          <a:p>
            <a:pPr algn="ctr">
              <a:spcBef>
                <a:spcPts val="0"/>
              </a:spcBef>
              <a:spcAft>
                <a:spcPts val="600"/>
              </a:spcAft>
            </a:pPr>
            <a:r>
              <a:rPr sz="1600" b="1" i="0">
                <a:solidFill>
                  <a:srgbClr val="FFFFFF"/>
                </a:solidFill>
                <a:latin typeface="Calibri"/>
              </a:rPr>
              <a:t>1</a:t>
            </a:r>
          </a:p>
        </p:txBody>
      </p:sp>
      <p:sp>
        <p:nvSpPr>
          <p:cNvPr id="10" name="TextBox 9"/>
          <p:cNvSpPr txBox="1"/>
          <p:nvPr/>
        </p:nvSpPr>
        <p:spPr>
          <a:xfrm>
            <a:off x="548640" y="3017520"/>
            <a:ext cx="2148840" cy="457200"/>
          </a:xfrm>
          <a:prstGeom prst="rect">
            <a:avLst/>
          </a:prstGeom>
          <a:noFill/>
        </p:spPr>
        <p:txBody>
          <a:bodyPr wrap="square" anchor="t">
            <a:spAutoFit/>
          </a:bodyPr>
          <a:lstStyle/>
          <a:p>
            <a:pPr algn="l">
              <a:spcBef>
                <a:spcPts val="0"/>
              </a:spcBef>
              <a:spcAft>
                <a:spcPts val="600"/>
              </a:spcAft>
            </a:pPr>
            <a:r>
              <a:rPr sz="1300" b="1" i="0">
                <a:solidFill>
                  <a:srgbClr val="5C4333"/>
                </a:solidFill>
                <a:latin typeface="Calibri"/>
              </a:rPr>
              <a:t>February 2026</a:t>
            </a:r>
          </a:p>
        </p:txBody>
      </p:sp>
      <p:sp>
        <p:nvSpPr>
          <p:cNvPr id="11" name="TextBox 10"/>
          <p:cNvSpPr txBox="1"/>
          <p:nvPr/>
        </p:nvSpPr>
        <p:spPr>
          <a:xfrm>
            <a:off x="548640" y="3474720"/>
            <a:ext cx="2148840" cy="1280160"/>
          </a:xfrm>
          <a:prstGeom prst="rect">
            <a:avLst/>
          </a:prstGeom>
          <a:noFill/>
        </p:spPr>
        <p:txBody>
          <a:bodyPr wrap="square" anchor="t">
            <a:spAutoFit/>
          </a:bodyPr>
          <a:lstStyle/>
          <a:p>
            <a:pPr algn="l">
              <a:spcBef>
                <a:spcPts val="0"/>
              </a:spcBef>
              <a:spcAft>
                <a:spcPts val="600"/>
              </a:spcAft>
            </a:pPr>
            <a:r>
              <a:rPr sz="1200" b="0" i="0">
                <a:solidFill>
                  <a:srgbClr val="2E2A26"/>
                </a:solidFill>
                <a:latin typeface="Calibri"/>
              </a:rPr>
              <a:t>Selections locked, orders placed</a:t>
            </a:r>
          </a:p>
        </p:txBody>
      </p:sp>
      <p:sp>
        <p:nvSpPr>
          <p:cNvPr id="12" name="Rectangle 11"/>
          <p:cNvSpPr/>
          <p:nvPr/>
        </p:nvSpPr>
        <p:spPr>
          <a:xfrm>
            <a:off x="1005840" y="2542032"/>
            <a:ext cx="1691640" cy="25400"/>
          </a:xfrm>
          <a:prstGeom prst="rect">
            <a:avLst/>
          </a:prstGeom>
          <a:solidFill>
            <a:srgbClr val="E3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788920" y="2377440"/>
            <a:ext cx="411480" cy="411480"/>
          </a:xfrm>
          <a:prstGeom prst="ellipse">
            <a:avLst/>
          </a:prstGeom>
          <a:solidFill>
            <a:srgbClr val="B05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88920" y="2395728"/>
            <a:ext cx="411480" cy="365760"/>
          </a:xfrm>
          <a:prstGeom prst="rect">
            <a:avLst/>
          </a:prstGeom>
          <a:noFill/>
        </p:spPr>
        <p:txBody>
          <a:bodyPr wrap="square" anchor="t">
            <a:spAutoFit/>
          </a:bodyPr>
          <a:lstStyle/>
          <a:p>
            <a:pPr algn="ctr">
              <a:spcBef>
                <a:spcPts val="0"/>
              </a:spcBef>
              <a:spcAft>
                <a:spcPts val="600"/>
              </a:spcAft>
            </a:pPr>
            <a:r>
              <a:rPr sz="1600" b="1" i="0">
                <a:solidFill>
                  <a:srgbClr val="FFFFFF"/>
                </a:solidFill>
                <a:latin typeface="Calibri"/>
              </a:rPr>
              <a:t>2</a:t>
            </a:r>
          </a:p>
        </p:txBody>
      </p:sp>
      <p:sp>
        <p:nvSpPr>
          <p:cNvPr id="15" name="TextBox 14"/>
          <p:cNvSpPr txBox="1"/>
          <p:nvPr/>
        </p:nvSpPr>
        <p:spPr>
          <a:xfrm>
            <a:off x="2788920" y="3017520"/>
            <a:ext cx="2148840" cy="457200"/>
          </a:xfrm>
          <a:prstGeom prst="rect">
            <a:avLst/>
          </a:prstGeom>
          <a:noFill/>
        </p:spPr>
        <p:txBody>
          <a:bodyPr wrap="square" anchor="t">
            <a:spAutoFit/>
          </a:bodyPr>
          <a:lstStyle/>
          <a:p>
            <a:pPr algn="l">
              <a:spcBef>
                <a:spcPts val="0"/>
              </a:spcBef>
              <a:spcAft>
                <a:spcPts val="600"/>
              </a:spcAft>
            </a:pPr>
            <a:r>
              <a:rPr sz="1300" b="1" i="0">
                <a:solidFill>
                  <a:srgbClr val="5C4333"/>
                </a:solidFill>
                <a:latin typeface="Calibri"/>
              </a:rPr>
              <a:t>October 5 to 9</a:t>
            </a:r>
          </a:p>
        </p:txBody>
      </p:sp>
      <p:sp>
        <p:nvSpPr>
          <p:cNvPr id="16" name="TextBox 15"/>
          <p:cNvSpPr txBox="1"/>
          <p:nvPr/>
        </p:nvSpPr>
        <p:spPr>
          <a:xfrm>
            <a:off x="2788920" y="3474720"/>
            <a:ext cx="2148840" cy="1280160"/>
          </a:xfrm>
          <a:prstGeom prst="rect">
            <a:avLst/>
          </a:prstGeom>
          <a:noFill/>
        </p:spPr>
        <p:txBody>
          <a:bodyPr wrap="square" anchor="t">
            <a:spAutoFit/>
          </a:bodyPr>
          <a:lstStyle/>
          <a:p>
            <a:pPr algn="l">
              <a:spcBef>
                <a:spcPts val="0"/>
              </a:spcBef>
              <a:spcAft>
                <a:spcPts val="600"/>
              </a:spcAft>
            </a:pPr>
            <a:r>
              <a:rPr sz="1200" b="0" i="0">
                <a:solidFill>
                  <a:srgbClr val="2E2A26"/>
                </a:solidFill>
                <a:latin typeface="Calibri"/>
              </a:rPr>
              <a:t>Marble delivery to Paradise Valley</a:t>
            </a:r>
          </a:p>
        </p:txBody>
      </p:sp>
      <p:sp>
        <p:nvSpPr>
          <p:cNvPr id="17" name="Rectangle 16"/>
          <p:cNvSpPr/>
          <p:nvPr/>
        </p:nvSpPr>
        <p:spPr>
          <a:xfrm>
            <a:off x="3246120" y="2542032"/>
            <a:ext cx="1691640" cy="25400"/>
          </a:xfrm>
          <a:prstGeom prst="rect">
            <a:avLst/>
          </a:prstGeom>
          <a:solidFill>
            <a:srgbClr val="E3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029200" y="2377440"/>
            <a:ext cx="411480" cy="411480"/>
          </a:xfrm>
          <a:prstGeom prst="ellipse">
            <a:avLst/>
          </a:prstGeom>
          <a:solidFill>
            <a:srgbClr val="B05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0" y="2395728"/>
            <a:ext cx="411480" cy="365760"/>
          </a:xfrm>
          <a:prstGeom prst="rect">
            <a:avLst/>
          </a:prstGeom>
          <a:noFill/>
        </p:spPr>
        <p:txBody>
          <a:bodyPr wrap="square" anchor="t">
            <a:spAutoFit/>
          </a:bodyPr>
          <a:lstStyle/>
          <a:p>
            <a:pPr algn="ctr">
              <a:spcBef>
                <a:spcPts val="0"/>
              </a:spcBef>
              <a:spcAft>
                <a:spcPts val="600"/>
              </a:spcAft>
            </a:pPr>
            <a:r>
              <a:rPr sz="1600" b="1" i="0">
                <a:solidFill>
                  <a:srgbClr val="FFFFFF"/>
                </a:solidFill>
                <a:latin typeface="Calibri"/>
              </a:rPr>
              <a:t>3</a:t>
            </a:r>
          </a:p>
        </p:txBody>
      </p:sp>
      <p:sp>
        <p:nvSpPr>
          <p:cNvPr id="20" name="TextBox 19"/>
          <p:cNvSpPr txBox="1"/>
          <p:nvPr/>
        </p:nvSpPr>
        <p:spPr>
          <a:xfrm>
            <a:off x="5029200" y="3017520"/>
            <a:ext cx="2148840" cy="457200"/>
          </a:xfrm>
          <a:prstGeom prst="rect">
            <a:avLst/>
          </a:prstGeom>
          <a:noFill/>
        </p:spPr>
        <p:txBody>
          <a:bodyPr wrap="square" anchor="t">
            <a:spAutoFit/>
          </a:bodyPr>
          <a:lstStyle/>
          <a:p>
            <a:pPr algn="l">
              <a:spcBef>
                <a:spcPts val="0"/>
              </a:spcBef>
              <a:spcAft>
                <a:spcPts val="600"/>
              </a:spcAft>
            </a:pPr>
            <a:r>
              <a:rPr sz="1300" b="1" i="0">
                <a:solidFill>
                  <a:srgbClr val="5C4333"/>
                </a:solidFill>
                <a:latin typeface="Calibri"/>
              </a:rPr>
              <a:t>October 12 to 23</a:t>
            </a:r>
          </a:p>
        </p:txBody>
      </p:sp>
      <p:sp>
        <p:nvSpPr>
          <p:cNvPr id="21" name="TextBox 20"/>
          <p:cNvSpPr txBox="1"/>
          <p:nvPr/>
        </p:nvSpPr>
        <p:spPr>
          <a:xfrm>
            <a:off x="5029200" y="3474720"/>
            <a:ext cx="2148840" cy="1280160"/>
          </a:xfrm>
          <a:prstGeom prst="rect">
            <a:avLst/>
          </a:prstGeom>
          <a:noFill/>
        </p:spPr>
        <p:txBody>
          <a:bodyPr wrap="square" anchor="t">
            <a:spAutoFit/>
          </a:bodyPr>
          <a:lstStyle/>
          <a:p>
            <a:pPr algn="l">
              <a:spcBef>
                <a:spcPts val="0"/>
              </a:spcBef>
              <a:spcAft>
                <a:spcPts val="600"/>
              </a:spcAft>
            </a:pPr>
            <a:r>
              <a:rPr sz="1200" b="0" i="0">
                <a:solidFill>
                  <a:srgbClr val="2E2A26"/>
                </a:solidFill>
                <a:latin typeface="Calibri"/>
              </a:rPr>
              <a:t>Furniture and lighting install</a:t>
            </a:r>
          </a:p>
        </p:txBody>
      </p:sp>
      <p:sp>
        <p:nvSpPr>
          <p:cNvPr id="22" name="Rectangle 21"/>
          <p:cNvSpPr/>
          <p:nvPr/>
        </p:nvSpPr>
        <p:spPr>
          <a:xfrm>
            <a:off x="5486400" y="2542032"/>
            <a:ext cx="1691640" cy="25400"/>
          </a:xfrm>
          <a:prstGeom prst="rect">
            <a:avLst/>
          </a:prstGeom>
          <a:solidFill>
            <a:srgbClr val="E3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269480" y="2377440"/>
            <a:ext cx="411480" cy="411480"/>
          </a:xfrm>
          <a:prstGeom prst="ellipse">
            <a:avLst/>
          </a:prstGeom>
          <a:solidFill>
            <a:srgbClr val="B05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69480" y="2395728"/>
            <a:ext cx="411480" cy="365760"/>
          </a:xfrm>
          <a:prstGeom prst="rect">
            <a:avLst/>
          </a:prstGeom>
          <a:noFill/>
        </p:spPr>
        <p:txBody>
          <a:bodyPr wrap="square" anchor="t">
            <a:spAutoFit/>
          </a:bodyPr>
          <a:lstStyle/>
          <a:p>
            <a:pPr algn="ctr">
              <a:spcBef>
                <a:spcPts val="0"/>
              </a:spcBef>
              <a:spcAft>
                <a:spcPts val="600"/>
              </a:spcAft>
            </a:pPr>
            <a:r>
              <a:rPr sz="1600" b="1" i="0">
                <a:solidFill>
                  <a:srgbClr val="FFFFFF"/>
                </a:solidFill>
                <a:latin typeface="Calibri"/>
              </a:rPr>
              <a:t>4</a:t>
            </a:r>
          </a:p>
        </p:txBody>
      </p:sp>
      <p:sp>
        <p:nvSpPr>
          <p:cNvPr id="25" name="TextBox 24"/>
          <p:cNvSpPr txBox="1"/>
          <p:nvPr/>
        </p:nvSpPr>
        <p:spPr>
          <a:xfrm>
            <a:off x="7269480" y="3017520"/>
            <a:ext cx="2148840" cy="457200"/>
          </a:xfrm>
          <a:prstGeom prst="rect">
            <a:avLst/>
          </a:prstGeom>
          <a:noFill/>
        </p:spPr>
        <p:txBody>
          <a:bodyPr wrap="square" anchor="t">
            <a:spAutoFit/>
          </a:bodyPr>
          <a:lstStyle/>
          <a:p>
            <a:pPr algn="l">
              <a:spcBef>
                <a:spcPts val="0"/>
              </a:spcBef>
              <a:spcAft>
                <a:spcPts val="600"/>
              </a:spcAft>
            </a:pPr>
            <a:r>
              <a:rPr sz="1300" b="1" i="0">
                <a:solidFill>
                  <a:srgbClr val="5C4333"/>
                </a:solidFill>
                <a:latin typeface="Calibri"/>
              </a:rPr>
              <a:t>Late October</a:t>
            </a:r>
          </a:p>
        </p:txBody>
      </p:sp>
      <p:sp>
        <p:nvSpPr>
          <p:cNvPr id="26" name="TextBox 25"/>
          <p:cNvSpPr txBox="1"/>
          <p:nvPr/>
        </p:nvSpPr>
        <p:spPr>
          <a:xfrm>
            <a:off x="7269480" y="3474720"/>
            <a:ext cx="2148840" cy="1280160"/>
          </a:xfrm>
          <a:prstGeom prst="rect">
            <a:avLst/>
          </a:prstGeom>
          <a:noFill/>
        </p:spPr>
        <p:txBody>
          <a:bodyPr wrap="square" anchor="t">
            <a:spAutoFit/>
          </a:bodyPr>
          <a:lstStyle/>
          <a:p>
            <a:pPr algn="l">
              <a:spcBef>
                <a:spcPts val="0"/>
              </a:spcBef>
              <a:spcAft>
                <a:spcPts val="600"/>
              </a:spcAft>
            </a:pPr>
            <a:r>
              <a:rPr sz="1200" b="0" i="0">
                <a:solidFill>
                  <a:srgbClr val="2E2A26"/>
                </a:solidFill>
                <a:latin typeface="Calibri"/>
              </a:rPr>
              <a:t>Styling and final walkthrough</a:t>
            </a:r>
          </a:p>
        </p:txBody>
      </p:sp>
      <p:sp>
        <p:nvSpPr>
          <p:cNvPr id="27" name="Rectangle 26"/>
          <p:cNvSpPr/>
          <p:nvPr/>
        </p:nvSpPr>
        <p:spPr>
          <a:xfrm>
            <a:off x="7726680" y="2542032"/>
            <a:ext cx="1691640" cy="25400"/>
          </a:xfrm>
          <a:prstGeom prst="rect">
            <a:avLst/>
          </a:prstGeom>
          <a:solidFill>
            <a:srgbClr val="E3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9760" y="2377440"/>
            <a:ext cx="411480" cy="411480"/>
          </a:xfrm>
          <a:prstGeom prst="ellipse">
            <a:avLst/>
          </a:prstGeom>
          <a:solidFill>
            <a:srgbClr val="B05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9760" y="2395728"/>
            <a:ext cx="411480" cy="365760"/>
          </a:xfrm>
          <a:prstGeom prst="rect">
            <a:avLst/>
          </a:prstGeom>
          <a:noFill/>
        </p:spPr>
        <p:txBody>
          <a:bodyPr wrap="square" anchor="t">
            <a:spAutoFit/>
          </a:bodyPr>
          <a:lstStyle/>
          <a:p>
            <a:pPr algn="ctr">
              <a:spcBef>
                <a:spcPts val="0"/>
              </a:spcBef>
              <a:spcAft>
                <a:spcPts val="600"/>
              </a:spcAft>
            </a:pPr>
            <a:r>
              <a:rPr sz="1600" b="1" i="0">
                <a:solidFill>
                  <a:srgbClr val="FFFFFF"/>
                </a:solidFill>
                <a:latin typeface="Calibri"/>
              </a:rPr>
              <a:t>5</a:t>
            </a:r>
          </a:p>
        </p:txBody>
      </p:sp>
      <p:sp>
        <p:nvSpPr>
          <p:cNvPr id="30" name="TextBox 29"/>
          <p:cNvSpPr txBox="1"/>
          <p:nvPr/>
        </p:nvSpPr>
        <p:spPr>
          <a:xfrm>
            <a:off x="9509760" y="3017520"/>
            <a:ext cx="2148840" cy="457200"/>
          </a:xfrm>
          <a:prstGeom prst="rect">
            <a:avLst/>
          </a:prstGeom>
          <a:noFill/>
        </p:spPr>
        <p:txBody>
          <a:bodyPr wrap="square" anchor="t">
            <a:spAutoFit/>
          </a:bodyPr>
          <a:lstStyle/>
          <a:p>
            <a:pPr algn="l">
              <a:spcBef>
                <a:spcPts val="0"/>
              </a:spcBef>
              <a:spcAft>
                <a:spcPts val="600"/>
              </a:spcAft>
            </a:pPr>
            <a:r>
              <a:rPr sz="1300" b="1" i="0">
                <a:solidFill>
                  <a:srgbClr val="5C4333"/>
                </a:solidFill>
                <a:latin typeface="Calibri"/>
              </a:rPr>
              <a:t>October 2026</a:t>
            </a:r>
          </a:p>
        </p:txBody>
      </p:sp>
      <p:sp>
        <p:nvSpPr>
          <p:cNvPr id="31" name="TextBox 30"/>
          <p:cNvSpPr txBox="1"/>
          <p:nvPr/>
        </p:nvSpPr>
        <p:spPr>
          <a:xfrm>
            <a:off x="9509760" y="3474720"/>
            <a:ext cx="2148840" cy="1280160"/>
          </a:xfrm>
          <a:prstGeom prst="rect">
            <a:avLst/>
          </a:prstGeom>
          <a:noFill/>
        </p:spPr>
        <p:txBody>
          <a:bodyPr wrap="square" anchor="t">
            <a:spAutoFit/>
          </a:bodyPr>
          <a:lstStyle/>
          <a:p>
            <a:pPr algn="l">
              <a:spcBef>
                <a:spcPts val="0"/>
              </a:spcBef>
              <a:spcAft>
                <a:spcPts val="600"/>
              </a:spcAft>
            </a:pPr>
            <a:r>
              <a:rPr sz="1200" b="0" i="0">
                <a:solidFill>
                  <a:srgbClr val="2E2A26"/>
                </a:solidFill>
                <a:latin typeface="Calibri"/>
              </a:rPr>
              <a:t>Completion and handover</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B05A2B"/>
        </a:solidFill>
        <a:effectLst/>
      </p:bgPr>
    </p:bg>
    <p:spTree>
      <p:nvGrpSpPr>
        <p:cNvPr id="1" name=""/>
        <p:cNvGrpSpPr/>
        <p:nvPr/>
      </p:nvGrpSpPr>
      <p:grpSpPr/>
      <p:sp>
        <p:nvSpPr>
          <p:cNvPr id="2" name="TextBox 1"/>
          <p:cNvSpPr txBox="1"/>
          <p:nvPr/>
        </p:nvSpPr>
        <p:spPr>
          <a:xfrm>
            <a:off x="822960" y="1280160"/>
            <a:ext cx="10515600" cy="914400"/>
          </a:xfrm>
          <a:prstGeom prst="rect">
            <a:avLst/>
          </a:prstGeom>
          <a:noFill/>
        </p:spPr>
        <p:txBody>
          <a:bodyPr wrap="square" anchor="t">
            <a:spAutoFit/>
          </a:bodyPr>
          <a:lstStyle/>
          <a:p>
            <a:pPr algn="l">
              <a:spcBef>
                <a:spcPts val="0"/>
              </a:spcBef>
              <a:spcAft>
                <a:spcPts val="600"/>
              </a:spcAft>
            </a:pPr>
            <a:r>
              <a:rPr sz="4000" b="1" i="0">
                <a:solidFill>
                  <a:srgbClr val="F6F0E7"/>
                </a:solidFill>
                <a:latin typeface="Calibri"/>
              </a:rPr>
              <a:t>Next Steps</a:t>
            </a:r>
          </a:p>
        </p:txBody>
      </p:sp>
      <p:sp>
        <p:nvSpPr>
          <p:cNvPr id="3" name="TextBox 2"/>
          <p:cNvSpPr txBox="1"/>
          <p:nvPr/>
        </p:nvSpPr>
        <p:spPr>
          <a:xfrm>
            <a:off x="868680" y="2468880"/>
            <a:ext cx="9601200" cy="2377440"/>
          </a:xfrm>
          <a:prstGeom prst="rect">
            <a:avLst/>
          </a:prstGeom>
          <a:noFill/>
        </p:spPr>
        <p:txBody>
          <a:bodyPr wrap="square">
            <a:spAutoFit/>
          </a:bodyPr>
          <a:lstStyle/>
          <a:p>
            <a:pPr>
              <a:spcAft>
                <a:spcPts val="1400"/>
              </a:spcAft>
            </a:pPr>
            <a:r>
              <a:rPr b="1" sz="1800">
                <a:solidFill>
                  <a:srgbClr val="FFFFFF"/>
                </a:solidFill>
                <a:latin typeface="Calibri"/>
              </a:rPr>
              <a:t>Confirm  </a:t>
            </a:r>
            <a:r>
              <a:rPr sz="1800">
                <a:solidFill>
                  <a:srgbClr val="F6F0E7"/>
                </a:solidFill>
                <a:latin typeface="Calibri"/>
              </a:rPr>
              <a:t>install dates for the marble and primary suite furnishings.</a:t>
            </a:r>
          </a:p>
          <a:p>
            <a:pPr>
              <a:spcAft>
                <a:spcPts val="1400"/>
              </a:spcAft>
            </a:pPr>
            <a:r>
              <a:rPr b="1" sz="1800">
                <a:solidFill>
                  <a:srgbClr val="FFFFFF"/>
                </a:solidFill>
                <a:latin typeface="Calibri"/>
              </a:rPr>
              <a:t>Review  </a:t>
            </a:r>
            <a:r>
              <a:rPr sz="1800">
                <a:solidFill>
                  <a:srgbClr val="F6F0E7"/>
                </a:solidFill>
                <a:latin typeface="Calibri"/>
              </a:rPr>
              <a:t>the living room layout and lighting plan together.</a:t>
            </a:r>
          </a:p>
          <a:p>
            <a:pPr>
              <a:spcAft>
                <a:spcPts val="1400"/>
              </a:spcAft>
            </a:pPr>
            <a:r>
              <a:rPr b="1" sz="1800">
                <a:solidFill>
                  <a:srgbClr val="FFFFFF"/>
                </a:solidFill>
                <a:latin typeface="Calibri"/>
              </a:rPr>
              <a:t>Approve  </a:t>
            </a:r>
            <a:r>
              <a:rPr sz="1800">
                <a:solidFill>
                  <a:srgbClr val="F6F0E7"/>
                </a:solidFill>
                <a:latin typeface="Calibri"/>
              </a:rPr>
              <a:t>the final styling package before photography.</a:t>
            </a:r>
          </a:p>
        </p:txBody>
      </p:sp>
      <p:sp>
        <p:nvSpPr>
          <p:cNvPr id="4" name="TextBox 3"/>
          <p:cNvSpPr txBox="1"/>
          <p:nvPr/>
        </p:nvSpPr>
        <p:spPr>
          <a:xfrm>
            <a:off x="868680" y="5394960"/>
            <a:ext cx="10515600" cy="914400"/>
          </a:xfrm>
          <a:prstGeom prst="rect">
            <a:avLst/>
          </a:prstGeom>
          <a:noFill/>
        </p:spPr>
        <p:txBody>
          <a:bodyPr wrap="square" anchor="t">
            <a:spAutoFit/>
          </a:bodyPr>
          <a:lstStyle/>
          <a:p>
            <a:pPr algn="l">
              <a:spcBef>
                <a:spcPts val="0"/>
              </a:spcBef>
              <a:spcAft>
                <a:spcPts val="600"/>
              </a:spcAft>
            </a:pPr>
            <a:r>
              <a:rPr sz="1500" b="1" i="0">
                <a:solidFill>
                  <a:srgbClr val="F6F0E7"/>
                </a:solidFill>
                <a:latin typeface="Calibri"/>
              </a:rPr>
              <a:t>Jessica Spencer  |  Spencer Interiors</a:t>
            </a:r>
          </a:p>
          <a:p>
            <a:pPr algn="l">
              <a:spcBef>
                <a:spcPts val="0"/>
              </a:spcBef>
              <a:spcAft>
                <a:spcPts val="600"/>
              </a:spcAft>
            </a:pPr>
            <a:r>
              <a:rPr sz="1200" b="0" i="0">
                <a:solidFill>
                  <a:srgbClr val="E3D4BF"/>
                </a:solidFill>
                <a:latin typeface="Calibri"/>
              </a:rPr>
              <a:t>7014 East 1st Avenue, Scottsdale, AZ 85251  |  (480) 555-0270  |  jessica.spencer@Finthesiss.ai</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Productivity Suite</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Jessica Spencer</dc:creator>
  <cp:keywords/>
  <dc:description/>
  <cp:lastModifiedBy>Jessica Spencer</cp:lastModifiedBy>
  <cp:revision>1</cp:revision>
  <dcterms:created xsi:type="dcterms:W3CDTF">2026-02-24T10:00:00Z</dcterms:created>
  <dcterms:modified xsi:type="dcterms:W3CDTF">2026-02-24T10:00:00Z</dcterms:modified>
  <cp:category/>
</cp:coreProperties>
</file>