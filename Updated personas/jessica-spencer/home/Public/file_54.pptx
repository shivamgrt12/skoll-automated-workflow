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3A34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420,000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180,000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62,000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18,000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Design fees</c:v>
                </c:pt>
                <c:pt idx="1">
                  <c:v>Furniture margin</c:v>
                </c:pt>
                <c:pt idx="2">
                  <c:v>Staging services</c:v>
                </c:pt>
                <c:pt idx="3">
                  <c:v>Consultation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420000</c:v>
                </c:pt>
                <c:pt idx="1">
                  <c:v>180000</c:v>
                </c:pt>
                <c:pt idx="2">
                  <c:v>62000</c:v>
                </c:pt>
                <c:pt idx="3">
                  <c:v>18000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329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32927"/>
            </a:solidFill>
          </a:ln>
        </c:spPr>
        <c:txPr>
          <a:bodyPr/>
          <a:lstStyle/>
          <a:p>
            <a:pPr>
              <a:defRPr sz="1000">
                <a:solidFill>
                  <a:srgbClr val="2329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32927"/>
            </a:solidFill>
          </a:ln>
        </c:spPr>
        <c:txPr>
          <a:bodyPr/>
          <a:lstStyle/>
          <a:p>
            <a:pPr>
              <a:defRPr sz="1000">
                <a:solidFill>
                  <a:srgbClr val="23292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C49A2C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168,000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28,000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36,000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14,000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12,000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9,800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8,400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232927"/>
                        </a:solidFill>
                        <a:latin typeface="Calibri"/>
                      </a:rPr>
                      <a:t>9,600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Payroll</c:v>
                </c:pt>
                <c:pt idx="1">
                  <c:v>Bookkeeping</c:v>
                </c:pt>
                <c:pt idx="2">
                  <c:v>Studio rent</c:v>
                </c:pt>
                <c:pt idx="3">
                  <c:v>Marketing</c:v>
                </c:pt>
                <c:pt idx="4">
                  <c:v>Samples</c:v>
                </c:pt>
                <c:pt idx="5">
                  <c:v>Travel</c:v>
                </c:pt>
                <c:pt idx="6">
                  <c:v>Office</c:v>
                </c:pt>
                <c:pt idx="7">
                  <c:v>Software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168000</c:v>
                </c:pt>
                <c:pt idx="1">
                  <c:v>28000</c:v>
                </c:pt>
                <c:pt idx="2">
                  <c:v>36000</c:v>
                </c:pt>
                <c:pt idx="3">
                  <c:v>14000</c:v>
                </c:pt>
                <c:pt idx="4">
                  <c:v>12000</c:v>
                </c:pt>
                <c:pt idx="5">
                  <c:v>9800</c:v>
                </c:pt>
                <c:pt idx="6">
                  <c:v>8400</c:v>
                </c:pt>
                <c:pt idx="7">
                  <c:v>9600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329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32927"/>
            </a:solidFill>
          </a:ln>
        </c:spPr>
        <c:txPr>
          <a:bodyPr/>
          <a:lstStyle/>
          <a:p>
            <a:pPr>
              <a:defRPr sz="1000">
                <a:solidFill>
                  <a:srgbClr val="2329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32927"/>
            </a:solidFill>
          </a:ln>
        </c:spPr>
        <c:txPr>
          <a:bodyPr/>
          <a:lstStyle/>
          <a:p>
            <a:pPr>
              <a:defRPr sz="1000">
                <a:solidFill>
                  <a:srgbClr val="23292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2011680" cy="9144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DAB4"/>
                </a:solidFill>
                <a:latin typeface="Calibri"/>
              </a:rPr>
              <a:t>SPENCER INTERIORS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AF7F0"/>
                </a:solidFill>
                <a:latin typeface="Calibri"/>
              </a:rPr>
              <a:t>Studio Year in Review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E8DAB4"/>
                </a:solidFill>
                <a:latin typeface="Calibri"/>
              </a:rPr>
              <a:t>Fiscal Year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7F0"/>
                </a:solidFill>
                <a:latin typeface="Calibri"/>
              </a:rPr>
              <a:t>Prepared February 2026 with Janet Liu and reviewed with Reynolds and Associates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DAB4"/>
                </a:solidFill>
                <a:latin typeface="Calibri"/>
              </a:rPr>
              <a:t>HEADLINE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AF7F0"/>
                </a:solidFill>
                <a:latin typeface="Calibri"/>
              </a:rPr>
              <a:t>The Year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46E"/>
                </a:solidFill>
                <a:latin typeface="Calibri"/>
              </a:rPr>
              <a:t>Spencer Interiors  |  Studio Year in Review, Fiscal Year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606040" cy="173736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2606040" cy="27432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AF7F0"/>
                </a:solidFill>
                <a:latin typeface="Calibri"/>
              </a:rPr>
              <a:t>$680,000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DAB4"/>
                </a:solidFill>
                <a:latin typeface="Calibri"/>
              </a:rPr>
              <a:t>Total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606040" cy="173736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3383280"/>
            <a:ext cx="2606040" cy="27432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AF7F0"/>
                </a:solidFill>
                <a:latin typeface="Calibri"/>
              </a:rPr>
              <a:t>$380,500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DAB4"/>
                </a:solidFill>
                <a:latin typeface="Calibri"/>
              </a:rPr>
              <a:t>Net operating income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2606040" cy="173736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383280"/>
            <a:ext cx="2606040" cy="27432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2402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AF7F0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DAB4"/>
                </a:solidFill>
                <a:latin typeface="Calibri"/>
              </a:rPr>
              <a:t>Year over year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920240"/>
            <a:ext cx="2606040" cy="173736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3383280"/>
            <a:ext cx="2606040" cy="27432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2402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AF7F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DAB4"/>
                </a:solidFill>
                <a:latin typeface="Calibri"/>
              </a:rPr>
              <a:t>Active client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32927"/>
                </a:solidFill>
                <a:latin typeface="Calibri"/>
              </a:rPr>
              <a:t>A strong year built on design fees and a healthy furnishings margin, with staging adding a reliable third stream. Net operating income held near 56 percent of revenue. The growth trend supports bringing on a junior designer as the studio scales into the coming year.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DAB4"/>
                </a:solidFill>
                <a:latin typeface="Calibri"/>
              </a:rPr>
              <a:t>WHERE IT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AF7F0"/>
                </a:solidFill>
                <a:latin typeface="Calibri"/>
              </a:rPr>
              <a:t>Revenue by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46E"/>
                </a:solidFill>
                <a:latin typeface="Calibri"/>
              </a:rPr>
              <a:t>Spencer Interiors  |  Studio Year in Review, Fiscal Year 2025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80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38160" y="2103120"/>
            <a:ext cx="3474720" cy="356616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377440"/>
            <a:ext cx="31089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AF7F0"/>
                </a:solidFill>
                <a:latin typeface="Calibri"/>
              </a:rPr>
              <a:t>$680,000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8DAB4"/>
                </a:solidFill>
                <a:latin typeface="Calibri"/>
              </a:rPr>
              <a:t>total revenue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C49A2C"/>
                </a:solidFill>
                <a:latin typeface="Calibri"/>
              </a:rPr>
              <a:t>Design fees lead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AF7F0"/>
                </a:solidFill>
                <a:latin typeface="Calibri"/>
              </a:rPr>
              <a:t>at 62 percent of the total, with procurement margin the second pillar.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DAB4"/>
                </a:solidFill>
                <a:latin typeface="Calibri"/>
              </a:rPr>
              <a:t>WHERE IT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AF7F0"/>
                </a:solidFill>
                <a:latin typeface="Calibri"/>
              </a:rPr>
              <a:t>Operating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46E"/>
                </a:solidFill>
                <a:latin typeface="Calibri"/>
              </a:rPr>
              <a:t>Spencer Interiors  |  Studio Year in Review, Fiscal Year 2025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82880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2103120"/>
            <a:ext cx="3291840" cy="3566160"/>
          </a:xfrm>
          <a:prstGeom prst="rect">
            <a:avLst/>
          </a:prstGeom>
          <a:solidFill>
            <a:srgbClr val="FAF7F0"/>
          </a:solidFill>
          <a:ln w="12700">
            <a:solidFill>
              <a:srgbClr val="1E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2926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800" b="1" i="0">
                <a:solidFill>
                  <a:srgbClr val="1E3A34"/>
                </a:solidFill>
                <a:latin typeface="Calibri"/>
              </a:rPr>
              <a:t>$299,500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6E846E"/>
                </a:solidFill>
                <a:latin typeface="Calibri"/>
              </a:rPr>
              <a:t>total operating expenses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C49A2C"/>
                </a:solidFill>
                <a:latin typeface="Calibri"/>
              </a:rPr>
              <a:t>Payroll is the largest line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232927"/>
                </a:solidFill>
                <a:latin typeface="Calibri"/>
              </a:rPr>
              <a:t>at $168,000, reflecting the design team and steady project load.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DAB4"/>
                </a:solidFill>
                <a:latin typeface="Calibri"/>
              </a:rPr>
              <a:t>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AF7F0"/>
                </a:solidFill>
                <a:latin typeface="Calibri"/>
              </a:rPr>
              <a:t>Project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46E"/>
                </a:solidFill>
                <a:latin typeface="Calibri"/>
              </a:rPr>
              <a:t>Spencer Interiors  |  Studio Year in Review, Fiscal Year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solidFill>
            <a:srgbClr val="FAF7F0"/>
          </a:solidFill>
          <a:ln w="12700"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28016" cy="86868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3A34"/>
                </a:solidFill>
                <a:latin typeface="Calibri"/>
              </a:rPr>
              <a:t>Hendricks Residence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2140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32927"/>
                </a:solidFill>
                <a:latin typeface="Calibri"/>
              </a:rPr>
              <a:t>Full home, Paradise Valley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084832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9A2C"/>
                </a:solidFill>
                <a:latin typeface="Calibri"/>
              </a:rPr>
              <a:t>$320,000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07792"/>
            <a:ext cx="11064240" cy="868680"/>
          </a:xfrm>
          <a:prstGeom prst="rect">
            <a:avLst/>
          </a:prstGeom>
          <a:solidFill>
            <a:srgbClr val="FAF7F0"/>
          </a:solidFill>
          <a:ln w="12700"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07792"/>
            <a:ext cx="128016" cy="86868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3A34"/>
                </a:solidFill>
                <a:latin typeface="Calibri"/>
              </a:rPr>
              <a:t>Martin Condo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08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32927"/>
                </a:solidFill>
                <a:latin typeface="Calibri"/>
              </a:rPr>
              <a:t>Downtown Phoenix renovation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72384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9A2C"/>
                </a:solidFill>
                <a:latin typeface="Calibri"/>
              </a:rPr>
              <a:t>$85,000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95344"/>
            <a:ext cx="11064240" cy="868680"/>
          </a:xfrm>
          <a:prstGeom prst="rect">
            <a:avLst/>
          </a:prstGeom>
          <a:solidFill>
            <a:srgbClr val="FAF7F0"/>
          </a:solidFill>
          <a:ln w="12700"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95344"/>
            <a:ext cx="128016" cy="86868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3A34"/>
                </a:solidFill>
                <a:latin typeface="Calibri"/>
              </a:rPr>
              <a:t>Desert Vista Model Homes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09651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32927"/>
                </a:solidFill>
                <a:latin typeface="Calibri"/>
              </a:rPr>
              <a:t>Staging, Marana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059936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9A2C"/>
                </a:solidFill>
                <a:latin typeface="Calibri"/>
              </a:rPr>
              <a:t>$150,000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82896"/>
            <a:ext cx="11064240" cy="868680"/>
          </a:xfrm>
          <a:prstGeom prst="rect">
            <a:avLst/>
          </a:prstGeom>
          <a:solidFill>
            <a:srgbClr val="FAF7F0"/>
          </a:solidFill>
          <a:ln w="12700"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28016" cy="86868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92624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3A34"/>
                </a:solidFill>
                <a:latin typeface="Calibri"/>
              </a:rPr>
              <a:t>Spencer Spec 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084064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32927"/>
                </a:solidFill>
                <a:latin typeface="Calibri"/>
              </a:rPr>
              <a:t>Staging, DC Ranch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04748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C49A2C"/>
                </a:solidFill>
                <a:latin typeface="Calibri"/>
              </a:rPr>
              <a:t>$45,000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DAB4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AF7F0"/>
                </a:solidFill>
                <a:latin typeface="Calibri"/>
              </a:rPr>
              <a:t>Growth Plan,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46E"/>
                </a:solidFill>
                <a:latin typeface="Calibri"/>
              </a:rPr>
              <a:t>Spencer Interiors  |  Studio Year in Review, Fiscal Year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C49A2C"/>
                </a:solidFill>
                <a:latin typeface="Calibri"/>
              </a:rPr>
              <a:t>Hire a junior designer.  </a:t>
            </a:r>
            <a:r>
              <a:rPr sz="1600">
                <a:solidFill>
                  <a:srgbClr val="232927"/>
                </a:solidFill>
                <a:latin typeface="Calibri"/>
              </a:rPr>
              <a:t>The steady growth trend supports a fourth design seat to carry the load.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C49A2C"/>
                </a:solidFill>
                <a:latin typeface="Calibri"/>
              </a:rPr>
              <a:t>Refresh the portfolio site.  </a:t>
            </a:r>
            <a:r>
              <a:rPr sz="1600">
                <a:solidFill>
                  <a:srgbClr val="232927"/>
                </a:solidFill>
                <a:latin typeface="Calibri"/>
              </a:rPr>
              <a:t>Lead with the strongest case studies and tighten the inquiry path.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C49A2C"/>
                </a:solidFill>
                <a:latin typeface="Calibri"/>
              </a:rPr>
              <a:t>Deepen trade relationships.  </a:t>
            </a:r>
            <a:r>
              <a:rPr sz="1600">
                <a:solidFill>
                  <a:srgbClr val="232927"/>
                </a:solidFill>
                <a:latin typeface="Calibri"/>
              </a:rPr>
              <a:t>Lock favorable lead times with the primary trade houses and artisan network.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C49A2C"/>
                </a:solidFill>
                <a:latin typeface="Calibri"/>
              </a:rPr>
              <a:t>Hold service quality.  </a:t>
            </a:r>
            <a:r>
              <a:rPr sz="1600">
                <a:solidFill>
                  <a:srgbClr val="232927"/>
                </a:solidFill>
                <a:latin typeface="Calibri"/>
              </a:rPr>
              <a:t>Protect the detail and warmth that bring referrals, even while scaling.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94560"/>
            <a:ext cx="2194560" cy="91440"/>
          </a:xfrm>
          <a:prstGeom prst="rect">
            <a:avLst/>
          </a:prstGeom>
          <a:solidFill>
            <a:srgbClr val="C49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AF7F0"/>
                </a:solidFill>
                <a:latin typeface="Calibri"/>
              </a:rPr>
              <a:t>A year of warmth and restraint.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E8DAB4"/>
                </a:solidFill>
                <a:latin typeface="Calibri"/>
              </a:rPr>
              <a:t>Onward, with the same standards and a bigger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8DAB4"/>
                </a:solidFill>
                <a:latin typeface="Calibri"/>
              </a:rPr>
              <a:t>Spencer Interiors  |  7014 East 1st Avenue, Scottsdale, AZ 85251  |  jessica.spencer@Finthesiss.ai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Productivity Suite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Spencer</dc:creator>
  <cp:keywords/>
  <dc:description/>
  <cp:lastModifiedBy>Jessica Spencer</cp:lastModifiedBy>
  <cp:revision>1</cp:revision>
  <dcterms:created xsi:type="dcterms:W3CDTF">2026-02-20T10:00:00Z</dcterms:created>
  <dcterms:modified xsi:type="dcterms:W3CDTF">2026-02-20T10:00:00Z</dcterms:modified>
  <cp:category/>
</cp:coreProperties>
</file>