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2E5B3E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900">
                    <a:solidFill>
                      <a:srgbClr val="2B2B2B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Discovery</c:v>
                </c:pt>
                <c:pt idx="1">
                  <c:v>Mood board</c:v>
                </c:pt>
                <c:pt idx="2">
                  <c:v>Concepts</c:v>
                </c:pt>
                <c:pt idx="3">
                  <c:v>Revisions</c:v>
                </c:pt>
                <c:pt idx="4">
                  <c:v>Final files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</c:v>
                </c:pt>
                <c:pt idx="1">
                  <c:v>5</c:v>
                </c:pt>
                <c:pt idx="2">
                  <c:v>14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B2B2B"/>
            </a:solidFill>
          </a:ln>
        </c:spPr>
        <c:txPr>
          <a:bodyPr/>
          <a:lstStyle/>
          <a:p>
            <a:pPr>
              <a:defRPr sz="1000">
                <a:solidFill>
                  <a:srgbClr val="2B2B2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3175">
              <a:solidFill>
                <a:srgbClr val="2B2B2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B2B2B"/>
            </a:solidFill>
          </a:ln>
        </c:spPr>
        <c:txPr>
          <a:bodyPr/>
          <a:lstStyle/>
          <a:p>
            <a:pPr>
              <a:defRPr sz="1000">
                <a:solidFill>
                  <a:srgbClr val="2B2B2B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B2B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8FA98A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Logo</c:v>
                </c:pt>
                <c:pt idx="1">
                  <c:v>Color</c:v>
                </c:pt>
                <c:pt idx="2">
                  <c:v>Type</c:v>
                </c:pt>
                <c:pt idx="3">
                  <c:v>Packaging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52</c:v>
                </c:pt>
                <c:pt idx="2">
                  <c:v>60</c:v>
                </c:pt>
                <c:pt idx="3">
                  <c:v>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2E5B3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Logo</c:v>
                </c:pt>
                <c:pt idx="1">
                  <c:v>Color</c:v>
                </c:pt>
                <c:pt idx="2">
                  <c:v>Type</c:v>
                </c:pt>
                <c:pt idx="3">
                  <c:v>Packaging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</c:v>
                </c:pt>
                <c:pt idx="1">
                  <c:v>90</c:v>
                </c:pt>
                <c:pt idx="2">
                  <c:v>94</c:v>
                </c:pt>
                <c:pt idx="3">
                  <c:v>91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B2B2B"/>
            </a:solidFill>
          </a:ln>
        </c:spPr>
        <c:txPr>
          <a:bodyPr/>
          <a:lstStyle/>
          <a:p>
            <a:pPr>
              <a:defRPr sz="1000">
                <a:solidFill>
                  <a:srgbClr val="2B2B2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3175">
              <a:solidFill>
                <a:srgbClr val="2B2B2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B2B2B"/>
            </a:solidFill>
          </a:ln>
        </c:spPr>
        <c:txPr>
          <a:bodyPr/>
          <a:lstStyle/>
          <a:p>
            <a:pPr>
              <a:defRPr sz="1000">
                <a:solidFill>
                  <a:srgbClr val="2B2B2B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2B2B2B"/>
              </a:solidFill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2B2B2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E5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2E5B3E"/>
                </a:solidFill>
                <a:latin typeface="Calibri"/>
              </a:rPr>
              <a:t>Brand Refresh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2B2B2B"/>
                </a:solidFill>
                <a:latin typeface="Calibri"/>
              </a:rPr>
              <a:t>A small batch pantry brand, tightened for the shelf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1206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A98A"/>
                </a:solidFill>
                <a:latin typeface="Calibri"/>
              </a:rPr>
              <a:t>Verdant Provisions and Taylor Visual Studio   |   Prepared February 2026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E5B3E"/>
                </a:solidFill>
                <a:latin typeface="Calibri"/>
              </a:rPr>
              <a:t>The brief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234440"/>
            <a:ext cx="2011680" cy="54864"/>
          </a:xfrm>
          <a:prstGeom prst="rect">
            <a:avLst/>
          </a:prstGeom>
          <a:solidFill>
            <a:srgbClr val="8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1">
                <a:solidFill>
                  <a:srgbClr val="2E5B3E"/>
                </a:solidFill>
                <a:latin typeface="Calibri"/>
              </a:rPr>
              <a:t>Keep the warmth.   </a:t>
            </a:r>
            <a:r>
              <a:rPr sz="1900" b="0">
                <a:solidFill>
                  <a:srgbClr val="2B2B2B"/>
                </a:solidFill>
                <a:latin typeface="Calibri"/>
              </a:rPr>
              <a:t>The hand made feel reads as the brand. Protect it.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1">
                <a:solidFill>
                  <a:srgbClr val="2E5B3E"/>
                </a:solidFill>
                <a:latin typeface="Calibri"/>
              </a:rPr>
              <a:t>Fix the small sizes.   </a:t>
            </a:r>
            <a:r>
              <a:rPr sz="1900" b="0">
                <a:solidFill>
                  <a:srgbClr val="2B2B2B"/>
                </a:solidFill>
                <a:latin typeface="Calibri"/>
              </a:rPr>
              <a:t>The mark falls apart on a one inch label and on shelf.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1">
                <a:solidFill>
                  <a:srgbClr val="2E5B3E"/>
                </a:solidFill>
                <a:latin typeface="Calibri"/>
              </a:rPr>
              <a:t>Build a system.   </a:t>
            </a:r>
            <a:r>
              <a:rPr sz="1900" b="0">
                <a:solidFill>
                  <a:srgbClr val="2B2B2B"/>
                </a:solidFill>
                <a:latin typeface="Calibri"/>
              </a:rPr>
              <a:t>Primary and secondary color, type scale, and packaging templates.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1">
                <a:solidFill>
                  <a:srgbClr val="2E5B3E"/>
                </a:solidFill>
                <a:latin typeface="Calibri"/>
              </a:rPr>
              <a:t>Three core products.   </a:t>
            </a:r>
            <a:r>
              <a:rPr sz="1900" b="0">
                <a:solidFill>
                  <a:srgbClr val="2B2B2B"/>
                </a:solidFill>
                <a:latin typeface="Calibri"/>
              </a:rPr>
              <a:t>One consistent look across the full range, print ready.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E5B3E"/>
                </a:solidFill>
                <a:latin typeface="Calibri"/>
              </a:rPr>
              <a:t>How the work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2194560"/>
            <a:ext cx="2103120" cy="1371600"/>
          </a:xfrm>
          <a:prstGeom prst="rect">
            <a:avLst/>
          </a:prstGeom>
          <a:solidFill>
            <a:srgbClr val="2E5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154680" y="2194560"/>
            <a:ext cx="2103120" cy="1371600"/>
          </a:xfrm>
          <a:prstGeom prst="rect">
            <a:avLst/>
          </a:prstGeom>
          <a:solidFill>
            <a:srgbClr val="8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54680" y="2514600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Mood board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40680" y="2194560"/>
            <a:ext cx="2103120" cy="1371600"/>
          </a:xfrm>
          <a:prstGeom prst="rect">
            <a:avLst/>
          </a:prstGeom>
          <a:solidFill>
            <a:srgbClr val="2E5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40680" y="2514600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Concepts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80" y="2194560"/>
            <a:ext cx="2103120" cy="1371600"/>
          </a:xfrm>
          <a:prstGeom prst="rect">
            <a:avLst/>
          </a:prstGeom>
          <a:solidFill>
            <a:srgbClr val="8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80" y="2514600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Two rounds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12680" y="2194560"/>
            <a:ext cx="2103120" cy="1371600"/>
          </a:xfrm>
          <a:prstGeom prst="rect">
            <a:avLst/>
          </a:prstGeom>
          <a:solidFill>
            <a:srgbClr val="2E5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514600"/>
            <a:ext cx="2103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Final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2B2B2B"/>
                </a:solidFill>
                <a:latin typeface="Calibri"/>
              </a:rPr>
              <a:t>Two revision rounds keep scope honest. Anything past two rounds is billed hourly, agreed up front.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E5B3E"/>
                </a:solidFill>
                <a:latin typeface="Calibri"/>
              </a:rPr>
              <a:t>Color and type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645920"/>
            <a:ext cx="1828800" cy="1645920"/>
          </a:xfrm>
          <a:prstGeom prst="rect">
            <a:avLst/>
          </a:prstGeom>
          <a:solidFill>
            <a:srgbClr val="2E5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3832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B2B2B"/>
                </a:solidFill>
                <a:latin typeface="Calibri"/>
              </a:rPr>
              <a:t>Field Green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703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FA98A"/>
                </a:solidFill>
                <a:latin typeface="Calibri"/>
              </a:rPr>
              <a:t>#2E5B3E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645920"/>
            <a:ext cx="1828800" cy="1645920"/>
          </a:xfrm>
          <a:prstGeom prst="rect">
            <a:avLst/>
          </a:prstGeom>
          <a:solidFill>
            <a:srgbClr val="8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33832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B2B2B"/>
                </a:solidFill>
                <a:latin typeface="Calibri"/>
              </a:rPr>
              <a:t>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703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FA98A"/>
                </a:solidFill>
                <a:latin typeface="Calibri"/>
              </a:rPr>
              <a:t>#8FA98A</a:t>
            </a:r>
          </a:p>
        </p:txBody>
      </p:sp>
      <p:sp>
        <p:nvSpPr>
          <p:cNvPr id="9" name="Rectangle 8"/>
          <p:cNvSpPr/>
          <p:nvPr/>
        </p:nvSpPr>
        <p:spPr>
          <a:xfrm>
            <a:off x="4983480" y="1645920"/>
            <a:ext cx="1828800" cy="1645920"/>
          </a:xfrm>
          <a:prstGeom prst="rect">
            <a:avLst/>
          </a:prstGeom>
          <a:solidFill>
            <a:srgbClr val="B0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33832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B2B2B"/>
                </a:solidFill>
                <a:latin typeface="Calibri"/>
              </a:rPr>
              <a:t>Clay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3703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FA98A"/>
                </a:solidFill>
                <a:latin typeface="Calibri"/>
              </a:rPr>
              <a:t>#B07A52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645920"/>
            <a:ext cx="1828800" cy="1645920"/>
          </a:xfrm>
          <a:prstGeom prst="rect">
            <a:avLst/>
          </a:prstGeom>
          <a:solidFill>
            <a:srgbClr val="E7D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33832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B2B2B"/>
                </a:solidFill>
                <a:latin typeface="Calibri"/>
              </a:rPr>
              <a:t>Oat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703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FA98A"/>
                </a:solidFill>
                <a:latin typeface="Calibri"/>
              </a:rPr>
              <a:t>#E7DFC9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1645920"/>
            <a:ext cx="1828800" cy="164592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33832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B2B2B"/>
                </a:solidFill>
                <a:latin typeface="Calibri"/>
              </a:rPr>
              <a:t>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7033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8FA98A"/>
                </a:solidFill>
                <a:latin typeface="Calibri"/>
              </a:rPr>
              <a:t>#2B2B2B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7200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2E5B3E"/>
                </a:solidFill>
                <a:latin typeface="Calibri"/>
              </a:rPr>
              <a:t>Display, a quiet serif for headlines and the logotype.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2B2B2B"/>
                </a:solidFill>
                <a:latin typeface="Calibri"/>
              </a:rPr>
              <a:t>Text, a clean grotesque for ingredients, claims, and the back panel.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8FA98A"/>
                </a:solidFill>
                <a:latin typeface="Calibri"/>
              </a:rPr>
              <a:t>Type scale locked at a 1.25 ratio so labels stay consistent across every product.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E5B3E"/>
                </a:solidFill>
                <a:latin typeface="Calibri"/>
              </a:rPr>
              <a:t>Where the time went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FA98A"/>
                </a:solidFill>
                <a:latin typeface="Calibri"/>
              </a:rPr>
              <a:t>Billable hours by phase, fixed fee project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737360"/>
          <a:ext cx="104241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2E5B3E"/>
                </a:solidFill>
                <a:latin typeface="Calibri"/>
              </a:rPr>
              <a:t>Consistency, before and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88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FA98A"/>
                </a:solidFill>
                <a:latin typeface="Calibri"/>
              </a:rPr>
              <a:t>Internal review score across touchpoints, out of 100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68680" y="1737360"/>
          <a:ext cx="104241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5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10896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Sign off on the color and type system.  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Build the three packaging templates, print ready.   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900" b="1">
                <a:solidFill>
                  <a:srgbClr val="FFFFFF"/>
                </a:solidFill>
                <a:latin typeface="Calibri"/>
              </a:rPr>
              <a:t>Hand off a one page brand sheet for the printer and the web.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852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A98A"/>
                </a:solidFill>
                <a:latin typeface="Calibri"/>
              </a:rPr>
              <a:t>Taylor Visual Studio   |   jessica@taylorvisualstudio.com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Jessica Taylor</dc:creator>
  <cp:keywords/>
  <dc:description/>
  <cp:lastModifiedBy>Jessica Taylor</cp:lastModifiedBy>
  <cp:revision>1</cp:revision>
  <dcterms:created xsi:type="dcterms:W3CDTF">2026-02-12T10:05:00Z</dcterms:created>
  <dcterms:modified xsi:type="dcterms:W3CDTF">2026-02-12T10:05:00Z</dcterms:modified>
  <cp:category/>
</cp:coreProperties>
</file>