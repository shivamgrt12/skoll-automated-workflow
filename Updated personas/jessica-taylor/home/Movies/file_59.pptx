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revenue</c:v>
                </c:pt>
              </c:strCache>
            </c:strRef>
          </c:tx>
          <c:spPr>
            <a:solidFill>
              <a:srgbClr val="C8821E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900">
                    <a:solidFill>
                      <a:srgbClr val="1A1A1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17400</c:v>
                </c:pt>
                <c:pt idx="1">
                  <c:v>10800</c:v>
                </c:pt>
                <c:pt idx="2">
                  <c:v>12600</c:v>
                </c:pt>
                <c:pt idx="3">
                  <c:v>16800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A1A1A"/>
            </a:solidFill>
          </a:ln>
        </c:spPr>
        <c:txPr>
          <a:bodyPr/>
          <a:lstStyle/>
          <a:p>
            <a:pPr>
              <a:defRPr sz="1000">
                <a:solidFill>
                  <a:srgbClr val="1A1A1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3175">
              <a:solidFill>
                <a:srgbClr val="1A1A1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1A1A1A"/>
            </a:solidFill>
          </a:ln>
        </c:spPr>
        <c:txPr>
          <a:bodyPr/>
          <a:lstStyle/>
          <a:p>
            <a:pPr>
              <a:defRPr sz="1000">
                <a:solidFill>
                  <a:srgbClr val="1A1A1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A1A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revenue</c:v>
                </c:pt>
              </c:strCache>
            </c:strRef>
          </c:tx>
          <c:spPr>
            <a:solidFill>
              <a:srgbClr val="1A1A1A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900">
                    <a:solidFill>
                      <a:srgbClr val="1A1A1A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Brand identity</c:v>
                </c:pt>
                <c:pt idx="1">
                  <c:v>Packaging</c:v>
                </c:pt>
                <c:pt idx="2">
                  <c:v>Digital and web</c:v>
                </c:pt>
                <c:pt idx="3">
                  <c:v>Print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28000</c:v>
                </c:pt>
                <c:pt idx="1">
                  <c:v>14600</c:v>
                </c:pt>
                <c:pt idx="2">
                  <c:v>10000</c:v>
                </c:pt>
                <c:pt idx="3">
                  <c:v>5000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1A1A1A"/>
            </a:solidFill>
          </a:ln>
        </c:spPr>
        <c:txPr>
          <a:bodyPr/>
          <a:lstStyle/>
          <a:p>
            <a:pPr>
              <a:defRPr sz="1000">
                <a:solidFill>
                  <a:srgbClr val="1A1A1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3175">
              <a:solidFill>
                <a:srgbClr val="1A1A1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1A1A1A"/>
            </a:solidFill>
          </a:ln>
        </c:spPr>
        <c:txPr>
          <a:bodyPr/>
          <a:lstStyle/>
          <a:p>
            <a:pPr>
              <a:defRPr sz="1000">
                <a:solidFill>
                  <a:srgbClr val="1A1A1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A1A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1A1A1A"/>
                </a:solidFill>
                <a:latin typeface="Calibri"/>
              </a:rPr>
              <a:t>Studio Year in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E6E6E"/>
                </a:solidFill>
                <a:latin typeface="Calibri"/>
              </a:rPr>
              <a:t>Taylor Visual Studio, the 2025 numbers and what they tell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46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8821E"/>
                </a:solidFill>
                <a:latin typeface="Calibri"/>
              </a:rPr>
              <a:t>A one person practice. Brand identity, packaging, and digital.</a:t>
            </a:r>
          </a:p>
        </p:txBody>
      </p:sp>
    </p:spTree>
  </p:cSld>
  <p:clrMapOvr>
    <a:masterClrMapping/>
  </p:clrMapOvr>
  <p:transition xmlns:p14="http://schemas.microsoft.com/office/powerpoint/2010/main"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Calibri"/>
              </a:rPr>
              <a:t>The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828800"/>
            <a:ext cx="2560320" cy="219456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828800"/>
            <a:ext cx="2560320" cy="128016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Calibri"/>
              </a:rPr>
              <a:t>$57,600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918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E6E6E"/>
                </a:solidFill>
                <a:latin typeface="Calibri"/>
              </a:rPr>
              <a:t>Gross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828800"/>
            <a:ext cx="2560320" cy="219456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1828800"/>
            <a:ext cx="2560320" cy="128016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37744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Calibri"/>
              </a:rPr>
              <a:t>$4,800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918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E6E6E"/>
                </a:solidFill>
                <a:latin typeface="Calibri"/>
              </a:rPr>
              <a:t>Average 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828800"/>
            <a:ext cx="2560320" cy="219456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828800"/>
            <a:ext cx="2560320" cy="128016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Calibri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918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E6E6E"/>
                </a:solidFill>
                <a:latin typeface="Calibri"/>
              </a:rPr>
              <a:t>Projects shipped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828800"/>
            <a:ext cx="2560320" cy="219456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828800"/>
            <a:ext cx="2560320" cy="128016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37744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2918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E6E6E"/>
                </a:solidFill>
                <a:latin typeface="Calibri"/>
              </a:rPr>
              <a:t>Repeat clients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E6E6E"/>
                </a:solidFill>
                <a:latin typeface="Calibri"/>
              </a:rPr>
              <a:t>Revenue swings with the season. The job is to even out the dips, not just chase the peaks.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Calibri"/>
              </a:rPr>
              <a:t>Revenue by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88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8821E"/>
                </a:solidFill>
                <a:latin typeface="Calibri"/>
              </a:rPr>
              <a:t>New year rebrands lift Q1, holiday packaging lifts Q4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68680" y="1737360"/>
          <a:ext cx="104241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Calibri"/>
              </a:rPr>
              <a:t>Revenue by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88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8821E"/>
                </a:solidFill>
                <a:latin typeface="Calibri"/>
              </a:rPr>
              <a:t>Brand identity carries the studio, packaging is the growth edge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68680" y="1737360"/>
          <a:ext cx="104241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What 2026 needs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71600"/>
            <a:ext cx="2194560" cy="54864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Raise the hourly to $90 on new work.   </a:t>
            </a:r>
            <a:r>
              <a:rPr sz="1900" b="0">
                <a:solidFill>
                  <a:srgbClr val="EAD6B6"/>
                </a:solidFill>
                <a:latin typeface="Calibri"/>
              </a:rPr>
              <a:t>Quietly, no announcement.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Lift the brand identity floor to $4,500.   </a:t>
            </a:r>
            <a:r>
              <a:rPr sz="1900" b="0">
                <a:solidFill>
                  <a:srgbClr val="EAD6B6"/>
                </a:solidFill>
                <a:latin typeface="Calibri"/>
              </a:rPr>
              <a:t>Up from $3,500.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Hold two revision rounds.   </a:t>
            </a:r>
            <a:r>
              <a:rPr sz="1900" b="0">
                <a:solidFill>
                  <a:srgbClr val="EAD6B6"/>
                </a:solidFill>
                <a:latin typeface="Calibri"/>
              </a:rPr>
              <a:t>That is where margin leaks.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Pad the emergency fund toward $10,000.   </a:t>
            </a:r>
            <a:r>
              <a:rPr sz="1900" b="0">
                <a:solidFill>
                  <a:srgbClr val="EAD6B6"/>
                </a:solidFill>
                <a:latin typeface="Calibri"/>
              </a:rPr>
              <a:t>Before any lifestyle creep.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Calibri"/>
              </a:rPr>
              <a:t>Steady, and a little braver on price.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657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8821E"/>
                </a:solidFill>
                <a:latin typeface="Calibri"/>
              </a:rPr>
              <a:t>Taylor Visual Studio   |   taylorvisualstudio.com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C88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Jessica Taylor</dc:creator>
  <cp:keywords/>
  <dc:description/>
  <cp:lastModifiedBy>Jessica Taylor</cp:lastModifiedBy>
  <cp:revision>1</cp:revision>
  <dcterms:created xsi:type="dcterms:W3CDTF">2026-02-09T14:20:00Z</dcterms:created>
  <dcterms:modified xsi:type="dcterms:W3CDTF">2026-02-09T14:20:00Z</dcterms:modified>
  <cp:category/>
</cp:coreProperties>
</file>