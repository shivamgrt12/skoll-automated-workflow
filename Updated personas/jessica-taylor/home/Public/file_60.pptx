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Readable distance, ft</c:v>
                </c:pt>
              </c:strCache>
            </c:strRef>
          </c:tx>
          <c:spPr>
            <a:solidFill>
              <a:srgbClr val="E08A2B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900">
                    <a:solidFill>
                      <a:srgbClr val="EDE7DD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 inch</c:v>
                </c:pt>
                <c:pt idx="1">
                  <c:v>2 inch</c:v>
                </c:pt>
                <c:pt idx="2">
                  <c:v>3 inch</c:v>
                </c:pt>
                <c:pt idx="3">
                  <c:v>4 inch</c:v>
                </c:pt>
                <c:pt idx="4">
                  <c:v>6 inch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100</c:v>
                </c:pt>
                <c:pt idx="4">
                  <c:v>150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DE7DD"/>
            </a:solidFill>
          </a:ln>
        </c:spPr>
        <c:txPr>
          <a:bodyPr/>
          <a:lstStyle/>
          <a:p>
            <a:pPr>
              <a:defRPr sz="1000">
                <a:solidFill>
                  <a:srgbClr val="EDE7D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3175">
              <a:solidFill>
                <a:srgbClr val="EDE7DD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DE7DD"/>
            </a:solidFill>
          </a:ln>
        </c:spPr>
        <c:txPr>
          <a:bodyPr/>
          <a:lstStyle/>
          <a:p>
            <a:pPr>
              <a:defRPr sz="1000">
                <a:solidFill>
                  <a:srgbClr val="EDE7D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EDE7D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C9772A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900">
                    <a:solidFill>
                      <a:srgbClr val="EDE7DD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Concepts</c:v>
                </c:pt>
                <c:pt idx="1">
                  <c:v>Revisions</c:v>
                </c:pt>
                <c:pt idx="2">
                  <c:v>Signage</c:v>
                </c:pt>
                <c:pt idx="3">
                  <c:v>Handoff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</c:v>
                </c:pt>
                <c:pt idx="1">
                  <c:v>14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DE7DD"/>
            </a:solidFill>
          </a:ln>
        </c:spPr>
        <c:txPr>
          <a:bodyPr/>
          <a:lstStyle/>
          <a:p>
            <a:pPr>
              <a:defRPr sz="1000">
                <a:solidFill>
                  <a:srgbClr val="EDE7D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3175">
              <a:solidFill>
                <a:srgbClr val="EDE7DD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DE7DD"/>
            </a:solidFill>
          </a:ln>
        </c:spPr>
        <c:txPr>
          <a:bodyPr/>
          <a:lstStyle/>
          <a:p>
            <a:pPr>
              <a:defRPr sz="1000">
                <a:solidFill>
                  <a:srgbClr val="EDE7D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EDE7D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EDE7DD"/>
                </a:solidFill>
                <a:latin typeface="Calibri"/>
              </a:rPr>
              <a:t>Logo and Signage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747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E08A2B"/>
                </a:solidFill>
                <a:latin typeface="Calibri"/>
              </a:rPr>
              <a:t>A mark that works on a building, not just a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1206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39B"/>
                </a:solidFill>
                <a:latin typeface="Calibri"/>
              </a:rPr>
              <a:t>Pinnacle Collective and Taylor Visual Studio   |   January 2026</a:t>
            </a:r>
          </a:p>
        </p:txBody>
      </p:sp>
    </p:spTree>
  </p:cSld>
  <p:clrMapOvr>
    <a:masterClrMapping/>
  </p:clrMapOvr>
  <p:transition xmlns:p14="http://schemas.microsoft.com/office/powerpoint/2010/main"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DE7DD"/>
                </a:solidFill>
                <a:latin typeface="Calibri"/>
              </a:rPr>
              <a:t>The room reads warm and industrial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280160"/>
            <a:ext cx="2011680" cy="54864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E08A2B"/>
                </a:solidFill>
                <a:latin typeface="Calibri"/>
              </a:rPr>
              <a:t>Raw wood and black steel.   </a:t>
            </a:r>
            <a:r>
              <a:rPr sz="1800" b="0">
                <a:solidFill>
                  <a:srgbClr val="EDE7DD"/>
                </a:solidFill>
                <a:latin typeface="Calibri"/>
              </a:rPr>
              <a:t>The mark should feel made, not printed.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E08A2B"/>
                </a:solidFill>
                <a:latin typeface="Calibri"/>
              </a:rPr>
              <a:t>Second location opening.   </a:t>
            </a:r>
            <a:r>
              <a:rPr sz="1800" b="0">
                <a:solidFill>
                  <a:srgbClr val="EDE7DD"/>
                </a:solidFill>
                <a:latin typeface="Calibri"/>
              </a:rPr>
              <a:t>One identity that travels across both doors.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E08A2B"/>
                </a:solidFill>
                <a:latin typeface="Calibri"/>
              </a:rPr>
              <a:t>Legible across the street.   </a:t>
            </a:r>
            <a:r>
              <a:rPr sz="1800" b="0">
                <a:solidFill>
                  <a:srgbClr val="EDE7DD"/>
                </a:solidFill>
                <a:latin typeface="Calibri"/>
              </a:rPr>
              <a:t>Day and night, at speed.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E08A2B"/>
                </a:solidFill>
                <a:latin typeface="Calibri"/>
              </a:rPr>
              <a:t>Classic with more spine.   </a:t>
            </a:r>
            <a:r>
              <a:rPr sz="1800" b="0">
                <a:solidFill>
                  <a:srgbClr val="EDE7DD"/>
                </a:solidFill>
                <a:latin typeface="Calibri"/>
              </a:rPr>
              <a:t>Push past safe toward something with a point of view.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DE7DD"/>
                </a:solidFill>
                <a:latin typeface="Calibri"/>
              </a:rPr>
              <a:t>One mark, three lockups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737360"/>
            <a:ext cx="3383280" cy="2103120"/>
          </a:xfrm>
          <a:prstGeom prst="rect">
            <a:avLst/>
          </a:prstGeom>
          <a:solidFill>
            <a:srgbClr val="3A4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3383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08A2B"/>
                </a:solidFill>
                <a:latin typeface="Calibri"/>
              </a:rPr>
              <a:t>Primary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2336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9AA39B"/>
                </a:solidFill>
                <a:latin typeface="Calibri"/>
              </a:rPr>
              <a:t>Full logotype, for the building 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737360"/>
            <a:ext cx="3383280" cy="2103120"/>
          </a:xfrm>
          <a:prstGeom prst="rect">
            <a:avLst/>
          </a:prstGeom>
          <a:solidFill>
            <a:srgbClr val="3A4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286000"/>
            <a:ext cx="3383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08A2B"/>
                </a:solidFill>
                <a:latin typeface="Calibri"/>
              </a:rPr>
              <a:t>Compact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402336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9AA39B"/>
                </a:solidFill>
                <a:latin typeface="Calibri"/>
              </a:rPr>
              <a:t>The door and the awning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737360"/>
            <a:ext cx="3383280" cy="2103120"/>
          </a:xfrm>
          <a:prstGeom prst="rect">
            <a:avLst/>
          </a:prstGeom>
          <a:solidFill>
            <a:srgbClr val="3A4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2286000"/>
            <a:ext cx="3383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08A2B"/>
                </a:solidFill>
                <a:latin typeface="Calibri"/>
              </a:rPr>
              <a:t>Stamp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02336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9AA39B"/>
                </a:solidFill>
                <a:latin typeface="Calibri"/>
              </a:rPr>
              <a:t>Favicon, foil, and the cup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DE7DD"/>
                </a:solidFill>
                <a:latin typeface="Calibri"/>
              </a:rPr>
              <a:t>Sign legibility by letter height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88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08A2B"/>
                </a:solidFill>
                <a:latin typeface="Calibri"/>
              </a:rPr>
              <a:t>Readable distance in feet, the rule is roughly 25 feet per inch of cap height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68680" y="1737360"/>
          <a:ext cx="104241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DE7DD"/>
                </a:solidFill>
                <a:latin typeface="Calibri"/>
              </a:rPr>
              <a:t>Project hours by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88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08A2B"/>
                </a:solidFill>
                <a:latin typeface="Calibri"/>
              </a:rPr>
              <a:t>Seventy billable hours across the engagement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68680" y="1737360"/>
          <a:ext cx="104241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8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2421"/>
                </a:solidFill>
                <a:latin typeface="Calibri"/>
              </a:rPr>
              <a:t>Deliverables and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1F2421"/>
                </a:solidFill>
                <a:latin typeface="Calibri"/>
              </a:rPr>
              <a:t>Primary, compact, and stamp lockups.   </a:t>
            </a:r>
            <a:r>
              <a:rPr sz="1800" b="0">
                <a:solidFill>
                  <a:srgbClr val="5A3A12"/>
                </a:solidFill>
                <a:latin typeface="Calibri"/>
              </a:rPr>
              <a:t>Vector, in every needed format.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1F2421"/>
                </a:solidFill>
                <a:latin typeface="Calibri"/>
              </a:rPr>
              <a:t>Exterior signage layout.   </a:t>
            </a:r>
            <a:r>
              <a:rPr sz="1800" b="0">
                <a:solidFill>
                  <a:srgbClr val="5A3A12"/>
                </a:solidFill>
                <a:latin typeface="Calibri"/>
              </a:rPr>
              <a:t>With print specs and a permit ready height note.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1F2421"/>
                </a:solidFill>
                <a:latin typeface="Calibri"/>
              </a:rPr>
              <a:t>Color and material palette.   </a:t>
            </a:r>
            <a:r>
              <a:rPr sz="1800" b="0">
                <a:solidFill>
                  <a:srgbClr val="5A3A12"/>
                </a:solidFill>
                <a:latin typeface="Calibri"/>
              </a:rPr>
              <a:t>For the sign shop and the web build.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1F2421"/>
                </a:solidFill>
                <a:latin typeface="Calibri"/>
              </a:rPr>
              <a:t>One page style sheet.   </a:t>
            </a:r>
            <a:r>
              <a:rPr sz="1800" b="0">
                <a:solidFill>
                  <a:srgbClr val="5A3A12"/>
                </a:solidFill>
                <a:latin typeface="Calibri"/>
              </a:rPr>
              <a:t>So everyone stays on the same mark.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A3A12"/>
                </a:solidFill>
                <a:latin typeface="Calibri"/>
              </a:rPr>
              <a:t>Confirm the city sign permit height before final art.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Jessica Taylor</dc:creator>
  <cp:keywords/>
  <dc:description/>
  <cp:lastModifiedBy>Jessica Taylor</cp:lastModifiedBy>
  <cp:revision>1</cp:revision>
  <dcterms:created xsi:type="dcterms:W3CDTF">2026-01-06T11:30:00Z</dcterms:created>
  <dcterms:modified xsi:type="dcterms:W3CDTF">2026-01-06T11:30:00Z</dcterms:modified>
  <cp:category/>
</cp:coreProperties>
</file>