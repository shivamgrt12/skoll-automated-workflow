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Midwife-led centre</c:v>
                </c:pt>
              </c:strCache>
            </c:strRef>
          </c:tx>
          <c:spPr>
            <a:solidFill>
              <a:srgbClr val="6FA88C"/>
            </a:solidFill>
          </c:spPr>
          <c:cat>
            <c:strRef>
              <c:f>Sheet1!$A$2:$A$5</c:f>
              <c:strCache>
                <c:ptCount val="4"/>
                <c:pt idx="0">
                  <c:v>Normal birth</c:v>
                </c:pt>
                <c:pt idx="1">
                  <c:v>Caesarean section</c:v>
                </c:pt>
                <c:pt idx="2">
                  <c:v>Instrumental</c:v>
                </c:pt>
                <c:pt idx="3">
                  <c:v>High satisfaction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6</c:v>
                </c:pt>
                <c:pt idx="2">
                  <c:v>7</c:v>
                </c:pt>
                <c:pt idx="3">
                  <c:v>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Hospital labour ward</c:v>
                </c:pt>
              </c:strCache>
            </c:strRef>
          </c:tx>
          <c:spPr>
            <a:solidFill>
              <a:srgbClr val="3A5A52"/>
            </a:solidFill>
          </c:spPr>
          <c:cat>
            <c:strRef>
              <c:f>Sheet1!$A$2:$A$5</c:f>
              <c:strCache>
                <c:ptCount val="4"/>
                <c:pt idx="0">
                  <c:v>Normal birth</c:v>
                </c:pt>
                <c:pt idx="1">
                  <c:v>Caesarean section</c:v>
                </c:pt>
                <c:pt idx="2">
                  <c:v>Instrumental</c:v>
                </c:pt>
                <c:pt idx="3">
                  <c:v>High satisfaction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</c:v>
                </c:pt>
                <c:pt idx="1">
                  <c:v>19</c:v>
                </c:pt>
                <c:pt idx="2">
                  <c:v>15</c:v>
                </c:pt>
                <c:pt idx="3">
                  <c:v>79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Annual bookings</c:v>
                </c:pt>
              </c:strCache>
            </c:strRef>
          </c:tx>
          <c:dPt>
            <c:idx val="0"/>
            <c:spPr>
              <a:solidFill>
                <a:srgbClr val="6FA88C"/>
              </a:solidFill>
            </c:spPr>
          </c:dPt>
          <c:dPt>
            <c:idx val="1"/>
            <c:spPr>
              <a:solidFill>
                <a:srgbClr val="C4D3CC"/>
              </a:solidFill>
            </c:spPr>
          </c:dPt>
          <c:cat>
            <c:strRef>
              <c:f>Sheet1!$A$2:$A$3</c:f>
              <c:strCache>
                <c:ptCount val="2"/>
                <c:pt idx="0">
                  <c:v>Eligible for centre</c:v>
                </c:pt>
                <c:pt idx="1">
                  <c:v>Hospital labour ward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5C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109728"/>
          </a:xfrm>
          <a:prstGeom prst="rect">
            <a:avLst/>
          </a:prstGeom>
          <a:solidFill>
            <a:srgbClr val="C9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64592" cy="2377440"/>
          </a:xfrm>
          <a:prstGeom prst="rect">
            <a:avLst/>
          </a:prstGeom>
          <a:solidFill>
            <a:srgbClr val="6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Community Birth Centre for Galway and the West</a:t>
            </a:r>
          </a:p>
          <a:p>
            <a:pPr algn="l">
              <a:spcAft>
                <a:spcPts val="200"/>
              </a:spcAft>
            </a:pPr>
            <a:r>
              <a:rPr sz="2400" b="0">
                <a:solidFill>
                  <a:srgbClr val="CFE3DB"/>
                </a:solidFill>
                <a:latin typeface="Calibri"/>
              </a:rPr>
              <a:t>Public Consultation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EFF5F2"/>
                </a:solidFill>
                <a:latin typeface="Calibri"/>
              </a:rPr>
              <a:t>Joan Hampton, Community Midwife, University Hospital Galway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B9D3C9"/>
                </a:solidFill>
                <a:latin typeface="Calibri"/>
              </a:rPr>
              <a:t>On behalf of the Community Birth Centre Working Group  |  Galway City Hall, 10 October 2026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Why a midwife-led birth centre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46304" cy="960120"/>
          </a:xfrm>
          <a:prstGeom prst="rect">
            <a:avLst/>
          </a:prstGeom>
          <a:solidFill>
            <a:srgbClr val="6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5C5C"/>
                </a:solidFill>
                <a:latin typeface="Calibri"/>
              </a:rPr>
              <a:t>Equivalent or better outcomes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42B28"/>
                </a:solidFill>
                <a:latin typeface="Calibri"/>
              </a:rPr>
              <a:t>For low-risk pregnancies, midwife-led care matches or improves perinatal outcomes versus the hospital labour ward.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42032"/>
            <a:ext cx="146304" cy="960120"/>
          </a:xfrm>
          <a:prstGeom prst="rect">
            <a:avLst/>
          </a:prstGeom>
          <a:solidFill>
            <a:srgbClr val="6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5C5C"/>
                </a:solidFill>
                <a:latin typeface="Calibri"/>
              </a:rPr>
              <a:t>Fewer interventions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42B28"/>
                </a:solidFill>
                <a:latin typeface="Calibri"/>
              </a:rPr>
              <a:t>Lower rates of epidural, instrumental delivery, and caesarean section for the same cohort.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12464"/>
            <a:ext cx="146304" cy="960120"/>
          </a:xfrm>
          <a:prstGeom prst="rect">
            <a:avLst/>
          </a:prstGeom>
          <a:solidFill>
            <a:srgbClr val="6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12464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5C5C"/>
                </a:solidFill>
                <a:latin typeface="Calibri"/>
              </a:rPr>
              <a:t>Genuine choice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42B28"/>
                </a:solidFill>
                <a:latin typeface="Calibri"/>
              </a:rPr>
              <a:t>A calm, community-centred environment with full emergency transfer protocols in place.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882896"/>
            <a:ext cx="146304" cy="960120"/>
          </a:xfrm>
          <a:prstGeom prst="rect">
            <a:avLst/>
          </a:prstGeom>
          <a:solidFill>
            <a:srgbClr val="6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82896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5C5C"/>
                </a:solidFill>
                <a:latin typeface="Calibri"/>
              </a:rPr>
              <a:t>Eases pressure on UHG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42B28"/>
                </a:solidFill>
                <a:latin typeface="Calibri"/>
              </a:rPr>
              <a:t>Between 28 and 35 percent of annual bookings could safely be offered the centre.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5C5C"/>
                </a:solidFill>
                <a:latin typeface="Calibri"/>
              </a:rPr>
              <a:t>Outcomes for low-risk births: comparison of settings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A5A52"/>
                </a:solidFill>
                <a:latin typeface="Calibri"/>
              </a:rPr>
              <a:t>Figures are percentages drawn from the working group evidence review of comparable models.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Capacity and catchment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71600"/>
          <a:ext cx="56692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492240" y="1554480"/>
            <a:ext cx="5120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627632"/>
            <a:ext cx="47548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0F5C5C"/>
                </a:solidFill>
                <a:latin typeface="Calibri"/>
              </a:rPr>
              <a:t>350 to 450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42B28"/>
                </a:solidFill>
                <a:latin typeface="Calibri"/>
              </a:rPr>
              <a:t>families served each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2670048"/>
            <a:ext cx="5120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743200"/>
            <a:ext cx="47548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0F5C5C"/>
                </a:solidFill>
                <a:latin typeface="Calibri"/>
              </a:rPr>
              <a:t>6 to 8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42B28"/>
                </a:solidFill>
                <a:latin typeface="Calibri"/>
              </a:rPr>
              <a:t>whole-time community midwives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3785615"/>
            <a:ext cx="5120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3858768"/>
            <a:ext cx="47548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0F5C5C"/>
                </a:solidFill>
                <a:latin typeface="Calibri"/>
              </a:rPr>
              <a:t>3 sites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42B28"/>
                </a:solidFill>
                <a:latin typeface="Calibri"/>
              </a:rPr>
              <a:t>assessed, 10 to 14 minutes from UHG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4901183"/>
            <a:ext cx="5120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8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974336"/>
            <a:ext cx="47548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0F5C5C"/>
                </a:solidFill>
                <a:latin typeface="Calibri"/>
              </a:rPr>
              <a:t>31%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42B28"/>
                </a:solidFill>
                <a:latin typeface="Calibri"/>
              </a:rPr>
              <a:t>of bookings eligible (mid-estimate)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5C5C"/>
                </a:solidFill>
                <a:latin typeface="Calibri"/>
              </a:rPr>
              <a:t>From consultation to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651760" cy="457200"/>
          </a:xfrm>
          <a:prstGeom prst="rect">
            <a:avLst/>
          </a:prstGeom>
          <a:solidFill>
            <a:srgbClr val="0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651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42B28"/>
                </a:solidFill>
                <a:latin typeface="Calibri"/>
              </a:rPr>
              <a:t>Public consultation event, Galway City Hall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39" y="2011680"/>
            <a:ext cx="2651760" cy="457200"/>
          </a:xfrm>
          <a:prstGeom prst="rect">
            <a:avLst/>
          </a:prstGeom>
          <a:solidFill>
            <a:srgbClr val="0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39" y="201168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Nov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2651760"/>
            <a:ext cx="2651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42B28"/>
                </a:solidFill>
                <a:latin typeface="Calibri"/>
              </a:rPr>
              <a:t>Compile survey responses and emerging themes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2011680"/>
            <a:ext cx="2651760" cy="457200"/>
          </a:xfrm>
          <a:prstGeom prst="rect">
            <a:avLst/>
          </a:prstGeom>
          <a:solidFill>
            <a:srgbClr val="0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201168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Jan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651760"/>
            <a:ext cx="2651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42B28"/>
                </a:solidFill>
                <a:latin typeface="Calibri"/>
              </a:rPr>
              <a:t>Working group strategy day, draft HSE submission timeline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2011680"/>
            <a:ext cx="2651760" cy="457200"/>
          </a:xfrm>
          <a:prstGeom prst="rect">
            <a:avLst/>
          </a:prstGeom>
          <a:solidFill>
            <a:srgbClr val="0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01168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Mar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651760"/>
            <a:ext cx="2651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42B28"/>
                </a:solidFill>
                <a:latin typeface="Calibri"/>
              </a:rPr>
              <a:t>Feasibility case presented, INMO Western Branch conference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1828800"/>
            <a:ext cx="10652760" cy="54864"/>
          </a:xfrm>
          <a:prstGeom prst="rect">
            <a:avLst/>
          </a:prstGeom>
          <a:solidFill>
            <a:srgbClr val="6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5C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377440"/>
            <a:ext cx="164592" cy="1828800"/>
          </a:xfrm>
          <a:prstGeom prst="rect">
            <a:avLst/>
          </a:prstGeom>
          <a:solidFill>
            <a:srgbClr val="C9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10058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midwives are already here. The evidence is already in.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CFE3DB"/>
                </a:solidFill>
                <a:latin typeface="Calibri"/>
              </a:rPr>
              <a:t>What we are asking for is a setting that lets families choose the care the evidence supports.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B9D3C9"/>
                </a:solidFill>
                <a:latin typeface="Calibri"/>
              </a:rPr>
              <a:t>Questions and survey: Community Birth Centre Working Group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 xmlns:dc="http://purl.org/dc/elements/1.1/">Joan Hampton</dc:creator>
  <dc:title/>
  <dc:subject/>
  <cp:keywords/>
  <dc:description/>
  <cp:lastModifiedBy>Joan Hampton</cp:lastModifiedBy>
  <cp:revision>1</cp:revision>
  <dcterms:created xsi:type="dcterms:W3CDTF">2026-02-15T09:00:00Z</dcterms:created>
  <dcterms:modified xsi:type="dcterms:W3CDTF">2026-02-15T09:00:00Z</dcterms:modified>
  <cp:category/>
</cp:coreProperties>
</file>