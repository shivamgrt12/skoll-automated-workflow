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pathway</c:v>
                </c:pt>
              </c:strCache>
            </c:strRef>
          </c:tx>
          <c:spPr>
            <a:solidFill>
              <a:srgbClr val="1E395C"/>
            </a:solidFill>
          </c:spPr>
          <c:cat>
            <c:strRef>
              <c:f>Sheet1!$A$2:$A$4</c:f>
              <c:strCache>
                <c:ptCount val="3"/>
                <c:pt idx="0">
                  <c:v>First visit</c:v>
                </c:pt>
                <c:pt idx="1">
                  <c:v>Second visit</c:v>
                </c:pt>
                <c:pt idx="2">
                  <c:v>Third visit (when needed)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</c:v>
                </c:pt>
                <c:pt idx="1">
                  <c:v>9.3</c:v>
                </c:pt>
                <c:pt idx="2">
                  <c:v>13.4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pathway</c:v>
                </c:pt>
              </c:strCache>
            </c:strRef>
          </c:tx>
          <c:spPr>
            <a:solidFill>
              <a:srgbClr val="D89A33"/>
            </a:solidFill>
          </c:spPr>
          <c:cat>
            <c:strRef>
              <c:f>Sheet1!$A$2:$A$4</c:f>
              <c:strCache>
                <c:ptCount val="3"/>
                <c:pt idx="0">
                  <c:v>First visit</c:v>
                </c:pt>
                <c:pt idx="1">
                  <c:v>Second visit</c:v>
                </c:pt>
                <c:pt idx="2">
                  <c:v>Third visit (when needed)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7.0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D89A33"/>
              </a:solidFill>
            </c:spPr>
          </c:dPt>
          <c:dPt>
            <c:idx val="1"/>
            <c:spPr>
              <a:solidFill>
                <a:srgbClr val="4A5A6E"/>
              </a:solidFill>
            </c:spPr>
          </c:dPt>
          <c:dPt>
            <c:idx val="2"/>
            <c:spPr>
              <a:solidFill>
                <a:srgbClr val="CFC2A6"/>
              </a:solidFill>
            </c:spPr>
          </c:dPt>
          <c:cat>
            <c:strRef>
              <c:f>Sheet1!$A$2:$A$4</c:f>
              <c:strCache>
                <c:ptCount val="3"/>
                <c:pt idx="0">
                  <c:v>Lactation consultant</c:v>
                </c:pt>
                <c:pt idx="1">
                  <c:v>Other referral</c:v>
                </c:pt>
                <c:pt idx="2">
                  <c:v>No referral needed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28016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Postnatal Home Visit Pathway Redesign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C8D2DD"/>
                </a:solidFill>
                <a:latin typeface="Cambria"/>
              </a:rPr>
              <a:t>Findings from the data-gathering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2433"/>
                </a:solidFill>
                <a:latin typeface="Cambria"/>
              </a:rPr>
              <a:t>Prepared by Joan Hampton, Community Midwife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A5A6E"/>
                </a:solidFill>
                <a:latin typeface="Cambria"/>
              </a:rPr>
              <a:t>In collaboration with the public health nursing team, HSE West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A5A6E"/>
                </a:solidFill>
                <a:latin typeface="Cambria"/>
              </a:rPr>
              <a:t>Caseload reviewed: 22 postnatal cases, January to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6480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2DD"/>
                </a:solidFill>
                <a:latin typeface="Cambria"/>
              </a:rPr>
              <a:t>Postnatal Home Visit Pathway Redesign  |  Director of Midwifery briefing, 11 December 2026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mbria"/>
              </a:rPr>
              <a:t>The problem we set out to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39"/>
            <a:ext cx="10241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E395C"/>
                </a:solidFill>
                <a:latin typeface="Cambria"/>
              </a:rPr>
              <a:t>Uneven visit timing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First visits clustered at day 3, but later contacts varied widely by midwife and by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10241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E395C"/>
                </a:solidFill>
                <a:latin typeface="Cambria"/>
              </a:rPr>
              <a:t>Late identification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Feeding and weight concerns were sometimes caught at the second visit rather than the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6027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57016"/>
            <a:ext cx="10241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E395C"/>
                </a:solidFill>
                <a:latin typeface="Cambria"/>
              </a:rPr>
              <a:t>Handover gaps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Discharge to the public health nurse was not always recorded against a consistent 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640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18304"/>
            <a:ext cx="10241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E395C"/>
                </a:solidFill>
                <a:latin typeface="Cambria"/>
              </a:rPr>
              <a:t>No shared baseline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The team lacked a simple, agreed schedule to measure visits against.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6480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2DD"/>
                </a:solidFill>
                <a:latin typeface="Cambria"/>
              </a:rPr>
              <a:t>Postnatal Home Visit Pathway Redesign  |  Director of Midwifery briefing, 11 December 2026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395C"/>
                </a:solidFill>
                <a:latin typeface="Cambria"/>
              </a:rPr>
              <a:t>Mean days postpartum to each contact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6480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2DD"/>
                </a:solidFill>
                <a:latin typeface="Cambria"/>
              </a:rPr>
              <a:t>Postnatal Home Visit Pathway Redesign  |  Director of Midwifery briefing, 11 December 2026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mbria"/>
              </a:rPr>
              <a:t>Referrals raised across 22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0" y="146304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9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17904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395C"/>
                </a:solidFill>
                <a:latin typeface="Cambria"/>
              </a:rPr>
              <a:t>22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postnatal cases reviewed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542032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9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596896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395C"/>
                </a:solidFill>
                <a:latin typeface="Cambria"/>
              </a:rPr>
              <a:t>3.0 days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mean to first visit (current)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621024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9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675887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395C"/>
                </a:solidFill>
                <a:latin typeface="Cambria"/>
              </a:rPr>
              <a:t>8 cases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required a referral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700016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9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54879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395C"/>
                </a:solidFill>
                <a:latin typeface="Cambria"/>
              </a:rPr>
              <a:t>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2433"/>
                </a:solidFill>
                <a:latin typeface="Cambria"/>
              </a:rPr>
              <a:t>cases lost to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6480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2DD"/>
                </a:solidFill>
                <a:latin typeface="Cambria"/>
              </a:rPr>
              <a:t>Postnatal Home Visit Pathway Redesign  |  Director of Midwifery briefing, 11 December 2026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395C"/>
                </a:solidFill>
                <a:latin typeface="Cambria"/>
              </a:rPr>
              <a:t>Recommendations to the Director of Midwifery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44752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2433"/>
                </a:solidFill>
                <a:latin typeface="Cambria"/>
              </a:rPr>
              <a:t>Adopt a shared three-contact baseline: day 2, day 7, and a day 12 review where indicated.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96312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2433"/>
                </a:solidFill>
                <a:latin typeface="Cambria"/>
              </a:rPr>
              <a:t>Bring feeding and weight checks forward to the first contact to catch concerns sooner.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5661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47872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2433"/>
                </a:solidFill>
                <a:latin typeface="Cambria"/>
              </a:rPr>
              <a:t>Record discharge to the public health nurse against a named day for every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411480" cy="411480"/>
          </a:xfrm>
          <a:prstGeom prst="rect">
            <a:avLst/>
          </a:prstGeom>
          <a:solidFill>
            <a:srgbClr val="D89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6177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99432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2433"/>
                </a:solidFill>
                <a:latin typeface="Cambria"/>
              </a:rPr>
              <a:t>Review the pathway again after two on-call rotations to confirm the timing holds.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64808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C8D2DD"/>
                </a:solidFill>
                <a:latin typeface="Cambria"/>
              </a:rPr>
              <a:t>Postnatal Home Visit Pathway Redesign  |  Director of Midwifery briefing, 11 December 2026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 xmlns:dc="http://purl.org/dc/elements/1.1/">Joan Hampton</dc:creator>
  <dc:title/>
  <dc:subject/>
  <cp:keywords/>
  <dc:description/>
  <cp:lastModifiedBy>Joan Hampton</cp:lastModifiedBy>
  <cp:revision>1</cp:revision>
  <dcterms:created xsi:type="dcterms:W3CDTF">2026-02-15T09:00:00Z</dcterms:created>
  <dcterms:modified xsi:type="dcterms:W3CDTF">2026-02-15T09:00:00Z</dcterms:modified>
  <cp:category/>
</cp:coreProperties>
</file>