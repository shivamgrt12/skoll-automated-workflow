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rgbClr val="B1502A"/>
            </a:solidFill>
          </c:spPr>
          <c:dPt>
            <c:idx val="0"/>
            <c:spPr>
              <a:solidFill>
                <a:srgbClr val="B1502A"/>
              </a:solidFill>
            </c:spPr>
          </c:dPt>
          <c:dPt>
            <c:idx val="1"/>
            <c:spPr>
              <a:solidFill>
                <a:srgbClr val="C98A18"/>
              </a:solidFill>
            </c:spPr>
          </c:dPt>
          <c:dPt>
            <c:idx val="2"/>
            <c:spPr>
              <a:solidFill>
                <a:srgbClr val="3F5D3A"/>
              </a:solidFill>
            </c:spPr>
          </c:dPt>
          <c:dPt>
            <c:idx val="3"/>
            <c:spPr>
              <a:solidFill>
                <a:srgbClr val="8A6D3B"/>
              </a:solidFill>
            </c:spPr>
          </c:dPt>
          <c:dPt>
            <c:idx val="4"/>
            <c:spPr>
              <a:solidFill>
                <a:srgbClr val="A23B2D"/>
              </a:solidFill>
            </c:spPr>
          </c:dPt>
          <c:cat>
            <c:strRef>
              <c:f>Sheet1!$A$2:$A$6</c:f>
              <c:strCache>
                <c:ptCount val="5"/>
                <c:pt idx="0">
                  <c:v>Raffle</c:v>
                </c:pt>
                <c:pt idx="1">
                  <c:v>Vendor fees</c:v>
                </c:pt>
                <c:pt idx="2">
                  <c:v>Baked goods</c:v>
                </c:pt>
                <c:pt idx="3">
                  <c:v>Plant and herb</c:v>
                </c:pt>
                <c:pt idx="4">
                  <c:v>Door gifts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855</c:v>
                </c:pt>
                <c:pt idx="1">
                  <c:v>750</c:v>
                </c:pt>
                <c:pt idx="2">
                  <c:v>487.5</c:v>
                </c:pt>
                <c:pt idx="3">
                  <c:v>362</c:v>
                </c:pt>
                <c:pt idx="4">
                  <c:v>143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D4BC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D4B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2D4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A2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to fund</c:v>
                </c:pt>
              </c:strCache>
            </c:strRef>
          </c:tx>
          <c:spPr>
            <a:solidFill>
              <a:srgbClr val="B1502A"/>
            </a:solidFill>
          </c:spPr>
          <c:dPt>
            <c:idx val="0"/>
            <c:spPr>
              <a:solidFill>
                <a:srgbClr val="C9A063"/>
              </a:solidFill>
            </c:spPr>
          </c:dPt>
          <c:dPt>
            <c:idx val="1"/>
            <c:spPr>
              <a:solidFill>
                <a:srgbClr val="C98A18"/>
              </a:solidFill>
            </c:spPr>
          </c:dPt>
          <c:dPt>
            <c:idx val="2"/>
            <c:spPr>
              <a:solidFill>
                <a:srgbClr val="B1502A"/>
              </a:solidFill>
            </c:spPr>
          </c:dPt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goal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3075</c:v>
                </c:pt>
                <c:pt idx="1">
                  <c:v>2475</c:v>
                </c:pt>
                <c:pt idx="2">
                  <c:v>3000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D4BC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D4B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2D4BC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A2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15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82296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F3DEC4"/>
                </a:solidFill>
                <a:latin typeface="Calibri"/>
              </a:rPr>
              <a:t>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Annual Harvest Fair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DEC4"/>
                </a:solidFill>
                <a:latin typeface="Calibri"/>
              </a:rPr>
              <a:t>Plan and results for the parish fundraiser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DEC4"/>
                </a:solidFill>
                <a:latin typeface="Calibri"/>
              </a:rPr>
              <a:t>Prepared by Joanne Lawton, Altar Guild President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3DEC4"/>
                </a:solidFill>
                <a:latin typeface="Calibri"/>
              </a:rPr>
              <a:t>OVERVIEW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What this fair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7C9A6"/>
                </a:solidFill>
                <a:latin typeface="Calibri"/>
              </a:rPr>
              <a:t>2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3DEC4"/>
                </a:solidFill>
                <a:latin typeface="Calibri"/>
              </a:rPr>
              <a:t>Grace Episcopal Church  |  Harvest Fair Committee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3A2C1E"/>
                </a:solidFill>
                <a:latin typeface="Calibri"/>
              </a:rPr>
              <a:t>The Harvest Fair is our principal annual fundraiser.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A2C1E"/>
                </a:solidFill>
                <a:latin typeface="Calibri"/>
              </a:rPr>
              <a:t>•  Every dollar goes to the Outreach and Food Pantry Fund.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A2C1E"/>
                </a:solidFill>
                <a:latin typeface="Calibri"/>
              </a:rPr>
              <a:t>•  That fund supports homebound parishioners.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A2C1E"/>
                </a:solidFill>
                <a:latin typeface="Calibri"/>
              </a:rPr>
              <a:t>•  It carries the Thanksgiving and Christmas food drives.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A2C1E"/>
                </a:solidFill>
                <a:latin typeface="Calibri"/>
              </a:rPr>
              <a:t>•  It funds grants to neighbors on Munjoy Hill.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1206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109728" cy="1554480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609344"/>
            <a:ext cx="475487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1502A"/>
                </a:solidFill>
                <a:latin typeface="Calibri"/>
              </a:rPr>
              <a:t>This year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Saturday, October 24, 2026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Parish Hall and rear garden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Doors open at 10:00 AM, close at 3:00 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51206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200400"/>
            <a:ext cx="109728" cy="1554480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346704"/>
            <a:ext cx="475487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1502A"/>
                </a:solidFill>
                <a:latin typeface="Calibri"/>
              </a:rPr>
              <a:t>The promise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Free admission, donations welcome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A full accounting to Father Caldwell within one week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3DEC4"/>
                </a:solidFill>
                <a:latin typeface="Calibri"/>
              </a:rPr>
              <a:t>RESULTS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2025 income by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7C9A6"/>
                </a:solidFill>
                <a:latin typeface="Calibri"/>
              </a:rPr>
              <a:t>3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3DEC4"/>
                </a:solidFill>
                <a:latin typeface="Calibri"/>
              </a:rPr>
              <a:t>Grace Episcopal Church  |  Harvest Fair Committee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0" y="1645920"/>
            <a:ext cx="3291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109728" cy="1371600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792224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1502A"/>
                </a:solidFill>
                <a:latin typeface="Calibri"/>
              </a:rPr>
              <a:t>Gross income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$2,597.50 raised across all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3291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3200400"/>
            <a:ext cx="109728" cy="1371600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3346704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1502A"/>
                </a:solidFill>
                <a:latin typeface="Calibri"/>
              </a:rPr>
              <a:t>Net to the fund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$2,475.00 after $122.50 in expenses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3DEC4"/>
                </a:solidFill>
                <a:latin typeface="Calibri"/>
              </a:rPr>
              <a:t>TREND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Net to the fund, year over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7C9A6"/>
                </a:solidFill>
                <a:latin typeface="Calibri"/>
              </a:rPr>
              <a:t>4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3DEC4"/>
                </a:solidFill>
                <a:latin typeface="Calibri"/>
              </a:rPr>
              <a:t>Grace Episcopal Church  |  Harvest Fair Committee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463040"/>
          <a:ext cx="106070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3DEC4"/>
                </a:solidFill>
                <a:latin typeface="Calibri"/>
              </a:rPr>
              <a:t>PLAN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plan for this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7C9A6"/>
                </a:solidFill>
                <a:latin typeface="Calibri"/>
              </a:rPr>
              <a:t>5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3DEC4"/>
                </a:solidFill>
                <a:latin typeface="Calibri"/>
              </a:rPr>
              <a:t>Grace Episcopal Church  |  Harvest Fair Committee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2103120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63624"/>
            <a:ext cx="32004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1502A"/>
                </a:solidFill>
                <a:latin typeface="Calibri"/>
              </a:rPr>
              <a:t>More vendors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Targeting eighteen vendors, up from fifteen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Booth fee set at $60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109728" cy="2103120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63624"/>
            <a:ext cx="32004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1502A"/>
                </a:solidFill>
                <a:latin typeface="Calibri"/>
              </a:rPr>
              <a:t>A larger raffle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Ticket price $3, two for $5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Quilt, inn stay, and gift baskets donated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109728" cy="2103120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32004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1502A"/>
                </a:solidFill>
                <a:latin typeface="Calibri"/>
              </a:rPr>
              <a:t>Stronger tables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More bakers confirmed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4326"/>
                </a:solidFill>
                <a:latin typeface="Calibri"/>
              </a:rPr>
              <a:t>Plant and herb table expanded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11155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B1502A"/>
                </a:solidFill>
                <a:latin typeface="Calibri"/>
              </a:rPr>
              <a:t>Goal: exceed $3,000 net for the Outreach Fund.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2C1E"/>
                </a:solidFill>
                <a:latin typeface="Calibri"/>
              </a:rPr>
              <a:t>Applications close October 1. Setup instructions mailed by October 10.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2C1E"/>
                </a:solidFill>
                <a:latin typeface="Calibri"/>
              </a:rPr>
              <a:t>Baked goods contributions confirmed to Dorothy by October 20.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3DEC4"/>
                </a:solidFill>
                <a:latin typeface="Calibri"/>
              </a:rPr>
              <a:t>ROLES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Tables and who leads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7C9A6"/>
                </a:solidFill>
                <a:latin typeface="Calibri"/>
              </a:rPr>
              <a:t>6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1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3DEC4"/>
                </a:solidFill>
                <a:latin typeface="Calibri"/>
              </a:rPr>
              <a:t>Grace Episcopal Church  |  Harvest Fair Committee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852160"/>
                <a:gridCol w="2286000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B15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Lead</a:t>
                      </a:r>
                    </a:p>
                  </a:txBody>
                  <a:tcPr>
                    <a:solidFill>
                      <a:srgbClr val="B15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B150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Baked goods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Dorothy Henderson, Marion Reed, Alice Summers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$550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Plant and herb</a:t>
                      </a:r>
                    </a:p>
                  </a:txBody>
                  <a:tcPr>
                    <a:solidFill>
                      <a:srgbClr val="F3E7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Joanne Lawton with Martha O.</a:t>
                      </a:r>
                    </a:p>
                  </a:txBody>
                  <a:tcPr>
                    <a:solidFill>
                      <a:srgbClr val="F3E7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$420</a:t>
                      </a:r>
                    </a:p>
                  </a:txBody>
                  <a:tcPr>
                    <a:solidFill>
                      <a:srgbClr val="F3E7D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Raffle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Elise T. and Margaret 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$950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Door and goodwill</a:t>
                      </a:r>
                    </a:p>
                  </a:txBody>
                  <a:tcPr>
                    <a:solidFill>
                      <a:srgbClr val="F3E7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Volunteer team at the entrance</a:t>
                      </a:r>
                    </a:p>
                  </a:txBody>
                  <a:tcPr>
                    <a:solidFill>
                      <a:srgbClr val="F3E7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A4326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3E7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C9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Let us make it a good one.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3DEC4"/>
                </a:solidFill>
                <a:latin typeface="Calibri"/>
              </a:rPr>
              <a:t>This is the event Harry and I looked forward to most every fall.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3DEC4"/>
                </a:solidFill>
                <a:latin typeface="Calibri"/>
              </a:rPr>
              <a:t>Thank you for the work you put in. Find me near the kitchen.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7C9A6"/>
                </a:solidFill>
                <a:latin typeface="Calibri"/>
              </a:rPr>
              <a:t>Grace Episcopal Church, 72 Pine Street, Portland, Maine 04101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