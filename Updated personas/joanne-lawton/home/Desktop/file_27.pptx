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6B7A5E"/>
              </a:solidFill>
            </c:spPr>
          </c:dPt>
          <c:dPt>
            <c:idx val="1"/>
            <c:spPr>
              <a:solidFill>
                <a:srgbClr val="B07A52"/>
              </a:solidFill>
            </c:spPr>
          </c:dPt>
          <c:dPt>
            <c:idx val="2"/>
            <c:spPr>
              <a:solidFill>
                <a:srgbClr val="8A9A6E"/>
              </a:solidFill>
            </c:spPr>
          </c:dPt>
          <c:dPt>
            <c:idx val="3"/>
            <c:spPr>
              <a:solidFill>
                <a:srgbClr val="A98C5A"/>
              </a:solidFill>
            </c:spPr>
          </c:dPt>
          <c:cat>
            <c:strRef>
              <c:f>Sheet1!$A$2:$A$5</c:f>
              <c:strCache>
                <c:ptCount val="4"/>
                <c:pt idx="0">
                  <c:v>Herbal consultation</c:v>
                </c:pt>
                <c:pt idx="1">
                  <c:v>Tincture and tea</c:v>
                </c:pt>
                <c:pt idx="2">
                  <c:v>Poultice and salve</c:v>
                </c:pt>
                <c:pt idx="3">
                  <c:v>Prayer session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28</c:v>
                </c:pt>
                <c:pt idx="2">
                  <c:v>17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100">
          <a:solidFill>
            <a:srgbClr val="2F332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Donations received</c:v>
                </c:pt>
              </c:strCache>
            </c:strRef>
          </c:tx>
          <c:spPr>
            <a:solidFill>
              <a:srgbClr val="6B7A5E"/>
            </a:solidFill>
          </c:spPr>
          <c:dPt>
            <c:idx val="0"/>
            <c:spPr>
              <a:solidFill>
                <a:srgbClr val="8A9A6E"/>
              </a:solidFill>
            </c:spPr>
          </c:dPt>
          <c:dPt>
            <c:idx val="1"/>
            <c:spPr>
              <a:solidFill>
                <a:srgbClr val="6B7A5E"/>
              </a:solidFill>
            </c:spPr>
          </c:dPt>
          <c:dPt>
            <c:idx val="2"/>
            <c:spPr>
              <a:solidFill>
                <a:srgbClr val="B07A52"/>
              </a:solidFill>
            </c:spPr>
          </c:dPt>
          <c:dPt>
            <c:idx val="3"/>
            <c:spPr>
              <a:solidFill>
                <a:srgbClr val="5E6B4A"/>
              </a:solidFill>
            </c:spPr>
          </c:dPt>
          <c:dPt>
            <c:idx val="4"/>
            <c:spPr>
              <a:solidFill>
                <a:srgbClr val="6B7A5E"/>
              </a:solidFill>
            </c:spPr>
          </c:dPt>
          <c:cat>
            <c:strRef>
              <c:f>Sheet1!$A$2:$A$6</c:f>
              <c:strCache>
                <c:ptCount val="5"/>
                <c:pt idx="0">
                  <c:v>October</c:v>
                </c:pt>
                <c:pt idx="1">
                  <c:v>November</c:v>
                </c:pt>
                <c:pt idx="2">
                  <c:v>December</c:v>
                </c:pt>
                <c:pt idx="3">
                  <c:v>January</c:v>
                </c:pt>
                <c:pt idx="4">
                  <c:v>February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155</c:v>
                </c:pt>
                <c:pt idx="1">
                  <c:v>125</c:v>
                </c:pt>
                <c:pt idx="2">
                  <c:v>85</c:v>
                </c:pt>
                <c:pt idx="3">
                  <c:v>160</c:v>
                </c:pt>
                <c:pt idx="4">
                  <c:v>150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E1CE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1C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EE1CE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F332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7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E3E7D3"/>
                </a:solidFill>
                <a:latin typeface="Calibri"/>
              </a:rPr>
              <a:t>🌿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The Home Apothecary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3E7D3"/>
                </a:solidFill>
                <a:latin typeface="Calibri"/>
              </a:rPr>
              <a:t>Seasonal herbs and the preparations I make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3E7D3"/>
                </a:solidFill>
                <a:latin typeface="Calibri"/>
              </a:rPr>
              <a:t>Joanne Lawton, folk herbalist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3E7D3"/>
                </a:solidFill>
                <a:latin typeface="Calibri"/>
              </a:rPr>
              <a:t>THE GARDEN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Eight beds behind the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3CBAE"/>
                </a:solidFill>
                <a:latin typeface="Calibri"/>
              </a:rPr>
              <a:t>2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3E7D3"/>
                </a:solidFill>
                <a:latin typeface="Calibri"/>
              </a:rPr>
              <a:t>The Home Apothecary  |  Munjoy Hill, Portland, Maine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192024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63624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Bed A1, Lavender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Sleep, calm, and skin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41732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1417320"/>
            <a:ext cx="109728" cy="192024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563624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Bed A2, Chamomile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Sleep and digestive ease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109728" cy="192024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563624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Bed B1, Echinacea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Winter immune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109728" cy="192024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58184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Bed B2, Sage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Throat and kitchen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361188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3611880"/>
            <a:ext cx="109728" cy="192024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3758184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Bed C1, Thyme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Cough and cooking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61188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611880"/>
            <a:ext cx="109728" cy="192024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3758184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Bed D2, Comfrey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Poultice, external only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3E7D3"/>
                </a:solidFill>
                <a:latin typeface="Calibri"/>
              </a:rPr>
              <a:t>THE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Consultations by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3CBAE"/>
                </a:solidFill>
                <a:latin typeface="Calibri"/>
              </a:rPr>
              <a:t>3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3E7D3"/>
                </a:solidFill>
                <a:latin typeface="Calibri"/>
              </a:rPr>
              <a:t>The Home Apothecary  |  Munjoy Hill, Portland, Maine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63040"/>
          <a:ext cx="65836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1828800"/>
            <a:ext cx="4023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Three to five visits a week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2F3328"/>
                </a:solidFill>
                <a:latin typeface="Calibri"/>
              </a:rPr>
              <a:t>Each begins with a full conversation about a person's health before any herb is made.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F3328"/>
                </a:solidFill>
                <a:latin typeface="Calibri"/>
              </a:rPr>
              <a:t>Visits are by donation, and no one is turned away.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3E7D3"/>
                </a:solidFill>
                <a:latin typeface="Calibri"/>
              </a:rPr>
              <a:t>A SEASON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A season of visits, by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3CBAE"/>
                </a:solidFill>
                <a:latin typeface="Calibri"/>
              </a:rPr>
              <a:t>4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3E7D3"/>
                </a:solidFill>
                <a:latin typeface="Calibri"/>
              </a:rPr>
              <a:t>The Home Apothecary  |  Munjoy Hill, Portland, Maine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463040"/>
          <a:ext cx="106070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3E7D3"/>
                </a:solidFill>
                <a:latin typeface="Calibri"/>
              </a:rPr>
              <a:t>PREPARATIONS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Three preparations I make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3CBAE"/>
                </a:solidFill>
                <a:latin typeface="Calibri"/>
              </a:rPr>
              <a:t>5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3E7D3"/>
                </a:solidFill>
                <a:latin typeface="Calibri"/>
              </a:rPr>
              <a:t>The Home Apothecary  |  Munjoy Hill, Portland, Maine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09728" cy="393192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09344"/>
            <a:ext cx="3246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Alcohol tincture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A 1 to 5 ratio of herb to spirit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Steeped four to six weeks in the dark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Strained into amber dropper bottles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Keeps for several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63040"/>
            <a:ext cx="36118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463040"/>
            <a:ext cx="109728" cy="393192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609344"/>
            <a:ext cx="3246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Sleep and calm tea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Chamomile, lemon balm, a little lavender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A pinch of passionflower for acute nights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Mixed in late summer, kept in tins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One cup, thirty minutes before bed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566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109728" cy="393192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609344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Comfrey poultice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Fresh leaves bruised until they gel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Laid on the sore joint and wrapped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Twenty to thirty minutes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External use only, always explained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3E7D3"/>
                </a:solidFill>
                <a:latin typeface="Calibri"/>
              </a:rPr>
              <a:t>THE YEAR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seasonal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3CBAE"/>
                </a:solidFill>
                <a:latin typeface="Calibri"/>
              </a:rPr>
              <a:t>6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3E7D3"/>
                </a:solidFill>
                <a:latin typeface="Calibri"/>
              </a:rPr>
              <a:t>The Home Apothecary  |  Munjoy Hill, Portland, Maine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394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09728" cy="178308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09344"/>
            <a:ext cx="50292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Spring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Sow chamomile from saved seed. Divide the sage. Start the beds.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394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109728" cy="178308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09344"/>
            <a:ext cx="50292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Summer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Harvest and dry on screens. Make the year's tinctures and tea blends.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5394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0440"/>
            <a:ext cx="109728" cy="178308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666744"/>
            <a:ext cx="50292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Autumn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Last harvest. Mulch the rosemary. Consider the roots for next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520440"/>
            <a:ext cx="5394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520440"/>
            <a:ext cx="109728" cy="178308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666744"/>
            <a:ext cx="50292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7A5E"/>
                </a:solidFill>
                <a:latin typeface="Calibri"/>
              </a:rPr>
              <a:t>Winter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038"/>
                </a:solidFill>
                <a:latin typeface="Calibri"/>
              </a:rPr>
              <a:t>Work from the shelf. Windowsill thyme. Plan the spring sowing.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5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Not prescriptions. Care, offered slowly.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3E7D3"/>
                </a:solidFill>
                <a:latin typeface="Calibri"/>
              </a:rPr>
              <a:t>Learned from Nana Ruth and from Virginia Keene of Brunswick.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3E7D3"/>
                </a:solidFill>
                <a:latin typeface="Calibri"/>
              </a:rPr>
              <a:t>I research and prepare with care. I do not diagnose or prescribe.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3CBAE"/>
                </a:solidFill>
                <a:latin typeface="Calibri"/>
              </a:rPr>
              <a:t>The Home Apothecary, 47 Atlantic Street, Portland, Maine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