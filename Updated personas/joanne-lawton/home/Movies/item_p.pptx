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Fasting reading</c:v>
                </c:pt>
              </c:strCache>
            </c:strRef>
          </c:tx>
          <c:spPr>
            <a:ln w="31750">
              <a:solidFill>
                <a:srgbClr val="2A6F6B"/>
              </a:solidFill>
            </a:ln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134</c:v>
                </c:pt>
                <c:pt idx="1">
                  <c:v>129</c:v>
                </c:pt>
                <c:pt idx="2">
                  <c:v>131</c:v>
                </c:pt>
                <c:pt idx="3">
                  <c:v>128</c:v>
                </c:pt>
                <c:pt idx="4">
                  <c:v>133</c:v>
                </c:pt>
                <c:pt idx="5">
                  <c:v>127</c:v>
                </c:pt>
                <c:pt idx="6">
                  <c:v>130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7E5E2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D7E5E2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7E5E2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rgbClr val="26323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Next morning reading</c:v>
                </c:pt>
              </c:strCache>
            </c:strRef>
          </c:tx>
          <c:spPr>
            <a:solidFill>
              <a:srgbClr val="2A6F6B"/>
            </a:solidFill>
          </c:spPr>
          <c:dPt>
            <c:idx val="0"/>
            <c:spPr>
              <a:solidFill>
                <a:srgbClr val="C2773A"/>
              </a:solidFill>
            </c:spPr>
          </c:dPt>
          <c:dPt>
            <c:idx val="1"/>
            <c:spPr>
              <a:solidFill>
                <a:srgbClr val="5E8F89"/>
              </a:solidFill>
            </c:spPr>
          </c:dPt>
          <c:dPt>
            <c:idx val="2"/>
            <c:spPr>
              <a:solidFill>
                <a:srgbClr val="2A6F6B"/>
              </a:solidFill>
            </c:spPr>
          </c:dPt>
          <c:cat>
            <c:strRef>
              <c:f>Sheet1!$A$2:$A$4</c:f>
              <c:strCache>
                <c:ptCount val="3"/>
                <c:pt idx="0">
                  <c:v>Heavy starch</c:v>
                </c:pt>
                <c:pt idx="1">
                  <c:v>Balanced plate</c:v>
                </c:pt>
                <c:pt idx="2">
                  <c:v>Light supper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148</c:v>
                </c:pt>
                <c:pt idx="1">
                  <c:v>134</c:v>
                </c:pt>
                <c:pt idx="2">
                  <c:v>128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7E5E2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7E5E2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7E5E2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6323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6F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0"/>
            <a:ext cx="12191695" cy="82296"/>
          </a:xfrm>
          <a:prstGeom prst="rect">
            <a:avLst/>
          </a:prstGeom>
          <a:solidFill>
            <a:srgbClr val="C27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C27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0">
                <a:solidFill>
                  <a:srgbClr val="CFE6E2"/>
                </a:solidFill>
                <a:latin typeface="Calibri"/>
              </a:rPr>
              <a:t>🩺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Living Well with Type 2 Diabetes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FE6E2"/>
                </a:solidFill>
                <a:latin typeface="Calibri"/>
              </a:rPr>
              <a:t>A nurse's notes for our senior fellowship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424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FE6E2"/>
                </a:solidFill>
                <a:latin typeface="Calibri"/>
              </a:rPr>
              <a:t>Joanne Lawton, registered nurse, retired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A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C27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FE6E2"/>
                </a:solidFill>
                <a:latin typeface="Calibri"/>
              </a:rPr>
              <a:t>THE NUMBERS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What the numbers mean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DC6C0"/>
                </a:solidFill>
                <a:latin typeface="Calibri"/>
              </a:rPr>
              <a:t>2 of 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A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FE6E2"/>
                </a:solidFill>
                <a:latin typeface="Calibri"/>
              </a:rPr>
              <a:t>Senior Fellowship Wellness Talk  |  Grace Episcopal Church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352044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109728" cy="2377440"/>
          </a:xfrm>
          <a:prstGeom prst="rect">
            <a:avLst/>
          </a:prstGeom>
          <a:solidFill>
            <a:srgbClr val="C27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609344"/>
            <a:ext cx="315468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A6F6B"/>
                </a:solidFill>
                <a:latin typeface="Calibri"/>
              </a:rPr>
              <a:t>Fasting glucose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5048"/>
                </a:solidFill>
                <a:latin typeface="Calibri"/>
              </a:rPr>
              <a:t>The reading before breakfast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5048"/>
                </a:solidFill>
                <a:latin typeface="Calibri"/>
              </a:rPr>
              <a:t>A steady target is 80 to 130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5048"/>
                </a:solidFill>
                <a:latin typeface="Calibri"/>
              </a:rPr>
              <a:t>Take it the same way each morning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24528" y="1463040"/>
            <a:ext cx="352044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24528" y="1463040"/>
            <a:ext cx="109728" cy="2377440"/>
          </a:xfrm>
          <a:prstGeom prst="rect">
            <a:avLst/>
          </a:prstGeom>
          <a:solidFill>
            <a:srgbClr val="C27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5696" y="1609344"/>
            <a:ext cx="315468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A6F6B"/>
                </a:solidFill>
                <a:latin typeface="Calibri"/>
              </a:rPr>
              <a:t>The A1c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5048"/>
                </a:solidFill>
                <a:latin typeface="Calibri"/>
              </a:rPr>
              <a:t>A three month average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5048"/>
                </a:solidFill>
                <a:latin typeface="Calibri"/>
              </a:rPr>
              <a:t>Many of us aim below 7 percent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5048"/>
                </a:solidFill>
                <a:latin typeface="Calibri"/>
              </a:rPr>
              <a:t>Your own goal is set with your doctor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463040"/>
            <a:ext cx="356616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1463040"/>
            <a:ext cx="109728" cy="2377440"/>
          </a:xfrm>
          <a:prstGeom prst="rect">
            <a:avLst/>
          </a:prstGeom>
          <a:solidFill>
            <a:srgbClr val="C27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1609344"/>
            <a:ext cx="32004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A6F6B"/>
                </a:solidFill>
                <a:latin typeface="Calibri"/>
              </a:rPr>
              <a:t>Blood pressure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5048"/>
                </a:solidFill>
                <a:latin typeface="Calibri"/>
              </a:rPr>
              <a:t>Check at home when you can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5048"/>
                </a:solidFill>
                <a:latin typeface="Calibri"/>
              </a:rPr>
              <a:t>Consistent timing tells the truer story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5048"/>
                </a:solidFill>
                <a:latin typeface="Calibri"/>
              </a:rPr>
              <a:t>Bring the log to your visits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1480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A6F6B"/>
                </a:solidFill>
                <a:latin typeface="Calibri"/>
              </a:rPr>
              <a:t>A number is not a verdict. It is information you and your doctor read together.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A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C27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FE6E2"/>
                </a:solidFill>
                <a:latin typeface="Calibri"/>
              </a:rPr>
              <a:t>A STEADY WEEK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What a steady week can look 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DC6C0"/>
                </a:solidFill>
                <a:latin typeface="Calibri"/>
              </a:rPr>
              <a:t>3 of 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A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FE6E2"/>
                </a:solidFill>
                <a:latin typeface="Calibri"/>
              </a:rPr>
              <a:t>Senior Fellowship Wellness Talk  |  Grace Episcopal Church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1463040"/>
          <a:ext cx="1060704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A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C27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FE6E2"/>
                </a:solidFill>
                <a:latin typeface="Calibri"/>
              </a:rPr>
              <a:t>SMALL SWAPS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Small swaps that helped 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DC6C0"/>
                </a:solidFill>
                <a:latin typeface="Calibri"/>
              </a:rPr>
              <a:t>4 of 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A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FE6E2"/>
                </a:solidFill>
                <a:latin typeface="Calibri"/>
              </a:rPr>
              <a:t>Senior Fellowship Wellness Talk  |  Grace Episcopal Church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1463040"/>
          <a:ext cx="69494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955279" y="1737360"/>
            <a:ext cx="35661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A6F6B"/>
                </a:solidFill>
                <a:latin typeface="Calibri"/>
              </a:rPr>
              <a:t>What I changed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26323A"/>
                </a:solidFill>
                <a:latin typeface="Calibri"/>
              </a:rPr>
              <a:t>•  Whole grain bread instead of white.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26323A"/>
                </a:solidFill>
                <a:latin typeface="Calibri"/>
              </a:rPr>
              <a:t>•  A quarter cup of potato or rice, not a heap.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26323A"/>
                </a:solidFill>
                <a:latin typeface="Calibri"/>
              </a:rPr>
              <a:t>•  More vegetables, a little less meat.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26323A"/>
                </a:solidFill>
                <a:latin typeface="Calibri"/>
              </a:rPr>
              <a:t>•  A walk most mornings.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A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C27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FE6E2"/>
                </a:solidFill>
                <a:latin typeface="Calibri"/>
              </a:rPr>
              <a:t>GENTLE SUPPORTS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Gentle supports alongside the medicine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DC6C0"/>
                </a:solidFill>
                <a:latin typeface="Calibri"/>
              </a:rPr>
              <a:t>5 of 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A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FE6E2"/>
                </a:solidFill>
                <a:latin typeface="Calibri"/>
              </a:rPr>
              <a:t>Senior Fellowship Wellness Talk  |  Grace Episcopal Church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53949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109728" cy="1645920"/>
          </a:xfrm>
          <a:prstGeom prst="rect">
            <a:avLst/>
          </a:prstGeom>
          <a:solidFill>
            <a:srgbClr val="C27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609344"/>
            <a:ext cx="5029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A6F6B"/>
                </a:solidFill>
                <a:latin typeface="Calibri"/>
              </a:rPr>
              <a:t>Cinnamon tea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5048"/>
                </a:solidFill>
                <a:latin typeface="Calibri"/>
              </a:rPr>
              <a:t>First thing, before anything else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53949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109728" cy="1645920"/>
          </a:xfrm>
          <a:prstGeom prst="rect">
            <a:avLst/>
          </a:prstGeom>
          <a:solidFill>
            <a:srgbClr val="C27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609344"/>
            <a:ext cx="5029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A6F6B"/>
                </a:solidFill>
                <a:latin typeface="Calibri"/>
              </a:rPr>
              <a:t>Apple cider vinegar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5048"/>
                </a:solidFill>
                <a:latin typeface="Calibri"/>
              </a:rPr>
              <a:t>A spoonful in water before a meal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83280"/>
            <a:ext cx="53949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383280"/>
            <a:ext cx="109728" cy="1645920"/>
          </a:xfrm>
          <a:prstGeom prst="rect">
            <a:avLst/>
          </a:prstGeom>
          <a:solidFill>
            <a:srgbClr val="C27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529584"/>
            <a:ext cx="5029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A6F6B"/>
                </a:solidFill>
                <a:latin typeface="Calibri"/>
              </a:rPr>
              <a:t>A daily walk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5048"/>
                </a:solidFill>
                <a:latin typeface="Calibri"/>
              </a:rPr>
              <a:t>A mile with a friend most mornings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383280"/>
            <a:ext cx="53949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3383280"/>
            <a:ext cx="109728" cy="1645920"/>
          </a:xfrm>
          <a:prstGeom prst="rect">
            <a:avLst/>
          </a:prstGeom>
          <a:solidFill>
            <a:srgbClr val="C27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3529584"/>
            <a:ext cx="5029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A6F6B"/>
                </a:solidFill>
                <a:latin typeface="Calibri"/>
              </a:rPr>
              <a:t>Consistent timing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5048"/>
                </a:solidFill>
                <a:latin typeface="Calibri"/>
              </a:rPr>
              <a:t>Same medicines, same hours, every 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3949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A6F6B"/>
                </a:solidFill>
                <a:latin typeface="Calibri"/>
              </a:rPr>
              <a:t>These sit alongside your medicine. They do not replace it, and your doctor should know what you use.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A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C27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FE6E2"/>
                </a:solidFill>
                <a:latin typeface="Calibri"/>
              </a:rPr>
              <a:t>WHEN TO CALL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When to call your doctor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DC6C0"/>
                </a:solidFill>
                <a:latin typeface="Calibri"/>
              </a:rPr>
              <a:t>6 of 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A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FE6E2"/>
                </a:solidFill>
                <a:latin typeface="Calibri"/>
              </a:rPr>
              <a:t>Senior Fellowship Wellness Talk  |  Grace Episcopal Church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7899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6323A"/>
                </a:solidFill>
                <a:latin typeface="Calibri"/>
              </a:rPr>
              <a:t>Call if you notice any of these, and do not wait to be sure.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26323A"/>
                </a:solidFill>
                <a:latin typeface="Calibri"/>
              </a:rPr>
              <a:t>•  Readings that climb and stay up for several days.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26323A"/>
                </a:solidFill>
                <a:latin typeface="Calibri"/>
              </a:rPr>
              <a:t>•  Shakiness, sweating, or confusion that eases when you eat. That can be a low.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26323A"/>
                </a:solidFill>
                <a:latin typeface="Calibri"/>
              </a:rPr>
              <a:t>•  A sore on the foot that is slow to heal.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26323A"/>
                </a:solidFill>
                <a:latin typeface="Calibri"/>
              </a:rPr>
              <a:t>•  Vision that changes suddenly.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26323A"/>
                </a:solidFill>
                <a:latin typeface="Calibri"/>
              </a:rPr>
              <a:t>•  Anything that simply worries you. That is reason enough.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4F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54864"/>
          </a:xfrm>
          <a:prstGeom prst="rect">
            <a:avLst/>
          </a:prstGeom>
          <a:solidFill>
            <a:srgbClr val="C27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9669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4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You are not your number.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CFE6E2"/>
                </a:solidFill>
                <a:latin typeface="Calibri"/>
              </a:rPr>
              <a:t>But the number is information, and information is power.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CFE6E2"/>
                </a:solidFill>
                <a:latin typeface="Calibri"/>
              </a:rPr>
              <a:t>These are one nurse's notes, not medical advice. Talk with your own doctor.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12648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DC6C0"/>
                </a:solidFill>
                <a:latin typeface="Calibri"/>
              </a:rPr>
              <a:t>Shared with the Senior Fellowship, Grace Episcopal Church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