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Pounds</c:v>
                </c:pt>
              </c:strCache>
            </c:strRef>
          </c:tx>
          <c:spPr>
            <a:solidFill>
              <a:srgbClr val="8C2F2A"/>
            </a:solidFill>
          </c:spPr>
          <c:dPt>
            <c:idx val="0"/>
            <c:spPr>
              <a:solidFill>
                <a:srgbClr val="C9A99A"/>
              </a:solidFill>
            </c:spPr>
          </c:dPt>
          <c:dPt>
            <c:idx val="1"/>
            <c:spPr>
              <a:solidFill>
                <a:srgbClr val="9A6B4F"/>
              </a:solidFill>
            </c:spPr>
          </c:dPt>
          <c:dPt>
            <c:idx val="2"/>
            <c:spPr>
              <a:solidFill>
                <a:srgbClr val="8C2F2A"/>
              </a:solidFill>
            </c:spPr>
          </c:dPt>
          <c:dPt>
            <c:idx val="3"/>
            <c:spPr>
              <a:solidFill>
                <a:srgbClr val="3F6B43"/>
              </a:solidFill>
            </c:spPr>
          </c:dPt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goal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624</c:v>
                </c:pt>
                <c:pt idx="1">
                  <c:v>735</c:v>
                </c:pt>
                <c:pt idx="2">
                  <c:v>861</c:v>
                </c:pt>
                <c:pt idx="3">
                  <c:v>1000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D5C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D5C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0D5C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E262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8C2F2A"/>
              </a:solidFill>
            </c:spPr>
          </c:dPt>
          <c:dPt>
            <c:idx val="1"/>
            <c:spPr>
              <a:solidFill>
                <a:srgbClr val="3F6B43"/>
              </a:solidFill>
            </c:spPr>
          </c:dPt>
          <c:dPt>
            <c:idx val="2"/>
            <c:spPr>
              <a:solidFill>
                <a:srgbClr val="C2873A"/>
              </a:solidFill>
            </c:spPr>
          </c:dPt>
          <c:cat>
            <c:strRef>
              <c:f>Sheet1!$A$2:$A$4</c:f>
              <c:strCache>
                <c:ptCount val="3"/>
                <c:pt idx="0">
                  <c:v>Thanksgiving baskets</c:v>
                </c:pt>
                <c:pt idx="1">
                  <c:v>Ongoing pantry</c:v>
                </c:pt>
                <c:pt idx="2">
                  <c:v>Partner organizations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100">
          <a:solidFill>
            <a:srgbClr val="2E262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2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82296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F1D9C9"/>
                </a:solidFill>
                <a:latin typeface="Calibri"/>
              </a:rPr>
              <a:t>🍞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Thanksgiving Food Drive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1D9C9"/>
                </a:solidFill>
                <a:latin typeface="Calibri"/>
              </a:rPr>
              <a:t>Nourishing our neighbors,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1D9C9"/>
                </a:solidFill>
                <a:latin typeface="Calibri"/>
              </a:rPr>
              <a:t>Joanne Lawton, Food Drive Coordinator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8C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1D9C9"/>
                </a:solidFill>
                <a:latin typeface="Calibri"/>
              </a:rPr>
              <a:t>THE NEED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Why we gather food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3B9AC"/>
                </a:solidFill>
                <a:latin typeface="Calibri"/>
              </a:rPr>
              <a:t>2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1D9C9"/>
                </a:solidFill>
                <a:latin typeface="Calibri"/>
              </a:rPr>
              <a:t>Grace Episcopal Outreach Committee  |  Thanksgiving Food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2E2622"/>
                </a:solidFill>
                <a:latin typeface="Calibri"/>
              </a:rPr>
              <a:t>Every November, the holiday season is one of the hardest months for many of our neighbors.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E2622"/>
                </a:solidFill>
                <a:latin typeface="Calibri"/>
              </a:rPr>
              <a:t>We gather for families stretching a tight budget, for homebound elders who cannot easily shop, and for anyone who finds this time of year heavy.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566160"/>
            <a:ext cx="109728" cy="219456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12463"/>
            <a:ext cx="31546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Families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Full Thanksgiving baskets, assembled and delivered with care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356616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3566160"/>
            <a:ext cx="109728" cy="219456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3712463"/>
            <a:ext cx="31546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Homebound elders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Door to door delivery so no one is forgotten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56616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3566160"/>
            <a:ext cx="109728" cy="219456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3712463"/>
            <a:ext cx="32004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The wider pantry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Surplus carried through December and into the new year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8C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1D9C9"/>
                </a:solidFill>
                <a:latin typeface="Calibri"/>
              </a:rPr>
              <a:t>COLLECTION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What we are collecting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3B9AC"/>
                </a:solidFill>
                <a:latin typeface="Calibri"/>
              </a:rPr>
              <a:t>3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1D9C9"/>
                </a:solidFill>
                <a:latin typeface="Calibri"/>
              </a:rPr>
              <a:t>Grace Episcopal Outreach Committee  |  Thanksgiving Food Drive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09728" cy="201168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63624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Protein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Canned fish, canned chicken, beans, peanut butter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141732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4528" y="1417320"/>
            <a:ext cx="109728" cy="201168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563624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Grains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Rolled oats, brown rice, whole wheat pasta, crackers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1732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109728" cy="201168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563624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Fruit and vegetables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Canned tomatoes, corn, green beans, applesauce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0332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109728" cy="201168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49624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Soups and broths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Low sodium broth and hearty soups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370332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4528" y="3703320"/>
            <a:ext cx="109728" cy="201168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3849624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Breakfast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Oatmeal packets, cream of wheat, low sugar granola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70332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3703320"/>
            <a:ext cx="109728" cy="201168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3849624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Personal care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Soap, toothpaste, and diapers, often in short supply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8C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1D9C9"/>
                </a:solidFill>
                <a:latin typeface="Calibri"/>
              </a:rPr>
              <a:t>RESULTS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Pounds collected by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3B9AC"/>
                </a:solidFill>
                <a:latin typeface="Calibri"/>
              </a:rPr>
              <a:t>4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1D9C9"/>
                </a:solidFill>
                <a:latin typeface="Calibri"/>
              </a:rPr>
              <a:t>Grace Episcopal Outreach Committee  |  Thanksgiving Food Drive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21040" y="1645920"/>
            <a:ext cx="3200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645920"/>
            <a:ext cx="109728" cy="146304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2208" y="1792224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2025 result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861 pounds of food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24 baskets, 43 hygiene 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291840"/>
            <a:ext cx="3200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3291840"/>
            <a:ext cx="109728" cy="146304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3438144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2026 goal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Exceed 1,000 pounds together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8C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1D9C9"/>
                </a:solidFill>
                <a:latin typeface="Calibri"/>
              </a:rPr>
              <a:t>DISTRIBUTION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Where the food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3B9AC"/>
                </a:solidFill>
                <a:latin typeface="Calibri"/>
              </a:rPr>
              <a:t>5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1D9C9"/>
                </a:solidFill>
                <a:latin typeface="Calibri"/>
              </a:rPr>
              <a:t>Grace Episcopal Outreach Committee  |  Thanksgiving Food Drive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63040"/>
          <a:ext cx="65836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173736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8C2F2A"/>
                </a:solidFill>
                <a:latin typeface="Calibri"/>
              </a:rPr>
              <a:t>Thanksgiving baskets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2E2622"/>
                </a:solidFill>
                <a:latin typeface="Calibri"/>
              </a:rPr>
              <a:t>Assembled and delivered to homebound parishioners and referred families by November 25.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8C2F2A"/>
                </a:solidFill>
                <a:latin typeface="Calibri"/>
              </a:rPr>
              <a:t>Ongoing pantry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2E2622"/>
                </a:solidFill>
                <a:latin typeface="Calibri"/>
              </a:rPr>
              <a:t>Surplus held for the months after the holiday.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8C2F2A"/>
                </a:solidFill>
                <a:latin typeface="Calibri"/>
              </a:rPr>
              <a:t>Partner organizations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E2622"/>
                </a:solidFill>
                <a:latin typeface="Calibri"/>
              </a:rPr>
              <a:t>Shared with two local soup kitchens and a resource center.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8C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1D9C9"/>
                </a:solidFill>
                <a:latin typeface="Calibri"/>
              </a:rPr>
              <a:t>TAKE PART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Drop off and volunteer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3B9AC"/>
                </a:solidFill>
                <a:latin typeface="Calibri"/>
              </a:rPr>
              <a:t>6 of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1D9C9"/>
                </a:solidFill>
                <a:latin typeface="Calibri"/>
              </a:rPr>
              <a:t>Grace Episcopal Outreach Committee  |  Thanksgiving Food Drive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09728" cy="228600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63624"/>
            <a:ext cx="5029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Drop off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Collection runs October 18 to November 15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Church foyer, Sundays 9 AM to noon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Courtesy barrel at the Brighton Avenue market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Library lobby box through November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109728" cy="2286000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563624"/>
            <a:ext cx="5029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Lend a hand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Sorting and packing, November 14, 9 AM to 1 PM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Basket delivery, November 22, 10 AM to 2 PM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3A33"/>
                </a:solidFill>
                <a:latin typeface="Calibri"/>
              </a:rPr>
              <a:t>Drivers with vehicles especially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C2F2A"/>
                </a:solidFill>
                <a:latin typeface="Calibri"/>
              </a:rPr>
              <a:t>For a home pickup, call the church office or call me directly.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E2622"/>
                </a:solidFill>
                <a:latin typeface="Calibri"/>
              </a:rPr>
              <a:t>Church office (207) 555-0238, or Joanne Lawton (207) 555-0134.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3F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Please bring what you can.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1D9C9"/>
                </a:solidFill>
                <a:latin typeface="Calibri"/>
              </a:rPr>
              <a:t>Tell your neighbors. Every basket we deliver is the reason we keep showing up.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1D9C9"/>
                </a:solidFill>
                <a:latin typeface="Calibri"/>
              </a:rPr>
              <a:t>With gratitude and in faith, Joanne.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3B9AC"/>
                </a:solidFill>
                <a:latin typeface="Calibri"/>
              </a:rPr>
              <a:t>Grace Episcopal Church, Portland, Maine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