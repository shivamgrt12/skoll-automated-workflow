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minutes</c:v>
                </c:pt>
              </c:strCache>
            </c:strRef>
          </c:tx>
          <c:spPr>
            <a:solidFill>
              <a:srgbClr val="0E7C7B"/>
            </a:solidFill>
            <a:ln>
              <a:solidFill>
                <a:srgbClr val="0E7C7B"/>
              </a:solidFill>
            </a:ln>
          </c:spPr>
          <c:cat>
            <c:strRef>
              <c:f>Sheet1!$A$2:$A$9</c:f>
              <c:strCache>
                <c:ptCount val="8"/>
                <c:pt idx="0">
                  <c:v>Jul 25</c:v>
                </c:pt>
                <c:pt idx="1">
                  <c:v>Aug 25</c:v>
                </c:pt>
                <c:pt idx="2">
                  <c:v>Sep 25</c:v>
                </c:pt>
                <c:pt idx="3">
                  <c:v>Oct 25</c:v>
                </c:pt>
                <c:pt idx="4">
                  <c:v>Nov 25</c:v>
                </c:pt>
                <c:pt idx="5">
                  <c:v>Dec 25</c:v>
                </c:pt>
                <c:pt idx="6">
                  <c:v>Jan 26</c:v>
                </c:pt>
                <c:pt idx="7">
                  <c:v>Feb 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</c:v>
                </c:pt>
                <c:pt idx="1">
                  <c:v>66</c:v>
                </c:pt>
                <c:pt idx="2">
                  <c:v>63</c:v>
                </c:pt>
                <c:pt idx="3">
                  <c:v>60</c:v>
                </c:pt>
                <c:pt idx="4">
                  <c:v>57</c:v>
                </c:pt>
                <c:pt idx="5">
                  <c:v>55</c:v>
                </c:pt>
                <c:pt idx="6">
                  <c:v>53</c:v>
                </c:pt>
                <c:pt idx="7">
                  <c:v>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line</c:v>
                </c:pt>
              </c:strCache>
            </c:strRef>
          </c:tx>
          <c:spPr>
            <a:solidFill>
              <a:srgbClr val="6BBFB3"/>
            </a:solidFill>
            <a:ln>
              <a:solidFill>
                <a:srgbClr val="6BBFB3"/>
              </a:solidFill>
            </a:ln>
          </c:spPr>
          <c:cat>
            <c:strRef>
              <c:f>Sheet1!$A$2:$A$9</c:f>
              <c:strCache>
                <c:ptCount val="8"/>
                <c:pt idx="0">
                  <c:v>Jul 25</c:v>
                </c:pt>
                <c:pt idx="1">
                  <c:v>Aug 25</c:v>
                </c:pt>
                <c:pt idx="2">
                  <c:v>Sep 25</c:v>
                </c:pt>
                <c:pt idx="3">
                  <c:v>Oct 25</c:v>
                </c:pt>
                <c:pt idx="4">
                  <c:v>Nov 25</c:v>
                </c:pt>
                <c:pt idx="5">
                  <c:v>Dec 25</c:v>
                </c:pt>
                <c:pt idx="6">
                  <c:v>Jan 26</c:v>
                </c:pt>
                <c:pt idx="7">
                  <c:v>Feb 26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under 60 min</c:v>
                </c:pt>
              </c:strCache>
            </c:strRef>
          </c:tx>
          <c:spPr>
            <a:solidFill>
              <a:srgbClr val="0E7C7B"/>
            </a:solidFill>
            <a:ln>
              <a:solidFill>
                <a:srgbClr val="0E7C7B"/>
              </a:solidFill>
            </a:ln>
          </c:spPr>
          <c:cat>
            <c:strRef>
              <c:f>Sheet1!$A$2:$A$9</c:f>
              <c:strCache>
                <c:ptCount val="8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</c:v>
                </c:pt>
                <c:pt idx="1">
                  <c:v>46</c:v>
                </c:pt>
                <c:pt idx="2">
                  <c:v>52</c:v>
                </c:pt>
                <c:pt idx="3">
                  <c:v>58</c:v>
                </c:pt>
                <c:pt idx="4">
                  <c:v>64</c:v>
                </c:pt>
                <c:pt idx="5">
                  <c:v>69</c:v>
                </c:pt>
                <c:pt idx="6">
                  <c:v>72</c:v>
                </c:pt>
                <c:pt idx="7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91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46304" cy="23774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E9A8"/>
                </a:solidFill>
                <a:latin typeface="Calibri"/>
              </a:rPr>
              <a:t>QUALITY IMPROVEMENT INITIATIVE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Cutting Door to Antibiotic Time in Sepsis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E9A8"/>
                </a:solidFill>
                <a:latin typeface="Calibri"/>
              </a:rPr>
              <a:t>Emergency Department  |  July 2025 to February 2026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E9A8"/>
                </a:solidFill>
                <a:latin typeface="Calibri"/>
              </a:rPr>
              <a:t>Prepared by John Patel, MD, with the nursing and pharmacy leads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E9A8"/>
                </a:solidFill>
                <a:latin typeface="Calibri"/>
              </a:rPr>
              <a:t>THE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Why this project, and the line we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Starting point.  </a:t>
            </a:r>
            <a:r>
              <a:rPr sz="1600">
                <a:solidFill>
                  <a:srgbClr val="17323A"/>
                </a:solidFill>
                <a:latin typeface="Calibri"/>
              </a:rPr>
              <a:t>The mean time from arrival to first antibiotic for patients meeting sepsis criteria was 68 minutes.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Target.  </a:t>
            </a:r>
            <a:r>
              <a:rPr sz="1600">
                <a:solidFill>
                  <a:srgbClr val="17323A"/>
                </a:solidFill>
                <a:latin typeface="Calibri"/>
              </a:rPr>
              <a:t>Bring that mean under 45 minutes, with steady gains held through the busy winter.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Why it matters.  </a:t>
            </a:r>
            <a:r>
              <a:rPr sz="1600">
                <a:solidFill>
                  <a:srgbClr val="17323A"/>
                </a:solidFill>
                <a:latin typeface="Calibri"/>
              </a:rPr>
              <a:t>Each hour of delay raises mortality risk in severe sepsis. Time is the treatment.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Scope.  </a:t>
            </a:r>
            <a:r>
              <a:rPr sz="1600">
                <a:solidFill>
                  <a:srgbClr val="17323A"/>
                </a:solidFill>
                <a:latin typeface="Calibri"/>
              </a:rPr>
              <a:t>All adult patients screening positive on the sepsis pathway across day and night shifts.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920240"/>
            <a:ext cx="3749039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920240"/>
            <a:ext cx="3749039" cy="640080"/>
          </a:xfrm>
          <a:prstGeom prst="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65960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HEADLINE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97480"/>
            <a:ext cx="37490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0E7C7B"/>
                </a:solidFill>
                <a:latin typeface="Calibri"/>
              </a:rPr>
              <a:t>68 to 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4048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A6B72"/>
                </a:solidFill>
                <a:latin typeface="Calibri"/>
              </a:rPr>
              <a:t>mean minutes, eight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480560"/>
            <a:ext cx="37490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7323A"/>
                </a:solidFill>
                <a:latin typeface="Calibri"/>
              </a:rPr>
              <a:t>Median now 49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John Patel, MD  |  Emergency Medicine, Lone Star Medical Center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E9A8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E9A8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Mean time to antibiotic, month by month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  <a:latin typeface="Calibri"/>
              </a:rPr>
              <a:t>Trend.  </a:t>
            </a:r>
            <a:r>
              <a:rPr sz="1400">
                <a:solidFill>
                  <a:srgbClr val="17323A"/>
                </a:solidFill>
                <a:latin typeface="Calibri"/>
              </a:rPr>
              <a:t>A steady fall every month, no rebound.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  <a:latin typeface="Calibri"/>
              </a:rPr>
              <a:t>Gap to target.  </a:t>
            </a:r>
            <a:r>
              <a:rPr sz="1400">
                <a:solidFill>
                  <a:srgbClr val="17323A"/>
                </a:solidFill>
                <a:latin typeface="Calibri"/>
              </a:rPr>
              <a:t>Six minutes from the 45 minute line.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  <a:latin typeface="Calibri"/>
              </a:rPr>
              <a:t>Under 60 min.  </a:t>
            </a:r>
            <a:r>
              <a:rPr sz="1400">
                <a:solidFill>
                  <a:srgbClr val="17323A"/>
                </a:solidFill>
                <a:latin typeface="Calibri"/>
              </a:rPr>
              <a:t>Share of cases rose from 41 to 75 percent.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John Patel, MD  |  Emergency Medicine, Lone Star Medical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E9A8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E9A8"/>
                </a:solidFill>
                <a:latin typeface="Calibri"/>
              </a:rPr>
              <a:t>WHAT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Three changes that moved the number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118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11880" cy="10972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7C7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C49"/>
                </a:solidFill>
                <a:latin typeface="Calibri"/>
              </a:rPr>
              <a:t>Standing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7323A"/>
                </a:solidFill>
                <a:latin typeface="Calibri"/>
              </a:rPr>
              <a:t>The nurse starts the workup before the physician finishes the first assessment.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920240"/>
            <a:ext cx="36118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3611880" cy="10972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2860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7C7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803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C49"/>
                </a:solidFill>
                <a:latin typeface="Calibri"/>
              </a:rPr>
              <a:t>Antibiotics at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6576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7323A"/>
                </a:solidFill>
                <a:latin typeface="Calibri"/>
              </a:rPr>
              <a:t>Stock moved to a ready location near triage to cut travel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920240"/>
            <a:ext cx="36118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920240"/>
            <a:ext cx="3611880" cy="10972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2860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7C7B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803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C49"/>
                </a:solidFill>
                <a:latin typeface="Calibri"/>
              </a:rPr>
              <a:t>Shift change huddle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7323A"/>
                </a:solidFill>
                <a:latin typeface="Calibri"/>
              </a:rPr>
              <a:t>A brief handoff flags any patient already on the sepsis pathway.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John Patel, MD  |  Emergency Medicine, Lone Star Medical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E9A8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E9A8"/>
                </a:solidFill>
                <a:latin typeface="Calibri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Share of cases treated within 60 minutes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  <a:latin typeface="Calibri"/>
              </a:rPr>
              <a:t>Start.  </a:t>
            </a:r>
            <a:r>
              <a:rPr sz="1400">
                <a:solidFill>
                  <a:srgbClr val="17323A"/>
                </a:solidFill>
                <a:latin typeface="Calibri"/>
              </a:rPr>
              <a:t>41 percent in July 2025.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  <a:latin typeface="Calibri"/>
              </a:rPr>
              <a:t>Now.  </a:t>
            </a:r>
            <a:r>
              <a:rPr sz="1400">
                <a:solidFill>
                  <a:srgbClr val="17323A"/>
                </a:solidFill>
                <a:latin typeface="Calibri"/>
              </a:rPr>
              <a:t>75 percent in February 2026.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  <a:latin typeface="Calibri"/>
              </a:rPr>
              <a:t>Read.  </a:t>
            </a:r>
            <a:r>
              <a:rPr sz="1400">
                <a:solidFill>
                  <a:srgbClr val="17323A"/>
                </a:solidFill>
                <a:latin typeface="Calibri"/>
              </a:rPr>
              <a:t>Three in four sepsis patients now treated inside the hour.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John Patel, MD  |  Emergency Medicine, Lone Star Medical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E9A8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E9A8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Holding the gains and going further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0E7C7B"/>
                </a:solidFill>
                <a:latin typeface="Calibri"/>
              </a:rPr>
              <a:t>Hold through winter.  </a:t>
            </a:r>
            <a:r>
              <a:rPr sz="1800">
                <a:solidFill>
                  <a:srgbClr val="17323A"/>
                </a:solidFill>
                <a:latin typeface="Calibri"/>
              </a:rPr>
              <a:t>Watch for any drift during the high volume months and on night shifts.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0E7C7B"/>
                </a:solidFill>
                <a:latin typeface="Calibri"/>
              </a:rPr>
              <a:t>Weekly feedback.  </a:t>
            </a:r>
            <a:r>
              <a:rPr sz="1800">
                <a:solidFill>
                  <a:srgbClr val="17323A"/>
                </a:solidFill>
                <a:latin typeface="Calibri"/>
              </a:rPr>
              <a:t>Post a short note to the team showing the running average each week.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0E7C7B"/>
                </a:solidFill>
                <a:latin typeface="Calibri"/>
              </a:rPr>
              <a:t>Bring in the night team.  </a:t>
            </a:r>
            <a:r>
              <a:rPr sz="1800">
                <a:solidFill>
                  <a:srgbClr val="17323A"/>
                </a:solidFill>
                <a:latin typeface="Calibri"/>
              </a:rPr>
              <a:t>Add the overnight leads to the next review so improvement is even across shifts.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0E7C7B"/>
                </a:solidFill>
                <a:latin typeface="Calibri"/>
              </a:rPr>
              <a:t>Sustain ownership.  </a:t>
            </a:r>
            <a:r>
              <a:rPr sz="1800">
                <a:solidFill>
                  <a:srgbClr val="17323A"/>
                </a:solidFill>
                <a:latin typeface="Calibri"/>
              </a:rPr>
              <a:t>Keep the nursing and pharmacy leads central, since they carried the daily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John Patel, MD  |  Emergency Medicine, Lone Star Medical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E9A8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146304" cy="1828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Time is the treatment.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E9A8"/>
                </a:solidFill>
                <a:latin typeface="Calibri"/>
              </a:rPr>
              <a:t>From a 68 minute mean to 51, and climbing toward the 45 minute line.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E9A8"/>
                </a:solidFill>
                <a:latin typeface="Calibri"/>
              </a:rPr>
              <a:t>Thank you to the nursing leads and the pharmacy team.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