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percent</c:v>
                </c:pt>
              </c:strCache>
            </c:strRef>
          </c:tx>
          <c:spPr>
            <a:solidFill>
              <a:srgbClr val="F4A622"/>
            </a:solidFill>
            <a:ln>
              <a:solidFill>
                <a:srgbClr val="F4A622"/>
              </a:solidFill>
            </a:ln>
          </c:spPr>
          <c:cat>
            <c:strRef>
              <c:f>Sheet1!$A$2:$A$11</c:f>
              <c:strCache>
                <c:ptCount val="10"/>
                <c:pt idx="0">
                  <c:v>Oct A</c:v>
                </c:pt>
                <c:pt idx="1">
                  <c:v>Oct B</c:v>
                </c:pt>
                <c:pt idx="2">
                  <c:v>Nov A</c:v>
                </c:pt>
                <c:pt idx="3">
                  <c:v>Nov B</c:v>
                </c:pt>
                <c:pt idx="4">
                  <c:v>Dec A</c:v>
                </c:pt>
                <c:pt idx="5">
                  <c:v>Dec B</c:v>
                </c:pt>
                <c:pt idx="6">
                  <c:v>Jan A</c:v>
                </c:pt>
                <c:pt idx="7">
                  <c:v>Jan B</c:v>
                </c:pt>
                <c:pt idx="8">
                  <c:v>Feb A</c:v>
                </c:pt>
                <c:pt idx="9">
                  <c:v>Feb 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57.5</c:v>
                </c:pt>
                <c:pt idx="1">
                  <c:v>60</c:v>
                </c:pt>
                <c:pt idx="2">
                  <c:v>55</c:v>
                </c:pt>
                <c:pt idx="3">
                  <c:v>65</c:v>
                </c:pt>
                <c:pt idx="4">
                  <c:v>62.5</c:v>
                </c:pt>
                <c:pt idx="5">
                  <c:v>67.5</c:v>
                </c:pt>
                <c:pt idx="6">
                  <c:v>67.5</c:v>
                </c:pt>
                <c:pt idx="7">
                  <c:v>62.5</c:v>
                </c:pt>
                <c:pt idx="8">
                  <c:v>68.3</c:v>
                </c:pt>
                <c:pt idx="9">
                  <c:v>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80</c:v>
                </c:pt>
              </c:strCache>
            </c:strRef>
          </c:tx>
          <c:spPr>
            <a:solidFill>
              <a:srgbClr val="3E5C9A"/>
            </a:solidFill>
            <a:ln>
              <a:solidFill>
                <a:srgbClr val="3E5C9A"/>
              </a:solidFill>
            </a:ln>
          </c:spPr>
          <c:cat>
            <c:strRef>
              <c:f>Sheet1!$A$2:$A$11</c:f>
              <c:strCache>
                <c:ptCount val="10"/>
                <c:pt idx="0">
                  <c:v>Oct A</c:v>
                </c:pt>
                <c:pt idx="1">
                  <c:v>Oct B</c:v>
                </c:pt>
                <c:pt idx="2">
                  <c:v>Nov A</c:v>
                </c:pt>
                <c:pt idx="3">
                  <c:v>Nov B</c:v>
                </c:pt>
                <c:pt idx="4">
                  <c:v>Dec A</c:v>
                </c:pt>
                <c:pt idx="5">
                  <c:v>Dec B</c:v>
                </c:pt>
                <c:pt idx="6">
                  <c:v>Jan A</c:v>
                </c:pt>
                <c:pt idx="7">
                  <c:v>Jan B</c:v>
                </c:pt>
                <c:pt idx="8">
                  <c:v>Feb A</c:v>
                </c:pt>
                <c:pt idx="9">
                  <c:v>Feb B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Best module score</c:v>
                </c:pt>
              </c:strCache>
            </c:strRef>
          </c:tx>
          <c:spPr>
            <a:solidFill>
              <a:srgbClr val="F4A622"/>
            </a:solidFill>
            <a:ln>
              <a:solidFill>
                <a:srgbClr val="F4A622"/>
              </a:solidFill>
            </a:ln>
          </c:spPr>
          <c:cat>
            <c:strRef>
              <c:f>Sheet1!$A$2:$A$7</c:f>
              <c:strCache>
                <c:ptCount val="6"/>
                <c:pt idx="0">
                  <c:v>Toxicology</c:v>
                </c:pt>
                <c:pt idx="1">
                  <c:v>Cardiology</c:v>
                </c:pt>
                <c:pt idx="2">
                  <c:v>Respiratory</c:v>
                </c:pt>
                <c:pt idx="3">
                  <c:v>Neurology</c:v>
                </c:pt>
                <c:pt idx="4">
                  <c:v>Trauma</c:v>
                </c:pt>
                <c:pt idx="5">
                  <c:v>Pediatrics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62.5</c:v>
                </c:pt>
                <c:pt idx="1">
                  <c:v>67.5</c:v>
                </c:pt>
                <c:pt idx="2">
                  <c:v>60</c:v>
                </c:pt>
                <c:pt idx="3">
                  <c:v>62.5</c:v>
                </c:pt>
                <c:pt idx="4">
                  <c:v>65</c:v>
                </c:pt>
                <c:pt idx="5">
                  <c:v>67.5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D79A"/>
                </a:solidFill>
                <a:latin typeface="Calibri"/>
              </a:rPr>
              <a:t>EMERGENCY MEDICINE  |  CONTINUOUS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Recertification Study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AD79A"/>
                </a:solidFill>
                <a:latin typeface="Calibri"/>
              </a:rPr>
              <a:t>Goal: a steady 80 percent before exam day.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AD79A"/>
                </a:solidFill>
                <a:latin typeface="Calibri"/>
              </a:rPr>
              <a:t>Exam: October 18, 2026, Houston West testing center.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AD79A"/>
                </a:solidFill>
                <a:latin typeface="Calibri"/>
              </a:rPr>
              <a:t>Current group average: 68 percent.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D79A"/>
                </a:solidFill>
                <a:latin typeface="Calibri"/>
              </a:rPr>
              <a:t>WHERE I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Practice scores trending toward target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1E2A45"/>
                </a:solidFill>
                <a:latin typeface="Calibri"/>
              </a:rPr>
              <a:t>Direction.  </a:t>
            </a:r>
            <a:r>
              <a:rPr sz="1400">
                <a:solidFill>
                  <a:srgbClr val="1E2A45"/>
                </a:solidFill>
                <a:latin typeface="Calibri"/>
              </a:rPr>
              <a:t>Up overall, with toxicology dips.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1E2A45"/>
                </a:solidFill>
                <a:latin typeface="Calibri"/>
              </a:rPr>
              <a:t>Latest.  </a:t>
            </a:r>
            <a:r>
              <a:rPr sz="1400">
                <a:solidFill>
                  <a:srgbClr val="1E2A45"/>
                </a:solidFill>
                <a:latin typeface="Calibri"/>
              </a:rPr>
              <a:t>70 percent on the last mixed set.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1E2A45"/>
                </a:solidFill>
                <a:latin typeface="Calibri"/>
              </a:rPr>
              <a:t>Gap.  </a:t>
            </a:r>
            <a:r>
              <a:rPr sz="1400">
                <a:solidFill>
                  <a:srgbClr val="1E2A45"/>
                </a:solidFill>
                <a:latin typeface="Calibri"/>
              </a:rPr>
              <a:t>Ten points to the target 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ConCert Recertification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AD79A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D79A"/>
                </a:solidFill>
                <a:latin typeface="Calibri"/>
              </a:rPr>
              <a:t>WEAK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Lowest module scores set the priority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1E2A45"/>
                </a:solidFill>
                <a:latin typeface="Calibri"/>
              </a:rPr>
              <a:t>Priority.  </a:t>
            </a:r>
            <a:r>
              <a:rPr sz="1400">
                <a:solidFill>
                  <a:srgbClr val="1E2A45"/>
                </a:solidFill>
                <a:latin typeface="Calibri"/>
              </a:rPr>
              <a:t>Toxicology and environmental remain weakest.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1E2A45"/>
                </a:solidFill>
                <a:latin typeface="Calibri"/>
              </a:rPr>
              <a:t>Action.  </a:t>
            </a:r>
            <a:r>
              <a:rPr sz="1400">
                <a:solidFill>
                  <a:srgbClr val="1E2A45"/>
                </a:solidFill>
                <a:latin typeface="Calibri"/>
              </a:rPr>
              <a:t>Double the question volume there for two weeks.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1E2A45"/>
                </a:solidFill>
                <a:latin typeface="Calibri"/>
              </a:rPr>
              <a:t>Support.  </a:t>
            </a:r>
            <a:r>
              <a:rPr sz="1400">
                <a:solidFill>
                  <a:srgbClr val="1E2A45"/>
                </a:solidFill>
                <a:latin typeface="Calibri"/>
              </a:rPr>
              <a:t>Biweekly study group with Drs Okafor and 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ConCert Recertification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AD79A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D79A"/>
                </a:solidFill>
                <a:latin typeface="Calibri"/>
              </a:rPr>
              <a:t>STUDY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weekly rhythm until October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28016" cy="1874519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A45"/>
                </a:solidFill>
                <a:latin typeface="Calibri"/>
              </a:rPr>
              <a:t>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A45"/>
                </a:solidFill>
                <a:latin typeface="Calibri"/>
              </a:rPr>
              <a:t>Daily study on off days, question bank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128016" cy="1874519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A45"/>
                </a:solidFill>
                <a:latin typeface="Calibri"/>
              </a:rPr>
              <a:t>Biweekly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889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A45"/>
                </a:solidFill>
                <a:latin typeface="Calibri"/>
              </a:rPr>
              <a:t>Wednesday study group, 6 PM, Riverside Medical Library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128016" cy="1874519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3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A45"/>
                </a:solidFill>
                <a:latin typeface="Calibri"/>
              </a:rPr>
              <a:t>Two banks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A45"/>
                </a:solidFill>
                <a:latin typeface="Calibri"/>
              </a:rPr>
              <a:t>Toxicology blocks doubled through the weak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977639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977639"/>
            <a:ext cx="128016" cy="1874519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20623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A45"/>
                </a:solidFill>
                <a:latin typeface="Calibri"/>
              </a:rPr>
              <a:t>Weekly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37759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E2A45"/>
                </a:solidFill>
                <a:latin typeface="Calibri"/>
              </a:rPr>
              <a:t>Track the running average, adjust the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ConCert Recertification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AD79A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" cy="4023360"/>
          </a:xfrm>
          <a:prstGeom prst="rect">
            <a:avLst/>
          </a:prstGeom>
          <a:solidFill>
            <a:srgbClr val="F4A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D79A"/>
                </a:solidFill>
                <a:latin typeface="Calibri"/>
              </a:rPr>
              <a:t>EXAM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AD79A"/>
                </a:solidFill>
                <a:latin typeface="Calibri"/>
              </a:rPr>
              <a:t>Reporting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432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8:00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AD79A"/>
                </a:solidFill>
                <a:latin typeface="Calibri"/>
              </a:rPr>
              <a:t>Test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401568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Houston West testing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59935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AD79A"/>
                </a:solidFill>
                <a:latin typeface="Calibri"/>
              </a:rPr>
              <a:t>Candidate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059935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EM-558204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AD79A"/>
                </a:solidFill>
                <a:latin typeface="Calibri"/>
              </a:rPr>
              <a:t>Registration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718304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420 dollars, paid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76672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AD79A"/>
                </a:solidFill>
                <a:latin typeface="Calibri"/>
              </a:rPr>
              <a:t>Bring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37667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valid photo identification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4A622"/>
                </a:solidFill>
                <a:latin typeface="Calibri"/>
              </a:rPr>
              <a:t>From 68 to 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Study because the field moves, and patients deserve a physician who moves with it.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Keep learning, stay calm, get it right.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