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Bayou Bend</c:v>
                </c:pt>
              </c:strCache>
            </c:strRef>
          </c:tx>
          <c:spPr>
            <a:solidFill>
              <a:srgbClr val="B85C38"/>
            </a:solidFill>
            <a:ln>
              <a:solidFill>
                <a:srgbClr val="B85C38"/>
              </a:solidFill>
            </a:ln>
          </c:spPr>
          <c:cat>
            <c:strRef>
              <c:f>Sheet1!$A$2:$A$9</c:f>
              <c:strCache>
                <c:ptCount val="8"/>
                <c:pt idx="0">
                  <c:v>Cabinetry</c:v>
                </c:pt>
                <c:pt idx="1">
                  <c:v>Counters</c:v>
                </c:pt>
                <c:pt idx="2">
                  <c:v>Island</c:v>
                </c:pt>
                <c:pt idx="3">
                  <c:v>Ovens</c:v>
                </c:pt>
                <c:pt idx="4">
                  <c:v>Flooring</c:v>
                </c:pt>
                <c:pt idx="5">
                  <c:v>Plumb/Elec</c:v>
                </c:pt>
                <c:pt idx="6">
                  <c:v>Demo</c:v>
                </c:pt>
                <c:pt idx="7">
                  <c:v>Labor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16500</c:v>
                </c:pt>
                <c:pt idx="1">
                  <c:v>9200</c:v>
                </c:pt>
                <c:pt idx="2">
                  <c:v>4800</c:v>
                </c:pt>
                <c:pt idx="3">
                  <c:v>3600</c:v>
                </c:pt>
                <c:pt idx="4">
                  <c:v>3100</c:v>
                </c:pt>
                <c:pt idx="5">
                  <c:v>4200</c:v>
                </c:pt>
                <c:pt idx="6">
                  <c:v>2200</c:v>
                </c:pt>
                <c:pt idx="7">
                  <c:v>7900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Magnolia</c:v>
                </c:pt>
              </c:strCache>
            </c:strRef>
          </c:tx>
          <c:spPr>
            <a:solidFill>
              <a:srgbClr val="E0A458"/>
            </a:solidFill>
            <a:ln>
              <a:solidFill>
                <a:srgbClr val="E0A458"/>
              </a:solidFill>
            </a:ln>
          </c:spPr>
          <c:cat>
            <c:strRef>
              <c:f>Sheet1!$A$2:$A$9</c:f>
              <c:strCache>
                <c:ptCount val="8"/>
                <c:pt idx="0">
                  <c:v>Cabinetry</c:v>
                </c:pt>
                <c:pt idx="1">
                  <c:v>Counters</c:v>
                </c:pt>
                <c:pt idx="2">
                  <c:v>Island</c:v>
                </c:pt>
                <c:pt idx="3">
                  <c:v>Ovens</c:v>
                </c:pt>
                <c:pt idx="4">
                  <c:v>Flooring</c:v>
                </c:pt>
                <c:pt idx="5">
                  <c:v>Plumb/Elec</c:v>
                </c:pt>
                <c:pt idx="6">
                  <c:v>Demo</c:v>
                </c:pt>
                <c:pt idx="7">
                  <c:v>Labor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18200</c:v>
                </c:pt>
                <c:pt idx="1">
                  <c:v>10400</c:v>
                </c:pt>
                <c:pt idx="2">
                  <c:v>5200</c:v>
                </c:pt>
                <c:pt idx="3">
                  <c:v>4100</c:v>
                </c:pt>
                <c:pt idx="4">
                  <c:v>3300</c:v>
                </c:pt>
                <c:pt idx="5">
                  <c:v>4600</c:v>
                </c:pt>
                <c:pt idx="6">
                  <c:v>2400</c:v>
                </c:pt>
                <c:pt idx="7">
                  <c:v>8650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Westpark</c:v>
                </c:pt>
              </c:strCache>
            </c:strRef>
          </c:tx>
          <c:spPr>
            <a:solidFill>
              <a:srgbClr val="8C7A6B"/>
            </a:solidFill>
            <a:ln>
              <a:solidFill>
                <a:srgbClr val="8C7A6B"/>
              </a:solidFill>
            </a:ln>
          </c:spPr>
          <c:cat>
            <c:strRef>
              <c:f>Sheet1!$A$2:$A$9</c:f>
              <c:strCache>
                <c:ptCount val="8"/>
                <c:pt idx="0">
                  <c:v>Cabinetry</c:v>
                </c:pt>
                <c:pt idx="1">
                  <c:v>Counters</c:v>
                </c:pt>
                <c:pt idx="2">
                  <c:v>Island</c:v>
                </c:pt>
                <c:pt idx="3">
                  <c:v>Ovens</c:v>
                </c:pt>
                <c:pt idx="4">
                  <c:v>Flooring</c:v>
                </c:pt>
                <c:pt idx="5">
                  <c:v>Plumb/Elec</c:v>
                </c:pt>
                <c:pt idx="6">
                  <c:v>Demo</c:v>
                </c:pt>
                <c:pt idx="7">
                  <c:v>Labor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15800</c:v>
                </c:pt>
                <c:pt idx="1">
                  <c:v>8800</c:v>
                </c:pt>
                <c:pt idx="2">
                  <c:v>4500</c:v>
                </c:pt>
                <c:pt idx="3">
                  <c:v>3400</c:v>
                </c:pt>
                <c:pt idx="4">
                  <c:v>2900</c:v>
                </c:pt>
                <c:pt idx="5">
                  <c:v>3900</c:v>
                </c:pt>
                <c:pt idx="6">
                  <c:v>2000</c:v>
                </c:pt>
                <c:pt idx="7">
                  <c:v>7250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28016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KITCHEN</a:t>
            </a:r>
          </a:p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6E2C6"/>
                </a:solidFill>
                <a:latin typeface="Calibri"/>
              </a:rPr>
              <a:t>Scope, quotes, and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6949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5C3A2E"/>
                </a:solidFill>
                <a:latin typeface="Calibri"/>
              </a:rPr>
              <a:t>A warmer, working heart for the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383280"/>
            <a:ext cx="67665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3A2A22"/>
                </a:solidFill>
                <a:latin typeface="Calibri"/>
              </a:rPr>
              <a:t>Walkthrough with Priya and the contractor on January 24, 2026.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3A2A22"/>
                </a:solidFill>
                <a:latin typeface="Calibri"/>
              </a:rPr>
              <a:t>Budget range agreed at 45,000 to 60,000 dollars.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3A2A22"/>
                </a:solidFill>
                <a:latin typeface="Calibri"/>
              </a:rPr>
              <a:t>Contract signed at 52,400 dollars with Bayou Bend Remodeling.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2C6"/>
                </a:solidFill>
                <a:latin typeface="Calibri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the work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Cabinetry.  </a:t>
            </a:r>
            <a:r>
              <a:rPr sz="1800">
                <a:solidFill>
                  <a:srgbClr val="3A2A22"/>
                </a:solidFill>
                <a:latin typeface="Calibri"/>
              </a:rPr>
              <a:t>Remove existing cabinets and the small island. New cabinetry to the ceiling on the long wall, soft close throughout.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Counters and island.  </a:t>
            </a:r>
            <a:r>
              <a:rPr sz="1800">
                <a:solidFill>
                  <a:srgbClr val="3A2A22"/>
                </a:solidFill>
                <a:latin typeface="Calibri"/>
              </a:rPr>
              <a:t>Quartz countertops and a single large island with seating for four.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Appliances.  </a:t>
            </a:r>
            <a:r>
              <a:rPr sz="1800">
                <a:solidFill>
                  <a:srgbClr val="3A2A22"/>
                </a:solidFill>
                <a:latin typeface="Calibri"/>
              </a:rPr>
              <a:t>A double oven and a new cooktop, which was Priya's main request.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B85C38"/>
                </a:solidFill>
                <a:latin typeface="Calibri"/>
              </a:rPr>
              <a:t>Systems.  </a:t>
            </a:r>
            <a:r>
              <a:rPr sz="1800">
                <a:solidFill>
                  <a:srgbClr val="3A2A22"/>
                </a:solidFill>
                <a:latin typeface="Calibri"/>
              </a:rPr>
              <a:t>Update plumbing and electrical to current code and add island outlets.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Patel Household  |  Meyerland, Houston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6E2C6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2C6"/>
                </a:solidFill>
                <a:latin typeface="Calibri"/>
              </a:rPr>
              <a:t>QUOTES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Three contractors, line by line totals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75895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828800"/>
            <a:ext cx="32004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828800"/>
            <a:ext cx="3200400" cy="548640"/>
          </a:xfrm>
          <a:prstGeom prst="rect">
            <a:avLst/>
          </a:prstGeom>
          <a:solidFill>
            <a:srgbClr val="5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56231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TOTAL QUOTED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6060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85C38"/>
                </a:solidFill>
                <a:latin typeface="Calibri"/>
              </a:rPr>
              <a:t>Bayou Bend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535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5C3A2E"/>
                </a:solidFill>
                <a:latin typeface="Calibri"/>
              </a:rPr>
              <a:t>52,400 dollars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642616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E0A458"/>
                </a:solidFill>
                <a:latin typeface="Calibri"/>
              </a:rPr>
              <a:t>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A2A22"/>
                </a:solidFill>
                <a:latin typeface="Calibri"/>
              </a:rPr>
              <a:t>Magnolia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91363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5C3A2E"/>
                </a:solidFill>
                <a:latin typeface="Calibri"/>
              </a:rPr>
              <a:t>57,800 dollars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526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A2A22"/>
                </a:solidFill>
                <a:latin typeface="Calibri"/>
              </a:rPr>
              <a:t>Westpark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87375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5C3A2E"/>
                </a:solidFill>
                <a:latin typeface="Calibri"/>
              </a:rPr>
              <a:t>49,400 dollars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Patel Household  |  Meyerland, Houston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6E2C6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2C6"/>
                </a:solidFill>
                <a:latin typeface="Calibri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Selected contractor and budget 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120640" cy="393192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6E2C6"/>
                </a:solidFill>
                <a:latin typeface="Calibri"/>
              </a:rPr>
              <a:t>CONTRACT 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52,400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US dollars, Bayou Bend Remodeling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6E2C6"/>
                </a:solidFill>
                <a:latin typeface="Calibri"/>
              </a:rPr>
              <a:t>Inside the agreed 45,000 to 60,000 range,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6E2C6"/>
                </a:solidFill>
                <a:latin typeface="Calibri"/>
              </a:rPr>
              <a:t>with room kept for finish upgrades.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B85C38"/>
                </a:solidFill>
                <a:latin typeface="Calibri"/>
              </a:rPr>
              <a:t>Why Bayou Bend.  </a:t>
            </a:r>
            <a:r>
              <a:rPr sz="1600">
                <a:solidFill>
                  <a:srgbClr val="3A2A22"/>
                </a:solidFill>
                <a:latin typeface="Calibri"/>
              </a:rPr>
              <a:t>Lowest credible bid with a complete scope, strong references on cabinetry.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B85C38"/>
                </a:solidFill>
                <a:latin typeface="Calibri"/>
              </a:rPr>
              <a:t>Value held.  </a:t>
            </a:r>
            <a:r>
              <a:rPr sz="1600">
                <a:solidFill>
                  <a:srgbClr val="3A2A22"/>
                </a:solidFill>
                <a:latin typeface="Calibri"/>
              </a:rPr>
              <a:t>Quartz and the double oven kept in scope without breaching budget.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B85C38"/>
                </a:solidFill>
                <a:latin typeface="Calibri"/>
              </a:rPr>
              <a:t>Contingency.  </a:t>
            </a:r>
            <a:r>
              <a:rPr sz="1600">
                <a:solidFill>
                  <a:srgbClr val="3A2A22"/>
                </a:solidFill>
                <a:latin typeface="Calibri"/>
              </a:rPr>
              <a:t>The gap to 60,000 covers the open finish decisions below.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Patel Household  |  Meyerland, Houston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6E2C6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E2C6"/>
                </a:solidFill>
                <a:latin typeface="Calibri"/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Phased through the fourth quarter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1033272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80" y="3063240"/>
            <a:ext cx="411480" cy="41148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C3A2E"/>
                </a:solidFill>
                <a:latin typeface="Calibri"/>
              </a:rPr>
              <a:t>On signing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377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2A22"/>
                </a:solidFill>
                <a:latin typeface="Calibri"/>
              </a:rPr>
              <a:t>Order long lead items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063240"/>
            <a:ext cx="411480" cy="41148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0116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C3A2E"/>
                </a:solidFill>
                <a:latin typeface="Calibri"/>
              </a:rPr>
              <a:t>Early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657600"/>
            <a:ext cx="2377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2A22"/>
                </a:solidFill>
                <a:latin typeface="Calibri"/>
              </a:rPr>
              <a:t>Demolition begins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063240"/>
            <a:ext cx="411480" cy="41148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0116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C3A2E"/>
                </a:solidFill>
                <a:latin typeface="Calibri"/>
              </a:rPr>
              <a:t>Through Nov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657600"/>
            <a:ext cx="2377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2A22"/>
                </a:solidFill>
                <a:latin typeface="Calibri"/>
              </a:rPr>
              <a:t>Cabinetry and counters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3063240"/>
            <a:ext cx="411480" cy="411480"/>
          </a:xfrm>
          <a:prstGeom prst="rect">
            <a:avLst/>
          </a:prstGeom>
          <a:solidFill>
            <a:srgbClr val="B8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20116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C3A2E"/>
                </a:solidFill>
                <a:latin typeface="Calibri"/>
              </a:rPr>
              <a:t>By Dec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657600"/>
            <a:ext cx="2377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2A22"/>
                </a:solidFill>
                <a:latin typeface="Calibri"/>
              </a:rPr>
              <a:t>Final fixtures and inspection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8A6B5C"/>
                </a:solidFill>
                <a:latin typeface="Calibri"/>
              </a:rPr>
              <a:t>We will live on the back of the house during demolition and cook simple, leaning on the slow cooker.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5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Patel Household  |  Meyerland, Houston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6E2C6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46304" cy="82296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Decisions still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10332720" cy="1051560"/>
          </a:xfrm>
          <a:prstGeom prst="rect">
            <a:avLst/>
          </a:prstGeom>
          <a:solidFill>
            <a:srgbClr val="6B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12848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0A458"/>
                </a:solidFill>
                <a:latin typeface="Calibri"/>
              </a:rPr>
              <a:t>Counter edge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212848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Deciding between two samples.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83279"/>
            <a:ext cx="10332720" cy="1051560"/>
          </a:xfrm>
          <a:prstGeom prst="rect">
            <a:avLst/>
          </a:prstGeom>
          <a:solidFill>
            <a:srgbClr val="6B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93007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0A458"/>
                </a:solidFill>
                <a:latin typeface="Calibri"/>
              </a:rPr>
              <a:t>Backsplash 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493007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Leaning toward a simple light stone.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10332720" cy="1051560"/>
          </a:xfrm>
          <a:prstGeom prst="rect">
            <a:avLst/>
          </a:prstGeom>
          <a:solidFill>
            <a:srgbClr val="6B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73168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0A458"/>
                </a:solidFill>
                <a:latin typeface="Calibri"/>
              </a:rPr>
              <a:t>The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773168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Keep as is or widen it, depends on the framing.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