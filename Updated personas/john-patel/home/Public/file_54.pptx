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minutes to decision</c:v>
                </c:pt>
              </c:strCache>
            </c:strRef>
          </c:tx>
          <c:spPr>
            <a:solidFill>
              <a:srgbClr val="5B8C5A"/>
            </a:solidFill>
            <a:ln>
              <a:solidFill>
                <a:srgbClr val="5B8C5A"/>
              </a:solidFill>
            </a:ln>
          </c:spPr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With protocol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28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FE3CD"/>
                </a:solidFill>
                <a:latin typeface="Calibri"/>
              </a:rPr>
              <a:t>JOURNAL OF ACADEMIC EMERGENCY PRACTICE  |  UNDER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Point of Care Ultrasound in Early Trauma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33038"/>
                </a:solidFill>
                <a:latin typeface="Calibri"/>
              </a:rPr>
              <a:t>John Patel, MD, and Amara Okafor, MD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33038"/>
                </a:solidFill>
                <a:latin typeface="Calibri"/>
              </a:rPr>
              <a:t>Department of Emergency Medicine, Lone Star Medical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E70"/>
                </a:solidFill>
                <a:latin typeface="Calibri"/>
              </a:rPr>
              <a:t>Manuscript number JAEP-2026-0142.  Received January 28, 2026.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E70"/>
                </a:solidFill>
                <a:latin typeface="Calibri"/>
              </a:rPr>
              <a:t>Current status: under editorial review.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FE3CD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bedside ultrasound, and why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The question.  </a:t>
            </a:r>
            <a:r>
              <a:rPr sz="1800">
                <a:solidFill>
                  <a:srgbClr val="233038"/>
                </a:solidFill>
                <a:latin typeface="Calibri"/>
              </a:rPr>
              <a:t>Does a structured bedside ultrasound during the first assessment change early trauma decisions?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The setting.  </a:t>
            </a:r>
            <a:r>
              <a:rPr sz="1800">
                <a:solidFill>
                  <a:srgbClr val="233038"/>
                </a:solidFill>
                <a:latin typeface="Calibri"/>
              </a:rPr>
              <a:t>A high volume Level 1 trauma center with a busy emergency department.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The gap.  </a:t>
            </a:r>
            <a:r>
              <a:rPr sz="1800">
                <a:solidFill>
                  <a:srgbClr val="233038"/>
                </a:solidFill>
                <a:latin typeface="Calibri"/>
              </a:rPr>
              <a:t>Decisions in the first minutes rely on exam and vitals, where imaging can add signal fast.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The aim.  </a:t>
            </a:r>
            <a:r>
              <a:rPr sz="1800">
                <a:solidFill>
                  <a:srgbClr val="233038"/>
                </a:solidFill>
                <a:latin typeface="Calibri"/>
              </a:rPr>
              <a:t>Measure whether a focused protocol shortens time to a disposition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J, Okafor A  |  Manuscript JAEP-2026-0142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CFE3CD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FE3CD"/>
                </a:solidFill>
                <a:latin typeface="Calibri"/>
              </a:rP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the study was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4858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33038"/>
                </a:solidFill>
                <a:latin typeface="Calibri"/>
              </a:rPr>
              <a:t>Prospective observational cohort across day and night shifts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94960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4858"/>
                </a:solidFill>
                <a:latin typeface="Calibri"/>
              </a:rPr>
              <a:t>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9748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33038"/>
                </a:solidFill>
                <a:latin typeface="Calibri"/>
              </a:rPr>
              <a:t>A fixed sequence of views completed within the first 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5394960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59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4858"/>
                </a:solidFill>
                <a:latin typeface="Calibri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1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33038"/>
                </a:solidFill>
                <a:latin typeface="Calibri"/>
              </a:rPr>
              <a:t>Time from arrival to a documented disposition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977639"/>
            <a:ext cx="53949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977639"/>
            <a:ext cx="5394960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251959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4858"/>
                </a:solidFill>
                <a:latin typeface="Calibri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84631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33038"/>
                </a:solidFill>
                <a:latin typeface="Calibri"/>
              </a:rPr>
              <a:t>Compared against a matched baseline period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J, Okafor A  |  Manuscript JAEP-2026-0142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CFE3CD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FE3CD"/>
                </a:solidFill>
                <a:latin typeface="Calibri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Time to disposition, protocol versus baseline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45920"/>
          <a:ext cx="6035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Headline.  </a:t>
            </a:r>
            <a:r>
              <a:rPr sz="1500">
                <a:solidFill>
                  <a:srgbClr val="233038"/>
                </a:solidFill>
                <a:latin typeface="Calibri"/>
              </a:rPr>
              <a:t>Median time to a disposition decision fell from 42 to 28 minutes.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Consistency.  </a:t>
            </a:r>
            <a:r>
              <a:rPr sz="1500">
                <a:solidFill>
                  <a:srgbClr val="233038"/>
                </a:solidFill>
                <a:latin typeface="Calibri"/>
              </a:rPr>
              <a:t>The effect held on both day and night shifts.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500" b="1">
                <a:solidFill>
                  <a:srgbClr val="5B8C5A"/>
                </a:solidFill>
                <a:latin typeface="Calibri"/>
              </a:rPr>
              <a:t>Safety.  </a:t>
            </a:r>
            <a:r>
              <a:rPr sz="1500">
                <a:solidFill>
                  <a:srgbClr val="233038"/>
                </a:solidFill>
                <a:latin typeface="Calibri"/>
              </a:rPr>
              <a:t>No rise in missed findings on later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J, Okafor A  |  Manuscript JAEP-2026-0142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CFE3CD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FE3CD"/>
                </a:solidFill>
                <a:latin typeface="Calibri"/>
              </a:rPr>
              <a:t>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this could change at the bedside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Faster decisions.  </a:t>
            </a:r>
            <a:r>
              <a:rPr sz="1800">
                <a:solidFill>
                  <a:srgbClr val="233038"/>
                </a:solidFill>
                <a:latin typeface="Calibri"/>
              </a:rPr>
              <a:t>A short, fixed protocol can move the disposition decision earlier without new equipment.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Teachable.  </a:t>
            </a:r>
            <a:r>
              <a:rPr sz="1800">
                <a:solidFill>
                  <a:srgbClr val="233038"/>
                </a:solidFill>
                <a:latin typeface="Calibri"/>
              </a:rPr>
              <a:t>The sequence is simple enough to teach to rotating residents quickly.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1800" b="1">
                <a:solidFill>
                  <a:srgbClr val="5B8C5A"/>
                </a:solidFill>
                <a:latin typeface="Calibri"/>
              </a:rPr>
              <a:t>Next.  </a:t>
            </a:r>
            <a:r>
              <a:rPr sz="1800">
                <a:solidFill>
                  <a:srgbClr val="233038"/>
                </a:solidFill>
                <a:latin typeface="Calibri"/>
              </a:rPr>
              <a:t>A larger multi shift sample and a look at downstream length of stay.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Patel J, Okafor A  |  Manuscript JAEP-2026-0142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73952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CFE3CD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146304" cy="182880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 few minutes, earned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FE3CD"/>
                </a:solidFill>
                <a:latin typeface="Calibri"/>
              </a:rPr>
              <a:t>Submitted to the Journal of Academic Emergency Practice, manuscript JAEP-2026-0142.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FE3CD"/>
                </a:solidFill>
                <a:latin typeface="Calibri"/>
              </a:rPr>
              <a:t>Initial decision expected within eight to ten weeks.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