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oo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4688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286000"/>
            <a:ext cx="12191695" cy="10972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TOOLS FUND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4A3526"/>
                </a:solidFill>
                <a:latin typeface="Calibri"/>
              </a:rPr>
              <a:t>Saving Toward the 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6B6B6B"/>
                </a:solidFill>
                <a:latin typeface="Calibri"/>
              </a:rPr>
              <a:t>Where the fund stands and where it is headed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212080"/>
            <a:ext cx="3840480" cy="45720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349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3201D"/>
                </a:solidFill>
                <a:latin typeface="Calibri"/>
              </a:rPr>
              <a:t>A personal plan by Jordan Thomas McDaniel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6DCC8"/>
                </a:solidFill>
                <a:latin typeface="Calibri"/>
              </a:rPr>
              <a:t>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Fund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2560320" cy="1554480"/>
          </a:xfrm>
          <a:prstGeom prst="rect">
            <a:avLst/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2560320" cy="10972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B6B6B"/>
                </a:solidFill>
                <a:latin typeface="Calibri"/>
              </a:rPr>
              <a:t>Balance, Feb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4A3526"/>
                </a:solidFill>
                <a:latin typeface="Calibri"/>
              </a:rPr>
              <a:t>$3,218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463040"/>
            <a:ext cx="2560320" cy="1554480"/>
          </a:xfrm>
          <a:prstGeom prst="rect">
            <a:avLst/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463040"/>
            <a:ext cx="2560320" cy="10972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73736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B6B6B"/>
                </a:solidFill>
                <a:latin typeface="Calibri"/>
              </a:rPr>
              <a:t>Monthly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14884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4A3526"/>
                </a:solidFill>
                <a:latin typeface="Calibri"/>
              </a:rPr>
              <a:t>$250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2560320" cy="1554480"/>
          </a:xfrm>
          <a:prstGeom prst="rect">
            <a:avLst/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2560320" cy="10972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73736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B6B6B"/>
                </a:solidFill>
                <a:latin typeface="Calibri"/>
              </a:rPr>
              <a:t>General savings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14884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4A3526"/>
                </a:solidFill>
                <a:latin typeface="Calibri"/>
              </a:rPr>
              <a:t>$200 / 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39" y="1463040"/>
            <a:ext cx="2560320" cy="1554480"/>
          </a:xfrm>
          <a:prstGeom prst="rect">
            <a:avLst/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39" y="1463040"/>
            <a:ext cx="2560320" cy="10972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39" y="173736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B6B6B"/>
                </a:solidFill>
                <a:latin typeface="Calibri"/>
              </a:rPr>
              <a:t>Debt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39" y="214884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4A3526"/>
                </a:solidFill>
                <a:latin typeface="Calibri"/>
              </a:rPr>
              <a:t>$0</a:t>
            </a:r>
          </a:p>
        </p:txBody>
      </p:sp>
      <p:pic>
        <p:nvPicPr>
          <p:cNvPr id="23" name="Picture 22" descr="fund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91840"/>
            <a:ext cx="6766560" cy="33051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680960" y="3474720"/>
            <a:ext cx="38404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3201D"/>
                </a:solidFill>
                <a:latin typeface="Calibri"/>
              </a:rPr>
              <a:t>One tool order in November 2025 dipped the balance, then it climbed right back. The fund is sacred. Eating out gets skipped before a contribution does.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Tools fund and savings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6DCC8"/>
                </a:solidFill>
                <a:latin typeface="Calibri"/>
              </a:rPr>
              <a:t>AHEAD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Savings Runway</a:t>
            </a:r>
          </a:p>
        </p:txBody>
      </p:sp>
      <p:pic>
        <p:nvPicPr>
          <p:cNvPr id="7" name="Picture 6" descr="fund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583680" cy="3233767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06640" y="1554480"/>
          <a:ext cx="4206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</a:tblGrid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Checkpoint</a:t>
                      </a:r>
                    </a:p>
                  </a:txBody>
                  <a:tcPr marL="73152" marR="54864" marT="27432" marB="27432" anchor="ctr"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Balance</a:t>
                      </a:r>
                    </a:p>
                  </a:txBody>
                  <a:tcPr marL="73152" marR="54864" marT="27432" marB="27432" anchor="ctr">
                    <a:solidFill>
                      <a:srgbClr val="4A3526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3201D"/>
                          </a:solidFill>
                          <a:latin typeface="Calibri"/>
                        </a:rPr>
                        <a:t>December 2026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23201D"/>
                          </a:solidFill>
                          <a:latin typeface="Calibri"/>
                        </a:rPr>
                        <a:t>$5,718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3201D"/>
                          </a:solidFill>
                          <a:latin typeface="Calibri"/>
                        </a:rPr>
                        <a:t>June 2027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23201D"/>
                          </a:solidFill>
                          <a:latin typeface="Calibri"/>
                        </a:rPr>
                        <a:t>$7,218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3201D"/>
                          </a:solidFill>
                          <a:latin typeface="Calibri"/>
                        </a:rPr>
                        <a:t>December 2027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23201D"/>
                          </a:solidFill>
                          <a:latin typeface="Calibri"/>
                        </a:rPr>
                        <a:t>$8,718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3201D"/>
                          </a:solidFill>
                          <a:latin typeface="Calibri"/>
                        </a:rPr>
                        <a:t>June 2028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23201D"/>
                          </a:solidFill>
                          <a:latin typeface="Calibri"/>
                        </a:rPr>
                        <a:t>$10,218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3201D"/>
                          </a:solidFill>
                          <a:latin typeface="Calibri"/>
                        </a:rPr>
                        <a:t>April 2029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23201D"/>
                          </a:solidFill>
                          <a:latin typeface="Calibri"/>
                        </a:rPr>
                        <a:t>$12,718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Tools fund and savings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6DCC8"/>
                </a:solidFill>
                <a:latin typeface="Calibri"/>
              </a:rPr>
              <a:t>WISHLIST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Tools to Buy, In Order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206240"/>
                <a:gridCol w="2011680"/>
                <a:gridCol w="18288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73152" marR="54864" marT="27432" marB="27432" anchor="ctr"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R="54864" marT="27432" marB="27432" anchor="ctr"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Target price</a:t>
                      </a:r>
                    </a:p>
                  </a:txBody>
                  <a:tcPr marL="73152" marR="54864" marT="27432" marB="27432" anchor="ctr"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marL="73152" marR="54864" marT="27432" marB="27432" anchor="ctr">
                    <a:solidFill>
                      <a:srgbClr val="4A352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No. 7 jointer plane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Flatten long edges by hand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$475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Next up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Router table setup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Cleaner joinery and profiles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After that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Better dust collection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Keep the garage breathable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$200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Soon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Cabinet saw fund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The big one, for the shop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Saving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23201D"/>
                          </a:solidFill>
                          <a:latin typeface="Calibri"/>
                        </a:rPr>
                        <a:t>Long term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5720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6B6B6B"/>
                </a:solidFill>
                <a:latin typeface="Calibri"/>
              </a:rPr>
              <a:t>Rule of the fund: nothing at or above $75 gets bought without checking the budget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Tools fund and savings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