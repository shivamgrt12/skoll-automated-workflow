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yler_shot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1097280"/>
            <a:ext cx="4297680" cy="4023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822960"/>
            <a:ext cx="6766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CAA53D"/>
                </a:solidFill>
                <a:latin typeface="Calibri"/>
              </a:rPr>
              <a:t>RIDGEWOOD ACADEMY VARSITY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234440"/>
            <a:ext cx="694944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5400" b="1">
                <a:solidFill>
                  <a:srgbClr val="FFFFFF"/>
                </a:solidFill>
                <a:latin typeface="Calibri"/>
              </a:rPr>
              <a:t>TYLER FIELDS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743200"/>
            <a:ext cx="694944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C5CFDD"/>
                </a:solidFill>
                <a:latin typeface="Calibri"/>
              </a:rPr>
              <a:t>Point Guard  |  Jersey 4  |  6 ft 1 in</a:t>
            </a:r>
          </a:p>
          <a:p>
            <a:pPr algn="l">
              <a:spcAft>
                <a:spcPts val="200"/>
              </a:spcAft>
            </a:pPr>
            <a:r>
              <a:rPr sz="1500" b="0">
                <a:solidFill>
                  <a:srgbClr val="FFFFFF"/>
                </a:solidFill>
                <a:latin typeface="Calibri"/>
              </a:rPr>
              <a:t>Class of 2027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206240"/>
            <a:ext cx="69494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AA7B3"/>
                </a:solidFill>
                <a:latin typeface="Calibri"/>
              </a:rPr>
              <a:t>Recruiting profile and season summary, 2025 to 2026.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CAA53D"/>
                </a:solidFill>
                <a:latin typeface="Calibri"/>
              </a:rPr>
              <a:t>Prepared for college program review.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6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556248"/>
            <a:ext cx="73152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FFFFFF"/>
                </a:solidFill>
                <a:latin typeface="Calibri"/>
              </a:rPr>
              <a:t>Tyler Fields, Recruiting Profile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0" y="6556248"/>
            <a:ext cx="35661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C9D2DA"/>
                </a:solidFill>
                <a:latin typeface="Calibri"/>
              </a:rPr>
              <a:t>Private and personal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6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46304"/>
            <a:ext cx="109728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Player At A Glance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34440"/>
            <a:ext cx="1737360" cy="1051560"/>
          </a:xfrm>
          <a:prstGeom prst="rect">
            <a:avLst/>
          </a:prstGeom>
          <a:solidFill>
            <a:srgbClr val="EAEE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325880"/>
            <a:ext cx="17373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16223A"/>
                </a:solidFill>
                <a:latin typeface="Calibri"/>
              </a:rPr>
              <a:t>17.9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901952"/>
            <a:ext cx="1737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6B7682"/>
                </a:solidFill>
                <a:latin typeface="Calibri"/>
              </a:rPr>
              <a:t>PPG</a:t>
            </a:r>
          </a:p>
        </p:txBody>
      </p:sp>
      <p:sp>
        <p:nvSpPr>
          <p:cNvPr id="7" name="Rectangle 6"/>
          <p:cNvSpPr/>
          <p:nvPr/>
        </p:nvSpPr>
        <p:spPr>
          <a:xfrm>
            <a:off x="2395728" y="1234440"/>
            <a:ext cx="1737360" cy="1051560"/>
          </a:xfrm>
          <a:prstGeom prst="rect">
            <a:avLst/>
          </a:prstGeom>
          <a:solidFill>
            <a:srgbClr val="EAEE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395728" y="1325880"/>
            <a:ext cx="17373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16223A"/>
                </a:solidFill>
                <a:latin typeface="Calibri"/>
              </a:rPr>
              <a:t>7.4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95728" y="1901952"/>
            <a:ext cx="1737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6B7682"/>
                </a:solidFill>
                <a:latin typeface="Calibri"/>
              </a:rPr>
              <a:t>APG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88536" y="1234440"/>
            <a:ext cx="1737360" cy="1051560"/>
          </a:xfrm>
          <a:prstGeom prst="rect">
            <a:avLst/>
          </a:prstGeom>
          <a:solidFill>
            <a:srgbClr val="EAEE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88536" y="1325880"/>
            <a:ext cx="17373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16223A"/>
                </a:solidFill>
                <a:latin typeface="Calibri"/>
              </a:rPr>
              <a:t>3.7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88536" y="1901952"/>
            <a:ext cx="1737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6B7682"/>
                </a:solidFill>
                <a:latin typeface="Calibri"/>
              </a:rPr>
              <a:t>RPG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81343" y="1234440"/>
            <a:ext cx="1737360" cy="1051560"/>
          </a:xfrm>
          <a:prstGeom prst="rect">
            <a:avLst/>
          </a:prstGeom>
          <a:solidFill>
            <a:srgbClr val="EAEE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81343" y="1325880"/>
            <a:ext cx="17373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16223A"/>
                </a:solidFill>
                <a:latin typeface="Calibri"/>
              </a:rPr>
              <a:t>2.8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81343" y="1901952"/>
            <a:ext cx="1737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6B7682"/>
                </a:solidFill>
                <a:latin typeface="Calibri"/>
              </a:rPr>
              <a:t>SPG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74152" y="1234440"/>
            <a:ext cx="1737360" cy="1051560"/>
          </a:xfrm>
          <a:prstGeom prst="rect">
            <a:avLst/>
          </a:prstGeom>
          <a:solidFill>
            <a:srgbClr val="EAEE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74152" y="1325880"/>
            <a:ext cx="17373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16223A"/>
                </a:solidFill>
                <a:latin typeface="Calibri"/>
              </a:rPr>
              <a:t>30.9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74152" y="1901952"/>
            <a:ext cx="1737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6B7682"/>
                </a:solidFill>
                <a:latin typeface="Calibri"/>
              </a:rPr>
              <a:t>MPG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966960" y="1234440"/>
            <a:ext cx="1737360" cy="1051560"/>
          </a:xfrm>
          <a:prstGeom prst="rect">
            <a:avLst/>
          </a:prstGeom>
          <a:solidFill>
            <a:srgbClr val="EAEE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966960" y="1325880"/>
            <a:ext cx="17373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16223A"/>
                </a:solidFill>
                <a:latin typeface="Calibri"/>
              </a:rPr>
              <a:t>9-3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66960" y="1901952"/>
            <a:ext cx="1737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6B7682"/>
                </a:solidFill>
                <a:latin typeface="Calibri"/>
              </a:rPr>
              <a:t>Record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251460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222A33"/>
                </a:solidFill>
                <a:latin typeface="Calibri"/>
              </a:rPr>
              <a:t>Points per game, full season</a:t>
            </a:r>
          </a:p>
        </p:txBody>
      </p:sp>
      <p:pic>
        <p:nvPicPr>
          <p:cNvPr id="23" name="Picture 22" descr="tyler_pp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880360"/>
            <a:ext cx="7680960" cy="3291840"/>
          </a:xfrm>
          <a:prstGeom prst="rect">
            <a:avLst/>
          </a:prstGeom>
        </p:spPr>
      </p:pic>
      <p:graphicFrame>
        <p:nvGraphicFramePr>
          <p:cNvPr id="24" name="Table 23"/>
          <p:cNvGraphicFramePr>
            <a:graphicFrameLocks noGrp="1"/>
          </p:cNvGraphicFramePr>
          <p:nvPr/>
        </p:nvGraphicFramePr>
        <p:xfrm>
          <a:off x="8503920" y="2926080"/>
          <a:ext cx="3200400" cy="29443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22400"/>
                <a:gridCol w="1778000"/>
              </a:tblGrid>
              <a:tr h="420624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Attribute</a:t>
                      </a:r>
                    </a:p>
                  </a:txBody>
                  <a:tcPr marT="25400" marB="25400" marL="76200">
                    <a:solidFill>
                      <a:srgbClr val="1622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Detail</a:t>
                      </a:r>
                    </a:p>
                  </a:txBody>
                  <a:tcPr marT="25400" marB="25400" marL="76200">
                    <a:solidFill>
                      <a:srgbClr val="16223A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222A33"/>
                          </a:solidFill>
                          <a:latin typeface="Calibri"/>
                        </a:rPr>
                        <a:t>Position</a:t>
                      </a:r>
                    </a:p>
                  </a:txBody>
                  <a:tcPr marT="12700" marB="12700" marL="76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222A33"/>
                          </a:solidFill>
                          <a:latin typeface="Calibri"/>
                        </a:rPr>
                        <a:t>Point guard</a:t>
                      </a:r>
                    </a:p>
                  </a:txBody>
                  <a:tcPr marT="12700" marB="12700" marL="76200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222A33"/>
                          </a:solidFill>
                          <a:latin typeface="Calibri"/>
                        </a:rPr>
                        <a:t>Height</a:t>
                      </a:r>
                    </a:p>
                  </a:txBody>
                  <a:tcPr marT="12700" marB="12700" marL="76200" anchor="ctr">
                    <a:solidFill>
                      <a:srgbClr val="F3F5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222A33"/>
                          </a:solidFill>
                          <a:latin typeface="Calibri"/>
                        </a:rPr>
                        <a:t>6 ft 1 in</a:t>
                      </a:r>
                    </a:p>
                  </a:txBody>
                  <a:tcPr marT="12700" marB="12700" marL="76200" anchor="ctr">
                    <a:solidFill>
                      <a:srgbClr val="F3F5F7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222A33"/>
                          </a:solidFill>
                          <a:latin typeface="Calibri"/>
                        </a:rPr>
                        <a:t>Class</a:t>
                      </a:r>
                    </a:p>
                  </a:txBody>
                  <a:tcPr marT="12700" marB="12700" marL="76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222A33"/>
                          </a:solidFill>
                          <a:latin typeface="Calibri"/>
                        </a:rPr>
                        <a:t>2027, junior</a:t>
                      </a:r>
                    </a:p>
                  </a:txBody>
                  <a:tcPr marT="12700" marB="12700" marL="76200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222A33"/>
                          </a:solidFill>
                          <a:latin typeface="Calibri"/>
                        </a:rPr>
                        <a:t>School</a:t>
                      </a:r>
                    </a:p>
                  </a:txBody>
                  <a:tcPr marT="12700" marB="12700" marL="76200" anchor="ctr">
                    <a:solidFill>
                      <a:srgbClr val="F3F5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222A33"/>
                          </a:solidFill>
                          <a:latin typeface="Calibri"/>
                        </a:rPr>
                        <a:t>Ridgewood Academy</a:t>
                      </a:r>
                    </a:p>
                  </a:txBody>
                  <a:tcPr marT="12700" marB="12700" marL="76200" anchor="ctr">
                    <a:solidFill>
                      <a:srgbClr val="F3F5F7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222A33"/>
                          </a:solidFill>
                          <a:latin typeface="Calibri"/>
                        </a:rPr>
                        <a:t>Coach</a:t>
                      </a:r>
                    </a:p>
                  </a:txBody>
                  <a:tcPr marT="12700" marB="12700" marL="76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222A33"/>
                          </a:solidFill>
                          <a:latin typeface="Calibri"/>
                        </a:rPr>
                        <a:t>Dave Peterson</a:t>
                      </a:r>
                    </a:p>
                  </a:txBody>
                  <a:tcPr marT="12700" marB="12700" marL="76200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222A33"/>
                          </a:solidFill>
                          <a:latin typeface="Calibri"/>
                        </a:rPr>
                        <a:t>Interest</a:t>
                      </a:r>
                    </a:p>
                  </a:txBody>
                  <a:tcPr marT="12700" marB="12700" marL="76200" anchor="ctr">
                    <a:solidFill>
                      <a:srgbClr val="F3F5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222A33"/>
                          </a:solidFill>
                          <a:latin typeface="Calibri"/>
                        </a:rPr>
                        <a:t>Business</a:t>
                      </a:r>
                    </a:p>
                  </a:txBody>
                  <a:tcPr marT="12700" marB="12700" marL="76200" anchor="ctr">
                    <a:solidFill>
                      <a:srgbClr val="F3F5F7"/>
                    </a:solidFill>
                  </a:tcPr>
                </a:tc>
              </a:tr>
            </a:tbl>
          </a:graphicData>
        </a:graphic>
      </p:graphicFrame>
      <p:sp>
        <p:nvSpPr>
          <p:cNvPr id="25" name="Rectangle 2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6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5760" y="6556248"/>
            <a:ext cx="73152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FFFFFF"/>
                </a:solidFill>
                <a:latin typeface="Calibri"/>
              </a:rPr>
              <a:t>Tyler Fields, Recruiting Profile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0" y="6556248"/>
            <a:ext cx="35661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C9D2DA"/>
                </a:solidFill>
                <a:latin typeface="Calibri"/>
              </a:rPr>
              <a:t>Private and personal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6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46304"/>
            <a:ext cx="109728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Season Game Log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325880"/>
          <a:ext cx="11064236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7435"/>
                <a:gridCol w="4012306"/>
                <a:gridCol w="1823775"/>
                <a:gridCol w="972680"/>
                <a:gridCol w="972680"/>
                <a:gridCol w="972680"/>
                <a:gridCol w="972680"/>
              </a:tblGrid>
              <a:tr h="50292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Date</a:t>
                      </a:r>
                    </a:p>
                  </a:txBody>
                  <a:tcPr marT="25400" marB="25400" marL="76200">
                    <a:solidFill>
                      <a:srgbClr val="1622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Opponent</a:t>
                      </a:r>
                    </a:p>
                  </a:txBody>
                  <a:tcPr marT="25400" marB="25400" marL="76200">
                    <a:solidFill>
                      <a:srgbClr val="1622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Result</a:t>
                      </a:r>
                    </a:p>
                  </a:txBody>
                  <a:tcPr marT="25400" marB="25400" marL="76200">
                    <a:solidFill>
                      <a:srgbClr val="1622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PTS</a:t>
                      </a:r>
                    </a:p>
                  </a:txBody>
                  <a:tcPr marT="25400" marB="25400" marL="76200">
                    <a:solidFill>
                      <a:srgbClr val="1622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AST</a:t>
                      </a:r>
                    </a:p>
                  </a:txBody>
                  <a:tcPr marT="25400" marB="25400" marL="76200">
                    <a:solidFill>
                      <a:srgbClr val="1622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REB</a:t>
                      </a:r>
                    </a:p>
                  </a:txBody>
                  <a:tcPr marT="25400" marB="25400" marL="76200">
                    <a:solidFill>
                      <a:srgbClr val="1622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STL</a:t>
                      </a:r>
                    </a:p>
                  </a:txBody>
                  <a:tcPr marT="25400" marB="25400" marL="76200">
                    <a:solidFill>
                      <a:srgbClr val="16223A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222A33"/>
                          </a:solidFill>
                          <a:latin typeface="Calibri"/>
                        </a:rPr>
                        <a:t>Nov 25</a:t>
                      </a:r>
                    </a:p>
                  </a:txBody>
                  <a:tcPr marT="12700" marB="12700" marL="76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222A33"/>
                          </a:solidFill>
                          <a:latin typeface="Calibri"/>
                        </a:rPr>
                        <a:t>Worthington Kilbourne</a:t>
                      </a:r>
                    </a:p>
                  </a:txBody>
                  <a:tcPr marT="12700" marB="12700" marL="76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222A33"/>
                          </a:solidFill>
                          <a:latin typeface="Calibri"/>
                        </a:rPr>
                        <a:t>W 61-54</a:t>
                      </a:r>
                    </a:p>
                  </a:txBody>
                  <a:tcPr marT="12700" marB="12700" marL="76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222A33"/>
                          </a:solidFill>
                          <a:latin typeface="Calibri"/>
                        </a:rPr>
                        <a:t>18</a:t>
                      </a:r>
                    </a:p>
                  </a:txBody>
                  <a:tcPr marT="12700" marB="12700" marL="76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222A33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marT="12700" marB="12700" marL="76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222A33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T="12700" marB="12700" marL="76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222A33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T="12700" marB="12700" marL="76200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222A33"/>
                          </a:solidFill>
                          <a:latin typeface="Calibri"/>
                        </a:rPr>
                        <a:t>Dec 09</a:t>
                      </a:r>
                    </a:p>
                  </a:txBody>
                  <a:tcPr marT="12700" marB="12700" marL="76200" anchor="ctr">
                    <a:solidFill>
                      <a:srgbClr val="F3F5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222A33"/>
                          </a:solidFill>
                          <a:latin typeface="Calibri"/>
                        </a:rPr>
                        <a:t>Upper Arlington</a:t>
                      </a:r>
                    </a:p>
                  </a:txBody>
                  <a:tcPr marT="12700" marB="12700" marL="76200" anchor="ctr">
                    <a:solidFill>
                      <a:srgbClr val="F3F5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222A33"/>
                          </a:solidFill>
                          <a:latin typeface="Calibri"/>
                        </a:rPr>
                        <a:t>W 70-63</a:t>
                      </a:r>
                    </a:p>
                  </a:txBody>
                  <a:tcPr marT="12700" marB="12700" marL="76200" anchor="ctr">
                    <a:solidFill>
                      <a:srgbClr val="F3F5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222A33"/>
                          </a:solidFill>
                          <a:latin typeface="Calibri"/>
                        </a:rPr>
                        <a:t>22</a:t>
                      </a:r>
                    </a:p>
                  </a:txBody>
                  <a:tcPr marT="12700" marB="12700" marL="76200" anchor="ctr">
                    <a:solidFill>
                      <a:srgbClr val="F3F5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222A33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 marT="12700" marB="12700" marL="76200" anchor="ctr">
                    <a:solidFill>
                      <a:srgbClr val="F3F5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222A33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T="12700" marB="12700" marL="76200" anchor="ctr">
                    <a:solidFill>
                      <a:srgbClr val="F3F5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222A33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T="12700" marB="12700" marL="76200" anchor="ctr">
                    <a:solidFill>
                      <a:srgbClr val="F3F5F7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222A33"/>
                          </a:solidFill>
                          <a:latin typeface="Calibri"/>
                        </a:rPr>
                        <a:t>Dec 16</a:t>
                      </a:r>
                    </a:p>
                  </a:txBody>
                  <a:tcPr marT="12700" marB="12700" marL="76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222A33"/>
                          </a:solidFill>
                          <a:latin typeface="Calibri"/>
                        </a:rPr>
                        <a:t>Hilliard Davidson</a:t>
                      </a:r>
                    </a:p>
                  </a:txBody>
                  <a:tcPr marT="12700" marB="12700" marL="76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222A33"/>
                          </a:solidFill>
                          <a:latin typeface="Calibri"/>
                        </a:rPr>
                        <a:t>W 66-59</a:t>
                      </a:r>
                    </a:p>
                  </a:txBody>
                  <a:tcPr marT="12700" marB="12700" marL="76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222A33"/>
                          </a:solidFill>
                          <a:latin typeface="Calibri"/>
                        </a:rPr>
                        <a:t>16</a:t>
                      </a:r>
                    </a:p>
                  </a:txBody>
                  <a:tcPr marT="12700" marB="12700" marL="76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222A33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marT="12700" marB="12700" marL="76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222A3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T="12700" marB="12700" marL="76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222A3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T="12700" marB="12700" marL="76200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222A33"/>
                          </a:solidFill>
                          <a:latin typeface="Calibri"/>
                        </a:rPr>
                        <a:t>Jan 06</a:t>
                      </a:r>
                    </a:p>
                  </a:txBody>
                  <a:tcPr marT="12700" marB="12700" marL="76200" anchor="ctr">
                    <a:solidFill>
                      <a:srgbClr val="F3F5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222A33"/>
                          </a:solidFill>
                          <a:latin typeface="Calibri"/>
                        </a:rPr>
                        <a:t>Grandview Heights</a:t>
                      </a:r>
                    </a:p>
                  </a:txBody>
                  <a:tcPr marT="12700" marB="12700" marL="76200" anchor="ctr">
                    <a:solidFill>
                      <a:srgbClr val="F3F5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222A33"/>
                          </a:solidFill>
                          <a:latin typeface="Calibri"/>
                        </a:rPr>
                        <a:t>W 74-49</a:t>
                      </a:r>
                    </a:p>
                  </a:txBody>
                  <a:tcPr marT="12700" marB="12700" marL="76200" anchor="ctr">
                    <a:solidFill>
                      <a:srgbClr val="F3F5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222A33"/>
                          </a:solidFill>
                          <a:latin typeface="Calibri"/>
                        </a:rPr>
                        <a:t>20</a:t>
                      </a:r>
                    </a:p>
                  </a:txBody>
                  <a:tcPr marT="12700" marB="12700" marL="76200" anchor="ctr">
                    <a:solidFill>
                      <a:srgbClr val="F3F5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222A33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T="12700" marB="12700" marL="76200" anchor="ctr">
                    <a:solidFill>
                      <a:srgbClr val="F3F5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222A33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T="12700" marB="12700" marL="76200" anchor="ctr">
                    <a:solidFill>
                      <a:srgbClr val="F3F5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222A33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T="12700" marB="12700" marL="76200" anchor="ctr">
                    <a:solidFill>
                      <a:srgbClr val="F3F5F7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222A33"/>
                          </a:solidFill>
                          <a:latin typeface="Calibri"/>
                        </a:rPr>
                        <a:t>Jan 13</a:t>
                      </a:r>
                    </a:p>
                  </a:txBody>
                  <a:tcPr marT="12700" marB="12700" marL="76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222A33"/>
                          </a:solidFill>
                          <a:latin typeface="Calibri"/>
                        </a:rPr>
                        <a:t>Dublin Jerome</a:t>
                      </a:r>
                    </a:p>
                  </a:txBody>
                  <a:tcPr marT="12700" marB="12700" marL="76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222A33"/>
                          </a:solidFill>
                          <a:latin typeface="Calibri"/>
                        </a:rPr>
                        <a:t>W 63-60</a:t>
                      </a:r>
                    </a:p>
                  </a:txBody>
                  <a:tcPr marT="12700" marB="12700" marL="76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222A33"/>
                          </a:solidFill>
                          <a:latin typeface="Calibri"/>
                        </a:rPr>
                        <a:t>19</a:t>
                      </a:r>
                    </a:p>
                  </a:txBody>
                  <a:tcPr marT="12700" marB="12700" marL="76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222A33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marT="12700" marB="12700" marL="76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222A33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T="12700" marB="12700" marL="76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222A33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T="12700" marB="12700" marL="76200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222A33"/>
                          </a:solidFill>
                          <a:latin typeface="Calibri"/>
                        </a:rPr>
                        <a:t>Jan 27</a:t>
                      </a:r>
                    </a:p>
                  </a:txBody>
                  <a:tcPr marT="12700" marB="12700" marL="76200" anchor="ctr">
                    <a:solidFill>
                      <a:srgbClr val="F3F5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222A33"/>
                          </a:solidFill>
                          <a:latin typeface="Calibri"/>
                        </a:rPr>
                        <a:t>Dublin Coffman</a:t>
                      </a:r>
                    </a:p>
                  </a:txBody>
                  <a:tcPr marT="12700" marB="12700" marL="76200" anchor="ctr">
                    <a:solidFill>
                      <a:srgbClr val="F3F5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222A33"/>
                          </a:solidFill>
                          <a:latin typeface="Calibri"/>
                        </a:rPr>
                        <a:t>W 64-61</a:t>
                      </a:r>
                    </a:p>
                  </a:txBody>
                  <a:tcPr marT="12700" marB="12700" marL="76200" anchor="ctr">
                    <a:solidFill>
                      <a:srgbClr val="F3F5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222A33"/>
                          </a:solidFill>
                          <a:latin typeface="Calibri"/>
                        </a:rPr>
                        <a:t>21</a:t>
                      </a:r>
                    </a:p>
                  </a:txBody>
                  <a:tcPr marT="12700" marB="12700" marL="76200" anchor="ctr">
                    <a:solidFill>
                      <a:srgbClr val="F3F5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222A33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marT="12700" marB="12700" marL="76200" anchor="ctr">
                    <a:solidFill>
                      <a:srgbClr val="F3F5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222A33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T="12700" marB="12700" marL="76200" anchor="ctr">
                    <a:solidFill>
                      <a:srgbClr val="F3F5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222A33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T="12700" marB="12700" marL="76200" anchor="ctr">
                    <a:solidFill>
                      <a:srgbClr val="F3F5F7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222A33"/>
                          </a:solidFill>
                          <a:latin typeface="Calibri"/>
                        </a:rPr>
                        <a:t>Feb 10</a:t>
                      </a:r>
                    </a:p>
                  </a:txBody>
                  <a:tcPr marT="12700" marB="12700" marL="76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222A33"/>
                          </a:solidFill>
                          <a:latin typeface="Calibri"/>
                        </a:rPr>
                        <a:t>Hilliard Davidson</a:t>
                      </a:r>
                    </a:p>
                  </a:txBody>
                  <a:tcPr marT="12700" marB="12700" marL="76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222A33"/>
                          </a:solidFill>
                          <a:latin typeface="Calibri"/>
                        </a:rPr>
                        <a:t>W 71-58</a:t>
                      </a:r>
                    </a:p>
                  </a:txBody>
                  <a:tcPr marT="12700" marB="12700" marL="76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222A33"/>
                          </a:solidFill>
                          <a:latin typeface="Calibri"/>
                        </a:rPr>
                        <a:t>23</a:t>
                      </a:r>
                    </a:p>
                  </a:txBody>
                  <a:tcPr marT="12700" marB="12700" marL="76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222A33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 marT="12700" marB="12700" marL="76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222A3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T="12700" marB="12700" marL="76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222A33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T="12700" marB="12700" marL="76200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222A33"/>
                          </a:solidFill>
                          <a:latin typeface="Calibri"/>
                        </a:rPr>
                        <a:t>Feb 17</a:t>
                      </a:r>
                    </a:p>
                  </a:txBody>
                  <a:tcPr marT="12700" marB="12700" marL="76200" anchor="ctr">
                    <a:solidFill>
                      <a:srgbClr val="F3F5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222A33"/>
                          </a:solidFill>
                          <a:latin typeface="Calibri"/>
                        </a:rPr>
                        <a:t>Westerville Central</a:t>
                      </a:r>
                    </a:p>
                  </a:txBody>
                  <a:tcPr marT="12700" marB="12700" marL="76200" anchor="ctr">
                    <a:solidFill>
                      <a:srgbClr val="F3F5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222A33"/>
                          </a:solidFill>
                          <a:latin typeface="Calibri"/>
                        </a:rPr>
                        <a:t>W 60-57</a:t>
                      </a:r>
                    </a:p>
                  </a:txBody>
                  <a:tcPr marT="12700" marB="12700" marL="76200" anchor="ctr">
                    <a:solidFill>
                      <a:srgbClr val="F3F5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222A33"/>
                          </a:solidFill>
                          <a:latin typeface="Calibri"/>
                        </a:rPr>
                        <a:t>18</a:t>
                      </a:r>
                    </a:p>
                  </a:txBody>
                  <a:tcPr marT="12700" marB="12700" marL="76200" anchor="ctr">
                    <a:solidFill>
                      <a:srgbClr val="F3F5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222A33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marT="12700" marB="12700" marL="76200" anchor="ctr">
                    <a:solidFill>
                      <a:srgbClr val="F3F5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222A33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T="12700" marB="12700" marL="76200" anchor="ctr">
                    <a:solidFill>
                      <a:srgbClr val="F3F5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222A33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T="12700" marB="12700" marL="76200" anchor="ctr">
                    <a:solidFill>
                      <a:srgbClr val="F3F5F7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571500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6B7682"/>
                </a:solidFill>
                <a:latin typeface="Calibri"/>
              </a:rPr>
              <a:t>Highlight: nineteen points and ten assists at Dublin Jerome, the game that drew college interest.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6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56248"/>
            <a:ext cx="73152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FFFFFF"/>
                </a:solidFill>
                <a:latin typeface="Calibri"/>
              </a:rPr>
              <a:t>Tyler Fields, Recruiting Profile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6556248"/>
            <a:ext cx="35661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C9D2DA"/>
                </a:solidFill>
                <a:latin typeface="Calibri"/>
              </a:rPr>
              <a:t>Private and personal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6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46304"/>
            <a:ext cx="109728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Goals and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59436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sz="1400" b="0">
                <a:solidFill>
                  <a:srgbClr val="222A33"/>
                </a:solidFill>
                <a:latin typeface="Calibri"/>
              </a:rPr>
              <a:t>Keep cumulative grade point average above 3.5</a:t>
            </a:r>
          </a:p>
          <a:p>
            <a:pPr algn="l">
              <a:spcAft>
                <a:spcPts val="1200"/>
              </a:spcAft>
            </a:pPr>
            <a:r>
              <a:rPr sz="1400" b="0">
                <a:solidFill>
                  <a:srgbClr val="222A33"/>
                </a:solidFill>
                <a:latin typeface="Calibri"/>
              </a:rPr>
              <a:t>Attend the October prospect camp</a:t>
            </a:r>
          </a:p>
          <a:p>
            <a:pPr algn="l">
              <a:spcAft>
                <a:spcPts val="1200"/>
              </a:spcAft>
            </a:pPr>
            <a:r>
              <a:rPr sz="1400" b="0">
                <a:solidFill>
                  <a:srgbClr val="222A33"/>
                </a:solidFill>
                <a:latin typeface="Calibri"/>
              </a:rPr>
              <a:t>Add a strength and conditioning block</a:t>
            </a:r>
          </a:p>
          <a:p>
            <a:pPr algn="l">
              <a:spcAft>
                <a:spcPts val="1200"/>
              </a:spcAft>
            </a:pPr>
            <a:r>
              <a:rPr sz="1400" b="0">
                <a:solidFill>
                  <a:srgbClr val="222A33"/>
                </a:solidFill>
                <a:latin typeface="Calibri"/>
              </a:rPr>
              <a:t>Film every home game for recruiters</a:t>
            </a:r>
          </a:p>
          <a:p>
            <a:pPr algn="l">
              <a:spcAft>
                <a:spcPts val="1200"/>
              </a:spcAft>
            </a:pPr>
            <a:r>
              <a:rPr sz="1400" b="0">
                <a:solidFill>
                  <a:srgbClr val="222A33"/>
                </a:solidFill>
                <a:latin typeface="Calibri"/>
              </a:rPr>
              <a:t>Visit two campuses this spring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81328"/>
            <a:ext cx="109728" cy="109728"/>
          </a:xfrm>
          <a:prstGeom prst="rect">
            <a:avLst/>
          </a:prstGeom>
          <a:solidFill>
            <a:srgbClr val="CAA5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970532"/>
            <a:ext cx="109728" cy="109728"/>
          </a:xfrm>
          <a:prstGeom prst="rect">
            <a:avLst/>
          </a:prstGeom>
          <a:solidFill>
            <a:srgbClr val="CAA5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2459736"/>
            <a:ext cx="109728" cy="109728"/>
          </a:xfrm>
          <a:prstGeom prst="rect">
            <a:avLst/>
          </a:prstGeom>
          <a:solidFill>
            <a:srgbClr val="CAA5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2948940"/>
            <a:ext cx="109728" cy="109728"/>
          </a:xfrm>
          <a:prstGeom prst="rect">
            <a:avLst/>
          </a:prstGeom>
          <a:solidFill>
            <a:srgbClr val="CAA5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3438144"/>
            <a:ext cx="109728" cy="109728"/>
          </a:xfrm>
          <a:prstGeom prst="rect">
            <a:avLst/>
          </a:prstGeom>
          <a:solidFill>
            <a:srgbClr val="CAA5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66560" y="1280160"/>
            <a:ext cx="4937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223A"/>
                </a:solidFill>
                <a:latin typeface="Calibri"/>
              </a:rPr>
              <a:t>Family and coaching contacts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766560" y="1737360"/>
          <a:ext cx="4937758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19310"/>
                <a:gridCol w="1709224"/>
                <a:gridCol w="1709224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Contact</a:t>
                      </a:r>
                    </a:p>
                  </a:txBody>
                  <a:tcPr marT="25400" marB="25400" marL="76200">
                    <a:solidFill>
                      <a:srgbClr val="1622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Role</a:t>
                      </a:r>
                    </a:p>
                  </a:txBody>
                  <a:tcPr marT="25400" marB="25400" marL="76200">
                    <a:solidFill>
                      <a:srgbClr val="1622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Reach</a:t>
                      </a:r>
                    </a:p>
                  </a:txBody>
                  <a:tcPr marT="25400" marB="25400" marL="76200">
                    <a:solidFill>
                      <a:srgbClr val="16223A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222A33"/>
                          </a:solidFill>
                          <a:latin typeface="Calibri"/>
                        </a:rPr>
                        <a:t>Joseph Fields</a:t>
                      </a:r>
                    </a:p>
                  </a:txBody>
                  <a:tcPr marT="12700" marB="12700" marL="76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222A33"/>
                          </a:solidFill>
                          <a:latin typeface="Calibri"/>
                        </a:rPr>
                        <a:t>Father, guardian</a:t>
                      </a:r>
                    </a:p>
                  </a:txBody>
                  <a:tcPr marT="12700" marB="12700" marL="76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222A33"/>
                          </a:solidFill>
                          <a:latin typeface="Calibri"/>
                        </a:rPr>
                        <a:t>Text first</a:t>
                      </a:r>
                    </a:p>
                  </a:txBody>
                  <a:tcPr marT="12700" marB="12700" marL="7620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222A33"/>
                          </a:solidFill>
                          <a:latin typeface="Calibri"/>
                        </a:rPr>
                        <a:t>Dave Peterson</a:t>
                      </a:r>
                    </a:p>
                  </a:txBody>
                  <a:tcPr marT="12700" marB="12700" marL="76200" anchor="ctr">
                    <a:solidFill>
                      <a:srgbClr val="F3F5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222A33"/>
                          </a:solidFill>
                          <a:latin typeface="Calibri"/>
                        </a:rPr>
                        <a:t>Head coach</a:t>
                      </a:r>
                    </a:p>
                  </a:txBody>
                  <a:tcPr marT="12700" marB="12700" marL="76200" anchor="ctr">
                    <a:solidFill>
                      <a:srgbClr val="F3F5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222A33"/>
                          </a:solidFill>
                          <a:latin typeface="Calibri"/>
                        </a:rPr>
                        <a:t>Ridgewood Academy</a:t>
                      </a:r>
                    </a:p>
                  </a:txBody>
                  <a:tcPr marT="12700" marB="12700" marL="76200" anchor="ctr">
                    <a:solidFill>
                      <a:srgbClr val="F3F5F7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222A33"/>
                          </a:solidFill>
                          <a:latin typeface="Calibri"/>
                        </a:rPr>
                        <a:t>Megan Fields</a:t>
                      </a:r>
                    </a:p>
                  </a:txBody>
                  <a:tcPr marT="12700" marB="12700" marL="76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222A33"/>
                          </a:solidFill>
                          <a:latin typeface="Calibri"/>
                        </a:rPr>
                        <a:t>Guardian</a:t>
                      </a:r>
                    </a:p>
                  </a:txBody>
                  <a:tcPr marT="12700" marB="12700" marL="76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222A33"/>
                          </a:solidFill>
                          <a:latin typeface="Calibri"/>
                        </a:rPr>
                        <a:t>Co-parent</a:t>
                      </a:r>
                    </a:p>
                  </a:txBody>
                  <a:tcPr marT="12700" marB="12700" marL="762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6766560" y="3749039"/>
            <a:ext cx="49377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7682"/>
                </a:solidFill>
                <a:latin typeface="Calibri"/>
              </a:rPr>
              <a:t>Schedule, transcripts, and game film available on request.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6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6556248"/>
            <a:ext cx="73152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FFFFFF"/>
                </a:solidFill>
                <a:latin typeface="Calibri"/>
              </a:rPr>
              <a:t>Tyler Fields, Recruiting Profile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6556248"/>
            <a:ext cx="35661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C9D2DA"/>
                </a:solidFill>
                <a:latin typeface="Calibri"/>
              </a:rPr>
              <a:t>Private and personal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