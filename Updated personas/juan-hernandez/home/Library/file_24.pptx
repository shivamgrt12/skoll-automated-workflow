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rden.jpg"/>
          <p:cNvPicPr>
            <a:picLocks noChangeAspect="1"/>
          </p:cNvPicPr>
          <p:nvPr/>
        </p:nvPicPr>
        <p:blipFill>
          <a:blip r:embed="rId2"/>
          <a:srcRect l="21733" r="21733"/>
          <a:stretch>
            <a:fillRect/>
          </a:stretch>
        </p:blipFill>
        <p:spPr>
          <a:xfrm>
            <a:off x="0" y="0"/>
            <a:ext cx="5852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2331720"/>
            <a:ext cx="640080" cy="73152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FB4C8"/>
                </a:solidFill>
                <a:latin typeface="Calibri"/>
              </a:rPr>
              <a:t>A PUBLIC LECTURE, BAYVIEW COMMUNITY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6032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The Civilian Conservation Corps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7548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DD8E2"/>
                </a:solidFill>
                <a:latin typeface="Calibri"/>
              </a:rPr>
              <a:t>And the roots of federal environmental stewardship. Juan Hernandez, October 22,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4241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 b="1">
                <a:solidFill>
                  <a:srgbClr val="5B8C5A"/>
                </a:solidFill>
                <a:latin typeface="Calibri"/>
              </a:rPr>
              <a:t>•  </a:t>
            </a:r>
            <a:r>
              <a:rPr sz="1900">
                <a:solidFill>
                  <a:srgbClr val="1F2A36"/>
                </a:solidFill>
                <a:latin typeface="Calibri"/>
              </a:rPr>
              <a:t>The country in 1933, and why conservation had no backbone.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 b="1">
                <a:solidFill>
                  <a:srgbClr val="5B8C5A"/>
                </a:solidFill>
                <a:latin typeface="Calibri"/>
              </a:rPr>
              <a:t>•  </a:t>
            </a:r>
            <a:r>
              <a:rPr sz="1900">
                <a:solidFill>
                  <a:srgbClr val="1F2A36"/>
                </a:solidFill>
                <a:latin typeface="Calibri"/>
              </a:rPr>
              <a:t>What the Corps actually built across the land.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 b="1">
                <a:solidFill>
                  <a:srgbClr val="5B8C5A"/>
                </a:solidFill>
                <a:latin typeface="Calibri"/>
              </a:rPr>
              <a:t>•  </a:t>
            </a:r>
            <a:r>
              <a:rPr sz="1900">
                <a:solidFill>
                  <a:srgbClr val="1F2A36"/>
                </a:solidFill>
                <a:latin typeface="Calibri"/>
              </a:rPr>
              <a:t>By the numbers, the scale of the effort.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 b="1">
                <a:solidFill>
                  <a:srgbClr val="5B8C5A"/>
                </a:solidFill>
                <a:latin typeface="Calibri"/>
              </a:rPr>
              <a:t>•  </a:t>
            </a:r>
            <a:r>
              <a:rPr sz="1900">
                <a:solidFill>
                  <a:srgbClr val="1F2A36"/>
                </a:solidFill>
                <a:latin typeface="Calibri"/>
              </a:rPr>
              <a:t>The institutions it left behind.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 b="1">
                <a:solidFill>
                  <a:srgbClr val="5B8C5A"/>
                </a:solidFill>
                <a:latin typeface="Calibri"/>
              </a:rPr>
              <a:t>•  </a:t>
            </a:r>
            <a:r>
              <a:rPr sz="1900">
                <a:solidFill>
                  <a:srgbClr val="1F2A36"/>
                </a:solidFill>
                <a:latin typeface="Calibri"/>
              </a:rPr>
              <a:t>From a 1930s planting crew to present climate policy.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900" b="1">
                <a:solidFill>
                  <a:srgbClr val="5B8C5A"/>
                </a:solidFill>
                <a:latin typeface="Calibri"/>
              </a:rPr>
              <a:t>•  </a:t>
            </a:r>
            <a:r>
              <a:rPr sz="1900">
                <a:solidFill>
                  <a:srgbClr val="1F2A36"/>
                </a:solidFill>
                <a:latin typeface="Calibri"/>
              </a:rPr>
              <a:t>Questions and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The Civilian Conservation Corps  -  a public lecture by Juan Hernandez.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k.jpg"/>
          <p:cNvPicPr>
            <a:picLocks noChangeAspect="1"/>
          </p:cNvPicPr>
          <p:nvPr/>
        </p:nvPicPr>
        <p:blipFill>
          <a:blip r:embed="rId2"/>
          <a:srcRect t="28980" b="289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0843F"/>
                </a:solidFill>
                <a:latin typeface="Calibri"/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The problem in 1933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The Corps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554480"/>
          <a:ext cx="6766559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2418"/>
                <a:gridCol w="3274141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6"/>
                          </a:solidFill>
                          <a:latin typeface="Calibri"/>
                        </a:rPr>
                        <a:t>Years in operation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A36"/>
                          </a:solidFill>
                          <a:latin typeface="Calibri"/>
                        </a:rPr>
                        <a:t>1933 to 1942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6"/>
                          </a:solidFill>
                          <a:latin typeface="Calibri"/>
                        </a:rPr>
                        <a:t>Young men enrolled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A36"/>
                          </a:solidFill>
                          <a:latin typeface="Calibri"/>
                        </a:rPr>
                        <a:t>About 3 million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6"/>
                          </a:solidFill>
                          <a:latin typeface="Calibri"/>
                        </a:rPr>
                        <a:t>Camps at the peak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A36"/>
                          </a:solidFill>
                          <a:latin typeface="Calibri"/>
                        </a:rPr>
                        <a:t>About 4,500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6"/>
                          </a:solidFill>
                          <a:latin typeface="Calibri"/>
                        </a:rPr>
                        <a:t>Trees planted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A36"/>
                          </a:solidFill>
                          <a:latin typeface="Calibri"/>
                        </a:rPr>
                        <a:t>About 3 billion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A36"/>
                          </a:solidFill>
                          <a:latin typeface="Calibri"/>
                        </a:rPr>
                        <a:t>Monthly pay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A36"/>
                          </a:solidFill>
                          <a:latin typeface="Calibri"/>
                        </a:rPr>
                        <a:t>$30, with $25 sent home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79" y="164592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6202C"/>
                </a:solidFill>
                <a:latin typeface="Georgia"/>
              </a:rPr>
              <a:t>Relief and conservation, at the same time.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F2A36"/>
                </a:solidFill>
                <a:latin typeface="Calibri"/>
              </a:rPr>
              <a:t>A quarter of the workforce was idle. The Corps put young men to work on the land and sent most of their wages home to families.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Figures are rounded. Source, standard New Deal program histories.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From a planting crew to a public 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554480"/>
          <a:ext cx="10424160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080"/>
                <a:gridCol w="521208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the Corps started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it became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Coordinated tree planting and erosion control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A standing federal role in land management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Survey and mapping field work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Durable scientific capacity inside the agencies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Trails, fire towers, and park infrastructure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A park system the public still uses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The idea that stewardship is public work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The bureaus I worked in for thirty five years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" y="53949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5A6B7B"/>
                </a:solidFill>
                <a:latin typeface="Calibri"/>
              </a:rPr>
              <a:t>The line from the 1930s to a modern land management plan is shorter than people assume.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The institutions it left behind.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s.jpg"/>
          <p:cNvPicPr>
            <a:picLocks noChangeAspect="1"/>
          </p:cNvPicPr>
          <p:nvPr/>
        </p:nvPicPr>
        <p:blipFill>
          <a:blip r:embed="rId2"/>
          <a:srcRect t="7864" b="786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Corps is not a museum piece.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DD8E2"/>
                </a:solidFill>
                <a:latin typeface="Calibri"/>
              </a:rPr>
              <a:t>Thank you. I look forward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