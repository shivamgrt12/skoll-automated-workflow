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s.jpg"/>
          <p:cNvPicPr>
            <a:picLocks noChangeAspect="1"/>
          </p:cNvPicPr>
          <p:nvPr/>
        </p:nvPicPr>
        <p:blipFill>
          <a:blip r:embed="rId2"/>
          <a:srcRect l="21520" r="21520"/>
          <a:stretch>
            <a:fillRect/>
          </a:stretch>
        </p:blipFill>
        <p:spPr>
          <a:xfrm>
            <a:off x="0" y="0"/>
            <a:ext cx="58521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2331720"/>
            <a:ext cx="640080" cy="73152"/>
          </a:xfrm>
          <a:prstGeom prst="rect">
            <a:avLst/>
          </a:prstGeom>
          <a:solidFill>
            <a:srgbClr val="B0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FB4C8"/>
                </a:solidFill>
                <a:latin typeface="Calibri"/>
              </a:rPr>
              <a:t>AN OVERNIGHT HISTORY 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60320"/>
            <a:ext cx="5486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Gettysburg with Emma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7548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DD8E2"/>
                </a:solidFill>
                <a:latin typeface="Calibri"/>
              </a:rPr>
              <a:t>Saturday October 24 to Sunday October 25,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B0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The shape of the weekend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58521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B0843F"/>
                </a:solidFill>
                <a:latin typeface="Calibri"/>
              </a:rPr>
              <a:t>•  </a:t>
            </a:r>
            <a:r>
              <a:rPr sz="1700">
                <a:solidFill>
                  <a:srgbClr val="1F2A36"/>
                </a:solidFill>
                <a:latin typeface="Calibri"/>
              </a:rPr>
              <a:t>Two and a half hours of driving each way from Annapolis.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B0843F"/>
                </a:solidFill>
                <a:latin typeface="Calibri"/>
              </a:rPr>
              <a:t>•  </a:t>
            </a:r>
            <a:r>
              <a:rPr sz="1700">
                <a:solidFill>
                  <a:srgbClr val="1F2A36"/>
                </a:solidFill>
                <a:latin typeface="Calibri"/>
              </a:rPr>
              <a:t>One guided battlefield tour, taken at an easy pace.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B0843F"/>
                </a:solidFill>
                <a:latin typeface="Calibri"/>
              </a:rPr>
              <a:t>•  </a:t>
            </a:r>
            <a:r>
              <a:rPr sz="1700">
                <a:solidFill>
                  <a:srgbClr val="1F2A36"/>
                </a:solidFill>
                <a:latin typeface="Calibri"/>
              </a:rPr>
              <a:t>A quiet dinner and an early night at an inn near the square.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B0843F"/>
                </a:solidFill>
                <a:latin typeface="Calibri"/>
              </a:rPr>
              <a:t>•  </a:t>
            </a:r>
            <a:r>
              <a:rPr sz="1700">
                <a:solidFill>
                  <a:srgbClr val="1F2A36"/>
                </a:solidFill>
                <a:latin typeface="Calibri"/>
              </a:rPr>
              <a:t>A museum visit Sunday morning, then the drive home.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B0843F"/>
                </a:solidFill>
                <a:latin typeface="Calibri"/>
              </a:rPr>
              <a:t>•  </a:t>
            </a:r>
            <a:r>
              <a:rPr sz="1700">
                <a:solidFill>
                  <a:srgbClr val="1F2A36"/>
                </a:solidFill>
                <a:latin typeface="Calibri"/>
              </a:rPr>
              <a:t>Emma is reading the battlefield chapters before we go.</a:t>
            </a:r>
          </a:p>
        </p:txBody>
      </p:sp>
      <p:pic>
        <p:nvPicPr>
          <p:cNvPr id="8" name="Picture 7" descr="dock.jpg"/>
          <p:cNvPicPr>
            <a:picLocks noChangeAspect="1"/>
          </p:cNvPicPr>
          <p:nvPr/>
        </p:nvPicPr>
        <p:blipFill>
          <a:blip r:embed="rId2"/>
          <a:srcRect t="15017" b="15017"/>
          <a:stretch>
            <a:fillRect/>
          </a:stretch>
        </p:blipFill>
        <p:spPr>
          <a:xfrm>
            <a:off x="7132320" y="1417320"/>
            <a:ext cx="4297680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Gettysburg with Emma  -  October 24 to 25,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B0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Saturday and Sunday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6112" y="1371600"/>
          <a:ext cx="10515600" cy="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9052560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109728" marR="91440" marT="54864" marB="54864" anchor="ctr"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Saturday, October 24</a:t>
                      </a:r>
                    </a:p>
                  </a:txBody>
                  <a:tcPr marL="109728" marR="91440" marT="54864" marB="54864" anchor="ctr">
                    <a:solidFill>
                      <a:srgbClr val="1620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7:30 AM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Leave home. Coffee packed, inhaler taken.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11:00 AM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Licensed battlefield guide tour, about two hours.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3:00 PM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Little Round Top and the Pennsylvania Memorial, slow pace.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7:00 PM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Dinner near the square, early night.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96112" y="3977639"/>
          <a:ext cx="10515600" cy="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9052560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109728" marR="91440" marT="54864" marB="54864" anchor="ctr">
                    <a:solidFill>
                      <a:srgbClr val="B084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Sunday, October 25</a:t>
                      </a:r>
                    </a:p>
                  </a:txBody>
                  <a:tcPr marL="109728" marR="91440" marT="54864" marB="54864" anchor="ctr">
                    <a:solidFill>
                      <a:srgbClr val="B084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9:30 AM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Museum, visitor center, and the cyclorama.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11:30 AM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Bookshop. Emma picks the next title for the reading pact.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Lunch, then the drive home, arriving mid afternoon.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An easy pace, with frequent rests on the field.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118872" cy="457200"/>
          </a:xfrm>
          <a:prstGeom prst="rect">
            <a:avLst/>
          </a:prstGeom>
          <a:solidFill>
            <a:srgbClr val="B0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29184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202C"/>
                </a:solidFill>
                <a:latin typeface="Georgia"/>
              </a:rPr>
              <a:t>What to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29184"/>
            <a:ext cx="914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FD8E0"/>
                </a:solidFill>
                <a:latin typeface="Georgia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024128"/>
            <a:ext cx="10607040" cy="177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6112" y="1554480"/>
          <a:ext cx="10515600" cy="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59436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09728" marR="91440" marT="54864" marB="54864" anchor="ctr"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9728" marR="91440" marT="54864" marB="54864" anchor="ctr"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109728" marR="91440" marT="54864" marB="54864" anchor="ctr">
                    <a:solidFill>
                      <a:srgbClr val="1620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Rescue inhaler, front pocket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Packed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Allopurinol for Saturday evening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Packed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Two water bottles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To pack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Emma's battlefield chapters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She is reading ahead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Car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Fuel up and check tire pressure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Friday afternoon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A36"/>
                          </a:solidFill>
                          <a:latin typeface="Calibri"/>
                        </a:rPr>
                        <a:t>Comfort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Layers and a light rain jacket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2A36"/>
                          </a:solidFill>
                          <a:latin typeface="Calibri"/>
                        </a:rPr>
                        <a:t>To pack</a:t>
                      </a:r>
                    </a:p>
                  </a:txBody>
                  <a:tcPr marL="109728" marR="91440" marT="45720" marB="45720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6112" y="64190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Health items first, then reading, then the 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ck.jpg"/>
          <p:cNvPicPr>
            <a:picLocks noChangeAspect="1"/>
          </p:cNvPicPr>
          <p:nvPr/>
        </p:nvPicPr>
        <p:blipFill>
          <a:blip r:embed="rId2"/>
          <a:srcRect t="28980" b="2898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389120"/>
            <a:ext cx="12191695" cy="2468880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The point of the 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DD8E2"/>
                </a:solidFill>
                <a:latin typeface="Calibri"/>
              </a:rPr>
              <a:t>The conversation as much as the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