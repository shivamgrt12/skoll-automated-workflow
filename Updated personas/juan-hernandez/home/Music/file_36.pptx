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Winter</c:v>
                </c:pt>
              </c:strCache>
            </c:strRef>
          </c:tx>
          <c:spPr>
            <a:solidFill>
              <a:srgbClr val="9FC0E0"/>
            </a:solidFill>
          </c:spPr>
          <c:cat>
            <c:strRef>
              <c:f>Sheet1!$A$2:$A$7</c:f>
              <c:strCache>
                <c:ptCount val="6"/>
                <c:pt idx="0">
                  <c:v>Goldfinch</c:v>
                </c:pt>
                <c:pt idx="1">
                  <c:v>Cardinal</c:v>
                </c:pt>
                <c:pt idx="2">
                  <c:v>Dove</c:v>
                </c:pt>
                <c:pt idx="3">
                  <c:v>House finch</c:v>
                </c:pt>
                <c:pt idx="4">
                  <c:v>Chickadee</c:v>
                </c:pt>
                <c:pt idx="5">
                  <c:v>Blue jay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</c:v>
                </c:pt>
                <c:pt idx="1">
                  <c:v>4</c:v>
                </c:pt>
                <c:pt idx="2">
                  <c:v>5</c:v>
                </c:pt>
                <c:pt idx="3">
                  <c:v>4</c:v>
                </c:pt>
                <c:pt idx="4">
                  <c:v>3</c:v>
                </c:pt>
                <c:pt idx="5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Spring</c:v>
                </c:pt>
              </c:strCache>
            </c:strRef>
          </c:tx>
          <c:spPr>
            <a:solidFill>
              <a:srgbClr val="6F93B8"/>
            </a:solidFill>
          </c:spPr>
          <c:cat>
            <c:strRef>
              <c:f>Sheet1!$A$2:$A$7</c:f>
              <c:strCache>
                <c:ptCount val="6"/>
                <c:pt idx="0">
                  <c:v>Goldfinch</c:v>
                </c:pt>
                <c:pt idx="1">
                  <c:v>Cardinal</c:v>
                </c:pt>
                <c:pt idx="2">
                  <c:v>Dove</c:v>
                </c:pt>
                <c:pt idx="3">
                  <c:v>House finch</c:v>
                </c:pt>
                <c:pt idx="4">
                  <c:v>Chickadee</c:v>
                </c:pt>
                <c:pt idx="5">
                  <c:v>Blue jay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</c:v>
                </c:pt>
                <c:pt idx="1">
                  <c:v>6</c:v>
                </c:pt>
                <c:pt idx="2">
                  <c:v>4</c:v>
                </c:pt>
                <c:pt idx="3">
                  <c:v>5</c:v>
                </c:pt>
                <c:pt idx="4">
                  <c:v>4</c:v>
                </c:pt>
                <c:pt idx="5">
                  <c:v>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Summer</c:v>
                </c:pt>
              </c:strCache>
            </c:strRef>
          </c:tx>
          <c:spPr>
            <a:solidFill>
              <a:srgbClr val="3D5A80"/>
            </a:solidFill>
          </c:spPr>
          <c:cat>
            <c:strRef>
              <c:f>Sheet1!$A$2:$A$7</c:f>
              <c:strCache>
                <c:ptCount val="6"/>
                <c:pt idx="0">
                  <c:v>Goldfinch</c:v>
                </c:pt>
                <c:pt idx="1">
                  <c:v>Cardinal</c:v>
                </c:pt>
                <c:pt idx="2">
                  <c:v>Dove</c:v>
                </c:pt>
                <c:pt idx="3">
                  <c:v>House finch</c:v>
                </c:pt>
                <c:pt idx="4">
                  <c:v>Chickadee</c:v>
                </c:pt>
                <c:pt idx="5">
                  <c:v>Blue jay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4</c:v>
                </c:pt>
                <c:pt idx="1">
                  <c:v>5</c:v>
                </c:pt>
                <c:pt idx="2">
                  <c:v>4</c:v>
                </c:pt>
                <c:pt idx="3">
                  <c:v>3</c:v>
                </c:pt>
                <c:pt idx="4">
                  <c:v>4</c:v>
                </c:pt>
                <c:pt idx="5">
                  <c:v>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Fall</c:v>
                </c:pt>
              </c:strCache>
            </c:strRef>
          </c:tx>
          <c:spPr>
            <a:solidFill>
              <a:srgbClr val="16202C"/>
            </a:solidFill>
          </c:spPr>
          <c:cat>
            <c:strRef>
              <c:f>Sheet1!$A$2:$A$7</c:f>
              <c:strCache>
                <c:ptCount val="6"/>
                <c:pt idx="0">
                  <c:v>Goldfinch</c:v>
                </c:pt>
                <c:pt idx="1">
                  <c:v>Cardinal</c:v>
                </c:pt>
                <c:pt idx="2">
                  <c:v>Dove</c:v>
                </c:pt>
                <c:pt idx="3">
                  <c:v>House finch</c:v>
                </c:pt>
                <c:pt idx="4">
                  <c:v>Chickadee</c:v>
                </c:pt>
                <c:pt idx="5">
                  <c:v>Blue jay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7</c:v>
                </c:pt>
                <c:pt idx="1">
                  <c:v>5</c:v>
                </c:pt>
                <c:pt idx="2">
                  <c:v>6</c:v>
                </c:pt>
                <c:pt idx="3">
                  <c:v>4</c:v>
                </c:pt>
                <c:pt idx="4">
                  <c:v>3</c:v>
                </c:pt>
                <c:pt idx="5">
                  <c:v>4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EF1F5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inal.jpg"/>
          <p:cNvPicPr>
            <a:picLocks noChangeAspect="1"/>
          </p:cNvPicPr>
          <p:nvPr/>
        </p:nvPicPr>
        <p:blipFill>
          <a:blip r:embed="rId2"/>
          <a:srcRect l="21547" r="21547"/>
          <a:stretch>
            <a:fillRect/>
          </a:stretch>
        </p:blipFill>
        <p:spPr>
          <a:xfrm>
            <a:off x="0" y="0"/>
            <a:ext cx="585216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52160" y="0"/>
            <a:ext cx="6339535" cy="6858000"/>
          </a:xfrm>
          <a:prstGeom prst="rect">
            <a:avLst/>
          </a:prstGeom>
          <a:solidFill>
            <a:srgbClr val="16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309360" y="2331720"/>
            <a:ext cx="640080" cy="73152"/>
          </a:xfrm>
          <a:prstGeom prst="rect">
            <a:avLst/>
          </a:prstGeom>
          <a:solidFill>
            <a:srgbClr val="B0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9360" y="155448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9FB4C8"/>
                </a:solidFill>
                <a:latin typeface="Calibri"/>
              </a:rPr>
              <a:t>A CASUAL SPECIES LOG,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560320"/>
            <a:ext cx="54864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Georgia"/>
              </a:rPr>
              <a:t>A Year at the Backyard Feeder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4754880"/>
            <a:ext cx="5486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CDD8E2"/>
                </a:solidFill>
                <a:latin typeface="Calibri"/>
              </a:rPr>
              <a:t>Counting the regulars at 327 Munroe Court. Juan Hernandez.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118872" cy="457200"/>
          </a:xfrm>
          <a:prstGeom prst="rect">
            <a:avLst/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29184"/>
            <a:ext cx="9601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16202C"/>
                </a:solidFill>
                <a:latin typeface="Georgia"/>
              </a:rPr>
              <a:t>The feeder and the yard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329184"/>
            <a:ext cx="914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CFD8E0"/>
                </a:solidFill>
                <a:latin typeface="Georgia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1024128"/>
            <a:ext cx="10607040" cy="1778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417320"/>
            <a:ext cx="59436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1">
                <a:solidFill>
                  <a:srgbClr val="5B8C5A"/>
                </a:solidFill>
                <a:latin typeface="Calibri"/>
              </a:rPr>
              <a:t>•  </a:t>
            </a:r>
            <a:r>
              <a:rPr sz="1800">
                <a:solidFill>
                  <a:srgbClr val="1F2A36"/>
                </a:solidFill>
                <a:latin typeface="Calibri"/>
              </a:rPr>
              <a:t>One mature oak, the old garden beds, and three feeders.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1">
                <a:solidFill>
                  <a:srgbClr val="5B8C5A"/>
                </a:solidFill>
                <a:latin typeface="Calibri"/>
              </a:rPr>
              <a:t>•  </a:t>
            </a:r>
            <a:r>
              <a:rPr sz="1800">
                <a:solidFill>
                  <a:srgbClr val="1F2A36"/>
                </a:solidFill>
                <a:latin typeface="Calibri"/>
              </a:rPr>
              <a:t>A platform, a tube for sunflower and thistle, and a suet cage.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1">
                <a:solidFill>
                  <a:srgbClr val="5B8C5A"/>
                </a:solidFill>
                <a:latin typeface="Calibri"/>
              </a:rPr>
              <a:t>•  </a:t>
            </a:r>
            <a:r>
              <a:rPr sz="1800">
                <a:solidFill>
                  <a:srgbClr val="1F2A36"/>
                </a:solidFill>
                <a:latin typeface="Calibri"/>
              </a:rPr>
              <a:t>Ten species turn up reliably across the year.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1">
                <a:solidFill>
                  <a:srgbClr val="5B8C5A"/>
                </a:solidFill>
                <a:latin typeface="Calibri"/>
              </a:rPr>
              <a:t>•  </a:t>
            </a:r>
            <a:r>
              <a:rPr sz="1800">
                <a:solidFill>
                  <a:srgbClr val="1F2A36"/>
                </a:solidFill>
                <a:latin typeface="Calibri"/>
              </a:rPr>
              <a:t>Goldfinches peak in spring at the thistle.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1">
                <a:solidFill>
                  <a:srgbClr val="5B8C5A"/>
                </a:solidFill>
                <a:latin typeface="Calibri"/>
              </a:rPr>
              <a:t>•  </a:t>
            </a:r>
            <a:r>
              <a:rPr sz="1800">
                <a:solidFill>
                  <a:srgbClr val="1F2A36"/>
                </a:solidFill>
                <a:latin typeface="Calibri"/>
              </a:rPr>
              <a:t>The first Carolina wren nested in the shed this year.</a:t>
            </a:r>
          </a:p>
        </p:txBody>
      </p:sp>
      <p:pic>
        <p:nvPicPr>
          <p:cNvPr id="8" name="Picture 7" descr="chickadee.jpg"/>
          <p:cNvPicPr>
            <a:picLocks noChangeAspect="1"/>
          </p:cNvPicPr>
          <p:nvPr/>
        </p:nvPicPr>
        <p:blipFill>
          <a:blip r:embed="rId2"/>
          <a:srcRect l="19957" r="19957"/>
          <a:stretch>
            <a:fillRect/>
          </a:stretch>
        </p:blipFill>
        <p:spPr>
          <a:xfrm>
            <a:off x="7132320" y="1417320"/>
            <a:ext cx="4297680" cy="4023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0" y="548640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5A6B7B"/>
                </a:solidFill>
                <a:latin typeface="Calibri"/>
              </a:rPr>
              <a:t>A Carolina chickadee at the rail.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6419088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A6B7B"/>
                </a:solidFill>
                <a:latin typeface="Calibri"/>
              </a:rPr>
              <a:t>A year at the backyard feeder  -  327 Munroe Court, Annapolis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118872" cy="457200"/>
          </a:xfrm>
          <a:prstGeom prst="rect">
            <a:avLst/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29184"/>
            <a:ext cx="9601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16202C"/>
                </a:solidFill>
                <a:latin typeface="Georgia"/>
              </a:rPr>
              <a:t>Peak counts by season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329184"/>
            <a:ext cx="914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CFD8E0"/>
                </a:solidFill>
                <a:latin typeface="Georgia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1024128"/>
            <a:ext cx="10607040" cy="1778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96112" y="1417320"/>
          <a:ext cx="105156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96112" y="6419088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A6B7B"/>
                </a:solidFill>
                <a:latin typeface="Calibri"/>
              </a:rPr>
              <a:t>Counts are the season high for each species at the feeders.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118872" cy="457200"/>
          </a:xfrm>
          <a:prstGeom prst="rect">
            <a:avLst/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29184"/>
            <a:ext cx="9601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16202C"/>
                </a:solidFill>
                <a:latin typeface="Georgia"/>
              </a:rPr>
              <a:t>The regulars,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329184"/>
            <a:ext cx="914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CFD8E0"/>
                </a:solidFill>
                <a:latin typeface="Georgia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1024128"/>
            <a:ext cx="10607040" cy="1778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96112" y="1463040"/>
          <a:ext cx="10515598" cy="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12781"/>
                <a:gridCol w="1222744"/>
                <a:gridCol w="1222744"/>
                <a:gridCol w="1222744"/>
                <a:gridCol w="1222744"/>
                <a:gridCol w="1711841"/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Species</a:t>
                      </a:r>
                    </a:p>
                  </a:txBody>
                  <a:tcPr marL="109728" marR="91440" marT="54864" marB="54864" anchor="ctr">
                    <a:solidFill>
                      <a:srgbClr val="5B8C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Winter</a:t>
                      </a:r>
                    </a:p>
                  </a:txBody>
                  <a:tcPr marL="109728" marR="91440" marT="54864" marB="54864" anchor="ctr">
                    <a:solidFill>
                      <a:srgbClr val="5B8C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Spring</a:t>
                      </a:r>
                    </a:p>
                  </a:txBody>
                  <a:tcPr marL="109728" marR="91440" marT="54864" marB="54864" anchor="ctr">
                    <a:solidFill>
                      <a:srgbClr val="5B8C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Summer</a:t>
                      </a:r>
                    </a:p>
                  </a:txBody>
                  <a:tcPr marL="109728" marR="91440" marT="54864" marB="54864" anchor="ctr">
                    <a:solidFill>
                      <a:srgbClr val="5B8C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Fall</a:t>
                      </a:r>
                    </a:p>
                  </a:txBody>
                  <a:tcPr marL="109728" marR="91440" marT="54864" marB="54864" anchor="ctr">
                    <a:solidFill>
                      <a:srgbClr val="5B8C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Year high</a:t>
                      </a:r>
                    </a:p>
                  </a:txBody>
                  <a:tcPr marL="109728" marR="91440" marT="54864" marB="54864" anchor="ctr">
                    <a:solidFill>
                      <a:srgbClr val="5B8C5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A36"/>
                          </a:solidFill>
                          <a:latin typeface="Calibri"/>
                        </a:rPr>
                        <a:t>American goldfinch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2A3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2A3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2A3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2A3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2A3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A36"/>
                          </a:solidFill>
                          <a:latin typeface="Calibri"/>
                        </a:rPr>
                        <a:t>Northern cardinal</a:t>
                      </a:r>
                    </a:p>
                  </a:txBody>
                  <a:tcPr marL="109728" marR="91440" marT="45720" marB="4572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2A3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109728" marR="91440" marT="45720" marB="4572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2A3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109728" marR="91440" marT="45720" marB="4572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2A3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109728" marR="91440" marT="45720" marB="4572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2A3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109728" marR="91440" marT="45720" marB="4572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2A3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109728" marR="91440" marT="45720" marB="45720" anchor="ctr">
                    <a:solidFill>
                      <a:srgbClr val="F4F6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A36"/>
                          </a:solidFill>
                          <a:latin typeface="Calibri"/>
                        </a:rPr>
                        <a:t>Mourning dove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2A3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2A3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2A3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2A3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2A3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A36"/>
                          </a:solidFill>
                          <a:latin typeface="Calibri"/>
                        </a:rPr>
                        <a:t>House finch</a:t>
                      </a:r>
                    </a:p>
                  </a:txBody>
                  <a:tcPr marL="109728" marR="91440" marT="45720" marB="4572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2A3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109728" marR="91440" marT="45720" marB="4572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2A3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109728" marR="91440" marT="45720" marB="4572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2A3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09728" marR="91440" marT="45720" marB="4572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2A3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109728" marR="91440" marT="45720" marB="4572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2A3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109728" marR="91440" marT="45720" marB="45720" anchor="ctr">
                    <a:solidFill>
                      <a:srgbClr val="F4F6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A36"/>
                          </a:solidFill>
                          <a:latin typeface="Calibri"/>
                        </a:rPr>
                        <a:t>Carolina chickadee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2A3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2A3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2A3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2A3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2A3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A36"/>
                          </a:solidFill>
                          <a:latin typeface="Calibri"/>
                        </a:rPr>
                        <a:t>Blue jay</a:t>
                      </a:r>
                    </a:p>
                  </a:txBody>
                  <a:tcPr marL="109728" marR="91440" marT="45720" marB="4572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2A3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09728" marR="91440" marT="45720" marB="4572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2A3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09728" marR="91440" marT="45720" marB="4572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2A3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09728" marR="91440" marT="45720" marB="4572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2A3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109728" marR="91440" marT="45720" marB="4572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2A3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109728" marR="91440" marT="45720" marB="45720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96112" y="53949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5A6B7B"/>
                </a:solidFill>
                <a:latin typeface="Calibri"/>
              </a:rPr>
              <a:t>Ten distinct species logged across the year. Full running list kept in my records app.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6419088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A6B7B"/>
                </a:solidFill>
                <a:latin typeface="Calibri"/>
              </a:rPr>
              <a:t>A year at the backyard feeder  -  327 Munroe Court, Annapolis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118872" cy="457200"/>
          </a:xfrm>
          <a:prstGeom prst="rect">
            <a:avLst/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29184"/>
            <a:ext cx="9601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16202C"/>
                </a:solidFill>
                <a:latin typeface="Georgia"/>
              </a:rPr>
              <a:t>Notes for next year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329184"/>
            <a:ext cx="914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CFD8E0"/>
                </a:solidFill>
                <a:latin typeface="Georgia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1024128"/>
            <a:ext cx="10607040" cy="1778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417320"/>
            <a:ext cx="585216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1">
                <a:solidFill>
                  <a:srgbClr val="5B8C5A"/>
                </a:solidFill>
                <a:latin typeface="Calibri"/>
              </a:rPr>
              <a:t>•  </a:t>
            </a:r>
            <a:r>
              <a:rPr sz="1800">
                <a:solidFill>
                  <a:srgbClr val="1F2A36"/>
                </a:solidFill>
                <a:latin typeface="Calibri"/>
              </a:rPr>
              <a:t>Add a second thistle feeder for the spring goldfinch rush.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1">
                <a:solidFill>
                  <a:srgbClr val="5B8C5A"/>
                </a:solidFill>
                <a:latin typeface="Calibri"/>
              </a:rPr>
              <a:t>•  </a:t>
            </a:r>
            <a:r>
              <a:rPr sz="1800">
                <a:solidFill>
                  <a:srgbClr val="1F2A36"/>
                </a:solidFill>
                <a:latin typeface="Calibri"/>
              </a:rPr>
              <a:t>Move the suet higher on the oak after the jays cleared it out.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1">
                <a:solidFill>
                  <a:srgbClr val="5B8C5A"/>
                </a:solidFill>
                <a:latin typeface="Calibri"/>
              </a:rPr>
              <a:t>•  </a:t>
            </a:r>
            <a:r>
              <a:rPr sz="1800">
                <a:solidFill>
                  <a:srgbClr val="1F2A36"/>
                </a:solidFill>
                <a:latin typeface="Calibri"/>
              </a:rPr>
              <a:t>Keep the ground tidy under the platform to discourage rodents.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1">
                <a:solidFill>
                  <a:srgbClr val="5B8C5A"/>
                </a:solidFill>
                <a:latin typeface="Calibri"/>
              </a:rPr>
              <a:t>•  </a:t>
            </a:r>
            <a:r>
              <a:rPr sz="1800">
                <a:solidFill>
                  <a:srgbClr val="1F2A36"/>
                </a:solidFill>
                <a:latin typeface="Calibri"/>
              </a:rPr>
              <a:t>Photograph the wren nest if it returns to the shed.</a:t>
            </a:r>
          </a:p>
        </p:txBody>
      </p:sp>
      <p:pic>
        <p:nvPicPr>
          <p:cNvPr id="8" name="Picture 7" descr="garden.jpg"/>
          <p:cNvPicPr>
            <a:picLocks noChangeAspect="1"/>
          </p:cNvPicPr>
          <p:nvPr/>
        </p:nvPicPr>
        <p:blipFill>
          <a:blip r:embed="rId2"/>
          <a:srcRect l="14616" r="14616"/>
          <a:stretch>
            <a:fillRect/>
          </a:stretch>
        </p:blipFill>
        <p:spPr>
          <a:xfrm>
            <a:off x="7132320" y="1417320"/>
            <a:ext cx="4297680" cy="4023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96112" y="6419088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A6B7B"/>
                </a:solidFill>
                <a:latin typeface="Calibri"/>
              </a:rPr>
              <a:t>Small changes at the feeder for the coming year.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