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dPt>
            <c:idx val="0"/>
            <c:spPr>
              <a:solidFill>
                <a:srgbClr val="3D5A80"/>
              </a:solidFill>
            </c:spPr>
          </c:dPt>
          <c:dPt>
            <c:idx val="1"/>
            <c:spPr>
              <a:solidFill>
                <a:srgbClr val="5B8C5A"/>
              </a:solidFill>
            </c:spPr>
          </c:dPt>
          <c:dPt>
            <c:idx val="2"/>
            <c:spPr>
              <a:solidFill>
                <a:srgbClr val="B0843F"/>
              </a:solidFill>
            </c:spPr>
          </c:dPt>
          <c:dPt>
            <c:idx val="3"/>
            <c:spPr>
              <a:solidFill>
                <a:srgbClr val="16202C"/>
              </a:solidFill>
            </c:spPr>
          </c:dPt>
          <c:dPt>
            <c:idx val="4"/>
            <c:spPr>
              <a:solidFill>
                <a:srgbClr val="6F93B8"/>
              </a:solidFill>
            </c:spPr>
          </c:dPt>
          <c:dPt>
            <c:idx val="5"/>
            <c:spPr>
              <a:solidFill>
                <a:srgbClr val="9C6B3F"/>
              </a:solidFill>
            </c:spPr>
          </c:dPt>
          <c:dPt>
            <c:idx val="6"/>
            <c:spPr>
              <a:solidFill>
                <a:srgbClr val="4A7C5A"/>
              </a:solidFill>
            </c:spPr>
          </c:dPt>
          <c:dPt>
            <c:idx val="7"/>
            <c:spPr>
              <a:solidFill>
                <a:srgbClr val="2F6F8C"/>
              </a:solidFill>
            </c:spPr>
          </c:dPt>
          <c:dPt>
            <c:idx val="8"/>
            <c:spPr>
              <a:solidFill>
                <a:srgbClr val="7A6F9B"/>
              </a:solidFill>
            </c:spPr>
          </c:dPt>
          <c:dPt>
            <c:idx val="9"/>
            <c:spPr>
              <a:solidFill>
                <a:srgbClr val="B9C6D4"/>
              </a:solidFill>
            </c:spPr>
          </c:dPt>
          <c:cat>
            <c:strRef>
              <c:f>Sheet1!$A$2:$A$11</c:f>
              <c:strCache>
                <c:ptCount val="10"/>
                <c:pt idx="0">
                  <c:v>Property tax</c:v>
                </c:pt>
                <c:pt idx="1">
                  <c:v>Groceries</c:v>
                </c:pt>
                <c:pt idx="2">
                  <c:v>Medicare and Medigap</c:v>
                </c:pt>
                <c:pt idx="3">
                  <c:v>Utilities</c:v>
                </c:pt>
                <c:pt idx="4">
                  <c:v>Home maintenance</c:v>
                </c:pt>
                <c:pt idx="5">
                  <c:v>Medication copays</c:v>
                </c:pt>
                <c:pt idx="6">
                  <c:v>Dining out</c:v>
                </c:pt>
                <c:pt idx="7">
                  <c:v>Homeowners ins.</c:v>
                </c:pt>
                <c:pt idx="8">
                  <c:v>Car insurance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380</c:v>
                </c:pt>
                <c:pt idx="1">
                  <c:v>340</c:v>
                </c:pt>
                <c:pt idx="2">
                  <c:v>320</c:v>
                </c:pt>
                <c:pt idx="3">
                  <c:v>230</c:v>
                </c:pt>
                <c:pt idx="4">
                  <c:v>150</c:v>
                </c:pt>
                <c:pt idx="5">
                  <c:v>145</c:v>
                </c:pt>
                <c:pt idx="6">
                  <c:v>120</c:v>
                </c:pt>
                <c:pt idx="7">
                  <c:v>120</c:v>
                </c:pt>
                <c:pt idx="8">
                  <c:v>95</c:v>
                </c:pt>
                <c:pt idx="9">
                  <c:v>202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D5A80"/>
            </a:solidFill>
          </c:spPr>
          <c:cat>
            <c:strRef>
              <c:f>Sheet1!$A$2:$A$6</c:f>
              <c:strCache>
                <c:ptCount val="5"/>
                <c:pt idx="0">
                  <c:v>Home</c:v>
                </c:pt>
                <c:pt idx="1">
                  <c:v>TSP</c:v>
                </c:pt>
                <c:pt idx="2">
                  <c:v>Credit union</c:v>
                </c:pt>
                <c:pt idx="3">
                  <c:v>Brokerage</c:v>
                </c:pt>
                <c:pt idx="4">
                  <c:v>Checking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520000</c:v>
                </c:pt>
                <c:pt idx="1">
                  <c:v>380000</c:v>
                </c:pt>
                <c:pt idx="2">
                  <c:v>145000</c:v>
                </c:pt>
                <c:pt idx="3">
                  <c:v>65000</c:v>
                </c:pt>
                <c:pt idx="4">
                  <c:v>42000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s.jpg"/>
          <p:cNvPicPr>
            <a:picLocks noChangeAspect="1"/>
          </p:cNvPicPr>
          <p:nvPr/>
        </p:nvPicPr>
        <p:blipFill>
          <a:blip r:embed="rId2"/>
          <a:srcRect l="21520" r="21520"/>
          <a:stretch>
            <a:fillRect/>
          </a:stretch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2331720"/>
            <a:ext cx="640080" cy="73152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FB4C8"/>
                </a:solidFill>
                <a:latin typeface="Calibri"/>
              </a:rPr>
              <a:t>PREPARED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Annual Finance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7548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Steady and unhurried. A look at the year's cash flow and holdings. Juan Hernandez.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Monthly 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554480"/>
          <a:ext cx="5669279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9546"/>
                <a:gridCol w="2099733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Federal pension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$3,200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Social Security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$1,600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Total income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$4,800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Total expenses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$2,202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To savings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$2,598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1554480"/>
            <a:ext cx="2468880" cy="13258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554480"/>
            <a:ext cx="91440" cy="132588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737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A6B7B"/>
                </a:solidFill>
                <a:latin typeface="Calibri"/>
              </a:rPr>
              <a:t>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031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C"/>
                </a:solidFill>
                <a:latin typeface="Georgia"/>
              </a:rPr>
              <a:t>$4,800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063240"/>
            <a:ext cx="2468880" cy="13258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3063240"/>
            <a:ext cx="91440" cy="1325880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A6B7B"/>
                </a:solidFill>
                <a:latin typeface="Calibri"/>
              </a:rPr>
              <a:t>EXPENSES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6118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C"/>
                </a:solidFill>
                <a:latin typeface="Georgia"/>
              </a:rPr>
              <a:t>$2,202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554480"/>
            <a:ext cx="2468880" cy="13258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66960" y="1554480"/>
            <a:ext cx="91440" cy="132588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1737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A6B7B"/>
                </a:solidFill>
                <a:latin typeface="Calibri"/>
              </a:rPr>
              <a:t>TO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1031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C"/>
                </a:solidFill>
                <a:latin typeface="Georgia"/>
              </a:rPr>
              <a:t>$2,598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3063240"/>
            <a:ext cx="2468880" cy="13258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3063240"/>
            <a:ext cx="91440" cy="132588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A6B7B"/>
                </a:solidFill>
                <a:latin typeface="Calibri"/>
              </a:rPr>
              <a:t>SAVINGS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6118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202C"/>
                </a:solidFill>
                <a:latin typeface="Georgia"/>
              </a:rPr>
              <a:t>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Pension and Social Security against budgeted monthly spending.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Where the money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96112" y="1325880"/>
          <a:ext cx="6035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206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Total monthly expenses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16202C"/>
                </a:solidFill>
                <a:latin typeface="Georgia"/>
              </a:rPr>
              <a:t>$2,202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2A36"/>
                </a:solidFill>
                <a:latin typeface="Calibri"/>
              </a:rPr>
              <a:t>The largest lines are fixed: property tax escrow, groceries, and the combined Medicare and Medigap premium. The remainder of the budget is small, deliberate, and easy to adjust.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Twelve budget lines totalling $2,202 each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Net worth by 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554480"/>
          <a:ext cx="5852159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2375"/>
                <a:gridCol w="2219784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Holding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Home (paid off)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$520,000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Thrift Savings Plan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$380,000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Credit union savings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$145,000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Brokerage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Checking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$42,000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36"/>
                          </a:solidFill>
                          <a:latin typeface="Calibri"/>
                        </a:rPr>
                        <a:t>$1,152,000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040880" y="1463040"/>
          <a:ext cx="4480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A home, a federal retirement plan, and a conservative cash and brokerage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Rules I hold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4241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No mortgage and no debts. The house is paid off and stays that way.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Any single purchase at or above $200 waits for a deliberate decision.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The remainder each month goes to savings, travel, and the grandchildren.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Review accounts on the first of the month, and read the statement line by line.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Keep enough in checking for the year's known expenses, and let the rest sit quietly.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Annual finance review  -  prepared February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