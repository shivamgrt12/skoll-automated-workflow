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nap_1.png"/>
          <p:cNvPicPr>
            <a:picLocks noChangeAspect="1"/>
          </p:cNvPicPr>
          <p:nvPr/>
        </p:nvPicPr>
        <p:blipFill>
          <a:blip r:embed="rId2"/>
          <a:srcRect t="8574" b="8574"/>
          <a:stretch>
            <a:fillRect/>
          </a:stretch>
        </p:blipFill>
        <p:spPr>
          <a:xfrm>
            <a:off x="0" y="0"/>
            <a:ext cx="615665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56655" y="0"/>
            <a:ext cx="6035040" cy="6858000"/>
          </a:xfrm>
          <a:prstGeom prst="rect">
            <a:avLst/>
          </a:prstGeom>
          <a:solidFill>
            <a:srgbClr val="265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2011680"/>
            <a:ext cx="5394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EMAIL PLATFORM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320040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DE1E4"/>
                </a:solidFill>
                <a:latin typeface="Calibri"/>
              </a:rPr>
              <a:t>Program Status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3931920"/>
            <a:ext cx="201168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4160520"/>
            <a:ext cx="5394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2E4E7"/>
                </a:solidFill>
                <a:latin typeface="Calibri"/>
              </a:rPr>
              <a:t>Prepared by Justin Rivera</a:t>
            </a:r>
          </a:p>
          <a:p>
            <a:pPr algn="l"/>
            <a:r>
              <a:rPr sz="1400" b="0">
                <a:solidFill>
                  <a:srgbClr val="D2E4E7"/>
                </a:solidFill>
                <a:latin typeface="Calibri"/>
              </a:rPr>
              <a:t>Senior IT Systems Administrator</a:t>
            </a:r>
          </a:p>
          <a:p>
            <a:pPr algn="l"/>
            <a:r>
              <a:rPr sz="1400" b="0">
                <a:solidFill>
                  <a:srgbClr val="D2E4E7"/>
                </a:solidFill>
                <a:latin typeface="Calibri"/>
              </a:rPr>
              <a:t>Review date: February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5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Phase 2 complete, Phase 3 scoped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82828"/>
                </a:solidFill>
                <a:latin typeface="Calibri"/>
              </a:rPr>
              <a:t>•  On-premises mail is moving to a cloud tenant in three phases.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82828"/>
                </a:solidFill>
                <a:latin typeface="Calibri"/>
              </a:rPr>
              <a:t>•  Phases 1 and 2 delivered on schedule with no major incidents.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82828"/>
                </a:solidFill>
                <a:latin typeface="Calibri"/>
              </a:rPr>
              <a:t>•  Phase 3 covers the remaining departments, pending legal sign-off.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82828"/>
                </a:solidFill>
                <a:latin typeface="Calibri"/>
              </a:rPr>
              <a:t>•  Target completion ahead of the November security audit.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82828"/>
                </a:solidFill>
                <a:latin typeface="Calibri"/>
              </a:rPr>
              <a:t>•  Two mailboxes in Phase 2 required manual archive export.</a:t>
            </a:r>
          </a:p>
        </p:txBody>
      </p:sp>
      <p:pic>
        <p:nvPicPr>
          <p:cNvPr id="7" name="Picture 6" descr="m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94960" cy="28462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C4850"/>
                </a:solidFill>
                <a:latin typeface="Calibri"/>
              </a:rPr>
              <a:t>Email Platform Migration  |  Status Update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5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each phase stands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marL="54864" marR="54864" marT="18288" marB="18288" anchor="ctr">
                    <a:solidFill>
                      <a:srgbClr val="265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Scope</a:t>
                      </a:r>
                    </a:p>
                  </a:txBody>
                  <a:tcPr marL="54864" marR="54864" marT="18288" marB="18288" anchor="ctr">
                    <a:solidFill>
                      <a:srgbClr val="265D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Mailboxes</a:t>
                      </a:r>
                    </a:p>
                  </a:txBody>
                  <a:tcPr marL="54864" marR="54864" marT="18288" marB="18288" anchor="ctr">
                    <a:solidFill>
                      <a:srgbClr val="265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Window</a:t>
                      </a:r>
                    </a:p>
                  </a:txBody>
                  <a:tcPr marL="54864" marR="54864" marT="18288" marB="18288" anchor="ctr">
                    <a:solidFill>
                      <a:srgbClr val="265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18288" marB="18288" anchor="ctr">
                    <a:solidFill>
                      <a:srgbClr val="265D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1 - Pilot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IT and HR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Nov 2025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2 - Wave A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Departments 1 to 4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320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Feb 2026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3 - Wave 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Departments 5 to 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440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Oct 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Scoped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64646"/>
                </a:solidFill>
                <a:latin typeface="Calibri"/>
              </a:rPr>
              <a:t>Phase 3 is gated on retention-policy confirmation from Legal and an approved MX cutover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C4850"/>
                </a:solidFill>
                <a:latin typeface="Calibri"/>
              </a:rPr>
              <a:t>Email Platform Migration  |  Status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5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RISKS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Closing out the program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 marL="54864" marR="54864" marT="18288" marB="18288" anchor="ctr">
                    <a:solidFill>
                      <a:srgbClr val="3C4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54864" marR="54864" marT="18288" marB="18288" anchor="ctr">
                    <a:solidFill>
                      <a:srgbClr val="3C4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54864" marR="54864" marT="18288" marB="18288" anchor="ctr">
                    <a:solidFill>
                      <a:srgbClr val="3C48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Shared mailbox delegation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Priya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Test distribution-list workaround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Executive transport rules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Kyle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Document and recreate in tenant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MX record cutover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Tomas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Draft change request for approval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Retention policy scope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Justin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Escalate to Legal for confirmation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C4850"/>
                </a:solidFill>
                <a:latin typeface="Calibri"/>
              </a:rPr>
              <a:t>Email Platform Migration  |  Status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