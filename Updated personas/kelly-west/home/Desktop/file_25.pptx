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846320"/>
            <a:ext cx="12191695" cy="109728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51560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College and Career Night</a:t>
            </a:r>
          </a:p>
          <a:p>
            <a:pPr algn="l"/>
            <a:r>
              <a:rPr sz="2400" b="0">
                <a:solidFill>
                  <a:srgbClr val="CBD8E6"/>
                </a:solidFill>
                <a:latin typeface="Calibri"/>
              </a:rPr>
              <a:t>A Family Guide for 8th Grade</a:t>
            </a:r>
          </a:p>
          <a:p>
            <a:pPr algn="l"/>
            <a:r>
              <a:rPr sz="1600" b="1">
                <a:solidFill>
                  <a:srgbClr val="C08A2E"/>
                </a:solidFill>
                <a:latin typeface="Calibri"/>
              </a:rPr>
              <a:t>Henrico Fields Middle School   November 12,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12191695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10642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Why this night matters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Kelly West, School Counselor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8813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455A64"/>
                </a:solidFill>
                <a:latin typeface="Calibri"/>
              </a:rPr>
              <a:t>8th grade is the year the high school picture comes into focus: course selection, graduation paths, and the first real conversations about what comes after. The aim tonight is simple. Leave with one folder and one next step, not a stack of brochures.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383280"/>
            <a:ext cx="3566160" cy="2651760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3383280"/>
            <a:ext cx="3566160" cy="914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3602736"/>
            <a:ext cx="3163824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F3A5F"/>
                </a:solidFill>
                <a:latin typeface="Calibri"/>
              </a:rPr>
              <a:t>Course Selection</a:t>
            </a:r>
          </a:p>
          <a:p>
            <a:pPr algn="l"/>
            <a:r>
              <a:rPr sz="1250" b="0">
                <a:solidFill>
                  <a:srgbClr val="2B2B2B"/>
                </a:solidFill>
                <a:latin typeface="Calibri"/>
              </a:rPr>
              <a:t>See the timeline for choosing</a:t>
            </a:r>
          </a:p>
          <a:p>
            <a:pPr algn="l"/>
            <a:r>
              <a:rPr sz="1250" b="0">
                <a:solidFill>
                  <a:srgbClr val="2B2B2B"/>
                </a:solidFill>
                <a:latin typeface="Calibri"/>
              </a:rPr>
              <a:t>high school classes</a:t>
            </a:r>
          </a:p>
          <a:p>
            <a:pPr algn="l"/>
            <a:r>
              <a:rPr sz="1250" b="0">
                <a:solidFill>
                  <a:srgbClr val="2B2B2B"/>
                </a:solidFill>
                <a:latin typeface="Calibri"/>
              </a:rPr>
              <a:t/>
            </a:r>
          </a:p>
          <a:p>
            <a:pPr algn="l"/>
            <a:r>
              <a:rPr sz="1250" b="0">
                <a:solidFill>
                  <a:srgbClr val="2B2B2B"/>
                </a:solidFill>
                <a:latin typeface="Calibri"/>
              </a:rPr>
              <a:t>Know which decisions happen</a:t>
            </a:r>
          </a:p>
          <a:p>
            <a:pPr algn="l"/>
            <a:r>
              <a:rPr sz="1250" b="0">
                <a:solidFill>
                  <a:srgbClr val="2B2B2B"/>
                </a:solidFill>
                <a:latin typeface="Calibri"/>
              </a:rPr>
              <a:t>in winter and spring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34840" y="3383280"/>
            <a:ext cx="3566160" cy="2651760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3383280"/>
            <a:ext cx="3566160" cy="91440"/>
          </a:xfrm>
          <a:prstGeom prst="rect">
            <a:avLst/>
          </a:prstGeom>
          <a:solidFill>
            <a:srgbClr val="2E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8" y="3602736"/>
            <a:ext cx="3163824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E6E6A"/>
                </a:solidFill>
                <a:latin typeface="Calibri"/>
              </a:rPr>
              <a:t>Many Paths</a:t>
            </a:r>
          </a:p>
          <a:p>
            <a:pPr algn="l"/>
            <a:r>
              <a:rPr sz="1250" b="0">
                <a:solidFill>
                  <a:srgbClr val="2B2B2B"/>
                </a:solidFill>
                <a:latin typeface="Calibri"/>
              </a:rPr>
              <a:t>Four year college, community</a:t>
            </a:r>
          </a:p>
          <a:p>
            <a:pPr algn="l"/>
            <a:r>
              <a:rPr sz="1250" b="0">
                <a:solidFill>
                  <a:srgbClr val="2B2B2B"/>
                </a:solidFill>
                <a:latin typeface="Calibri"/>
              </a:rPr>
              <a:t>college, and the skilled trades</a:t>
            </a:r>
          </a:p>
          <a:p>
            <a:pPr algn="l"/>
            <a:r>
              <a:rPr sz="1250" b="0">
                <a:solidFill>
                  <a:srgbClr val="2B2B2B"/>
                </a:solidFill>
                <a:latin typeface="Calibri"/>
              </a:rPr>
              <a:t/>
            </a:r>
          </a:p>
          <a:p>
            <a:pPr algn="l"/>
            <a:r>
              <a:rPr sz="1250" b="0">
                <a:solidFill>
                  <a:srgbClr val="2B2B2B"/>
                </a:solidFill>
                <a:latin typeface="Calibri"/>
              </a:rPr>
              <a:t>Every table tonight is a real</a:t>
            </a:r>
          </a:p>
          <a:p>
            <a:pPr algn="l"/>
            <a:r>
              <a:rPr sz="1250" b="0">
                <a:solidFill>
                  <a:srgbClr val="2B2B2B"/>
                </a:solidFill>
                <a:latin typeface="Calibri"/>
              </a:rPr>
              <a:t>option, not a ranking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3383280"/>
            <a:ext cx="3291840" cy="2651760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3383280"/>
            <a:ext cx="3291840" cy="91440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0768" y="3602736"/>
            <a:ext cx="2889504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C08A2E"/>
                </a:solidFill>
                <a:latin typeface="Calibri"/>
              </a:rPr>
              <a:t>Support</a:t>
            </a:r>
          </a:p>
          <a:p>
            <a:pPr algn="l"/>
            <a:r>
              <a:rPr sz="1250" b="0">
                <a:solidFill>
                  <a:srgbClr val="2B2B2B"/>
                </a:solidFill>
                <a:latin typeface="Calibri"/>
              </a:rPr>
              <a:t>The counseling booth is by</a:t>
            </a:r>
          </a:p>
          <a:p>
            <a:pPr algn="l"/>
            <a:r>
              <a:rPr sz="1250" b="0">
                <a:solidFill>
                  <a:srgbClr val="2B2B2B"/>
                </a:solidFill>
                <a:latin typeface="Calibri"/>
              </a:rPr>
              <a:t>the main entrance</a:t>
            </a:r>
          </a:p>
          <a:p>
            <a:pPr algn="l"/>
            <a:r>
              <a:rPr sz="1250" b="0">
                <a:solidFill>
                  <a:srgbClr val="2B2B2B"/>
                </a:solidFill>
                <a:latin typeface="Calibri"/>
              </a:rPr>
              <a:t/>
            </a:r>
          </a:p>
          <a:p>
            <a:pPr algn="l"/>
            <a:r>
              <a:rPr sz="1250" b="0">
                <a:solidFill>
                  <a:srgbClr val="2B2B2B"/>
                </a:solidFill>
                <a:latin typeface="Calibri"/>
              </a:rPr>
              <a:t>Stop in with any worry,</a:t>
            </a:r>
          </a:p>
          <a:p>
            <a:pPr algn="l"/>
            <a:r>
              <a:rPr sz="1250" b="0">
                <a:solidFill>
                  <a:srgbClr val="2B2B2B"/>
                </a:solidFill>
                <a:latin typeface="Calibri"/>
              </a:rPr>
              <a:t>large or small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12191695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10642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How the evening runs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Doors open 4:45 PM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1554480" cy="56692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5544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4:45 PM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1828800"/>
            <a:ext cx="9235440" cy="56692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80" y="1828800"/>
            <a:ext cx="89611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455A64"/>
                </a:solidFill>
                <a:latin typeface="Calibri"/>
              </a:rPr>
              <a:t>Check in, pick up your family folder and Spanish handout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542032"/>
            <a:ext cx="1554480" cy="56692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542032"/>
            <a:ext cx="15544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5:00 PM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0" y="2542032"/>
            <a:ext cx="9235440" cy="56692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80" y="2542032"/>
            <a:ext cx="89611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455A64"/>
                </a:solidFill>
                <a:latin typeface="Calibri"/>
              </a:rPr>
              <a:t>Career area tables open in the cafeteria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255264"/>
            <a:ext cx="1554480" cy="56692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255264"/>
            <a:ext cx="15544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5:30 PM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0" y="3255264"/>
            <a:ext cx="9235440" cy="56692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68880" y="3255264"/>
            <a:ext cx="89611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455A64"/>
                </a:solidFill>
                <a:latin typeface="Calibri"/>
              </a:rPr>
              <a:t>High school transition talk in the gym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968496"/>
            <a:ext cx="1554480" cy="56692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968496"/>
            <a:ext cx="15544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6:45 PM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0" y="3968496"/>
            <a:ext cx="9235440" cy="56692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68880" y="3968496"/>
            <a:ext cx="89611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455A64"/>
                </a:solidFill>
                <a:latin typeface="Calibri"/>
              </a:rPr>
              <a:t>Transition talk repeats for later arrivals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4681728"/>
            <a:ext cx="1554480" cy="56692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681728"/>
            <a:ext cx="15544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7:30 PM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86000" y="4681728"/>
            <a:ext cx="9235440" cy="56692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68880" y="4681728"/>
            <a:ext cx="89611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455A64"/>
                </a:solidFill>
                <a:latin typeface="Calibri"/>
              </a:rPr>
              <a:t>Counseling booth stays open for one on one questions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5394960"/>
            <a:ext cx="1554480" cy="56692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5394960"/>
            <a:ext cx="15544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8:00 PM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86000" y="5394960"/>
            <a:ext cx="9235440" cy="56692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468880" y="5394960"/>
            <a:ext cx="89611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455A64"/>
                </a:solidFill>
                <a:latin typeface="Calibri"/>
              </a:rPr>
              <a:t>Evening closes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C08A2E"/>
                </a:solidFill>
                <a:latin typeface="Calibri"/>
              </a:rPr>
              <a:t>One conversation worth having</a:t>
            </a:r>
          </a:p>
          <a:p>
            <a:pPr algn="l"/>
            <a:r>
              <a:rPr sz="1900" b="0">
                <a:solidFill>
                  <a:srgbClr val="FFFFFF"/>
                </a:solidFill>
                <a:latin typeface="Calibri"/>
              </a:rPr>
              <a:t>Ask your student what they actually enjoy, not what they think they should want. Interest is a better compass at this age than ambition.</a:t>
            </a:r>
          </a:p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500" b="0">
                <a:solidFill>
                  <a:srgbClr val="CBD8E6"/>
                </a:solidFill>
                <a:latin typeface="Calibri"/>
              </a:rPr>
              <a:t>Questions before then? 804-555-0600 ext. 214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</dc:title>
  <dc:subject/>
  <dc:creator>Kelly West</dc:creator>
  <cp:keywords/>
  <dc:description/>
  <cp:lastModifiedBy>Kelly West</cp:lastModifiedBy>
  <cp:revision>1</cp:revision>
  <dcterms:created xsi:type="dcterms:W3CDTF">2026-10-20T09:00:00Z</dcterms:created>
  <dcterms:modified xsi:type="dcterms:W3CDTF">2026-10-20T09:00:00Z</dcterms:modified>
  <cp:category/>
</cp:coreProperties>
</file>