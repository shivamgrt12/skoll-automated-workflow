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374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846320"/>
            <a:ext cx="12191695" cy="109728"/>
          </a:xfrm>
          <a:prstGeom prst="rect">
            <a:avLst/>
          </a:prstGeom>
          <a:solidFill>
            <a:srgbClr val="B07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194560"/>
            <a:ext cx="10515600" cy="2011680"/>
          </a:xfrm>
          <a:prstGeom prst="rect">
            <a:avLst/>
          </a:prstGeom>
          <a:noFill/>
        </p:spPr>
        <p:txBody>
          <a:bodyPr wrap="square" anchor="t">
            <a:spAutoFit/>
          </a:bodyPr>
          <a:lstStyle/>
          <a:p>
            <a:pPr algn="l"/>
            <a:r>
              <a:rPr sz="4000" b="1">
                <a:solidFill>
                  <a:srgbClr val="FFFFFF"/>
                </a:solidFill>
                <a:latin typeface="Calibri"/>
              </a:rPr>
              <a:t>Counseling Team Review</a:t>
            </a:r>
          </a:p>
          <a:p>
            <a:pPr algn="l"/>
            <a:r>
              <a:rPr sz="2200" b="0">
                <a:solidFill>
                  <a:srgbClr val="B0BEC5"/>
                </a:solidFill>
                <a:latin typeface="Calibri"/>
              </a:rPr>
              <a:t>First Quarter, School Year 2026 to 2027</a:t>
            </a:r>
          </a:p>
          <a:p>
            <a:pPr algn="l"/>
            <a:r>
              <a:rPr sz="1500" b="1">
                <a:solidFill>
                  <a:srgbClr val="B07A1E"/>
                </a:solidFill>
                <a:latin typeface="Calibri"/>
              </a:rPr>
              <a:t>Prepared by Kelly West   October 26,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371600"/>
          </a:xfrm>
          <a:prstGeom prst="rect">
            <a:avLst/>
          </a:prstGeom>
          <a:solidFill>
            <a:srgbClr val="374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371600"/>
            <a:ext cx="12191695" cy="731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64592"/>
            <a:ext cx="11064240" cy="1097280"/>
          </a:xfrm>
          <a:prstGeom prst="rect">
            <a:avLst/>
          </a:prstGeom>
          <a:noFill/>
        </p:spPr>
        <p:txBody>
          <a:bodyPr wrap="square" anchor="ctr">
            <a:spAutoFit/>
          </a:bodyPr>
          <a:lstStyle/>
          <a:p>
            <a:pPr algn="l"/>
            <a:r>
              <a:rPr sz="3000" b="1">
                <a:solidFill>
                  <a:srgbClr val="FFFFFF"/>
                </a:solidFill>
                <a:latin typeface="Calibri"/>
              </a:rPr>
              <a:t>Where the quarter landed</a:t>
            </a:r>
          </a:p>
          <a:p>
            <a:pPr algn="l"/>
            <a:r>
              <a:rPr sz="1500" b="0">
                <a:solidFill>
                  <a:srgbClr val="FFFFFF"/>
                </a:solidFill>
                <a:latin typeface="Calibri"/>
              </a:rPr>
              <a:t>Three counselors, roughly 650 students</a:t>
            </a:r>
          </a:p>
        </p:txBody>
      </p:sp>
      <p:sp>
        <p:nvSpPr>
          <p:cNvPr id="6" name="Rectangle 5"/>
          <p:cNvSpPr/>
          <p:nvPr/>
        </p:nvSpPr>
        <p:spPr>
          <a:xfrm>
            <a:off x="640080" y="2011680"/>
            <a:ext cx="2560320" cy="2011680"/>
          </a:xfrm>
          <a:prstGeom prst="rect">
            <a:avLst/>
          </a:prstGeom>
          <a:solidFill>
            <a:srgbClr val="ECEF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0080" y="2011680"/>
            <a:ext cx="2560320" cy="91440"/>
          </a:xfrm>
          <a:prstGeom prst="rect">
            <a:avLst/>
          </a:prstGeom>
          <a:solidFill>
            <a:srgbClr val="3362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2286000"/>
            <a:ext cx="2560320" cy="1737360"/>
          </a:xfrm>
          <a:prstGeom prst="rect">
            <a:avLst/>
          </a:prstGeom>
          <a:noFill/>
        </p:spPr>
        <p:txBody>
          <a:bodyPr wrap="square" anchor="ctr">
            <a:spAutoFit/>
          </a:bodyPr>
          <a:lstStyle/>
          <a:p>
            <a:pPr algn="ctr"/>
            <a:r>
              <a:rPr sz="3000" b="1">
                <a:solidFill>
                  <a:srgbClr val="33627F"/>
                </a:solidFill>
                <a:latin typeface="Calibri"/>
              </a:rPr>
              <a:t>6 to 8</a:t>
            </a:r>
          </a:p>
          <a:p>
            <a:pPr algn="ctr"/>
            <a:r>
              <a:rPr sz="1300" b="0">
                <a:solidFill>
                  <a:srgbClr val="455A64"/>
                </a:solidFill>
                <a:latin typeface="Calibri"/>
              </a:rPr>
              <a:t>Grades served</a:t>
            </a:r>
          </a:p>
        </p:txBody>
      </p:sp>
      <p:sp>
        <p:nvSpPr>
          <p:cNvPr id="9" name="Rectangle 8"/>
          <p:cNvSpPr/>
          <p:nvPr/>
        </p:nvSpPr>
        <p:spPr>
          <a:xfrm>
            <a:off x="3429000" y="2011680"/>
            <a:ext cx="2560320" cy="2011680"/>
          </a:xfrm>
          <a:prstGeom prst="rect">
            <a:avLst/>
          </a:prstGeom>
          <a:solidFill>
            <a:srgbClr val="ECEF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429000" y="2011680"/>
            <a:ext cx="2560320" cy="91440"/>
          </a:xfrm>
          <a:prstGeom prst="rect">
            <a:avLst/>
          </a:prstGeom>
          <a:solidFill>
            <a:srgbClr val="3362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429000" y="2286000"/>
            <a:ext cx="2560320" cy="1737360"/>
          </a:xfrm>
          <a:prstGeom prst="rect">
            <a:avLst/>
          </a:prstGeom>
          <a:noFill/>
        </p:spPr>
        <p:txBody>
          <a:bodyPr wrap="square" anchor="ctr">
            <a:spAutoFit/>
          </a:bodyPr>
          <a:lstStyle/>
          <a:p>
            <a:pPr algn="ctr"/>
            <a:r>
              <a:rPr sz="3000" b="1">
                <a:solidFill>
                  <a:srgbClr val="33627F"/>
                </a:solidFill>
                <a:latin typeface="Calibri"/>
              </a:rPr>
              <a:t>2</a:t>
            </a:r>
          </a:p>
          <a:p>
            <a:pPr algn="ctr"/>
            <a:r>
              <a:rPr sz="1300" b="0">
                <a:solidFill>
                  <a:srgbClr val="455A64"/>
                </a:solidFill>
                <a:latin typeface="Calibri"/>
              </a:rPr>
              <a:t>Active crisis referrals, confidential</a:t>
            </a:r>
          </a:p>
        </p:txBody>
      </p:sp>
      <p:sp>
        <p:nvSpPr>
          <p:cNvPr id="12" name="Rectangle 11"/>
          <p:cNvSpPr/>
          <p:nvPr/>
        </p:nvSpPr>
        <p:spPr>
          <a:xfrm>
            <a:off x="6217920" y="2011680"/>
            <a:ext cx="2560320" cy="2011680"/>
          </a:xfrm>
          <a:prstGeom prst="rect">
            <a:avLst/>
          </a:prstGeom>
          <a:solidFill>
            <a:srgbClr val="ECEF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17920" y="2011680"/>
            <a:ext cx="2560320" cy="91440"/>
          </a:xfrm>
          <a:prstGeom prst="rect">
            <a:avLst/>
          </a:prstGeom>
          <a:solidFill>
            <a:srgbClr val="3362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17920" y="2286000"/>
            <a:ext cx="2560320" cy="1737360"/>
          </a:xfrm>
          <a:prstGeom prst="rect">
            <a:avLst/>
          </a:prstGeom>
          <a:noFill/>
        </p:spPr>
        <p:txBody>
          <a:bodyPr wrap="square" anchor="ctr">
            <a:spAutoFit/>
          </a:bodyPr>
          <a:lstStyle/>
          <a:p>
            <a:pPr algn="ctr"/>
            <a:r>
              <a:rPr sz="3000" b="1">
                <a:solidFill>
                  <a:srgbClr val="33627F"/>
                </a:solidFill>
                <a:latin typeface="Calibri"/>
              </a:rPr>
              <a:t>Nov 12</a:t>
            </a:r>
          </a:p>
          <a:p>
            <a:pPr algn="ctr"/>
            <a:r>
              <a:rPr sz="1300" b="0">
                <a:solidFill>
                  <a:srgbClr val="455A64"/>
                </a:solidFill>
                <a:latin typeface="Calibri"/>
              </a:rPr>
              <a:t>College and Career Night</a:t>
            </a:r>
          </a:p>
        </p:txBody>
      </p:sp>
      <p:sp>
        <p:nvSpPr>
          <p:cNvPr id="15" name="Rectangle 14"/>
          <p:cNvSpPr/>
          <p:nvPr/>
        </p:nvSpPr>
        <p:spPr>
          <a:xfrm>
            <a:off x="9006840" y="2011680"/>
            <a:ext cx="2560320" cy="2011680"/>
          </a:xfrm>
          <a:prstGeom prst="rect">
            <a:avLst/>
          </a:prstGeom>
          <a:solidFill>
            <a:srgbClr val="ECEF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9006840" y="2011680"/>
            <a:ext cx="2560320" cy="91440"/>
          </a:xfrm>
          <a:prstGeom prst="rect">
            <a:avLst/>
          </a:prstGeom>
          <a:solidFill>
            <a:srgbClr val="3362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006840" y="2286000"/>
            <a:ext cx="2560320" cy="1737360"/>
          </a:xfrm>
          <a:prstGeom prst="rect">
            <a:avLst/>
          </a:prstGeom>
          <a:noFill/>
        </p:spPr>
        <p:txBody>
          <a:bodyPr wrap="square" anchor="ctr">
            <a:spAutoFit/>
          </a:bodyPr>
          <a:lstStyle/>
          <a:p>
            <a:pPr algn="ctr"/>
            <a:r>
              <a:rPr sz="3000" b="1">
                <a:solidFill>
                  <a:srgbClr val="33627F"/>
                </a:solidFill>
                <a:latin typeface="Calibri"/>
              </a:rPr>
              <a:t>100%</a:t>
            </a:r>
          </a:p>
          <a:p>
            <a:pPr algn="ctr"/>
            <a:r>
              <a:rPr sz="1300" b="0">
                <a:solidFill>
                  <a:srgbClr val="455A64"/>
                </a:solidFill>
                <a:latin typeface="Calibri"/>
              </a:rPr>
              <a:t>6th grade small groups running</a:t>
            </a:r>
          </a:p>
        </p:txBody>
      </p:sp>
      <p:sp>
        <p:nvSpPr>
          <p:cNvPr id="18" name="TextBox 17"/>
          <p:cNvSpPr txBox="1"/>
          <p:nvPr/>
        </p:nvSpPr>
        <p:spPr>
          <a:xfrm>
            <a:off x="640080" y="4389120"/>
            <a:ext cx="10881360" cy="1828800"/>
          </a:xfrm>
          <a:prstGeom prst="rect">
            <a:avLst/>
          </a:prstGeom>
          <a:noFill/>
        </p:spPr>
        <p:txBody>
          <a:bodyPr wrap="square" anchor="t">
            <a:spAutoFit/>
          </a:bodyPr>
          <a:lstStyle/>
          <a:p>
            <a:pPr algn="l"/>
            <a:r>
              <a:rPr sz="1600" b="0">
                <a:solidFill>
                  <a:srgbClr val="455A64"/>
                </a:solidFill>
                <a:latin typeface="Calibri"/>
              </a:rPr>
              <a:t>Caseload check-in complete. Two referrals were routed to the Community Services Board liaison through the secure channel, with no names in shared notes. The 6th grade lunch groups have strong attendance, and the 8th grade readiness program is on track for the November night.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371600"/>
          </a:xfrm>
          <a:prstGeom prst="rect">
            <a:avLst/>
          </a:prstGeom>
          <a:solidFill>
            <a:srgbClr val="374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371600"/>
            <a:ext cx="12191695" cy="731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64592"/>
            <a:ext cx="11064240" cy="1097280"/>
          </a:xfrm>
          <a:prstGeom prst="rect">
            <a:avLst/>
          </a:prstGeom>
          <a:noFill/>
        </p:spPr>
        <p:txBody>
          <a:bodyPr wrap="square" anchor="ctr">
            <a:spAutoFit/>
          </a:bodyPr>
          <a:lstStyle/>
          <a:p>
            <a:pPr algn="l"/>
            <a:r>
              <a:rPr sz="3000" b="1">
                <a:solidFill>
                  <a:srgbClr val="FFFFFF"/>
                </a:solidFill>
                <a:latin typeface="Calibri"/>
              </a:rPr>
              <a:t>Action items into second quarter</a:t>
            </a:r>
          </a:p>
          <a:p>
            <a:pPr algn="l"/>
            <a:r>
              <a:rPr sz="1500" b="0">
                <a:solidFill>
                  <a:srgbClr val="FFFFFF"/>
                </a:solidFill>
                <a:latin typeface="Calibri"/>
              </a:rPr>
              <a:t>Owners and dates</a:t>
            </a:r>
          </a:p>
        </p:txBody>
      </p:sp>
      <p:sp>
        <p:nvSpPr>
          <p:cNvPr id="6" name="Rectangle 5"/>
          <p:cNvSpPr/>
          <p:nvPr/>
        </p:nvSpPr>
        <p:spPr>
          <a:xfrm>
            <a:off x="640080" y="1920240"/>
            <a:ext cx="2011680" cy="731520"/>
          </a:xfrm>
          <a:prstGeom prst="rect">
            <a:avLst/>
          </a:prstGeom>
          <a:solidFill>
            <a:srgbClr val="3362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920240"/>
            <a:ext cx="2011680" cy="731520"/>
          </a:xfrm>
          <a:prstGeom prst="rect">
            <a:avLst/>
          </a:prstGeom>
          <a:noFill/>
        </p:spPr>
        <p:txBody>
          <a:bodyPr wrap="square" anchor="ctr">
            <a:spAutoFit/>
          </a:bodyPr>
          <a:lstStyle/>
          <a:p>
            <a:pPr algn="ctr"/>
            <a:r>
              <a:rPr sz="1500" b="1">
                <a:solidFill>
                  <a:srgbClr val="FFFFFF"/>
                </a:solidFill>
                <a:latin typeface="Calibri"/>
              </a:rPr>
              <a:t>Kelly</a:t>
            </a:r>
          </a:p>
        </p:txBody>
      </p:sp>
      <p:sp>
        <p:nvSpPr>
          <p:cNvPr id="8" name="Rectangle 7"/>
          <p:cNvSpPr/>
          <p:nvPr/>
        </p:nvSpPr>
        <p:spPr>
          <a:xfrm>
            <a:off x="2743200" y="1920240"/>
            <a:ext cx="8778240" cy="731520"/>
          </a:xfrm>
          <a:prstGeom prst="rect">
            <a:avLst/>
          </a:prstGeom>
          <a:solidFill>
            <a:srgbClr val="ECEF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971800" y="1920240"/>
            <a:ext cx="8412480" cy="731520"/>
          </a:xfrm>
          <a:prstGeom prst="rect">
            <a:avLst/>
          </a:prstGeom>
          <a:noFill/>
        </p:spPr>
        <p:txBody>
          <a:bodyPr wrap="square" anchor="ctr">
            <a:spAutoFit/>
          </a:bodyPr>
          <a:lstStyle/>
          <a:p>
            <a:pPr algn="l"/>
            <a:r>
              <a:rPr sz="1400" b="0">
                <a:solidFill>
                  <a:srgbClr val="455A64"/>
                </a:solidFill>
                <a:latin typeface="Calibri"/>
              </a:rPr>
              <a:t>Draft the parent reminder, to Dr. Fredericks by November 2</a:t>
            </a:r>
          </a:p>
        </p:txBody>
      </p:sp>
      <p:sp>
        <p:nvSpPr>
          <p:cNvPr id="10" name="Rectangle 9"/>
          <p:cNvSpPr/>
          <p:nvPr/>
        </p:nvSpPr>
        <p:spPr>
          <a:xfrm>
            <a:off x="640080" y="2834640"/>
            <a:ext cx="2011680" cy="731520"/>
          </a:xfrm>
          <a:prstGeom prst="rect">
            <a:avLst/>
          </a:prstGeom>
          <a:solidFill>
            <a:srgbClr val="3362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2834640"/>
            <a:ext cx="2011680" cy="731520"/>
          </a:xfrm>
          <a:prstGeom prst="rect">
            <a:avLst/>
          </a:prstGeom>
          <a:noFill/>
        </p:spPr>
        <p:txBody>
          <a:bodyPr wrap="square" anchor="ctr">
            <a:spAutoFit/>
          </a:bodyPr>
          <a:lstStyle/>
          <a:p>
            <a:pPr algn="ctr"/>
            <a:r>
              <a:rPr sz="1500" b="1">
                <a:solidFill>
                  <a:srgbClr val="FFFFFF"/>
                </a:solidFill>
                <a:latin typeface="Calibri"/>
              </a:rPr>
              <a:t>Yuen</a:t>
            </a:r>
          </a:p>
        </p:txBody>
      </p:sp>
      <p:sp>
        <p:nvSpPr>
          <p:cNvPr id="12" name="Rectangle 11"/>
          <p:cNvSpPr/>
          <p:nvPr/>
        </p:nvSpPr>
        <p:spPr>
          <a:xfrm>
            <a:off x="2743200" y="2834640"/>
            <a:ext cx="8778240" cy="731520"/>
          </a:xfrm>
          <a:prstGeom prst="rect">
            <a:avLst/>
          </a:prstGeom>
          <a:solidFill>
            <a:srgbClr val="ECEF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971800" y="2834640"/>
            <a:ext cx="8412480" cy="731520"/>
          </a:xfrm>
          <a:prstGeom prst="rect">
            <a:avLst/>
          </a:prstGeom>
          <a:noFill/>
        </p:spPr>
        <p:txBody>
          <a:bodyPr wrap="square" anchor="ctr">
            <a:spAutoFit/>
          </a:bodyPr>
          <a:lstStyle/>
          <a:p>
            <a:pPr algn="l"/>
            <a:r>
              <a:rPr sz="1400" b="0">
                <a:solidFill>
                  <a:srgbClr val="455A64"/>
                </a:solidFill>
                <a:latin typeface="Calibri"/>
              </a:rPr>
              <a:t>Confirm the trades table volunteer by November 6</a:t>
            </a:r>
          </a:p>
        </p:txBody>
      </p:sp>
      <p:sp>
        <p:nvSpPr>
          <p:cNvPr id="14" name="Rectangle 13"/>
          <p:cNvSpPr/>
          <p:nvPr/>
        </p:nvSpPr>
        <p:spPr>
          <a:xfrm>
            <a:off x="640080" y="3749040"/>
            <a:ext cx="2011680" cy="731520"/>
          </a:xfrm>
          <a:prstGeom prst="rect">
            <a:avLst/>
          </a:prstGeom>
          <a:solidFill>
            <a:srgbClr val="3362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 y="3749040"/>
            <a:ext cx="2011680" cy="731520"/>
          </a:xfrm>
          <a:prstGeom prst="rect">
            <a:avLst/>
          </a:prstGeom>
          <a:noFill/>
        </p:spPr>
        <p:txBody>
          <a:bodyPr wrap="square" anchor="ctr">
            <a:spAutoFit/>
          </a:bodyPr>
          <a:lstStyle/>
          <a:p>
            <a:pPr algn="ctr"/>
            <a:r>
              <a:rPr sz="1500" b="1">
                <a:solidFill>
                  <a:srgbClr val="FFFFFF"/>
                </a:solidFill>
                <a:latin typeface="Calibri"/>
              </a:rPr>
              <a:t>Partridge</a:t>
            </a:r>
          </a:p>
        </p:txBody>
      </p:sp>
      <p:sp>
        <p:nvSpPr>
          <p:cNvPr id="16" name="Rectangle 15"/>
          <p:cNvSpPr/>
          <p:nvPr/>
        </p:nvSpPr>
        <p:spPr>
          <a:xfrm>
            <a:off x="2743200" y="3749040"/>
            <a:ext cx="8778240" cy="731520"/>
          </a:xfrm>
          <a:prstGeom prst="rect">
            <a:avLst/>
          </a:prstGeom>
          <a:solidFill>
            <a:srgbClr val="ECEF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971800" y="3749040"/>
            <a:ext cx="8412480" cy="731520"/>
          </a:xfrm>
          <a:prstGeom prst="rect">
            <a:avLst/>
          </a:prstGeom>
          <a:noFill/>
        </p:spPr>
        <p:txBody>
          <a:bodyPr wrap="square" anchor="ctr">
            <a:spAutoFit/>
          </a:bodyPr>
          <a:lstStyle/>
          <a:p>
            <a:pPr algn="l"/>
            <a:r>
              <a:rPr sz="1400" b="0">
                <a:solidFill>
                  <a:srgbClr val="455A64"/>
                </a:solidFill>
                <a:latin typeface="Calibri"/>
              </a:rPr>
              <a:t>Update the shared resource list with the new crisis card</a:t>
            </a:r>
          </a:p>
        </p:txBody>
      </p:sp>
      <p:sp>
        <p:nvSpPr>
          <p:cNvPr id="18" name="Rectangle 17"/>
          <p:cNvSpPr/>
          <p:nvPr/>
        </p:nvSpPr>
        <p:spPr>
          <a:xfrm>
            <a:off x="640080" y="4663440"/>
            <a:ext cx="2011680" cy="731520"/>
          </a:xfrm>
          <a:prstGeom prst="rect">
            <a:avLst/>
          </a:prstGeom>
          <a:solidFill>
            <a:srgbClr val="3362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4663440"/>
            <a:ext cx="2011680" cy="731520"/>
          </a:xfrm>
          <a:prstGeom prst="rect">
            <a:avLst/>
          </a:prstGeom>
          <a:noFill/>
        </p:spPr>
        <p:txBody>
          <a:bodyPr wrap="square" anchor="ctr">
            <a:spAutoFit/>
          </a:bodyPr>
          <a:lstStyle/>
          <a:p>
            <a:pPr algn="ctr"/>
            <a:r>
              <a:rPr sz="1500" b="1">
                <a:solidFill>
                  <a:srgbClr val="FFFFFF"/>
                </a:solidFill>
                <a:latin typeface="Calibri"/>
              </a:rPr>
              <a:t>Team</a:t>
            </a:r>
          </a:p>
        </p:txBody>
      </p:sp>
      <p:sp>
        <p:nvSpPr>
          <p:cNvPr id="20" name="Rectangle 19"/>
          <p:cNvSpPr/>
          <p:nvPr/>
        </p:nvSpPr>
        <p:spPr>
          <a:xfrm>
            <a:off x="2743200" y="4663440"/>
            <a:ext cx="8778240" cy="731520"/>
          </a:xfrm>
          <a:prstGeom prst="rect">
            <a:avLst/>
          </a:prstGeom>
          <a:solidFill>
            <a:srgbClr val="ECEF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971800" y="4663440"/>
            <a:ext cx="8412480" cy="731520"/>
          </a:xfrm>
          <a:prstGeom prst="rect">
            <a:avLst/>
          </a:prstGeom>
          <a:noFill/>
        </p:spPr>
        <p:txBody>
          <a:bodyPr wrap="square" anchor="ctr">
            <a:spAutoFit/>
          </a:bodyPr>
          <a:lstStyle/>
          <a:p>
            <a:pPr algn="l"/>
            <a:r>
              <a:rPr sz="1400" b="0">
                <a:solidFill>
                  <a:srgbClr val="455A64"/>
                </a:solidFill>
                <a:latin typeface="Calibri"/>
              </a:rPr>
              <a:t>Set spring Mental Health Awareness Week dates in January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title>
  <dc:subject/>
  <dc:creator>Kelly West</dc:creator>
  <cp:keywords/>
  <dc:description/>
  <cp:lastModifiedBy>Kelly West</cp:lastModifiedBy>
  <cp:revision>1</cp:revision>
  <dcterms:created xsi:type="dcterms:W3CDTF">2026-10-20T09:00:00Z</dcterms:created>
  <dcterms:modified xsi:type="dcterms:W3CDTF">2026-10-20T09:00:00Z</dcterms:modified>
  <cp:category/>
</cp:coreProperties>
</file>