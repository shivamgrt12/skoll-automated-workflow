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Keeper frames</c:v>
                </c:pt>
              </c:strCache>
            </c:strRef>
          </c:tx>
          <c:spPr>
            <a:solidFill>
              <a:srgbClr val="1F6F6B"/>
            </a:solidFill>
          </c:spPr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Midday</c:v>
                </c:pt>
                <c:pt idx="2">
                  <c:v>Golden</c:v>
                </c:pt>
                <c:pt idx="3">
                  <c:v>Blue Hour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12</c:v>
                </c:pt>
                <c:pt idx="2">
                  <c:v>46</c:v>
                </c:pt>
                <c:pt idx="3">
                  <c:v>28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4233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423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914400"/>
            <a:ext cx="2926080" cy="292608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8229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E07A5F"/>
                </a:solidFill>
                <a:latin typeface="Calibri"/>
              </a:rPr>
              <a:t>A TRAVEL PHOTOGRAPHY WORKSHOP</a:t>
            </a:r>
          </a:p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The Lisbon Light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7DCC8"/>
                </a:solidFill>
                <a:latin typeface="Calibri"/>
              </a:rPr>
              <a:t>Shooting a city you have to sit in for three days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07A5F"/>
                </a:solidFill>
                <a:latin typeface="Calibri"/>
              </a:rPr>
              <a:t>Pack light.  </a:t>
            </a:r>
            <a:r>
              <a:rPr sz="1800">
                <a:solidFill>
                  <a:srgbClr val="14233B"/>
                </a:solidFill>
                <a:latin typeface="Calibri"/>
              </a:rPr>
              <a:t>One body, two lenses, three changes of clothes. The constraint is the point.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7A5F"/>
                </a:solidFill>
                <a:latin typeface="Calibri"/>
              </a:rPr>
              <a:t>Walk until your feet give out.  </a:t>
            </a:r>
            <a:r>
              <a:rPr sz="1800">
                <a:solidFill>
                  <a:srgbClr val="14233B"/>
                </a:solidFill>
                <a:latin typeface="Calibri"/>
              </a:rPr>
              <a:t>Then sit in the nearest cafe and watch the light move.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7A5F"/>
                </a:solidFill>
                <a:latin typeface="Calibri"/>
              </a:rPr>
              <a:t>Shoot the edges.  </a:t>
            </a:r>
            <a:r>
              <a:rPr sz="1800">
                <a:solidFill>
                  <a:srgbClr val="14233B"/>
                </a:solidFill>
                <a:latin typeface="Calibri"/>
              </a:rPr>
              <a:t>Alleys, waterfronts, trolley tracks, and the diagonal light on old stone.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7A5F"/>
                </a:solidFill>
                <a:latin typeface="Calibri"/>
              </a:rPr>
              <a:t>Cook one meal.  </a:t>
            </a:r>
            <a:r>
              <a:rPr sz="1800">
                <a:solidFill>
                  <a:srgbClr val="14233B"/>
                </a:solidFill>
                <a:latin typeface="Calibri"/>
              </a:rPr>
              <a:t>Every city becomes yours the moment you make dinner in it.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6F6B"/>
                </a:solidFill>
                <a:latin typeface="Calibri Light"/>
              </a:rPr>
              <a:t>Four mornings, four motifs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0424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3852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7A5F"/>
                </a:solidFill>
                <a:latin typeface="Calibri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938528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33B"/>
                </a:solidFill>
                <a:latin typeface="Calibri"/>
              </a:rPr>
              <a:t>Alfama Old Town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956816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A7384"/>
                </a:solidFill>
                <a:latin typeface="Calibri"/>
              </a:rPr>
              <a:t>Narrow alleys and pastel walls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956816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6B"/>
                </a:solidFill>
                <a:latin typeface="Calibri"/>
              </a:rPr>
              <a:t>07:30 to 09:00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79776"/>
            <a:ext cx="10424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89504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7A5F"/>
                </a:solidFill>
                <a:latin typeface="Calibri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89504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33B"/>
                </a:solidFill>
                <a:latin typeface="Calibri"/>
              </a:rPr>
              <a:t>Belem Waterfront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907792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A7384"/>
                </a:solidFill>
                <a:latin typeface="Calibri"/>
              </a:rPr>
              <a:t>Diagonal light on stone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907792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6B"/>
                </a:solidFill>
                <a:latin typeface="Calibri"/>
              </a:rPr>
              <a:t>17:30 to 19:00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30752"/>
            <a:ext cx="10424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7A5F"/>
                </a:solidFill>
                <a:latin typeface="Calibri"/>
              </a:rPr>
              <a:t>Day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8404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33B"/>
                </a:solidFill>
                <a:latin typeface="Calibri"/>
              </a:rPr>
              <a:t>Flea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858768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A7384"/>
                </a:solidFill>
                <a:latin typeface="Calibri"/>
              </a:rPr>
              <a:t>Vintage objects, local vendors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858768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6B"/>
                </a:solidFill>
                <a:latin typeface="Calibri"/>
              </a:rPr>
              <a:t>10:00 to 12:00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681728"/>
            <a:ext cx="10424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791456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7A5F"/>
                </a:solidFill>
                <a:latin typeface="Calibri"/>
              </a:rPr>
              <a:t>Day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791456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33B"/>
                </a:solidFill>
                <a:latin typeface="Calibri"/>
              </a:rPr>
              <a:t>Bica Street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809744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A7384"/>
                </a:solidFill>
                <a:latin typeface="Calibri"/>
              </a:rPr>
              <a:t>Trolley tracks and shadows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809744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6B"/>
                </a:solidFill>
                <a:latin typeface="Calibri"/>
              </a:rPr>
              <a:t>18:00 to 19:00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Light by the hour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554480"/>
          <a:ext cx="10515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023360"/>
            <a:ext cx="3657600" cy="365760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Calibri Light"/>
              </a:rPr>
              <a:t>Bring a camera and a slow week.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7DCC8"/>
                </a:solidFill>
                <a:latin typeface="Calibri"/>
              </a:rPr>
              <a:t>larry@larryrawlingsphoto.com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6A7384"/>
                </a:solidFill>
                <a:latin typeface="Calibri"/>
              </a:rPr>
              <a:t>Workshops kept small, by request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