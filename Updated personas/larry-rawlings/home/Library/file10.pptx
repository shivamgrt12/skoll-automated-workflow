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Sessions per quarter</c:v>
                </c:pt>
              </c:strCache>
            </c:strRef>
          </c:tx>
          <c:spPr>
            <a:solidFill>
              <a:srgbClr val="B5612F"/>
            </a:solidFill>
          </c:spPr>
          <c:cat>
            <c:strRef>
              <c:f>Sheet1!$A$2:$A$5</c:f>
              <c:strCache>
                <c:ptCount val="4"/>
                <c:pt idx="0">
                  <c:v>Editorial</c:v>
                </c:pt>
                <c:pt idx="1">
                  <c:v>Brand</c:v>
                </c:pt>
                <c:pt idx="2">
                  <c:v>Events</c:v>
                </c:pt>
                <c:pt idx="3">
                  <c:v>Referrals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</c:v>
                </c:pt>
                <c:pt idx="1">
                  <c:v>6</c:v>
                </c:pt>
                <c:pt idx="2">
                  <c:v>7</c:v>
                </c:pt>
                <c:pt idx="3">
                  <c:v>5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2B262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2B262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56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097280"/>
            <a:ext cx="4572000" cy="4572000"/>
          </a:xfrm>
          <a:prstGeom prst="ellipse">
            <a:avLst/>
          </a:prstGeom>
          <a:solidFill>
            <a:srgbClr val="6B7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8229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B5612F"/>
                </a:solidFill>
                <a:latin typeface="Calibri"/>
              </a:rPr>
              <a:t>LARRY RAWLINGS PHOTOGRAPHY</a:t>
            </a:r>
          </a:p>
          <a:p>
            <a:pPr algn="l"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Calibri Light"/>
              </a:rPr>
              <a:t>Editorial &amp; Brand Sessions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E7DCC8"/>
                </a:solidFill>
                <a:latin typeface="Calibri"/>
              </a:rPr>
              <a:t>Services, process, and pricing for 2026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6B7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How I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65836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>
                <a:solidFill>
                  <a:srgbClr val="2B2620"/>
                </a:solidFill>
                <a:latin typeface="Calibri"/>
              </a:rPr>
              <a:t>I keep sessions relaxed and unhurried. We find the light, we move, and we let the real moments happen instead of forcing poses.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7A7164"/>
                </a:solidFill>
                <a:latin typeface="Calibri"/>
              </a:rPr>
              <a:t>Most of my editorial work happens on location around NoDa and uptown, in window light and open shade. You get a calibrated, consistent edit and a clean online gallery.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0" y="1737360"/>
            <a:ext cx="3383280" cy="3291840"/>
          </a:xfrm>
          <a:prstGeom prst="rect">
            <a:avLst/>
          </a:prstGeom>
          <a:solidFill>
            <a:srgbClr val="E7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1965960"/>
            <a:ext cx="283464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1">
                <a:solidFill>
                  <a:srgbClr val="B5612F"/>
                </a:solidFill>
                <a:latin typeface="Calibri"/>
              </a:rPr>
              <a:t>THE PROMISE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B2620"/>
                </a:solidFill>
                <a:latin typeface="Calibri"/>
              </a:rPr>
              <a:t>One body, two lenses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B2620"/>
                </a:solidFill>
                <a:latin typeface="Calibri"/>
              </a:rPr>
              <a:t>Natural light first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B2620"/>
                </a:solidFill>
                <a:latin typeface="Calibri"/>
              </a:rPr>
              <a:t>Calibrated, consistent edit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B2620"/>
                </a:solidFill>
                <a:latin typeface="Calibri"/>
              </a:rPr>
              <a:t>Gallery within two weeks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B56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Packages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37360"/>
            <a:ext cx="33832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3383280" cy="164592"/>
          </a:xfrm>
          <a:prstGeom prst="rect">
            <a:avLst/>
          </a:prstGeom>
          <a:solidFill>
            <a:srgbClr val="6B7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283464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>
                <a:solidFill>
                  <a:srgbClr val="2B2620"/>
                </a:solidFill>
                <a:latin typeface="Calibri"/>
              </a:rPr>
              <a:t>Editorial Portrait</a:t>
            </a:r>
          </a:p>
          <a:p>
            <a:pPr algn="l">
              <a:spcAft>
                <a:spcPts val="1200"/>
              </a:spcAft>
            </a:pPr>
            <a:r>
              <a:rPr sz="3000" b="1">
                <a:solidFill>
                  <a:srgbClr val="6B7350"/>
                </a:solidFill>
                <a:latin typeface="Calibri Light"/>
              </a:rPr>
              <a:t>$500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7A7164"/>
                </a:solidFill>
                <a:latin typeface="Calibri"/>
              </a:rPr>
              <a:t>90 minutes on location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7A7164"/>
                </a:solidFill>
                <a:latin typeface="Calibri"/>
              </a:rPr>
              <a:t>15 edited files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7A7164"/>
                </a:solidFill>
                <a:latin typeface="Calibri"/>
              </a:rPr>
              <a:t>For creative professionals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1737360"/>
            <a:ext cx="33832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80560" y="1737360"/>
            <a:ext cx="3383280" cy="164592"/>
          </a:xfrm>
          <a:prstGeom prst="rect">
            <a:avLst/>
          </a:prstGeom>
          <a:solidFill>
            <a:srgbClr val="B56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2011680"/>
            <a:ext cx="283464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>
                <a:solidFill>
                  <a:srgbClr val="2B2620"/>
                </a:solidFill>
                <a:latin typeface="Calibri"/>
              </a:rPr>
              <a:t>Brand Lifestyle</a:t>
            </a:r>
          </a:p>
          <a:p>
            <a:pPr algn="l">
              <a:spcAft>
                <a:spcPts val="1200"/>
              </a:spcAft>
            </a:pPr>
            <a:r>
              <a:rPr sz="3000" b="1">
                <a:solidFill>
                  <a:srgbClr val="B5612F"/>
                </a:solidFill>
                <a:latin typeface="Calibri Light"/>
              </a:rPr>
              <a:t>$900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7A7164"/>
                </a:solidFill>
                <a:latin typeface="Calibri"/>
              </a:rPr>
              <a:t>3 hours, multiple looks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7A7164"/>
                </a:solidFill>
                <a:latin typeface="Calibri"/>
              </a:rPr>
              <a:t>40 edited files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7A7164"/>
                </a:solidFill>
                <a:latin typeface="Calibri"/>
              </a:rPr>
              <a:t>Delivery guide included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737360"/>
            <a:ext cx="33832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38160" y="1737360"/>
            <a:ext cx="3383280" cy="164592"/>
          </a:xfrm>
          <a:prstGeom prst="rect">
            <a:avLst/>
          </a:prstGeom>
          <a:solidFill>
            <a:srgbClr val="2B2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011680"/>
            <a:ext cx="283464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>
                <a:solidFill>
                  <a:srgbClr val="2B2620"/>
                </a:solidFill>
                <a:latin typeface="Calibri"/>
              </a:rPr>
              <a:t>Event Coverage</a:t>
            </a:r>
          </a:p>
          <a:p>
            <a:pPr algn="l">
              <a:spcAft>
                <a:spcPts val="1200"/>
              </a:spcAft>
            </a:pPr>
            <a:r>
              <a:rPr sz="3000" b="1">
                <a:solidFill>
                  <a:srgbClr val="2B2620"/>
                </a:solidFill>
                <a:latin typeface="Calibri Light"/>
              </a:rPr>
              <a:t>From $1,500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7A7164"/>
                </a:solidFill>
                <a:latin typeface="Calibri"/>
              </a:rPr>
              <a:t>Up to a full evening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7A7164"/>
                </a:solidFill>
                <a:latin typeface="Calibri"/>
              </a:rPr>
              <a:t>Candid and arrivals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7A7164"/>
                </a:solidFill>
                <a:latin typeface="Calibri"/>
              </a:rPr>
              <a:t>Online gallery delivery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6B7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Where bookings come from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554480"/>
          <a:ext cx="105156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B56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114800"/>
            <a:ext cx="3657600" cy="3657600"/>
          </a:xfrm>
          <a:prstGeom prst="ellipse">
            <a:avLst/>
          </a:prstGeom>
          <a:solidFill>
            <a:srgbClr val="6B7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0584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3400" b="1">
                <a:solidFill>
                  <a:srgbClr val="FFFFFF"/>
                </a:solidFill>
                <a:latin typeface="Calibri Light"/>
              </a:rPr>
              <a:t>Let's plan your session.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E7DCC8"/>
                </a:solidFill>
                <a:latin typeface="Calibri"/>
              </a:rPr>
              <a:t>larry@larryrawlingsphoto.com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7A7164"/>
                </a:solidFill>
                <a:latin typeface="Calibri"/>
              </a:rPr>
              <a:t>NoDa, Charlotte, North Carolina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/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