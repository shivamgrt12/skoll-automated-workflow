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Weeks out</c:v>
                </c:pt>
              </c:strCache>
            </c:strRef>
          </c:tx>
          <c:spPr>
            <a:ln w="31750">
              <a:solidFill>
                <a:srgbClr val="5A3A4A"/>
              </a:solidFill>
            </a:ln>
          </c:spPr>
          <c:cat>
            <c:strRef>
              <c:f>Sheet1!$A$2:$A$6</c:f>
              <c:strCache>
                <c:ptCount val="5"/>
                <c:pt idx="0">
                  <c:v>Inquiry</c:v>
                </c:pt>
                <c:pt idx="1">
                  <c:v>Booking</c:v>
                </c:pt>
                <c:pt idx="2">
                  <c:v>Planning Call</c:v>
                </c:pt>
                <c:pt idx="3">
                  <c:v>Wedding Day</c:v>
                </c:pt>
                <c:pt idx="4">
                  <c:v>Gallery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14</c:v>
                </c:pt>
                <c:pt idx="2">
                  <c:v>3</c:v>
                </c:pt>
                <c:pt idx="3">
                  <c:v>0</c:v>
                </c:pt>
                <c:pt idx="4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A1F2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A1F26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206240"/>
            <a:ext cx="4114800" cy="4114800"/>
          </a:xfrm>
          <a:prstGeom prst="ellipse">
            <a:avLst/>
          </a:prstGeom>
          <a:solidFill>
            <a:srgbClr val="A98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88720"/>
            <a:ext cx="3657600" cy="3657600"/>
          </a:xfrm>
          <a:prstGeom prst="ellipse">
            <a:avLst/>
          </a:prstGeom>
          <a:solidFill>
            <a:srgbClr val="E8C9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9144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E8C9C1"/>
                </a:solidFill>
                <a:latin typeface="Calibri"/>
              </a:rPr>
              <a:t>LARRY RAWLINGS PHOTOGRAPHY</a:t>
            </a:r>
          </a:p>
          <a:p>
            <a:pPr algn="l">
              <a:spcAft>
                <a:spcPts val="1000"/>
              </a:spcAft>
            </a:pPr>
            <a:r>
              <a:rPr sz="4200" b="1">
                <a:solidFill>
                  <a:srgbClr val="FFFFFF"/>
                </a:solidFill>
                <a:latin typeface="Calibri Light"/>
              </a:rPr>
              <a:t>The Wedding Day Guide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C9C1"/>
                </a:solidFill>
                <a:latin typeface="Calibri"/>
              </a:rPr>
              <a:t>Everything we plan, together, before the camera comes out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98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5A3A4A"/>
                </a:solidFill>
                <a:latin typeface="Calibri Light"/>
              </a:rPr>
              <a:t>The day, in four movements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A9824C"/>
                </a:solidFill>
                <a:latin typeface="Calibri"/>
              </a:rPr>
              <a:t>Getting ready.  </a:t>
            </a:r>
            <a:r>
              <a:rPr sz="1800">
                <a:solidFill>
                  <a:srgbClr val="2A1F26"/>
                </a:solidFill>
                <a:latin typeface="Calibri"/>
              </a:rPr>
              <a:t>Quiet, candid frames of the hours before, in good window light.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A9824C"/>
                </a:solidFill>
                <a:latin typeface="Calibri"/>
              </a:rPr>
              <a:t>The ceremony.  </a:t>
            </a:r>
            <a:r>
              <a:rPr sz="1800">
                <a:solidFill>
                  <a:srgbClr val="2A1F26"/>
                </a:solidFill>
                <a:latin typeface="Calibri"/>
              </a:rPr>
              <a:t>Unobtrusive coverage from the aisle and the back, never between you and your people.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A9824C"/>
                </a:solidFill>
                <a:latin typeface="Calibri"/>
              </a:rPr>
              <a:t>Portraits.  </a:t>
            </a:r>
            <a:r>
              <a:rPr sz="1800">
                <a:solidFill>
                  <a:srgbClr val="2A1F26"/>
                </a:solidFill>
                <a:latin typeface="Calibri"/>
              </a:rPr>
              <a:t>Twenty focused minutes at golden hour while the reception sets up.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A9824C"/>
                </a:solidFill>
                <a:latin typeface="Calibri"/>
              </a:rPr>
              <a:t>The celebration.  </a:t>
            </a:r>
            <a:r>
              <a:rPr sz="1800">
                <a:solidFill>
                  <a:srgbClr val="2A1F26"/>
                </a:solidFill>
                <a:latin typeface="Calibri"/>
              </a:rPr>
              <a:t>Candid documentation through dinner, toasts, and the dance floor.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5A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What is included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4937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42976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A9824C"/>
                </a:solidFill>
                <a:latin typeface="Calibri"/>
              </a:rPr>
              <a:t>THE COLLECTION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2A1F26"/>
                </a:solidFill>
                <a:latin typeface="Calibri"/>
              </a:rPr>
              <a:t>Nine hours of coverage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2A1F26"/>
                </a:solidFill>
                <a:latin typeface="Calibri"/>
              </a:rPr>
              <a:t>Minimum 400 edited images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2A1F26"/>
                </a:solidFill>
                <a:latin typeface="Calibri"/>
              </a:rPr>
              <a:t>Private online gallery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2A1F26"/>
                </a:solidFill>
                <a:latin typeface="Calibri"/>
              </a:rPr>
              <a:t>Print release for your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4937760" cy="4023360"/>
          </a:xfrm>
          <a:prstGeom prst="rect">
            <a:avLst/>
          </a:prstGeom>
          <a:solidFill>
            <a:srgbClr val="5A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94560"/>
            <a:ext cx="4297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E8C9C1"/>
                </a:solidFill>
                <a:latin typeface="Calibri"/>
              </a:rPr>
              <a:t>INVESTMENT</a:t>
            </a:r>
          </a:p>
          <a:p>
            <a:pPr algn="l">
              <a:spcAft>
                <a:spcPts val="12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$3,000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8C9C1"/>
                </a:solidFill>
                <a:latin typeface="Calibri"/>
              </a:rPr>
              <a:t>50% to reserve your date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8C9C1"/>
                </a:solidFill>
                <a:latin typeface="Calibri"/>
              </a:rPr>
              <a:t>Balance due before the wedding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A98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 simple timeline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554480"/>
          <a:ext cx="10515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1280160"/>
            <a:ext cx="4572000" cy="4572000"/>
          </a:xfrm>
          <a:prstGeom prst="ellipse">
            <a:avLst/>
          </a:prstGeom>
          <a:solidFill>
            <a:srgbClr val="A98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9144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 would be honored to photograph your day.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8C9C1"/>
                </a:solidFill>
                <a:latin typeface="Calibri"/>
              </a:rPr>
              <a:t>larry@larryrawlingsphoto.com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8C9C1"/>
                </a:solidFill>
                <a:latin typeface="Calibri"/>
              </a:rPr>
              <a:t>Charlotte, North Carolina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