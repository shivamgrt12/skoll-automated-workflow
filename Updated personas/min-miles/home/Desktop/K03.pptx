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Applied this season</c:v>
                </c:pt>
              </c:strCache>
            </c:strRef>
          </c:tx>
          <c:spPr>
            <a:solidFill>
              <a:srgbClr val="A8552E"/>
            </a:solidFill>
          </c:spPr>
          <c:cat>
            <c:strRef>
              <c:f>Sheet1!$A$2:$A$4</c:f>
              <c:strCache>
                <c:ptCount val="3"/>
                <c:pt idx="0">
                  <c:v>E-1</c:v>
                </c:pt>
                <c:pt idx="1">
                  <c:v>E-2</c:v>
                </c:pt>
                <c:pt idx="2">
                  <c:v>E-3</c:v>
                </c:pt>
              </c:strCache>
            </c:strRef>
          </c:cat>
          <c:val>
            <c:numRef>
              <c:f>Sheet1!$B$2:$B$4</c:f>
              <c:numCache>
                <c:formatCode>General</c:formatCode>
                <c:ptCount val="3"/>
                <c:pt idx="0">
                  <c:v>2.8</c:v>
                </c:pt>
                <c:pt idx="1">
                  <c:v>2.5</c:v>
                </c:pt>
                <c:pt idx="2">
                  <c:v>2.6</c:v>
                </c:pt>
              </c:numCache>
            </c:numRef>
          </c:val>
        </c:ser>
        <c:ser>
          <c:idx val="1"/>
          <c:order val="1"/>
          <c:tx>
            <c:strRef>
              <c:f>Sheet1!$C$1</c:f>
              <c:strCache>
                <c:ptCount val="1"/>
                <c:pt idx="0">
                  <c:v>Headroom to ceiling</c:v>
                </c:pt>
              </c:strCache>
            </c:strRef>
          </c:tx>
          <c:spPr>
            <a:solidFill>
              <a:srgbClr val="EFE6D2"/>
            </a:solidFill>
          </c:spPr>
          <c:cat>
            <c:strRef>
              <c:f>Sheet1!$A$2:$A$4</c:f>
              <c:strCache>
                <c:ptCount val="3"/>
                <c:pt idx="0">
                  <c:v>E-1</c:v>
                </c:pt>
                <c:pt idx="1">
                  <c:v>E-2</c:v>
                </c:pt>
                <c:pt idx="2">
                  <c:v>E-3</c:v>
                </c:pt>
              </c:strCache>
            </c:strRef>
          </c:cat>
          <c:val>
            <c:numRef>
              <c:f>Sheet1!$C$2:$C$4</c:f>
              <c:numCache>
                <c:formatCode>General</c:formatCode>
                <c:ptCount val="3"/>
                <c:pt idx="0">
                  <c:v>1.2</c:v>
                </c:pt>
                <c:pt idx="1">
                  <c:v>1.5</c:v>
                </c:pt>
                <c:pt idx="2">
                  <c:v>1.4</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4.0"/>
        </c:scaling>
        <c:delete val="0"/>
        <c:axPos val="l"/>
        <c:majorGridlines>
          <c:spPr>
            <a:ln>
              <a:solidFill>
                <a:srgbClr val="E2D8C2"/>
              </a:solidFill>
            </a:ln>
          </c:spPr>
        </c:majorGridlines>
        <c:majorTickMark val="out"/>
        <c:minorTickMark val="none"/>
        <c:tickLblPos val="nextTo"/>
        <c:crossAx val="-2068027336"/>
        <c:crosses val="autoZero"/>
      </c:valAx>
    </c:plotArea>
    <c:legend>
      <c:legendPos val="b"/>
      <c:overlay val="0"/>
    </c:legend>
    <c:dispBlanksAs val="gap"/>
  </c:chart>
  <c:txPr>
    <a:bodyPr/>
    <a:lstStyle/>
    <a:p>
      <a:pPr>
        <a:defRPr sz="1100">
          <a:solidFill>
            <a:srgbClr val="2F2A22"/>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A21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A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2377440"/>
          </a:xfrm>
          <a:prstGeom prst="rect">
            <a:avLst/>
          </a:prstGeom>
          <a:solidFill>
            <a:srgbClr val="7E3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370832"/>
            <a:ext cx="12191695" cy="109728"/>
          </a:xfrm>
          <a:prstGeom prst="rect">
            <a:avLst/>
          </a:prstGeom>
          <a:solidFill>
            <a:srgbClr val="C29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051560"/>
            <a:ext cx="10058400" cy="457200"/>
          </a:xfrm>
          <a:prstGeom prst="rect">
            <a:avLst/>
          </a:prstGeom>
          <a:noFill/>
        </p:spPr>
        <p:txBody>
          <a:bodyPr wrap="square" anchor="t" lIns="25400" rIns="25400" tIns="12700" bIns="12700">
            <a:spAutoFit/>
          </a:bodyPr>
          <a:lstStyle/>
          <a:p>
            <a:pPr algn="l"/>
            <a:r>
              <a:rPr sz="1500" b="1">
                <a:solidFill>
                  <a:srgbClr val="C2922F"/>
                </a:solidFill>
                <a:latin typeface="Calibri"/>
              </a:rPr>
              <a:t>EAST GROVE, ORGANIC CONVERSION</a:t>
            </a:r>
          </a:p>
        </p:txBody>
      </p:sp>
      <p:sp>
        <p:nvSpPr>
          <p:cNvPr id="6" name="TextBox 5"/>
          <p:cNvSpPr txBox="1"/>
          <p:nvPr/>
        </p:nvSpPr>
        <p:spPr>
          <a:xfrm>
            <a:off x="822960" y="1554480"/>
            <a:ext cx="10424160" cy="2377440"/>
          </a:xfrm>
          <a:prstGeom prst="rect">
            <a:avLst/>
          </a:prstGeom>
          <a:noFill/>
        </p:spPr>
        <p:txBody>
          <a:bodyPr wrap="square" anchor="t" lIns="25400" rIns="25400" tIns="12700" bIns="12700">
            <a:spAutoFit/>
          </a:bodyPr>
          <a:lstStyle/>
          <a:p>
            <a:pPr algn="l">
              <a:lnSpc>
                <a:spcPct val="105000"/>
              </a:lnSpc>
            </a:pPr>
            <a:r>
              <a:rPr sz="4200" b="1">
                <a:solidFill>
                  <a:srgbClr val="FFFFFF"/>
                </a:solidFill>
                <a:latin typeface="Calibri Light"/>
              </a:rPr>
              <a:t>Year Two Progress Report</a:t>
            </a:r>
          </a:p>
          <a:p>
            <a:pPr algn="l">
              <a:lnSpc>
                <a:spcPct val="105000"/>
              </a:lnSpc>
            </a:pPr>
            <a:r>
              <a:rPr sz="2000" b="0">
                <a:solidFill>
                  <a:srgbClr val="EFE6D2"/>
                </a:solidFill>
                <a:latin typeface="Calibri"/>
              </a:rPr>
              <a:t>Twelve hectares on the road to certified organic</a:t>
            </a:r>
          </a:p>
        </p:txBody>
      </p:sp>
      <p:sp>
        <p:nvSpPr>
          <p:cNvPr id="7" name="TextBox 6"/>
          <p:cNvSpPr txBox="1"/>
          <p:nvPr/>
        </p:nvSpPr>
        <p:spPr>
          <a:xfrm>
            <a:off x="822960" y="4800600"/>
            <a:ext cx="10058400" cy="1463040"/>
          </a:xfrm>
          <a:prstGeom prst="rect">
            <a:avLst/>
          </a:prstGeom>
          <a:noFill/>
        </p:spPr>
        <p:txBody>
          <a:bodyPr wrap="square" anchor="t" lIns="25400" rIns="25400" tIns="12700" bIns="12700">
            <a:spAutoFit/>
          </a:bodyPr>
          <a:lstStyle/>
          <a:p>
            <a:pPr algn="l">
              <a:lnSpc>
                <a:spcPct val="130000"/>
              </a:lnSpc>
            </a:pPr>
            <a:r>
              <a:rPr sz="1500" b="0">
                <a:solidFill>
                  <a:srgbClr val="F0E2D6"/>
                </a:solidFill>
                <a:latin typeface="Calibri"/>
              </a:rPr>
              <a:t>Finca Miles  |  Parcels E-1, E-2 and E-3</a:t>
            </a:r>
          </a:p>
          <a:p>
            <a:pPr algn="l">
              <a:lnSpc>
                <a:spcPct val="130000"/>
              </a:lnSpc>
            </a:pPr>
            <a:r>
              <a:rPr sz="1250" b="0">
                <a:solidFill>
                  <a:srgbClr val="E7D2C2"/>
                </a:solidFill>
                <a:latin typeface="Calibri"/>
              </a:rPr>
              <a:t>Prepared for the cooperative technical committee by Min Miles Park</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0972800" cy="731520"/>
          </a:xfrm>
          <a:prstGeom prst="rect">
            <a:avLst/>
          </a:prstGeom>
          <a:noFill/>
        </p:spPr>
        <p:txBody>
          <a:bodyPr wrap="square" anchor="t" lIns="25400" rIns="25400" tIns="12700" bIns="12700">
            <a:spAutoFit/>
          </a:bodyPr>
          <a:lstStyle/>
          <a:p>
            <a:pPr algn="l"/>
            <a:r>
              <a:rPr sz="2500" b="1">
                <a:solidFill>
                  <a:srgbClr val="FFFFFF"/>
                </a:solidFill>
                <a:latin typeface="Calibri"/>
              </a:rPr>
              <a:t>The conversion at a glance</a:t>
            </a:r>
          </a:p>
          <a:p>
            <a:pPr algn="l"/>
            <a:r>
              <a:rPr sz="1300" b="0">
                <a:solidFill>
                  <a:srgbClr val="EFE6D2"/>
                </a:solidFill>
                <a:latin typeface="Calibri"/>
              </a:rPr>
              <a:t>Where the east grove stands today</a:t>
            </a:r>
          </a:p>
        </p:txBody>
      </p:sp>
      <p:sp>
        <p:nvSpPr>
          <p:cNvPr id="4" name="Rounded Rectangle 3"/>
          <p:cNvSpPr/>
          <p:nvPr/>
        </p:nvSpPr>
        <p:spPr>
          <a:xfrm>
            <a:off x="548640" y="1417320"/>
            <a:ext cx="2697480" cy="1554480"/>
          </a:xfrm>
          <a:prstGeom prst="roundRect">
            <a:avLst/>
          </a:prstGeom>
          <a:solidFill>
            <a:srgbClr val="FFFFFF"/>
          </a:solidFill>
          <a:ln>
            <a:no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2697480" cy="73152"/>
          </a:xfrm>
          <a:prstGeom prst="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81912"/>
            <a:ext cx="2697480" cy="640080"/>
          </a:xfrm>
          <a:prstGeom prst="rect">
            <a:avLst/>
          </a:prstGeom>
          <a:noFill/>
        </p:spPr>
        <p:txBody>
          <a:bodyPr wrap="square" anchor="ctr" lIns="25400" rIns="25400" tIns="12700" bIns="12700">
            <a:spAutoFit/>
          </a:bodyPr>
          <a:lstStyle/>
          <a:p>
            <a:pPr algn="ctr"/>
            <a:r>
              <a:rPr sz="3000" b="1">
                <a:solidFill>
                  <a:srgbClr val="A8552E"/>
                </a:solidFill>
                <a:latin typeface="Calibri"/>
              </a:rPr>
              <a:t>12 ha</a:t>
            </a:r>
          </a:p>
        </p:txBody>
      </p:sp>
      <p:sp>
        <p:nvSpPr>
          <p:cNvPr id="7" name="TextBox 6"/>
          <p:cNvSpPr txBox="1"/>
          <p:nvPr/>
        </p:nvSpPr>
        <p:spPr>
          <a:xfrm>
            <a:off x="548640" y="2468880"/>
            <a:ext cx="2697480" cy="411480"/>
          </a:xfrm>
          <a:prstGeom prst="rect">
            <a:avLst/>
          </a:prstGeom>
          <a:noFill/>
        </p:spPr>
        <p:txBody>
          <a:bodyPr wrap="square" anchor="ctr" lIns="25400" rIns="25400" tIns="12700" bIns="12700">
            <a:spAutoFit/>
          </a:bodyPr>
          <a:lstStyle/>
          <a:p>
            <a:pPr algn="ctr"/>
            <a:r>
              <a:rPr sz="1050" b="0">
                <a:solidFill>
                  <a:srgbClr val="857C6B"/>
                </a:solidFill>
                <a:latin typeface="Calibri"/>
              </a:rPr>
              <a:t>Under conversion</a:t>
            </a:r>
          </a:p>
        </p:txBody>
      </p:sp>
      <p:sp>
        <p:nvSpPr>
          <p:cNvPr id="8" name="Rounded Rectangle 7"/>
          <p:cNvSpPr/>
          <p:nvPr/>
        </p:nvSpPr>
        <p:spPr>
          <a:xfrm>
            <a:off x="3456432" y="1417320"/>
            <a:ext cx="2697480" cy="1554480"/>
          </a:xfrm>
          <a:prstGeom prst="roundRect">
            <a:avLst/>
          </a:prstGeom>
          <a:solidFill>
            <a:srgbClr val="FFFFFF"/>
          </a:solidFill>
          <a:ln>
            <a:no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456432" y="1417320"/>
            <a:ext cx="2697480" cy="73152"/>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581912"/>
            <a:ext cx="2697480" cy="640080"/>
          </a:xfrm>
          <a:prstGeom prst="rect">
            <a:avLst/>
          </a:prstGeom>
          <a:noFill/>
        </p:spPr>
        <p:txBody>
          <a:bodyPr wrap="square" anchor="ctr" lIns="25400" rIns="25400" tIns="12700" bIns="12700">
            <a:spAutoFit/>
          </a:bodyPr>
          <a:lstStyle/>
          <a:p>
            <a:pPr algn="ctr"/>
            <a:r>
              <a:rPr sz="3000" b="1">
                <a:solidFill>
                  <a:srgbClr val="6B7A4F"/>
                </a:solidFill>
                <a:latin typeface="Calibri"/>
              </a:rPr>
              <a:t>Year 2</a:t>
            </a:r>
          </a:p>
        </p:txBody>
      </p:sp>
      <p:sp>
        <p:nvSpPr>
          <p:cNvPr id="11" name="TextBox 10"/>
          <p:cNvSpPr txBox="1"/>
          <p:nvPr/>
        </p:nvSpPr>
        <p:spPr>
          <a:xfrm>
            <a:off x="3456432" y="2468880"/>
            <a:ext cx="2697480" cy="411480"/>
          </a:xfrm>
          <a:prstGeom prst="rect">
            <a:avLst/>
          </a:prstGeom>
          <a:noFill/>
        </p:spPr>
        <p:txBody>
          <a:bodyPr wrap="square" anchor="ctr" lIns="25400" rIns="25400" tIns="12700" bIns="12700">
            <a:spAutoFit/>
          </a:bodyPr>
          <a:lstStyle/>
          <a:p>
            <a:pPr algn="ctr"/>
            <a:r>
              <a:rPr sz="1050" b="0">
                <a:solidFill>
                  <a:srgbClr val="857C6B"/>
                </a:solidFill>
                <a:latin typeface="Calibri"/>
              </a:rPr>
              <a:t>of a three year window</a:t>
            </a:r>
          </a:p>
        </p:txBody>
      </p:sp>
      <p:sp>
        <p:nvSpPr>
          <p:cNvPr id="12" name="Rounded Rectangle 11"/>
          <p:cNvSpPr/>
          <p:nvPr/>
        </p:nvSpPr>
        <p:spPr>
          <a:xfrm>
            <a:off x="6364224" y="1417320"/>
            <a:ext cx="2697480" cy="1554480"/>
          </a:xfrm>
          <a:prstGeom prst="roundRect">
            <a:avLst/>
          </a:prstGeom>
          <a:solidFill>
            <a:srgbClr val="FFFFFF"/>
          </a:solidFill>
          <a:ln>
            <a:no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64224" y="1417320"/>
            <a:ext cx="2697480" cy="73152"/>
          </a:xfrm>
          <a:prstGeom prst="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581912"/>
            <a:ext cx="2697480" cy="640080"/>
          </a:xfrm>
          <a:prstGeom prst="rect">
            <a:avLst/>
          </a:prstGeom>
          <a:noFill/>
        </p:spPr>
        <p:txBody>
          <a:bodyPr wrap="square" anchor="ctr" lIns="25400" rIns="25400" tIns="12700" bIns="12700">
            <a:spAutoFit/>
          </a:bodyPr>
          <a:lstStyle/>
          <a:p>
            <a:pPr algn="ctr"/>
            <a:r>
              <a:rPr sz="3000" b="1">
                <a:solidFill>
                  <a:srgbClr val="A8552E"/>
                </a:solidFill>
                <a:latin typeface="Calibri"/>
              </a:rPr>
              <a:t>Q1 2027</a:t>
            </a:r>
          </a:p>
        </p:txBody>
      </p:sp>
      <p:sp>
        <p:nvSpPr>
          <p:cNvPr id="15" name="TextBox 14"/>
          <p:cNvSpPr txBox="1"/>
          <p:nvPr/>
        </p:nvSpPr>
        <p:spPr>
          <a:xfrm>
            <a:off x="6364224" y="2468880"/>
            <a:ext cx="2697480" cy="411480"/>
          </a:xfrm>
          <a:prstGeom prst="rect">
            <a:avLst/>
          </a:prstGeom>
          <a:noFill/>
        </p:spPr>
        <p:txBody>
          <a:bodyPr wrap="square" anchor="ctr" lIns="25400" rIns="25400" tIns="12700" bIns="12700">
            <a:spAutoFit/>
          </a:bodyPr>
          <a:lstStyle/>
          <a:p>
            <a:pPr algn="ctr"/>
            <a:r>
              <a:rPr sz="1050" b="0">
                <a:solidFill>
                  <a:srgbClr val="857C6B"/>
                </a:solidFill>
                <a:latin typeface="Calibri"/>
              </a:rPr>
              <a:t>Certification expected</a:t>
            </a:r>
          </a:p>
        </p:txBody>
      </p:sp>
      <p:sp>
        <p:nvSpPr>
          <p:cNvPr id="16" name="Rounded Rectangle 15"/>
          <p:cNvSpPr/>
          <p:nvPr/>
        </p:nvSpPr>
        <p:spPr>
          <a:xfrm>
            <a:off x="9272016" y="1417320"/>
            <a:ext cx="2697480" cy="1554480"/>
          </a:xfrm>
          <a:prstGeom prst="roundRect">
            <a:avLst/>
          </a:prstGeom>
          <a:solidFill>
            <a:srgbClr val="FFFFFF"/>
          </a:solidFill>
          <a:ln>
            <a:no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72016" y="1417320"/>
            <a:ext cx="2697480" cy="73152"/>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72016" y="1581912"/>
            <a:ext cx="2697480" cy="640080"/>
          </a:xfrm>
          <a:prstGeom prst="rect">
            <a:avLst/>
          </a:prstGeom>
          <a:noFill/>
        </p:spPr>
        <p:txBody>
          <a:bodyPr wrap="square" anchor="ctr" lIns="25400" rIns="25400" tIns="12700" bIns="12700">
            <a:spAutoFit/>
          </a:bodyPr>
          <a:lstStyle/>
          <a:p>
            <a:pPr algn="ctr"/>
            <a:r>
              <a:rPr sz="3000" b="1">
                <a:solidFill>
                  <a:srgbClr val="6B7A4F"/>
                </a:solidFill>
                <a:latin typeface="Calibri"/>
              </a:rPr>
              <a:t>4.0</a:t>
            </a:r>
          </a:p>
        </p:txBody>
      </p:sp>
      <p:sp>
        <p:nvSpPr>
          <p:cNvPr id="19" name="TextBox 18"/>
          <p:cNvSpPr txBox="1"/>
          <p:nvPr/>
        </p:nvSpPr>
        <p:spPr>
          <a:xfrm>
            <a:off x="9272016" y="2468880"/>
            <a:ext cx="2697480" cy="411480"/>
          </a:xfrm>
          <a:prstGeom prst="rect">
            <a:avLst/>
          </a:prstGeom>
          <a:noFill/>
        </p:spPr>
        <p:txBody>
          <a:bodyPr wrap="square" anchor="ctr" lIns="25400" rIns="25400" tIns="12700" bIns="12700">
            <a:spAutoFit/>
          </a:bodyPr>
          <a:lstStyle/>
          <a:p>
            <a:pPr algn="ctr"/>
            <a:r>
              <a:rPr sz="1050" b="0">
                <a:solidFill>
                  <a:srgbClr val="857C6B"/>
                </a:solidFill>
                <a:latin typeface="Calibri"/>
              </a:rPr>
              <a:t>Copper ceiling, kg/ha/yr</a:t>
            </a:r>
          </a:p>
        </p:txBody>
      </p:sp>
      <p:sp>
        <p:nvSpPr>
          <p:cNvPr id="20" name="TextBox 19"/>
          <p:cNvSpPr txBox="1"/>
          <p:nvPr/>
        </p:nvSpPr>
        <p:spPr>
          <a:xfrm>
            <a:off x="548640" y="3383280"/>
            <a:ext cx="10972800" cy="2194560"/>
          </a:xfrm>
          <a:prstGeom prst="rect">
            <a:avLst/>
          </a:prstGeom>
          <a:noFill/>
        </p:spPr>
        <p:txBody>
          <a:bodyPr wrap="square" anchor="t" lIns="25400" rIns="25400" tIns="12700" bIns="12700">
            <a:spAutoFit/>
          </a:bodyPr>
          <a:lstStyle/>
          <a:p>
            <a:pPr algn="l">
              <a:lnSpc>
                <a:spcPct val="120000"/>
              </a:lnSpc>
            </a:pPr>
            <a:r>
              <a:rPr sz="1500" b="0">
                <a:solidFill>
                  <a:srgbClr val="2F2A22"/>
                </a:solidFill>
                <a:latin typeface="Calibri"/>
              </a:rPr>
              <a:t>The east grove stopped all non permitted inputs on the first of November 2024. Year one closed clean. </a:t>
            </a:r>
          </a:p>
          <a:p>
            <a:pPr algn="l">
              <a:lnSpc>
                <a:spcPct val="120000"/>
              </a:lnSpc>
            </a:pPr>
            <a:r>
              <a:rPr sz="1500" b="0">
                <a:solidFill>
                  <a:srgbClr val="2F2A22"/>
                </a:solidFill>
                <a:latin typeface="Calibri"/>
              </a:rPr>
              <a:t>Year two, the current season, is recorded in full in the field diary. The thirty six month period closes on the last day of October 2027, after which the fruit may be sold as certified organic.</a:t>
            </a:r>
          </a:p>
        </p:txBody>
      </p:sp>
      <p:sp>
        <p:nvSpPr>
          <p:cNvPr id="21" name="TextBox 20"/>
          <p:cNvSpPr txBox="1"/>
          <p:nvPr/>
        </p:nvSpPr>
        <p:spPr>
          <a:xfrm>
            <a:off x="502920" y="6446520"/>
            <a:ext cx="11155680" cy="320040"/>
          </a:xfrm>
          <a:prstGeom prst="rect">
            <a:avLst/>
          </a:prstGeom>
          <a:noFill/>
        </p:spPr>
        <p:txBody>
          <a:bodyPr wrap="square" anchor="t" lIns="25400" rIns="25400" tIns="12700" bIns="12700">
            <a:spAutoFit/>
          </a:bodyPr>
          <a:lstStyle/>
          <a:p>
            <a:pPr algn="l"/>
            <a:r>
              <a:rPr sz="900" b="0">
                <a:solidFill>
                  <a:srgbClr val="857C6B"/>
                </a:solidFill>
                <a:latin typeface="Calibri"/>
              </a:rPr>
              <a:t>Finca Miles  |  East Grove Conversion</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0972800" cy="731520"/>
          </a:xfrm>
          <a:prstGeom prst="rect">
            <a:avLst/>
          </a:prstGeom>
          <a:noFill/>
        </p:spPr>
        <p:txBody>
          <a:bodyPr wrap="square" anchor="t" lIns="25400" rIns="25400" tIns="12700" bIns="12700">
            <a:spAutoFit/>
          </a:bodyPr>
          <a:lstStyle/>
          <a:p>
            <a:pPr algn="l"/>
            <a:r>
              <a:rPr sz="2500" b="1">
                <a:solidFill>
                  <a:srgbClr val="FFFFFF"/>
                </a:solidFill>
                <a:latin typeface="Calibri"/>
              </a:rPr>
              <a:t>Three year timeline</a:t>
            </a:r>
          </a:p>
          <a:p>
            <a:pPr algn="l"/>
            <a:r>
              <a:rPr sz="1300" b="0">
                <a:solidFill>
                  <a:srgbClr val="EFE6D2"/>
                </a:solidFill>
                <a:latin typeface="Calibri"/>
              </a:rPr>
              <a:t>Baseline to certification</a:t>
            </a:r>
          </a:p>
        </p:txBody>
      </p:sp>
      <p:sp>
        <p:nvSpPr>
          <p:cNvPr id="4" name="Rectangle 3"/>
          <p:cNvSpPr/>
          <p:nvPr/>
        </p:nvSpPr>
        <p:spPr>
          <a:xfrm>
            <a:off x="914400" y="2788920"/>
            <a:ext cx="10332720" cy="54864"/>
          </a:xfrm>
          <a:prstGeom prst="rect">
            <a:avLst/>
          </a:prstGeom>
          <a:solidFill>
            <a:srgbClr val="85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240280" y="2606040"/>
            <a:ext cx="411480" cy="411480"/>
          </a:xfrm>
          <a:prstGeom prst="ellipse">
            <a:avLst/>
          </a:prstGeom>
          <a:solidFill>
            <a:srgbClr val="4E5A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3246120"/>
            <a:ext cx="3291840" cy="228600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246120"/>
            <a:ext cx="3291840" cy="109728"/>
          </a:xfrm>
          <a:prstGeom prst="rect">
            <a:avLst/>
          </a:prstGeom>
          <a:solidFill>
            <a:srgbClr val="4E5A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474720"/>
            <a:ext cx="2743200" cy="457200"/>
          </a:xfrm>
          <a:prstGeom prst="rect">
            <a:avLst/>
          </a:prstGeom>
          <a:noFill/>
        </p:spPr>
        <p:txBody>
          <a:bodyPr wrap="square" anchor="t" lIns="25400" rIns="25400" tIns="12700" bIns="12700">
            <a:spAutoFit/>
          </a:bodyPr>
          <a:lstStyle/>
          <a:p>
            <a:pPr algn="l"/>
            <a:r>
              <a:rPr sz="2000" b="1">
                <a:solidFill>
                  <a:srgbClr val="4E5A39"/>
                </a:solidFill>
                <a:latin typeface="Calibri"/>
              </a:rPr>
              <a:t>Year 1</a:t>
            </a:r>
          </a:p>
        </p:txBody>
      </p:sp>
      <p:sp>
        <p:nvSpPr>
          <p:cNvPr id="9" name="TextBox 8"/>
          <p:cNvSpPr txBox="1"/>
          <p:nvPr/>
        </p:nvSpPr>
        <p:spPr>
          <a:xfrm>
            <a:off x="1188720" y="3931920"/>
            <a:ext cx="2743200" cy="365760"/>
          </a:xfrm>
          <a:prstGeom prst="rect">
            <a:avLst/>
          </a:prstGeom>
          <a:noFill/>
        </p:spPr>
        <p:txBody>
          <a:bodyPr wrap="square" anchor="t" lIns="25400" rIns="25400" tIns="12700" bIns="12700">
            <a:spAutoFit/>
          </a:bodyPr>
          <a:lstStyle/>
          <a:p>
            <a:pPr algn="l"/>
            <a:r>
              <a:rPr sz="1300" b="1">
                <a:solidFill>
                  <a:srgbClr val="857C6B"/>
                </a:solidFill>
                <a:latin typeface="Calibri"/>
              </a:rPr>
              <a:t>2024 to 2025</a:t>
            </a:r>
          </a:p>
        </p:txBody>
      </p:sp>
      <p:sp>
        <p:nvSpPr>
          <p:cNvPr id="10" name="TextBox 9"/>
          <p:cNvSpPr txBox="1"/>
          <p:nvPr/>
        </p:nvSpPr>
        <p:spPr>
          <a:xfrm>
            <a:off x="1188720" y="4389120"/>
            <a:ext cx="2788920" cy="1005840"/>
          </a:xfrm>
          <a:prstGeom prst="rect">
            <a:avLst/>
          </a:prstGeom>
          <a:noFill/>
        </p:spPr>
        <p:txBody>
          <a:bodyPr wrap="square" anchor="t" lIns="25400" rIns="25400" tIns="12700" bIns="12700">
            <a:spAutoFit/>
          </a:bodyPr>
          <a:lstStyle/>
          <a:p>
            <a:pPr algn="l">
              <a:lnSpc>
                <a:spcPct val="110000"/>
              </a:lnSpc>
            </a:pPr>
            <a:r>
              <a:rPr sz="1350" b="0">
                <a:solidFill>
                  <a:srgbClr val="2F2A22"/>
                </a:solidFill>
                <a:latin typeface="Calibri"/>
              </a:rPr>
              <a:t>Baseline, soil sampling, buffer establishment</a:t>
            </a:r>
          </a:p>
        </p:txBody>
      </p:sp>
      <p:sp>
        <p:nvSpPr>
          <p:cNvPr id="11" name="Oval 10"/>
          <p:cNvSpPr/>
          <p:nvPr/>
        </p:nvSpPr>
        <p:spPr>
          <a:xfrm>
            <a:off x="5852160" y="2606040"/>
            <a:ext cx="411480" cy="411480"/>
          </a:xfrm>
          <a:prstGeom prst="ellipse">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80" y="3246120"/>
            <a:ext cx="3291840" cy="228600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80" y="3246120"/>
            <a:ext cx="3291840" cy="109728"/>
          </a:xfrm>
          <a:prstGeom prst="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3474720"/>
            <a:ext cx="2743200" cy="457200"/>
          </a:xfrm>
          <a:prstGeom prst="rect">
            <a:avLst/>
          </a:prstGeom>
          <a:noFill/>
        </p:spPr>
        <p:txBody>
          <a:bodyPr wrap="square" anchor="t" lIns="25400" rIns="25400" tIns="12700" bIns="12700">
            <a:spAutoFit/>
          </a:bodyPr>
          <a:lstStyle/>
          <a:p>
            <a:pPr algn="l"/>
            <a:r>
              <a:rPr sz="2000" b="1">
                <a:solidFill>
                  <a:srgbClr val="A8552E"/>
                </a:solidFill>
                <a:latin typeface="Calibri"/>
              </a:rPr>
              <a:t>Year 2</a:t>
            </a:r>
          </a:p>
        </p:txBody>
      </p:sp>
      <p:sp>
        <p:nvSpPr>
          <p:cNvPr id="15" name="TextBox 14"/>
          <p:cNvSpPr txBox="1"/>
          <p:nvPr/>
        </p:nvSpPr>
        <p:spPr>
          <a:xfrm>
            <a:off x="4800600" y="3931920"/>
            <a:ext cx="2743200" cy="365760"/>
          </a:xfrm>
          <a:prstGeom prst="rect">
            <a:avLst/>
          </a:prstGeom>
          <a:noFill/>
        </p:spPr>
        <p:txBody>
          <a:bodyPr wrap="square" anchor="t" lIns="25400" rIns="25400" tIns="12700" bIns="12700">
            <a:spAutoFit/>
          </a:bodyPr>
          <a:lstStyle/>
          <a:p>
            <a:pPr algn="l"/>
            <a:r>
              <a:rPr sz="1300" b="1">
                <a:solidFill>
                  <a:srgbClr val="857C6B"/>
                </a:solidFill>
                <a:latin typeface="Calibri"/>
              </a:rPr>
              <a:t>2025 to 2026</a:t>
            </a:r>
          </a:p>
        </p:txBody>
      </p:sp>
      <p:sp>
        <p:nvSpPr>
          <p:cNvPr id="16" name="TextBox 15"/>
          <p:cNvSpPr txBox="1"/>
          <p:nvPr/>
        </p:nvSpPr>
        <p:spPr>
          <a:xfrm>
            <a:off x="4800600" y="4389120"/>
            <a:ext cx="2788920" cy="1005840"/>
          </a:xfrm>
          <a:prstGeom prst="rect">
            <a:avLst/>
          </a:prstGeom>
          <a:noFill/>
        </p:spPr>
        <p:txBody>
          <a:bodyPr wrap="square" anchor="t" lIns="25400" rIns="25400" tIns="12700" bIns="12700">
            <a:spAutoFit/>
          </a:bodyPr>
          <a:lstStyle/>
          <a:p>
            <a:pPr algn="l">
              <a:lnSpc>
                <a:spcPct val="110000"/>
              </a:lnSpc>
            </a:pPr>
            <a:r>
              <a:rPr sz="1350" b="0">
                <a:solidFill>
                  <a:srgbClr val="2F2A22"/>
                </a:solidFill>
                <a:latin typeface="Calibri"/>
              </a:rPr>
              <a:t>Cover cropping and copper managed defence, current</a:t>
            </a:r>
          </a:p>
        </p:txBody>
      </p:sp>
      <p:sp>
        <p:nvSpPr>
          <p:cNvPr id="17" name="Oval 16"/>
          <p:cNvSpPr/>
          <p:nvPr/>
        </p:nvSpPr>
        <p:spPr>
          <a:xfrm>
            <a:off x="9464040" y="2606040"/>
            <a:ext cx="411480" cy="411480"/>
          </a:xfrm>
          <a:prstGeom prst="ellipse">
            <a:avLst/>
          </a:prstGeom>
          <a:solidFill>
            <a:srgbClr val="7E3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60" y="3246120"/>
            <a:ext cx="3291840" cy="228600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0" y="3246120"/>
            <a:ext cx="3291840" cy="109728"/>
          </a:xfrm>
          <a:prstGeom prst="rect">
            <a:avLst/>
          </a:prstGeom>
          <a:solidFill>
            <a:srgbClr val="7E3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3474720"/>
            <a:ext cx="2743200" cy="457200"/>
          </a:xfrm>
          <a:prstGeom prst="rect">
            <a:avLst/>
          </a:prstGeom>
          <a:noFill/>
        </p:spPr>
        <p:txBody>
          <a:bodyPr wrap="square" anchor="t" lIns="25400" rIns="25400" tIns="12700" bIns="12700">
            <a:spAutoFit/>
          </a:bodyPr>
          <a:lstStyle/>
          <a:p>
            <a:pPr algn="l"/>
            <a:r>
              <a:rPr sz="2000" b="1">
                <a:solidFill>
                  <a:srgbClr val="7E3E20"/>
                </a:solidFill>
                <a:latin typeface="Calibri"/>
              </a:rPr>
              <a:t>Year 3</a:t>
            </a:r>
          </a:p>
        </p:txBody>
      </p:sp>
      <p:sp>
        <p:nvSpPr>
          <p:cNvPr id="21" name="TextBox 20"/>
          <p:cNvSpPr txBox="1"/>
          <p:nvPr/>
        </p:nvSpPr>
        <p:spPr>
          <a:xfrm>
            <a:off x="8412480" y="3931920"/>
            <a:ext cx="2743200" cy="365760"/>
          </a:xfrm>
          <a:prstGeom prst="rect">
            <a:avLst/>
          </a:prstGeom>
          <a:noFill/>
        </p:spPr>
        <p:txBody>
          <a:bodyPr wrap="square" anchor="t" lIns="25400" rIns="25400" tIns="12700" bIns="12700">
            <a:spAutoFit/>
          </a:bodyPr>
          <a:lstStyle/>
          <a:p>
            <a:pPr algn="l"/>
            <a:r>
              <a:rPr sz="1300" b="1">
                <a:solidFill>
                  <a:srgbClr val="857C6B"/>
                </a:solidFill>
                <a:latin typeface="Calibri"/>
              </a:rPr>
              <a:t>2026 to 2027</a:t>
            </a:r>
          </a:p>
        </p:txBody>
      </p:sp>
      <p:sp>
        <p:nvSpPr>
          <p:cNvPr id="22" name="TextBox 21"/>
          <p:cNvSpPr txBox="1"/>
          <p:nvPr/>
        </p:nvSpPr>
        <p:spPr>
          <a:xfrm>
            <a:off x="8412480" y="4389120"/>
            <a:ext cx="2788920" cy="1005840"/>
          </a:xfrm>
          <a:prstGeom prst="rect">
            <a:avLst/>
          </a:prstGeom>
          <a:noFill/>
        </p:spPr>
        <p:txBody>
          <a:bodyPr wrap="square" anchor="t" lIns="25400" rIns="25400" tIns="12700" bIns="12700">
            <a:spAutoFit/>
          </a:bodyPr>
          <a:lstStyle/>
          <a:p>
            <a:pPr algn="l">
              <a:lnSpc>
                <a:spcPct val="110000"/>
              </a:lnSpc>
            </a:pPr>
            <a:r>
              <a:rPr sz="1350" b="0">
                <a:solidFill>
                  <a:srgbClr val="2F2A22"/>
                </a:solidFill>
                <a:latin typeface="Calibri"/>
              </a:rPr>
              <a:t>Final conversion year, pre certification audit</a:t>
            </a:r>
          </a:p>
        </p:txBody>
      </p:sp>
      <p:sp>
        <p:nvSpPr>
          <p:cNvPr id="23" name="TextBox 22"/>
          <p:cNvSpPr txBox="1"/>
          <p:nvPr/>
        </p:nvSpPr>
        <p:spPr>
          <a:xfrm>
            <a:off x="914400" y="5806440"/>
            <a:ext cx="10058400" cy="457200"/>
          </a:xfrm>
          <a:prstGeom prst="rect">
            <a:avLst/>
          </a:prstGeom>
          <a:noFill/>
        </p:spPr>
        <p:txBody>
          <a:bodyPr wrap="square" anchor="t" lIns="25400" rIns="25400" tIns="12700" bIns="12700">
            <a:spAutoFit/>
          </a:bodyPr>
          <a:lstStyle/>
          <a:p>
            <a:pPr algn="l"/>
            <a:r>
              <a:rPr sz="1250" b="0">
                <a:solidFill>
                  <a:srgbClr val="857C6B"/>
                </a:solidFill>
                <a:latin typeface="Calibri"/>
              </a:rPr>
              <a:t>Certification decision target: first quarter 2027, pack submitted after season close.</a:t>
            </a:r>
          </a:p>
        </p:txBody>
      </p:sp>
      <p:sp>
        <p:nvSpPr>
          <p:cNvPr id="24" name="TextBox 23"/>
          <p:cNvSpPr txBox="1"/>
          <p:nvPr/>
        </p:nvSpPr>
        <p:spPr>
          <a:xfrm>
            <a:off x="502920" y="6446520"/>
            <a:ext cx="11155680" cy="320040"/>
          </a:xfrm>
          <a:prstGeom prst="rect">
            <a:avLst/>
          </a:prstGeom>
          <a:noFill/>
        </p:spPr>
        <p:txBody>
          <a:bodyPr wrap="square" anchor="t" lIns="25400" rIns="25400" tIns="12700" bIns="12700">
            <a:spAutoFit/>
          </a:bodyPr>
          <a:lstStyle/>
          <a:p>
            <a:pPr algn="l"/>
            <a:r>
              <a:rPr sz="900" b="0">
                <a:solidFill>
                  <a:srgbClr val="857C6B"/>
                </a:solidFill>
                <a:latin typeface="Calibri"/>
              </a:rPr>
              <a:t>Finca Miles  |  East Grove Conversion</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0972800" cy="731520"/>
          </a:xfrm>
          <a:prstGeom prst="rect">
            <a:avLst/>
          </a:prstGeom>
          <a:noFill/>
        </p:spPr>
        <p:txBody>
          <a:bodyPr wrap="square" anchor="t" lIns="25400" rIns="25400" tIns="12700" bIns="12700">
            <a:spAutoFit/>
          </a:bodyPr>
          <a:lstStyle/>
          <a:p>
            <a:pPr algn="l"/>
            <a:r>
              <a:rPr sz="2500" b="1">
                <a:solidFill>
                  <a:srgbClr val="FFFFFF"/>
                </a:solidFill>
                <a:latin typeface="Calibri"/>
              </a:rPr>
              <a:t>Copper, inside the ceiling</a:t>
            </a:r>
          </a:p>
          <a:p>
            <a:pPr algn="l"/>
            <a:r>
              <a:rPr sz="1300" b="0">
                <a:solidFill>
                  <a:srgbClr val="EFE6D2"/>
                </a:solidFill>
                <a:latin typeface="Calibri"/>
              </a:rPr>
              <a:t>Applied against the 4.0 kg per hectare annual cap</a:t>
            </a:r>
          </a:p>
        </p:txBody>
      </p:sp>
      <p:graphicFrame>
        <p:nvGraphicFramePr>
          <p:cNvPr id="4" name="Chart 3"/>
          <p:cNvGraphicFramePr>
            <a:graphicFrameLocks noGrp="1"/>
          </p:cNvGraphicFramePr>
          <p:nvPr/>
        </p:nvGraphicFramePr>
        <p:xfrm>
          <a:off x="640080" y="1371600"/>
          <a:ext cx="6766560" cy="4297680"/>
        </p:xfrm>
        <a:graphic>
          <a:graphicData uri="http://schemas.openxmlformats.org/drawingml/2006/chart">
            <c:chart xmlns:c="http://schemas.openxmlformats.org/drawingml/2006/chart" r:id="rId2"/>
          </a:graphicData>
        </a:graphic>
      </p:graphicFrame>
      <p:sp>
        <p:nvSpPr>
          <p:cNvPr id="5" name="Rounded Rectangle 4"/>
          <p:cNvSpPr/>
          <p:nvPr/>
        </p:nvSpPr>
        <p:spPr>
          <a:xfrm>
            <a:off x="7680960" y="1371600"/>
            <a:ext cx="3931920" cy="429768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0" y="1645920"/>
            <a:ext cx="3383280" cy="457200"/>
          </a:xfrm>
          <a:prstGeom prst="rect">
            <a:avLst/>
          </a:prstGeom>
          <a:noFill/>
        </p:spPr>
        <p:txBody>
          <a:bodyPr wrap="square" anchor="t" lIns="25400" rIns="25400" tIns="12700" bIns="12700">
            <a:spAutoFit/>
          </a:bodyPr>
          <a:lstStyle/>
          <a:p>
            <a:pPr algn="l"/>
            <a:r>
              <a:rPr sz="1600" b="1">
                <a:solidFill>
                  <a:srgbClr val="A8552E"/>
                </a:solidFill>
                <a:latin typeface="Calibri"/>
              </a:rPr>
              <a:t>Reading it</a:t>
            </a:r>
          </a:p>
        </p:txBody>
      </p:sp>
      <p:sp>
        <p:nvSpPr>
          <p:cNvPr id="7" name="TextBox 6"/>
          <p:cNvSpPr txBox="1"/>
          <p:nvPr/>
        </p:nvSpPr>
        <p:spPr>
          <a:xfrm>
            <a:off x="8001000" y="2240280"/>
            <a:ext cx="3383280" cy="3200400"/>
          </a:xfrm>
          <a:prstGeom prst="rect">
            <a:avLst/>
          </a:prstGeom>
          <a:noFill/>
        </p:spPr>
        <p:txBody>
          <a:bodyPr wrap="square">
            <a:spAutoFit/>
          </a:bodyPr>
          <a:lstStyle/>
          <a:p>
            <a:pPr>
              <a:lnSpc>
                <a:spcPct val="105000"/>
              </a:lnSpc>
              <a:spcAft>
                <a:spcPts val="1200"/>
              </a:spcAft>
            </a:pPr>
            <a:r>
              <a:rPr sz="1300">
                <a:solidFill>
                  <a:srgbClr val="2F2A22"/>
                </a:solidFill>
                <a:latin typeface="Calibri"/>
              </a:rPr>
              <a:t>•  Every parcel sits well under the 4.0 kg copper ceiling.</a:t>
            </a:r>
          </a:p>
          <a:p>
            <a:pPr>
              <a:lnSpc>
                <a:spcPct val="105000"/>
              </a:lnSpc>
              <a:spcAft>
                <a:spcPts val="1200"/>
              </a:spcAft>
            </a:pPr>
            <a:r>
              <a:rPr sz="1300">
                <a:solidFill>
                  <a:srgbClr val="2F2A22"/>
                </a:solidFill>
                <a:latin typeface="Calibri"/>
              </a:rPr>
              <a:t>•  Copper is averaged over a rolling five year window.</a:t>
            </a:r>
          </a:p>
          <a:p>
            <a:pPr>
              <a:lnSpc>
                <a:spcPct val="105000"/>
              </a:lnSpc>
              <a:spcAft>
                <a:spcPts val="1200"/>
              </a:spcAft>
            </a:pPr>
            <a:r>
              <a:rPr sz="1300">
                <a:solidFill>
                  <a:srgbClr val="2F2A22"/>
                </a:solidFill>
                <a:latin typeface="Calibri"/>
              </a:rPr>
              <a:t>•  Each pass is logged the same day with rate and batch lot.</a:t>
            </a:r>
          </a:p>
          <a:p>
            <a:pPr>
              <a:lnSpc>
                <a:spcPct val="105000"/>
              </a:lnSpc>
              <a:spcAft>
                <a:spcPts val="1200"/>
              </a:spcAft>
            </a:pPr>
            <a:r>
              <a:rPr sz="1300">
                <a:solidFill>
                  <a:srgbClr val="2F2A22"/>
                </a:solidFill>
                <a:latin typeface="Calibri"/>
              </a:rPr>
              <a:t>•  Headroom is kept for a wet, high pressure season.</a:t>
            </a:r>
          </a:p>
        </p:txBody>
      </p:sp>
      <p:sp>
        <p:nvSpPr>
          <p:cNvPr id="8" name="TextBox 7"/>
          <p:cNvSpPr txBox="1"/>
          <p:nvPr/>
        </p:nvSpPr>
        <p:spPr>
          <a:xfrm>
            <a:off x="502920" y="6446520"/>
            <a:ext cx="11155680" cy="320040"/>
          </a:xfrm>
          <a:prstGeom prst="rect">
            <a:avLst/>
          </a:prstGeom>
          <a:noFill/>
        </p:spPr>
        <p:txBody>
          <a:bodyPr wrap="square" anchor="t" lIns="25400" rIns="25400" tIns="12700" bIns="12700">
            <a:spAutoFit/>
          </a:bodyPr>
          <a:lstStyle/>
          <a:p>
            <a:pPr algn="l"/>
            <a:r>
              <a:rPr sz="900" b="0">
                <a:solidFill>
                  <a:srgbClr val="857C6B"/>
                </a:solidFill>
                <a:latin typeface="Calibri"/>
              </a:rPr>
              <a:t>Finca Miles  |  East Grove Conversion</a:t>
            </a:r>
          </a:p>
        </p:txBody>
      </p:sp>
    </p:spTree>
  </p:cSld>
  <p:clrMapOvr>
    <a:masterClrMapping/>
  </p:clrMapOvr>
  <p:transition spd="med">
    <p:push dir="l"/>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82880"/>
            <a:ext cx="10972800" cy="731520"/>
          </a:xfrm>
          <a:prstGeom prst="rect">
            <a:avLst/>
          </a:prstGeom>
          <a:noFill/>
        </p:spPr>
        <p:txBody>
          <a:bodyPr wrap="square" anchor="t" lIns="25400" rIns="25400" tIns="12700" bIns="12700">
            <a:spAutoFit/>
          </a:bodyPr>
          <a:lstStyle/>
          <a:p>
            <a:pPr algn="l"/>
            <a:r>
              <a:rPr sz="2400" b="1">
                <a:solidFill>
                  <a:srgbClr val="FFFFFF"/>
                </a:solidFill>
                <a:latin typeface="Calibri"/>
              </a:rPr>
              <a:t>From the field diary</a:t>
            </a:r>
          </a:p>
          <a:p>
            <a:pPr algn="l"/>
            <a:r>
              <a:rPr sz="1250" b="0">
                <a:solidFill>
                  <a:srgbClr val="EFE6D2"/>
                </a:solidFill>
                <a:latin typeface="Calibri"/>
              </a:rPr>
              <a:t>Same day logging, the heart of the audit</a:t>
            </a:r>
          </a:p>
        </p:txBody>
      </p:sp>
      <p:graphicFrame>
        <p:nvGraphicFramePr>
          <p:cNvPr id="4" name="Table 3"/>
          <p:cNvGraphicFramePr>
            <a:graphicFrameLocks noGrp="1"/>
          </p:cNvGraphicFramePr>
          <p:nvPr/>
        </p:nvGraphicFramePr>
        <p:xfrm>
          <a:off x="548640" y="1280160"/>
          <a:ext cx="11064240" cy="3383280"/>
        </p:xfrm>
        <a:graphic>
          <a:graphicData uri="http://schemas.openxmlformats.org/drawingml/2006/table">
            <a:tbl>
              <a:tblPr>
                <a:tableStyleId>{5C22544A-7EE6-4342-B048-85BDC9FD1C3A}</a:tableStyleId>
              </a:tblPr>
              <a:tblGrid>
                <a:gridCol w="1828800"/>
                <a:gridCol w="1188720"/>
                <a:gridCol w="3108960"/>
                <a:gridCol w="2743200"/>
                <a:gridCol w="2194560"/>
              </a:tblGrid>
              <a:tr h="563880">
                <a:tc>
                  <a:txBody>
                    <a:bodyPr wrap="square"/>
                    <a:lstStyle/>
                    <a:p>
                      <a:pPr algn="l"/>
                      <a:r>
                        <a:rPr sz="1200" b="1">
                          <a:solidFill>
                            <a:srgbClr val="FFFFFF"/>
                          </a:solidFill>
                          <a:latin typeface="Calibri"/>
                        </a:rPr>
                        <a:t>Date</a:t>
                      </a:r>
                    </a:p>
                  </a:txBody>
                  <a:tcPr marL="88900" marR="88900" marT="38100" marB="38100" anchor="ctr">
                    <a:solidFill>
                      <a:srgbClr val="6B7A4F"/>
                    </a:solidFill>
                  </a:tcPr>
                </a:tc>
                <a:tc>
                  <a:txBody>
                    <a:bodyPr wrap="square"/>
                    <a:lstStyle/>
                    <a:p>
                      <a:pPr algn="l"/>
                      <a:r>
                        <a:rPr sz="1200" b="1">
                          <a:solidFill>
                            <a:srgbClr val="FFFFFF"/>
                          </a:solidFill>
                          <a:latin typeface="Calibri"/>
                        </a:rPr>
                        <a:t>Parcel</a:t>
                      </a:r>
                    </a:p>
                  </a:txBody>
                  <a:tcPr marL="88900" marR="88900" marT="38100" marB="38100" anchor="ctr">
                    <a:solidFill>
                      <a:srgbClr val="6B7A4F"/>
                    </a:solidFill>
                  </a:tcPr>
                </a:tc>
                <a:tc>
                  <a:txBody>
                    <a:bodyPr wrap="square"/>
                    <a:lstStyle/>
                    <a:p>
                      <a:pPr algn="l"/>
                      <a:r>
                        <a:rPr sz="1200" b="1">
                          <a:solidFill>
                            <a:srgbClr val="FFFFFF"/>
                          </a:solidFill>
                          <a:latin typeface="Calibri"/>
                        </a:rPr>
                        <a:t>Operation</a:t>
                      </a:r>
                    </a:p>
                  </a:txBody>
                  <a:tcPr marL="88900" marR="88900" marT="38100" marB="38100" anchor="ctr">
                    <a:solidFill>
                      <a:srgbClr val="6B7A4F"/>
                    </a:solidFill>
                  </a:tcPr>
                </a:tc>
                <a:tc>
                  <a:txBody>
                    <a:bodyPr wrap="square"/>
                    <a:lstStyle/>
                    <a:p>
                      <a:pPr algn="l"/>
                      <a:r>
                        <a:rPr sz="1200" b="1">
                          <a:solidFill>
                            <a:srgbClr val="FFFFFF"/>
                          </a:solidFill>
                          <a:latin typeface="Calibri"/>
                        </a:rPr>
                        <a:t>Product</a:t>
                      </a:r>
                    </a:p>
                  </a:txBody>
                  <a:tcPr marL="88900" marR="88900" marT="38100" marB="38100" anchor="ctr">
                    <a:solidFill>
                      <a:srgbClr val="6B7A4F"/>
                    </a:solidFill>
                  </a:tcPr>
                </a:tc>
                <a:tc>
                  <a:txBody>
                    <a:bodyPr wrap="square"/>
                    <a:lstStyle/>
                    <a:p>
                      <a:pPr algn="l"/>
                      <a:r>
                        <a:rPr sz="1200" b="1">
                          <a:solidFill>
                            <a:srgbClr val="FFFFFF"/>
                          </a:solidFill>
                          <a:latin typeface="Calibri"/>
                        </a:rPr>
                        <a:t>Rate</a:t>
                      </a:r>
                    </a:p>
                  </a:txBody>
                  <a:tcPr marL="88900" marR="88900" marT="38100" marB="38100" anchor="ctr">
                    <a:solidFill>
                      <a:srgbClr val="6B7A4F"/>
                    </a:solidFill>
                  </a:tcPr>
                </a:tc>
              </a:tr>
              <a:tr h="563880">
                <a:tc>
                  <a:txBody>
                    <a:bodyPr wrap="square"/>
                    <a:lstStyle/>
                    <a:p>
                      <a:pPr algn="l"/>
                      <a:r>
                        <a:rPr sz="1250">
                          <a:solidFill>
                            <a:srgbClr val="2F2A22"/>
                          </a:solidFill>
                          <a:latin typeface="Calibri"/>
                        </a:rPr>
                        <a:t>4 Nov 2025</a:t>
                      </a:r>
                    </a:p>
                  </a:txBody>
                  <a:tcPr marL="88900" marR="88900" marT="38100" marB="38100" anchor="ctr">
                    <a:solidFill>
                      <a:srgbClr val="FFFFFF"/>
                    </a:solidFill>
                  </a:tcPr>
                </a:tc>
                <a:tc>
                  <a:txBody>
                    <a:bodyPr wrap="square"/>
                    <a:lstStyle/>
                    <a:p>
                      <a:pPr algn="l"/>
                      <a:r>
                        <a:rPr sz="1250">
                          <a:solidFill>
                            <a:srgbClr val="2F2A22"/>
                          </a:solidFill>
                          <a:latin typeface="Calibri"/>
                        </a:rPr>
                        <a:t>E-1</a:t>
                      </a:r>
                    </a:p>
                  </a:txBody>
                  <a:tcPr marL="88900" marR="88900" marT="38100" marB="38100" anchor="ctr">
                    <a:solidFill>
                      <a:srgbClr val="FFFFFF"/>
                    </a:solidFill>
                  </a:tcPr>
                </a:tc>
                <a:tc>
                  <a:txBody>
                    <a:bodyPr wrap="square"/>
                    <a:lstStyle/>
                    <a:p>
                      <a:pPr algn="l"/>
                      <a:r>
                        <a:rPr sz="1250">
                          <a:solidFill>
                            <a:srgbClr val="2F2A22"/>
                          </a:solidFill>
                          <a:latin typeface="Calibri"/>
                        </a:rPr>
                        <a:t>Cover crop sowing</a:t>
                      </a:r>
                    </a:p>
                  </a:txBody>
                  <a:tcPr marL="88900" marR="88900" marT="38100" marB="38100" anchor="ctr">
                    <a:solidFill>
                      <a:srgbClr val="FFFFFF"/>
                    </a:solidFill>
                  </a:tcPr>
                </a:tc>
                <a:tc>
                  <a:txBody>
                    <a:bodyPr wrap="square"/>
                    <a:lstStyle/>
                    <a:p>
                      <a:pPr algn="l"/>
                      <a:r>
                        <a:rPr sz="1250">
                          <a:solidFill>
                            <a:srgbClr val="2F2A22"/>
                          </a:solidFill>
                          <a:latin typeface="Calibri"/>
                        </a:rPr>
                        <a:t>Vetch and oat mix</a:t>
                      </a:r>
                    </a:p>
                  </a:txBody>
                  <a:tcPr marL="88900" marR="88900" marT="38100" marB="38100" anchor="ctr">
                    <a:solidFill>
                      <a:srgbClr val="FFFFFF"/>
                    </a:solidFill>
                  </a:tcPr>
                </a:tc>
                <a:tc>
                  <a:txBody>
                    <a:bodyPr wrap="square"/>
                    <a:lstStyle/>
                    <a:p>
                      <a:pPr algn="l"/>
                      <a:r>
                        <a:rPr sz="1250">
                          <a:solidFill>
                            <a:srgbClr val="2F2A22"/>
                          </a:solidFill>
                          <a:latin typeface="Calibri"/>
                        </a:rPr>
                        <a:t>35 kg/ha</a:t>
                      </a:r>
                    </a:p>
                  </a:txBody>
                  <a:tcPr marL="88900" marR="88900" marT="38100" marB="38100" anchor="ctr">
                    <a:solidFill>
                      <a:srgbClr val="FFFFFF"/>
                    </a:solidFill>
                  </a:tcPr>
                </a:tc>
              </a:tr>
              <a:tr h="563880">
                <a:tc>
                  <a:txBody>
                    <a:bodyPr wrap="square"/>
                    <a:lstStyle/>
                    <a:p>
                      <a:pPr algn="l"/>
                      <a:r>
                        <a:rPr sz="1250">
                          <a:solidFill>
                            <a:srgbClr val="2F2A22"/>
                          </a:solidFill>
                          <a:latin typeface="Calibri"/>
                        </a:rPr>
                        <a:t>2 Dec 2025</a:t>
                      </a:r>
                    </a:p>
                  </a:txBody>
                  <a:tcPr marL="88900" marR="88900" marT="38100" marB="38100" anchor="ctr">
                    <a:solidFill>
                      <a:srgbClr val="EFE6D2"/>
                    </a:solidFill>
                  </a:tcPr>
                </a:tc>
                <a:tc>
                  <a:txBody>
                    <a:bodyPr wrap="square"/>
                    <a:lstStyle/>
                    <a:p>
                      <a:pPr algn="l"/>
                      <a:r>
                        <a:rPr sz="1250">
                          <a:solidFill>
                            <a:srgbClr val="2F2A22"/>
                          </a:solidFill>
                          <a:latin typeface="Calibri"/>
                        </a:rPr>
                        <a:t>E-3</a:t>
                      </a:r>
                    </a:p>
                  </a:txBody>
                  <a:tcPr marL="88900" marR="88900" marT="38100" marB="38100" anchor="ctr">
                    <a:solidFill>
                      <a:srgbClr val="EFE6D2"/>
                    </a:solidFill>
                  </a:tcPr>
                </a:tc>
                <a:tc>
                  <a:txBody>
                    <a:bodyPr wrap="square"/>
                    <a:lstStyle/>
                    <a:p>
                      <a:pPr algn="l"/>
                      <a:r>
                        <a:rPr sz="1250">
                          <a:solidFill>
                            <a:srgbClr val="2F2A22"/>
                          </a:solidFill>
                          <a:latin typeface="Calibri"/>
                        </a:rPr>
                        <a:t>Copper fungicide</a:t>
                      </a:r>
                    </a:p>
                  </a:txBody>
                  <a:tcPr marL="88900" marR="88900" marT="38100" marB="38100" anchor="ctr">
                    <a:solidFill>
                      <a:srgbClr val="EFE6D2"/>
                    </a:solidFill>
                  </a:tcPr>
                </a:tc>
                <a:tc>
                  <a:txBody>
                    <a:bodyPr wrap="square"/>
                    <a:lstStyle/>
                    <a:p>
                      <a:pPr algn="l"/>
                      <a:r>
                        <a:rPr sz="1250">
                          <a:solidFill>
                            <a:srgbClr val="2F2A22"/>
                          </a:solidFill>
                          <a:latin typeface="Calibri"/>
                        </a:rPr>
                        <a:t>Copper hydroxide</a:t>
                      </a:r>
                    </a:p>
                  </a:txBody>
                  <a:tcPr marL="88900" marR="88900" marT="38100" marB="38100" anchor="ctr">
                    <a:solidFill>
                      <a:srgbClr val="EFE6D2"/>
                    </a:solidFill>
                  </a:tcPr>
                </a:tc>
                <a:tc>
                  <a:txBody>
                    <a:bodyPr wrap="square"/>
                    <a:lstStyle/>
                    <a:p>
                      <a:pPr algn="l"/>
                      <a:r>
                        <a:rPr sz="1250">
                          <a:solidFill>
                            <a:srgbClr val="2F2A22"/>
                          </a:solidFill>
                          <a:latin typeface="Calibri"/>
                        </a:rPr>
                        <a:t>0.9 kg Cu/ha</a:t>
                      </a:r>
                    </a:p>
                  </a:txBody>
                  <a:tcPr marL="88900" marR="88900" marT="38100" marB="38100" anchor="ctr">
                    <a:solidFill>
                      <a:srgbClr val="EFE6D2"/>
                    </a:solidFill>
                  </a:tcPr>
                </a:tc>
              </a:tr>
              <a:tr h="563880">
                <a:tc>
                  <a:txBody>
                    <a:bodyPr wrap="square"/>
                    <a:lstStyle/>
                    <a:p>
                      <a:pPr algn="l"/>
                      <a:r>
                        <a:rPr sz="1250">
                          <a:solidFill>
                            <a:srgbClr val="2F2A22"/>
                          </a:solidFill>
                          <a:latin typeface="Calibri"/>
                        </a:rPr>
                        <a:t>15 Dec 2025</a:t>
                      </a:r>
                    </a:p>
                  </a:txBody>
                  <a:tcPr marL="88900" marR="88900" marT="38100" marB="38100" anchor="ctr">
                    <a:solidFill>
                      <a:srgbClr val="FFFFFF"/>
                    </a:solidFill>
                  </a:tcPr>
                </a:tc>
                <a:tc>
                  <a:txBody>
                    <a:bodyPr wrap="square"/>
                    <a:lstStyle/>
                    <a:p>
                      <a:pPr algn="l"/>
                      <a:r>
                        <a:rPr sz="1250">
                          <a:solidFill>
                            <a:srgbClr val="2F2A22"/>
                          </a:solidFill>
                          <a:latin typeface="Calibri"/>
                        </a:rPr>
                        <a:t>E-1</a:t>
                      </a:r>
                    </a:p>
                  </a:txBody>
                  <a:tcPr marL="88900" marR="88900" marT="38100" marB="38100" anchor="ctr">
                    <a:solidFill>
                      <a:srgbClr val="FFFFFF"/>
                    </a:solidFill>
                  </a:tcPr>
                </a:tc>
                <a:tc>
                  <a:txBody>
                    <a:bodyPr wrap="square"/>
                    <a:lstStyle/>
                    <a:p>
                      <a:pPr algn="l"/>
                      <a:r>
                        <a:rPr sz="1250">
                          <a:solidFill>
                            <a:srgbClr val="2F2A22"/>
                          </a:solidFill>
                          <a:latin typeface="Calibri"/>
                        </a:rPr>
                        <a:t>Pruning residue mulching</a:t>
                      </a:r>
                    </a:p>
                  </a:txBody>
                  <a:tcPr marL="88900" marR="88900" marT="38100" marB="38100" anchor="ctr">
                    <a:solidFill>
                      <a:srgbClr val="FFFFFF"/>
                    </a:solidFill>
                  </a:tcPr>
                </a:tc>
                <a:tc>
                  <a:txBody>
                    <a:bodyPr wrap="square"/>
                    <a:lstStyle/>
                    <a:p>
                      <a:pPr algn="l"/>
                      <a:r>
                        <a:rPr sz="1250">
                          <a:solidFill>
                            <a:srgbClr val="2F2A22"/>
                          </a:solidFill>
                          <a:latin typeface="Calibri"/>
                        </a:rPr>
                        <a:t>None</a:t>
                      </a:r>
                    </a:p>
                  </a:txBody>
                  <a:tcPr marL="88900" marR="88900" marT="38100" marB="38100" anchor="ctr">
                    <a:solidFill>
                      <a:srgbClr val="FFFFFF"/>
                    </a:solidFill>
                  </a:tcPr>
                </a:tc>
                <a:tc>
                  <a:txBody>
                    <a:bodyPr wrap="square"/>
                    <a:lstStyle/>
                    <a:p>
                      <a:pPr algn="l"/>
                      <a:r>
                        <a:rPr sz="1250">
                          <a:solidFill>
                            <a:srgbClr val="2F2A22"/>
                          </a:solidFill>
                          <a:latin typeface="Calibri"/>
                        </a:rPr>
                        <a:t>Full parcel</a:t>
                      </a:r>
                    </a:p>
                  </a:txBody>
                  <a:tcPr marL="88900" marR="88900" marT="38100" marB="38100" anchor="ctr">
                    <a:solidFill>
                      <a:srgbClr val="FFFFFF"/>
                    </a:solidFill>
                  </a:tcPr>
                </a:tc>
              </a:tr>
              <a:tr h="563880">
                <a:tc>
                  <a:txBody>
                    <a:bodyPr wrap="square"/>
                    <a:lstStyle/>
                    <a:p>
                      <a:pPr algn="l"/>
                      <a:r>
                        <a:rPr sz="1250">
                          <a:solidFill>
                            <a:srgbClr val="2F2A22"/>
                          </a:solidFill>
                          <a:latin typeface="Calibri"/>
                        </a:rPr>
                        <a:t>12 Jan 2026</a:t>
                      </a:r>
                    </a:p>
                  </a:txBody>
                  <a:tcPr marL="88900" marR="88900" marT="38100" marB="38100" anchor="ctr">
                    <a:solidFill>
                      <a:srgbClr val="EFE6D2"/>
                    </a:solidFill>
                  </a:tcPr>
                </a:tc>
                <a:tc>
                  <a:txBody>
                    <a:bodyPr wrap="square"/>
                    <a:lstStyle/>
                    <a:p>
                      <a:pPr algn="l"/>
                      <a:r>
                        <a:rPr sz="1250">
                          <a:solidFill>
                            <a:srgbClr val="2F2A22"/>
                          </a:solidFill>
                          <a:latin typeface="Calibri"/>
                        </a:rPr>
                        <a:t>E-2</a:t>
                      </a:r>
                    </a:p>
                  </a:txBody>
                  <a:tcPr marL="88900" marR="88900" marT="38100" marB="38100" anchor="ctr">
                    <a:solidFill>
                      <a:srgbClr val="EFE6D2"/>
                    </a:solidFill>
                  </a:tcPr>
                </a:tc>
                <a:tc>
                  <a:txBody>
                    <a:bodyPr wrap="square"/>
                    <a:lstStyle/>
                    <a:p>
                      <a:pPr algn="l"/>
                      <a:r>
                        <a:rPr sz="1250">
                          <a:solidFill>
                            <a:srgbClr val="2F2A22"/>
                          </a:solidFill>
                          <a:latin typeface="Calibri"/>
                        </a:rPr>
                        <a:t>Soil sampling</a:t>
                      </a:r>
                    </a:p>
                  </a:txBody>
                  <a:tcPr marL="88900" marR="88900" marT="38100" marB="38100" anchor="ctr">
                    <a:solidFill>
                      <a:srgbClr val="EFE6D2"/>
                    </a:solidFill>
                  </a:tcPr>
                </a:tc>
                <a:tc>
                  <a:txBody>
                    <a:bodyPr wrap="square"/>
                    <a:lstStyle/>
                    <a:p>
                      <a:pPr algn="l"/>
                      <a:r>
                        <a:rPr sz="1250">
                          <a:solidFill>
                            <a:srgbClr val="2F2A22"/>
                          </a:solidFill>
                          <a:latin typeface="Calibri"/>
                        </a:rPr>
                        <a:t>None</a:t>
                      </a:r>
                    </a:p>
                  </a:txBody>
                  <a:tcPr marL="88900" marR="88900" marT="38100" marB="38100" anchor="ctr">
                    <a:solidFill>
                      <a:srgbClr val="EFE6D2"/>
                    </a:solidFill>
                  </a:tcPr>
                </a:tc>
                <a:tc>
                  <a:txBody>
                    <a:bodyPr wrap="square"/>
                    <a:lstStyle/>
                    <a:p>
                      <a:pPr algn="l"/>
                      <a:r>
                        <a:rPr sz="1250">
                          <a:solidFill>
                            <a:srgbClr val="2F2A22"/>
                          </a:solidFill>
                          <a:latin typeface="Calibri"/>
                        </a:rPr>
                        <a:t>8 cores</a:t>
                      </a:r>
                    </a:p>
                  </a:txBody>
                  <a:tcPr marL="88900" marR="88900" marT="38100" marB="38100" anchor="ctr">
                    <a:solidFill>
                      <a:srgbClr val="EFE6D2"/>
                    </a:solidFill>
                  </a:tcPr>
                </a:tc>
              </a:tr>
              <a:tr h="563880">
                <a:tc>
                  <a:txBody>
                    <a:bodyPr wrap="square"/>
                    <a:lstStyle/>
                    <a:p>
                      <a:pPr algn="l"/>
                      <a:r>
                        <a:rPr sz="1250">
                          <a:solidFill>
                            <a:srgbClr val="2F2A22"/>
                          </a:solidFill>
                          <a:latin typeface="Calibri"/>
                        </a:rPr>
                        <a:t>10 Feb 2026</a:t>
                      </a:r>
                    </a:p>
                  </a:txBody>
                  <a:tcPr marL="88900" marR="88900" marT="38100" marB="38100" anchor="ctr">
                    <a:solidFill>
                      <a:srgbClr val="FFFFFF"/>
                    </a:solidFill>
                  </a:tcPr>
                </a:tc>
                <a:tc>
                  <a:txBody>
                    <a:bodyPr wrap="square"/>
                    <a:lstStyle/>
                    <a:p>
                      <a:pPr algn="l"/>
                      <a:r>
                        <a:rPr sz="1250">
                          <a:solidFill>
                            <a:srgbClr val="2F2A22"/>
                          </a:solidFill>
                          <a:latin typeface="Calibri"/>
                        </a:rPr>
                        <a:t>E-1</a:t>
                      </a:r>
                    </a:p>
                  </a:txBody>
                  <a:tcPr marL="88900" marR="88900" marT="38100" marB="38100" anchor="ctr">
                    <a:solidFill>
                      <a:srgbClr val="FFFFFF"/>
                    </a:solidFill>
                  </a:tcPr>
                </a:tc>
                <a:tc>
                  <a:txBody>
                    <a:bodyPr wrap="square"/>
                    <a:lstStyle/>
                    <a:p>
                      <a:pPr algn="l"/>
                      <a:r>
                        <a:rPr sz="1250">
                          <a:solidFill>
                            <a:srgbClr val="2F2A22"/>
                          </a:solidFill>
                          <a:latin typeface="Calibri"/>
                        </a:rPr>
                        <a:t>Organic compost</a:t>
                      </a:r>
                    </a:p>
                  </a:txBody>
                  <a:tcPr marL="88900" marR="88900" marT="38100" marB="38100" anchor="ctr">
                    <a:solidFill>
                      <a:srgbClr val="FFFFFF"/>
                    </a:solidFill>
                  </a:tcPr>
                </a:tc>
                <a:tc>
                  <a:txBody>
                    <a:bodyPr wrap="square"/>
                    <a:lstStyle/>
                    <a:p>
                      <a:pPr algn="l"/>
                      <a:r>
                        <a:rPr sz="1250">
                          <a:solidFill>
                            <a:srgbClr val="2F2A22"/>
                          </a:solidFill>
                          <a:latin typeface="Calibri"/>
                        </a:rPr>
                        <a:t>Estate compost</a:t>
                      </a:r>
                    </a:p>
                  </a:txBody>
                  <a:tcPr marL="88900" marR="88900" marT="38100" marB="38100" anchor="ctr">
                    <a:solidFill>
                      <a:srgbClr val="FFFFFF"/>
                    </a:solidFill>
                  </a:tcPr>
                </a:tc>
                <a:tc>
                  <a:txBody>
                    <a:bodyPr wrap="square"/>
                    <a:lstStyle/>
                    <a:p>
                      <a:pPr algn="l"/>
                      <a:r>
                        <a:rPr sz="1250">
                          <a:solidFill>
                            <a:srgbClr val="2F2A22"/>
                          </a:solidFill>
                          <a:latin typeface="Calibri"/>
                        </a:rPr>
                        <a:t>6 t/ha</a:t>
                      </a:r>
                    </a:p>
                  </a:txBody>
                  <a:tcPr marL="88900" marR="88900" marT="38100" marB="38100" anchor="ctr">
                    <a:solidFill>
                      <a:srgbClr val="FFFFFF"/>
                    </a:solidFill>
                  </a:tcPr>
                </a:tc>
              </a:tr>
            </a:tbl>
          </a:graphicData>
        </a:graphic>
      </p:graphicFrame>
      <p:sp>
        <p:nvSpPr>
          <p:cNvPr id="5" name="TextBox 4"/>
          <p:cNvSpPr txBox="1"/>
          <p:nvPr/>
        </p:nvSpPr>
        <p:spPr>
          <a:xfrm>
            <a:off x="548640" y="4983480"/>
            <a:ext cx="10972800" cy="914400"/>
          </a:xfrm>
          <a:prstGeom prst="rect">
            <a:avLst/>
          </a:prstGeom>
          <a:noFill/>
        </p:spPr>
        <p:txBody>
          <a:bodyPr wrap="square" anchor="t" lIns="25400" rIns="25400" tIns="12700" bIns="12700">
            <a:spAutoFit/>
          </a:bodyPr>
          <a:lstStyle/>
          <a:p>
            <a:pPr algn="l">
              <a:lnSpc>
                <a:spcPct val="115000"/>
              </a:lnSpc>
            </a:pPr>
            <a:r>
              <a:rPr sz="1400" b="0">
                <a:solidFill>
                  <a:srgbClr val="2F2A22"/>
                </a:solidFill>
                <a:latin typeface="Calibri"/>
              </a:rPr>
              <a:t>Each line carries date, parcel, operation, product, rate, batch lot and operator. Nothing touches the grove that is not on the permitted list, and nothing goes unrecorded.</a:t>
            </a:r>
          </a:p>
        </p:txBody>
      </p:sp>
      <p:sp>
        <p:nvSpPr>
          <p:cNvPr id="6" name="TextBox 5"/>
          <p:cNvSpPr txBox="1"/>
          <p:nvPr/>
        </p:nvSpPr>
        <p:spPr>
          <a:xfrm>
            <a:off x="502920" y="6446520"/>
            <a:ext cx="11155680" cy="320040"/>
          </a:xfrm>
          <a:prstGeom prst="rect">
            <a:avLst/>
          </a:prstGeom>
          <a:noFill/>
        </p:spPr>
        <p:txBody>
          <a:bodyPr wrap="square" anchor="t" lIns="25400" rIns="25400" tIns="12700" bIns="12700">
            <a:spAutoFit/>
          </a:bodyPr>
          <a:lstStyle/>
          <a:p>
            <a:pPr algn="l"/>
            <a:r>
              <a:rPr sz="900" b="0">
                <a:solidFill>
                  <a:srgbClr val="857C6B"/>
                </a:solidFill>
                <a:latin typeface="Calibri"/>
              </a:rPr>
              <a:t>Finca Miles  |  East Grove Conversion</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
            <a:ext cx="10972800" cy="731520"/>
          </a:xfrm>
          <a:prstGeom prst="rect">
            <a:avLst/>
          </a:prstGeom>
          <a:noFill/>
        </p:spPr>
        <p:txBody>
          <a:bodyPr wrap="square" anchor="t" lIns="25400" rIns="25400" tIns="12700" bIns="12700">
            <a:spAutoFit/>
          </a:bodyPr>
          <a:lstStyle/>
          <a:p>
            <a:pPr algn="l"/>
            <a:r>
              <a:rPr sz="2500" b="1">
                <a:solidFill>
                  <a:srgbClr val="FFFFFF"/>
                </a:solidFill>
                <a:latin typeface="Calibri"/>
              </a:rPr>
              <a:t>What is left to do</a:t>
            </a:r>
          </a:p>
          <a:p>
            <a:pPr algn="l"/>
            <a:r>
              <a:rPr sz="1300" b="0">
                <a:solidFill>
                  <a:srgbClr val="EFE6D2"/>
                </a:solidFill>
                <a:latin typeface="Calibri"/>
              </a:rPr>
              <a:t>The run in to the spring 2027 inspection</a:t>
            </a:r>
          </a:p>
        </p:txBody>
      </p:sp>
      <p:sp>
        <p:nvSpPr>
          <p:cNvPr id="4" name="Rounded Rectangle 3"/>
          <p:cNvSpPr/>
          <p:nvPr/>
        </p:nvSpPr>
        <p:spPr>
          <a:xfrm>
            <a:off x="548640" y="1463040"/>
            <a:ext cx="3474720" cy="420624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40"/>
            <a:ext cx="3474720" cy="640080"/>
          </a:xfrm>
          <a:prstGeom prst="round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3474720" cy="320040"/>
          </a:xfrm>
          <a:prstGeom prst="rect">
            <a:avLst/>
          </a:prstGeom>
          <a:solidFill>
            <a:srgbClr val="6B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3474720" cy="640080"/>
          </a:xfrm>
          <a:prstGeom prst="rect">
            <a:avLst/>
          </a:prstGeom>
          <a:noFill/>
        </p:spPr>
        <p:txBody>
          <a:bodyPr wrap="square" anchor="ctr" lIns="25400" rIns="25400" tIns="12700" bIns="12700">
            <a:spAutoFit/>
          </a:bodyPr>
          <a:lstStyle/>
          <a:p>
            <a:pPr algn="ctr"/>
            <a:r>
              <a:rPr sz="1800" b="1">
                <a:solidFill>
                  <a:srgbClr val="FFFFFF"/>
                </a:solidFill>
                <a:latin typeface="Calibri"/>
              </a:rPr>
              <a:t>On track</a:t>
            </a:r>
          </a:p>
        </p:txBody>
      </p:sp>
      <p:sp>
        <p:nvSpPr>
          <p:cNvPr id="8" name="TextBox 7"/>
          <p:cNvSpPr txBox="1"/>
          <p:nvPr/>
        </p:nvSpPr>
        <p:spPr>
          <a:xfrm>
            <a:off x="822960" y="2331720"/>
            <a:ext cx="2971800" cy="3108960"/>
          </a:xfrm>
          <a:prstGeom prst="rect">
            <a:avLst/>
          </a:prstGeom>
          <a:noFill/>
        </p:spPr>
        <p:txBody>
          <a:bodyPr wrap="square">
            <a:spAutoFit/>
          </a:bodyPr>
          <a:lstStyle/>
          <a:p>
            <a:pPr>
              <a:lnSpc>
                <a:spcPct val="105000"/>
              </a:lnSpc>
              <a:spcAft>
                <a:spcPts val="1200"/>
              </a:spcAft>
            </a:pPr>
            <a:r>
              <a:rPr sz="1350">
                <a:solidFill>
                  <a:srgbClr val="2F2A22"/>
                </a:solidFill>
                <a:latin typeface="Calibri"/>
              </a:rPr>
              <a:t>•  Year two records complete and reconciled</a:t>
            </a:r>
          </a:p>
          <a:p>
            <a:pPr>
              <a:lnSpc>
                <a:spcPct val="105000"/>
              </a:lnSpc>
              <a:spcAft>
                <a:spcPts val="1200"/>
              </a:spcAft>
            </a:pPr>
            <a:r>
              <a:rPr sz="1350">
                <a:solidFill>
                  <a:srgbClr val="2F2A22"/>
                </a:solidFill>
                <a:latin typeface="Calibri"/>
              </a:rPr>
              <a:t>•  Copper well inside the ceiling</a:t>
            </a:r>
          </a:p>
          <a:p>
            <a:pPr>
              <a:lnSpc>
                <a:spcPct val="105000"/>
              </a:lnSpc>
              <a:spcAft>
                <a:spcPts val="1200"/>
              </a:spcAft>
            </a:pPr>
            <a:r>
              <a:rPr sz="1350">
                <a:solidFill>
                  <a:srgbClr val="2F2A22"/>
                </a:solidFill>
                <a:latin typeface="Calibri"/>
              </a:rPr>
              <a:t>•  Cover crop established on all three parcels</a:t>
            </a:r>
          </a:p>
        </p:txBody>
      </p:sp>
      <p:sp>
        <p:nvSpPr>
          <p:cNvPr id="9" name="Rounded Rectangle 8"/>
          <p:cNvSpPr/>
          <p:nvPr/>
        </p:nvSpPr>
        <p:spPr>
          <a:xfrm>
            <a:off x="4251960" y="1463040"/>
            <a:ext cx="3474720" cy="420624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51960" y="1463040"/>
            <a:ext cx="3474720" cy="640080"/>
          </a:xfrm>
          <a:prstGeom prst="roundRect">
            <a:avLst/>
          </a:prstGeom>
          <a:solidFill>
            <a:srgbClr val="C29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783080"/>
            <a:ext cx="3474720" cy="320040"/>
          </a:xfrm>
          <a:prstGeom prst="rect">
            <a:avLst/>
          </a:prstGeom>
          <a:solidFill>
            <a:srgbClr val="C29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1463040"/>
            <a:ext cx="3474720" cy="640080"/>
          </a:xfrm>
          <a:prstGeom prst="rect">
            <a:avLst/>
          </a:prstGeom>
          <a:noFill/>
        </p:spPr>
        <p:txBody>
          <a:bodyPr wrap="square" anchor="ctr" lIns="25400" rIns="25400" tIns="12700" bIns="12700">
            <a:spAutoFit/>
          </a:bodyPr>
          <a:lstStyle/>
          <a:p>
            <a:pPr algn="ctr"/>
            <a:r>
              <a:rPr sz="1800" b="1">
                <a:solidFill>
                  <a:srgbClr val="FFFFFF"/>
                </a:solidFill>
                <a:latin typeface="Calibri"/>
              </a:rPr>
              <a:t>Watch</a:t>
            </a:r>
          </a:p>
        </p:txBody>
      </p:sp>
      <p:sp>
        <p:nvSpPr>
          <p:cNvPr id="13" name="TextBox 12"/>
          <p:cNvSpPr txBox="1"/>
          <p:nvPr/>
        </p:nvSpPr>
        <p:spPr>
          <a:xfrm>
            <a:off x="4526280" y="2331720"/>
            <a:ext cx="2971800" cy="3108960"/>
          </a:xfrm>
          <a:prstGeom prst="rect">
            <a:avLst/>
          </a:prstGeom>
          <a:noFill/>
        </p:spPr>
        <p:txBody>
          <a:bodyPr wrap="square">
            <a:spAutoFit/>
          </a:bodyPr>
          <a:lstStyle/>
          <a:p>
            <a:pPr>
              <a:lnSpc>
                <a:spcPct val="105000"/>
              </a:lnSpc>
              <a:spcAft>
                <a:spcPts val="1200"/>
              </a:spcAft>
            </a:pPr>
            <a:r>
              <a:rPr sz="1350">
                <a:solidFill>
                  <a:srgbClr val="2F2A22"/>
                </a:solidFill>
                <a:latin typeface="Calibri"/>
              </a:rPr>
              <a:t>•  Wet spring could raise copper need</a:t>
            </a:r>
          </a:p>
          <a:p>
            <a:pPr>
              <a:lnSpc>
                <a:spcPct val="105000"/>
              </a:lnSpc>
              <a:spcAft>
                <a:spcPts val="1200"/>
              </a:spcAft>
            </a:pPr>
            <a:r>
              <a:rPr sz="1350">
                <a:solidFill>
                  <a:srgbClr val="2F2A22"/>
                </a:solidFill>
                <a:latin typeface="Calibri"/>
              </a:rPr>
              <a:t>•  Shared equipment must be triple rinsed and logged</a:t>
            </a:r>
          </a:p>
          <a:p>
            <a:pPr>
              <a:lnSpc>
                <a:spcPct val="105000"/>
              </a:lnSpc>
              <a:spcAft>
                <a:spcPts val="1200"/>
              </a:spcAft>
            </a:pPr>
            <a:r>
              <a:rPr sz="1350">
                <a:solidFill>
                  <a:srgbClr val="2F2A22"/>
                </a:solidFill>
                <a:latin typeface="Calibri"/>
              </a:rPr>
              <a:t>•  Buffer zones checked before each pass</a:t>
            </a:r>
          </a:p>
        </p:txBody>
      </p:sp>
      <p:sp>
        <p:nvSpPr>
          <p:cNvPr id="14" name="Rounded Rectangle 13"/>
          <p:cNvSpPr/>
          <p:nvPr/>
        </p:nvSpPr>
        <p:spPr>
          <a:xfrm>
            <a:off x="7955280" y="1463040"/>
            <a:ext cx="3474720" cy="4206240"/>
          </a:xfrm>
          <a:prstGeom prst="roundRect">
            <a:avLst/>
          </a:prstGeom>
          <a:solidFill>
            <a:srgbClr val="FFFFFF"/>
          </a:solidFill>
          <a:ln w="19050">
            <a:solidFill>
              <a:srgbClr val="EFE6D2"/>
            </a:solidFill>
          </a:ln>
          <a:effectLst/>
          <a:effectLst>
            <a:outerShdw blurRad="60000" dist="25000" dir="5400000"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955280" y="1463040"/>
            <a:ext cx="3474720" cy="640080"/>
          </a:xfrm>
          <a:prstGeom prst="round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80" y="1783080"/>
            <a:ext cx="3474720" cy="320040"/>
          </a:xfrm>
          <a:prstGeom prst="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0" y="1463040"/>
            <a:ext cx="3474720" cy="640080"/>
          </a:xfrm>
          <a:prstGeom prst="rect">
            <a:avLst/>
          </a:prstGeom>
          <a:noFill/>
        </p:spPr>
        <p:txBody>
          <a:bodyPr wrap="square" anchor="ctr" lIns="25400" rIns="25400" tIns="12700" bIns="12700">
            <a:spAutoFit/>
          </a:bodyPr>
          <a:lstStyle/>
          <a:p>
            <a:pPr algn="ctr"/>
            <a:r>
              <a:rPr sz="1800" b="1">
                <a:solidFill>
                  <a:srgbClr val="FFFFFF"/>
                </a:solidFill>
                <a:latin typeface="Calibri"/>
              </a:rPr>
              <a:t>Next</a:t>
            </a:r>
          </a:p>
        </p:txBody>
      </p:sp>
      <p:sp>
        <p:nvSpPr>
          <p:cNvPr id="18" name="TextBox 17"/>
          <p:cNvSpPr txBox="1"/>
          <p:nvPr/>
        </p:nvSpPr>
        <p:spPr>
          <a:xfrm>
            <a:off x="8229600" y="2331720"/>
            <a:ext cx="2971800" cy="3108960"/>
          </a:xfrm>
          <a:prstGeom prst="rect">
            <a:avLst/>
          </a:prstGeom>
          <a:noFill/>
        </p:spPr>
        <p:txBody>
          <a:bodyPr wrap="square">
            <a:spAutoFit/>
          </a:bodyPr>
          <a:lstStyle/>
          <a:p>
            <a:pPr>
              <a:lnSpc>
                <a:spcPct val="105000"/>
              </a:lnSpc>
              <a:spcAft>
                <a:spcPts val="1200"/>
              </a:spcAft>
            </a:pPr>
            <a:r>
              <a:rPr sz="1350">
                <a:solidFill>
                  <a:srgbClr val="2F2A22"/>
                </a:solidFill>
                <a:latin typeface="Calibri"/>
              </a:rPr>
              <a:t>•  Pre certification document review, October 2026</a:t>
            </a:r>
          </a:p>
          <a:p>
            <a:pPr>
              <a:lnSpc>
                <a:spcPct val="105000"/>
              </a:lnSpc>
              <a:spcAft>
                <a:spcPts val="1200"/>
              </a:spcAft>
            </a:pPr>
            <a:r>
              <a:rPr sz="1350">
                <a:solidFill>
                  <a:srgbClr val="2F2A22"/>
                </a:solidFill>
                <a:latin typeface="Calibri"/>
              </a:rPr>
              <a:t>•  Final EU inspection, first of March 2027</a:t>
            </a:r>
          </a:p>
          <a:p>
            <a:pPr>
              <a:lnSpc>
                <a:spcPct val="105000"/>
              </a:lnSpc>
              <a:spcAft>
                <a:spcPts val="1200"/>
              </a:spcAft>
            </a:pPr>
            <a:r>
              <a:rPr sz="1350">
                <a:solidFill>
                  <a:srgbClr val="2F2A22"/>
                </a:solidFill>
                <a:latin typeface="Calibri"/>
              </a:rPr>
              <a:t>•  Submit the certification pack after season close</a:t>
            </a:r>
          </a:p>
        </p:txBody>
      </p:sp>
      <p:sp>
        <p:nvSpPr>
          <p:cNvPr id="19" name="TextBox 18"/>
          <p:cNvSpPr txBox="1"/>
          <p:nvPr/>
        </p:nvSpPr>
        <p:spPr>
          <a:xfrm>
            <a:off x="502920" y="6446520"/>
            <a:ext cx="11155680" cy="320040"/>
          </a:xfrm>
          <a:prstGeom prst="rect">
            <a:avLst/>
          </a:prstGeom>
          <a:noFill/>
        </p:spPr>
        <p:txBody>
          <a:bodyPr wrap="square" anchor="t" lIns="25400" rIns="25400" tIns="12700" bIns="12700">
            <a:spAutoFit/>
          </a:bodyPr>
          <a:lstStyle/>
          <a:p>
            <a:pPr algn="l"/>
            <a:r>
              <a:rPr sz="900" b="0">
                <a:solidFill>
                  <a:srgbClr val="857C6B"/>
                </a:solidFill>
                <a:latin typeface="Calibri"/>
              </a:rPr>
              <a:t>Finca Miles  |  East Grove Conversion</a:t>
            </a:r>
          </a:p>
        </p:txBody>
      </p:sp>
    </p:spTree>
  </p:cSld>
  <p:clrMapOvr>
    <a:masterClrMapping/>
  </p:clrMapOvr>
  <p:transition spd="med">
    <p:push dir="l"/>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A21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A2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C29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468880"/>
            <a:ext cx="146304" cy="1828800"/>
          </a:xfrm>
          <a:prstGeom prst="rect">
            <a:avLst/>
          </a:prstGeom>
          <a:solidFill>
            <a:srgbClr val="A855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514600"/>
            <a:ext cx="10058400" cy="1828800"/>
          </a:xfrm>
          <a:prstGeom prst="rect">
            <a:avLst/>
          </a:prstGeom>
          <a:noFill/>
        </p:spPr>
        <p:txBody>
          <a:bodyPr wrap="square" anchor="t" lIns="25400" rIns="25400" tIns="12700" bIns="12700">
            <a:spAutoFit/>
          </a:bodyPr>
          <a:lstStyle/>
          <a:p>
            <a:pPr algn="l">
              <a:lnSpc>
                <a:spcPct val="115000"/>
              </a:lnSpc>
            </a:pPr>
            <a:r>
              <a:rPr sz="3000" b="1">
                <a:solidFill>
                  <a:srgbClr val="FFFFFF"/>
                </a:solidFill>
                <a:latin typeface="Calibri Light"/>
              </a:rPr>
              <a:t>On clean ground, on schedule.</a:t>
            </a:r>
          </a:p>
          <a:p>
            <a:pPr algn="l">
              <a:lnSpc>
                <a:spcPct val="115000"/>
              </a:lnSpc>
            </a:pPr>
            <a:r>
              <a:rPr sz="1000" b="0">
                <a:solidFill>
                  <a:srgbClr val="C2922F"/>
                </a:solidFill>
                <a:latin typeface="Calibri"/>
              </a:rPr>
              <a:t/>
            </a:r>
          </a:p>
          <a:p>
            <a:pPr algn="l">
              <a:lnSpc>
                <a:spcPct val="115000"/>
              </a:lnSpc>
            </a:pPr>
            <a:r>
              <a:rPr sz="1600" b="0">
                <a:solidFill>
                  <a:srgbClr val="EFE6D2"/>
                </a:solidFill>
                <a:latin typeface="Calibri"/>
              </a:rPr>
              <a:t>Year two is in the books. The east grove is one season from certified organic.</a:t>
            </a:r>
          </a:p>
        </p:txBody>
      </p:sp>
      <p:sp>
        <p:nvSpPr>
          <p:cNvPr id="6" name="TextBox 5"/>
          <p:cNvSpPr txBox="1"/>
          <p:nvPr/>
        </p:nvSpPr>
        <p:spPr>
          <a:xfrm>
            <a:off x="1188720" y="5943600"/>
            <a:ext cx="10058400" cy="457200"/>
          </a:xfrm>
          <a:prstGeom prst="rect">
            <a:avLst/>
          </a:prstGeom>
          <a:noFill/>
        </p:spPr>
        <p:txBody>
          <a:bodyPr wrap="square" anchor="t" lIns="25400" rIns="25400" tIns="12700" bIns="12700">
            <a:spAutoFit/>
          </a:bodyPr>
          <a:lstStyle/>
          <a:p>
            <a:pPr algn="l"/>
            <a:r>
              <a:rPr sz="1200" b="0">
                <a:solidFill>
                  <a:srgbClr val="C2922F"/>
                </a:solidFill>
                <a:latin typeface="Calibri"/>
              </a:rPr>
              <a:t>Finca Miles  |  Carretera de Cordoba, 14850 Baena, Cordoba</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