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Intensity</c:v>
                </c:pt>
              </c:strCache>
            </c:strRef>
          </c:tx>
          <c:spPr>
            <a:solidFill>
              <a:srgbClr val="C9881E"/>
            </a:solidFill>
          </c:spPr>
          <c:cat>
            <c:strRef>
              <c:f>Sheet1!$A$2:$A$6</c:f>
              <c:strCache>
                <c:ptCount val="5"/>
                <c:pt idx="0">
                  <c:v>Fruitiness</c:v>
                </c:pt>
                <c:pt idx="1">
                  <c:v>Bitterness</c:v>
                </c:pt>
                <c:pt idx="2">
                  <c:v>Pungency</c:v>
                </c:pt>
                <c:pt idx="3">
                  <c:v>Green leaf</c:v>
                </c:pt>
                <c:pt idx="4">
                  <c:v>Defects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8.6</c:v>
                </c:pt>
                <c:pt idx="1">
                  <c:v>7.2</c:v>
                </c:pt>
                <c:pt idx="2">
                  <c:v>7.8</c:v>
                </c:pt>
                <c:pt idx="3">
                  <c:v>6.4</c:v>
                </c:pt>
                <c:pt idx="4">
                  <c:v>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B5542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2D2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8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005840"/>
            <a:ext cx="2468880" cy="2468880"/>
          </a:xfrm>
          <a:prstGeom prst="ellipse">
            <a:avLst/>
          </a:prstGeom>
          <a:solidFill>
            <a:srgbClr val="B55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3017520"/>
            <a:ext cx="1554480" cy="1554480"/>
          </a:xfrm>
          <a:prstGeom prst="ellipse">
            <a:avLst/>
          </a:prstGeom>
          <a:solidFill>
            <a:srgbClr val="E0A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E0A73A"/>
                </a:solidFill>
                <a:latin typeface="Calibri"/>
              </a:rPr>
              <a:t>A TASTING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822960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 Light"/>
              </a:rPr>
              <a:t>How to Taste</a:t>
            </a:r>
          </a:p>
          <a:p>
            <a:pPr algn="l"/>
            <a:r>
              <a:rPr sz="3000" b="0">
                <a:solidFill>
                  <a:srgbClr val="E0A73A"/>
                </a:solidFill>
                <a:latin typeface="Calibri Light"/>
              </a:rPr>
              <a:t>Extra Virgin Olive Oil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8229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3E8D4"/>
                </a:solidFill>
                <a:latin typeface="Calibri"/>
              </a:rPr>
              <a:t>A guided session for grove visitors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8A7F71"/>
                </a:solidFill>
                <a:latin typeface="Calibri"/>
              </a:rPr>
              <a:t>Finca Miles, Baena  |  Led by a certified oil sommelier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8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B5542B"/>
                </a:solidFill>
                <a:latin typeface="Calibri"/>
              </a:rPr>
              <a:t>WHY WE TASTE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>
                <a:solidFill>
                  <a:srgbClr val="2B2622"/>
                </a:solidFill>
                <a:latin typeface="Calibri Light"/>
              </a:rPr>
              <a:t>Good oil is a fresh juice, and it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6583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>
                <a:solidFill>
                  <a:srgbClr val="332D27"/>
                </a:solidFill>
                <a:latin typeface="Calibri"/>
              </a:rPr>
              <a:t>•  Olive oil is fruit juice, and like juice it is best fresh and fades with time and heat.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>
                <a:solidFill>
                  <a:srgbClr val="332D27"/>
                </a:solidFill>
                <a:latin typeface="Calibri"/>
              </a:rPr>
              <a:t>•  Tasting tells us more than any single number on a label.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>
                <a:solidFill>
                  <a:srgbClr val="332D27"/>
                </a:solidFill>
                <a:latin typeface="Calibri"/>
              </a:rPr>
              <a:t>•  We taste for three good things and for the faults that should never be there.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>
                <a:solidFill>
                  <a:srgbClr val="332D27"/>
                </a:solidFill>
                <a:latin typeface="Calibri"/>
              </a:rPr>
              <a:t>•  The estate scores every premium lot the same way an accredited panel does.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2286000"/>
            <a:ext cx="3931920" cy="3291840"/>
          </a:xfrm>
          <a:prstGeom prst="roundRect">
            <a:avLst/>
          </a:prstGeom>
          <a:solidFill>
            <a:srgbClr val="2B2622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606040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E0A73A"/>
                </a:solidFill>
                <a:latin typeface="Calibri"/>
              </a:rPr>
              <a:t>The three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246120"/>
            <a:ext cx="329184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Fruitiness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D8CBB4"/>
                </a:solidFill>
                <a:latin typeface="Calibri"/>
              </a:rPr>
              <a:t>the smell of fresh fruit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Bitterness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D8CBB4"/>
                </a:solidFill>
                <a:latin typeface="Calibri"/>
              </a:rPr>
              <a:t>a sign of health, not a fault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Pungency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D8CBB4"/>
                </a:solidFill>
                <a:latin typeface="Calibri"/>
              </a:rPr>
              <a:t>the peppery catch at the throat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7F71"/>
                </a:solidFill>
                <a:latin typeface="Calibri"/>
              </a:rPr>
              <a:t>Finca Miles  |  Tasting Masterclass</a:t>
            </a:r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 Light"/>
              </a:rPr>
              <a:t>Four steps at the bench</a:t>
            </a:r>
          </a:p>
          <a:p>
            <a:pPr algn="l"/>
            <a:r>
              <a:rPr sz="1300" b="0">
                <a:solidFill>
                  <a:srgbClr val="E0A73A"/>
                </a:solidFill>
                <a:latin typeface="Calibri"/>
              </a:rPr>
              <a:t>Warm, smell, sip, swallow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1920240"/>
          </a:xfrm>
          <a:prstGeom prst="roundRect">
            <a:avLst/>
          </a:prstGeom>
          <a:solidFill>
            <a:srgbClr val="201C19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920240"/>
            <a:ext cx="868680" cy="868680"/>
          </a:xfrm>
          <a:prstGeom prst="ellipse">
            <a:avLst/>
          </a:prstGeom>
          <a:solidFill>
            <a:srgbClr val="C98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8686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874520"/>
            <a:ext cx="3657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E0A73A"/>
                </a:solidFill>
                <a:latin typeface="Calibri"/>
              </a:rPr>
              <a:t>Warm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377440"/>
            <a:ext cx="3703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DACFBC"/>
                </a:solidFill>
                <a:latin typeface="Calibri"/>
              </a:rPr>
              <a:t>Cup the glass in one hand and cover it with the other to bring the oil to body warmth.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212080" cy="1920240"/>
          </a:xfrm>
          <a:prstGeom prst="roundRect">
            <a:avLst/>
          </a:prstGeom>
          <a:solidFill>
            <a:srgbClr val="201C19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60" y="1920240"/>
            <a:ext cx="868680" cy="868680"/>
          </a:xfrm>
          <a:prstGeom prst="ellipse">
            <a:avLst/>
          </a:prstGeom>
          <a:solidFill>
            <a:srgbClr val="C98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8686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874520"/>
            <a:ext cx="3657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E0A73A"/>
                </a:solidFill>
                <a:latin typeface="Calibri"/>
              </a:rPr>
              <a:t>Smell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377440"/>
            <a:ext cx="3703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DACFBC"/>
                </a:solidFill>
                <a:latin typeface="Calibri"/>
              </a:rPr>
              <a:t>Uncover and breathe in. Look for green leaf, fresh grass, tomato leaf and almond.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212080" cy="1920240"/>
          </a:xfrm>
          <a:prstGeom prst="roundRect">
            <a:avLst/>
          </a:prstGeom>
          <a:solidFill>
            <a:srgbClr val="201C19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4160520"/>
            <a:ext cx="868680" cy="868680"/>
          </a:xfrm>
          <a:prstGeom prst="ellipse">
            <a:avLst/>
          </a:prstGeom>
          <a:solidFill>
            <a:srgbClr val="C98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60520"/>
            <a:ext cx="8686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14800"/>
            <a:ext cx="3657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E0A73A"/>
                </a:solidFill>
                <a:latin typeface="Calibri"/>
              </a:rPr>
              <a:t>Sip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617720"/>
            <a:ext cx="3703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DACFBC"/>
                </a:solidFill>
                <a:latin typeface="Calibri"/>
              </a:rPr>
              <a:t>Take a small sip and draw air across it so the aroma fills the back of the nose.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840480"/>
            <a:ext cx="5212080" cy="1920240"/>
          </a:xfrm>
          <a:prstGeom prst="roundRect">
            <a:avLst/>
          </a:prstGeom>
          <a:solidFill>
            <a:srgbClr val="201C19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60" y="4160520"/>
            <a:ext cx="868680" cy="868680"/>
          </a:xfrm>
          <a:prstGeom prst="ellipse">
            <a:avLst/>
          </a:prstGeom>
          <a:solidFill>
            <a:srgbClr val="C98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160520"/>
            <a:ext cx="8686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114800"/>
            <a:ext cx="3657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E0A73A"/>
                </a:solidFill>
                <a:latin typeface="Calibri"/>
              </a:rPr>
              <a:t>Swallow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617720"/>
            <a:ext cx="3703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DACFBC"/>
                </a:solidFill>
                <a:latin typeface="Calibri"/>
              </a:rPr>
              <a:t>Notice the bitterness on the tongue and the peppery pungency in the throat.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C907F"/>
                </a:solidFill>
                <a:latin typeface="Calibri"/>
              </a:rPr>
              <a:t>Finca Miles  |  Tasting Masterclass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8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B5542B"/>
                </a:solidFill>
                <a:latin typeface="Calibri"/>
              </a:rPr>
              <a:t>THE FLAGSHIP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2B2622"/>
                </a:solidFill>
                <a:latin typeface="Calibri Light"/>
              </a:rPr>
              <a:t>Lot MIL-2526-006, parcel N-1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920240"/>
          <a:ext cx="69494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1920240"/>
            <a:ext cx="3749039" cy="4023360"/>
          </a:xfrm>
          <a:prstGeom prst="roundRect">
            <a:avLst/>
          </a:prstGeom>
          <a:solidFill>
            <a:srgbClr val="2B2622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219456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E0A73A"/>
                </a:solidFill>
                <a:latin typeface="Calibri"/>
              </a:rPr>
              <a:t>By 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788920"/>
            <a:ext cx="1920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D8CBB4"/>
                </a:solidFill>
                <a:latin typeface="Calibri"/>
              </a:rPr>
              <a:t>Free acidity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2788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0.16%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355848"/>
            <a:ext cx="1920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D8CBB4"/>
                </a:solidFill>
                <a:latin typeface="Calibri"/>
              </a:rPr>
              <a:t>Polyphenols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33558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612 mg/kg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922776"/>
            <a:ext cx="1920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D8CBB4"/>
                </a:solidFill>
                <a:latin typeface="Calibri"/>
              </a:rPr>
              <a:t>Panel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392277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86.5 /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489704"/>
            <a:ext cx="1920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D8CBB4"/>
                </a:solidFill>
                <a:latin typeface="Calibri"/>
              </a:rPr>
              <a:t>Maturity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448970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2.6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5056632"/>
            <a:ext cx="1920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D8CBB4"/>
                </a:solidFill>
                <a:latin typeface="Calibri"/>
              </a:rPr>
              <a:t>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505663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early, green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7F71"/>
                </a:solidFill>
                <a:latin typeface="Calibri"/>
              </a:rPr>
              <a:t>Finca Miles  |  Tasting Masterclass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55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B5542B"/>
                </a:solidFill>
                <a:latin typeface="Calibri"/>
              </a:rPr>
              <a:t>FAULTS TO CATCH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2B2622"/>
                </a:solidFill>
                <a:latin typeface="Calibri Light"/>
              </a:rPr>
              <a:t>What should never be in the glass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1663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E8D4"/>
            </a:solidFill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109728" cy="1554480"/>
          </a:xfrm>
          <a:prstGeom prst="rect">
            <a:avLst/>
          </a:prstGeom>
          <a:solidFill>
            <a:srgbClr val="B55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67128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B5542B"/>
                </a:solidFill>
                <a:latin typeface="Calibri"/>
              </a:rPr>
              <a:t>Fusty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46177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32D27"/>
                </a:solidFill>
                <a:latin typeface="Calibri"/>
              </a:rPr>
              <a:t>Fruit left in heaps too long before milling, a heavy, sweaty smell.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1663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E8D4"/>
            </a:solidFill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965960"/>
            <a:ext cx="109728" cy="1554480"/>
          </a:xfrm>
          <a:prstGeom prst="rect">
            <a:avLst/>
          </a:prstGeom>
          <a:solidFill>
            <a:srgbClr val="B55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67128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B5542B"/>
                </a:solidFill>
                <a:latin typeface="Calibri"/>
              </a:rPr>
              <a:t>Musty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46177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32D27"/>
                </a:solidFill>
                <a:latin typeface="Calibri"/>
              </a:rPr>
              <a:t>Mould on damp fruit, a stale cellar note.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51663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E8D4"/>
            </a:solidFill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94760"/>
            <a:ext cx="109728" cy="1554480"/>
          </a:xfrm>
          <a:prstGeom prst="rect">
            <a:avLst/>
          </a:prstGeom>
          <a:solidFill>
            <a:srgbClr val="B55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95928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B5542B"/>
                </a:solidFill>
                <a:latin typeface="Calibri"/>
              </a:rPr>
              <a:t>Winey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80560"/>
            <a:ext cx="46177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32D27"/>
                </a:solidFill>
                <a:latin typeface="Calibri"/>
              </a:rPr>
              <a:t>Fermentation, a vinegar or wine edge.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94760"/>
            <a:ext cx="51663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E8D4"/>
            </a:solidFill>
          </a:ln>
          <a:effectLst/>
          <a:effectLst>
            <a:outerShdw blurRad="60000" dist="25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794760"/>
            <a:ext cx="109728" cy="1554480"/>
          </a:xfrm>
          <a:prstGeom prst="rect">
            <a:avLst/>
          </a:prstGeom>
          <a:solidFill>
            <a:srgbClr val="B55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95928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B5542B"/>
                </a:solidFill>
                <a:latin typeface="Calibri"/>
              </a:rPr>
              <a:t>Rancid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480560"/>
            <a:ext cx="46177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32D27"/>
                </a:solidFill>
                <a:latin typeface="Calibri"/>
              </a:rPr>
              <a:t>Old, oxidised oil, the smell of stale nuts or crayons.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1">
                <a:solidFill>
                  <a:srgbClr val="8A7F71"/>
                </a:solidFill>
                <a:latin typeface="Calibri"/>
              </a:rPr>
              <a:t>A single clear fault means the oil is not extra virgin, whatever the label says.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7F71"/>
                </a:solidFill>
                <a:latin typeface="Calibri"/>
              </a:rPr>
              <a:t>Finca Miles  |  Tasting Masterclass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Score the season yourself</a:t>
            </a:r>
          </a:p>
          <a:p>
            <a:pPr algn="l"/>
            <a:r>
              <a:rPr sz="1250" b="0">
                <a:solidFill>
                  <a:srgbClr val="E0A73A"/>
                </a:solidFill>
                <a:latin typeface="Calibri"/>
              </a:rPr>
              <a:t>Four estate lots, tasted side by side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88136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1188720"/>
                <a:gridCol w="1463040"/>
                <a:gridCol w="1645920"/>
                <a:gridCol w="1188720"/>
                <a:gridCol w="320040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Lot</a:t>
                      </a:r>
                    </a:p>
                  </a:txBody>
                  <a:tcPr marL="88900" marR="88900" marT="38100" marB="38100" anchor="ctr">
                    <a:solidFill>
                      <a:srgbClr val="C98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Parcel</a:t>
                      </a:r>
                    </a:p>
                  </a:txBody>
                  <a:tcPr marL="88900" marR="88900" marT="38100" marB="38100" anchor="ctr">
                    <a:solidFill>
                      <a:srgbClr val="C98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Acidity %</a:t>
                      </a:r>
                    </a:p>
                  </a:txBody>
                  <a:tcPr marL="88900" marR="88900" marT="38100" marB="38100" anchor="ctr">
                    <a:solidFill>
                      <a:srgbClr val="C98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Polyphenols</a:t>
                      </a:r>
                    </a:p>
                  </a:txBody>
                  <a:tcPr marL="88900" marR="88900" marT="38100" marB="38100" anchor="ctr">
                    <a:solidFill>
                      <a:srgbClr val="C98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Panel</a:t>
                      </a:r>
                    </a:p>
                  </a:txBody>
                  <a:tcPr marL="88900" marR="88900" marT="38100" marB="38100" anchor="ctr">
                    <a:solidFill>
                      <a:srgbClr val="C98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Style</a:t>
                      </a:r>
                    </a:p>
                  </a:txBody>
                  <a:tcPr marL="88900" marR="88900" marT="38100" marB="38100" anchor="ctr">
                    <a:solidFill>
                      <a:srgbClr val="C9881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MIL-2526-006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N-1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0.16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612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86.5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early, green, best of year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MIL-2526-001</a:t>
                      </a:r>
                    </a:p>
                  </a:txBody>
                  <a:tcPr marL="88900" marR="88900" marT="38100" marB="38100" anchor="ctr">
                    <a:solidFill>
                      <a:srgbClr val="F3E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N-1</a:t>
                      </a:r>
                    </a:p>
                  </a:txBody>
                  <a:tcPr marL="88900" marR="88900" marT="38100" marB="38100" anchor="ctr">
                    <a:solidFill>
                      <a:srgbClr val="F3E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L="88900" marR="88900" marT="38100" marB="38100" anchor="ctr">
                    <a:solidFill>
                      <a:srgbClr val="F3E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588</a:t>
                      </a:r>
                    </a:p>
                  </a:txBody>
                  <a:tcPr marL="88900" marR="88900" marT="38100" marB="38100" anchor="ctr">
                    <a:solidFill>
                      <a:srgbClr val="F3E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85.0</a:t>
                      </a:r>
                    </a:p>
                  </a:txBody>
                  <a:tcPr marL="88900" marR="88900" marT="38100" marB="38100" anchor="ctr">
                    <a:solidFill>
                      <a:srgbClr val="F3E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early, green</a:t>
                      </a:r>
                    </a:p>
                  </a:txBody>
                  <a:tcPr marL="88900" marR="88900" marT="38100" marB="38100" anchor="ctr">
                    <a:solidFill>
                      <a:srgbClr val="F3E8D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MIL-2526-018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S-1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392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82.0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riper, rounder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MIL-2526-027</a:t>
                      </a:r>
                    </a:p>
                  </a:txBody>
                  <a:tcPr marL="88900" marR="88900" marT="38100" marB="38100" anchor="ctr">
                    <a:solidFill>
                      <a:srgbClr val="F3E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S-1</a:t>
                      </a:r>
                    </a:p>
                  </a:txBody>
                  <a:tcPr marL="88900" marR="88900" marT="38100" marB="38100" anchor="ctr">
                    <a:solidFill>
                      <a:srgbClr val="F3E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0.33</a:t>
                      </a:r>
                    </a:p>
                  </a:txBody>
                  <a:tcPr marL="88900" marR="88900" marT="38100" marB="38100" anchor="ctr">
                    <a:solidFill>
                      <a:srgbClr val="F3E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88900" marR="88900" marT="38100" marB="38100" anchor="ctr">
                    <a:solidFill>
                      <a:srgbClr val="F3E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78.0</a:t>
                      </a:r>
                    </a:p>
                  </a:txBody>
                  <a:tcPr marL="88900" marR="88900" marT="38100" marB="38100" anchor="ctr">
                    <a:solidFill>
                      <a:srgbClr val="F3E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332D27"/>
                          </a:solidFill>
                          <a:latin typeface="Calibri"/>
                        </a:rPr>
                        <a:t>late, mild, to the pool</a:t>
                      </a:r>
                    </a:p>
                  </a:txBody>
                  <a:tcPr marL="88900" marR="88900" marT="38100" marB="38100" anchor="ctr">
                    <a:solidFill>
                      <a:srgbClr val="F3E8D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937760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2622"/>
                </a:solidFill>
                <a:latin typeface="Calibri"/>
              </a:rPr>
              <a:t>Notice how the earliest, lowest acidity lot carries the most polyphenols and the highest score. That is the early harvest premium.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7F71"/>
                </a:solidFill>
                <a:latin typeface="Calibri"/>
              </a:rPr>
              <a:t>Finca Miles  |  Tasting Masterclass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4160520"/>
            <a:ext cx="3749039" cy="73152"/>
          </a:xfrm>
          <a:prstGeom prst="rect">
            <a:avLst/>
          </a:prstGeom>
          <a:solidFill>
            <a:srgbClr val="C98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 Light"/>
              </a:rPr>
              <a:t>Now taste with your eyes closed.</a:t>
            </a:r>
          </a:p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C9881E"/>
                </a:solidFill>
                <a:latin typeface="Calibri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3E8D4"/>
                </a:solidFill>
                <a:latin typeface="Calibri"/>
              </a:rPr>
              <a:t>Green, then bitter, then the pepper at the back. That is a healthy, early harvest Picual.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E0A73A"/>
                </a:solidFill>
                <a:latin typeface="Calibri"/>
              </a:rPr>
              <a:t>Finca Miles, Baena  |  Tastings by appointment, Tuesday to Saturday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