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 litres</c:v>
                </c:pt>
              </c:strCache>
            </c:strRef>
          </c:tx>
          <c:spPr>
            <a:solidFill>
              <a:srgbClr val="BD9A4E"/>
            </a:solidFill>
          </c:spPr>
          <c:cat>
            <c:strRef>
              <c:f>Sheet1!$A$2:$A$5</c:f>
              <c:strCache>
                <c:ptCount val="4"/>
                <c:pt idx="0">
                  <c:v>Switzerland</c:v>
                </c:pt>
                <c:pt idx="1">
                  <c:v>Germany</c:v>
                </c:pt>
                <c:pt idx="2">
                  <c:v>UK</c:v>
                </c:pt>
                <c:pt idx="3">
                  <c:v>Netherlands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800</c:v>
                </c:pt>
                <c:pt idx="2">
                  <c:v>650</c:v>
                </c:pt>
                <c:pt idx="3">
                  <c:v>450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2F51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31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46304" cy="2011680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BD9A4E"/>
                </a:solidFill>
                <a:latin typeface="Calibri"/>
              </a:rPr>
              <a:t>FINCA MILES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100584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EFE2"/>
                </a:solidFill>
                <a:latin typeface="Calibri Light"/>
              </a:rPr>
              <a:t>Export Expansion Strategy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9D2C2"/>
                </a:solidFill>
                <a:latin typeface="Calibri"/>
              </a:rPr>
              <a:t>Reaching three new specialty importers by the end of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25780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EB7A6"/>
                </a:solidFill>
                <a:latin typeface="Calibri"/>
              </a:rPr>
              <a:t>Single estate Picual  |  Baena, Andalusia  |  Season 2025-26 review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BD9A4E"/>
                </a:solidFill>
                <a:latin typeface="Calibri"/>
              </a:rPr>
              <a:t>Prepared for the estate by Min Miles Park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we are now</a:t>
            </a:r>
          </a:p>
          <a:p>
            <a:pPr algn="l"/>
            <a:r>
              <a:rPr sz="1300" b="0">
                <a:solidFill>
                  <a:srgbClr val="BD9A4E"/>
                </a:solidFill>
                <a:latin typeface="Calibri"/>
              </a:rPr>
              <a:t>Two international accounts, held well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97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97480" cy="73152"/>
          </a:xfrm>
          <a:prstGeom prst="rect">
            <a:avLst/>
          </a:prstGeom>
          <a:solidFill>
            <a:srgbClr val="2F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2F5135"/>
                </a:solidFill>
                <a:latin typeface="Calibri"/>
              </a:rPr>
              <a:t>11,812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6974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6E7A6A"/>
                </a:solidFill>
                <a:latin typeface="Calibri"/>
              </a:rPr>
              <a:t>Produced a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17320"/>
            <a:ext cx="2697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417320"/>
            <a:ext cx="2697480" cy="73152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581912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BD9A4E"/>
                </a:solidFill>
                <a:latin typeface="Calibri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468880"/>
            <a:ext cx="26974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6E7A6A"/>
                </a:solidFill>
                <a:latin typeface="Calibri"/>
              </a:rPr>
              <a:t>Premium single estate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417320"/>
            <a:ext cx="2697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417320"/>
            <a:ext cx="2697480" cy="73152"/>
          </a:xfrm>
          <a:prstGeom prst="rect">
            <a:avLst/>
          </a:prstGeom>
          <a:solidFill>
            <a:srgbClr val="2F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581912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2F5135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468880"/>
            <a:ext cx="26974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6E7A6A"/>
                </a:solidFill>
                <a:latin typeface="Calibri"/>
              </a:rPr>
              <a:t>Active buyer accounts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1417320"/>
            <a:ext cx="2697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72016" y="1417320"/>
            <a:ext cx="2697480" cy="73152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1581912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BD9A4E"/>
                </a:solidFill>
                <a:latin typeface="Calibri"/>
              </a:rPr>
              <a:t>612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468880"/>
            <a:ext cx="26974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6E7A6A"/>
                </a:solidFill>
                <a:latin typeface="Calibri"/>
              </a:rPr>
              <a:t>Polyphenols mg/kg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2F5135"/>
                </a:solidFill>
                <a:latin typeface="Calibri"/>
              </a:rPr>
              <a:t>Current partners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886200"/>
          <a:ext cx="110642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Buyer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Standing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Romero Gourmet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Spain, Sevilla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Bulk and 750 ml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Longest relationship, takes the flagship first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Felderhoff Feinkost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Germany, Hamburg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500 ml tins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Values high polyphenols and provenance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Crest and Grove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United Kingdom, London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750 ml specialty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Small, reliable, on time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A6A"/>
                </a:solidFill>
                <a:latin typeface="Calibri"/>
              </a:rPr>
              <a:t>Finca Miles  |  Export Expansion Strategy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1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BD9A4E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libri Light"/>
              </a:rPr>
              <a:t>Add three new importers, supplied well, not over promised.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3474720" cy="2651760"/>
          </a:xfrm>
          <a:prstGeom prst="roundRect">
            <a:avLst/>
          </a:prstGeom>
          <a:solidFill>
            <a:srgbClr val="14241B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3474720" cy="91440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BD9A4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Protect what we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29718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BD4C5"/>
                </a:solidFill>
                <a:latin typeface="Calibri"/>
              </a:rPr>
              <a:t>Keep the two international accounts and Romero Gourmet first in line for the flagship 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2697480"/>
            <a:ext cx="3474720" cy="2651760"/>
          </a:xfrm>
          <a:prstGeom prst="roundRect">
            <a:avLst/>
          </a:prstGeom>
          <a:solidFill>
            <a:srgbClr val="14241B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2697480"/>
            <a:ext cx="3474720" cy="91440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92608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BD9A4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42900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Grow slowly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977639"/>
            <a:ext cx="29718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BD4C5"/>
                </a:solidFill>
                <a:latin typeface="Calibri"/>
              </a:rPr>
              <a:t>Three new specialty accounts in Switzerland, Germany and the United Kingdom by end of 2027.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2697480"/>
            <a:ext cx="3474720" cy="2651760"/>
          </a:xfrm>
          <a:prstGeom prst="roundRect">
            <a:avLst/>
          </a:prstGeom>
          <a:solidFill>
            <a:srgbClr val="14241B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8" y="2697480"/>
            <a:ext cx="3474720" cy="91440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292608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BD9A4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342900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Lead with organic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3977639"/>
            <a:ext cx="29718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BD4C5"/>
                </a:solidFill>
                <a:latin typeface="Calibri"/>
              </a:rPr>
              <a:t>Certified organic east grove oil from 2027 is the door opener for new shelves.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FB0A0"/>
                </a:solidFill>
                <a:latin typeface="Calibri"/>
              </a:rPr>
              <a:t>Finca Miles  |  Export Expansion Strategy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Target prospects</a:t>
            </a:r>
          </a:p>
          <a:p>
            <a:pPr algn="l"/>
            <a:r>
              <a:rPr sz="1300" b="0">
                <a:solidFill>
                  <a:srgbClr val="BD9A4E"/>
                </a:solidFill>
                <a:latin typeface="Calibri"/>
              </a:rPr>
              <a:t>Indicative annual volume by prospect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5669279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4777"/>
                <a:gridCol w="1484811"/>
                <a:gridCol w="1619794"/>
                <a:gridCol w="809897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Prospect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Litres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Specialty grocer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Switzerland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Sample sent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Restaurant supply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Intro call booked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Online delicatessen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United Kingdom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Researching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650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Specialty importer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Netherlands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Researching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312A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92240" y="1371600"/>
          <a:ext cx="51206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562356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E7A6A"/>
                </a:solidFill>
                <a:latin typeface="Calibri"/>
              </a:rPr>
              <a:t>Combined target of about 2,400 litres a year across four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A6A"/>
                </a:solidFill>
                <a:latin typeface="Calibri"/>
              </a:rPr>
              <a:t>Finca Miles  |  Export Expansion Strategy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What a partner gets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BD9A4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C9D2C2"/>
                </a:solidFill>
                <a:latin typeface="Calibri"/>
              </a:rPr>
              <a:t>The same offer to every shelf, scaled to the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280160" cy="73152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22312A"/>
                </a:solidFill>
                <a:latin typeface="Calibri"/>
              </a:rPr>
              <a:t>•  Single estate traceability and a certificate of analysis on every premium lot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22312A"/>
                </a:solidFill>
                <a:latin typeface="Calibri"/>
              </a:rPr>
              <a:t>•  Documented high polyphenol early harvest Picual, above the EU health claim threshold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22312A"/>
                </a:solidFill>
                <a:latin typeface="Calibri"/>
              </a:rPr>
              <a:t>•  Certified organic oil from 2027, east grove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22312A"/>
                </a:solidFill>
                <a:latin typeface="Calibri"/>
              </a:rPr>
              <a:t>•  Small, reliable allocations, supplied well rather than over promised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22312A"/>
                </a:solidFill>
                <a:latin typeface="Calibri"/>
              </a:rPr>
              <a:t>•  A direct relationship with the grower, enquiries handled by the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A6A"/>
                </a:solidFill>
                <a:latin typeface="Calibri"/>
              </a:rPr>
              <a:t>Finca Miles  |  Export Expansion Strategy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pipeline</a:t>
            </a:r>
          </a:p>
          <a:p>
            <a:pPr algn="l"/>
            <a:r>
              <a:rPr sz="1300" b="0">
                <a:solidFill>
                  <a:srgbClr val="BD9A4E"/>
                </a:solidFill>
                <a:latin typeface="Calibri"/>
              </a:rPr>
              <a:t>From first interest to a standing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6804660" cy="777240"/>
          </a:xfrm>
          <a:prstGeom prst="roundRect">
            <a:avLst/>
          </a:prstGeom>
          <a:solidFill>
            <a:srgbClr val="42704A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68046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Researching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7620" y="155448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312A"/>
                </a:solidFill>
                <a:latin typeface="Calibri"/>
              </a:rPr>
              <a:t>2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4922520" cy="777240"/>
          </a:xfrm>
          <a:prstGeom prst="roundRect">
            <a:avLst/>
          </a:prstGeom>
          <a:solidFill>
            <a:srgbClr val="2F5135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922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Intro call booked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5480" y="260604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312A"/>
                </a:solidFill>
                <a:latin typeface="Calibri"/>
              </a:rPr>
              <a:t>1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4922520" cy="777240"/>
          </a:xfrm>
          <a:prstGeom prst="roundRect">
            <a:avLst/>
          </a:prstGeom>
          <a:solidFill>
            <a:srgbClr val="9A7C3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22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Sample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5480" y="365760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312A"/>
                </a:solidFill>
                <a:latin typeface="Calibri"/>
              </a:rPr>
              <a:t>1 account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09160"/>
            <a:ext cx="8686800" cy="777240"/>
          </a:xfrm>
          <a:prstGeom prst="roundRect">
            <a:avLst/>
          </a:prstGeom>
          <a:solidFill>
            <a:srgbClr val="BD9A4E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86868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Active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70916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312A"/>
                </a:solidFill>
                <a:latin typeface="Calibri"/>
              </a:rPr>
              <a:t>3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E7A6A"/>
                </a:solidFill>
                <a:latin typeface="Calibri"/>
              </a:rPr>
              <a:t>Four prospects are in the pipeline against a target of three conversions, leaving room for one to slip.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A6A"/>
                </a:solidFill>
                <a:latin typeface="Calibri"/>
              </a:rPr>
              <a:t>Finca Miles  |  Export Expansion Strategy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Action plan</a:t>
            </a:r>
          </a:p>
          <a:p>
            <a:pPr algn="l"/>
            <a:r>
              <a:rPr sz="1300" b="0">
                <a:solidFill>
                  <a:srgbClr val="BD9A4E"/>
                </a:solidFill>
                <a:latin typeface="Calibri"/>
              </a:rPr>
              <a:t>Next twelve months, around the harvest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3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6766559"/>
                <a:gridCol w="2285999"/>
              </a:tblGrid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88900" marR="88900" marT="38100" marB="38100" anchor="ctr">
                    <a:solidFill>
                      <a:srgbClr val="2F5135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Hold the booked intro call, send new harvest tasting notes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November 2026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Meet two prospects at the Olive Oil Harvest Fair in Jaen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Soo-Jin and Min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December 2026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Send sample packs with the new certificate of analysis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January 2027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Confirm first trial orders after harvest close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February 2027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Review pricing and allocation for the new accounts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Min and Soo-Jin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From spring 2027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Lead new outreach with certified organic oil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31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4EFE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A6A"/>
                </a:solidFill>
                <a:latin typeface="Calibri"/>
              </a:rPr>
              <a:t>Finca Miles  |  Export Expansion Strategy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46304" cy="2194560"/>
          </a:xfrm>
          <a:prstGeom prst="rect">
            <a:avLst/>
          </a:prstGeom>
          <a:solidFill>
            <a:srgbClr val="BD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377440"/>
            <a:ext cx="100584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 Light"/>
              </a:rPr>
              <a:t>Small by choice. Grown on purpose.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BD9A4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C9D2C2"/>
                </a:solidFill>
                <a:latin typeface="Calibri"/>
              </a:rPr>
              <a:t>Three new shelves by 2027, each supplied with oil the estate can stand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BD9A4E"/>
                </a:solidFill>
                <a:latin typeface="Calibri"/>
              </a:rPr>
              <a:t>Finca Miles  |  Carretera de Cordoba, 14850 Baena, Cordoba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