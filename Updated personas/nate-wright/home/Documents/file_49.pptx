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A2B"/>
        </a:solidFill>
        <a:effectLst/>
      </p:bgPr>
    </p:bg>
    <p:spTree>
      <p:nvGrpSpPr>
        <p:cNvPr id="1" name=""/>
        <p:cNvGrpSpPr/>
        <p:nvPr/>
      </p:nvGrpSpPr>
      <p:grpSpPr/>
      <p:sp>
        <p:nvSpPr>
          <p:cNvPr id="2" name="Rectangle 1"/>
          <p:cNvSpPr/>
          <p:nvPr/>
        </p:nvSpPr>
        <p:spPr>
          <a:xfrm>
            <a:off x="0" y="0"/>
            <a:ext cx="12191695" cy="2194560"/>
          </a:xfrm>
          <a:prstGeom prst="rect">
            <a:avLst/>
          </a:prstGeom>
          <a:solidFill>
            <a:srgbClr val="0E1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09728"/>
          </a:xfrm>
          <a:prstGeom prst="rect">
            <a:avLst/>
          </a:prstGeom>
          <a:solidFill>
            <a:srgbClr val="E2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869680" y="3108960"/>
            <a:ext cx="2743200" cy="2743200"/>
          </a:xfrm>
          <a:prstGeom prst="ellipse">
            <a:avLst/>
          </a:prstGeom>
          <a:solidFill>
            <a:srgbClr val="4E8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241280" y="5120640"/>
            <a:ext cx="1463040" cy="1463040"/>
          </a:xfrm>
          <a:prstGeom prst="ellipse">
            <a:avLst/>
          </a:prstGeom>
          <a:solidFill>
            <a:srgbClr val="E2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2920"/>
            <a:ext cx="10058400" cy="457200"/>
          </a:xfrm>
          <a:prstGeom prst="rect">
            <a:avLst/>
          </a:prstGeom>
          <a:noFill/>
        </p:spPr>
        <p:txBody>
          <a:bodyPr wrap="square" anchor="t">
            <a:spAutoFit/>
          </a:bodyPr>
          <a:lstStyle/>
          <a:p>
            <a:pPr algn="l"/>
            <a:r>
              <a:rPr sz="1500" b="1">
                <a:solidFill>
                  <a:srgbClr val="E2A33B"/>
                </a:solidFill>
                <a:latin typeface="Calibri"/>
              </a:rPr>
              <a:t>WRIGHT HOUSEHOLD, 14 HILLANDALE ROAD</a:t>
            </a:r>
          </a:p>
        </p:txBody>
      </p:sp>
      <p:sp>
        <p:nvSpPr>
          <p:cNvPr id="7" name="TextBox 6"/>
          <p:cNvSpPr txBox="1"/>
          <p:nvPr/>
        </p:nvSpPr>
        <p:spPr>
          <a:xfrm>
            <a:off x="640080" y="914400"/>
            <a:ext cx="10789920" cy="1188720"/>
          </a:xfrm>
          <a:prstGeom prst="rect">
            <a:avLst/>
          </a:prstGeom>
          <a:noFill/>
        </p:spPr>
        <p:txBody>
          <a:bodyPr wrap="square" anchor="t">
            <a:spAutoFit/>
          </a:bodyPr>
          <a:lstStyle/>
          <a:p>
            <a:pPr algn="l"/>
            <a:r>
              <a:rPr sz="4000" b="1">
                <a:solidFill>
                  <a:srgbClr val="FFFFFF"/>
                </a:solidFill>
                <a:latin typeface="Calibri"/>
              </a:rPr>
              <a:t>Household Financial Review</a:t>
            </a:r>
          </a:p>
        </p:txBody>
      </p:sp>
      <p:sp>
        <p:nvSpPr>
          <p:cNvPr id="8" name="TextBox 7"/>
          <p:cNvSpPr txBox="1"/>
          <p:nvPr/>
        </p:nvSpPr>
        <p:spPr>
          <a:xfrm>
            <a:off x="640080" y="2468880"/>
            <a:ext cx="10515600" cy="914400"/>
          </a:xfrm>
          <a:prstGeom prst="rect">
            <a:avLst/>
          </a:prstGeom>
          <a:noFill/>
        </p:spPr>
        <p:txBody>
          <a:bodyPr wrap="square" anchor="t">
            <a:spAutoFit/>
          </a:bodyPr>
          <a:lstStyle/>
          <a:p>
            <a:pPr algn="l"/>
            <a:r>
              <a:rPr sz="2000" b="0">
                <a:solidFill>
                  <a:srgbClr val="E4E9F2"/>
                </a:solidFill>
                <a:latin typeface="Calibri"/>
              </a:rPr>
              <a:t>Income, fixed costs, and savings targets for the year ahead</a:t>
            </a:r>
          </a:p>
        </p:txBody>
      </p:sp>
      <p:sp>
        <p:nvSpPr>
          <p:cNvPr id="9" name="TextBox 8"/>
          <p:cNvSpPr txBox="1"/>
          <p:nvPr/>
        </p:nvSpPr>
        <p:spPr>
          <a:xfrm>
            <a:off x="640080" y="5852160"/>
            <a:ext cx="10058400" cy="457200"/>
          </a:xfrm>
          <a:prstGeom prst="rect">
            <a:avLst/>
          </a:prstGeom>
          <a:noFill/>
        </p:spPr>
        <p:txBody>
          <a:bodyPr wrap="square" anchor="t">
            <a:spAutoFit/>
          </a:bodyPr>
          <a:lstStyle/>
          <a:p>
            <a:pPr algn="l"/>
            <a:r>
              <a:rPr sz="1300" b="1">
                <a:solidFill>
                  <a:srgbClr val="8294B0"/>
                </a:solidFill>
                <a:latin typeface="Calibri"/>
              </a:rPr>
              <a:t>Nate Wright</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600"/>
                                        <p:tgtEl>
                                          <p:spTgt spid="7"/>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7"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A2B"/>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E1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E2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E2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01</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Where the money comes from</a:t>
            </a:r>
          </a:p>
        </p:txBody>
      </p:sp>
      <p:sp>
        <p:nvSpPr>
          <p:cNvPr id="7" name="Rectangle 6"/>
          <p:cNvSpPr/>
          <p:nvPr/>
        </p:nvSpPr>
        <p:spPr>
          <a:xfrm>
            <a:off x="502920" y="1600200"/>
            <a:ext cx="11155680" cy="1447800"/>
          </a:xfrm>
          <a:prstGeom prst="rect">
            <a:avLst/>
          </a:prstGeom>
          <a:solidFill>
            <a:srgbClr val="17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E2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0E1730"/>
                </a:solidFill>
                <a:latin typeface="Calibri"/>
              </a:rPr>
              <a:t>Two incomes</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E4E9F2"/>
                </a:solidFill>
                <a:latin typeface="Calibri"/>
              </a:rPr>
              <a:t>Nate base salary 118,000 dollars with annual overtime and on-call adding 8,000 to 12,000 dollars. Nicole earns 78,000 dollars as an HR manager at Ridgeline Insurance Group. Combined household income is roughly 196,000 dollars.</a:t>
            </a:r>
          </a:p>
        </p:txBody>
      </p:sp>
      <p:sp>
        <p:nvSpPr>
          <p:cNvPr id="11" name="Rectangle 10"/>
          <p:cNvSpPr/>
          <p:nvPr/>
        </p:nvSpPr>
        <p:spPr>
          <a:xfrm>
            <a:off x="502920" y="3230880"/>
            <a:ext cx="11155680" cy="1447800"/>
          </a:xfrm>
          <a:prstGeom prst="rect">
            <a:avLst/>
          </a:prstGeom>
          <a:solidFill>
            <a:srgbClr val="17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E2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0E1730"/>
                </a:solidFill>
                <a:latin typeface="Calibri"/>
              </a:rPr>
              <a:t>Monthly take-home</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E4E9F2"/>
                </a:solidFill>
                <a:latin typeface="Calibri"/>
              </a:rPr>
              <a:t>Take-home lands near 7,235 dollars a month. Health insurance runs 290 dollars per paycheck. The plan is built around that monthly figure, not the gross, so the fixed costs always have to clear it first.</a:t>
            </a:r>
          </a:p>
        </p:txBody>
      </p:sp>
      <p:sp>
        <p:nvSpPr>
          <p:cNvPr id="15" name="Rectangle 14"/>
          <p:cNvSpPr/>
          <p:nvPr/>
        </p:nvSpPr>
        <p:spPr>
          <a:xfrm>
            <a:off x="502920" y="4861560"/>
            <a:ext cx="11155680" cy="1447800"/>
          </a:xfrm>
          <a:prstGeom prst="rect">
            <a:avLst/>
          </a:prstGeom>
          <a:solidFill>
            <a:srgbClr val="17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E2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0E1730"/>
                </a:solidFill>
                <a:latin typeface="Calibri"/>
              </a:rPr>
              <a:t>The spending rule</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E4E9F2"/>
                </a:solidFill>
                <a:latin typeface="Calibri"/>
              </a:rPr>
              <a:t>Any single expense at or above 350 dollars, or any new recurring charge at or above 30 dollars a month, gets cleared with Nicole first. Below that line, judgement applies and the spend gets reported.</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A2B"/>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E1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4E8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4E8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02</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Fixed monthly costs</a:t>
            </a:r>
          </a:p>
        </p:txBody>
      </p:sp>
      <p:sp>
        <p:nvSpPr>
          <p:cNvPr id="7" name="Rectangle 6"/>
          <p:cNvSpPr/>
          <p:nvPr/>
        </p:nvSpPr>
        <p:spPr>
          <a:xfrm>
            <a:off x="502920" y="1600200"/>
            <a:ext cx="11155680" cy="1447800"/>
          </a:xfrm>
          <a:prstGeom prst="rect">
            <a:avLst/>
          </a:prstGeom>
          <a:solidFill>
            <a:srgbClr val="17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4E8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0E1730"/>
                </a:solidFill>
                <a:latin typeface="Calibri"/>
              </a:rPr>
              <a:t>Housing</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E4E9F2"/>
                </a:solidFill>
                <a:latin typeface="Calibri"/>
              </a:rPr>
              <a:t>Mortgage on the four-bedroom colonial is 2,450 dollars a month. It is the single largest line and the anchor the rest of the budget works around.</a:t>
            </a:r>
          </a:p>
        </p:txBody>
      </p:sp>
      <p:sp>
        <p:nvSpPr>
          <p:cNvPr id="11" name="Rectangle 10"/>
          <p:cNvSpPr/>
          <p:nvPr/>
        </p:nvSpPr>
        <p:spPr>
          <a:xfrm>
            <a:off x="502920" y="3230880"/>
            <a:ext cx="11155680" cy="1447800"/>
          </a:xfrm>
          <a:prstGeom prst="rect">
            <a:avLst/>
          </a:prstGeom>
          <a:solidFill>
            <a:srgbClr val="17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4E8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0E1730"/>
                </a:solidFill>
                <a:latin typeface="Calibri"/>
              </a:rPr>
              <a:t>Two cars</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E4E9F2"/>
                </a:solidFill>
                <a:latin typeface="Calibri"/>
              </a:rPr>
              <a:t>The 2023 wagon runs 420 dollars a month and the 2021 sedan runs 380 dollars. Only forty dollars apart, so the two lines get labelled carefully and never swapped in any summary.</a:t>
            </a:r>
          </a:p>
        </p:txBody>
      </p:sp>
      <p:sp>
        <p:nvSpPr>
          <p:cNvPr id="15" name="Rectangle 14"/>
          <p:cNvSpPr/>
          <p:nvPr/>
        </p:nvSpPr>
        <p:spPr>
          <a:xfrm>
            <a:off x="502920" y="4861560"/>
            <a:ext cx="11155680" cy="1447800"/>
          </a:xfrm>
          <a:prstGeom prst="rect">
            <a:avLst/>
          </a:prstGeom>
          <a:solidFill>
            <a:srgbClr val="17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4E8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0E1730"/>
                </a:solidFill>
                <a:latin typeface="Calibri"/>
              </a:rPr>
              <a:t>Insurance and the rest</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E4E9F2"/>
                </a:solidFill>
                <a:latin typeface="Calibri"/>
              </a:rPr>
              <a:t>Health insurance at 290 dollars per paycheck, plus utilities, groceries, and the kids' activity fees. New recurring fees over 30 dollars a month always get a heads-up before they start.</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A2B"/>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E1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E2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E2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03</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Savings and college</a:t>
            </a:r>
          </a:p>
        </p:txBody>
      </p:sp>
      <p:sp>
        <p:nvSpPr>
          <p:cNvPr id="7" name="Rectangle 6"/>
          <p:cNvSpPr/>
          <p:nvPr/>
        </p:nvSpPr>
        <p:spPr>
          <a:xfrm>
            <a:off x="502920" y="1600200"/>
            <a:ext cx="11155680" cy="1447800"/>
          </a:xfrm>
          <a:prstGeom prst="rect">
            <a:avLst/>
          </a:prstGeom>
          <a:solidFill>
            <a:srgbClr val="17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E2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0E1730"/>
                </a:solidFill>
                <a:latin typeface="Calibri"/>
              </a:rPr>
              <a:t>Emergency fund</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E4E9F2"/>
                </a:solidFill>
                <a:latin typeface="Calibri"/>
              </a:rPr>
              <a:t>Joint emergency savings sit at 34,000 dollars at the credit union against a 40,000 dollar target. That leaves a 6,000 dollar gap, paced at 250 to 500 dollars a month on the tracking sheet.</a:t>
            </a:r>
          </a:p>
        </p:txBody>
      </p:sp>
      <p:sp>
        <p:nvSpPr>
          <p:cNvPr id="11" name="Rectangle 10"/>
          <p:cNvSpPr/>
          <p:nvPr/>
        </p:nvSpPr>
        <p:spPr>
          <a:xfrm>
            <a:off x="502920" y="3230880"/>
            <a:ext cx="11155680" cy="1447800"/>
          </a:xfrm>
          <a:prstGeom prst="rect">
            <a:avLst/>
          </a:prstGeom>
          <a:solidFill>
            <a:srgbClr val="17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E2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0E1730"/>
                </a:solidFill>
                <a:latin typeface="Calibri"/>
              </a:rPr>
              <a:t>College plans</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E4E9F2"/>
                </a:solidFill>
                <a:latin typeface="Calibri"/>
              </a:rPr>
              <a:t>Two college savings plans: Nolan at 38,000 dollars and Chloe at 22,000 dollars, each funded at 750 and 500 dollars a quarter. Nolan starts first, so the draw-down plan does not raid Chloe's balance.</a:t>
            </a:r>
          </a:p>
        </p:txBody>
      </p:sp>
      <p:sp>
        <p:nvSpPr>
          <p:cNvPr id="15" name="Rectangle 14"/>
          <p:cNvSpPr/>
          <p:nvPr/>
        </p:nvSpPr>
        <p:spPr>
          <a:xfrm>
            <a:off x="502920" y="4861560"/>
            <a:ext cx="11155680" cy="1447800"/>
          </a:xfrm>
          <a:prstGeom prst="rect">
            <a:avLst/>
          </a:prstGeom>
          <a:solidFill>
            <a:srgbClr val="17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E2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0E1730"/>
                </a:solidFill>
                <a:latin typeface="Calibri"/>
              </a:rPr>
              <a:t>Retirement</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E4E9F2"/>
                </a:solidFill>
                <a:latin typeface="Calibri"/>
              </a:rPr>
              <a:t>The 401(a) balance is 285,420 dollars, reviewed each quarter against the statement rather than from memory. Liquid runway stays separate from retirement and is not touched for the gap above.</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A2B"/>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E17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88720"/>
            <a:ext cx="12191695" cy="73152"/>
          </a:xfrm>
          <a:prstGeom prst="rect">
            <a:avLst/>
          </a:prstGeom>
          <a:solidFill>
            <a:srgbClr val="4E8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 y="292608"/>
            <a:ext cx="603504" cy="603504"/>
          </a:xfrm>
          <a:prstGeom prst="ellipse">
            <a:avLst/>
          </a:prstGeom>
          <a:solidFill>
            <a:srgbClr val="4E8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603504" cy="603504"/>
          </a:xfrm>
          <a:prstGeom prst="rect">
            <a:avLst/>
          </a:prstGeom>
          <a:noFill/>
        </p:spPr>
        <p:txBody>
          <a:bodyPr wrap="square" anchor="ctr">
            <a:spAutoFit/>
          </a:bodyPr>
          <a:lstStyle/>
          <a:p>
            <a:pPr algn="ctr"/>
            <a:r>
              <a:rPr sz="1800" b="1">
                <a:solidFill>
                  <a:srgbClr val="FFFFFF"/>
                </a:solidFill>
                <a:latin typeface="Calibri"/>
              </a:rPr>
              <a:t>04</a:t>
            </a:r>
          </a:p>
        </p:txBody>
      </p:sp>
      <p:sp>
        <p:nvSpPr>
          <p:cNvPr id="6" name="TextBox 5"/>
          <p:cNvSpPr txBox="1"/>
          <p:nvPr/>
        </p:nvSpPr>
        <p:spPr>
          <a:xfrm>
            <a:off x="1325880" y="274320"/>
            <a:ext cx="9601200" cy="640080"/>
          </a:xfrm>
          <a:prstGeom prst="rect">
            <a:avLst/>
          </a:prstGeom>
          <a:noFill/>
        </p:spPr>
        <p:txBody>
          <a:bodyPr wrap="square" anchor="ctr">
            <a:spAutoFit/>
          </a:bodyPr>
          <a:lstStyle/>
          <a:p>
            <a:pPr algn="l"/>
            <a:r>
              <a:rPr sz="2600" b="1">
                <a:solidFill>
                  <a:srgbClr val="FFFFFF"/>
                </a:solidFill>
                <a:latin typeface="Calibri"/>
              </a:rPr>
              <a:t>The year ahead</a:t>
            </a:r>
          </a:p>
        </p:txBody>
      </p:sp>
      <p:sp>
        <p:nvSpPr>
          <p:cNvPr id="7" name="Rectangle 6"/>
          <p:cNvSpPr/>
          <p:nvPr/>
        </p:nvSpPr>
        <p:spPr>
          <a:xfrm>
            <a:off x="502920" y="1600200"/>
            <a:ext cx="11155680" cy="1447800"/>
          </a:xfrm>
          <a:prstGeom prst="rect">
            <a:avLst/>
          </a:prstGeom>
          <a:solidFill>
            <a:srgbClr val="17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600200"/>
            <a:ext cx="128016" cy="1447800"/>
          </a:xfrm>
          <a:prstGeom prst="rect">
            <a:avLst/>
          </a:prstGeom>
          <a:solidFill>
            <a:srgbClr val="4E8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10607040" cy="457200"/>
          </a:xfrm>
          <a:prstGeom prst="rect">
            <a:avLst/>
          </a:prstGeom>
          <a:noFill/>
        </p:spPr>
        <p:txBody>
          <a:bodyPr wrap="square" anchor="t">
            <a:spAutoFit/>
          </a:bodyPr>
          <a:lstStyle/>
          <a:p>
            <a:pPr algn="l"/>
            <a:r>
              <a:rPr sz="1600" b="1">
                <a:solidFill>
                  <a:srgbClr val="0E1730"/>
                </a:solidFill>
                <a:latin typeface="Calibri"/>
              </a:rPr>
              <a:t>Close the fund gap</a:t>
            </a:r>
          </a:p>
        </p:txBody>
      </p:sp>
      <p:sp>
        <p:nvSpPr>
          <p:cNvPr id="10" name="TextBox 9"/>
          <p:cNvSpPr txBox="1"/>
          <p:nvPr/>
        </p:nvSpPr>
        <p:spPr>
          <a:xfrm>
            <a:off x="868680" y="2103120"/>
            <a:ext cx="10607040" cy="853439"/>
          </a:xfrm>
          <a:prstGeom prst="rect">
            <a:avLst/>
          </a:prstGeom>
          <a:noFill/>
        </p:spPr>
        <p:txBody>
          <a:bodyPr wrap="square" anchor="t">
            <a:spAutoFit/>
          </a:bodyPr>
          <a:lstStyle/>
          <a:p>
            <a:pPr algn="l"/>
            <a:r>
              <a:rPr sz="1300" b="0">
                <a:solidFill>
                  <a:srgbClr val="E4E9F2"/>
                </a:solidFill>
                <a:latin typeface="Calibri"/>
              </a:rPr>
              <a:t>Hold the monthly transfer until the emergency fund reaches 40,000 dollars, then redirect that flow toward the OBX deposit and the December gift envelope without dipping below the target.</a:t>
            </a:r>
          </a:p>
        </p:txBody>
      </p:sp>
      <p:sp>
        <p:nvSpPr>
          <p:cNvPr id="11" name="Rectangle 10"/>
          <p:cNvSpPr/>
          <p:nvPr/>
        </p:nvSpPr>
        <p:spPr>
          <a:xfrm>
            <a:off x="502920" y="3230880"/>
            <a:ext cx="11155680" cy="1447800"/>
          </a:xfrm>
          <a:prstGeom prst="rect">
            <a:avLst/>
          </a:prstGeom>
          <a:solidFill>
            <a:srgbClr val="17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3230880"/>
            <a:ext cx="128016" cy="1447800"/>
          </a:xfrm>
          <a:prstGeom prst="rect">
            <a:avLst/>
          </a:prstGeom>
          <a:solidFill>
            <a:srgbClr val="4E8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340608"/>
            <a:ext cx="10607040" cy="457200"/>
          </a:xfrm>
          <a:prstGeom prst="rect">
            <a:avLst/>
          </a:prstGeom>
          <a:noFill/>
        </p:spPr>
        <p:txBody>
          <a:bodyPr wrap="square" anchor="t">
            <a:spAutoFit/>
          </a:bodyPr>
          <a:lstStyle/>
          <a:p>
            <a:pPr algn="l"/>
            <a:r>
              <a:rPr sz="1600" b="1">
                <a:solidFill>
                  <a:srgbClr val="0E1730"/>
                </a:solidFill>
                <a:latin typeface="Calibri"/>
              </a:rPr>
              <a:t>Big-ticket discipline</a:t>
            </a:r>
          </a:p>
        </p:txBody>
      </p:sp>
      <p:sp>
        <p:nvSpPr>
          <p:cNvPr id="14" name="TextBox 13"/>
          <p:cNvSpPr txBox="1"/>
          <p:nvPr/>
        </p:nvSpPr>
        <p:spPr>
          <a:xfrm>
            <a:off x="868680" y="3733799"/>
            <a:ext cx="10607040" cy="853439"/>
          </a:xfrm>
          <a:prstGeom prst="rect">
            <a:avLst/>
          </a:prstGeom>
          <a:noFill/>
        </p:spPr>
        <p:txBody>
          <a:bodyPr wrap="square" anchor="t">
            <a:spAutoFit/>
          </a:bodyPr>
          <a:lstStyle/>
          <a:p>
            <a:pPr algn="l"/>
            <a:r>
              <a:rPr sz="1300" b="0">
                <a:solidFill>
                  <a:srgbClr val="E4E9F2"/>
                </a:solidFill>
                <a:latin typeface="Calibri"/>
              </a:rPr>
              <a:t>The Christmas gift list and the family travel both cross the 350 dollar line, so each one gets cleared with Nicole and logged to the household folder for the January card reconciliation.</a:t>
            </a:r>
          </a:p>
        </p:txBody>
      </p:sp>
      <p:sp>
        <p:nvSpPr>
          <p:cNvPr id="15" name="Rectangle 14"/>
          <p:cNvSpPr/>
          <p:nvPr/>
        </p:nvSpPr>
        <p:spPr>
          <a:xfrm>
            <a:off x="502920" y="4861560"/>
            <a:ext cx="11155680" cy="1447800"/>
          </a:xfrm>
          <a:prstGeom prst="rect">
            <a:avLst/>
          </a:prstGeom>
          <a:solidFill>
            <a:srgbClr val="17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861560"/>
            <a:ext cx="128016" cy="1447800"/>
          </a:xfrm>
          <a:prstGeom prst="rect">
            <a:avLst/>
          </a:prstGeom>
          <a:solidFill>
            <a:srgbClr val="4E8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71288"/>
            <a:ext cx="10607040" cy="457200"/>
          </a:xfrm>
          <a:prstGeom prst="rect">
            <a:avLst/>
          </a:prstGeom>
          <a:noFill/>
        </p:spPr>
        <p:txBody>
          <a:bodyPr wrap="square" anchor="t">
            <a:spAutoFit/>
          </a:bodyPr>
          <a:lstStyle/>
          <a:p>
            <a:pPr algn="l"/>
            <a:r>
              <a:rPr sz="1600" b="1">
                <a:solidFill>
                  <a:srgbClr val="0E1730"/>
                </a:solidFill>
                <a:latin typeface="Calibri"/>
              </a:rPr>
              <a:t>Quarterly check-in</a:t>
            </a:r>
          </a:p>
        </p:txBody>
      </p:sp>
      <p:sp>
        <p:nvSpPr>
          <p:cNvPr id="18" name="TextBox 17"/>
          <p:cNvSpPr txBox="1"/>
          <p:nvPr/>
        </p:nvSpPr>
        <p:spPr>
          <a:xfrm>
            <a:off x="868680" y="5364480"/>
            <a:ext cx="10607040" cy="853439"/>
          </a:xfrm>
          <a:prstGeom prst="rect">
            <a:avLst/>
          </a:prstGeom>
          <a:noFill/>
        </p:spPr>
        <p:txBody>
          <a:bodyPr wrap="square" anchor="t">
            <a:spAutoFit/>
          </a:bodyPr>
          <a:lstStyle/>
          <a:p>
            <a:pPr algn="l"/>
            <a:r>
              <a:rPr sz="1300" b="0">
                <a:solidFill>
                  <a:srgbClr val="E4E9F2"/>
                </a:solidFill>
                <a:latin typeface="Calibri"/>
              </a:rPr>
              <a:t>A short Sunday review with Nicole each quarter confirms the live balances, recomputes the fund percentage from the actual feed, and surfaces any deposit or travel charge separately rather than folding it into the total.</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p:tgtEl>
                                          <p:spTgt spid="6"/>
                                        </p:tgtEl>
                                        <p:attrNameLst>
                                          <p:attrName>style.opacity</p:attrName>
                                        </p:attrNameLst>
                                      </p:cBhvr>
                                      <p:tavLst>
                                        <p:tav tm="0">
                                          <p:val>
                                            <p:fltVal val="0"/>
                                          </p:val>
                                        </p:tav>
                                        <p:tav tm="100000">
                                          <p:val>
                                            <p:fltVal val="1"/>
                                          </p:val>
                                        </p:tav>
                                      </p:tavLst>
                                    </p:anim>
                                  </p:childTnLst>
                                </p:cTn>
                              </p:par>
                            </p:childTnLst>
                          </p:cTn>
                        </p:par>
                      </p:childTnLst>
                    </p:cTn>
                  </p:par>
                </p:childTnLst>
              </p:cTn>
            </p:seq>
          </p:childTnLst>
        </p:cTn>
      </p:par>
    </p:tnLst>
    <p:bldLst>
      <p:bldP spid="6" grpId="0"/>
    </p:bldLst>
  </p:timing>
</p:sld>
</file>

<file path=ppt/theme/theme1.xml><?xml version="1.0" encoding="utf-8"?>
<a:theme xmlns:a="http://schemas.openxmlformats.org/drawingml/2006/main" name="Studio Theme">
  <a:themeElements>
    <a:clrScheme name="Stud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ud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Studio    Yi Baiti"/>
        <a:font script="Tibt" typeface="Studio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Studio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Studio    Yi Baiti"/>
        <a:font script="Tibt" typeface="Studio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Studio    Uighur"/>
        <a:font script="Geor" typeface="Sylfaen"/>
      </a:minorFont>
    </a:fontScheme>
    <a:fmtScheme name="Stud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Document Editor</Application>
  <PresentationFormat>On-screen Show (16:9)</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Studio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Household Financial Review</dc:title>
  <dc:subject/>
  <dc:creator>Nate Wright</dc:creator>
  <cp:keywords/>
  <dc:description>generated using </dc:description>
  <cp:lastModifiedBy>Nate Wright</cp:lastModifiedBy>
  <cp:revision>1</cp:revision>
  <dcterms:created xsi:type="dcterms:W3CDTF">2026-11-09T19:30:00Z</dcterms:created>
  <dcterms:modified xsi:type="dcterms:W3CDTF">2026-11-09T19:30:00Z</dcterms:modified>
  <cp:category/>
</cp:coreProperties>
</file>