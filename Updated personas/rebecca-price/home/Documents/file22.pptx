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Consults</c:v>
                </c:pt>
              </c:strCache>
            </c:strRef>
          </c:tx>
          <c:spPr>
            <a:solidFill>
              <a:srgbClr val="8FB996"/>
            </a:solidFill>
          </c:spPr>
          <c:cat>
            <c:strRef>
              <c:f>Sheet1!$A$2:$A$5</c:f>
              <c:strCache>
                <c:ptCount val="4"/>
                <c:pt idx="0">
                  <c:v>Oncology</c:v>
                </c:pt>
                <c:pt idx="1">
                  <c:v>ICU</c:v>
                </c:pt>
                <c:pt idx="2">
                  <c:v>Palliative</c:v>
                </c:pt>
                <c:pt idx="3">
                  <c:v>Emergency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168</c:v>
                </c:pt>
                <c:pt idx="2">
                  <c:v>121</c:v>
                </c:pt>
                <c:pt idx="3">
                  <c:v>64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B8D4"/>
            </a:solidFill>
          </a:ln>
        </c:spPr>
        <c:txPr>
          <a:bodyPr/>
          <a:lstStyle/>
          <a:p>
            <a:pPr>
              <a:defRPr sz="1100">
                <a:solidFill>
                  <a:srgbClr val="A9B8D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A9B8D4"/>
            </a:solidFill>
          </a:ln>
        </c:spPr>
        <c:txPr>
          <a:bodyPr/>
          <a:lstStyle/>
          <a:p>
            <a:pPr>
              <a:defRPr sz="1100">
                <a:solidFill>
                  <a:srgbClr val="A9B8D4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CE hours</c:v>
                </c:pt>
              </c:strCache>
            </c:strRef>
          </c:tx>
          <c:spPr>
            <a:ln w="31750">
              <a:solidFill>
                <a:srgbClr val="8FB996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18.5</c:v>
                </c:pt>
                <c:pt idx="2">
                  <c:v>22.5</c:v>
                </c:pt>
                <c:pt idx="3">
                  <c:v>26.0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9B8D4"/>
            </a:solidFill>
          </a:ln>
        </c:spPr>
        <c:txPr>
          <a:bodyPr/>
          <a:lstStyle/>
          <a:p>
            <a:pPr>
              <a:defRPr sz="1100">
                <a:solidFill>
                  <a:srgbClr val="A9B8D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A9B8D4"/>
            </a:solidFill>
          </a:ln>
        </c:spPr>
        <c:txPr>
          <a:bodyPr/>
          <a:lstStyle/>
          <a:p>
            <a:pPr>
              <a:defRPr sz="1100">
                <a:solidFill>
                  <a:srgbClr val="A9B8D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37160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>
                <a:solidFill>
                  <a:srgbClr val="EAF0F6"/>
                </a:solidFill>
                <a:latin typeface="Calibri"/>
              </a:rPr>
              <a:t>The Seven-Step Spiritual Care Assessment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8FB996"/>
                </a:solidFill>
                <a:latin typeface="Calibri"/>
              </a:rPr>
              <a:t>A working framework for CPE residents  ·  Department of Pastoral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A9B8D4"/>
                </a:solidFill>
                <a:latin typeface="Calibri"/>
              </a:rPr>
              <a:t>Facilitated by Rebecca Anne Price, BCC  ·  Bluff City Medical Center</a:t>
            </a:r>
          </a:p>
        </p:txBody>
      </p:sp>
    </p:spTree>
  </p:cSld>
  <p:clrMapOvr>
    <a:masterClrMapping/>
  </p:clrMapOvr>
  <p:transition spd="med">
    <p:circl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F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What you will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000">
                <a:solidFill>
                  <a:srgbClr val="EAF0F6"/>
                </a:solidFill>
                <a:latin typeface="Calibri"/>
              </a:rPr>
              <a:t>&gt; Name the chaplain's unique contribution to an interdisciplinary team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000">
                <a:solidFill>
                  <a:srgbClr val="EAF0F6"/>
                </a:solidFill>
                <a:latin typeface="Calibri"/>
              </a:rPr>
              <a:t>&gt; Apply the FICA tool (Faith, Importance, Community, Address) at the bedside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000">
                <a:solidFill>
                  <a:srgbClr val="EAF0F6"/>
                </a:solidFill>
                <a:latin typeface="Calibri"/>
              </a:rPr>
              <a:t>&gt; Document spiritual context in language the whole team can hold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000">
                <a:solidFill>
                  <a:srgbClr val="EAF0F6"/>
                </a:solidFill>
                <a:latin typeface="Calibri"/>
              </a:rPr>
              <a:t>&gt; Move from over-functioning toward grounded, self-differentiated presence</a:t>
            </a:r>
          </a:p>
        </p:txBody>
      </p:sp>
    </p:spTree>
  </p:cSld>
  <p:clrMapOvr>
    <a:masterClrMapping/>
  </p:clrMapOvr>
  <p:transition spd="med">
    <p:circl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8FB996"/>
                </a:solidFill>
                <a:latin typeface="Calibri"/>
              </a:rPr>
              <a:t>Spiritual care consults by unit,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circl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8FB996"/>
                </a:solidFill>
                <a:latin typeface="Calibri"/>
              </a:rPr>
              <a:t>CPE hours accumulated,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A9B8D4"/>
                </a:solidFill>
                <a:latin typeface="Calibri"/>
              </a:rPr>
              <a:t>Annual requirement is 50 hours. The pace builds through the year alongside clinical load.</a:t>
            </a:r>
          </a:p>
        </p:txBody>
      </p:sp>
    </p:spTree>
  </p:cSld>
  <p:clrMapOvr>
    <a:masterClrMapping/>
  </p:clrMapOvr>
  <p:transition spd="med">
    <p:circl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The seven movements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Arrive without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463040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19" y="16002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19" y="22402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Listen for the story beneath the symptom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63040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39" y="16002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39" y="22402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Name the spiritual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6002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24028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Reflect it back gently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79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Locate the person's own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3749039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19" y="3886199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19" y="4526279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Offer presence, not a fix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49039"/>
            <a:ext cx="2560320" cy="2011680"/>
          </a:xfrm>
          <a:prstGeom prst="roundRect">
            <a:avLst/>
          </a:prstGeom>
          <a:solidFill>
            <a:srgbClr val="2E4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39" y="3886199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4526279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AF0F6"/>
                </a:solidFill>
                <a:latin typeface="Calibri"/>
              </a:rPr>
              <a:t>Document so the team can carry it</a:t>
            </a:r>
          </a:p>
        </p:txBody>
      </p:sp>
    </p:spTree>
  </p:cSld>
  <p:clrMapOvr>
    <a:masterClrMapping/>
  </p:clrMapOvr>
  <p:transition spd="med">
    <p:circl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F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8FB996"/>
                </a:solidFill>
                <a:latin typeface="Calibri"/>
              </a:rPr>
              <a:t>Charting that completes the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424160" cy="1828800"/>
          </a:xfrm>
          <a:prstGeom prst="round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875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EAF0F6"/>
                </a:solidFill>
                <a:latin typeface="Calibri"/>
              </a:rPr>
              <a:t>"Family expressing anticipatory grief and relying on faith as primary coping framework."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8FB996"/>
                </a:solidFill>
                <a:latin typeface="Calibri"/>
              </a:rPr>
              <a:t>That note is not a clinical obstacle. It is a care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A9B8D4"/>
                </a:solidFill>
                <a:latin typeface="Calibri"/>
              </a:rPr>
              <a:t>&gt; Describe, do not interpret another tradition's beliefs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A9B8D4"/>
                </a:solidFill>
                <a:latin typeface="Calibri"/>
              </a:rPr>
              <a:t>&gt; Tie spiritual distress to coping and care decisions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A9B8D4"/>
                </a:solidFill>
                <a:latin typeface="Calibri"/>
              </a:rPr>
              <a:t>&gt; Write what the next clinician needs at 3:00 AM</a:t>
            </a:r>
          </a:p>
        </p:txBody>
      </p:sp>
    </p:spTree>
  </p:cSld>
  <p:clrMapOvr>
    <a:masterClrMapping/>
  </p:clrMapOvr>
  <p:transition spd="med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Rebecca Anne Price</dc:creator>
  <cp:keywords/>
  <dc:description>generated using python-pptx</dc:description>
  <cp:lastModifiedBy>Rebecca Anne Price</cp:lastModifiedBy>
  <cp:revision>1</cp:revision>
  <dcterms:created xsi:type="dcterms:W3CDTF">2026-02-12T09:00:00Z</dcterms:created>
  <dcterms:modified xsi:type="dcterms:W3CDTF">2026-02-12T09:00:00Z</dcterms:modified>
  <cp:category/>
</cp:coreProperties>
</file>