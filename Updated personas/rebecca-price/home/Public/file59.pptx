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per week</c:v>
                </c:pt>
              </c:strCache>
            </c:strRef>
          </c:tx>
          <c:spPr>
            <a:solidFill>
              <a:srgbClr val="F2A65A"/>
            </a:solidFill>
          </c:spPr>
          <c:cat>
            <c:strRef>
              <c:f>Sheet1!$A$2:$A$5</c:f>
              <c:strCache>
                <c:ptCount val="4"/>
                <c:pt idx="0">
                  <c:v>Hospital chaplaincy</c:v>
                </c:pt>
                <c:pt idx="1">
                  <c:v>Family care</c:v>
                </c:pt>
                <c:pt idx="2">
                  <c:v>Radio show</c:v>
                </c:pt>
                <c:pt idx="3">
                  <c:v>Church care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10</c:v>
                </c:pt>
                <c:pt idx="2">
                  <c:v>8</c:v>
                </c:pt>
                <c:pt idx="3">
                  <c:v>6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7AFD2"/>
            </a:solidFill>
          </a:ln>
        </c:spPr>
        <c:txPr>
          <a:bodyPr/>
          <a:lstStyle/>
          <a:p>
            <a:pPr>
              <a:defRPr sz="1100">
                <a:solidFill>
                  <a:srgbClr val="C7AFD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C7AFD2"/>
            </a:solidFill>
          </a:ln>
        </c:spPr>
        <c:txPr>
          <a:bodyPr/>
          <a:lstStyle/>
          <a:p>
            <a:pPr>
              <a:defRPr sz="1100">
                <a:solidFill>
                  <a:srgbClr val="C7AFD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Boundary score (1-10)</c:v>
                </c:pt>
              </c:strCache>
            </c:strRef>
          </c:tx>
          <c:spPr>
            <a:ln w="31750">
              <a:solidFill>
                <a:srgbClr val="F2A65A"/>
              </a:solidFill>
            </a:ln>
          </c:spPr>
          <c:cat>
            <c:strRef>
              <c:f>Sheet1!$A$2:$A$6</c:f>
              <c:strCache>
                <c:ptCount val="5"/>
                <c:pt idx="0">
                  <c:v>Day 1</c:v>
                </c:pt>
                <c:pt idx="1">
                  <c:v>Day 8</c:v>
                </c:pt>
                <c:pt idx="2">
                  <c:v>Day 15</c:v>
                </c:pt>
                <c:pt idx="3">
                  <c:v>Day 22</c:v>
                </c:pt>
                <c:pt idx="4">
                  <c:v>Day 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7AFD2"/>
            </a:solidFill>
          </a:ln>
        </c:spPr>
        <c:txPr>
          <a:bodyPr/>
          <a:lstStyle/>
          <a:p>
            <a:pPr>
              <a:defRPr sz="1100">
                <a:solidFill>
                  <a:srgbClr val="C7AFD2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C7AFD2"/>
            </a:solidFill>
          </a:ln>
        </c:spPr>
        <c:txPr>
          <a:bodyPr/>
          <a:lstStyle/>
          <a:p>
            <a:pPr>
              <a:defRPr sz="1100">
                <a:solidFill>
                  <a:srgbClr val="C7AFD2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011680"/>
            <a:ext cx="2743200" cy="9144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000" b="1">
                <a:solidFill>
                  <a:srgbClr val="F4ECF6"/>
                </a:solidFill>
                <a:latin typeface="Calibri"/>
              </a:rPr>
              <a:t>The Second Shift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C97BD1"/>
                </a:solidFill>
                <a:latin typeface="Calibri"/>
              </a:rPr>
              <a:t>Integrating chaplaincy, community ministry, and self-care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C7AFD2"/>
                </a:solidFill>
                <a:latin typeface="Calibri"/>
              </a:rPr>
              <a:t>Regional Chaplaincy Conference  ·  Rebecca Anne Price, BCC</a:t>
            </a:r>
          </a:p>
        </p:txBody>
      </p:sp>
    </p:spTree>
  </p:cSld>
  <p:clrMapOvr>
    <a:masterClrMapping/>
  </p:clrMapOvr>
  <p:transition spd="med">
    <p:wedg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2A65A"/>
                </a:solidFill>
                <a:latin typeface="Calibri"/>
              </a:rPr>
              <a:t>The role does not stay at the hospital door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F4ECF6"/>
                </a:solidFill>
                <a:latin typeface="Calibri"/>
              </a:rPr>
              <a:t>Many of us are also primary caregivers for aging parents, co-parents to adult children, and the person our faith community leans 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C97BD1"/>
                </a:solidFill>
                <a:latin typeface="Calibri"/>
              </a:rPr>
              <a:t>The spiritual weight does not compartmentalize neatly.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C2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2A65A"/>
                </a:solidFill>
                <a:latin typeface="Calibri"/>
              </a:rPr>
              <a:t>Where the second shift happens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10607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893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C7AFD2"/>
                </a:solidFill>
                <a:latin typeface="Calibri"/>
              </a:rPr>
              <a:t>A full clinical week, and then the shift no one schedules: family, broadcast, and congregation.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2A65A"/>
                </a:solidFill>
                <a:latin typeface="Calibri"/>
              </a:rPr>
              <a:t>Three patterns of role bleed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3383280" cy="3657600"/>
          </a:xfrm>
          <a:prstGeom prst="roundRect">
            <a:avLst/>
          </a:prstGeom>
          <a:solidFill>
            <a:srgbClr val="3C2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>
            <a:off x="822960" y="1645920"/>
            <a:ext cx="3383280" cy="502920"/>
          </a:xfrm>
          <a:prstGeom prst="round2Same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331720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4ECF6"/>
                </a:solidFill>
                <a:latin typeface="Calibri"/>
              </a:rPr>
              <a:t>The fixer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C7AFD2"/>
                </a:solidFill>
                <a:latin typeface="Calibri"/>
              </a:rPr>
              <a:t>carrying outcomes that were never yours to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383280" cy="3657600"/>
          </a:xfrm>
          <a:prstGeom prst="roundRect">
            <a:avLst/>
          </a:prstGeom>
          <a:solidFill>
            <a:srgbClr val="3C2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434840" y="1645920"/>
            <a:ext cx="3383280" cy="502920"/>
          </a:xfrm>
          <a:prstGeom prst="round2SameRect">
            <a:avLst/>
          </a:prstGeom>
          <a:solidFill>
            <a:srgbClr val="C9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331720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4ECF6"/>
                </a:solidFill>
                <a:latin typeface="Calibri"/>
              </a:rPr>
              <a:t>The always-on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C7AFD2"/>
                </a:solidFill>
                <a:latin typeface="Calibri"/>
              </a:rPr>
              <a:t>answering the 10 PM call as chaplain instead of parent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657600"/>
          </a:xfrm>
          <a:prstGeom prst="roundRect">
            <a:avLst/>
          </a:prstGeom>
          <a:solidFill>
            <a:srgbClr val="3C2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8046720" y="1645920"/>
            <a:ext cx="3383280" cy="502920"/>
          </a:xfrm>
          <a:prstGeom prst="round2SameRect">
            <a:avLst/>
          </a:prstGeom>
          <a:solidFill>
            <a:srgbClr val="6FB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331720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4ECF6"/>
                </a:solidFill>
                <a:latin typeface="Calibri"/>
              </a:rPr>
              <a:t>The last in line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C7AFD2"/>
                </a:solidFill>
                <a:latin typeface="Calibri"/>
              </a:rPr>
              <a:t>tending everyone's spirit but your own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C2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2A65A"/>
                </a:solidFill>
                <a:latin typeface="Calibri"/>
              </a:rPr>
              <a:t>A 30-day self-assessment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63040"/>
          <a:ext cx="106070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94560"/>
            <a:ext cx="2743200" cy="9144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424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4ECF6"/>
                </a:solidFill>
                <a:latin typeface="Calibri"/>
              </a:rPr>
              <a:t>Pair up. Set one boundary. Keep it for 30 days.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C97BD1"/>
                </a:solidFill>
                <a:latin typeface="Calibri"/>
              </a:rPr>
              <a:t>Find your peer accountability partner before you leave this room.</a:t>
            </a:r>
          </a:p>
        </p:txBody>
      </p:sp>
    </p:spTree>
  </p:cSld>
  <p:clrMapOvr>
    <a:masterClrMapping/>
  </p:clrMapOvr>
  <p:transition spd="med">
    <p:wedg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Rebecca Anne Price</dc:creator>
  <cp:keywords/>
  <dc:description>generated using python-pptx</dc:description>
  <cp:lastModifiedBy>Rebecca Anne Price</cp:lastModifiedBy>
  <cp:revision>1</cp:revision>
  <dcterms:created xsi:type="dcterms:W3CDTF">2026-02-12T09:00:00Z</dcterms:created>
  <dcterms:modified xsi:type="dcterms:W3CDTF">2026-02-12T09:00:00Z</dcterms:modified>
  <cp:category/>
</cp:coreProperties>
</file>