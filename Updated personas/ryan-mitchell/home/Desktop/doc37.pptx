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Enrolled</c:v>
                </c:pt>
              </c:strCache>
            </c:strRef>
          </c:tx>
          <c:spPr>
            <a:solidFill>
              <a:srgbClr val="6E1F2A"/>
            </a:solidFill>
          </c:spPr>
          <c:cat>
            <c:strRef>
              <c:f>Sheet1!$A$2:$A$5</c:f>
              <c:strCache>
                <c:ptCount val="4"/>
                <c:pt idx="0">
                  <c:v>Spring 2025</c:v>
                </c:pt>
                <c:pt idx="1">
                  <c:v>Fall 2025</c:v>
                </c:pt>
                <c:pt idx="2">
                  <c:v>Spring 2026</c:v>
                </c:pt>
                <c:pt idx="3">
                  <c:v>Fall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Graduated</c:v>
                </c:pt>
              </c:strCache>
            </c:strRef>
          </c:tx>
          <c:spPr>
            <a:solidFill>
              <a:srgbClr val="E0A13B"/>
            </a:solidFill>
          </c:spPr>
          <c:cat>
            <c:strRef>
              <c:f>Sheet1!$A$2:$A$5</c:f>
              <c:strCache>
                <c:ptCount val="4"/>
                <c:pt idx="0">
                  <c:v>Spring 2025</c:v>
                </c:pt>
                <c:pt idx="1">
                  <c:v>Fall 2025</c:v>
                </c:pt>
                <c:pt idx="2">
                  <c:v>Spring 2026</c:v>
                </c:pt>
                <c:pt idx="3">
                  <c:v>Fall 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Graduates</c:v>
                </c:pt>
              </c:strCache>
            </c:strRef>
          </c:tx>
          <c:dPt>
            <c:idx val="0"/>
            <c:spPr>
              <a:solidFill>
                <a:srgbClr val="6E1F2A"/>
              </a:solidFill>
            </c:spPr>
          </c:dPt>
          <c:dPt>
            <c:idx val="1"/>
            <c:spPr>
              <a:solidFill>
                <a:srgbClr val="E0A13B"/>
              </a:solidFill>
            </c:spPr>
          </c:dPt>
          <c:dPt>
            <c:idx val="2"/>
            <c:spPr>
              <a:solidFill>
                <a:srgbClr val="C97B6A"/>
              </a:solidFill>
            </c:spPr>
          </c:dPt>
          <c:dPt>
            <c:idx val="3"/>
            <c:spPr>
              <a:solidFill>
                <a:srgbClr val="7A8A4A"/>
              </a:solidFill>
            </c:spPr>
          </c:dPt>
          <c:cat>
            <c:strRef>
              <c:f>Sheet1!$A$2:$A$5</c:f>
              <c:strCache>
                <c:ptCount val="4"/>
                <c:pt idx="0">
                  <c:v>Approved, awaiting placement</c:v>
                </c:pt>
                <c:pt idx="1">
                  <c:v>Active placement</c:v>
                </c:pt>
                <c:pt idx="2">
                  <c:v>Kinship track</c:v>
                </c:pt>
                <c:pt idx="3">
                  <c:v>Completing home study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73152" cy="6858000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2918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A13B"/>
                </a:solidFill>
                <a:latin typeface="Calibri"/>
              </a:rPr>
              <a:t>FOSTER TRAINING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Cohort Year in Review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AF3E6"/>
                </a:solidFill>
                <a:latin typeface="Georgia"/>
              </a:rPr>
              <a:t>Spring and 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76656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AF3E6"/>
                </a:solidFill>
                <a:latin typeface="Georgia"/>
              </a:rPr>
              <a:t>Prepared for the foster care training peer network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0A13B"/>
                </a:solidFill>
                <a:latin typeface="Calibri"/>
              </a:rPr>
              <a:t>Ryan Mitchell, MSW, lead facilitator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The year in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6974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97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97480" cy="164592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697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6E1F2A"/>
                </a:solidFill>
                <a:latin typeface="Georgia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23317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1F17"/>
                </a:solidFill>
                <a:latin typeface="Calibri"/>
              </a:rPr>
              <a:t>prospective parents enrolled across two cohorts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828800"/>
            <a:ext cx="26974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97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828800"/>
            <a:ext cx="2697480" cy="164592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468880"/>
            <a:ext cx="2697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6E1F2A"/>
                </a:solidFill>
                <a:latin typeface="Georgia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3657600"/>
            <a:ext cx="23317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1F17"/>
                </a:solidFill>
                <a:latin typeface="Calibri"/>
              </a:rPr>
              <a:t>graduates certified, an 88 percent completion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828800"/>
            <a:ext cx="26974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97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828800"/>
            <a:ext cx="2697480" cy="164592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468880"/>
            <a:ext cx="2697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6E1F2A"/>
                </a:solidFill>
                <a:latin typeface="Georgia"/>
              </a:rPr>
              <a:t>640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3657600"/>
            <a:ext cx="23317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1F17"/>
                </a:solidFill>
                <a:latin typeface="Calibri"/>
              </a:rPr>
              <a:t>training hours delivered, 30 per participant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828800"/>
            <a:ext cx="26974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C97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828800"/>
            <a:ext cx="2697480" cy="164592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468880"/>
            <a:ext cx="26974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6E1F2A"/>
                </a:solidFill>
                <a:latin typeface="Georgia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3657600"/>
            <a:ext cx="23317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B1F17"/>
                </a:solidFill>
                <a:latin typeface="Calibri"/>
              </a:rPr>
              <a:t>graduates already approved to take a placement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4D141D"/>
                </a:solidFill>
                <a:latin typeface="Georgia"/>
              </a:rPr>
              <a:t>Graduates by cohort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108813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A7A66"/>
                </a:solidFill>
                <a:latin typeface="Calibri"/>
              </a:rPr>
              <a:t>Fall 2026 reflects current enrollment; final graduation confirmed at the December 10 close.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D1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Where this year's graduates are now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80160"/>
          <a:ext cx="67665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92024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Most graduates clear approval within a quarter of finishing.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Kinship caregivers are a growing share, six this year.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Two guest case studies came from last year's graduates.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4D141D"/>
                </a:solidFill>
                <a:latin typeface="Georgia"/>
              </a:rPr>
              <a:t>What landed, and what I am changing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03520" cy="4206240"/>
          </a:xfrm>
          <a:prstGeom prst="rect">
            <a:avLst/>
          </a:prstGeom>
          <a:solidFill>
            <a:srgbClr val="F7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6E1F2A"/>
                </a:solidFill>
                <a:latin typeface="Calibri"/>
              </a:rPr>
              <a:t>Kept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The okra story in Session 6. It lands every cohort.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Two anonymized case composites over abstract theory.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Standing alumni invitation after graduation.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4206240"/>
          </a:xfrm>
          <a:prstGeom prst="rect">
            <a:avLst/>
          </a:prstGeom>
          <a:solidFill>
            <a:srgbClr val="F3E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C97B6A"/>
                </a:solidFill>
                <a:latin typeface="Calibri"/>
              </a:rPr>
              <a:t>Changing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Trim the intake form; drop-off spikes at the schedule question.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Move the self-care session earlier in the ten weeks.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2B1F17"/>
                </a:solidFill>
                <a:latin typeface="Calibri"/>
              </a:rPr>
              <a:t>•  Add a second make-up window for working parents.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14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10058400" cy="1828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Twenty eight families are more ready than they were.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0A13B"/>
                </a:solidFill>
                <a:latin typeface="Georgia"/>
              </a:rPr>
              <a:t>That is the whole job. See everyone at the fall close, December 10.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