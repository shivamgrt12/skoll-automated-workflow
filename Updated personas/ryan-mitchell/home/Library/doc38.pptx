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0" d="100"/>
          <a:sy n="50" d="100"/>
        </p:scale>
        <p:origin x="89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In care, thousands</c:v>
                </c:pt>
              </c:strCache>
            </c:strRef>
          </c:tx>
          <c:spPr>
            <a:ln w="34925">
              <a:solidFill>
                <a:srgbClr val="5B6CC4"/>
              </a:solidFill>
            </a:ln>
          </c:spPr>
          <c:cat>
            <c:strRef>
              <c:f>Sheet1!$A$2:$A$6</c:f>
              <c:strCache>
                <c:ptCount val="5"/>
                <c:pt idx="0">
                  <c:v>2016</c:v>
                </c:pt>
                <c:pt idx="1">
                  <c:v>2017</c:v>
                </c:pt>
                <c:pt idx="2">
                  <c:v>2018</c:v>
                </c:pt>
                <c:pt idx="3">
                  <c:v>2019</c:v>
                </c:pt>
                <c:pt idx="4">
                  <c:v>2020</c:v>
                </c:pt>
              </c:strCache>
            </c:strRef>
          </c:cat>
          <c:val>
            <c:numRef>
              <c:f>Sheet1!$B$2:$B$6</c:f>
              <c:numCache>
                <c:formatCode>General</c:formatCode>
                <c:ptCount val="5"/>
                <c:pt idx="0">
                  <c:v>430</c:v>
                </c:pt>
                <c:pt idx="1">
                  <c:v>436.6</c:v>
                </c:pt>
                <c:pt idx="2">
                  <c:v>434.9</c:v>
                </c:pt>
                <c:pt idx="3">
                  <c:v>426.6</c:v>
                </c:pt>
                <c:pt idx="4">
                  <c:v>407.5</c:v>
                </c:pt>
              </c:numCache>
            </c:numRef>
          </c:val>
          <c:smooth val="0"/>
          <c:extLst>
            <c:ext xmlns:c16="http://schemas.microsoft.com/office/drawing/2014/chart" uri="{C3380CC4-5D6E-409C-BE32-E72D297353CC}">
              <c16:uniqueId val="{00000000-578C-4457-A572-1A965FB3885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11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1100"/>
            </a:pPr>
            <a:endParaRPr lang="en-US"/>
          </a:p>
        </c:txPr>
        <c:crossAx val="2118791784"/>
        <c:crosses val="autoZero"/>
        <c:crossBetween val="between"/>
      </c:valAx>
    </c:plotArea>
    <c:legend>
      <c:legendPos val="b"/>
      <c:overlay val="0"/>
      <c:txPr>
        <a:bodyPr/>
        <a:lstStyle/>
        <a:p>
          <a:pPr>
            <a:defRPr sz="1100"/>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Per 1,000 children</c:v>
                </c:pt>
              </c:strCache>
            </c:strRef>
          </c:tx>
          <c:spPr>
            <a:solidFill>
              <a:srgbClr val="5B6CC4"/>
            </a:solidFill>
          </c:spPr>
          <c:invertIfNegative val="1"/>
          <c:cat>
            <c:strRef>
              <c:f>Sheet1!$A$2:$A$7</c:f>
              <c:strCache>
                <c:ptCount val="6"/>
                <c:pt idx="0">
                  <c:v>Howard</c:v>
                </c:pt>
                <c:pt idx="1">
                  <c:v>Montgomery</c:v>
                </c:pt>
                <c:pt idx="2">
                  <c:v>State average</c:v>
                </c:pt>
                <c:pt idx="3">
                  <c:v>Baltimore City</c:v>
                </c:pt>
                <c:pt idx="4">
                  <c:v>Allegany</c:v>
                </c:pt>
                <c:pt idx="5">
                  <c:v>Dorchester</c:v>
                </c:pt>
              </c:strCache>
            </c:strRef>
          </c:cat>
          <c:val>
            <c:numRef>
              <c:f>Sheet1!$B$2:$B$7</c:f>
              <c:numCache>
                <c:formatCode>General</c:formatCode>
                <c:ptCount val="6"/>
                <c:pt idx="0">
                  <c:v>2.4</c:v>
                </c:pt>
                <c:pt idx="1">
                  <c:v>3.3</c:v>
                </c:pt>
                <c:pt idx="2">
                  <c:v>7.1</c:v>
                </c:pt>
                <c:pt idx="3">
                  <c:v>18.2</c:v>
                </c:pt>
                <c:pt idx="4">
                  <c:v>19.600000000000001</c:v>
                </c:pt>
                <c:pt idx="5">
                  <c:v>20.9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7CF-4E5B-B966-674F358927D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100"/>
            </a:pPr>
            <a:endParaRPr lang="en-US"/>
          </a:p>
        </c:txPr>
        <c:crossAx val="-2068027336"/>
        <c:crosses val="autoZero"/>
        <c:crossBetween val="between"/>
      </c:valAx>
    </c:plotArea>
    <c:legend>
      <c:legendPos val="b"/>
      <c:overlay val="0"/>
      <c:txPr>
        <a:bodyPr/>
        <a:lstStyle/>
        <a:p>
          <a:pPr>
            <a:defRPr sz="1100"/>
          </a:pPr>
          <a:endParaRPr lang="en-US"/>
        </a:p>
      </c:txPr>
    </c:legend>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41C"/>
        </a:solidFill>
        <a:effectLst/>
      </p:bgPr>
    </p:bg>
    <p:spTree>
      <p:nvGrpSpPr>
        <p:cNvPr id="1" name=""/>
        <p:cNvGrpSpPr/>
        <p:nvPr/>
      </p:nvGrpSpPr>
      <p:grpSpPr>
        <a:xfrm>
          <a:off x="0" y="0"/>
          <a:ext cx="0" cy="0"/>
          <a:chOff x="0" y="0"/>
          <a:chExt cx="0" cy="0"/>
        </a:xfrm>
      </p:grpSpPr>
      <p:sp>
        <p:nvSpPr>
          <p:cNvPr id="2" name="Rectangle 1"/>
          <p:cNvSpPr/>
          <p:nvPr/>
        </p:nvSpPr>
        <p:spPr>
          <a:xfrm>
            <a:off x="822960" y="2103120"/>
            <a:ext cx="822960" cy="109728"/>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377440"/>
            <a:ext cx="10515600" cy="2377440"/>
          </a:xfrm>
          <a:prstGeom prst="rect">
            <a:avLst/>
          </a:prstGeom>
          <a:noFill/>
        </p:spPr>
        <p:txBody>
          <a:bodyPr wrap="square" lIns="25400" tIns="25400" rIns="25400" bIns="25400" anchor="t">
            <a:spAutoFit/>
          </a:bodyPr>
          <a:lstStyle/>
          <a:p>
            <a:pPr algn="l">
              <a:spcBef>
                <a:spcPts val="0"/>
              </a:spcBef>
              <a:spcAft>
                <a:spcPts val="400"/>
              </a:spcAft>
            </a:pPr>
            <a:r>
              <a:rPr sz="4600" b="1">
                <a:solidFill>
                  <a:srgbClr val="FFFFFF"/>
                </a:solidFill>
                <a:latin typeface="Georgia"/>
              </a:rPr>
              <a:t>What Cannot Be Said</a:t>
            </a:r>
          </a:p>
          <a:p>
            <a:pPr algn="l">
              <a:spcBef>
                <a:spcPts val="0"/>
              </a:spcBef>
              <a:spcAft>
                <a:spcPts val="400"/>
              </a:spcAft>
            </a:pPr>
            <a:r>
              <a:rPr sz="3400" b="1">
                <a:solidFill>
                  <a:srgbClr val="5B6CC4"/>
                </a:solidFill>
                <a:latin typeface="Georgia"/>
              </a:rPr>
              <a:t>in a Case File</a:t>
            </a:r>
          </a:p>
        </p:txBody>
      </p:sp>
      <p:sp>
        <p:nvSpPr>
          <p:cNvPr id="4" name="TextBox 3"/>
          <p:cNvSpPr txBox="1"/>
          <p:nvPr/>
        </p:nvSpPr>
        <p:spPr>
          <a:xfrm>
            <a:off x="822960" y="4754880"/>
            <a:ext cx="10058400" cy="914400"/>
          </a:xfrm>
          <a:prstGeom prst="rect">
            <a:avLst/>
          </a:prstGeom>
          <a:noFill/>
        </p:spPr>
        <p:txBody>
          <a:bodyPr wrap="square" lIns="25400" tIns="25400" rIns="25400" bIns="25400" anchor="t">
            <a:spAutoFit/>
          </a:bodyPr>
          <a:lstStyle/>
          <a:p>
            <a:pPr algn="l">
              <a:spcBef>
                <a:spcPts val="0"/>
              </a:spcBef>
              <a:spcAft>
                <a:spcPts val="400"/>
              </a:spcAft>
            </a:pPr>
            <a:r>
              <a:rPr sz="1800" b="0">
                <a:solidFill>
                  <a:srgbClr val="F3F1EA"/>
                </a:solidFill>
                <a:latin typeface="Georgia"/>
              </a:rPr>
              <a:t>A working caseworker's book on the child welfare system</a:t>
            </a:r>
          </a:p>
          <a:p>
            <a:pPr algn="l">
              <a:spcBef>
                <a:spcPts val="0"/>
              </a:spcBef>
              <a:spcAft>
                <a:spcPts val="400"/>
              </a:spcAft>
            </a:pPr>
            <a:r>
              <a:rPr sz="1400" b="0">
                <a:solidFill>
                  <a:srgbClr val="A9ADBD"/>
                </a:solidFill>
                <a:latin typeface="Calibri"/>
              </a:rPr>
              <a:t>Outline and pitch  ·  by Ryan Mitchell, MSW</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5B6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914400"/>
            <a:ext cx="10515600" cy="640080"/>
          </a:xfrm>
          <a:prstGeom prst="rect">
            <a:avLst/>
          </a:prstGeom>
          <a:noFill/>
        </p:spPr>
        <p:txBody>
          <a:bodyPr wrap="square" lIns="25400" tIns="25400" rIns="25400" bIns="25400" anchor="t">
            <a:spAutoFit/>
          </a:bodyPr>
          <a:lstStyle/>
          <a:p>
            <a:pPr algn="l">
              <a:spcBef>
                <a:spcPts val="0"/>
              </a:spcBef>
              <a:spcAft>
                <a:spcPts val="400"/>
              </a:spcAft>
            </a:pPr>
            <a:r>
              <a:rPr sz="2600" b="1">
                <a:solidFill>
                  <a:srgbClr val="1C1F2A"/>
                </a:solidFill>
                <a:latin typeface="Georgia"/>
              </a:rPr>
              <a:t>The premise</a:t>
            </a:r>
          </a:p>
        </p:txBody>
      </p:sp>
      <p:sp>
        <p:nvSpPr>
          <p:cNvPr id="4" name="TextBox 3"/>
          <p:cNvSpPr txBox="1"/>
          <p:nvPr/>
        </p:nvSpPr>
        <p:spPr>
          <a:xfrm>
            <a:off x="731520" y="1828800"/>
            <a:ext cx="10332720" cy="2926080"/>
          </a:xfrm>
          <a:prstGeom prst="rect">
            <a:avLst/>
          </a:prstGeom>
          <a:noFill/>
        </p:spPr>
        <p:txBody>
          <a:bodyPr wrap="square" lIns="25400" tIns="25400" rIns="25400" bIns="25400" anchor="t">
            <a:spAutoFit/>
          </a:bodyPr>
          <a:lstStyle/>
          <a:p>
            <a:pPr algn="l">
              <a:spcBef>
                <a:spcPts val="0"/>
              </a:spcBef>
              <a:spcAft>
                <a:spcPts val="400"/>
              </a:spcAft>
            </a:pPr>
            <a:r>
              <a:rPr sz="2200" b="0">
                <a:solidFill>
                  <a:srgbClr val="1C1F2A"/>
                </a:solidFill>
                <a:latin typeface="Georgia"/>
              </a:rPr>
              <a:t>Seven years of home visits, court testimony, and removals taught me that the truest things about this work never make it into the file. The file holds what is defensible. This book holds what is true.</a:t>
            </a:r>
          </a:p>
          <a:p>
            <a:pPr algn="l">
              <a:spcBef>
                <a:spcPts val="0"/>
              </a:spcBef>
              <a:spcAft>
                <a:spcPts val="400"/>
              </a:spcAft>
            </a:pPr>
            <a:endParaRPr sz="2200" b="0">
              <a:solidFill>
                <a:srgbClr val="1C1F2A"/>
              </a:solidFill>
              <a:latin typeface="Georgia"/>
            </a:endParaRPr>
          </a:p>
          <a:p>
            <a:pPr algn="l">
              <a:spcBef>
                <a:spcPts val="0"/>
              </a:spcBef>
              <a:spcAft>
                <a:spcPts val="400"/>
              </a:spcAft>
            </a:pPr>
            <a:r>
              <a:rPr sz="1800" b="0">
                <a:solidFill>
                  <a:srgbClr val="474B5A"/>
                </a:solidFill>
                <a:latin typeface="Georgia"/>
              </a:rPr>
              <a:t>It is for caseworkers, foster parents, and the people who fund and legislate a system that is broken in important ways and worth working inside anyway.</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F2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972800" cy="640080"/>
          </a:xfrm>
          <a:prstGeom prst="rect">
            <a:avLst/>
          </a:prstGeom>
          <a:noFill/>
        </p:spPr>
        <p:txBody>
          <a:bodyPr wrap="square" lIns="25400" tIns="25400" rIns="25400" bIns="25400" anchor="t">
            <a:spAutoFit/>
          </a:bodyPr>
          <a:lstStyle/>
          <a:p>
            <a:pPr algn="l">
              <a:spcBef>
                <a:spcPts val="0"/>
              </a:spcBef>
              <a:spcAft>
                <a:spcPts val="400"/>
              </a:spcAft>
            </a:pPr>
            <a:r>
              <a:rPr sz="2600" b="1">
                <a:solidFill>
                  <a:srgbClr val="FFFFFF"/>
                </a:solidFill>
                <a:latin typeface="Georgia"/>
              </a:rPr>
              <a:t>Why this book, why me</a:t>
            </a:r>
          </a:p>
        </p:txBody>
      </p:sp>
      <p:sp>
        <p:nvSpPr>
          <p:cNvPr id="3" name="Rectangle 2"/>
          <p:cNvSpPr/>
          <p:nvPr/>
        </p:nvSpPr>
        <p:spPr>
          <a:xfrm>
            <a:off x="731520" y="1554480"/>
            <a:ext cx="3520440" cy="3840480"/>
          </a:xfrm>
          <a:prstGeom prst="rect">
            <a:avLst/>
          </a:prstGeom>
          <a:solidFill>
            <a:srgbClr val="26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 y="1554480"/>
            <a:ext cx="3520440" cy="128016"/>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828800"/>
            <a:ext cx="2971800" cy="822960"/>
          </a:xfrm>
          <a:prstGeom prst="rect">
            <a:avLst/>
          </a:prstGeom>
          <a:noFill/>
        </p:spPr>
        <p:txBody>
          <a:bodyPr wrap="square" lIns="25400" tIns="25400" rIns="25400" bIns="25400" anchor="t">
            <a:spAutoFit/>
          </a:bodyPr>
          <a:lstStyle/>
          <a:p>
            <a:pPr algn="l">
              <a:spcBef>
                <a:spcPts val="0"/>
              </a:spcBef>
              <a:spcAft>
                <a:spcPts val="400"/>
              </a:spcAft>
            </a:pPr>
            <a:r>
              <a:rPr sz="1900" b="1">
                <a:solidFill>
                  <a:srgbClr val="5B6CC4"/>
                </a:solidFill>
                <a:latin typeface="Calibri"/>
              </a:rPr>
              <a:t>The vantage</a:t>
            </a:r>
          </a:p>
        </p:txBody>
      </p:sp>
      <p:sp>
        <p:nvSpPr>
          <p:cNvPr id="6" name="TextBox 5"/>
          <p:cNvSpPr txBox="1"/>
          <p:nvPr/>
        </p:nvSpPr>
        <p:spPr>
          <a:xfrm>
            <a:off x="1005840" y="2651760"/>
            <a:ext cx="2971800" cy="2560320"/>
          </a:xfrm>
          <a:prstGeom prst="rect">
            <a:avLst/>
          </a:prstGeom>
          <a:noFill/>
        </p:spPr>
        <p:txBody>
          <a:bodyPr wrap="square" lIns="25400" tIns="25400" rIns="25400" bIns="25400" anchor="t">
            <a:spAutoFit/>
          </a:bodyPr>
          <a:lstStyle/>
          <a:p>
            <a:pPr algn="l">
              <a:spcBef>
                <a:spcPts val="0"/>
              </a:spcBef>
              <a:spcAft>
                <a:spcPts val="400"/>
              </a:spcAft>
            </a:pPr>
            <a:r>
              <a:rPr sz="1500" b="0">
                <a:solidFill>
                  <a:srgbClr val="F3F1EA"/>
                </a:solidFill>
                <a:latin typeface="Georgia"/>
              </a:rPr>
              <a:t>Still on a caseload of twenty families, not writing from a memory of the work but from inside it.</a:t>
            </a:r>
          </a:p>
        </p:txBody>
      </p:sp>
      <p:sp>
        <p:nvSpPr>
          <p:cNvPr id="7" name="Rectangle 6"/>
          <p:cNvSpPr/>
          <p:nvPr/>
        </p:nvSpPr>
        <p:spPr>
          <a:xfrm>
            <a:off x="4434840" y="1554480"/>
            <a:ext cx="3520440" cy="3840480"/>
          </a:xfrm>
          <a:prstGeom prst="rect">
            <a:avLst/>
          </a:prstGeom>
          <a:solidFill>
            <a:srgbClr val="26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434840" y="1554480"/>
            <a:ext cx="3520440" cy="128016"/>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1828800"/>
            <a:ext cx="2971800" cy="822960"/>
          </a:xfrm>
          <a:prstGeom prst="rect">
            <a:avLst/>
          </a:prstGeom>
          <a:noFill/>
        </p:spPr>
        <p:txBody>
          <a:bodyPr wrap="square" lIns="25400" tIns="25400" rIns="25400" bIns="25400" anchor="t">
            <a:spAutoFit/>
          </a:bodyPr>
          <a:lstStyle/>
          <a:p>
            <a:pPr algn="l">
              <a:spcBef>
                <a:spcPts val="0"/>
              </a:spcBef>
              <a:spcAft>
                <a:spcPts val="400"/>
              </a:spcAft>
            </a:pPr>
            <a:r>
              <a:rPr sz="1900" b="1">
                <a:solidFill>
                  <a:srgbClr val="5B6CC4"/>
                </a:solidFill>
                <a:latin typeface="Calibri"/>
              </a:rPr>
              <a:t>The second job</a:t>
            </a:r>
          </a:p>
        </p:txBody>
      </p:sp>
      <p:sp>
        <p:nvSpPr>
          <p:cNvPr id="10" name="TextBox 9"/>
          <p:cNvSpPr txBox="1"/>
          <p:nvPr/>
        </p:nvSpPr>
        <p:spPr>
          <a:xfrm>
            <a:off x="4709160" y="2651760"/>
            <a:ext cx="2971800" cy="2560320"/>
          </a:xfrm>
          <a:prstGeom prst="rect">
            <a:avLst/>
          </a:prstGeom>
          <a:noFill/>
        </p:spPr>
        <p:txBody>
          <a:bodyPr wrap="square" lIns="25400" tIns="25400" rIns="25400" bIns="25400" anchor="t">
            <a:spAutoFit/>
          </a:bodyPr>
          <a:lstStyle/>
          <a:p>
            <a:pPr algn="l">
              <a:spcBef>
                <a:spcPts val="0"/>
              </a:spcBef>
              <a:spcAft>
                <a:spcPts val="400"/>
              </a:spcAft>
            </a:pPr>
            <a:r>
              <a:rPr sz="1500" b="0">
                <a:solidFill>
                  <a:srgbClr val="F3F1EA"/>
                </a:solidFill>
                <a:latin typeface="Georgia"/>
              </a:rPr>
              <a:t>Two foster cohorts a year means I see the system from the family's side of the table too.</a:t>
            </a:r>
          </a:p>
        </p:txBody>
      </p:sp>
      <p:sp>
        <p:nvSpPr>
          <p:cNvPr id="11" name="Rectangle 10"/>
          <p:cNvSpPr/>
          <p:nvPr/>
        </p:nvSpPr>
        <p:spPr>
          <a:xfrm>
            <a:off x="8138160" y="1554480"/>
            <a:ext cx="3520440" cy="3840480"/>
          </a:xfrm>
          <a:prstGeom prst="rect">
            <a:avLst/>
          </a:prstGeom>
          <a:solidFill>
            <a:srgbClr val="262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138160" y="1554480"/>
            <a:ext cx="3520440" cy="128016"/>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1828800"/>
            <a:ext cx="2971800" cy="822960"/>
          </a:xfrm>
          <a:prstGeom prst="rect">
            <a:avLst/>
          </a:prstGeom>
          <a:noFill/>
        </p:spPr>
        <p:txBody>
          <a:bodyPr wrap="square" lIns="25400" tIns="25400" rIns="25400" bIns="25400" anchor="t">
            <a:spAutoFit/>
          </a:bodyPr>
          <a:lstStyle/>
          <a:p>
            <a:pPr algn="l">
              <a:spcBef>
                <a:spcPts val="0"/>
              </a:spcBef>
              <a:spcAft>
                <a:spcPts val="400"/>
              </a:spcAft>
            </a:pPr>
            <a:r>
              <a:rPr sz="1900" b="1">
                <a:solidFill>
                  <a:srgbClr val="5B6CC4"/>
                </a:solidFill>
                <a:latin typeface="Calibri"/>
              </a:rPr>
              <a:t>The restraint</a:t>
            </a:r>
          </a:p>
        </p:txBody>
      </p:sp>
      <p:sp>
        <p:nvSpPr>
          <p:cNvPr id="14" name="TextBox 13"/>
          <p:cNvSpPr txBox="1"/>
          <p:nvPr/>
        </p:nvSpPr>
        <p:spPr>
          <a:xfrm>
            <a:off x="8412480" y="2651760"/>
            <a:ext cx="2971800" cy="2560320"/>
          </a:xfrm>
          <a:prstGeom prst="rect">
            <a:avLst/>
          </a:prstGeom>
          <a:noFill/>
        </p:spPr>
        <p:txBody>
          <a:bodyPr wrap="square" lIns="25400" tIns="25400" rIns="25400" bIns="25400" anchor="t">
            <a:spAutoFit/>
          </a:bodyPr>
          <a:lstStyle/>
          <a:p>
            <a:pPr algn="l">
              <a:spcBef>
                <a:spcPts val="0"/>
              </a:spcBef>
              <a:spcAft>
                <a:spcPts val="400"/>
              </a:spcAft>
            </a:pPr>
            <a:r>
              <a:rPr sz="1500" b="0">
                <a:solidFill>
                  <a:srgbClr val="F3F1EA"/>
                </a:solidFill>
                <a:latin typeface="Georgia"/>
              </a:rPr>
              <a:t>Every case is a composite. Confidentiality is the craft, not the obstacle.</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11480"/>
            <a:ext cx="10972800" cy="640080"/>
          </a:xfrm>
          <a:prstGeom prst="rect">
            <a:avLst/>
          </a:prstGeom>
          <a:noFill/>
        </p:spPr>
        <p:txBody>
          <a:bodyPr wrap="square" lIns="25400" tIns="25400" rIns="25400" bIns="25400" anchor="t">
            <a:spAutoFit/>
          </a:bodyPr>
          <a:lstStyle/>
          <a:p>
            <a:pPr algn="l">
              <a:spcBef>
                <a:spcPts val="0"/>
              </a:spcBef>
              <a:spcAft>
                <a:spcPts val="400"/>
              </a:spcAft>
            </a:pPr>
            <a:r>
              <a:rPr sz="2600" b="1">
                <a:solidFill>
                  <a:srgbClr val="1C1F2A"/>
                </a:solidFill>
                <a:latin typeface="Georgia"/>
              </a:rPr>
              <a:t>The shape of the book</a:t>
            </a:r>
          </a:p>
        </p:txBody>
      </p:sp>
      <p:sp>
        <p:nvSpPr>
          <p:cNvPr id="4" name="Rectangle 3"/>
          <p:cNvSpPr/>
          <p:nvPr/>
        </p:nvSpPr>
        <p:spPr>
          <a:xfrm>
            <a:off x="731520" y="1463040"/>
            <a:ext cx="1069848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463040"/>
            <a:ext cx="1554480" cy="676656"/>
          </a:xfrm>
          <a:prstGeom prst="rect">
            <a:avLst/>
          </a:prstGeom>
          <a:noFill/>
        </p:spPr>
        <p:txBody>
          <a:bodyPr wrap="square" lIns="25400" tIns="25400" rIns="25400" bIns="25400" anchor="ctr">
            <a:spAutoFit/>
          </a:bodyPr>
          <a:lstStyle/>
          <a:p>
            <a:pPr algn="l">
              <a:spcBef>
                <a:spcPts val="0"/>
              </a:spcBef>
              <a:spcAft>
                <a:spcPts val="400"/>
              </a:spcAft>
            </a:pPr>
            <a:r>
              <a:rPr sz="1500" b="1">
                <a:solidFill>
                  <a:srgbClr val="5B6CC4"/>
                </a:solidFill>
                <a:latin typeface="Calibri"/>
              </a:rPr>
              <a:t>Ch. One</a:t>
            </a:r>
          </a:p>
        </p:txBody>
      </p:sp>
      <p:sp>
        <p:nvSpPr>
          <p:cNvPr id="6" name="TextBox 5"/>
          <p:cNvSpPr txBox="1"/>
          <p:nvPr/>
        </p:nvSpPr>
        <p:spPr>
          <a:xfrm>
            <a:off x="2468880" y="1463040"/>
            <a:ext cx="8778240" cy="676656"/>
          </a:xfrm>
          <a:prstGeom prst="rect">
            <a:avLst/>
          </a:prstGeom>
          <a:noFill/>
        </p:spPr>
        <p:txBody>
          <a:bodyPr wrap="square" lIns="25400" tIns="25400" rIns="25400" bIns="25400" anchor="ctr">
            <a:spAutoFit/>
          </a:bodyPr>
          <a:lstStyle/>
          <a:p>
            <a:pPr algn="l">
              <a:spcBef>
                <a:spcPts val="0"/>
              </a:spcBef>
              <a:spcAft>
                <a:spcPts val="400"/>
              </a:spcAft>
            </a:pPr>
            <a:r>
              <a:rPr sz="1600" b="0">
                <a:solidFill>
                  <a:srgbClr val="1C1F2A"/>
                </a:solidFill>
                <a:latin typeface="Georgia"/>
              </a:rPr>
              <a:t>The knock on the door, and what a home visit actually is</a:t>
            </a:r>
          </a:p>
        </p:txBody>
      </p:sp>
      <p:sp>
        <p:nvSpPr>
          <p:cNvPr id="7" name="Rectangle 6"/>
          <p:cNvSpPr/>
          <p:nvPr/>
        </p:nvSpPr>
        <p:spPr>
          <a:xfrm>
            <a:off x="731520" y="2212848"/>
            <a:ext cx="10698480" cy="676656"/>
          </a:xfrm>
          <a:prstGeom prst="rect">
            <a:avLst/>
          </a:prstGeom>
          <a:solidFill>
            <a:srgbClr val="EC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212848"/>
            <a:ext cx="1554480" cy="676656"/>
          </a:xfrm>
          <a:prstGeom prst="rect">
            <a:avLst/>
          </a:prstGeom>
          <a:noFill/>
        </p:spPr>
        <p:txBody>
          <a:bodyPr wrap="square" lIns="25400" tIns="25400" rIns="25400" bIns="25400" anchor="ctr">
            <a:spAutoFit/>
          </a:bodyPr>
          <a:lstStyle/>
          <a:p>
            <a:pPr algn="l">
              <a:spcBef>
                <a:spcPts val="0"/>
              </a:spcBef>
              <a:spcAft>
                <a:spcPts val="400"/>
              </a:spcAft>
            </a:pPr>
            <a:r>
              <a:rPr sz="1500" b="1">
                <a:solidFill>
                  <a:srgbClr val="5B6CC4"/>
                </a:solidFill>
                <a:latin typeface="Calibri"/>
              </a:rPr>
              <a:t>Ch. Two</a:t>
            </a:r>
          </a:p>
        </p:txBody>
      </p:sp>
      <p:sp>
        <p:nvSpPr>
          <p:cNvPr id="9" name="TextBox 8"/>
          <p:cNvSpPr txBox="1"/>
          <p:nvPr/>
        </p:nvSpPr>
        <p:spPr>
          <a:xfrm>
            <a:off x="2468880" y="2212848"/>
            <a:ext cx="8778240" cy="676656"/>
          </a:xfrm>
          <a:prstGeom prst="rect">
            <a:avLst/>
          </a:prstGeom>
          <a:noFill/>
        </p:spPr>
        <p:txBody>
          <a:bodyPr wrap="square" lIns="25400" tIns="25400" rIns="25400" bIns="25400" anchor="ctr">
            <a:spAutoFit/>
          </a:bodyPr>
          <a:lstStyle/>
          <a:p>
            <a:pPr algn="l">
              <a:spcBef>
                <a:spcPts val="0"/>
              </a:spcBef>
              <a:spcAft>
                <a:spcPts val="400"/>
              </a:spcAft>
            </a:pPr>
            <a:r>
              <a:rPr sz="1600" b="0">
                <a:solidFill>
                  <a:srgbClr val="1C1F2A"/>
                </a:solidFill>
                <a:latin typeface="Georgia"/>
              </a:rPr>
              <a:t>The grammar of risk: how we decide what counts as harm</a:t>
            </a:r>
          </a:p>
        </p:txBody>
      </p:sp>
      <p:sp>
        <p:nvSpPr>
          <p:cNvPr id="10" name="Rectangle 9"/>
          <p:cNvSpPr/>
          <p:nvPr/>
        </p:nvSpPr>
        <p:spPr>
          <a:xfrm>
            <a:off x="731520" y="2962656"/>
            <a:ext cx="1069848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2962656"/>
            <a:ext cx="1554480" cy="676656"/>
          </a:xfrm>
          <a:prstGeom prst="rect">
            <a:avLst/>
          </a:prstGeom>
          <a:noFill/>
        </p:spPr>
        <p:txBody>
          <a:bodyPr wrap="square" lIns="25400" tIns="25400" rIns="25400" bIns="25400" anchor="ctr">
            <a:spAutoFit/>
          </a:bodyPr>
          <a:lstStyle/>
          <a:p>
            <a:pPr algn="l">
              <a:spcBef>
                <a:spcPts val="0"/>
              </a:spcBef>
              <a:spcAft>
                <a:spcPts val="400"/>
              </a:spcAft>
            </a:pPr>
            <a:r>
              <a:rPr sz="1500" b="1">
                <a:solidFill>
                  <a:srgbClr val="5B6CC4"/>
                </a:solidFill>
                <a:latin typeface="Calibri"/>
              </a:rPr>
              <a:t>Ch. Three</a:t>
            </a:r>
          </a:p>
        </p:txBody>
      </p:sp>
      <p:sp>
        <p:nvSpPr>
          <p:cNvPr id="12" name="TextBox 11"/>
          <p:cNvSpPr txBox="1"/>
          <p:nvPr/>
        </p:nvSpPr>
        <p:spPr>
          <a:xfrm>
            <a:off x="2468880" y="2962656"/>
            <a:ext cx="8778240" cy="676656"/>
          </a:xfrm>
          <a:prstGeom prst="rect">
            <a:avLst/>
          </a:prstGeom>
          <a:noFill/>
        </p:spPr>
        <p:txBody>
          <a:bodyPr wrap="square" lIns="25400" tIns="25400" rIns="25400" bIns="25400" anchor="ctr">
            <a:spAutoFit/>
          </a:bodyPr>
          <a:lstStyle/>
          <a:p>
            <a:pPr algn="l">
              <a:spcBef>
                <a:spcPts val="0"/>
              </a:spcBef>
              <a:spcAft>
                <a:spcPts val="400"/>
              </a:spcAft>
            </a:pPr>
            <a:r>
              <a:rPr sz="1600" b="0">
                <a:solidFill>
                  <a:srgbClr val="1C1F2A"/>
                </a:solidFill>
                <a:latin typeface="Georgia"/>
              </a:rPr>
              <a:t>Removal, and the weight you carry home</a:t>
            </a:r>
          </a:p>
        </p:txBody>
      </p:sp>
      <p:sp>
        <p:nvSpPr>
          <p:cNvPr id="13" name="Rectangle 12"/>
          <p:cNvSpPr/>
          <p:nvPr/>
        </p:nvSpPr>
        <p:spPr>
          <a:xfrm>
            <a:off x="731520" y="3712464"/>
            <a:ext cx="10698480" cy="676656"/>
          </a:xfrm>
          <a:prstGeom prst="rect">
            <a:avLst/>
          </a:prstGeom>
          <a:solidFill>
            <a:srgbClr val="EC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3712464"/>
            <a:ext cx="1554480" cy="676656"/>
          </a:xfrm>
          <a:prstGeom prst="rect">
            <a:avLst/>
          </a:prstGeom>
          <a:noFill/>
        </p:spPr>
        <p:txBody>
          <a:bodyPr wrap="square" lIns="25400" tIns="25400" rIns="25400" bIns="25400" anchor="ctr">
            <a:spAutoFit/>
          </a:bodyPr>
          <a:lstStyle/>
          <a:p>
            <a:pPr algn="l">
              <a:spcBef>
                <a:spcPts val="0"/>
              </a:spcBef>
              <a:spcAft>
                <a:spcPts val="400"/>
              </a:spcAft>
            </a:pPr>
            <a:r>
              <a:rPr sz="1500" b="1">
                <a:solidFill>
                  <a:srgbClr val="5B6CC4"/>
                </a:solidFill>
                <a:latin typeface="Calibri"/>
              </a:rPr>
              <a:t>Ch. Four</a:t>
            </a:r>
          </a:p>
        </p:txBody>
      </p:sp>
      <p:sp>
        <p:nvSpPr>
          <p:cNvPr id="15" name="TextBox 14"/>
          <p:cNvSpPr txBox="1"/>
          <p:nvPr/>
        </p:nvSpPr>
        <p:spPr>
          <a:xfrm>
            <a:off x="2468880" y="3712464"/>
            <a:ext cx="8778240" cy="676656"/>
          </a:xfrm>
          <a:prstGeom prst="rect">
            <a:avLst/>
          </a:prstGeom>
          <a:noFill/>
        </p:spPr>
        <p:txBody>
          <a:bodyPr wrap="square" lIns="25400" tIns="25400" rIns="25400" bIns="25400" anchor="ctr">
            <a:spAutoFit/>
          </a:bodyPr>
          <a:lstStyle/>
          <a:p>
            <a:pPr algn="l">
              <a:spcBef>
                <a:spcPts val="0"/>
              </a:spcBef>
              <a:spcAft>
                <a:spcPts val="400"/>
              </a:spcAft>
            </a:pPr>
            <a:r>
              <a:rPr sz="1600" b="0">
                <a:solidFill>
                  <a:srgbClr val="1C1F2A"/>
                </a:solidFill>
                <a:latin typeface="Georgia"/>
              </a:rPr>
              <a:t>The family on the other side of the table</a:t>
            </a:r>
          </a:p>
        </p:txBody>
      </p:sp>
      <p:sp>
        <p:nvSpPr>
          <p:cNvPr id="16" name="Rectangle 15"/>
          <p:cNvSpPr/>
          <p:nvPr/>
        </p:nvSpPr>
        <p:spPr>
          <a:xfrm>
            <a:off x="731520" y="4462272"/>
            <a:ext cx="10698480"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462272"/>
            <a:ext cx="1554480" cy="676656"/>
          </a:xfrm>
          <a:prstGeom prst="rect">
            <a:avLst/>
          </a:prstGeom>
          <a:noFill/>
        </p:spPr>
        <p:txBody>
          <a:bodyPr wrap="square" lIns="25400" tIns="25400" rIns="25400" bIns="25400" anchor="ctr">
            <a:spAutoFit/>
          </a:bodyPr>
          <a:lstStyle/>
          <a:p>
            <a:pPr algn="l">
              <a:spcBef>
                <a:spcPts val="0"/>
              </a:spcBef>
              <a:spcAft>
                <a:spcPts val="400"/>
              </a:spcAft>
            </a:pPr>
            <a:r>
              <a:rPr sz="1500" b="1">
                <a:solidFill>
                  <a:srgbClr val="5B6CC4"/>
                </a:solidFill>
                <a:latin typeface="Calibri"/>
              </a:rPr>
              <a:t>Ch. Five</a:t>
            </a:r>
          </a:p>
        </p:txBody>
      </p:sp>
      <p:sp>
        <p:nvSpPr>
          <p:cNvPr id="18" name="TextBox 17"/>
          <p:cNvSpPr txBox="1"/>
          <p:nvPr/>
        </p:nvSpPr>
        <p:spPr>
          <a:xfrm>
            <a:off x="2468880" y="4462272"/>
            <a:ext cx="8778240" cy="676656"/>
          </a:xfrm>
          <a:prstGeom prst="rect">
            <a:avLst/>
          </a:prstGeom>
          <a:noFill/>
        </p:spPr>
        <p:txBody>
          <a:bodyPr wrap="square" lIns="25400" tIns="25400" rIns="25400" bIns="25400" anchor="ctr">
            <a:spAutoFit/>
          </a:bodyPr>
          <a:lstStyle/>
          <a:p>
            <a:pPr algn="l">
              <a:spcBef>
                <a:spcPts val="0"/>
              </a:spcBef>
              <a:spcAft>
                <a:spcPts val="400"/>
              </a:spcAft>
            </a:pPr>
            <a:r>
              <a:rPr sz="1600" b="0">
                <a:solidFill>
                  <a:srgbClr val="1C1F2A"/>
                </a:solidFill>
                <a:latin typeface="Georgia"/>
              </a:rPr>
              <a:t>Secondary trauma, named honestly</a:t>
            </a:r>
          </a:p>
        </p:txBody>
      </p:sp>
      <p:sp>
        <p:nvSpPr>
          <p:cNvPr id="19" name="Rectangle 18"/>
          <p:cNvSpPr/>
          <p:nvPr/>
        </p:nvSpPr>
        <p:spPr>
          <a:xfrm>
            <a:off x="731520" y="5212080"/>
            <a:ext cx="10698480" cy="676656"/>
          </a:xfrm>
          <a:prstGeom prst="rect">
            <a:avLst/>
          </a:prstGeom>
          <a:solidFill>
            <a:srgbClr val="ECE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5212080"/>
            <a:ext cx="1554480" cy="676656"/>
          </a:xfrm>
          <a:prstGeom prst="rect">
            <a:avLst/>
          </a:prstGeom>
          <a:noFill/>
        </p:spPr>
        <p:txBody>
          <a:bodyPr wrap="square" lIns="25400" tIns="25400" rIns="25400" bIns="25400" anchor="ctr">
            <a:spAutoFit/>
          </a:bodyPr>
          <a:lstStyle/>
          <a:p>
            <a:pPr algn="l">
              <a:spcBef>
                <a:spcPts val="0"/>
              </a:spcBef>
              <a:spcAft>
                <a:spcPts val="400"/>
              </a:spcAft>
            </a:pPr>
            <a:r>
              <a:rPr sz="1500" b="1">
                <a:solidFill>
                  <a:srgbClr val="5B6CC4"/>
                </a:solidFill>
                <a:latin typeface="Calibri"/>
              </a:rPr>
              <a:t>Ch. Six</a:t>
            </a:r>
          </a:p>
        </p:txBody>
      </p:sp>
      <p:sp>
        <p:nvSpPr>
          <p:cNvPr id="21" name="TextBox 20"/>
          <p:cNvSpPr txBox="1"/>
          <p:nvPr/>
        </p:nvSpPr>
        <p:spPr>
          <a:xfrm>
            <a:off x="2468880" y="5212080"/>
            <a:ext cx="8778240" cy="676656"/>
          </a:xfrm>
          <a:prstGeom prst="rect">
            <a:avLst/>
          </a:prstGeom>
          <a:noFill/>
        </p:spPr>
        <p:txBody>
          <a:bodyPr wrap="square" lIns="25400" tIns="25400" rIns="25400" bIns="25400" anchor="ctr">
            <a:spAutoFit/>
          </a:bodyPr>
          <a:lstStyle/>
          <a:p>
            <a:pPr algn="l">
              <a:spcBef>
                <a:spcPts val="0"/>
              </a:spcBef>
              <a:spcAft>
                <a:spcPts val="400"/>
              </a:spcAft>
            </a:pPr>
            <a:r>
              <a:rPr sz="1600" b="0">
                <a:solidFill>
                  <a:srgbClr val="1C1F2A"/>
                </a:solidFill>
                <a:latin typeface="Georgia"/>
              </a:rPr>
              <a:t>Reform without illusion: what could actually change</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5B6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548640"/>
            <a:ext cx="10972800" cy="640080"/>
          </a:xfrm>
          <a:prstGeom prst="rect">
            <a:avLst/>
          </a:prstGeom>
          <a:noFill/>
        </p:spPr>
        <p:txBody>
          <a:bodyPr wrap="square" lIns="25400" tIns="25400" rIns="25400" bIns="25400" anchor="t">
            <a:spAutoFit/>
          </a:bodyPr>
          <a:lstStyle/>
          <a:p>
            <a:pPr algn="l">
              <a:spcBef>
                <a:spcPts val="0"/>
              </a:spcBef>
              <a:spcAft>
                <a:spcPts val="400"/>
              </a:spcAft>
            </a:pPr>
            <a:r>
              <a:rPr sz="2400" b="1">
                <a:solidFill>
                  <a:srgbClr val="1C1F2A"/>
                </a:solidFill>
                <a:latin typeface="Georgia"/>
              </a:rPr>
              <a:t>Chapter six: what the numbers start to say</a:t>
            </a:r>
          </a:p>
        </p:txBody>
      </p:sp>
      <p:sp>
        <p:nvSpPr>
          <p:cNvPr id="4" name="TextBox 3"/>
          <p:cNvSpPr txBox="1"/>
          <p:nvPr/>
        </p:nvSpPr>
        <p:spPr>
          <a:xfrm>
            <a:off x="731520" y="1143000"/>
            <a:ext cx="10972800" cy="457200"/>
          </a:xfrm>
          <a:prstGeom prst="rect">
            <a:avLst/>
          </a:prstGeom>
          <a:noFill/>
        </p:spPr>
        <p:txBody>
          <a:bodyPr wrap="square" lIns="25400" tIns="25400" rIns="25400" bIns="25400" anchor="t">
            <a:spAutoFit/>
          </a:bodyPr>
          <a:lstStyle/>
          <a:p>
            <a:pPr algn="l">
              <a:spcBef>
                <a:spcPts val="0"/>
              </a:spcBef>
              <a:spcAft>
                <a:spcPts val="400"/>
              </a:spcAft>
            </a:pPr>
            <a:r>
              <a:rPr sz="1300" b="0">
                <a:solidFill>
                  <a:srgbClr val="5A5E6C"/>
                </a:solidFill>
                <a:latin typeface="Calibri"/>
              </a:rPr>
              <a:t>Children in foster care nationally on September 30, in thousands.</a:t>
            </a:r>
          </a:p>
        </p:txBody>
      </p:sp>
      <p:graphicFrame>
        <p:nvGraphicFramePr>
          <p:cNvPr id="5" name="Chart 4"/>
          <p:cNvGraphicFramePr>
            <a:graphicFrameLocks noGrp="1"/>
          </p:cNvGraphicFramePr>
          <p:nvPr/>
        </p:nvGraphicFramePr>
        <p:xfrm>
          <a:off x="731520" y="1645920"/>
          <a:ext cx="10698480"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31520" y="6263640"/>
            <a:ext cx="10972800" cy="365760"/>
          </a:xfrm>
          <a:prstGeom prst="rect">
            <a:avLst/>
          </a:prstGeom>
          <a:noFill/>
        </p:spPr>
        <p:txBody>
          <a:bodyPr wrap="square" lIns="25400" tIns="25400" rIns="25400" bIns="25400" anchor="t">
            <a:spAutoFit/>
          </a:bodyPr>
          <a:lstStyle/>
          <a:p>
            <a:pPr algn="l">
              <a:spcBef>
                <a:spcPts val="0"/>
              </a:spcBef>
              <a:spcAft>
                <a:spcPts val="400"/>
              </a:spcAft>
            </a:pPr>
            <a:r>
              <a:rPr sz="1100" b="0">
                <a:solidFill>
                  <a:srgbClr val="8A8E9C"/>
                </a:solidFill>
                <a:latin typeface="Calibri"/>
              </a:rPr>
              <a:t>Federal foster care counts, fiscal years 2016 to 2020.</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Rectangle 1"/>
          <p:cNvSpPr/>
          <p:nvPr/>
        </p:nvSpPr>
        <p:spPr>
          <a:xfrm>
            <a:off x="0" y="0"/>
            <a:ext cx="201168" cy="6858000"/>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10972800" cy="640080"/>
          </a:xfrm>
          <a:prstGeom prst="rect">
            <a:avLst/>
          </a:prstGeom>
          <a:noFill/>
        </p:spPr>
        <p:txBody>
          <a:bodyPr wrap="square" lIns="25400" tIns="25400" rIns="25400" bIns="25400" anchor="t">
            <a:spAutoFit/>
          </a:bodyPr>
          <a:lstStyle/>
          <a:p>
            <a:pPr algn="l">
              <a:spcBef>
                <a:spcPts val="0"/>
              </a:spcBef>
              <a:spcAft>
                <a:spcPts val="400"/>
              </a:spcAft>
            </a:pPr>
            <a:r>
              <a:rPr sz="2500" b="1">
                <a:solidFill>
                  <a:srgbClr val="1C1F2A"/>
                </a:solidFill>
                <a:latin typeface="Georgia"/>
              </a:rPr>
              <a:t>Chapter two: the grammar of risk</a:t>
            </a:r>
          </a:p>
        </p:txBody>
      </p:sp>
      <p:sp>
        <p:nvSpPr>
          <p:cNvPr id="4" name="TextBox 3"/>
          <p:cNvSpPr txBox="1"/>
          <p:nvPr/>
        </p:nvSpPr>
        <p:spPr>
          <a:xfrm>
            <a:off x="731520" y="1051560"/>
            <a:ext cx="10972800" cy="457200"/>
          </a:xfrm>
          <a:prstGeom prst="rect">
            <a:avLst/>
          </a:prstGeom>
          <a:noFill/>
        </p:spPr>
        <p:txBody>
          <a:bodyPr wrap="square" lIns="25400" tIns="25400" rIns="25400" bIns="25400" anchor="t">
            <a:spAutoFit/>
          </a:bodyPr>
          <a:lstStyle/>
          <a:p>
            <a:pPr algn="l">
              <a:spcBef>
                <a:spcPts val="0"/>
              </a:spcBef>
              <a:spcAft>
                <a:spcPts val="400"/>
              </a:spcAft>
            </a:pPr>
            <a:r>
              <a:rPr sz="1300" b="0">
                <a:solidFill>
                  <a:srgbClr val="7C5A55"/>
                </a:solidFill>
                <a:latin typeface="Calibri"/>
              </a:rPr>
              <a:t>Substantiated maltreatment per one thousand children, selected Maryland counties, 2017.</a:t>
            </a:r>
          </a:p>
        </p:txBody>
      </p:sp>
      <p:graphicFrame>
        <p:nvGraphicFramePr>
          <p:cNvPr id="5" name="Chart 4"/>
          <p:cNvGraphicFramePr>
            <a:graphicFrameLocks noGrp="1"/>
          </p:cNvGraphicFramePr>
          <p:nvPr/>
        </p:nvGraphicFramePr>
        <p:xfrm>
          <a:off x="731520" y="1645920"/>
          <a:ext cx="10698480" cy="4572000"/>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731520" y="6263640"/>
            <a:ext cx="10972800" cy="365760"/>
          </a:xfrm>
          <a:prstGeom prst="rect">
            <a:avLst/>
          </a:prstGeom>
          <a:noFill/>
        </p:spPr>
        <p:txBody>
          <a:bodyPr wrap="square" lIns="25400" tIns="25400" rIns="25400" bIns="25400" anchor="t">
            <a:spAutoFit/>
          </a:bodyPr>
          <a:lstStyle/>
          <a:p>
            <a:pPr algn="l">
              <a:spcBef>
                <a:spcPts val="0"/>
              </a:spcBef>
              <a:spcAft>
                <a:spcPts val="400"/>
              </a:spcAft>
            </a:pPr>
            <a:r>
              <a:rPr sz="1100" b="0">
                <a:solidFill>
                  <a:srgbClr val="8A8E9C"/>
                </a:solidFill>
                <a:latin typeface="Calibri"/>
              </a:rPr>
              <a:t>The spread the book sits with: same state, very different odds.</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1EA"/>
        </a:solidFill>
        <a:effectLst/>
      </p:bgPr>
    </p:bg>
    <p:spTree>
      <p:nvGrpSpPr>
        <p:cNvPr id="1" name=""/>
        <p:cNvGrpSpPr/>
        <p:nvPr/>
      </p:nvGrpSpPr>
      <p:grpSpPr>
        <a:xfrm>
          <a:off x="0" y="0"/>
          <a:ext cx="0" cy="0"/>
          <a:chOff x="0" y="0"/>
          <a:chExt cx="0" cy="0"/>
        </a:xfrm>
      </p:grpSpPr>
      <p:sp>
        <p:nvSpPr>
          <p:cNvPr id="2" name="TextBox 1"/>
          <p:cNvSpPr txBox="1"/>
          <p:nvPr/>
        </p:nvSpPr>
        <p:spPr>
          <a:xfrm>
            <a:off x="731520" y="457200"/>
            <a:ext cx="10972800" cy="640080"/>
          </a:xfrm>
          <a:prstGeom prst="rect">
            <a:avLst/>
          </a:prstGeom>
          <a:noFill/>
        </p:spPr>
        <p:txBody>
          <a:bodyPr wrap="square" lIns="25400" tIns="25400" rIns="25400" bIns="25400" anchor="t">
            <a:spAutoFit/>
          </a:bodyPr>
          <a:lstStyle/>
          <a:p>
            <a:pPr algn="l">
              <a:spcBef>
                <a:spcPts val="0"/>
              </a:spcBef>
              <a:spcAft>
                <a:spcPts val="400"/>
              </a:spcAft>
            </a:pPr>
            <a:r>
              <a:rPr sz="2500" b="1">
                <a:solidFill>
                  <a:srgbClr val="1C1F2A"/>
                </a:solidFill>
                <a:latin typeface="Georgia"/>
              </a:rPr>
              <a:t>Where it stands, and the ask</a:t>
            </a:r>
          </a:p>
        </p:txBody>
      </p:sp>
      <p:sp>
        <p:nvSpPr>
          <p:cNvPr id="3" name="TextBox 2"/>
          <p:cNvSpPr txBox="1"/>
          <p:nvPr/>
        </p:nvSpPr>
        <p:spPr>
          <a:xfrm>
            <a:off x="868680" y="1554480"/>
            <a:ext cx="10424160" cy="3291840"/>
          </a:xfrm>
          <a:prstGeom prst="rect">
            <a:avLst/>
          </a:prstGeom>
          <a:noFill/>
        </p:spPr>
        <p:txBody>
          <a:bodyPr wrap="square">
            <a:spAutoFit/>
          </a:bodyPr>
          <a:lstStyle/>
          <a:p>
            <a:pPr>
              <a:lnSpc>
                <a:spcPct val="105000"/>
              </a:lnSpc>
              <a:spcAft>
                <a:spcPts val="1400"/>
              </a:spcAft>
            </a:pPr>
            <a:r>
              <a:rPr sz="1800">
                <a:solidFill>
                  <a:srgbClr val="1C1F2A"/>
                </a:solidFill>
                <a:latin typeface="Georgia"/>
              </a:rPr>
              <a:t>•  Three chapters drafted in the slow hours after the kids are down.</a:t>
            </a:r>
          </a:p>
          <a:p>
            <a:pPr>
              <a:lnSpc>
                <a:spcPct val="105000"/>
              </a:lnSpc>
              <a:spcAft>
                <a:spcPts val="1400"/>
              </a:spcAft>
            </a:pPr>
            <a:r>
              <a:rPr sz="1800">
                <a:solidFill>
                  <a:srgbClr val="1C1F2A"/>
                </a:solidFill>
                <a:latin typeface="Georgia"/>
              </a:rPr>
              <a:t>•  Source notes and case composites organized and de-identified.</a:t>
            </a:r>
          </a:p>
          <a:p>
            <a:pPr>
              <a:lnSpc>
                <a:spcPct val="105000"/>
              </a:lnSpc>
              <a:spcAft>
                <a:spcPts val="1400"/>
              </a:spcAft>
            </a:pPr>
            <a:r>
              <a:rPr sz="1800">
                <a:solidFill>
                  <a:srgbClr val="1C1F2A"/>
                </a:solidFill>
                <a:latin typeface="Georgia"/>
              </a:rPr>
              <a:t>•  Seeking a writing group and an editor who knows the subject.</a:t>
            </a:r>
          </a:p>
          <a:p>
            <a:pPr>
              <a:lnSpc>
                <a:spcPct val="105000"/>
              </a:lnSpc>
              <a:spcAft>
                <a:spcPts val="1400"/>
              </a:spcAft>
            </a:pPr>
            <a:r>
              <a:rPr sz="1800">
                <a:solidFill>
                  <a:srgbClr val="1C1F2A"/>
                </a:solidFill>
                <a:latin typeface="Georgia"/>
              </a:rPr>
              <a:t>•  Target: a full proposal by the end of 2027.</a:t>
            </a:r>
          </a:p>
        </p:txBody>
      </p:sp>
      <p:sp>
        <p:nvSpPr>
          <p:cNvPr id="4" name="Rectangle 3"/>
          <p:cNvSpPr/>
          <p:nvPr/>
        </p:nvSpPr>
        <p:spPr>
          <a:xfrm>
            <a:off x="731520" y="5943600"/>
            <a:ext cx="10728655" cy="25400"/>
          </a:xfrm>
          <a:prstGeom prst="rect">
            <a:avLst/>
          </a:prstGeom>
          <a:solidFill>
            <a:srgbClr val="5B6C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41C"/>
        </a:solidFill>
        <a:effectLst/>
      </p:bgPr>
    </p:bg>
    <p:spTree>
      <p:nvGrpSpPr>
        <p:cNvPr id="1" name=""/>
        <p:cNvGrpSpPr/>
        <p:nvPr/>
      </p:nvGrpSpPr>
      <p:grpSpPr>
        <a:xfrm>
          <a:off x="0" y="0"/>
          <a:ext cx="0" cy="0"/>
          <a:chOff x="0" y="0"/>
          <a:chExt cx="0" cy="0"/>
        </a:xfrm>
      </p:grpSpPr>
      <p:sp>
        <p:nvSpPr>
          <p:cNvPr id="2" name="Rectangle 1"/>
          <p:cNvSpPr/>
          <p:nvPr/>
        </p:nvSpPr>
        <p:spPr>
          <a:xfrm>
            <a:off x="822960" y="2286000"/>
            <a:ext cx="109728" cy="2011680"/>
          </a:xfrm>
          <a:prstGeom prst="rect">
            <a:avLst/>
          </a:prstGeom>
          <a:solidFill>
            <a:srgbClr val="D9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2194560"/>
            <a:ext cx="9875520" cy="2377440"/>
          </a:xfrm>
          <a:prstGeom prst="rect">
            <a:avLst/>
          </a:prstGeom>
          <a:noFill/>
        </p:spPr>
        <p:txBody>
          <a:bodyPr wrap="square" lIns="25400" tIns="25400" rIns="25400" bIns="25400" anchor="ctr">
            <a:spAutoFit/>
          </a:bodyPr>
          <a:lstStyle/>
          <a:p>
            <a:pPr algn="l">
              <a:spcBef>
                <a:spcPts val="0"/>
              </a:spcBef>
              <a:spcAft>
                <a:spcPts val="400"/>
              </a:spcAft>
            </a:pPr>
            <a:r>
              <a:rPr sz="3000" b="1">
                <a:solidFill>
                  <a:srgbClr val="FFFFFF"/>
                </a:solidFill>
                <a:latin typeface="Georgia"/>
              </a:rPr>
              <a:t>Children need to be told the truth</a:t>
            </a:r>
          </a:p>
          <a:p>
            <a:pPr algn="l">
              <a:spcBef>
                <a:spcPts val="0"/>
              </a:spcBef>
              <a:spcAft>
                <a:spcPts val="400"/>
              </a:spcAft>
            </a:pPr>
            <a:r>
              <a:rPr sz="3000" b="1">
                <a:solidFill>
                  <a:srgbClr val="5B6CC4"/>
                </a:solidFill>
                <a:latin typeface="Georgia"/>
              </a:rPr>
              <a:t>in the language they can carry.</a:t>
            </a:r>
          </a:p>
          <a:p>
            <a:pPr algn="l">
              <a:spcBef>
                <a:spcPts val="0"/>
              </a:spcBef>
              <a:spcAft>
                <a:spcPts val="400"/>
              </a:spcAft>
            </a:pPr>
            <a:r>
              <a:rPr sz="1700" b="0">
                <a:solidFill>
                  <a:srgbClr val="A9ADBD"/>
                </a:solidFill>
                <a:latin typeface="Calibri"/>
              </a:rPr>
              <a:t>That sentence is the spine of the book.</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389</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Ankit kumar</cp:lastModifiedBy>
  <cp:revision>2</cp:revision>
  <dcterms:created xsi:type="dcterms:W3CDTF">2013-01-27T09:14:16Z</dcterms:created>
  <dcterms:modified xsi:type="dcterms:W3CDTF">2026-06-27T08:30:36Z</dcterms:modified>
  <cp:category/>
</cp:coreProperties>
</file>