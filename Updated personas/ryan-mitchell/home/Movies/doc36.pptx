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8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Sleep disruption</c:v>
                </c:pt>
              </c:strCache>
            </c:strRef>
          </c:tx>
          <c:spPr>
            <a:ln w="34925">
              <a:solidFill>
                <a:srgbClr val="1F6F63"/>
              </a:solidFill>
            </a:ln>
          </c:spPr>
          <c:cat>
            <c:strRef>
              <c:f>Sheet1!$A$2:$A$7</c:f>
              <c:strCache>
                <c:ptCount val="6"/>
                <c:pt idx="0">
                  <c:v>Week 1</c:v>
                </c:pt>
                <c:pt idx="1">
                  <c:v>Week 2</c:v>
                </c:pt>
                <c:pt idx="2">
                  <c:v>Week 4</c:v>
                </c:pt>
                <c:pt idx="3">
                  <c:v>Week 6</c:v>
                </c:pt>
                <c:pt idx="4">
                  <c:v>Week 8</c:v>
                </c:pt>
                <c:pt idx="5">
                  <c:v>Week 12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94-4794-A717-168EFDCE23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Testing behavior</c:v>
                </c:pt>
              </c:strCache>
            </c:strRef>
          </c:tx>
          <c:spPr>
            <a:ln w="34925">
              <a:solidFill>
                <a:srgbClr val="D8A534"/>
              </a:solidFill>
            </a:ln>
          </c:spPr>
          <c:cat>
            <c:strRef>
              <c:f>Sheet1!$A$2:$A$7</c:f>
              <c:strCache>
                <c:ptCount val="6"/>
                <c:pt idx="0">
                  <c:v>Week 1</c:v>
                </c:pt>
                <c:pt idx="1">
                  <c:v>Week 2</c:v>
                </c:pt>
                <c:pt idx="2">
                  <c:v>Week 4</c:v>
                </c:pt>
                <c:pt idx="3">
                  <c:v>Week 6</c:v>
                </c:pt>
                <c:pt idx="4">
                  <c:v>Week 8</c:v>
                </c:pt>
                <c:pt idx="5">
                  <c:v>Week 12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7</c:v>
                </c:pt>
                <c:pt idx="2">
                  <c:v>8</c:v>
                </c:pt>
                <c:pt idx="3">
                  <c:v>6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94-4794-A717-168EFDCE235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Visible settling</c:v>
                </c:pt>
              </c:strCache>
            </c:strRef>
          </c:tx>
          <c:spPr>
            <a:ln w="34925">
              <a:solidFill>
                <a:srgbClr val="B5552F"/>
              </a:solidFill>
            </a:ln>
          </c:spPr>
          <c:cat>
            <c:strRef>
              <c:f>Sheet1!$A$2:$A$7</c:f>
              <c:strCache>
                <c:ptCount val="6"/>
                <c:pt idx="0">
                  <c:v>Week 1</c:v>
                </c:pt>
                <c:pt idx="1">
                  <c:v>Week 2</c:v>
                </c:pt>
                <c:pt idx="2">
                  <c:v>Week 4</c:v>
                </c:pt>
                <c:pt idx="3">
                  <c:v>Week 6</c:v>
                </c:pt>
                <c:pt idx="4">
                  <c:v>Week 8</c:v>
                </c:pt>
                <c:pt idx="5">
                  <c:v>Week 12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94-4794-A717-168EFDCE23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Times named in case reviews</c:v>
                </c:pt>
              </c:strCache>
            </c:strRef>
          </c:tx>
          <c:spPr>
            <a:solidFill>
              <a:srgbClr val="D8A534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The smell of home</c:v>
                </c:pt>
                <c:pt idx="1">
                  <c:v>Their school and friends</c:v>
                </c:pt>
                <c:pt idx="2">
                  <c:v>A sibling or a pet</c:v>
                </c:pt>
                <c:pt idx="3">
                  <c:v>The food they expect</c:v>
                </c:pt>
                <c:pt idx="4">
                  <c:v>Their own bed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16</c:v>
                </c:pt>
                <c:pt idx="2">
                  <c:v>19</c:v>
                </c:pt>
                <c:pt idx="3">
                  <c:v>22</c:v>
                </c:pt>
                <c:pt idx="4">
                  <c:v>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B87-4C77-9F77-21BF2B411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23160"/>
            <a:ext cx="12191695" cy="64008"/>
          </a:xfrm>
          <a:prstGeom prst="rect">
            <a:avLst/>
          </a:prstGeom>
          <a:solidFill>
            <a:srgbClr val="D8A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1844040"/>
            <a:ext cx="146304" cy="914400"/>
          </a:xfrm>
          <a:prstGeom prst="rect">
            <a:avLst/>
          </a:prstGeom>
          <a:solidFill>
            <a:srgbClr val="D8A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44168"/>
            <a:ext cx="10058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8A534"/>
                </a:solidFill>
                <a:latin typeface="Calibri"/>
              </a:rPr>
              <a:t>PRIDE PRE-SERVICE TRAINING  /  SESSION 6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424160" cy="1828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dirty="0">
                <a:solidFill>
                  <a:srgbClr val="FFFFFF"/>
                </a:solidFill>
                <a:latin typeface="Georgia"/>
              </a:rPr>
              <a:t>Loss, Attachment, and Grief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dirty="0">
                <a:solidFill>
                  <a:srgbClr val="F4EFE6"/>
                </a:solidFill>
                <a:latin typeface="Georgia"/>
              </a:rPr>
              <a:t>in Children Who Have Been Removed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05840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Facilitator: Ryan Mitchell, MSW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FC0B8"/>
                </a:solidFill>
                <a:latin typeface="Calibri"/>
              </a:rPr>
              <a:t>Fall cohort  ·  Tuesday, November 10, 2026  ·  6:00 to 9:00 PM  ·  Community room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Why this session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0F2E2A"/>
                </a:solidFill>
                <a:latin typeface="Georgia"/>
              </a:rPr>
              <a:t>A child who has been removed does not arrive grateful. They arrive grieving. Tonight is about reading that grief correctly so you do not mistake it for something it is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17520"/>
            <a:ext cx="352044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352044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1F6F63"/>
                </a:solidFill>
                <a:latin typeface="Georgia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06240"/>
            <a:ext cx="306324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F2E2A"/>
                </a:solidFill>
                <a:latin typeface="Calibri"/>
              </a:rPr>
              <a:t>forms of loss we will name beyond the obvious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5112" y="3017520"/>
            <a:ext cx="352044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25112" y="3246120"/>
            <a:ext cx="352044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1F6F63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4206240"/>
            <a:ext cx="306324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F2E2A"/>
                </a:solidFill>
                <a:latin typeface="Calibri"/>
              </a:rPr>
              <a:t>grounding response you will practice for the first night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0144" y="3017520"/>
            <a:ext cx="352044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10144" y="3246120"/>
            <a:ext cx="352044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1F6F63"/>
                </a:solidFill>
                <a:latin typeface="Georgia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4206240"/>
            <a:ext cx="306324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F2E2A"/>
                </a:solidFill>
                <a:latin typeface="Calibri"/>
              </a:rPr>
              <a:t>minutes on two anonymized case composites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8A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23F39"/>
                </a:solidFill>
                <a:latin typeface="Georgia"/>
              </a:rPr>
              <a:t>By the end of tonight you can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1F6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5029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19072"/>
            <a:ext cx="9875520" cy="10058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0F2E2A"/>
                </a:solidFill>
                <a:latin typeface="Georgia"/>
              </a:rPr>
              <a:t>Name the forms of loss a child experiences in a removal, beyond the obvious separation from a parent.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1F6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081528"/>
            <a:ext cx="5029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44952"/>
            <a:ext cx="9875520" cy="10058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0F2E2A"/>
                </a:solidFill>
                <a:latin typeface="Georgia"/>
              </a:rPr>
              <a:t>Recognize attachment behaviors that look like defiance and reframe them as protection.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89120"/>
            <a:ext cx="502920" cy="502920"/>
          </a:xfrm>
          <a:prstGeom prst="ellipse">
            <a:avLst/>
          </a:prstGeom>
          <a:solidFill>
            <a:srgbClr val="1F6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407408"/>
            <a:ext cx="5029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70832"/>
            <a:ext cx="9875520" cy="10058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0F2E2A"/>
                </a:solidFill>
                <a:latin typeface="Georgia"/>
              </a:rPr>
              <a:t>Practice one grounding response a foster parent can use in the first night of a placement.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8A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23F39"/>
                </a:solidFill>
                <a:latin typeface="Georgia"/>
              </a:rPr>
              <a:t>What the first twelve weeks can look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7A7263"/>
                </a:solidFill>
                <a:latin typeface="Calibri"/>
              </a:rPr>
              <a:t>A composite pattern across placements. Grief does not move in a straight line.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108813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9183"/>
                </a:solidFill>
                <a:latin typeface="Calibri"/>
              </a:rPr>
              <a:t>Relative intensity, ten point scale, drawn from cohort case reviews.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Georgia"/>
              </a:rPr>
              <a:t>What children name they miss most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280160"/>
          <a:ext cx="1088136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Georgia"/>
              </a:rPr>
              <a:t>How the three hours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10881360" cy="566928"/>
          </a:xfrm>
          <a:prstGeom prst="rect">
            <a:avLst/>
          </a:prstGeom>
          <a:solidFill>
            <a:srgbClr val="1A5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822960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4EFE6"/>
                </a:solidFill>
                <a:latin typeface="Calibri"/>
              </a:rPr>
              <a:t>Welcome and check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463040"/>
            <a:ext cx="182880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8A534"/>
                </a:solidFill>
                <a:latin typeface="Calibri"/>
              </a:rPr>
              <a:t>15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21408"/>
            <a:ext cx="10881360" cy="566928"/>
          </a:xfrm>
          <a:prstGeom prst="rect">
            <a:avLst/>
          </a:prstGeom>
          <a:solidFill>
            <a:srgbClr val="21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822960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4EFE6"/>
                </a:solidFill>
                <a:latin typeface="Calibri"/>
              </a:rPr>
              <a:t>Last week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2121408"/>
            <a:ext cx="182880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8A534"/>
                </a:solidFill>
                <a:latin typeface="Calibri"/>
              </a:rPr>
              <a:t>10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79776"/>
            <a:ext cx="10881360" cy="566928"/>
          </a:xfrm>
          <a:prstGeom prst="rect">
            <a:avLst/>
          </a:prstGeom>
          <a:solidFill>
            <a:srgbClr val="1A5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79776"/>
            <a:ext cx="822960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4EFE6"/>
                </a:solidFill>
                <a:latin typeface="Calibri"/>
              </a:rPr>
              <a:t>Core content, two case composites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779776"/>
            <a:ext cx="182880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8A534"/>
                </a:solidFill>
                <a:latin typeface="Calibri"/>
              </a:rPr>
              <a:t>60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38144"/>
            <a:ext cx="10881360" cy="566928"/>
          </a:xfrm>
          <a:prstGeom prst="rect">
            <a:avLst/>
          </a:prstGeom>
          <a:solidFill>
            <a:srgbClr val="21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438144"/>
            <a:ext cx="822960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4EFE6"/>
                </a:solidFill>
                <a:latin typeface="Calibri"/>
              </a:rPr>
              <a:t>Break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3438144"/>
            <a:ext cx="182880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8A534"/>
                </a:solidFill>
                <a:latin typeface="Calibri"/>
              </a:rPr>
              <a:t>10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96512"/>
            <a:ext cx="10881360" cy="566928"/>
          </a:xfrm>
          <a:prstGeom prst="rect">
            <a:avLst/>
          </a:prstGeom>
          <a:solidFill>
            <a:srgbClr val="1A5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096512"/>
            <a:ext cx="822960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4EFE6"/>
                </a:solidFill>
                <a:latin typeface="Calibri"/>
              </a:rPr>
              <a:t>Small group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4096512"/>
            <a:ext cx="182880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8A534"/>
                </a:solidFill>
                <a:latin typeface="Calibri"/>
              </a:rPr>
              <a:t>45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754880"/>
            <a:ext cx="10881360" cy="566928"/>
          </a:xfrm>
          <a:prstGeom prst="rect">
            <a:avLst/>
          </a:prstGeom>
          <a:solidFill>
            <a:srgbClr val="21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822960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4EFE6"/>
                </a:solidFill>
                <a:latin typeface="Calibri"/>
              </a:rPr>
              <a:t>Discussion prompts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4754880"/>
            <a:ext cx="182880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8A534"/>
                </a:solidFill>
                <a:latin typeface="Calibri"/>
              </a:rPr>
              <a:t>30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413248"/>
            <a:ext cx="10881360" cy="566928"/>
          </a:xfrm>
          <a:prstGeom prst="rect">
            <a:avLst/>
          </a:prstGeom>
          <a:solidFill>
            <a:srgbClr val="1A5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413248"/>
            <a:ext cx="822960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4EFE6"/>
                </a:solidFill>
                <a:latin typeface="Calibri"/>
              </a:rPr>
              <a:t>Close and reading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5413248"/>
            <a:ext cx="182880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8A534"/>
                </a:solidFill>
                <a:latin typeface="Calibri"/>
              </a:rPr>
              <a:t>10 min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8A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3A2C08"/>
                </a:solidFill>
                <a:latin typeface="Georgia"/>
              </a:rPr>
              <a:t>Prompts I want to land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91440" cy="1051560"/>
          </a:xfrm>
          <a:prstGeom prst="rect">
            <a:avLst/>
          </a:prstGeom>
          <a:solidFill>
            <a:srgbClr val="1F6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424160" cy="10972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0F2E2A"/>
                </a:solidFill>
                <a:latin typeface="Georgia"/>
              </a:rPr>
              <a:t>What does a child lose when they lose their own bed, their own smell of home, the food they expect at dinner?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80360"/>
            <a:ext cx="91440" cy="1051560"/>
          </a:xfrm>
          <a:prstGeom prst="rect">
            <a:avLst/>
          </a:prstGeom>
          <a:solidFill>
            <a:srgbClr val="1F6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0424160" cy="10972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0F2E2A"/>
                </a:solidFill>
                <a:latin typeface="Georgia"/>
              </a:rPr>
              <a:t>How do we hold space for a child grieving a parent we removed them from for good reason?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206240"/>
            <a:ext cx="91440" cy="1051560"/>
          </a:xfrm>
          <a:prstGeom prst="rect">
            <a:avLst/>
          </a:prstGeom>
          <a:solidFill>
            <a:srgbClr val="1F6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424160" cy="10972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0F2E2A"/>
                </a:solidFill>
                <a:latin typeface="Georgia"/>
              </a:rPr>
              <a:t>What is the difference between a child who is fine and a child who has just gone quiet?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011680"/>
            <a:ext cx="10058400" cy="2011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Keep my own caseload out of the room.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D8A534"/>
                </a:solidFill>
                <a:latin typeface="Georgia"/>
              </a:rPr>
              <a:t>Composites only. The line does not move.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23F39"/>
                </a:solidFill>
                <a:latin typeface="Georgia"/>
              </a:rPr>
              <a:t>Before you 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>
                <a:solidFill>
                  <a:srgbClr val="0F2E2A"/>
                </a:solidFill>
                <a:latin typeface="Georgia"/>
              </a:rPr>
              <a:t>•  Pick up handout 6A and 6B and the attachment one pager.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>
                <a:solidFill>
                  <a:srgbClr val="0F2E2A"/>
                </a:solidFill>
                <a:latin typeface="Georgia"/>
              </a:rPr>
              <a:t>•  Read the chapter on first-night placements for next Tuesday.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>
                <a:solidFill>
                  <a:srgbClr val="0F2E2A"/>
                </a:solidFill>
                <a:latin typeface="Georgia"/>
              </a:rPr>
              <a:t>•  Bring one question you are still sitting with. We open with it.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>
                <a:solidFill>
                  <a:srgbClr val="0F2E2A"/>
                </a:solidFill>
                <a:latin typeface="Georgia"/>
              </a:rPr>
              <a:t>•  Session 7 is culture, identity, and the food a kid expects, November 17.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035040"/>
            <a:ext cx="10911535" cy="25400"/>
          </a:xfrm>
          <a:prstGeom prst="rect">
            <a:avLst/>
          </a:prstGeom>
          <a:solidFill>
            <a:srgbClr val="D8A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A7263"/>
                </a:solidFill>
                <a:latin typeface="Calibri"/>
              </a:rPr>
              <a:t>PRIDE Pre-Service Training  ·  Cohort runs October 6 to December 10, 2026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410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Ankit kumar</cp:lastModifiedBy>
  <cp:revision>2</cp:revision>
  <dcterms:created xsi:type="dcterms:W3CDTF">2013-01-27T09:14:16Z</dcterms:created>
  <dcterms:modified xsi:type="dcterms:W3CDTF">2026-06-27T08:34:15Z</dcterms:modified>
  <cp:category/>
</cp:coreProperties>
</file>