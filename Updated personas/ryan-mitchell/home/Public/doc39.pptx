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Target, US dollars</c:v>
                </c:pt>
              </c:strCache>
            </c:strRef>
          </c:tx>
          <c:spPr>
            <a:solidFill>
              <a:srgbClr val="1D8A86"/>
            </a:solidFill>
          </c:spPr>
          <c:cat>
            <c:strRef>
              <c:f>Sheet1!$A$2:$A$6</c:f>
              <c:strCache>
                <c:ptCount val="5"/>
                <c:pt idx="0">
                  <c:v>Flights, four</c:v>
                </c:pt>
                <c:pt idx="1">
                  <c:v>Lodging, mostly family</c:v>
                </c:pt>
                <c:pt idx="2">
                  <c:v>Food and travel in country</c:v>
                </c:pt>
                <c:pt idx="3">
                  <c:v>Gifts and Goree</c:v>
                </c:pt>
                <c:pt idx="4">
                  <c:v>Cushion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4200</c:v>
                </c:pt>
                <c:pt idx="1">
                  <c:v>1200</c:v>
                </c:pt>
                <c:pt idx="2">
                  <c:v>1800</c:v>
                </c:pt>
                <c:pt idx="3">
                  <c:v>900</c:v>
                </c:pt>
                <c:pt idx="4">
                  <c:v>900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1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Days</c:v>
                </c:pt>
              </c:strCache>
            </c:strRef>
          </c:tx>
          <c:dPt>
            <c:idx val="0"/>
            <c:spPr>
              <a:solidFill>
                <a:srgbClr val="E2722B"/>
              </a:solidFill>
            </c:spPr>
          </c:dPt>
          <c:dPt>
            <c:idx val="1"/>
            <c:spPr>
              <a:solidFill>
                <a:srgbClr val="1D8A86"/>
              </a:solidFill>
            </c:spPr>
          </c:dPt>
          <c:dPt>
            <c:idx val="2"/>
            <c:spPr>
              <a:solidFill>
                <a:srgbClr val="F2C879"/>
              </a:solidFill>
            </c:spPr>
          </c:dPt>
          <c:dPt>
            <c:idx val="3"/>
            <c:spPr>
              <a:solidFill>
                <a:srgbClr val="B5501A"/>
              </a:solidFill>
            </c:spPr>
          </c:dPt>
          <c:cat>
            <c:strRef>
              <c:f>Sheet1!$A$2:$A$5</c:f>
              <c:strCache>
                <c:ptCount val="4"/>
                <c:pt idx="0">
                  <c:v>Family time in the city</c:v>
                </c:pt>
                <c:pt idx="1">
                  <c:v>Goree and history</c:v>
                </c:pt>
                <c:pt idx="2">
                  <c:v>The coast and the lake</c:v>
                </c:pt>
                <c:pt idx="3">
                  <c:v>Food, rest, and markets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100"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B550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4206240"/>
            <a:ext cx="12191695" cy="2651760"/>
          </a:xfrm>
          <a:prstGeom prst="rect">
            <a:avLst/>
          </a:prstGeom>
          <a:solidFill>
            <a:srgbClr val="E2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91440"/>
          </a:xfrm>
          <a:prstGeom prst="rect">
            <a:avLst/>
          </a:prstGeom>
          <a:solidFill>
            <a:srgbClr val="F2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07040" cy="2377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400" b="1">
                <a:solidFill>
                  <a:srgbClr val="FFFFFF"/>
                </a:solidFill>
                <a:latin typeface="Georgia"/>
              </a:rPr>
              <a:t>Dakar 2027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0">
                <a:solidFill>
                  <a:srgbClr val="FFF6E9"/>
                </a:solidFill>
                <a:latin typeface="Georgia"/>
              </a:rPr>
              <a:t>Maybe for real this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754880"/>
            <a:ext cx="10607040" cy="1463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000" b="0">
                <a:solidFill>
                  <a:srgbClr val="FFFFFF"/>
                </a:solidFill>
                <a:latin typeface="Georgia"/>
              </a:rPr>
              <a:t>Two weeks, the four of us, the summer after the spring cohort wraps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FFF6E9"/>
                </a:solidFill>
                <a:latin typeface="Calibri"/>
              </a:rPr>
              <a:t>A folder I started ten years ago, finally with a line in the budget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D8A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Who is going, and when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45920"/>
            <a:ext cx="269748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45920"/>
            <a:ext cx="2697480" cy="822960"/>
          </a:xfrm>
          <a:prstGeom prst="rect">
            <a:avLst/>
          </a:prstGeom>
          <a:solidFill>
            <a:srgbClr val="E2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2697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Andrew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743200"/>
            <a:ext cx="224028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A2415"/>
                </a:solidFill>
                <a:latin typeface="Calibri"/>
              </a:rPr>
              <a:t>7 turning 8 in October. Old enough to remember a little.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456432" y="1645920"/>
            <a:ext cx="269748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456432" y="1645920"/>
            <a:ext cx="2697480" cy="822960"/>
          </a:xfrm>
          <a:prstGeom prst="rect">
            <a:avLst/>
          </a:prstGeom>
          <a:solidFill>
            <a:srgbClr val="E2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56432" y="1783080"/>
            <a:ext cx="2697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Fiona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743200"/>
            <a:ext cx="224028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A2415"/>
                </a:solidFill>
                <a:latin typeface="Calibri"/>
              </a:rPr>
              <a:t>4 next spring. The whole point is to go before they are too big to want to come.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72784" y="1645920"/>
            <a:ext cx="269748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72784" y="1645920"/>
            <a:ext cx="2697480" cy="822960"/>
          </a:xfrm>
          <a:prstGeom prst="rect">
            <a:avLst/>
          </a:prstGeom>
          <a:solidFill>
            <a:srgbClr val="E2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4" y="1783080"/>
            <a:ext cx="2697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Marcus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1384" y="2743200"/>
            <a:ext cx="224028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A2415"/>
                </a:solidFill>
                <a:latin typeface="Calibri"/>
              </a:rPr>
              <a:t>Between football seasons is the only window that exists.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89136" y="1645920"/>
            <a:ext cx="2697480" cy="35661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8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089136" y="1645920"/>
            <a:ext cx="2697480" cy="822960"/>
          </a:xfrm>
          <a:prstGeom prst="rect">
            <a:avLst/>
          </a:prstGeom>
          <a:solidFill>
            <a:srgbClr val="E2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89136" y="1783080"/>
            <a:ext cx="26974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2200" b="1">
                <a:solidFill>
                  <a:srgbClr val="FFFFFF"/>
                </a:solidFill>
                <a:latin typeface="Georgia"/>
              </a:rPr>
              <a:t>Ryan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17736" y="2743200"/>
            <a:ext cx="224028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500" b="0">
                <a:solidFill>
                  <a:srgbClr val="3A2415"/>
                </a:solidFill>
                <a:latin typeface="Calibri"/>
              </a:rPr>
              <a:t>After the spring cohort, before the fall one starts. It closes fast.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B5501A"/>
                </a:solidFill>
                <a:latin typeface="Georgia"/>
              </a:rPr>
              <a:t>The money, honestly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640080" y="1371600"/>
          <a:ext cx="731520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Rectangle 4"/>
          <p:cNvSpPr/>
          <p:nvPr/>
        </p:nvSpPr>
        <p:spPr>
          <a:xfrm>
            <a:off x="8229600" y="1645920"/>
            <a:ext cx="3291840" cy="4206240"/>
          </a:xfrm>
          <a:prstGeom prst="rect">
            <a:avLst/>
          </a:prstGeom>
          <a:solidFill>
            <a:srgbClr val="FFF6E9"/>
          </a:solidFill>
          <a:ln w="15875">
            <a:solidFill>
              <a:srgbClr val="E272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58200" y="1828800"/>
            <a:ext cx="2926080" cy="38404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5501A"/>
                </a:solidFill>
                <a:latin typeface="Calibri"/>
              </a:rPr>
              <a:t>Target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400" b="1">
                <a:solidFill>
                  <a:srgbClr val="1D8A86"/>
                </a:solidFill>
                <a:latin typeface="Georgia"/>
              </a:rPr>
              <a:t>9,000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B5501A"/>
                </a:solidFill>
                <a:latin typeface="Calibri"/>
              </a:rPr>
              <a:t>Saved so far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3A2415"/>
                </a:solidFill>
                <a:latin typeface="Georgia"/>
              </a:rPr>
              <a:t>950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3A2415"/>
                </a:solidFill>
                <a:latin typeface="Calibri"/>
              </a:rPr>
              <a:t>Moving 150 a month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A6A4A"/>
                </a:solidFill>
                <a:latin typeface="Calibri"/>
              </a:rPr>
              <a:t>Close by the end of 2027, if I do not raid it for the furnace.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8A8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What the days could hold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10881360" cy="1078992"/>
          </a:xfrm>
          <a:prstGeom prst="rect">
            <a:avLst/>
          </a:prstGeom>
          <a:solidFill>
            <a:srgbClr val="176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128016" cy="1078992"/>
          </a:xfrm>
          <a:prstGeom prst="rect">
            <a:avLst/>
          </a:prstGeom>
          <a:solidFill>
            <a:srgbClr val="F2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572768"/>
            <a:ext cx="10241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2C879"/>
                </a:solidFill>
                <a:latin typeface="Calibri"/>
              </a:rPr>
              <a:t>Family first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241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AFDFB"/>
                </a:solidFill>
                <a:latin typeface="Calibri"/>
              </a:rPr>
              <a:t>Call Uncle Oscar before anything. Cousins in the Medina and in Yoff. Stay with family where we 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70048"/>
            <a:ext cx="10881360" cy="1078992"/>
          </a:xfrm>
          <a:prstGeom prst="rect">
            <a:avLst/>
          </a:prstGeom>
          <a:solidFill>
            <a:srgbClr val="176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670048"/>
            <a:ext cx="128016" cy="1078992"/>
          </a:xfrm>
          <a:prstGeom prst="rect">
            <a:avLst/>
          </a:prstGeom>
          <a:solidFill>
            <a:srgbClr val="F2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779776"/>
            <a:ext cx="10241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2C879"/>
                </a:solidFill>
                <a:latin typeface="Calibri"/>
              </a:rPr>
              <a:t>Thiebou jenn at the source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172968"/>
            <a:ext cx="10241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AFDFB"/>
                </a:solidFill>
                <a:latin typeface="Calibri"/>
              </a:rPr>
              <a:t>Not my kitchen version. The real thing, where it comes from.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877056"/>
            <a:ext cx="10881360" cy="1078992"/>
          </a:xfrm>
          <a:prstGeom prst="rect">
            <a:avLst/>
          </a:prstGeom>
          <a:solidFill>
            <a:srgbClr val="176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" y="3877056"/>
            <a:ext cx="128016" cy="1078992"/>
          </a:xfrm>
          <a:prstGeom prst="rect">
            <a:avLst/>
          </a:prstGeom>
          <a:solidFill>
            <a:srgbClr val="F2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3986784"/>
            <a:ext cx="10241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2C879"/>
                </a:solidFill>
                <a:latin typeface="Calibri"/>
              </a:rPr>
              <a:t>The pink lake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379976"/>
            <a:ext cx="10241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AFDFB"/>
                </a:solidFill>
                <a:latin typeface="Calibri"/>
              </a:rPr>
              <a:t>If it is still pink. Worth the drive either way.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5084064"/>
            <a:ext cx="10881360" cy="1078992"/>
          </a:xfrm>
          <a:prstGeom prst="rect">
            <a:avLst/>
          </a:prstGeom>
          <a:solidFill>
            <a:srgbClr val="176F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5084064"/>
            <a:ext cx="128016" cy="1078992"/>
          </a:xfrm>
          <a:prstGeom prst="rect">
            <a:avLst/>
          </a:prstGeom>
          <a:solidFill>
            <a:srgbClr val="F2C8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93792"/>
            <a:ext cx="1024128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>
                <a:solidFill>
                  <a:srgbClr val="F2C879"/>
                </a:solidFill>
                <a:latin typeface="Calibri"/>
              </a:rPr>
              <a:t>Goree Island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586984"/>
            <a:ext cx="10241280" cy="5486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>
                <a:solidFill>
                  <a:srgbClr val="EAFDFB"/>
                </a:solidFill>
                <a:latin typeface="Calibri"/>
              </a:rPr>
              <a:t>Carefully. Thinking about how much of that history to hand a seven year old, and in which language.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272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57200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B5501A"/>
                </a:solidFill>
                <a:latin typeface="Georgia"/>
              </a:rPr>
              <a:t>How the two weeks could split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10972800" cy="45720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>
                <a:solidFill>
                  <a:srgbClr val="8A6A4A"/>
                </a:solidFill>
                <a:latin typeface="Calibri"/>
              </a:rPr>
              <a:t>Fourteen days, roughly. Loose on purpose, family time leads.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40080" y="1554480"/>
          <a:ext cx="676656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772400" y="2011680"/>
            <a:ext cx="38404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>
                <a:solidFill>
                  <a:srgbClr val="3A2415"/>
                </a:solidFill>
                <a:latin typeface="Calibri"/>
              </a:rPr>
              <a:t>•  The Medina and Yoff with cousins anchor the trip.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>
                <a:solidFill>
                  <a:srgbClr val="3A2415"/>
                </a:solidFill>
                <a:latin typeface="Calibri"/>
              </a:rPr>
              <a:t>•  Goree gets a full, careful day on its own.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500">
                <a:solidFill>
                  <a:srgbClr val="3A2415"/>
                </a:solidFill>
                <a:latin typeface="Calibri"/>
              </a:rPr>
              <a:t>•  Build in slow mornings. The kids will need them.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6E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B55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"/>
            <a:ext cx="109728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600" b="1">
                <a:solidFill>
                  <a:srgbClr val="FFFFFF"/>
                </a:solidFill>
                <a:latin typeface="Georgia"/>
              </a:rPr>
              <a:t>Before we go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4241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3A2415"/>
                </a:solidFill>
                <a:latin typeface="Georgia"/>
              </a:rPr>
              <a:t>•  Teach Andrew please and thank you in Wolof and French. Jerejef.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3A2415"/>
                </a:solidFill>
                <a:latin typeface="Georgia"/>
              </a:rPr>
              <a:t>•  I have kitchen Wolof and church French. Build on both.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3A2415"/>
                </a:solidFill>
                <a:latin typeface="Georgia"/>
              </a:rPr>
              <a:t>•  Buy the guidebook from the Reservoir Hill bookshop this month.</a:t>
            </a:r>
          </a:p>
          <a:p>
            <a:pPr>
              <a:lnSpc>
                <a:spcPct val="105000"/>
              </a:lnSpc>
              <a:spcAft>
                <a:spcPts val="1400"/>
              </a:spcAft>
            </a:pPr>
            <a:r>
              <a:rPr sz="1800">
                <a:solidFill>
                  <a:srgbClr val="3A2415"/>
                </a:solidFill>
                <a:latin typeface="Georgia"/>
              </a:rPr>
              <a:t>•  Stop almost-planning. Put the folder where I will see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852160"/>
            <a:ext cx="10515600" cy="6400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>
                <a:solidFill>
                  <a:srgbClr val="B5501A"/>
                </a:solidFill>
                <a:latin typeface="Georgia"/>
              </a:rPr>
              <a:t>Dad would have done the whole trip in three languages without thinking about it.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