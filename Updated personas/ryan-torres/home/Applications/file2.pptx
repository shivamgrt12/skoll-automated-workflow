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Tuition</c:v>
                </c:pt>
              </c:strCache>
            </c:strRef>
          </c:tx>
          <c:dPt>
            <c:idx val="0"/>
            <c:spPr>
              <a:solidFill>
                <a:srgbClr val="C9A35B"/>
              </a:solidFill>
              <a:ln>
                <a:noFill/>
              </a:ln>
            </c:spPr>
          </c:dPt>
          <c:dPt>
            <c:idx val="1"/>
            <c:spPr>
              <a:solidFill>
                <a:srgbClr val="8C9AA8"/>
              </a:solidFill>
              <a:ln>
                <a:noFill/>
              </a:ln>
            </c:spPr>
          </c:dPt>
          <c:dPt>
            <c:idx val="2"/>
            <c:spPr>
              <a:solidFill>
                <a:srgbClr val="0F2A4A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Northgate</c:v>
                </c:pt>
                <c:pt idx="1">
                  <c:v>Lakeshore</c:v>
                </c:pt>
                <c:pt idx="2">
                  <c:v>Riverside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28500</c:v>
                </c:pt>
                <c:pt idx="1">
                  <c:v>31800</c:v>
                </c:pt>
                <c:pt idx="2">
                  <c:v>34200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100" b="1">
                  <a:solidFill>
                    <a:srgbClr val="20262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100">
                <a:solidFill>
                  <a:srgbClr val="20262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 Light"/>
              </a:rPr>
              <a:t>Dental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C9A35B"/>
                </a:solidFill>
                <a:latin typeface="Calibri Light"/>
              </a:rPr>
              <a:t>Choosing the next step after the wedding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FB0C2"/>
                </a:solidFill>
                <a:latin typeface="Calibri"/>
              </a:rPr>
              <a:t>Private decision notes  |  Ryan Torres  |  February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 Light"/>
              </a:rPr>
              <a:t>On this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86000"/>
            <a:ext cx="822960" cy="457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82296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C9A35B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86868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20262E"/>
                </a:solidFill>
                <a:latin typeface="Calibri"/>
              </a:rPr>
              <a:t>Why now, the case for going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901952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C9A35B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47672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20262E"/>
                </a:solidFill>
                <a:latin typeface="Calibri"/>
              </a:rPr>
              <a:t>The three programs side by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980944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C9A35B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026663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20262E"/>
                </a:solidFill>
                <a:latin typeface="Calibri"/>
              </a:rPr>
              <a:t>Cost and timeline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059935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C9A35B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105655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20262E"/>
                </a:solidFill>
                <a:latin typeface="Calibri"/>
              </a:rPr>
              <a:t>Open questions to settle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138927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C9A35B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5184647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20262E"/>
                </a:solidFill>
                <a:latin typeface="Calibri"/>
              </a:rPr>
              <a:t>Recommendation and next steps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Cost and timeline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94960" cy="448056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Total tuition by program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194560"/>
          <a:ext cx="51206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1783080"/>
            <a:ext cx="5029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109728" cy="123444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94767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2A4A"/>
                </a:solidFill>
                <a:latin typeface="Calibri"/>
              </a:rPr>
              <a:t>Northgate College, Detroit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44144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470"/>
                </a:solidFill>
                <a:latin typeface="Calibri"/>
              </a:rPr>
              <a:t>20 months  |  hybrid, two campus days  |  lowest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227832"/>
            <a:ext cx="5029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227832"/>
            <a:ext cx="109728" cy="123444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39242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2A4A"/>
                </a:solidFill>
                <a:latin typeface="Calibri"/>
              </a:rPr>
              <a:t>Lakeshore Health Institute, Grand Rapids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886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470"/>
                </a:solidFill>
                <a:latin typeface="Calibri"/>
              </a:rPr>
              <a:t>22 months  |  mostly online with clinical blocks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672584"/>
            <a:ext cx="5029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672584"/>
            <a:ext cx="109728" cy="123444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837176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2A4A"/>
                </a:solidFill>
                <a:latin typeface="Calibri"/>
              </a:rPr>
              <a:t>Riverside State University, Lansing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33095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A6470"/>
                </a:solidFill>
                <a:latin typeface="Calibri"/>
              </a:rPr>
              <a:t>24 months  |  in person weekends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Open questions to settle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5394960" cy="18288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394960" cy="5029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078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Schedule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20262E"/>
                </a:solidFill>
                <a:latin typeface="Calibri"/>
              </a:rPr>
              <a:t>Does the clinical block fit a Monday through Thursday week at Lakewood?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645920"/>
            <a:ext cx="5394960" cy="18288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645920"/>
            <a:ext cx="5394960" cy="5029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0078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7744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20262E"/>
                </a:solidFill>
                <a:latin typeface="Calibri"/>
              </a:rPr>
              <a:t>Will Dr. Kim sign the supervising letter Lakeshore asks for?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94760"/>
            <a:ext cx="5394960" cy="18288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5394960" cy="5029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496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Volunteering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20262E"/>
                </a:solidFill>
                <a:latin typeface="Calibri"/>
              </a:rPr>
              <a:t>Can the monthly Heartland Saturday continue through the program?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794760"/>
            <a:ext cx="5394960" cy="18288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794760"/>
            <a:ext cx="5394960" cy="5029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84962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52628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20262E"/>
                </a:solidFill>
                <a:latin typeface="Calibri"/>
              </a:rPr>
              <a:t>Does tuition fit after the wedding payments clear in October?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332720" cy="457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9A35B"/>
                </a:solidFill>
                <a:latin typeface="Calibr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Apply to Northgate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D9E2EC"/>
                </a:solidFill>
                <a:latin typeface="Calibri"/>
              </a:rPr>
              <a:t>Lowest tuition, shortest timeline, and the lightest campus footprint, starting cleanly after October 17, 2026.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D9E2EC"/>
                </a:solidFill>
                <a:latin typeface="Calibri"/>
              </a:rPr>
              <a:t>Next step, talk it through with Emma on a Wednesday planning night once the wedding budget is settled, then request the reference from Dr. Kim.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