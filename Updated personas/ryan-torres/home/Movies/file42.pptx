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A3B3B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98B7A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9A35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A9A7B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B98A6E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D8C4B6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Catering</c:v>
                </c:pt>
                <c:pt idx="1">
                  <c:v>Venue</c:v>
                </c:pt>
                <c:pt idx="2">
                  <c:v>Photography</c:v>
                </c:pt>
                <c:pt idx="3">
                  <c:v>Florals</c:v>
                </c:pt>
                <c:pt idx="4">
                  <c:v>Music</c:v>
                </c:pt>
                <c:pt idx="5">
                  <c:v>Everything else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10450</c:v>
                </c:pt>
                <c:pt idx="1">
                  <c:v>9200</c:v>
                </c:pt>
                <c:pt idx="2">
                  <c:v>4200</c:v>
                </c:pt>
                <c:pt idx="3">
                  <c:v>3400</c:v>
                </c:pt>
                <c:pt idx="4">
                  <c:v>1800</c:v>
                </c:pt>
                <c:pt idx="5">
                  <c:v>12150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 Light"/>
              </a:rPr>
              <a:t>Wedding Planning Status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EAD9D2"/>
                </a:solidFill>
                <a:latin typeface="Calibri"/>
              </a:rPr>
              <a:t>Ryan and Emma  |  October 17, 2026  |  Greystone Banquet 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7A3B3B"/>
                </a:solidFill>
                <a:latin typeface="Calibri"/>
              </a:rPr>
              <a:t>Where the plan stands and what is left before the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5F5A"/>
                </a:solidFill>
                <a:latin typeface="Calibri"/>
              </a:rPr>
              <a:t>Prepared for the Wednesday planning night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06040" cy="109728"/>
          </a:xfrm>
          <a:prstGeom prst="rect">
            <a:avLst/>
          </a:prstGeom>
          <a:solidFill>
            <a:srgbClr val="C9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A3B3B"/>
                </a:solidFill>
                <a:latin typeface="Calibri"/>
              </a:rPr>
              <a:t>110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5F5A"/>
                </a:solidFill>
                <a:latin typeface="Calibri"/>
              </a:rPr>
              <a:t>Guest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737360"/>
            <a:ext cx="2606040" cy="109728"/>
          </a:xfrm>
          <a:prstGeom prst="rect">
            <a:avLst/>
          </a:prstGeom>
          <a:solidFill>
            <a:srgbClr val="C9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A3B3B"/>
                </a:solidFill>
                <a:latin typeface="Calibri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5F5A"/>
                </a:solidFill>
                <a:latin typeface="Calibri"/>
              </a:rPr>
              <a:t>Confirmed so far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606040" cy="109728"/>
          </a:xfrm>
          <a:prstGeom prst="rect">
            <a:avLst/>
          </a:prstGeom>
          <a:solidFill>
            <a:srgbClr val="C9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A3B3B"/>
                </a:solidFill>
                <a:latin typeface="Calibri"/>
              </a:rPr>
              <a:t>$41,200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5F5A"/>
                </a:solidFill>
                <a:latin typeface="Calibri"/>
              </a:rPr>
              <a:t>Total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7373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737360"/>
            <a:ext cx="2606040" cy="109728"/>
          </a:xfrm>
          <a:prstGeom prst="rect">
            <a:avLst/>
          </a:prstGeom>
          <a:solidFill>
            <a:srgbClr val="C9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7A3B3B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7432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5F5A"/>
                </a:solidFill>
                <a:latin typeface="Calibri"/>
              </a:rPr>
              <a:t>Vendors booked or paid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7A3B3B"/>
                </a:solidFill>
                <a:latin typeface="Calibri"/>
              </a:rPr>
              <a:t>Highlights this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E2A28"/>
                </a:solidFill>
                <a:latin typeface="Calibri"/>
              </a:rPr>
              <a:t>•  Catering, venue, florals, cake, photography, and music are all booked with deposits paid.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E2A28"/>
                </a:solidFill>
                <a:latin typeface="Calibri"/>
              </a:rPr>
              <a:t>•  Suit and rings are paid in full. Stationery is printed and ready.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>
                <a:solidFill>
                  <a:srgbClr val="2E2A28"/>
                </a:solidFill>
                <a:latin typeface="Calibri"/>
              </a:rPr>
              <a:t>•  Final guest count is due to the caterer by October 13, 2026.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Where the budget goes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82880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7A3B3B"/>
                </a:solidFill>
                <a:latin typeface="Calibri"/>
              </a:rPr>
              <a:t>The big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2E2A28"/>
                </a:solidFill>
                <a:latin typeface="Calibri"/>
              </a:rPr>
              <a:t>•  Catering at 95 dollars a head for 110 guests is the largest single line.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2E2A28"/>
                </a:solidFill>
                <a:latin typeface="Calibri"/>
              </a:rPr>
              <a:t>•  Venue and photography together carry about a third of the plan.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2E2A28"/>
                </a:solidFill>
                <a:latin typeface="Calibri"/>
              </a:rPr>
              <a:t>•  A contingency of 5,350 dollars sits inside everything else, held in reserve.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Vendor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783080"/>
                <a:gridCol w="1783080"/>
                <a:gridCol w="1783080"/>
                <a:gridCol w="178308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 val="7A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>
                    <a:solidFill>
                      <a:srgbClr val="7A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Deposit</a:t>
                      </a:r>
                    </a:p>
                  </a:txBody>
                  <a:tcPr>
                    <a:solidFill>
                      <a:srgbClr val="7A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>
                    <a:solidFill>
                      <a:srgbClr val="7A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7A3B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Cedar Table Catering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$10,450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$7,950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Greystone Banquet 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Northline Photography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$4,200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$1,400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$2,800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Bloom and Petal Florals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Motor City Sound, music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$1,800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BF6F1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Saffron Bakehouse Cake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$650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E2A28"/>
                          </a:solidFill>
                          <a:latin typeface="Calibri"/>
                        </a:rPr>
                        <a:t>Booked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 before the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914400" cy="45720"/>
          </a:xfrm>
          <a:prstGeom prst="rect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A3B3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996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3E7E1"/>
                </a:solidFill>
                <a:latin typeface="Calibri"/>
              </a:rPr>
              <a:t>Send the day of timeline to the wedding party group and confirm arrival times.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52928"/>
            <a:ext cx="411480" cy="41148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A3B3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71216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3E7E1"/>
                </a:solidFill>
                <a:latin typeface="Calibri"/>
              </a:rPr>
              <a:t>Final venue walkthrough on October 3, 2026 with Emma, Linda, and Diane.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94176"/>
            <a:ext cx="411480" cy="41148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3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A3B3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12463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3E7E1"/>
                </a:solidFill>
                <a:latin typeface="Calibri"/>
              </a:rPr>
              <a:t>Lock the final guest number with the caterer by October 13, 2026.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35424"/>
            <a:ext cx="411480" cy="41148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A3B3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3E7E1"/>
                </a:solidFill>
                <a:latin typeface="Calibri"/>
              </a:rPr>
              <a:t>Pick up and press the suit the week of the wedding.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76672"/>
            <a:ext cx="411480" cy="411480"/>
          </a:xfrm>
          <a:prstGeom prst="ellipse">
            <a:avLst/>
          </a:prstGeom>
          <a:solidFill>
            <a:srgbClr val="C9A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59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7A3B3B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94959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3E7E1"/>
                </a:solidFill>
                <a:latin typeface="Calibri"/>
              </a:rPr>
              <a:t>Confirm the antipasto course headcount and the Italian wine toast.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