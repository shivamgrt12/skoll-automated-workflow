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0" d="100"/>
          <a:sy n="50" d="100"/>
        </p:scale>
        <p:origin x="898"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Patients seen</c:v>
                </c:pt>
              </c:strCache>
            </c:strRef>
          </c:tx>
          <c:invertIfNegative val="1"/>
          <c:dPt>
            <c:idx val="0"/>
            <c:invertIfNegative val="1"/>
            <c:bubble3D val="0"/>
            <c:spPr>
              <a:solidFill>
                <a:srgbClr val="1F8A8A"/>
              </a:solidFill>
              <a:ln>
                <a:noFill/>
              </a:ln>
            </c:spPr>
            <c:extLst>
              <c:ext xmlns:c16="http://schemas.microsoft.com/office/drawing/2014/chart" uri="{C3380CC4-5D6E-409C-BE32-E72D297353CC}">
                <c16:uniqueId val="{00000001-C4D7-4FDD-B7AD-4567308241C3}"/>
              </c:ext>
            </c:extLst>
          </c:dPt>
          <c:dPt>
            <c:idx val="1"/>
            <c:invertIfNegative val="1"/>
            <c:bubble3D val="0"/>
            <c:spPr>
              <a:solidFill>
                <a:srgbClr val="2E6B4F"/>
              </a:solidFill>
              <a:ln>
                <a:noFill/>
              </a:ln>
            </c:spPr>
            <c:extLst>
              <c:ext xmlns:c16="http://schemas.microsoft.com/office/drawing/2014/chart" uri="{C3380CC4-5D6E-409C-BE32-E72D297353CC}">
                <c16:uniqueId val="{00000003-C4D7-4FDD-B7AD-4567308241C3}"/>
              </c:ext>
            </c:extLst>
          </c:dPt>
          <c:dPt>
            <c:idx val="2"/>
            <c:invertIfNegative val="1"/>
            <c:bubble3D val="0"/>
            <c:spPr>
              <a:solidFill>
                <a:srgbClr val="1F8A8A"/>
              </a:solidFill>
              <a:ln>
                <a:noFill/>
              </a:ln>
            </c:spPr>
            <c:extLst>
              <c:ext xmlns:c16="http://schemas.microsoft.com/office/drawing/2014/chart" uri="{C3380CC4-5D6E-409C-BE32-E72D297353CC}">
                <c16:uniqueId val="{00000005-C4D7-4FDD-B7AD-4567308241C3}"/>
              </c:ext>
            </c:extLst>
          </c:dPt>
          <c:dPt>
            <c:idx val="3"/>
            <c:invertIfNegative val="1"/>
            <c:bubble3D val="0"/>
            <c:spPr>
              <a:solidFill>
                <a:srgbClr val="2E6B4F"/>
              </a:solidFill>
              <a:ln>
                <a:noFill/>
              </a:ln>
            </c:spPr>
            <c:extLst>
              <c:ext xmlns:c16="http://schemas.microsoft.com/office/drawing/2014/chart" uri="{C3380CC4-5D6E-409C-BE32-E72D297353CC}">
                <c16:uniqueId val="{00000007-C4D7-4FDD-B7AD-4567308241C3}"/>
              </c:ext>
            </c:extLst>
          </c:dPt>
          <c:dLbls>
            <c:spPr>
              <a:noFill/>
              <a:ln>
                <a:noFill/>
              </a:ln>
              <a:effectLst/>
            </c:spPr>
            <c:txPr>
              <a:bodyPr/>
              <a:lstStyle/>
              <a:p>
                <a:pPr>
                  <a:defRPr sz="1100" b="1">
                    <a:solidFill>
                      <a:srgbClr val="23332B"/>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November</c:v>
                </c:pt>
                <c:pt idx="1">
                  <c:v>December</c:v>
                </c:pt>
                <c:pt idx="2">
                  <c:v>January</c:v>
                </c:pt>
                <c:pt idx="3">
                  <c:v>February</c:v>
                </c:pt>
              </c:strCache>
            </c:strRef>
          </c:cat>
          <c:val>
            <c:numRef>
              <c:f>Sheet1!$B$2:$B$5</c:f>
              <c:numCache>
                <c:formatCode>General</c:formatCode>
                <c:ptCount val="4"/>
                <c:pt idx="0">
                  <c:v>6</c:v>
                </c:pt>
                <c:pt idx="1">
                  <c:v>5</c:v>
                </c:pt>
                <c:pt idx="2">
                  <c:v>6</c:v>
                </c:pt>
                <c:pt idx="3">
                  <c:v>7</c:v>
                </c:pt>
              </c:numCache>
            </c:numRef>
          </c:val>
          <c:extLst>
            <c:ext xmlns:c16="http://schemas.microsoft.com/office/drawing/2014/chart" uri="{C3380CC4-5D6E-409C-BE32-E72D297353CC}">
              <c16:uniqueId val="{00000008-C4D7-4FDD-B7AD-4567308241C3}"/>
            </c:ext>
          </c:extLst>
        </c:ser>
        <c:dLbls>
          <c:showLegendKey val="0"/>
          <c:showVal val="1"/>
          <c:showCatName val="0"/>
          <c:showSerName val="0"/>
          <c:showPercent val="0"/>
          <c:showBubbleSize val="0"/>
        </c:dLbls>
        <c:gapWidth val="8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CCCCC"/>
            </a:solidFill>
          </a:ln>
        </c:spPr>
        <c:txPr>
          <a:bodyPr/>
          <a:lstStyle/>
          <a:p>
            <a:pPr>
              <a:defRPr sz="1100">
                <a:solidFill>
                  <a:srgbClr val="23332B"/>
                </a:solidFill>
              </a:defRPr>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EEEEEE"/>
              </a:solidFill>
            </a:ln>
          </c:spPr>
        </c:majorGridlines>
        <c:numFmt formatCode="General" sourceLinked="1"/>
        <c:majorTickMark val="out"/>
        <c:minorTickMark val="none"/>
        <c:tickLblPos val="nextTo"/>
        <c:spPr>
          <a:ln>
            <a:no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663440"/>
            <a:ext cx="12191695" cy="2194560"/>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4572000"/>
            <a:ext cx="12191695" cy="91440"/>
          </a:xfrm>
          <a:prstGeom prst="rect">
            <a:avLst/>
          </a:prstGeom>
          <a:solidFill>
            <a:srgbClr val="E6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869680" y="640080"/>
            <a:ext cx="2651760" cy="2651760"/>
          </a:xfrm>
          <a:prstGeom prst="ellipse">
            <a:avLst/>
          </a:prstGeom>
          <a:solidFill>
            <a:srgbClr val="EA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509760" y="1280160"/>
            <a:ext cx="1371600" cy="137160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54480"/>
            <a:ext cx="8686800" cy="1371600"/>
          </a:xfrm>
          <a:prstGeom prst="rect">
            <a:avLst/>
          </a:prstGeom>
          <a:noFill/>
        </p:spPr>
        <p:txBody>
          <a:bodyPr wrap="square" anchor="t">
            <a:spAutoFit/>
          </a:bodyPr>
          <a:lstStyle/>
          <a:p>
            <a:pPr algn="l">
              <a:lnSpc>
                <a:spcPct val="100000"/>
              </a:lnSpc>
              <a:spcAft>
                <a:spcPts val="400"/>
              </a:spcAft>
            </a:pPr>
            <a:r>
              <a:rPr sz="4000" b="1">
                <a:solidFill>
                  <a:srgbClr val="2E6B4F"/>
                </a:solidFill>
                <a:latin typeface="Calibri Light"/>
              </a:rPr>
              <a:t>Heartland Free Dental Clinic</a:t>
            </a:r>
          </a:p>
        </p:txBody>
      </p:sp>
      <p:sp>
        <p:nvSpPr>
          <p:cNvPr id="8" name="TextBox 7"/>
          <p:cNvSpPr txBox="1"/>
          <p:nvPr/>
        </p:nvSpPr>
        <p:spPr>
          <a:xfrm>
            <a:off x="914400" y="2743200"/>
            <a:ext cx="8686800" cy="640080"/>
          </a:xfrm>
          <a:prstGeom prst="rect">
            <a:avLst/>
          </a:prstGeom>
          <a:noFill/>
        </p:spPr>
        <p:txBody>
          <a:bodyPr wrap="square" anchor="t">
            <a:spAutoFit/>
          </a:bodyPr>
          <a:lstStyle/>
          <a:p>
            <a:pPr algn="l">
              <a:lnSpc>
                <a:spcPct val="100000"/>
              </a:lnSpc>
              <a:spcAft>
                <a:spcPts val="400"/>
              </a:spcAft>
            </a:pPr>
            <a:r>
              <a:rPr sz="2200" b="0">
                <a:solidFill>
                  <a:srgbClr val="1F8A8A"/>
                </a:solidFill>
                <a:latin typeface="Calibri"/>
              </a:rPr>
              <a:t>Volunteer program overview</a:t>
            </a:r>
          </a:p>
        </p:txBody>
      </p:sp>
      <p:sp>
        <p:nvSpPr>
          <p:cNvPr id="9" name="TextBox 8"/>
          <p:cNvSpPr txBox="1"/>
          <p:nvPr/>
        </p:nvSpPr>
        <p:spPr>
          <a:xfrm>
            <a:off x="914400" y="4983480"/>
            <a:ext cx="10058400" cy="914400"/>
          </a:xfrm>
          <a:prstGeom prst="rect">
            <a:avLst/>
          </a:prstGeom>
          <a:noFill/>
        </p:spPr>
        <p:txBody>
          <a:bodyPr wrap="square" anchor="t">
            <a:spAutoFit/>
          </a:bodyPr>
          <a:lstStyle/>
          <a:p>
            <a:pPr algn="l">
              <a:lnSpc>
                <a:spcPct val="115000"/>
              </a:lnSpc>
              <a:spcAft>
                <a:spcPts val="400"/>
              </a:spcAft>
            </a:pPr>
            <a:r>
              <a:rPr sz="1600" b="0">
                <a:solidFill>
                  <a:srgbClr val="DDEEE5"/>
                </a:solidFill>
                <a:latin typeface="Calibri"/>
              </a:rPr>
              <a:t>Care for uninsured neighbors, one Saturday a month</a:t>
            </a:r>
          </a:p>
          <a:p>
            <a:pPr algn="l">
              <a:lnSpc>
                <a:spcPct val="115000"/>
              </a:lnSpc>
              <a:spcAft>
                <a:spcPts val="400"/>
              </a:spcAft>
            </a:pPr>
            <a:r>
              <a:rPr sz="1600" b="0">
                <a:solidFill>
                  <a:srgbClr val="DDEEE5"/>
                </a:solidFill>
                <a:latin typeface="Calibri"/>
              </a:rPr>
              <a:t>Coordinated by Ryan Torres, volunteer lead</a:t>
            </a:r>
          </a:p>
        </p:txBody>
      </p:sp>
    </p:spTree>
  </p:cSld>
  <p:clrMapOvr>
    <a:masterClrMapping/>
  </p:clrMapOvr>
  <p:transition spd="med">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640080"/>
            <a:ext cx="10515600" cy="731520"/>
          </a:xfrm>
          <a:prstGeom prst="rect">
            <a:avLst/>
          </a:prstGeom>
          <a:noFill/>
        </p:spPr>
        <p:txBody>
          <a:bodyPr wrap="square" anchor="t">
            <a:spAutoFit/>
          </a:bodyPr>
          <a:lstStyle/>
          <a:p>
            <a:pPr algn="l">
              <a:lnSpc>
                <a:spcPct val="100000"/>
              </a:lnSpc>
              <a:spcAft>
                <a:spcPts val="400"/>
              </a:spcAft>
            </a:pPr>
            <a:r>
              <a:rPr sz="3000" b="1">
                <a:solidFill>
                  <a:srgbClr val="2E6B4F"/>
                </a:solidFill>
                <a:latin typeface="Calibri"/>
              </a:rPr>
              <a:t>Our mission</a:t>
            </a:r>
          </a:p>
        </p:txBody>
      </p:sp>
      <p:sp>
        <p:nvSpPr>
          <p:cNvPr id="4" name="Rectangle 3"/>
          <p:cNvSpPr/>
          <p:nvPr/>
        </p:nvSpPr>
        <p:spPr>
          <a:xfrm>
            <a:off x="868680" y="1417320"/>
            <a:ext cx="914400" cy="45720"/>
          </a:xfrm>
          <a:prstGeom prst="rect">
            <a:avLst/>
          </a:prstGeom>
          <a:solidFill>
            <a:srgbClr val="E6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737360"/>
            <a:ext cx="10058400" cy="1463040"/>
          </a:xfrm>
          <a:prstGeom prst="rect">
            <a:avLst/>
          </a:prstGeom>
          <a:noFill/>
        </p:spPr>
        <p:txBody>
          <a:bodyPr wrap="square" anchor="t">
            <a:spAutoFit/>
          </a:bodyPr>
          <a:lstStyle/>
          <a:p>
            <a:pPr algn="l">
              <a:lnSpc>
                <a:spcPct val="125000"/>
              </a:lnSpc>
              <a:spcAft>
                <a:spcPts val="400"/>
              </a:spcAft>
            </a:pPr>
            <a:r>
              <a:rPr sz="1800" b="0">
                <a:solidFill>
                  <a:srgbClr val="23332B"/>
                </a:solidFill>
                <a:latin typeface="Calibri"/>
              </a:rPr>
              <a:t>Volunteer hygienists and dentists give free cleanings and screenings to people who would otherwise go without care. The work is steady, hands on, and local, and it runs on volunteers who show up the same Saturday each month.</a:t>
            </a:r>
          </a:p>
        </p:txBody>
      </p:sp>
      <p:sp>
        <p:nvSpPr>
          <p:cNvPr id="6" name="Rectangle 5"/>
          <p:cNvSpPr/>
          <p:nvPr/>
        </p:nvSpPr>
        <p:spPr>
          <a:xfrm>
            <a:off x="868680" y="3566160"/>
            <a:ext cx="3520440" cy="2194560"/>
          </a:xfrm>
          <a:prstGeom prst="rect">
            <a:avLst/>
          </a:prstGeom>
          <a:solidFill>
            <a:srgbClr val="EA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68680" y="3566160"/>
            <a:ext cx="3520440" cy="548640"/>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3639312"/>
            <a:ext cx="3108960" cy="457200"/>
          </a:xfrm>
          <a:prstGeom prst="rect">
            <a:avLst/>
          </a:prstGeom>
          <a:noFill/>
        </p:spPr>
        <p:txBody>
          <a:bodyPr wrap="square" anchor="t">
            <a:spAutoFit/>
          </a:bodyPr>
          <a:lstStyle/>
          <a:p>
            <a:pPr algn="l">
              <a:lnSpc>
                <a:spcPct val="100000"/>
              </a:lnSpc>
              <a:spcAft>
                <a:spcPts val="400"/>
              </a:spcAft>
            </a:pPr>
            <a:r>
              <a:rPr sz="1600" b="1">
                <a:solidFill>
                  <a:srgbClr val="FFFFFF"/>
                </a:solidFill>
                <a:latin typeface="Calibri"/>
              </a:rPr>
              <a:t>Who we serve</a:t>
            </a:r>
          </a:p>
        </p:txBody>
      </p:sp>
      <p:sp>
        <p:nvSpPr>
          <p:cNvPr id="9" name="TextBox 8"/>
          <p:cNvSpPr txBox="1"/>
          <p:nvPr/>
        </p:nvSpPr>
        <p:spPr>
          <a:xfrm>
            <a:off x="1097280" y="4343400"/>
            <a:ext cx="3108960" cy="1280160"/>
          </a:xfrm>
          <a:prstGeom prst="rect">
            <a:avLst/>
          </a:prstGeom>
          <a:noFill/>
        </p:spPr>
        <p:txBody>
          <a:bodyPr wrap="square" anchor="t">
            <a:spAutoFit/>
          </a:bodyPr>
          <a:lstStyle/>
          <a:p>
            <a:pPr algn="l">
              <a:lnSpc>
                <a:spcPct val="115000"/>
              </a:lnSpc>
              <a:spcAft>
                <a:spcPts val="400"/>
              </a:spcAft>
            </a:pPr>
            <a:r>
              <a:rPr sz="1450" b="0">
                <a:solidFill>
                  <a:srgbClr val="23332B"/>
                </a:solidFill>
                <a:latin typeface="Calibri"/>
              </a:rPr>
              <a:t>Uninsured adults and families across the Dearborn area</a:t>
            </a:r>
          </a:p>
        </p:txBody>
      </p:sp>
      <p:sp>
        <p:nvSpPr>
          <p:cNvPr id="10" name="Rectangle 9"/>
          <p:cNvSpPr/>
          <p:nvPr/>
        </p:nvSpPr>
        <p:spPr>
          <a:xfrm>
            <a:off x="4526280" y="3566160"/>
            <a:ext cx="3520440" cy="2194560"/>
          </a:xfrm>
          <a:prstGeom prst="rect">
            <a:avLst/>
          </a:prstGeom>
          <a:solidFill>
            <a:srgbClr val="EA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26280" y="3566160"/>
            <a:ext cx="3520440" cy="548640"/>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54880" y="3639312"/>
            <a:ext cx="3108960" cy="457200"/>
          </a:xfrm>
          <a:prstGeom prst="rect">
            <a:avLst/>
          </a:prstGeom>
          <a:noFill/>
        </p:spPr>
        <p:txBody>
          <a:bodyPr wrap="square" anchor="t">
            <a:spAutoFit/>
          </a:bodyPr>
          <a:lstStyle/>
          <a:p>
            <a:pPr algn="l">
              <a:lnSpc>
                <a:spcPct val="100000"/>
              </a:lnSpc>
              <a:spcAft>
                <a:spcPts val="400"/>
              </a:spcAft>
            </a:pPr>
            <a:r>
              <a:rPr sz="1600" b="1">
                <a:solidFill>
                  <a:srgbClr val="FFFFFF"/>
                </a:solidFill>
                <a:latin typeface="Calibri"/>
              </a:rPr>
              <a:t>What we give</a:t>
            </a:r>
          </a:p>
        </p:txBody>
      </p:sp>
      <p:sp>
        <p:nvSpPr>
          <p:cNvPr id="13" name="TextBox 12"/>
          <p:cNvSpPr txBox="1"/>
          <p:nvPr/>
        </p:nvSpPr>
        <p:spPr>
          <a:xfrm>
            <a:off x="4754880" y="4343400"/>
            <a:ext cx="3108960" cy="1280160"/>
          </a:xfrm>
          <a:prstGeom prst="rect">
            <a:avLst/>
          </a:prstGeom>
          <a:noFill/>
        </p:spPr>
        <p:txBody>
          <a:bodyPr wrap="square" anchor="t">
            <a:spAutoFit/>
          </a:bodyPr>
          <a:lstStyle/>
          <a:p>
            <a:pPr algn="l">
              <a:lnSpc>
                <a:spcPct val="115000"/>
              </a:lnSpc>
              <a:spcAft>
                <a:spcPts val="400"/>
              </a:spcAft>
            </a:pPr>
            <a:r>
              <a:rPr sz="1450" b="0">
                <a:solidFill>
                  <a:srgbClr val="23332B"/>
                </a:solidFill>
                <a:latin typeface="Calibri"/>
              </a:rPr>
              <a:t>Cleanings, screenings, and plain language home care advice</a:t>
            </a:r>
          </a:p>
        </p:txBody>
      </p:sp>
      <p:sp>
        <p:nvSpPr>
          <p:cNvPr id="14" name="Rectangle 13"/>
          <p:cNvSpPr/>
          <p:nvPr/>
        </p:nvSpPr>
        <p:spPr>
          <a:xfrm>
            <a:off x="8183879" y="3566160"/>
            <a:ext cx="3520440" cy="2194560"/>
          </a:xfrm>
          <a:prstGeom prst="rect">
            <a:avLst/>
          </a:prstGeom>
          <a:solidFill>
            <a:srgbClr val="EA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83879" y="3566160"/>
            <a:ext cx="3520440" cy="548640"/>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2480" y="3639312"/>
            <a:ext cx="3108960" cy="457200"/>
          </a:xfrm>
          <a:prstGeom prst="rect">
            <a:avLst/>
          </a:prstGeom>
          <a:noFill/>
        </p:spPr>
        <p:txBody>
          <a:bodyPr wrap="square" anchor="t">
            <a:spAutoFit/>
          </a:bodyPr>
          <a:lstStyle/>
          <a:p>
            <a:pPr algn="l">
              <a:lnSpc>
                <a:spcPct val="100000"/>
              </a:lnSpc>
              <a:spcAft>
                <a:spcPts val="400"/>
              </a:spcAft>
            </a:pPr>
            <a:r>
              <a:rPr sz="1600" b="1">
                <a:solidFill>
                  <a:srgbClr val="FFFFFF"/>
                </a:solidFill>
                <a:latin typeface="Calibri"/>
              </a:rPr>
              <a:t>How it runs</a:t>
            </a:r>
          </a:p>
        </p:txBody>
      </p:sp>
      <p:sp>
        <p:nvSpPr>
          <p:cNvPr id="17" name="TextBox 16"/>
          <p:cNvSpPr txBox="1"/>
          <p:nvPr/>
        </p:nvSpPr>
        <p:spPr>
          <a:xfrm>
            <a:off x="8412480" y="4343400"/>
            <a:ext cx="3108960" cy="1280160"/>
          </a:xfrm>
          <a:prstGeom prst="rect">
            <a:avLst/>
          </a:prstGeom>
          <a:noFill/>
        </p:spPr>
        <p:txBody>
          <a:bodyPr wrap="square" anchor="t">
            <a:spAutoFit/>
          </a:bodyPr>
          <a:lstStyle/>
          <a:p>
            <a:pPr algn="l">
              <a:lnSpc>
                <a:spcPct val="115000"/>
              </a:lnSpc>
              <a:spcAft>
                <a:spcPts val="400"/>
              </a:spcAft>
            </a:pPr>
            <a:r>
              <a:rPr sz="1450" b="0">
                <a:solidFill>
                  <a:srgbClr val="23332B"/>
                </a:solidFill>
                <a:latin typeface="Calibri"/>
              </a:rPr>
              <a:t>First Saturday monthly, 8:00 AM to 1:00 PM, supplies packed Friday</a:t>
            </a:r>
          </a:p>
        </p:txBody>
      </p:sp>
    </p:spTree>
  </p:cSld>
  <p:clrMapOvr>
    <a:masterClrMapping/>
  </p:clrMapOvr>
  <p:transition spd="med">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502920"/>
            <a:ext cx="10972800" cy="731520"/>
          </a:xfrm>
          <a:prstGeom prst="rect">
            <a:avLst/>
          </a:prstGeom>
          <a:noFill/>
        </p:spPr>
        <p:txBody>
          <a:bodyPr wrap="square" anchor="t">
            <a:spAutoFit/>
          </a:bodyPr>
          <a:lstStyle/>
          <a:p>
            <a:pPr algn="l">
              <a:lnSpc>
                <a:spcPct val="100000"/>
              </a:lnSpc>
              <a:spcAft>
                <a:spcPts val="400"/>
              </a:spcAft>
            </a:pPr>
            <a:r>
              <a:rPr sz="3000" b="1">
                <a:solidFill>
                  <a:srgbClr val="2E6B4F"/>
                </a:solidFill>
                <a:latin typeface="Calibri"/>
              </a:rPr>
              <a:t>Recent impact</a:t>
            </a:r>
          </a:p>
        </p:txBody>
      </p:sp>
      <p:sp>
        <p:nvSpPr>
          <p:cNvPr id="3" name="Rectangle 2"/>
          <p:cNvSpPr/>
          <p:nvPr/>
        </p:nvSpPr>
        <p:spPr>
          <a:xfrm>
            <a:off x="777240" y="1280160"/>
            <a:ext cx="914400" cy="45720"/>
          </a:xfrm>
          <a:prstGeom prst="rect">
            <a:avLst/>
          </a:prstGeom>
          <a:solidFill>
            <a:srgbClr val="E6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Chart 3"/>
          <p:cNvGraphicFramePr>
            <a:graphicFrameLocks noGrp="1"/>
          </p:cNvGraphicFramePr>
          <p:nvPr/>
        </p:nvGraphicFramePr>
        <p:xfrm>
          <a:off x="731520" y="1645920"/>
          <a:ext cx="6766560" cy="4480560"/>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p:cNvSpPr/>
          <p:nvPr/>
        </p:nvSpPr>
        <p:spPr>
          <a:xfrm>
            <a:off x="7863840" y="1737360"/>
            <a:ext cx="3657600" cy="4206240"/>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38160" y="2011680"/>
            <a:ext cx="3200400" cy="457200"/>
          </a:xfrm>
          <a:prstGeom prst="rect">
            <a:avLst/>
          </a:prstGeom>
          <a:noFill/>
        </p:spPr>
        <p:txBody>
          <a:bodyPr wrap="square" anchor="t">
            <a:spAutoFit/>
          </a:bodyPr>
          <a:lstStyle/>
          <a:p>
            <a:pPr algn="l">
              <a:lnSpc>
                <a:spcPct val="100000"/>
              </a:lnSpc>
              <a:spcAft>
                <a:spcPts val="400"/>
              </a:spcAft>
            </a:pPr>
            <a:r>
              <a:rPr sz="1700" b="1">
                <a:solidFill>
                  <a:srgbClr val="E6A93C"/>
                </a:solidFill>
                <a:latin typeface="Calibri"/>
              </a:rPr>
              <a:t>By the numbers</a:t>
            </a:r>
          </a:p>
        </p:txBody>
      </p:sp>
      <p:sp>
        <p:nvSpPr>
          <p:cNvPr id="7" name="TextBox 6"/>
          <p:cNvSpPr txBox="1"/>
          <p:nvPr/>
        </p:nvSpPr>
        <p:spPr>
          <a:xfrm>
            <a:off x="8138160" y="2606040"/>
            <a:ext cx="3108960" cy="548640"/>
          </a:xfrm>
          <a:prstGeom prst="rect">
            <a:avLst/>
          </a:prstGeom>
          <a:noFill/>
        </p:spPr>
        <p:txBody>
          <a:bodyPr wrap="square" anchor="t">
            <a:spAutoFit/>
          </a:bodyPr>
          <a:lstStyle/>
          <a:p>
            <a:pPr algn="l">
              <a:lnSpc>
                <a:spcPct val="100000"/>
              </a:lnSpc>
              <a:spcAft>
                <a:spcPts val="400"/>
              </a:spcAft>
            </a:pPr>
            <a:r>
              <a:rPr sz="3000" b="1">
                <a:solidFill>
                  <a:srgbClr val="FFFFFF"/>
                </a:solidFill>
                <a:latin typeface="Calibri"/>
              </a:rPr>
              <a:t>24</a:t>
            </a:r>
          </a:p>
        </p:txBody>
      </p:sp>
      <p:sp>
        <p:nvSpPr>
          <p:cNvPr id="8" name="TextBox 7"/>
          <p:cNvSpPr txBox="1"/>
          <p:nvPr/>
        </p:nvSpPr>
        <p:spPr>
          <a:xfrm>
            <a:off x="8138160" y="3154680"/>
            <a:ext cx="3108960" cy="457200"/>
          </a:xfrm>
          <a:prstGeom prst="rect">
            <a:avLst/>
          </a:prstGeom>
          <a:noFill/>
        </p:spPr>
        <p:txBody>
          <a:bodyPr wrap="square" anchor="t">
            <a:spAutoFit/>
          </a:bodyPr>
          <a:lstStyle/>
          <a:p>
            <a:pPr algn="l">
              <a:lnSpc>
                <a:spcPct val="100000"/>
              </a:lnSpc>
              <a:spcAft>
                <a:spcPts val="400"/>
              </a:spcAft>
            </a:pPr>
            <a:r>
              <a:rPr sz="1300" b="0">
                <a:solidFill>
                  <a:srgbClr val="CFE6DA"/>
                </a:solidFill>
                <a:latin typeface="Calibri"/>
              </a:rPr>
              <a:t>cleanings at the last shift</a:t>
            </a:r>
          </a:p>
        </p:txBody>
      </p:sp>
      <p:sp>
        <p:nvSpPr>
          <p:cNvPr id="9" name="TextBox 8"/>
          <p:cNvSpPr txBox="1"/>
          <p:nvPr/>
        </p:nvSpPr>
        <p:spPr>
          <a:xfrm>
            <a:off x="8138160" y="3703320"/>
            <a:ext cx="3108960" cy="548640"/>
          </a:xfrm>
          <a:prstGeom prst="rect">
            <a:avLst/>
          </a:prstGeom>
          <a:noFill/>
        </p:spPr>
        <p:txBody>
          <a:bodyPr wrap="square" anchor="t">
            <a:spAutoFit/>
          </a:bodyPr>
          <a:lstStyle/>
          <a:p>
            <a:pPr algn="l">
              <a:lnSpc>
                <a:spcPct val="100000"/>
              </a:lnSpc>
              <a:spcAft>
                <a:spcPts val="400"/>
              </a:spcAft>
            </a:pPr>
            <a:r>
              <a:rPr sz="3000" b="1">
                <a:solidFill>
                  <a:srgbClr val="FFFFFF"/>
                </a:solidFill>
                <a:latin typeface="Calibri"/>
              </a:rPr>
              <a:t>12</a:t>
            </a:r>
          </a:p>
        </p:txBody>
      </p:sp>
      <p:sp>
        <p:nvSpPr>
          <p:cNvPr id="10" name="TextBox 9"/>
          <p:cNvSpPr txBox="1"/>
          <p:nvPr/>
        </p:nvSpPr>
        <p:spPr>
          <a:xfrm>
            <a:off x="8138160" y="4251959"/>
            <a:ext cx="3108960" cy="457200"/>
          </a:xfrm>
          <a:prstGeom prst="rect">
            <a:avLst/>
          </a:prstGeom>
          <a:noFill/>
        </p:spPr>
        <p:txBody>
          <a:bodyPr wrap="square" anchor="t">
            <a:spAutoFit/>
          </a:bodyPr>
          <a:lstStyle/>
          <a:p>
            <a:pPr algn="l">
              <a:lnSpc>
                <a:spcPct val="100000"/>
              </a:lnSpc>
              <a:spcAft>
                <a:spcPts val="400"/>
              </a:spcAft>
            </a:pPr>
            <a:r>
              <a:rPr sz="1300" b="0">
                <a:solidFill>
                  <a:srgbClr val="CFE6DA"/>
                </a:solidFill>
                <a:latin typeface="Calibri"/>
              </a:rPr>
              <a:t>shifts across the year</a:t>
            </a:r>
          </a:p>
        </p:txBody>
      </p:sp>
      <p:sp>
        <p:nvSpPr>
          <p:cNvPr id="11" name="TextBox 10"/>
          <p:cNvSpPr txBox="1"/>
          <p:nvPr/>
        </p:nvSpPr>
        <p:spPr>
          <a:xfrm>
            <a:off x="8138160" y="4800600"/>
            <a:ext cx="3108960" cy="548640"/>
          </a:xfrm>
          <a:prstGeom prst="rect">
            <a:avLst/>
          </a:prstGeom>
          <a:noFill/>
        </p:spPr>
        <p:txBody>
          <a:bodyPr wrap="square" anchor="t">
            <a:spAutoFit/>
          </a:bodyPr>
          <a:lstStyle/>
          <a:p>
            <a:pPr algn="l">
              <a:lnSpc>
                <a:spcPct val="100000"/>
              </a:lnSpc>
              <a:spcAft>
                <a:spcPts val="400"/>
              </a:spcAft>
            </a:pPr>
            <a:r>
              <a:rPr sz="3000" b="1">
                <a:solidFill>
                  <a:srgbClr val="FFFFFF"/>
                </a:solidFill>
                <a:latin typeface="Calibri"/>
              </a:rPr>
              <a:t>9</a:t>
            </a:r>
          </a:p>
        </p:txBody>
      </p:sp>
      <p:sp>
        <p:nvSpPr>
          <p:cNvPr id="12" name="TextBox 11"/>
          <p:cNvSpPr txBox="1"/>
          <p:nvPr/>
        </p:nvSpPr>
        <p:spPr>
          <a:xfrm>
            <a:off x="8138160" y="5349240"/>
            <a:ext cx="3108960" cy="457200"/>
          </a:xfrm>
          <a:prstGeom prst="rect">
            <a:avLst/>
          </a:prstGeom>
          <a:noFill/>
        </p:spPr>
        <p:txBody>
          <a:bodyPr wrap="square" anchor="t">
            <a:spAutoFit/>
          </a:bodyPr>
          <a:lstStyle/>
          <a:p>
            <a:pPr algn="l">
              <a:lnSpc>
                <a:spcPct val="100000"/>
              </a:lnSpc>
              <a:spcAft>
                <a:spcPts val="400"/>
              </a:spcAft>
            </a:pPr>
            <a:r>
              <a:rPr sz="1300" b="0">
                <a:solidFill>
                  <a:srgbClr val="CFE6DA"/>
                </a:solidFill>
                <a:latin typeface="Calibri"/>
              </a:rPr>
              <a:t>active volunteers on the roster</a:t>
            </a:r>
          </a:p>
        </p:txBody>
      </p:sp>
    </p:spTree>
  </p:cSld>
  <p:clrMapOvr>
    <a:masterClrMapping/>
  </p:clrMapOvr>
  <p:transition spd="med">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502920"/>
            <a:ext cx="10972800" cy="731520"/>
          </a:xfrm>
          <a:prstGeom prst="rect">
            <a:avLst/>
          </a:prstGeom>
          <a:noFill/>
        </p:spPr>
        <p:txBody>
          <a:bodyPr wrap="square" anchor="t">
            <a:spAutoFit/>
          </a:bodyPr>
          <a:lstStyle/>
          <a:p>
            <a:pPr algn="l">
              <a:lnSpc>
                <a:spcPct val="100000"/>
              </a:lnSpc>
              <a:spcAft>
                <a:spcPts val="400"/>
              </a:spcAft>
            </a:pPr>
            <a:r>
              <a:rPr sz="3000" b="1">
                <a:solidFill>
                  <a:srgbClr val="2E6B4F"/>
                </a:solidFill>
                <a:latin typeface="Calibri"/>
              </a:rPr>
              <a:t>Upcoming shifts</a:t>
            </a:r>
          </a:p>
        </p:txBody>
      </p:sp>
      <p:sp>
        <p:nvSpPr>
          <p:cNvPr id="3" name="Rectangle 2"/>
          <p:cNvSpPr/>
          <p:nvPr/>
        </p:nvSpPr>
        <p:spPr>
          <a:xfrm>
            <a:off x="777240" y="1280160"/>
            <a:ext cx="914400" cy="45720"/>
          </a:xfrm>
          <a:prstGeom prst="rect">
            <a:avLst/>
          </a:prstGeom>
          <a:solidFill>
            <a:srgbClr val="E6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737360"/>
          <a:ext cx="10698480" cy="32918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61264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658368">
                <a:tc>
                  <a:txBody>
                    <a:bodyPr/>
                    <a:lstStyle/>
                    <a:p>
                      <a:pPr algn="l"/>
                      <a:r>
                        <a:rPr sz="1350" b="1">
                          <a:solidFill>
                            <a:srgbClr val="FFFFFF"/>
                          </a:solidFill>
                          <a:latin typeface="Calibri"/>
                        </a:rPr>
                        <a:t>Date</a:t>
                      </a:r>
                    </a:p>
                  </a:txBody>
                  <a:tcPr>
                    <a:solidFill>
                      <a:srgbClr val="2E6B4F"/>
                    </a:solidFill>
                  </a:tcPr>
                </a:tc>
                <a:tc>
                  <a:txBody>
                    <a:bodyPr/>
                    <a:lstStyle/>
                    <a:p>
                      <a:pPr algn="l"/>
                      <a:r>
                        <a:rPr sz="1350" b="1">
                          <a:solidFill>
                            <a:srgbClr val="FFFFFF"/>
                          </a:solidFill>
                          <a:latin typeface="Calibri"/>
                        </a:rPr>
                        <a:t>Role needed</a:t>
                      </a:r>
                    </a:p>
                  </a:txBody>
                  <a:tcPr>
                    <a:solidFill>
                      <a:srgbClr val="2E6B4F"/>
                    </a:solidFill>
                  </a:tcPr>
                </a:tc>
                <a:tc>
                  <a:txBody>
                    <a:bodyPr/>
                    <a:lstStyle/>
                    <a:p>
                      <a:pPr algn="ctr"/>
                      <a:r>
                        <a:rPr sz="1350" b="1">
                          <a:solidFill>
                            <a:srgbClr val="FFFFFF"/>
                          </a:solidFill>
                          <a:latin typeface="Calibri"/>
                        </a:rPr>
                        <a:t>Status</a:t>
                      </a:r>
                    </a:p>
                  </a:txBody>
                  <a:tcPr>
                    <a:solidFill>
                      <a:srgbClr val="2E6B4F"/>
                    </a:solidFill>
                  </a:tcPr>
                </a:tc>
                <a:extLst>
                  <a:ext uri="{0D108BD9-81ED-4DB2-BD59-A6C34878D82A}">
                    <a16:rowId xmlns:a16="http://schemas.microsoft.com/office/drawing/2014/main" val="10000"/>
                  </a:ext>
                </a:extLst>
              </a:tr>
              <a:tr h="658368">
                <a:tc>
                  <a:txBody>
                    <a:bodyPr/>
                    <a:lstStyle/>
                    <a:p>
                      <a:pPr algn="l"/>
                      <a:r>
                        <a:rPr sz="1350">
                          <a:solidFill>
                            <a:srgbClr val="23332B"/>
                          </a:solidFill>
                          <a:latin typeface="Calibri"/>
                        </a:rPr>
                        <a:t>October 10, 2026</a:t>
                      </a:r>
                    </a:p>
                  </a:txBody>
                  <a:tcPr>
                    <a:solidFill>
                      <a:srgbClr val="EAF5EF"/>
                    </a:solidFill>
                  </a:tcPr>
                </a:tc>
                <a:tc>
                  <a:txBody>
                    <a:bodyPr/>
                    <a:lstStyle/>
                    <a:p>
                      <a:pPr algn="l"/>
                      <a:r>
                        <a:rPr sz="1350">
                          <a:solidFill>
                            <a:srgbClr val="23332B"/>
                          </a:solidFill>
                          <a:latin typeface="Calibri"/>
                        </a:rPr>
                        <a:t>Cleanings, last before the holidays rush</a:t>
                      </a:r>
                    </a:p>
                  </a:txBody>
                  <a:tcPr>
                    <a:solidFill>
                      <a:srgbClr val="EAF5EF"/>
                    </a:solidFill>
                  </a:tcPr>
                </a:tc>
                <a:tc>
                  <a:txBody>
                    <a:bodyPr/>
                    <a:lstStyle/>
                    <a:p>
                      <a:pPr algn="ctr"/>
                      <a:r>
                        <a:rPr sz="1350">
                          <a:solidFill>
                            <a:srgbClr val="23332B"/>
                          </a:solidFill>
                          <a:latin typeface="Calibri"/>
                        </a:rPr>
                        <a:t>Open</a:t>
                      </a:r>
                    </a:p>
                  </a:txBody>
                  <a:tcPr>
                    <a:solidFill>
                      <a:srgbClr val="EAF5EF"/>
                    </a:solidFill>
                  </a:tcPr>
                </a:tc>
                <a:extLst>
                  <a:ext uri="{0D108BD9-81ED-4DB2-BD59-A6C34878D82A}">
                    <a16:rowId xmlns:a16="http://schemas.microsoft.com/office/drawing/2014/main" val="10001"/>
                  </a:ext>
                </a:extLst>
              </a:tr>
              <a:tr h="658368">
                <a:tc>
                  <a:txBody>
                    <a:bodyPr/>
                    <a:lstStyle/>
                    <a:p>
                      <a:pPr algn="l"/>
                      <a:r>
                        <a:rPr sz="1350">
                          <a:solidFill>
                            <a:srgbClr val="23332B"/>
                          </a:solidFill>
                          <a:latin typeface="Calibri"/>
                        </a:rPr>
                        <a:t>November 14, 2026</a:t>
                      </a:r>
                    </a:p>
                  </a:txBody>
                  <a:tcPr>
                    <a:solidFill>
                      <a:srgbClr val="FFFFFF"/>
                    </a:solidFill>
                  </a:tcPr>
                </a:tc>
                <a:tc>
                  <a:txBody>
                    <a:bodyPr/>
                    <a:lstStyle/>
                    <a:p>
                      <a:pPr algn="l"/>
                      <a:r>
                        <a:rPr sz="1350">
                          <a:solidFill>
                            <a:srgbClr val="23332B"/>
                          </a:solidFill>
                          <a:latin typeface="Calibri"/>
                        </a:rPr>
                        <a:t>Cleanings and screenings</a:t>
                      </a:r>
                    </a:p>
                  </a:txBody>
                  <a:tcPr>
                    <a:solidFill>
                      <a:srgbClr val="FFFFFF"/>
                    </a:solidFill>
                  </a:tcPr>
                </a:tc>
                <a:tc>
                  <a:txBody>
                    <a:bodyPr/>
                    <a:lstStyle/>
                    <a:p>
                      <a:pPr algn="ctr"/>
                      <a:r>
                        <a:rPr sz="1350">
                          <a:solidFill>
                            <a:srgbClr val="23332B"/>
                          </a:solidFill>
                          <a:latin typeface="Calibri"/>
                        </a:rPr>
                        <a:t>Open</a:t>
                      </a:r>
                    </a:p>
                  </a:txBody>
                  <a:tcPr>
                    <a:solidFill>
                      <a:srgbClr val="FFFFFF"/>
                    </a:solidFill>
                  </a:tcPr>
                </a:tc>
                <a:extLst>
                  <a:ext uri="{0D108BD9-81ED-4DB2-BD59-A6C34878D82A}">
                    <a16:rowId xmlns:a16="http://schemas.microsoft.com/office/drawing/2014/main" val="10002"/>
                  </a:ext>
                </a:extLst>
              </a:tr>
              <a:tr h="658368">
                <a:tc>
                  <a:txBody>
                    <a:bodyPr/>
                    <a:lstStyle/>
                    <a:p>
                      <a:pPr algn="l"/>
                      <a:r>
                        <a:rPr sz="1350">
                          <a:solidFill>
                            <a:srgbClr val="23332B"/>
                          </a:solidFill>
                          <a:latin typeface="Calibri"/>
                        </a:rPr>
                        <a:t>December 12, 2026</a:t>
                      </a:r>
                    </a:p>
                  </a:txBody>
                  <a:tcPr>
                    <a:solidFill>
                      <a:srgbClr val="EAF5EF"/>
                    </a:solidFill>
                  </a:tcPr>
                </a:tc>
                <a:tc>
                  <a:txBody>
                    <a:bodyPr/>
                    <a:lstStyle/>
                    <a:p>
                      <a:pPr algn="l"/>
                      <a:r>
                        <a:rPr sz="1350">
                          <a:solidFill>
                            <a:srgbClr val="23332B"/>
                          </a:solidFill>
                          <a:latin typeface="Calibri"/>
                        </a:rPr>
                        <a:t>Cleanings, supply lead</a:t>
                      </a:r>
                    </a:p>
                  </a:txBody>
                  <a:tcPr>
                    <a:solidFill>
                      <a:srgbClr val="EAF5EF"/>
                    </a:solidFill>
                  </a:tcPr>
                </a:tc>
                <a:tc>
                  <a:txBody>
                    <a:bodyPr/>
                    <a:lstStyle/>
                    <a:p>
                      <a:pPr algn="ctr"/>
                      <a:r>
                        <a:rPr sz="1350">
                          <a:solidFill>
                            <a:srgbClr val="23332B"/>
                          </a:solidFill>
                          <a:latin typeface="Calibri"/>
                        </a:rPr>
                        <a:t>Open</a:t>
                      </a:r>
                    </a:p>
                  </a:txBody>
                  <a:tcPr>
                    <a:solidFill>
                      <a:srgbClr val="EAF5EF"/>
                    </a:solidFill>
                  </a:tcPr>
                </a:tc>
                <a:extLst>
                  <a:ext uri="{0D108BD9-81ED-4DB2-BD59-A6C34878D82A}">
                    <a16:rowId xmlns:a16="http://schemas.microsoft.com/office/drawing/2014/main" val="10003"/>
                  </a:ext>
                </a:extLst>
              </a:tr>
              <a:tr h="658368">
                <a:tc>
                  <a:txBody>
                    <a:bodyPr/>
                    <a:lstStyle/>
                    <a:p>
                      <a:pPr algn="l"/>
                      <a:r>
                        <a:rPr sz="1350">
                          <a:solidFill>
                            <a:srgbClr val="23332B"/>
                          </a:solidFill>
                          <a:latin typeface="Calibri"/>
                        </a:rPr>
                        <a:t>January 9, 2027</a:t>
                      </a:r>
                    </a:p>
                  </a:txBody>
                  <a:tcPr>
                    <a:solidFill>
                      <a:srgbClr val="FFFFFF"/>
                    </a:solidFill>
                  </a:tcPr>
                </a:tc>
                <a:tc>
                  <a:txBody>
                    <a:bodyPr/>
                    <a:lstStyle/>
                    <a:p>
                      <a:pPr algn="l"/>
                      <a:r>
                        <a:rPr sz="1350">
                          <a:solidFill>
                            <a:srgbClr val="23332B"/>
                          </a:solidFill>
                          <a:latin typeface="Calibri"/>
                        </a:rPr>
                        <a:t>Cleanings, new volunteer onboarding</a:t>
                      </a:r>
                    </a:p>
                  </a:txBody>
                  <a:tcPr>
                    <a:solidFill>
                      <a:srgbClr val="FFFFFF"/>
                    </a:solidFill>
                  </a:tcPr>
                </a:tc>
                <a:tc>
                  <a:txBody>
                    <a:bodyPr/>
                    <a:lstStyle/>
                    <a:p>
                      <a:pPr algn="ctr"/>
                      <a:r>
                        <a:rPr sz="1350">
                          <a:solidFill>
                            <a:srgbClr val="23332B"/>
                          </a:solidFill>
                          <a:latin typeface="Calibri"/>
                        </a:rPr>
                        <a:t>Open</a:t>
                      </a:r>
                    </a:p>
                  </a:txBody>
                  <a:tcP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731520" y="5394960"/>
            <a:ext cx="10789920" cy="731520"/>
          </a:xfrm>
          <a:prstGeom prst="rect">
            <a:avLst/>
          </a:prstGeom>
          <a:noFill/>
        </p:spPr>
        <p:txBody>
          <a:bodyPr wrap="square" anchor="t">
            <a:spAutoFit/>
          </a:bodyPr>
          <a:lstStyle/>
          <a:p>
            <a:pPr algn="l">
              <a:lnSpc>
                <a:spcPct val="100000"/>
              </a:lnSpc>
              <a:spcAft>
                <a:spcPts val="400"/>
              </a:spcAft>
            </a:pPr>
            <a:r>
              <a:rPr sz="1400" b="0">
                <a:solidFill>
                  <a:srgbClr val="5D7568"/>
                </a:solidFill>
                <a:latin typeface="Calibri"/>
              </a:rPr>
              <a:t>Shifts run 8:00 AM to 1:00 PM. Supplies are packed the Friday evening before each shift.</a:t>
            </a:r>
          </a:p>
        </p:txBody>
      </p:sp>
    </p:spTree>
  </p:cSld>
  <p:clrMapOvr>
    <a:masterClrMapping/>
  </p:clrMapOvr>
  <p:transition spd="med">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E6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920240"/>
            <a:ext cx="10332720" cy="914400"/>
          </a:xfrm>
          <a:prstGeom prst="rect">
            <a:avLst/>
          </a:prstGeom>
          <a:noFill/>
        </p:spPr>
        <p:txBody>
          <a:bodyPr wrap="square" anchor="t">
            <a:spAutoFit/>
          </a:bodyPr>
          <a:lstStyle/>
          <a:p>
            <a:pPr algn="l">
              <a:lnSpc>
                <a:spcPct val="100000"/>
              </a:lnSpc>
              <a:spcAft>
                <a:spcPts val="400"/>
              </a:spcAft>
            </a:pPr>
            <a:r>
              <a:rPr sz="4000" b="1">
                <a:solidFill>
                  <a:srgbClr val="FFFFFF"/>
                </a:solidFill>
                <a:latin typeface="Calibri Light"/>
              </a:rPr>
              <a:t>Join the next Saturday</a:t>
            </a:r>
          </a:p>
        </p:txBody>
      </p:sp>
      <p:sp>
        <p:nvSpPr>
          <p:cNvPr id="5" name="TextBox 4"/>
          <p:cNvSpPr txBox="1"/>
          <p:nvPr/>
        </p:nvSpPr>
        <p:spPr>
          <a:xfrm>
            <a:off x="914400" y="3108960"/>
            <a:ext cx="10058400" cy="1371600"/>
          </a:xfrm>
          <a:prstGeom prst="rect">
            <a:avLst/>
          </a:prstGeom>
          <a:noFill/>
        </p:spPr>
        <p:txBody>
          <a:bodyPr wrap="square" anchor="t">
            <a:spAutoFit/>
          </a:bodyPr>
          <a:lstStyle/>
          <a:p>
            <a:pPr algn="l">
              <a:lnSpc>
                <a:spcPct val="125000"/>
              </a:lnSpc>
              <a:spcAft>
                <a:spcPts val="1000"/>
              </a:spcAft>
            </a:pPr>
            <a:r>
              <a:rPr sz="1900" b="0">
                <a:solidFill>
                  <a:srgbClr val="DDEEE5"/>
                </a:solidFill>
                <a:latin typeface="Calibri"/>
              </a:rPr>
              <a:t>Hygienists, dentists, front desk help, and supply runners are all welcome.</a:t>
            </a:r>
          </a:p>
          <a:p>
            <a:pPr algn="l">
              <a:lnSpc>
                <a:spcPct val="125000"/>
              </a:lnSpc>
              <a:spcAft>
                <a:spcPts val="1000"/>
              </a:spcAft>
            </a:pPr>
            <a:r>
              <a:rPr sz="1900" b="0">
                <a:solidFill>
                  <a:srgbClr val="DDEEE5"/>
                </a:solidFill>
                <a:latin typeface="Calibri"/>
              </a:rPr>
              <a:t>To sign up for a shift, reach the coordinator at ryan.torres@voissync.ai.</a:t>
            </a:r>
          </a:p>
        </p:txBody>
      </p:sp>
    </p:spTree>
  </p:cSld>
  <p:clrMapOvr>
    <a:masterClrMapping/>
  </p:clrMapOvr>
  <p:transition spd="med">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231</Words>
  <Application>Microsoft Office PowerPoint</Application>
  <PresentationFormat>Widescreen</PresentationFormat>
  <Paragraphs>40</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Ankit kumar</cp:lastModifiedBy>
  <cp:revision>2</cp:revision>
  <dcterms:created xsi:type="dcterms:W3CDTF">2013-01-27T09:14:16Z</dcterms:created>
  <dcterms:modified xsi:type="dcterms:W3CDTF">2026-06-27T09:42:10Z</dcterms:modified>
  <cp:category/>
</cp:coreProperties>
</file>