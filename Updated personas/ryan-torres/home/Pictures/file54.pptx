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percent</c:v>
                </c:pt>
              </c:strCache>
            </c:strRef>
          </c:tx>
          <c:spPr>
            <a:ln w="34925">
              <a:solidFill>
                <a:srgbClr val="D98C4A"/>
              </a:solidFill>
            </a:ln>
          </c:spPr>
          <c:cat>
            <c:strRef>
              <c:f>Sheet1!$A$2:$A$7</c:f>
              <c:strCache>
                <c:ptCount val="6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48</c:v>
                </c:pt>
                <c:pt idx="2">
                  <c:v>55</c:v>
                </c:pt>
                <c:pt idx="3">
                  <c:v>61</c:v>
                </c:pt>
                <c:pt idx="4">
                  <c:v>67</c:v>
                </c:pt>
                <c:pt idx="5">
                  <c:v>72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22B35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263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109728" cy="6858000"/>
          </a:xfrm>
          <a:prstGeom prst="rect">
            <a:avLst/>
          </a:prstGeom>
          <a:solidFill>
            <a:srgbClr val="D98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4023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libri Light"/>
              </a:rPr>
              <a:t>Patient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libri Light"/>
              </a:rPr>
              <a:t>Education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libri Light"/>
              </a:rPr>
              <a:t>Content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246888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6303B"/>
                </a:solidFill>
                <a:latin typeface="Calibri"/>
              </a:rPr>
              <a:t>A small content project at the clinic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3383280"/>
            <a:ext cx="6217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647688"/>
                </a:solidFill>
                <a:latin typeface="Calibri"/>
              </a:rPr>
              <a:t>Turning the home care talks patients actually follow into short, plain language pieces they can take home.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576072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3B6EA5"/>
                </a:solidFill>
                <a:latin typeface="Calibri"/>
              </a:rPr>
              <a:t>Ryan Torres  |  reviewed with Dr. Sarah Kim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63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98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222B35"/>
                </a:solidFill>
                <a:latin typeface="Calibri"/>
              </a:rPr>
              <a:t>Patients remember a cleaning, but they forget the home care advice by the time they get to the car. Short written pieces in plain language close that gap and free up chair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3520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109728" cy="2468880"/>
          </a:xfrm>
          <a:prstGeom prst="rect">
            <a:avLst/>
          </a:prstGeom>
          <a:solidFill>
            <a:srgbClr val="D98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3375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3B6EA5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02336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647688"/>
                </a:solidFill>
                <a:latin typeface="Calibri"/>
              </a:rPr>
              <a:t>Verbal advice fades fast and varies by who gives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3108960"/>
            <a:ext cx="3520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3108960"/>
            <a:ext cx="109728" cy="2468880"/>
          </a:xfrm>
          <a:prstGeom prst="rect">
            <a:avLst/>
          </a:prstGeom>
          <a:solidFill>
            <a:srgbClr val="D98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33375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3B6EA5"/>
                </a:solidFill>
                <a:latin typeface="Calibri"/>
              </a:rPr>
              <a:t>The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402336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647688"/>
                </a:solidFill>
                <a:latin typeface="Calibri"/>
              </a:rPr>
              <a:t>One clear, consistent set of take home pieces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108960"/>
            <a:ext cx="3520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3108960"/>
            <a:ext cx="109728" cy="2468880"/>
          </a:xfrm>
          <a:prstGeom prst="rect">
            <a:avLst/>
          </a:prstGeom>
          <a:solidFill>
            <a:srgbClr val="D98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3375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3B6EA5"/>
                </a:solidFill>
                <a:latin typeface="Calibri"/>
              </a:rPr>
              <a:t>The 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02336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647688"/>
                </a:solidFill>
                <a:latin typeface="Calibri"/>
              </a:rPr>
              <a:t>Better follow through and calmer, faster visits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63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98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Goals for the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349240" cy="19202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D98C4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01952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26303B"/>
                </a:solidFill>
                <a:latin typeface="Calibri"/>
              </a:rPr>
              <a:t>Clarity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514600"/>
            <a:ext cx="3931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>
                <a:solidFill>
                  <a:srgbClr val="647688"/>
                </a:solidFill>
                <a:latin typeface="Calibri"/>
              </a:rPr>
              <a:t>Every piece reads at a plain, friendly level with no jargon.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5349240" cy="19202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D98C4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901952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26303B"/>
                </a:solidFill>
                <a:latin typeface="Calibri"/>
              </a:rPr>
              <a:t>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514600"/>
            <a:ext cx="3931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>
                <a:solidFill>
                  <a:srgbClr val="647688"/>
                </a:solidFill>
                <a:latin typeface="Calibri"/>
              </a:rPr>
              <a:t>One voice and one look across the whole 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86200"/>
            <a:ext cx="5349240" cy="19202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D98C4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142232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26303B"/>
                </a:solidFill>
                <a:latin typeface="Calibri"/>
              </a:rPr>
              <a:t>Reach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754880"/>
            <a:ext cx="3931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>
                <a:solidFill>
                  <a:srgbClr val="647688"/>
                </a:solidFill>
                <a:latin typeface="Calibri"/>
              </a:rPr>
              <a:t>Available in the operatory, at the front desk, and online.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886200"/>
            <a:ext cx="5349240" cy="19202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06908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D98C4A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142232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26303B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754880"/>
            <a:ext cx="3931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>
                <a:solidFill>
                  <a:srgbClr val="647688"/>
                </a:solidFill>
                <a:latin typeface="Calibri"/>
              </a:rPr>
              <a:t>Track whether patients actually read to the end.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63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98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Content pipeline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2377440"/>
                <a:gridCol w="2377440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3B6EA5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22B35"/>
                          </a:solidFill>
                          <a:latin typeface="Calibri"/>
                        </a:rPr>
                        <a:t>Daily brushing and flossing basics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22B35"/>
                          </a:solidFill>
                          <a:latin typeface="Calibri"/>
                        </a:rPr>
                        <a:t>Published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22B35"/>
                          </a:solidFill>
                          <a:latin typeface="Calibri"/>
                        </a:rPr>
                        <a:t>Ryan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22B35"/>
                          </a:solidFill>
                          <a:latin typeface="Calibri"/>
                        </a:rPr>
                        <a:t>What to expect at a cleaning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22B35"/>
                          </a:solidFill>
                          <a:latin typeface="Calibri"/>
                        </a:rPr>
                        <a:t>In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22B35"/>
                          </a:solidFill>
                          <a:latin typeface="Calibri"/>
                        </a:rPr>
                        <a:t>Ryan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22B35"/>
                          </a:solidFill>
                          <a:latin typeface="Calibri"/>
                        </a:rPr>
                        <a:t>Managing sensitivity at home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22B35"/>
                          </a:solidFill>
                          <a:latin typeface="Calibri"/>
                        </a:rPr>
                        <a:t>Drafting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22B35"/>
                          </a:solidFill>
                          <a:latin typeface="Calibri"/>
                        </a:rPr>
                        <a:t>Ryan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22B35"/>
                          </a:solidFill>
                          <a:latin typeface="Calibri"/>
                        </a:rPr>
                        <a:t>Caring for gums between visits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22B35"/>
                          </a:solidFill>
                          <a:latin typeface="Calibri"/>
                        </a:rPr>
                        <a:t>Drafting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22B35"/>
                          </a:solidFill>
                          <a:latin typeface="Calibri"/>
                        </a:rPr>
                        <a:t>Ryan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22B35"/>
                          </a:solidFill>
                          <a:latin typeface="Calibri"/>
                        </a:rPr>
                        <a:t>Reading a treatment plan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22B35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22B35"/>
                          </a:solidFill>
                          <a:latin typeface="Calibri"/>
                        </a:rPr>
                        <a:t>Ryan and Dr. Kim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63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98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Reading completion is climbing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554480"/>
          <a:ext cx="69494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046720" y="1645920"/>
            <a:ext cx="3657600" cy="4389120"/>
          </a:xfrm>
          <a:prstGeom prst="rect">
            <a:avLst/>
          </a:prstGeom>
          <a:solidFill>
            <a:srgbClr val="263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9202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D98C4A"/>
                </a:solidFill>
                <a:latin typeface="Calibri"/>
              </a:rPr>
              <a:t>What is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46888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DCE4EC"/>
                </a:solidFill>
                <a:latin typeface="Calibri"/>
              </a:rPr>
              <a:t>•  Publish the sensitivity piece by November 2026.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DCE4EC"/>
                </a:solidFill>
                <a:latin typeface="Calibri"/>
              </a:rPr>
              <a:t>•  Add a short video script for the waiting room.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DCE4EC"/>
                </a:solidFill>
                <a:latin typeface="Calibri"/>
              </a:rPr>
              <a:t>•  Review the full set with Dr. Kim before the new year.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