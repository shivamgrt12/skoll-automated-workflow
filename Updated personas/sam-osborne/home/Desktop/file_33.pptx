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3EC"/>
        </a:solidFill>
        <a:effectLst/>
      </p:bgPr>
    </p:bg>
    <p:spTree>
      <p:nvGrpSpPr>
        <p:cNvPr id="1" name=""/>
        <p:cNvGrpSpPr/>
        <p:nvPr/>
      </p:nvGrpSpPr>
      <p:grpSpPr/>
      <p:sp>
        <p:nvSpPr>
          <p:cNvPr id="2" name="Rectangle 1"/>
          <p:cNvSpPr/>
          <p:nvPr/>
        </p:nvSpPr>
        <p:spPr>
          <a:xfrm>
            <a:off x="0" y="0"/>
            <a:ext cx="12191695" cy="2194560"/>
          </a:xfrm>
          <a:prstGeom prst="rect">
            <a:avLst/>
          </a:prstGeom>
          <a:solidFill>
            <a:srgbClr val="334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3108960"/>
            <a:ext cx="2743200" cy="2743200"/>
          </a:xfrm>
          <a:prstGeom prst="ellipse">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1463040" cy="14630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10058400" cy="457200"/>
          </a:xfrm>
          <a:prstGeom prst="rect">
            <a:avLst/>
          </a:prstGeom>
          <a:noFill/>
        </p:spPr>
        <p:txBody>
          <a:bodyPr wrap="square" anchor="t">
            <a:spAutoFit/>
          </a:bodyPr>
          <a:lstStyle/>
          <a:p>
            <a:pPr algn="l"/>
            <a:r>
              <a:rPr sz="1500" b="1">
                <a:solidFill>
                  <a:srgbClr val="6E8B3D"/>
                </a:solidFill>
                <a:latin typeface="Calibri"/>
              </a:rPr>
              <a:t>HIGH-DESERT FIELDCRAFT</a:t>
            </a:r>
          </a:p>
        </p:txBody>
      </p:sp>
      <p:sp>
        <p:nvSpPr>
          <p:cNvPr id="7" name="TextBox 6"/>
          <p:cNvSpPr txBox="1"/>
          <p:nvPr/>
        </p:nvSpPr>
        <p:spPr>
          <a:xfrm>
            <a:off x="640080" y="914400"/>
            <a:ext cx="10789920" cy="1188720"/>
          </a:xfrm>
          <a:prstGeom prst="rect">
            <a:avLst/>
          </a:prstGeom>
          <a:noFill/>
        </p:spPr>
        <p:txBody>
          <a:bodyPr wrap="square" anchor="t">
            <a:spAutoFit/>
          </a:bodyPr>
          <a:lstStyle/>
          <a:p>
            <a:pPr algn="l"/>
            <a:r>
              <a:rPr sz="4000" b="1">
                <a:solidFill>
                  <a:srgbClr val="FFFFFF"/>
                </a:solidFill>
                <a:latin typeface="Calibri"/>
              </a:rPr>
              <a:t>Tracking and Terrain Reading in the Zuni Mountains</a:t>
            </a:r>
          </a:p>
        </p:txBody>
      </p:sp>
      <p:sp>
        <p:nvSpPr>
          <p:cNvPr id="8" name="TextBox 7"/>
          <p:cNvSpPr txBox="1"/>
          <p:nvPr/>
        </p:nvSpPr>
        <p:spPr>
          <a:xfrm>
            <a:off x="640080" y="2468880"/>
            <a:ext cx="10515600" cy="914400"/>
          </a:xfrm>
          <a:prstGeom prst="rect">
            <a:avLst/>
          </a:prstGeom>
          <a:noFill/>
        </p:spPr>
        <p:txBody>
          <a:bodyPr wrap="square" anchor="t">
            <a:spAutoFit/>
          </a:bodyPr>
          <a:lstStyle/>
          <a:p>
            <a:pPr algn="l"/>
            <a:r>
              <a:rPr sz="2000" b="0">
                <a:solidFill>
                  <a:srgbClr val="2C2E26"/>
                </a:solidFill>
                <a:latin typeface="Calibri"/>
              </a:rPr>
              <a:t>Lessons carried from a grandfather's lesson to a detective's scene and back to the trail.</a:t>
            </a:r>
          </a:p>
        </p:txBody>
      </p:sp>
      <p:sp>
        <p:nvSpPr>
          <p:cNvPr id="9" name="TextBox 8"/>
          <p:cNvSpPr txBox="1"/>
          <p:nvPr/>
        </p:nvSpPr>
        <p:spPr>
          <a:xfrm>
            <a:off x="640080" y="5852160"/>
            <a:ext cx="10058400" cy="457200"/>
          </a:xfrm>
          <a:prstGeom prst="rect">
            <a:avLst/>
          </a:prstGeom>
          <a:noFill/>
        </p:spPr>
        <p:txBody>
          <a:bodyPr wrap="square" anchor="t">
            <a:spAutoFit/>
          </a:bodyPr>
          <a:lstStyle/>
          <a:p>
            <a:pPr algn="l"/>
            <a:r>
              <a:rPr sz="1300" b="1">
                <a:solidFill>
                  <a:srgbClr val="83876F"/>
                </a:solidFill>
                <a:latin typeface="Calibri"/>
              </a:rPr>
              <a:t>Sam Osborne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00"/>
                                        <p:tgtEl>
                                          <p:spTgt spid="7"/>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3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34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01</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Where the Skill Comes From</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3401F"/>
                </a:solidFill>
                <a:latin typeface="Calibri"/>
              </a:rPr>
              <a:t>Learned tracking with a grandfather</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C2E26"/>
                </a:solidFill>
                <a:latin typeface="Calibri"/>
              </a:rPr>
              <a:t>The instinct for terrain was picked up across a lifetime in the high desert, first walking the Zuni Mountains as a boy. It was never a class. It was hours of being shown what to look at.</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3401F"/>
                </a:solidFill>
                <a:latin typeface="Calibri"/>
              </a:rPr>
              <a:t>Pinyon and juniper country</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C2E26"/>
                </a:solidFill>
                <a:latin typeface="Calibri"/>
              </a:rPr>
              <a:t>The backyard runs straight into pinyon and juniper. The same ground that is prime telescope country at night is a working classroom for sign and track by day.</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3401F"/>
                </a:solidFill>
                <a:latin typeface="Calibri"/>
              </a:rPr>
              <a:t>Two or three days a week</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C2E26"/>
                </a:solidFill>
                <a:latin typeface="Calibri"/>
              </a:rPr>
              <a:t>Hiking the Zuni Mountains stays a steady habit, two or three times a week when a case allows. The legs keep the eye sharp. The eye is the part that matters.</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3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34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02</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Reading the Ground</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3401F"/>
                </a:solidFill>
                <a:latin typeface="Calibri"/>
              </a:rPr>
              <a:t>Sign, not just footprints</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C2E26"/>
                </a:solidFill>
                <a:latin typeface="Calibri"/>
              </a:rPr>
              <a:t>A disturbed stone, a bent stem, a scuff in the caliche. Track reading is mostly noticing what is out of place, the way a flaw in a stone setting jumps out on the bench.</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3401F"/>
                </a:solidFill>
                <a:latin typeface="Calibri"/>
              </a:rPr>
              <a:t>Light and time of day</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C2E26"/>
                </a:solidFill>
                <a:latin typeface="Calibri"/>
              </a:rPr>
              <a:t>Low side light at early morning or late afternoon throws every depression into relief. The same track invisible at noon reads clean at six. You work with the sun, not against it.</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3401F"/>
                </a:solidFill>
                <a:latin typeface="Calibri"/>
              </a:rPr>
              <a:t>Aging the trail</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C2E26"/>
                </a:solidFill>
                <a:latin typeface="Calibri"/>
              </a:rPr>
              <a:t>Weather, wind, and crumbled edges tell you how old a track is. A fresh edge after a windless night is recent. A wind-softened one had time to sit. Age changes everything you do next.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3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34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03</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Moving Safe in Open Country</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3401F"/>
                </a:solidFill>
                <a:latin typeface="Calibri"/>
              </a:rPr>
              <a:t>Water and distance</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C2E26"/>
                </a:solidFill>
                <a:latin typeface="Calibri"/>
              </a:rPr>
              <a:t>Rural distances are real out here. Gas runs about 350 dollars a month for a reason. On foot you carry more water than feels necessary and you tell someone the route before you go.</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3401F"/>
                </a:solidFill>
                <a:latin typeface="Calibri"/>
              </a:rPr>
              <a:t>Copper on point</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C2E26"/>
                </a:solidFill>
                <a:latin typeface="Calibri"/>
              </a:rPr>
              <a:t>The Australian Shepherd works the country alongside the boots, seven years old and tireless. A working dog reads scent the eye cannot and flushes what a track only suggests.</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3401F"/>
                </a:solidFill>
                <a:latin typeface="Calibri"/>
              </a:rPr>
              <a:t>Weather is the deciding vote</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C2E26"/>
                </a:solidFill>
                <a:latin typeface="Calibri"/>
              </a:rPr>
              <a:t>A dust storm changes a plan without asking. Reading the sky in the high desert is the first safety skill, ahead of any map. When the weather says turn back, you turn back.</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3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34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04</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From the Trail to the Case File</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3401F"/>
                </a:solidFill>
                <a:latin typeface="Calibri"/>
              </a:rPr>
              <a:t>The scene is terrain too</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C2E26"/>
                </a:solidFill>
                <a:latin typeface="Calibri"/>
              </a:rPr>
              <a:t>An outdoor crime scene is a patch of ground to be read like any other. Where someone walked, where they stopped, where they did not go. The trail skill maps straight onto the file.</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3401F"/>
                </a:solidFill>
                <a:latin typeface="Calibri"/>
              </a:rPr>
              <a:t>Patience reads sign</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C2E26"/>
                </a:solidFill>
                <a:latin typeface="Calibri"/>
              </a:rPr>
              <a:t>Sign rewards the slow walker. The detective who hurries past a scene is the hiker who walks over the only clear track. The discipline is identical: slow down, look low, look twice.</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B05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3401F"/>
                </a:solidFill>
                <a:latin typeface="Calibri"/>
              </a:rPr>
              <a:t>Old ways, modern tools</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C2E26"/>
                </a:solidFill>
                <a:latin typeface="Calibri"/>
              </a:rPr>
              <a:t>Grandfather's eye and a handheld plotter sit in the same kit with no contradiction. Respect the tradition, use the technology, and let each cover what the other cannot.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theme/theme1.xml><?xml version="1.0" encoding="utf-8"?>
<a:theme xmlns:a="http://schemas.openxmlformats.org/drawingml/2006/main" name="Studio Theme">
  <a:themeElements>
    <a:clrScheme name="Stud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ud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Studio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Studio    Uighur"/>
        <a:font script="Geor" typeface="Sylfaen"/>
      </a:minorFont>
    </a:fontScheme>
    <a:fmtScheme name="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Document Editor</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Studio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Tracking and Terrain Reading in the Zuni Mountains</dc:title>
  <dc:subject/>
  <dc:creator>Sam Osborne</dc:creator>
  <cp:keywords/>
  <dc:description>generated using </dc:description>
  <cp:lastModifiedBy>Sam Osborne</cp:lastModifiedBy>
  <cp:revision>1</cp:revision>
  <dcterms:created xsi:type="dcterms:W3CDTF">2026-01-22T17:45:00Z</dcterms:created>
  <dcterms:modified xsi:type="dcterms:W3CDTF">2026-01-22T17:45:00Z</dcterms:modified>
  <cp:category/>
</cp:coreProperties>
</file>