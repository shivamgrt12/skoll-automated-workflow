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a:pPr>
            <a:r>
              <a:t>Sprint Times by Season (lower is faster)</a:t>
            </a:r>
          </a:p>
        </c:rich>
      </c:tx>
      <c:layout/>
      <c:overlay val="0"/>
    </c:title>
    <c:autoTitleDeleted val="0"/>
    <c:plotArea>
      <c:lineChart>
        <c:grouping val="standard"/>
        <c:varyColors val="0"/>
        <c:ser>
          <c:idx val="0"/>
          <c:order val="0"/>
          <c:tx>
            <c:strRef>
              <c:f>Sheet1!$B$1</c:f>
              <c:strCache>
                <c:ptCount val="1"/>
                <c:pt idx="0">
                  <c:v>100m Time (sec)</c:v>
                </c:pt>
              </c:strCache>
            </c:strRef>
          </c:tx>
          <c:cat>
            <c:strRef>
              <c:f>Sheet1!$A$2:$A$4</c:f>
              <c:strCache>
                <c:ptCount val="3"/>
                <c:pt idx="0">
                  <c:v>2024 (Freshman)</c:v>
                </c:pt>
                <c:pt idx="1">
                  <c:v>2025 (Sophomore)</c:v>
                </c:pt>
                <c:pt idx="2">
                  <c:v>2026 (Junior)</c:v>
                </c:pt>
              </c:strCache>
            </c:strRef>
          </c:cat>
          <c:val>
            <c:numRef>
              <c:f>Sheet1!$B$2:$B$4</c:f>
              <c:numCache>
                <c:formatCode>General</c:formatCode>
                <c:ptCount val="3"/>
                <c:pt idx="0">
                  <c:v>11.42</c:v>
                </c:pt>
                <c:pt idx="1">
                  <c:v>10.98</c:v>
                </c:pt>
                <c:pt idx="2">
                  <c:v>10.71</c:v>
                </c:pt>
              </c:numCache>
            </c:numRef>
          </c:val>
          <c:smooth val="0"/>
        </c:ser>
        <c:ser>
          <c:idx val="1"/>
          <c:order val="1"/>
          <c:tx>
            <c:strRef>
              <c:f>Sheet1!$C$1</c:f>
              <c:strCache>
                <c:ptCount val="1"/>
                <c:pt idx="0">
                  <c:v>200m Time (sec)</c:v>
                </c:pt>
              </c:strCache>
            </c:strRef>
          </c:tx>
          <c:cat>
            <c:strRef>
              <c:f>Sheet1!$A$2:$A$4</c:f>
              <c:strCache>
                <c:ptCount val="3"/>
                <c:pt idx="0">
                  <c:v>2024 (Freshman)</c:v>
                </c:pt>
                <c:pt idx="1">
                  <c:v>2025 (Sophomore)</c:v>
                </c:pt>
                <c:pt idx="2">
                  <c:v>2026 (Junior)</c:v>
                </c:pt>
              </c:strCache>
            </c:strRef>
          </c:cat>
          <c:val>
            <c:numRef>
              <c:f>Sheet1!$C$2:$C$4</c:f>
              <c:numCache>
                <c:formatCode>General</c:formatCode>
                <c:ptCount val="3"/>
                <c:pt idx="0">
                  <c:v>23.1</c:v>
                </c:pt>
                <c:pt idx="1">
                  <c:v>22.34</c:v>
                </c:pt>
                <c:pt idx="2">
                  <c:v>21.53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Hurdles Progression</a:t>
            </a:r>
          </a:p>
        </c:rich>
      </c:tx>
      <c:layout/>
      <c:overlay val="0"/>
    </c:title>
    <c:autoTitleDeleted val="0"/>
    <c:plotArea>
      <c:barChart>
        <c:barDir val="bar"/>
        <c:grouping val="clustered"/>
        <c:ser>
          <c:idx val="0"/>
          <c:order val="0"/>
          <c:tx>
            <c:strRef>
              <c:f>Sheet1!$B$1</c:f>
              <c:strCache>
                <c:ptCount val="1"/>
                <c:pt idx="0">
                  <c:v>110m Hurdles (sec)</c:v>
                </c:pt>
              </c:strCache>
            </c:strRef>
          </c:tx>
          <c:cat>
            <c:strRef>
              <c:f>Sheet1!$A$2:$A$3</c:f>
              <c:strCache>
                <c:ptCount val="2"/>
                <c:pt idx="0">
                  <c:v>2025 (Sophomore)</c:v>
                </c:pt>
                <c:pt idx="1">
                  <c:v>2026 (Junior)</c:v>
                </c:pt>
              </c:strCache>
            </c:strRef>
          </c:cat>
          <c:val>
            <c:numRef>
              <c:f>Sheet1!$B$2:$B$3</c:f>
              <c:numCache>
                <c:formatCode>General</c:formatCode>
                <c:ptCount val="2"/>
                <c:pt idx="0">
                  <c:v>15.12</c:v>
                </c:pt>
                <c:pt idx="1">
                  <c:v>14.28</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55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CCA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822960"/>
          </a:xfrm>
          <a:prstGeom prst="rect">
            <a:avLst/>
          </a:prstGeom>
          <a:noFill/>
        </p:spPr>
        <p:txBody>
          <a:bodyPr wrap="square">
            <a:spAutoFit/>
          </a:bodyPr>
          <a:lstStyle/>
          <a:p>
            <a:pPr algn="ctr"/>
            <a:r>
              <a:rPr sz="2200" b="1">
                <a:solidFill>
                  <a:srgbClr val="0F255A"/>
                </a:solidFill>
              </a:rPr>
              <a:t>CRESTWOOD TRACK &amp; FIELD</a:t>
            </a:r>
          </a:p>
        </p:txBody>
      </p:sp>
      <p:sp>
        <p:nvSpPr>
          <p:cNvPr id="4" name="TextBox 3"/>
          <p:cNvSpPr txBox="1"/>
          <p:nvPr/>
        </p:nvSpPr>
        <p:spPr>
          <a:xfrm>
            <a:off x="365760" y="1371600"/>
            <a:ext cx="10972800" cy="640080"/>
          </a:xfrm>
          <a:prstGeom prst="rect">
            <a:avLst/>
          </a:prstGeom>
          <a:noFill/>
        </p:spPr>
        <p:txBody>
          <a:bodyPr wrap="square">
            <a:spAutoFit/>
          </a:bodyPr>
          <a:lstStyle/>
          <a:p>
            <a:pPr algn="ctr"/>
            <a:r>
              <a:rPr sz="1400" b="0">
                <a:solidFill>
                  <a:srgbClr val="CCA01D"/>
                </a:solidFill>
              </a:rPr>
              <a:t>DIVISION I RECRUITING PROFILE</a:t>
            </a:r>
          </a:p>
        </p:txBody>
      </p:sp>
      <p:sp>
        <p:nvSpPr>
          <p:cNvPr id="5" name="Rectangle 4"/>
          <p:cNvSpPr/>
          <p:nvPr/>
        </p:nvSpPr>
        <p:spPr>
          <a:xfrm>
            <a:off x="3200400" y="2194560"/>
            <a:ext cx="5790895" cy="54864"/>
          </a:xfrm>
          <a:prstGeom prst="rect">
            <a:avLst/>
          </a:prstGeom>
          <a:solidFill>
            <a:srgbClr val="CCA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377440"/>
            <a:ext cx="10972800" cy="1005840"/>
          </a:xfrm>
          <a:prstGeom prst="rect">
            <a:avLst/>
          </a:prstGeom>
          <a:noFill/>
        </p:spPr>
        <p:txBody>
          <a:bodyPr wrap="square">
            <a:spAutoFit/>
          </a:bodyPr>
          <a:lstStyle/>
          <a:p>
            <a:pPr algn="ctr"/>
            <a:r>
              <a:rPr sz="4200" b="1">
                <a:solidFill>
                  <a:srgbClr val="FFFFFF"/>
                </a:solidFill>
              </a:rPr>
              <a:t>Devon Marcus Mitchell</a:t>
            </a:r>
          </a:p>
        </p:txBody>
      </p:sp>
      <p:sp>
        <p:nvSpPr>
          <p:cNvPr id="7" name="TextBox 6"/>
          <p:cNvSpPr txBox="1"/>
          <p:nvPr/>
        </p:nvSpPr>
        <p:spPr>
          <a:xfrm>
            <a:off x="365760" y="3566160"/>
            <a:ext cx="10972800" cy="548640"/>
          </a:xfrm>
          <a:prstGeom prst="rect">
            <a:avLst/>
          </a:prstGeom>
          <a:noFill/>
        </p:spPr>
        <p:txBody>
          <a:bodyPr wrap="square">
            <a:spAutoFit/>
          </a:bodyPr>
          <a:lstStyle/>
          <a:p>
            <a:pPr algn="ctr"/>
            <a:r>
              <a:rPr sz="1600" b="0">
                <a:solidFill>
                  <a:srgbClr val="C8D2EB"/>
                </a:solidFill>
              </a:rPr>
              <a:t>Sprint and Hurdles  |  Class of 2027  |  Birmingham, Alabama</a:t>
            </a:r>
          </a:p>
        </p:txBody>
      </p:sp>
      <p:sp>
        <p:nvSpPr>
          <p:cNvPr id="8" name="TextBox 7"/>
          <p:cNvSpPr txBox="1"/>
          <p:nvPr/>
        </p:nvSpPr>
        <p:spPr>
          <a:xfrm>
            <a:off x="365760" y="5029200"/>
            <a:ext cx="10972800" cy="1097280"/>
          </a:xfrm>
          <a:prstGeom prst="rect">
            <a:avLst/>
          </a:prstGeom>
          <a:noFill/>
        </p:spPr>
        <p:txBody>
          <a:bodyPr wrap="square">
            <a:spAutoFit/>
          </a:bodyPr>
          <a:lstStyle/>
          <a:p>
            <a:pPr algn="ctr"/>
            <a:r>
              <a:rPr sz="1200" b="0">
                <a:solidFill>
                  <a:srgbClr val="B4C3DC"/>
                </a:solidFill>
              </a:rPr>
              <a:t>Prepared by Shannon D. Perry, DPT, SCS
Head Track and Field Coach, Crestwood High School
Contact: (205) 555-0291  |  shannon.perry@Finthesiss.ai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2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ATHLETIC PROFILE</a:t>
            </a:r>
          </a:p>
        </p:txBody>
      </p:sp>
      <p:sp>
        <p:nvSpPr>
          <p:cNvPr id="4" name="Rectangle 3"/>
          <p:cNvSpPr/>
          <p:nvPr/>
        </p:nvSpPr>
        <p:spPr>
          <a:xfrm>
            <a:off x="365760" y="1097280"/>
            <a:ext cx="3474720" cy="5029200"/>
          </a:xfrm>
          <a:prstGeom prst="rect">
            <a:avLst/>
          </a:prstGeom>
          <a:solidFill>
            <a:srgbClr val="0F2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3291840" cy="457200"/>
          </a:xfrm>
          <a:prstGeom prst="rect">
            <a:avLst/>
          </a:prstGeom>
          <a:noFill/>
        </p:spPr>
        <p:txBody>
          <a:bodyPr wrap="square">
            <a:spAutoFit/>
          </a:bodyPr>
          <a:lstStyle/>
          <a:p>
            <a:pPr algn="l"/>
            <a:r>
              <a:rPr sz="1300" b="1">
                <a:solidFill>
                  <a:srgbClr val="CCA01D"/>
                </a:solidFill>
              </a:rPr>
              <a:t>ATHLETE SNAPSHOT</a:t>
            </a:r>
          </a:p>
        </p:txBody>
      </p:sp>
      <p:sp>
        <p:nvSpPr>
          <p:cNvPr id="6" name="TextBox 5"/>
          <p:cNvSpPr txBox="1"/>
          <p:nvPr/>
        </p:nvSpPr>
        <p:spPr>
          <a:xfrm>
            <a:off x="502920" y="1828800"/>
            <a:ext cx="1371600" cy="347472"/>
          </a:xfrm>
          <a:prstGeom prst="rect">
            <a:avLst/>
          </a:prstGeom>
          <a:noFill/>
        </p:spPr>
        <p:txBody>
          <a:bodyPr wrap="square">
            <a:spAutoFit/>
          </a:bodyPr>
          <a:lstStyle/>
          <a:p>
            <a:pPr algn="l"/>
            <a:r>
              <a:rPr sz="1000" b="1">
                <a:solidFill>
                  <a:srgbClr val="CCA01D"/>
                </a:solidFill>
              </a:rPr>
              <a:t>Name:</a:t>
            </a:r>
          </a:p>
        </p:txBody>
      </p:sp>
      <p:sp>
        <p:nvSpPr>
          <p:cNvPr id="7" name="TextBox 6"/>
          <p:cNvSpPr txBox="1"/>
          <p:nvPr/>
        </p:nvSpPr>
        <p:spPr>
          <a:xfrm>
            <a:off x="1920240" y="1828800"/>
            <a:ext cx="1828800" cy="347472"/>
          </a:xfrm>
          <a:prstGeom prst="rect">
            <a:avLst/>
          </a:prstGeom>
          <a:noFill/>
        </p:spPr>
        <p:txBody>
          <a:bodyPr wrap="square">
            <a:spAutoFit/>
          </a:bodyPr>
          <a:lstStyle/>
          <a:p>
            <a:pPr algn="l"/>
            <a:r>
              <a:rPr sz="1000" b="0">
                <a:solidFill>
                  <a:srgbClr val="FFFFFF"/>
                </a:solidFill>
              </a:rPr>
              <a:t>Devon Marcus Mitchell</a:t>
            </a:r>
          </a:p>
        </p:txBody>
      </p:sp>
      <p:sp>
        <p:nvSpPr>
          <p:cNvPr id="8" name="TextBox 7"/>
          <p:cNvSpPr txBox="1"/>
          <p:nvPr/>
        </p:nvSpPr>
        <p:spPr>
          <a:xfrm>
            <a:off x="502920" y="2185416"/>
            <a:ext cx="1371600" cy="347472"/>
          </a:xfrm>
          <a:prstGeom prst="rect">
            <a:avLst/>
          </a:prstGeom>
          <a:noFill/>
        </p:spPr>
        <p:txBody>
          <a:bodyPr wrap="square">
            <a:spAutoFit/>
          </a:bodyPr>
          <a:lstStyle/>
          <a:p>
            <a:pPr algn="l"/>
            <a:r>
              <a:rPr sz="1000" b="1">
                <a:solidFill>
                  <a:srgbClr val="CCA01D"/>
                </a:solidFill>
              </a:rPr>
              <a:t>DOB:</a:t>
            </a:r>
          </a:p>
        </p:txBody>
      </p:sp>
      <p:sp>
        <p:nvSpPr>
          <p:cNvPr id="9" name="TextBox 8"/>
          <p:cNvSpPr txBox="1"/>
          <p:nvPr/>
        </p:nvSpPr>
        <p:spPr>
          <a:xfrm>
            <a:off x="1920240" y="2185416"/>
            <a:ext cx="1828800" cy="347472"/>
          </a:xfrm>
          <a:prstGeom prst="rect">
            <a:avLst/>
          </a:prstGeom>
          <a:noFill/>
        </p:spPr>
        <p:txBody>
          <a:bodyPr wrap="square">
            <a:spAutoFit/>
          </a:bodyPr>
          <a:lstStyle/>
          <a:p>
            <a:pPr algn="l"/>
            <a:r>
              <a:rPr sz="1000" b="0">
                <a:solidFill>
                  <a:srgbClr val="FFFFFF"/>
                </a:solidFill>
              </a:rPr>
              <a:t>February 3, 2009</a:t>
            </a:r>
          </a:p>
        </p:txBody>
      </p:sp>
      <p:sp>
        <p:nvSpPr>
          <p:cNvPr id="10" name="TextBox 9"/>
          <p:cNvSpPr txBox="1"/>
          <p:nvPr/>
        </p:nvSpPr>
        <p:spPr>
          <a:xfrm>
            <a:off x="502920" y="2542032"/>
            <a:ext cx="1371600" cy="347472"/>
          </a:xfrm>
          <a:prstGeom prst="rect">
            <a:avLst/>
          </a:prstGeom>
          <a:noFill/>
        </p:spPr>
        <p:txBody>
          <a:bodyPr wrap="square">
            <a:spAutoFit/>
          </a:bodyPr>
          <a:lstStyle/>
          <a:p>
            <a:pPr algn="l"/>
            <a:r>
              <a:rPr sz="1000" b="1">
                <a:solidFill>
                  <a:srgbClr val="CCA01D"/>
                </a:solidFill>
              </a:rPr>
              <a:t>Height:</a:t>
            </a:r>
          </a:p>
        </p:txBody>
      </p:sp>
      <p:sp>
        <p:nvSpPr>
          <p:cNvPr id="11" name="TextBox 10"/>
          <p:cNvSpPr txBox="1"/>
          <p:nvPr/>
        </p:nvSpPr>
        <p:spPr>
          <a:xfrm>
            <a:off x="1920240" y="2542032"/>
            <a:ext cx="1828800" cy="347472"/>
          </a:xfrm>
          <a:prstGeom prst="rect">
            <a:avLst/>
          </a:prstGeom>
          <a:noFill/>
        </p:spPr>
        <p:txBody>
          <a:bodyPr wrap="square">
            <a:spAutoFit/>
          </a:bodyPr>
          <a:lstStyle/>
          <a:p>
            <a:pPr algn="l"/>
            <a:r>
              <a:rPr sz="1000" b="0">
                <a:solidFill>
                  <a:srgbClr val="FFFFFF"/>
                </a:solidFill>
              </a:rPr>
              <a:t>5 ft 11 in</a:t>
            </a:r>
          </a:p>
        </p:txBody>
      </p:sp>
      <p:sp>
        <p:nvSpPr>
          <p:cNvPr id="12" name="TextBox 11"/>
          <p:cNvSpPr txBox="1"/>
          <p:nvPr/>
        </p:nvSpPr>
        <p:spPr>
          <a:xfrm>
            <a:off x="502920" y="2898648"/>
            <a:ext cx="1371600" cy="347472"/>
          </a:xfrm>
          <a:prstGeom prst="rect">
            <a:avLst/>
          </a:prstGeom>
          <a:noFill/>
        </p:spPr>
        <p:txBody>
          <a:bodyPr wrap="square">
            <a:spAutoFit/>
          </a:bodyPr>
          <a:lstStyle/>
          <a:p>
            <a:pPr algn="l"/>
            <a:r>
              <a:rPr sz="1000" b="1">
                <a:solidFill>
                  <a:srgbClr val="CCA01D"/>
                </a:solidFill>
              </a:rPr>
              <a:t>Weight:</a:t>
            </a:r>
          </a:p>
        </p:txBody>
      </p:sp>
      <p:sp>
        <p:nvSpPr>
          <p:cNvPr id="13" name="TextBox 12"/>
          <p:cNvSpPr txBox="1"/>
          <p:nvPr/>
        </p:nvSpPr>
        <p:spPr>
          <a:xfrm>
            <a:off x="1920240" y="2898648"/>
            <a:ext cx="1828800" cy="347472"/>
          </a:xfrm>
          <a:prstGeom prst="rect">
            <a:avLst/>
          </a:prstGeom>
          <a:noFill/>
        </p:spPr>
        <p:txBody>
          <a:bodyPr wrap="square">
            <a:spAutoFit/>
          </a:bodyPr>
          <a:lstStyle/>
          <a:p>
            <a:pPr algn="l"/>
            <a:r>
              <a:rPr sz="1000" b="0">
                <a:solidFill>
                  <a:srgbClr val="FFFFFF"/>
                </a:solidFill>
              </a:rPr>
              <a:t>168 lbs</a:t>
            </a:r>
          </a:p>
        </p:txBody>
      </p:sp>
      <p:sp>
        <p:nvSpPr>
          <p:cNvPr id="14" name="TextBox 13"/>
          <p:cNvSpPr txBox="1"/>
          <p:nvPr/>
        </p:nvSpPr>
        <p:spPr>
          <a:xfrm>
            <a:off x="502920" y="3255264"/>
            <a:ext cx="1371600" cy="347472"/>
          </a:xfrm>
          <a:prstGeom prst="rect">
            <a:avLst/>
          </a:prstGeom>
          <a:noFill/>
        </p:spPr>
        <p:txBody>
          <a:bodyPr wrap="square">
            <a:spAutoFit/>
          </a:bodyPr>
          <a:lstStyle/>
          <a:p>
            <a:pPr algn="l"/>
            <a:r>
              <a:rPr sz="1000" b="1">
                <a:solidFill>
                  <a:srgbClr val="CCA01D"/>
                </a:solidFill>
              </a:rPr>
              <a:t>Class:</a:t>
            </a:r>
          </a:p>
        </p:txBody>
      </p:sp>
      <p:sp>
        <p:nvSpPr>
          <p:cNvPr id="15" name="TextBox 14"/>
          <p:cNvSpPr txBox="1"/>
          <p:nvPr/>
        </p:nvSpPr>
        <p:spPr>
          <a:xfrm>
            <a:off x="1920240" y="3255264"/>
            <a:ext cx="1828800" cy="347472"/>
          </a:xfrm>
          <a:prstGeom prst="rect">
            <a:avLst/>
          </a:prstGeom>
          <a:noFill/>
        </p:spPr>
        <p:txBody>
          <a:bodyPr wrap="square">
            <a:spAutoFit/>
          </a:bodyPr>
          <a:lstStyle/>
          <a:p>
            <a:pPr algn="l"/>
            <a:r>
              <a:rPr sz="1000" b="0">
                <a:solidFill>
                  <a:srgbClr val="FFFFFF"/>
                </a:solidFill>
              </a:rPr>
              <a:t>2027</a:t>
            </a:r>
          </a:p>
        </p:txBody>
      </p:sp>
      <p:sp>
        <p:nvSpPr>
          <p:cNvPr id="16" name="TextBox 15"/>
          <p:cNvSpPr txBox="1"/>
          <p:nvPr/>
        </p:nvSpPr>
        <p:spPr>
          <a:xfrm>
            <a:off x="502920" y="3611880"/>
            <a:ext cx="1371600" cy="347472"/>
          </a:xfrm>
          <a:prstGeom prst="rect">
            <a:avLst/>
          </a:prstGeom>
          <a:noFill/>
        </p:spPr>
        <p:txBody>
          <a:bodyPr wrap="square">
            <a:spAutoFit/>
          </a:bodyPr>
          <a:lstStyle/>
          <a:p>
            <a:pPr algn="l"/>
            <a:r>
              <a:rPr sz="1000" b="1">
                <a:solidFill>
                  <a:srgbClr val="CCA01D"/>
                </a:solidFill>
              </a:rPr>
              <a:t>GPA:</a:t>
            </a:r>
          </a:p>
        </p:txBody>
      </p:sp>
      <p:sp>
        <p:nvSpPr>
          <p:cNvPr id="17" name="TextBox 16"/>
          <p:cNvSpPr txBox="1"/>
          <p:nvPr/>
        </p:nvSpPr>
        <p:spPr>
          <a:xfrm>
            <a:off x="1920240" y="3611880"/>
            <a:ext cx="1828800" cy="347472"/>
          </a:xfrm>
          <a:prstGeom prst="rect">
            <a:avLst/>
          </a:prstGeom>
          <a:noFill/>
        </p:spPr>
        <p:txBody>
          <a:bodyPr wrap="square">
            <a:spAutoFit/>
          </a:bodyPr>
          <a:lstStyle/>
          <a:p>
            <a:pPr algn="l"/>
            <a:r>
              <a:rPr sz="1000" b="0">
                <a:solidFill>
                  <a:srgbClr val="FFFFFF"/>
                </a:solidFill>
              </a:rPr>
              <a:t>3.4 / 4.0</a:t>
            </a:r>
          </a:p>
        </p:txBody>
      </p:sp>
      <p:sp>
        <p:nvSpPr>
          <p:cNvPr id="18" name="TextBox 17"/>
          <p:cNvSpPr txBox="1"/>
          <p:nvPr/>
        </p:nvSpPr>
        <p:spPr>
          <a:xfrm>
            <a:off x="502920" y="3968496"/>
            <a:ext cx="1371600" cy="347472"/>
          </a:xfrm>
          <a:prstGeom prst="rect">
            <a:avLst/>
          </a:prstGeom>
          <a:noFill/>
        </p:spPr>
        <p:txBody>
          <a:bodyPr wrap="square">
            <a:spAutoFit/>
          </a:bodyPr>
          <a:lstStyle/>
          <a:p>
            <a:pPr algn="l"/>
            <a:r>
              <a:rPr sz="1000" b="1">
                <a:solidFill>
                  <a:srgbClr val="CCA01D"/>
                </a:solidFill>
              </a:rPr>
              <a:t>School:</a:t>
            </a:r>
          </a:p>
        </p:txBody>
      </p:sp>
      <p:sp>
        <p:nvSpPr>
          <p:cNvPr id="19" name="TextBox 18"/>
          <p:cNvSpPr txBox="1"/>
          <p:nvPr/>
        </p:nvSpPr>
        <p:spPr>
          <a:xfrm>
            <a:off x="1920240" y="3968496"/>
            <a:ext cx="1828800" cy="347472"/>
          </a:xfrm>
          <a:prstGeom prst="rect">
            <a:avLst/>
          </a:prstGeom>
          <a:noFill/>
        </p:spPr>
        <p:txBody>
          <a:bodyPr wrap="square">
            <a:spAutoFit/>
          </a:bodyPr>
          <a:lstStyle/>
          <a:p>
            <a:pPr algn="l"/>
            <a:r>
              <a:rPr sz="1000" b="0">
                <a:solidFill>
                  <a:srgbClr val="FFFFFF"/>
                </a:solidFill>
              </a:rPr>
              <a:t>Crestwood High School</a:t>
            </a:r>
          </a:p>
        </p:txBody>
      </p:sp>
      <p:sp>
        <p:nvSpPr>
          <p:cNvPr id="20" name="TextBox 19"/>
          <p:cNvSpPr txBox="1"/>
          <p:nvPr/>
        </p:nvSpPr>
        <p:spPr>
          <a:xfrm>
            <a:off x="502920" y="4325112"/>
            <a:ext cx="1371600" cy="347472"/>
          </a:xfrm>
          <a:prstGeom prst="rect">
            <a:avLst/>
          </a:prstGeom>
          <a:noFill/>
        </p:spPr>
        <p:txBody>
          <a:bodyPr wrap="square">
            <a:spAutoFit/>
          </a:bodyPr>
          <a:lstStyle/>
          <a:p>
            <a:pPr algn="l"/>
            <a:r>
              <a:rPr sz="1000" b="1">
                <a:solidFill>
                  <a:srgbClr val="CCA01D"/>
                </a:solidFill>
              </a:rPr>
              <a:t>City:</a:t>
            </a:r>
          </a:p>
        </p:txBody>
      </p:sp>
      <p:sp>
        <p:nvSpPr>
          <p:cNvPr id="21" name="TextBox 20"/>
          <p:cNvSpPr txBox="1"/>
          <p:nvPr/>
        </p:nvSpPr>
        <p:spPr>
          <a:xfrm>
            <a:off x="1920240" y="4325112"/>
            <a:ext cx="1828800" cy="347472"/>
          </a:xfrm>
          <a:prstGeom prst="rect">
            <a:avLst/>
          </a:prstGeom>
          <a:noFill/>
        </p:spPr>
        <p:txBody>
          <a:bodyPr wrap="square">
            <a:spAutoFit/>
          </a:bodyPr>
          <a:lstStyle/>
          <a:p>
            <a:pPr algn="l"/>
            <a:r>
              <a:rPr sz="1000" b="0">
                <a:solidFill>
                  <a:srgbClr val="FFFFFF"/>
                </a:solidFill>
              </a:rPr>
              <a:t>Birmingham, AL</a:t>
            </a:r>
          </a:p>
        </p:txBody>
      </p:sp>
      <p:sp>
        <p:nvSpPr>
          <p:cNvPr id="22" name="TextBox 21"/>
          <p:cNvSpPr txBox="1"/>
          <p:nvPr/>
        </p:nvSpPr>
        <p:spPr>
          <a:xfrm>
            <a:off x="502920" y="4681728"/>
            <a:ext cx="1371600" cy="347472"/>
          </a:xfrm>
          <a:prstGeom prst="rect">
            <a:avLst/>
          </a:prstGeom>
          <a:noFill/>
        </p:spPr>
        <p:txBody>
          <a:bodyPr wrap="square">
            <a:spAutoFit/>
          </a:bodyPr>
          <a:lstStyle/>
          <a:p>
            <a:pPr algn="l"/>
            <a:r>
              <a:rPr sz="1000" b="1">
                <a:solidFill>
                  <a:srgbClr val="CCA01D"/>
                </a:solidFill>
              </a:rPr>
              <a:t>Events:</a:t>
            </a:r>
          </a:p>
        </p:txBody>
      </p:sp>
      <p:sp>
        <p:nvSpPr>
          <p:cNvPr id="23" name="TextBox 22"/>
          <p:cNvSpPr txBox="1"/>
          <p:nvPr/>
        </p:nvSpPr>
        <p:spPr>
          <a:xfrm>
            <a:off x="1920240" y="4681728"/>
            <a:ext cx="1828800" cy="347472"/>
          </a:xfrm>
          <a:prstGeom prst="rect">
            <a:avLst/>
          </a:prstGeom>
          <a:noFill/>
        </p:spPr>
        <p:txBody>
          <a:bodyPr wrap="square">
            <a:spAutoFit/>
          </a:bodyPr>
          <a:lstStyle/>
          <a:p>
            <a:pPr algn="l"/>
            <a:r>
              <a:rPr sz="1000" b="0">
                <a:solidFill>
                  <a:srgbClr val="FFFFFF"/>
                </a:solidFill>
              </a:rPr>
              <a:t>100m, 200m, 110mH, 4x100</a:t>
            </a:r>
          </a:p>
        </p:txBody>
      </p:sp>
      <p:sp>
        <p:nvSpPr>
          <p:cNvPr id="24" name="TextBox 23"/>
          <p:cNvSpPr txBox="1"/>
          <p:nvPr/>
        </p:nvSpPr>
        <p:spPr>
          <a:xfrm>
            <a:off x="502920" y="5038344"/>
            <a:ext cx="1371600" cy="347472"/>
          </a:xfrm>
          <a:prstGeom prst="rect">
            <a:avLst/>
          </a:prstGeom>
          <a:noFill/>
        </p:spPr>
        <p:txBody>
          <a:bodyPr wrap="square">
            <a:spAutoFit/>
          </a:bodyPr>
          <a:lstStyle/>
          <a:p>
            <a:pPr algn="l"/>
            <a:r>
              <a:rPr sz="1000" b="1">
                <a:solidFill>
                  <a:srgbClr val="CCA01D"/>
                </a:solidFill>
              </a:rPr>
              <a:t>Coach:</a:t>
            </a:r>
          </a:p>
        </p:txBody>
      </p:sp>
      <p:sp>
        <p:nvSpPr>
          <p:cNvPr id="25" name="TextBox 24"/>
          <p:cNvSpPr txBox="1"/>
          <p:nvPr/>
        </p:nvSpPr>
        <p:spPr>
          <a:xfrm>
            <a:off x="1920240" y="5038344"/>
            <a:ext cx="1828800" cy="347472"/>
          </a:xfrm>
          <a:prstGeom prst="rect">
            <a:avLst/>
          </a:prstGeom>
          <a:noFill/>
        </p:spPr>
        <p:txBody>
          <a:bodyPr wrap="square">
            <a:spAutoFit/>
          </a:bodyPr>
          <a:lstStyle/>
          <a:p>
            <a:pPr algn="l"/>
            <a:r>
              <a:rPr sz="1000" b="0">
                <a:solidFill>
                  <a:srgbClr val="FFFFFF"/>
                </a:solidFill>
              </a:rPr>
              <a:t>Shannon Perry, DPT</a:t>
            </a:r>
          </a:p>
        </p:txBody>
      </p:sp>
      <p:sp>
        <p:nvSpPr>
          <p:cNvPr id="26" name="TextBox 25"/>
          <p:cNvSpPr txBox="1"/>
          <p:nvPr/>
        </p:nvSpPr>
        <p:spPr>
          <a:xfrm>
            <a:off x="4297680" y="1097280"/>
            <a:ext cx="7498079" cy="411480"/>
          </a:xfrm>
          <a:prstGeom prst="rect">
            <a:avLst/>
          </a:prstGeom>
          <a:noFill/>
        </p:spPr>
        <p:txBody>
          <a:bodyPr wrap="square">
            <a:spAutoFit/>
          </a:bodyPr>
          <a:lstStyle/>
          <a:p>
            <a:pPr algn="l"/>
            <a:r>
              <a:rPr sz="1400" b="1">
                <a:solidFill>
                  <a:srgbClr val="0F255A"/>
                </a:solidFill>
              </a:rPr>
              <a:t>PERSONAL RECORDS</a:t>
            </a:r>
          </a:p>
        </p:txBody>
      </p:sp>
      <p:graphicFrame>
        <p:nvGraphicFramePr>
          <p:cNvPr id="27" name="Table 26"/>
          <p:cNvGraphicFramePr>
            <a:graphicFrameLocks noGrp="1"/>
          </p:cNvGraphicFramePr>
          <p:nvPr/>
        </p:nvGraphicFramePr>
        <p:xfrm>
          <a:off x="4297680" y="1600200"/>
          <a:ext cx="7498079" cy="2103120"/>
        </p:xfrm>
        <a:graphic>
          <a:graphicData uri="http://schemas.openxmlformats.org/drawingml/2006/table">
            <a:tbl>
              <a:tblPr firstRow="1" bandRow="1">
                <a:tableStyleId>{5C22544A-7EE6-4342-B048-85BDC9FD1C3A}</a:tableStyleId>
              </a:tblPr>
              <a:tblGrid>
                <a:gridCol w="1874519"/>
                <a:gridCol w="1874519"/>
                <a:gridCol w="1874519"/>
                <a:gridCol w="1874522"/>
              </a:tblGrid>
              <a:tr h="420624">
                <a:tc>
                  <a:txBody>
                    <a:bodyPr/>
                    <a:lstStyle/>
                    <a:p>
                      <a:r>
                        <a:rPr b="1" sz="1100">
                          <a:solidFill>
                            <a:srgbClr val="FFFFFF"/>
                          </a:solidFill>
                        </a:rPr>
                        <a:t>Event</a:t>
                      </a:r>
                    </a:p>
                  </a:txBody>
                  <a:tcPr>
                    <a:solidFill>
                      <a:srgbClr val="0F255A"/>
                    </a:solidFill>
                  </a:tcPr>
                </a:tc>
                <a:tc>
                  <a:txBody>
                    <a:bodyPr/>
                    <a:lstStyle/>
                    <a:p>
                      <a:r>
                        <a:rPr b="1" sz="1100">
                          <a:solidFill>
                            <a:srgbClr val="FFFFFF"/>
                          </a:solidFill>
                        </a:rPr>
                        <a:t>Personal Best</a:t>
                      </a:r>
                    </a:p>
                  </a:txBody>
                  <a:tcPr>
                    <a:solidFill>
                      <a:srgbClr val="0F255A"/>
                    </a:solidFill>
                  </a:tcPr>
                </a:tc>
                <a:tc>
                  <a:txBody>
                    <a:bodyPr/>
                    <a:lstStyle/>
                    <a:p>
                      <a:r>
                        <a:rPr b="1" sz="1100">
                          <a:solidFill>
                            <a:srgbClr val="FFFFFF"/>
                          </a:solidFill>
                        </a:rPr>
                        <a:t>Season Best (2026)</a:t>
                      </a:r>
                    </a:p>
                  </a:txBody>
                  <a:tcPr>
                    <a:solidFill>
                      <a:srgbClr val="0F255A"/>
                    </a:solidFill>
                  </a:tcPr>
                </a:tc>
                <a:tc>
                  <a:txBody>
                    <a:bodyPr/>
                    <a:lstStyle/>
                    <a:p>
                      <a:r>
                        <a:rPr b="1" sz="1100">
                          <a:solidFill>
                            <a:srgbClr val="FFFFFF"/>
                          </a:solidFill>
                        </a:rPr>
                        <a:t>State Rank</a:t>
                      </a:r>
                    </a:p>
                  </a:txBody>
                  <a:tcPr>
                    <a:solidFill>
                      <a:srgbClr val="0F255A"/>
                    </a:solidFill>
                  </a:tcPr>
                </a:tc>
              </a:tr>
              <a:tr h="420624">
                <a:tc>
                  <a:txBody>
                    <a:bodyPr/>
                    <a:lstStyle/>
                    <a:p>
                      <a:r>
                        <a:rPr sz="1000"/>
                        <a:t>100m</a:t>
                      </a:r>
                    </a:p>
                  </a:txBody>
                  <a:tcPr>
                    <a:solidFill>
                      <a:srgbClr val="F5F7FC"/>
                    </a:solidFill>
                  </a:tcPr>
                </a:tc>
                <a:tc>
                  <a:txBody>
                    <a:bodyPr/>
                    <a:lstStyle/>
                    <a:p>
                      <a:r>
                        <a:rPr sz="1000"/>
                        <a:t>10.71s</a:t>
                      </a:r>
                    </a:p>
                  </a:txBody>
                  <a:tcPr>
                    <a:solidFill>
                      <a:srgbClr val="F5F7FC"/>
                    </a:solidFill>
                  </a:tcPr>
                </a:tc>
                <a:tc>
                  <a:txBody>
                    <a:bodyPr/>
                    <a:lstStyle/>
                    <a:p>
                      <a:r>
                        <a:rPr sz="1000"/>
                        <a:t>10.78s</a:t>
                      </a:r>
                    </a:p>
                  </a:txBody>
                  <a:tcPr>
                    <a:solidFill>
                      <a:srgbClr val="F5F7FC"/>
                    </a:solidFill>
                  </a:tcPr>
                </a:tc>
                <a:tc>
                  <a:txBody>
                    <a:bodyPr/>
                    <a:lstStyle/>
                    <a:p>
                      <a:r>
                        <a:rPr sz="1000"/>
                        <a:t>4th (6A)</a:t>
                      </a:r>
                    </a:p>
                  </a:txBody>
                  <a:tcPr>
                    <a:solidFill>
                      <a:srgbClr val="F5F7FC"/>
                    </a:solidFill>
                  </a:tcPr>
                </a:tc>
              </a:tr>
              <a:tr h="420624">
                <a:tc>
                  <a:txBody>
                    <a:bodyPr/>
                    <a:lstStyle/>
                    <a:p>
                      <a:r>
                        <a:rPr sz="1000"/>
                        <a:t>200m</a:t>
                      </a:r>
                    </a:p>
                  </a:txBody>
                  <a:tcPr>
                    <a:solidFill>
                      <a:srgbClr val="FFFFFF"/>
                    </a:solidFill>
                  </a:tcPr>
                </a:tc>
                <a:tc>
                  <a:txBody>
                    <a:bodyPr/>
                    <a:lstStyle/>
                    <a:p>
                      <a:r>
                        <a:rPr sz="1000"/>
                        <a:t>21.53s</a:t>
                      </a:r>
                    </a:p>
                  </a:txBody>
                  <a:tcPr>
                    <a:solidFill>
                      <a:srgbClr val="FFFFFF"/>
                    </a:solidFill>
                  </a:tcPr>
                </a:tc>
                <a:tc>
                  <a:txBody>
                    <a:bodyPr/>
                    <a:lstStyle/>
                    <a:p>
                      <a:r>
                        <a:rPr sz="1000"/>
                        <a:t>21.67s</a:t>
                      </a:r>
                    </a:p>
                  </a:txBody>
                  <a:tcPr>
                    <a:solidFill>
                      <a:srgbClr val="FFFFFF"/>
                    </a:solidFill>
                  </a:tcPr>
                </a:tc>
                <a:tc>
                  <a:txBody>
                    <a:bodyPr/>
                    <a:lstStyle/>
                    <a:p>
                      <a:r>
                        <a:rPr sz="1000"/>
                        <a:t>5th (6A)</a:t>
                      </a:r>
                    </a:p>
                  </a:txBody>
                  <a:tcPr>
                    <a:solidFill>
                      <a:srgbClr val="FFFFFF"/>
                    </a:solidFill>
                  </a:tcPr>
                </a:tc>
              </a:tr>
              <a:tr h="420624">
                <a:tc>
                  <a:txBody>
                    <a:bodyPr/>
                    <a:lstStyle/>
                    <a:p>
                      <a:r>
                        <a:rPr sz="1000"/>
                        <a:t>110m Hurdles</a:t>
                      </a:r>
                    </a:p>
                  </a:txBody>
                  <a:tcPr>
                    <a:solidFill>
                      <a:srgbClr val="F5F7FC"/>
                    </a:solidFill>
                  </a:tcPr>
                </a:tc>
                <a:tc>
                  <a:txBody>
                    <a:bodyPr/>
                    <a:lstStyle/>
                    <a:p>
                      <a:r>
                        <a:rPr sz="1000"/>
                        <a:t>14.28s</a:t>
                      </a:r>
                    </a:p>
                  </a:txBody>
                  <a:tcPr>
                    <a:solidFill>
                      <a:srgbClr val="F5F7FC"/>
                    </a:solidFill>
                  </a:tcPr>
                </a:tc>
                <a:tc>
                  <a:txBody>
                    <a:bodyPr/>
                    <a:lstStyle/>
                    <a:p>
                      <a:r>
                        <a:rPr sz="1000"/>
                        <a:t>14.35s</a:t>
                      </a:r>
                    </a:p>
                  </a:txBody>
                  <a:tcPr>
                    <a:solidFill>
                      <a:srgbClr val="F5F7FC"/>
                    </a:solidFill>
                  </a:tcPr>
                </a:tc>
                <a:tc>
                  <a:txBody>
                    <a:bodyPr/>
                    <a:lstStyle/>
                    <a:p>
                      <a:r>
                        <a:rPr sz="1000"/>
                        <a:t>3rd (6A)</a:t>
                      </a:r>
                    </a:p>
                  </a:txBody>
                  <a:tcPr>
                    <a:solidFill>
                      <a:srgbClr val="F5F7FC"/>
                    </a:solidFill>
                  </a:tcPr>
                </a:tc>
              </a:tr>
              <a:tr h="420624">
                <a:tc>
                  <a:txBody>
                    <a:bodyPr/>
                    <a:lstStyle/>
                    <a:p>
                      <a:r>
                        <a:rPr sz="1000"/>
                        <a:t>4x100 Relay</a:t>
                      </a:r>
                    </a:p>
                  </a:txBody>
                  <a:tcPr>
                    <a:solidFill>
                      <a:srgbClr val="FFFFFF"/>
                    </a:solidFill>
                  </a:tcPr>
                </a:tc>
                <a:tc>
                  <a:txBody>
                    <a:bodyPr/>
                    <a:lstStyle/>
                    <a:p>
                      <a:r>
                        <a:rPr sz="1000"/>
                        <a:t>41.88s (anchor)</a:t>
                      </a:r>
                    </a:p>
                  </a:txBody>
                  <a:tcPr>
                    <a:solidFill>
                      <a:srgbClr val="FFFFFF"/>
                    </a:solidFill>
                  </a:tcPr>
                </a:tc>
                <a:tc>
                  <a:txBody>
                    <a:bodyPr/>
                    <a:lstStyle/>
                    <a:p>
                      <a:r>
                        <a:rPr sz="1000"/>
                        <a:t>42.10s</a:t>
                      </a:r>
                    </a:p>
                  </a:txBody>
                  <a:tcPr>
                    <a:solidFill>
                      <a:srgbClr val="FFFFFF"/>
                    </a:solidFill>
                  </a:tcPr>
                </a:tc>
                <a:tc>
                  <a:txBody>
                    <a:bodyPr/>
                    <a:lstStyle/>
                    <a:p>
                      <a:r>
                        <a:rPr sz="1000"/>
                        <a:t>2nd (6A)</a:t>
                      </a:r>
                    </a:p>
                  </a:txBody>
                  <a:tcPr>
                    <a:solidFill>
                      <a:srgbClr val="FFFFFF"/>
                    </a:solidFill>
                  </a:tcPr>
                </a:tc>
              </a:tr>
            </a:tbl>
          </a:graphicData>
        </a:graphic>
      </p:graphicFrame>
      <p:sp>
        <p:nvSpPr>
          <p:cNvPr id="28" name="TextBox 27"/>
          <p:cNvSpPr txBox="1"/>
          <p:nvPr/>
        </p:nvSpPr>
        <p:spPr>
          <a:xfrm>
            <a:off x="4297680" y="3794760"/>
            <a:ext cx="7498079" cy="365760"/>
          </a:xfrm>
          <a:prstGeom prst="rect">
            <a:avLst/>
          </a:prstGeom>
          <a:noFill/>
        </p:spPr>
        <p:txBody>
          <a:bodyPr wrap="square">
            <a:spAutoFit/>
          </a:bodyPr>
          <a:lstStyle/>
          <a:p>
            <a:pPr algn="l"/>
            <a:r>
              <a:rPr sz="900" b="0">
                <a:solidFill>
                  <a:srgbClr val="646478"/>
                </a:solidFill>
              </a:rPr>
              <a:t>Season 2026 ended February 2026. All marks from sanctioned AHSAA competition.</a:t>
            </a:r>
          </a:p>
        </p:txBody>
      </p:sp>
      <p:sp>
        <p:nvSpPr>
          <p:cNvPr id="29" name="TextBox 28"/>
          <p:cNvSpPr txBox="1"/>
          <p:nvPr/>
        </p:nvSpPr>
        <p:spPr>
          <a:xfrm>
            <a:off x="4297680" y="4251960"/>
            <a:ext cx="7498079" cy="411480"/>
          </a:xfrm>
          <a:prstGeom prst="rect">
            <a:avLst/>
          </a:prstGeom>
          <a:noFill/>
        </p:spPr>
        <p:txBody>
          <a:bodyPr wrap="square">
            <a:spAutoFit/>
          </a:bodyPr>
          <a:lstStyle/>
          <a:p>
            <a:pPr algn="l"/>
            <a:r>
              <a:rPr sz="1300" b="1">
                <a:solidFill>
                  <a:srgbClr val="0F255A"/>
                </a:solidFill>
              </a:rPr>
              <a:t>CURRENT RECRUITING INTEREST</a:t>
            </a:r>
          </a:p>
        </p:txBody>
      </p:sp>
      <p:graphicFrame>
        <p:nvGraphicFramePr>
          <p:cNvPr id="30" name="Table 29"/>
          <p:cNvGraphicFramePr>
            <a:graphicFrameLocks noGrp="1"/>
          </p:cNvGraphicFramePr>
          <p:nvPr/>
        </p:nvGraphicFramePr>
        <p:xfrm>
          <a:off x="4297680" y="4709160"/>
          <a:ext cx="7498079" cy="1737360"/>
        </p:xfrm>
        <a:graphic>
          <a:graphicData uri="http://schemas.openxmlformats.org/drawingml/2006/table">
            <a:tbl>
              <a:tblPr firstRow="1" bandRow="1">
                <a:tableStyleId>{5C22544A-7EE6-4342-B048-85BDC9FD1C3A}</a:tableStyleId>
              </a:tblPr>
              <a:tblGrid>
                <a:gridCol w="1874519"/>
                <a:gridCol w="1874519"/>
                <a:gridCol w="1874519"/>
                <a:gridCol w="1874522"/>
              </a:tblGrid>
              <a:tr h="347472">
                <a:tc>
                  <a:txBody>
                    <a:bodyPr/>
                    <a:lstStyle/>
                    <a:p>
                      <a:r>
                        <a:rPr b="1" sz="1100">
                          <a:solidFill>
                            <a:srgbClr val="FFFFFF"/>
                          </a:solidFill>
                        </a:rPr>
                        <a:t>Institution</a:t>
                      </a:r>
                    </a:p>
                  </a:txBody>
                  <a:tcPr>
                    <a:solidFill>
                      <a:srgbClr val="0F255A"/>
                    </a:solidFill>
                  </a:tcPr>
                </a:tc>
                <a:tc>
                  <a:txBody>
                    <a:bodyPr/>
                    <a:lstStyle/>
                    <a:p>
                      <a:r>
                        <a:rPr b="1" sz="1100">
                          <a:solidFill>
                            <a:srgbClr val="FFFFFF"/>
                          </a:solidFill>
                        </a:rPr>
                        <a:t>Level</a:t>
                      </a:r>
                    </a:p>
                  </a:txBody>
                  <a:tcPr>
                    <a:solidFill>
                      <a:srgbClr val="0F255A"/>
                    </a:solidFill>
                  </a:tcPr>
                </a:tc>
                <a:tc>
                  <a:txBody>
                    <a:bodyPr/>
                    <a:lstStyle/>
                    <a:p>
                      <a:r>
                        <a:rPr b="1" sz="1100">
                          <a:solidFill>
                            <a:srgbClr val="FFFFFF"/>
                          </a:solidFill>
                        </a:rPr>
                        <a:t>Contact Date</a:t>
                      </a:r>
                    </a:p>
                  </a:txBody>
                  <a:tcPr>
                    <a:solidFill>
                      <a:srgbClr val="0F255A"/>
                    </a:solidFill>
                  </a:tcPr>
                </a:tc>
                <a:tc>
                  <a:txBody>
                    <a:bodyPr/>
                    <a:lstStyle/>
                    <a:p>
                      <a:r>
                        <a:rPr b="1" sz="1100">
                          <a:solidFill>
                            <a:srgbClr val="FFFFFF"/>
                          </a:solidFill>
                        </a:rPr>
                        <a:t>Status</a:t>
                      </a:r>
                    </a:p>
                  </a:txBody>
                  <a:tcPr>
                    <a:solidFill>
                      <a:srgbClr val="0F255A"/>
                    </a:solidFill>
                  </a:tcPr>
                </a:tc>
              </a:tr>
              <a:tr h="347472">
                <a:tc>
                  <a:txBody>
                    <a:bodyPr/>
                    <a:lstStyle/>
                    <a:p>
                      <a:r>
                        <a:rPr sz="1000"/>
                        <a:t>Southeast State University</a:t>
                      </a:r>
                    </a:p>
                  </a:txBody>
                  <a:tcPr>
                    <a:solidFill>
                      <a:srgbClr val="F5F7FC"/>
                    </a:solidFill>
                  </a:tcPr>
                </a:tc>
                <a:tc>
                  <a:txBody>
                    <a:bodyPr/>
                    <a:lstStyle/>
                    <a:p>
                      <a:r>
                        <a:rPr sz="1000"/>
                        <a:t>D-I</a:t>
                      </a:r>
                    </a:p>
                  </a:txBody>
                  <a:tcPr>
                    <a:solidFill>
                      <a:srgbClr val="F5F7FC"/>
                    </a:solidFill>
                  </a:tcPr>
                </a:tc>
                <a:tc>
                  <a:txBody>
                    <a:bodyPr/>
                    <a:lstStyle/>
                    <a:p>
                      <a:r>
                        <a:rPr sz="1000"/>
                        <a:t>October 2026</a:t>
                      </a:r>
                    </a:p>
                  </a:txBody>
                  <a:tcPr>
                    <a:solidFill>
                      <a:srgbClr val="F5F7FC"/>
                    </a:solidFill>
                  </a:tcPr>
                </a:tc>
                <a:tc>
                  <a:txBody>
                    <a:bodyPr/>
                    <a:lstStyle/>
                    <a:p>
                      <a:r>
                        <a:rPr sz="1000"/>
                        <a:t>Expressed Interest</a:t>
                      </a:r>
                    </a:p>
                  </a:txBody>
                  <a:tcPr>
                    <a:solidFill>
                      <a:srgbClr val="F5F7FC"/>
                    </a:solidFill>
                  </a:tcPr>
                </a:tc>
              </a:tr>
              <a:tr h="347472">
                <a:tc>
                  <a:txBody>
                    <a:bodyPr/>
                    <a:lstStyle/>
                    <a:p>
                      <a:r>
                        <a:rPr sz="1000"/>
                        <a:t>Mid-South Athletic Conference Univ.</a:t>
                      </a:r>
                    </a:p>
                  </a:txBody>
                  <a:tcPr>
                    <a:solidFill>
                      <a:srgbClr val="FFFFFF"/>
                    </a:solidFill>
                  </a:tcPr>
                </a:tc>
                <a:tc>
                  <a:txBody>
                    <a:bodyPr/>
                    <a:lstStyle/>
                    <a:p>
                      <a:r>
                        <a:rPr sz="1000"/>
                        <a:t>D-I</a:t>
                      </a:r>
                    </a:p>
                  </a:txBody>
                  <a:tcPr>
                    <a:solidFill>
                      <a:srgbClr val="FFFFFF"/>
                    </a:solidFill>
                  </a:tcPr>
                </a:tc>
                <a:tc>
                  <a:txBody>
                    <a:bodyPr/>
                    <a:lstStyle/>
                    <a:p>
                      <a:r>
                        <a:rPr sz="1000"/>
                        <a:t>November 2026</a:t>
                      </a:r>
                    </a:p>
                  </a:txBody>
                  <a:tcPr>
                    <a:solidFill>
                      <a:srgbClr val="FFFFFF"/>
                    </a:solidFill>
                  </a:tcPr>
                </a:tc>
                <a:tc>
                  <a:txBody>
                    <a:bodyPr/>
                    <a:lstStyle/>
                    <a:p>
                      <a:r>
                        <a:rPr sz="1000"/>
                        <a:t>Official Inquiry</a:t>
                      </a:r>
                    </a:p>
                  </a:txBody>
                  <a:tcPr>
                    <a:solidFill>
                      <a:srgbClr val="FFFFFF"/>
                    </a:solidFill>
                  </a:tcPr>
                </a:tc>
              </a:tr>
              <a:tr h="347472">
                <a:tc>
                  <a:txBody>
                    <a:bodyPr/>
                    <a:lstStyle/>
                    <a:p>
                      <a:r>
                        <a:rPr sz="1000"/>
                        <a:t>Gulf Coast University</a:t>
                      </a:r>
                    </a:p>
                  </a:txBody>
                  <a:tcPr>
                    <a:solidFill>
                      <a:srgbClr val="F5F7FC"/>
                    </a:solidFill>
                  </a:tcPr>
                </a:tc>
                <a:tc>
                  <a:txBody>
                    <a:bodyPr/>
                    <a:lstStyle/>
                    <a:p>
                      <a:r>
                        <a:rPr sz="1000"/>
                        <a:t>D-I</a:t>
                      </a:r>
                    </a:p>
                  </a:txBody>
                  <a:tcPr>
                    <a:solidFill>
                      <a:srgbClr val="F5F7FC"/>
                    </a:solidFill>
                  </a:tcPr>
                </a:tc>
                <a:tc>
                  <a:txBody>
                    <a:bodyPr/>
                    <a:lstStyle/>
                    <a:p>
                      <a:r>
                        <a:rPr sz="1000"/>
                        <a:t>November 2026</a:t>
                      </a:r>
                    </a:p>
                  </a:txBody>
                  <a:tcPr>
                    <a:solidFill>
                      <a:srgbClr val="F5F7FC"/>
                    </a:solidFill>
                  </a:tcPr>
                </a:tc>
                <a:tc>
                  <a:txBody>
                    <a:bodyPr/>
                    <a:lstStyle/>
                    <a:p>
                      <a:r>
                        <a:rPr sz="1000"/>
                        <a:t>Pending Visit</a:t>
                      </a:r>
                    </a:p>
                  </a:txBody>
                  <a:tcPr>
                    <a:solidFill>
                      <a:srgbClr val="F5F7FC"/>
                    </a:solidFill>
                  </a:tcPr>
                </a:tc>
              </a:tr>
              <a:tr h="347472">
                <a:tc>
                  <a:txBody>
                    <a:bodyPr/>
                    <a:lstStyle/>
                    <a:p>
                      <a:r>
                        <a:rPr sz="1000"/>
                        <a:t>Regional Tech University</a:t>
                      </a:r>
                    </a:p>
                  </a:txBody>
                  <a:tcPr>
                    <a:solidFill>
                      <a:srgbClr val="FFFFFF"/>
                    </a:solidFill>
                  </a:tcPr>
                </a:tc>
                <a:tc>
                  <a:txBody>
                    <a:bodyPr/>
                    <a:lstStyle/>
                    <a:p>
                      <a:r>
                        <a:rPr sz="1000"/>
                        <a:t>D-I</a:t>
                      </a:r>
                    </a:p>
                  </a:txBody>
                  <a:tcPr>
                    <a:solidFill>
                      <a:srgbClr val="FFFFFF"/>
                    </a:solidFill>
                  </a:tcPr>
                </a:tc>
                <a:tc>
                  <a:txBody>
                    <a:bodyPr/>
                    <a:lstStyle/>
                    <a:p>
                      <a:r>
                        <a:rPr sz="1000"/>
                        <a:t>December 2026</a:t>
                      </a:r>
                    </a:p>
                  </a:txBody>
                  <a:tcPr>
                    <a:solidFill>
                      <a:srgbClr val="FFFFFF"/>
                    </a:solidFill>
                  </a:tcPr>
                </a:tc>
                <a:tc>
                  <a:txBody>
                    <a:bodyPr/>
                    <a:lstStyle/>
                    <a:p>
                      <a:r>
                        <a:rPr sz="1000"/>
                        <a:t>Unofficial Visit Scheduled</a:t>
                      </a:r>
                    </a:p>
                  </a:txBody>
                  <a:tcP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2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PERFORMANCE PROGRESSION</a:t>
            </a:r>
          </a:p>
        </p:txBody>
      </p:sp>
      <p:graphicFrame>
        <p:nvGraphicFramePr>
          <p:cNvPr id="4" name="Chart 3"/>
          <p:cNvGraphicFramePr>
            <a:graphicFrameLocks noGrp="1"/>
          </p:cNvGraphicFramePr>
          <p:nvPr/>
        </p:nvGraphicFramePr>
        <p:xfrm>
          <a:off x="457200" y="1097280"/>
          <a:ext cx="6400800" cy="50292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7315200" y="1097280"/>
          <a:ext cx="4572000" cy="2743200"/>
        </p:xfrm>
        <a:graphic>
          <a:graphicData uri="http://schemas.openxmlformats.org/drawingml/2006/chart">
            <c:chart xmlns:c="http://schemas.openxmlformats.org/drawingml/2006/chart" r:id="rId3"/>
          </a:graphicData>
        </a:graphic>
      </p:graphicFrame>
      <p:sp>
        <p:nvSpPr>
          <p:cNvPr id="6" name="Rectangle 5"/>
          <p:cNvSpPr/>
          <p:nvPr/>
        </p:nvSpPr>
        <p:spPr>
          <a:xfrm>
            <a:off x="7315200" y="4114800"/>
            <a:ext cx="4572000" cy="1645920"/>
          </a:xfrm>
          <a:prstGeom prst="rect">
            <a:avLst/>
          </a:prstGeom>
          <a:solidFill>
            <a:srgbClr val="0F2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4206240"/>
            <a:ext cx="4389120" cy="365760"/>
          </a:xfrm>
          <a:prstGeom prst="rect">
            <a:avLst/>
          </a:prstGeom>
          <a:noFill/>
        </p:spPr>
        <p:txBody>
          <a:bodyPr wrap="square">
            <a:spAutoFit/>
          </a:bodyPr>
          <a:lstStyle/>
          <a:p>
            <a:pPr algn="l"/>
            <a:r>
              <a:rPr sz="1200" b="1">
                <a:solidFill>
                  <a:srgbClr val="CCA01D"/>
                </a:solidFill>
              </a:rPr>
              <a:t>KEY IMPROVEMENT METRICS</a:t>
            </a:r>
          </a:p>
        </p:txBody>
      </p:sp>
      <p:sp>
        <p:nvSpPr>
          <p:cNvPr id="8" name="TextBox 7"/>
          <p:cNvSpPr txBox="1"/>
          <p:nvPr/>
        </p:nvSpPr>
        <p:spPr>
          <a:xfrm>
            <a:off x="7452360" y="4663440"/>
            <a:ext cx="4297680" cy="274320"/>
          </a:xfrm>
          <a:prstGeom prst="rect">
            <a:avLst/>
          </a:prstGeom>
          <a:noFill/>
        </p:spPr>
        <p:txBody>
          <a:bodyPr wrap="square">
            <a:spAutoFit/>
          </a:bodyPr>
          <a:lstStyle/>
          <a:p>
            <a:pPr algn="l"/>
            <a:r>
              <a:rPr sz="950" b="0">
                <a:solidFill>
                  <a:srgbClr val="FFFFFF"/>
                </a:solidFill>
              </a:rPr>
              <a:t>- 100m: 0.71s improvement across two seasons</a:t>
            </a:r>
          </a:p>
        </p:txBody>
      </p:sp>
      <p:sp>
        <p:nvSpPr>
          <p:cNvPr id="9" name="TextBox 8"/>
          <p:cNvSpPr txBox="1"/>
          <p:nvPr/>
        </p:nvSpPr>
        <p:spPr>
          <a:xfrm>
            <a:off x="7452360" y="4956048"/>
            <a:ext cx="4297680" cy="274320"/>
          </a:xfrm>
          <a:prstGeom prst="rect">
            <a:avLst/>
          </a:prstGeom>
          <a:noFill/>
        </p:spPr>
        <p:txBody>
          <a:bodyPr wrap="square">
            <a:spAutoFit/>
          </a:bodyPr>
          <a:lstStyle/>
          <a:p>
            <a:pPr algn="l"/>
            <a:r>
              <a:rPr sz="950" b="0">
                <a:solidFill>
                  <a:srgbClr val="FFFFFF"/>
                </a:solidFill>
              </a:rPr>
              <a:t>- 200m: 1.57s improvement across two seasons</a:t>
            </a:r>
          </a:p>
        </p:txBody>
      </p:sp>
      <p:sp>
        <p:nvSpPr>
          <p:cNvPr id="10" name="TextBox 9"/>
          <p:cNvSpPr txBox="1"/>
          <p:nvPr/>
        </p:nvSpPr>
        <p:spPr>
          <a:xfrm>
            <a:off x="7452360" y="5248655"/>
            <a:ext cx="4297680" cy="274320"/>
          </a:xfrm>
          <a:prstGeom prst="rect">
            <a:avLst/>
          </a:prstGeom>
          <a:noFill/>
        </p:spPr>
        <p:txBody>
          <a:bodyPr wrap="square">
            <a:spAutoFit/>
          </a:bodyPr>
          <a:lstStyle/>
          <a:p>
            <a:pPr algn="l"/>
            <a:r>
              <a:rPr sz="950" b="0">
                <a:solidFill>
                  <a:srgbClr val="FFFFFF"/>
                </a:solidFill>
              </a:rPr>
              <a:t>- Hurdles debut to current: 0.84s drop</a:t>
            </a:r>
          </a:p>
        </p:txBody>
      </p:sp>
      <p:sp>
        <p:nvSpPr>
          <p:cNvPr id="11" name="TextBox 10"/>
          <p:cNvSpPr txBox="1"/>
          <p:nvPr/>
        </p:nvSpPr>
        <p:spPr>
          <a:xfrm>
            <a:off x="7452360" y="5541264"/>
            <a:ext cx="4297680" cy="274320"/>
          </a:xfrm>
          <a:prstGeom prst="rect">
            <a:avLst/>
          </a:prstGeom>
          <a:noFill/>
        </p:spPr>
        <p:txBody>
          <a:bodyPr wrap="square">
            <a:spAutoFit/>
          </a:bodyPr>
          <a:lstStyle/>
          <a:p>
            <a:pPr algn="l"/>
            <a:r>
              <a:rPr sz="950" b="0">
                <a:solidFill>
                  <a:srgbClr val="FFFFFF"/>
                </a:solidFill>
              </a:rPr>
              <a:t>- Less than 0.15s variance across meets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2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ACADEMIC &amp; CHARACTER PROFILE</a:t>
            </a:r>
          </a:p>
        </p:txBody>
      </p:sp>
      <p:sp>
        <p:nvSpPr>
          <p:cNvPr id="4" name="Rectangle 3"/>
          <p:cNvSpPr/>
          <p:nvPr/>
        </p:nvSpPr>
        <p:spPr>
          <a:xfrm>
            <a:off x="365760" y="1005840"/>
            <a:ext cx="5303520" cy="5303520"/>
          </a:xfrm>
          <a:prstGeom prst="rect">
            <a:avLst/>
          </a:prstGeom>
          <a:solidFill>
            <a:srgbClr val="E6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4937760" cy="411480"/>
          </a:xfrm>
          <a:prstGeom prst="rect">
            <a:avLst/>
          </a:prstGeom>
          <a:noFill/>
        </p:spPr>
        <p:txBody>
          <a:bodyPr wrap="square">
            <a:spAutoFit/>
          </a:bodyPr>
          <a:lstStyle/>
          <a:p>
            <a:pPr algn="l"/>
            <a:r>
              <a:rPr sz="1400" b="1">
                <a:solidFill>
                  <a:srgbClr val="0F255A"/>
                </a:solidFill>
              </a:rPr>
              <a:t>ACADEMIC RECORD</a:t>
            </a:r>
          </a:p>
        </p:txBody>
      </p:sp>
      <p:graphicFrame>
        <p:nvGraphicFramePr>
          <p:cNvPr id="6" name="Table 5"/>
          <p:cNvGraphicFramePr>
            <a:graphicFrameLocks noGrp="1"/>
          </p:cNvGraphicFramePr>
          <p:nvPr/>
        </p:nvGraphicFramePr>
        <p:xfrm>
          <a:off x="365760" y="1600200"/>
          <a:ext cx="5303520" cy="3200400"/>
        </p:xfrm>
        <a:graphic>
          <a:graphicData uri="http://schemas.openxmlformats.org/drawingml/2006/table">
            <a:tbl>
              <a:tblPr firstRow="1" bandRow="1">
                <a:tableStyleId>{5C22544A-7EE6-4342-B048-85BDC9FD1C3A}</a:tableStyleId>
              </a:tblPr>
              <a:tblGrid>
                <a:gridCol w="2651760"/>
                <a:gridCol w="2651760"/>
              </a:tblGrid>
              <a:tr h="355600">
                <a:tc>
                  <a:txBody>
                    <a:bodyPr/>
                    <a:lstStyle/>
                    <a:p>
                      <a:r>
                        <a:rPr b="1" sz="1100">
                          <a:solidFill>
                            <a:srgbClr val="FFFFFF"/>
                          </a:solidFill>
                        </a:rPr>
                        <a:t>Category</a:t>
                      </a:r>
                    </a:p>
                  </a:txBody>
                  <a:tcPr>
                    <a:solidFill>
                      <a:srgbClr val="0F255A"/>
                    </a:solidFill>
                  </a:tcPr>
                </a:tc>
                <a:tc>
                  <a:txBody>
                    <a:bodyPr/>
                    <a:lstStyle/>
                    <a:p>
                      <a:r>
                        <a:rPr b="1" sz="1100">
                          <a:solidFill>
                            <a:srgbClr val="FFFFFF"/>
                          </a:solidFill>
                        </a:rPr>
                        <a:t>Detail</a:t>
                      </a:r>
                    </a:p>
                  </a:txBody>
                  <a:tcPr>
                    <a:solidFill>
                      <a:srgbClr val="0F255A"/>
                    </a:solidFill>
                  </a:tcPr>
                </a:tc>
              </a:tr>
              <a:tr h="355600">
                <a:tc>
                  <a:txBody>
                    <a:bodyPr/>
                    <a:lstStyle/>
                    <a:p>
                      <a:r>
                        <a:rPr sz="1000"/>
                        <a:t>GPA (Weighted)</a:t>
                      </a:r>
                    </a:p>
                  </a:txBody>
                  <a:tcPr>
                    <a:solidFill>
                      <a:srgbClr val="F5F7FC"/>
                    </a:solidFill>
                  </a:tcPr>
                </a:tc>
                <a:tc>
                  <a:txBody>
                    <a:bodyPr/>
                    <a:lstStyle/>
                    <a:p>
                      <a:r>
                        <a:rPr sz="1000"/>
                        <a:t>3.4 / 4.0</a:t>
                      </a:r>
                    </a:p>
                  </a:txBody>
                  <a:tcPr>
                    <a:solidFill>
                      <a:srgbClr val="F5F7FC"/>
                    </a:solidFill>
                  </a:tcPr>
                </a:tc>
              </a:tr>
              <a:tr h="355600">
                <a:tc>
                  <a:txBody>
                    <a:bodyPr/>
                    <a:lstStyle/>
                    <a:p>
                      <a:r>
                        <a:rPr sz="1000"/>
                        <a:t>Class Rank</a:t>
                      </a:r>
                    </a:p>
                  </a:txBody>
                  <a:tcPr>
                    <a:solidFill>
                      <a:srgbClr val="FFFFFF"/>
                    </a:solidFill>
                  </a:tcPr>
                </a:tc>
                <a:tc>
                  <a:txBody>
                    <a:bodyPr/>
                    <a:lstStyle/>
                    <a:p>
                      <a:r>
                        <a:rPr sz="1000"/>
                        <a:t>Top 20%</a:t>
                      </a:r>
                    </a:p>
                  </a:txBody>
                  <a:tcPr>
                    <a:solidFill>
                      <a:srgbClr val="FFFFFF"/>
                    </a:solidFill>
                  </a:tcPr>
                </a:tc>
              </a:tr>
              <a:tr h="355600">
                <a:tc>
                  <a:txBody>
                    <a:bodyPr/>
                    <a:lstStyle/>
                    <a:p>
                      <a:r>
                        <a:rPr sz="1000"/>
                        <a:t>Core Courses</a:t>
                      </a:r>
                    </a:p>
                  </a:txBody>
                  <a:tcPr>
                    <a:solidFill>
                      <a:srgbClr val="F5F7FC"/>
                    </a:solidFill>
                  </a:tcPr>
                </a:tc>
                <a:tc>
                  <a:txBody>
                    <a:bodyPr/>
                    <a:lstStyle/>
                    <a:p>
                      <a:r>
                        <a:rPr sz="1000"/>
                        <a:t>Biology, Algebra II, U.S. History</a:t>
                      </a:r>
                    </a:p>
                  </a:txBody>
                  <a:tcPr>
                    <a:solidFill>
                      <a:srgbClr val="F5F7FC"/>
                    </a:solidFill>
                  </a:tcPr>
                </a:tc>
              </a:tr>
              <a:tr h="355600">
                <a:tc>
                  <a:txBody>
                    <a:bodyPr/>
                    <a:lstStyle/>
                    <a:p>
                      <a:r>
                        <a:rPr sz="1000"/>
                        <a:t>Electives</a:t>
                      </a:r>
                    </a:p>
                  </a:txBody>
                  <a:tcPr>
                    <a:solidFill>
                      <a:srgbClr val="FFFFFF"/>
                    </a:solidFill>
                  </a:tcPr>
                </a:tc>
                <a:tc>
                  <a:txBody>
                    <a:bodyPr/>
                    <a:lstStyle/>
                    <a:p>
                      <a:r>
                        <a:rPr sz="1000"/>
                        <a:t>Sports Medicine, Drafting</a:t>
                      </a:r>
                    </a:p>
                  </a:txBody>
                  <a:tcPr>
                    <a:solidFill>
                      <a:srgbClr val="FFFFFF"/>
                    </a:solidFill>
                  </a:tcPr>
                </a:tc>
              </a:tr>
              <a:tr h="355600">
                <a:tc>
                  <a:txBody>
                    <a:bodyPr/>
                    <a:lstStyle/>
                    <a:p>
                      <a:r>
                        <a:rPr sz="1000"/>
                        <a:t>Graduation Date</a:t>
                      </a:r>
                    </a:p>
                  </a:txBody>
                  <a:tcPr>
                    <a:solidFill>
                      <a:srgbClr val="F5F7FC"/>
                    </a:solidFill>
                  </a:tcPr>
                </a:tc>
                <a:tc>
                  <a:txBody>
                    <a:bodyPr/>
                    <a:lstStyle/>
                    <a:p>
                      <a:r>
                        <a:rPr sz="1000"/>
                        <a:t>May 2027</a:t>
                      </a:r>
                    </a:p>
                  </a:txBody>
                  <a:tcPr>
                    <a:solidFill>
                      <a:srgbClr val="F5F7FC"/>
                    </a:solidFill>
                  </a:tcPr>
                </a:tc>
              </a:tr>
              <a:tr h="355600">
                <a:tc>
                  <a:txBody>
                    <a:bodyPr/>
                    <a:lstStyle/>
                    <a:p>
                      <a:r>
                        <a:rPr sz="1000"/>
                        <a:t>Eligibility Status</a:t>
                      </a:r>
                    </a:p>
                  </a:txBody>
                  <a:tcPr>
                    <a:solidFill>
                      <a:srgbClr val="FFFFFF"/>
                    </a:solidFill>
                  </a:tcPr>
                </a:tc>
                <a:tc>
                  <a:txBody>
                    <a:bodyPr/>
                    <a:lstStyle/>
                    <a:p>
                      <a:r>
                        <a:rPr sz="1000"/>
                        <a:t>Cleared, AHSAA compliant</a:t>
                      </a:r>
                    </a:p>
                  </a:txBody>
                  <a:tcPr>
                    <a:solidFill>
                      <a:srgbClr val="FFFFFF"/>
                    </a:solidFill>
                  </a:tcPr>
                </a:tc>
              </a:tr>
              <a:tr h="355600">
                <a:tc>
                  <a:txBody>
                    <a:bodyPr/>
                    <a:lstStyle/>
                    <a:p>
                      <a:r>
                        <a:rPr sz="1000"/>
                        <a:t>Attendance Rate</a:t>
                      </a:r>
                    </a:p>
                  </a:txBody>
                  <a:tcPr>
                    <a:solidFill>
                      <a:srgbClr val="F5F7FC"/>
                    </a:solidFill>
                  </a:tcPr>
                </a:tc>
                <a:tc>
                  <a:txBody>
                    <a:bodyPr/>
                    <a:lstStyle/>
                    <a:p>
                      <a:r>
                        <a:rPr sz="1000"/>
                        <a:t>97.2% (2025-2026)</a:t>
                      </a:r>
                    </a:p>
                  </a:txBody>
                  <a:tcPr>
                    <a:solidFill>
                      <a:srgbClr val="F5F7FC"/>
                    </a:solidFill>
                  </a:tcPr>
                </a:tc>
              </a:tr>
              <a:tr h="355600">
                <a:tc>
                  <a:txBody>
                    <a:bodyPr/>
                    <a:lstStyle/>
                    <a:p>
                      <a:r>
                        <a:rPr sz="1000"/>
                        <a:t>Discipline Record</a:t>
                      </a:r>
                    </a:p>
                  </a:txBody>
                  <a:tcPr>
                    <a:solidFill>
                      <a:srgbClr val="FFFFFF"/>
                    </a:solidFill>
                  </a:tcPr>
                </a:tc>
                <a:tc>
                  <a:txBody>
                    <a:bodyPr/>
                    <a:lstStyle/>
                    <a:p>
                      <a:r>
                        <a:rPr sz="1000"/>
                        <a:t>None on file</a:t>
                      </a:r>
                    </a:p>
                  </a:txBody>
                  <a:tcPr>
                    <a:solidFill>
                      <a:srgbClr val="FFFFFF"/>
                    </a:solidFill>
                  </a:tcPr>
                </a:tc>
              </a:tr>
            </a:tbl>
          </a:graphicData>
        </a:graphic>
      </p:graphicFrame>
      <p:sp>
        <p:nvSpPr>
          <p:cNvPr id="7" name="Rectangle 6"/>
          <p:cNvSpPr/>
          <p:nvPr/>
        </p:nvSpPr>
        <p:spPr>
          <a:xfrm>
            <a:off x="6126480" y="1005840"/>
            <a:ext cx="5669280" cy="5303520"/>
          </a:xfrm>
          <a:prstGeom prst="rect">
            <a:avLst/>
          </a:prstGeom>
          <a:solidFill>
            <a:srgbClr val="E6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097280"/>
            <a:ext cx="5303520" cy="411480"/>
          </a:xfrm>
          <a:prstGeom prst="rect">
            <a:avLst/>
          </a:prstGeom>
          <a:noFill/>
        </p:spPr>
        <p:txBody>
          <a:bodyPr wrap="square">
            <a:spAutoFit/>
          </a:bodyPr>
          <a:lstStyle/>
          <a:p>
            <a:pPr algn="l"/>
            <a:r>
              <a:rPr sz="1400" b="1">
                <a:solidFill>
                  <a:srgbClr val="0F255A"/>
                </a:solidFill>
              </a:rPr>
              <a:t>COACHING ASSESSMENT</a:t>
            </a:r>
          </a:p>
        </p:txBody>
      </p:sp>
      <p:sp>
        <p:nvSpPr>
          <p:cNvPr id="9" name="TextBox 8"/>
          <p:cNvSpPr txBox="1"/>
          <p:nvPr/>
        </p:nvSpPr>
        <p:spPr>
          <a:xfrm>
            <a:off x="6309360" y="1600200"/>
            <a:ext cx="5303520" cy="2926080"/>
          </a:xfrm>
          <a:prstGeom prst="rect">
            <a:avLst/>
          </a:prstGeom>
          <a:noFill/>
        </p:spPr>
        <p:txBody>
          <a:bodyPr wrap="square">
            <a:spAutoFit/>
          </a:bodyPr>
          <a:lstStyle/>
          <a:p>
            <a:pPr algn="l"/>
            <a:r>
              <a:rPr sz="1100" b="0">
                <a:solidFill>
                  <a:srgbClr val="1E2850"/>
                </a:solidFill>
              </a:rPr>
              <a:t>Devon Mitchell is the most talented sprinter I have coached in five years at Crestwood. His improvement curve is steep and he has not reached his ceiling. He is coachable in a way that is rare at this age - he asks the right questions and applies corrections in the same practice session.
He has navigated genuine personal challenges without complaint and without letting them show on the track. He is the kind of person who makes a program better by being in it.
I believe he is a legitimate Division I track athlete and, with the right academic support, a Division I student. I do not say that lightly.</a:t>
            </a:r>
          </a:p>
        </p:txBody>
      </p:sp>
      <p:sp>
        <p:nvSpPr>
          <p:cNvPr id="10" name="TextBox 9"/>
          <p:cNvSpPr txBox="1"/>
          <p:nvPr/>
        </p:nvSpPr>
        <p:spPr>
          <a:xfrm>
            <a:off x="6309360" y="4754880"/>
            <a:ext cx="5303520" cy="822960"/>
          </a:xfrm>
          <a:prstGeom prst="rect">
            <a:avLst/>
          </a:prstGeom>
          <a:noFill/>
        </p:spPr>
        <p:txBody>
          <a:bodyPr wrap="square">
            <a:spAutoFit/>
          </a:bodyPr>
          <a:lstStyle/>
          <a:p>
            <a:pPr algn="l"/>
            <a:r>
              <a:rPr sz="1000" b="1">
                <a:solidFill>
                  <a:srgbClr val="0F255A"/>
                </a:solidFill>
              </a:rPr>
              <a:t>-- Shannon D. Perry, DPT, SCS
   Head Coach, Crestwood Track and Field
   Iron City Sports Medicine, PT-4738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2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BIOMECHANICAL ANALYSIS</a:t>
            </a:r>
          </a:p>
        </p:txBody>
      </p:sp>
      <p:sp>
        <p:nvSpPr>
          <p:cNvPr id="4" name="TextBox 3"/>
          <p:cNvSpPr txBox="1"/>
          <p:nvPr/>
        </p:nvSpPr>
        <p:spPr>
          <a:xfrm>
            <a:off x="365760" y="1005840"/>
            <a:ext cx="11430000" cy="365760"/>
          </a:xfrm>
          <a:prstGeom prst="rect">
            <a:avLst/>
          </a:prstGeom>
          <a:noFill/>
        </p:spPr>
        <p:txBody>
          <a:bodyPr wrap="square">
            <a:spAutoFit/>
          </a:bodyPr>
          <a:lstStyle/>
          <a:p>
            <a:pPr algn="l"/>
            <a:r>
              <a:rPr sz="1200" b="0">
                <a:solidFill>
                  <a:srgbClr val="505A6E"/>
                </a:solidFill>
              </a:rPr>
              <a:t>Sprint Mechanics Review - Film Analysis (October 2026 Practice Session)</a:t>
            </a:r>
          </a:p>
        </p:txBody>
      </p:sp>
      <p:graphicFrame>
        <p:nvGraphicFramePr>
          <p:cNvPr id="5" name="Table 4"/>
          <p:cNvGraphicFramePr>
            <a:graphicFrameLocks noGrp="1"/>
          </p:cNvGraphicFramePr>
          <p:nvPr/>
        </p:nvGraphicFramePr>
        <p:xfrm>
          <a:off x="365760" y="1463040"/>
          <a:ext cx="11430000" cy="4114800"/>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411480">
                <a:tc>
                  <a:txBody>
                    <a:bodyPr/>
                    <a:lstStyle/>
                    <a:p>
                      <a:r>
                        <a:rPr b="1" sz="1100">
                          <a:solidFill>
                            <a:srgbClr val="FFFFFF"/>
                          </a:solidFill>
                        </a:rPr>
                        <a:t>Phase</a:t>
                      </a:r>
                    </a:p>
                  </a:txBody>
                  <a:tcPr>
                    <a:solidFill>
                      <a:srgbClr val="0F255A"/>
                    </a:solidFill>
                  </a:tcPr>
                </a:tc>
                <a:tc>
                  <a:txBody>
                    <a:bodyPr/>
                    <a:lstStyle/>
                    <a:p>
                      <a:r>
                        <a:rPr b="1" sz="1100">
                          <a:solidFill>
                            <a:srgbClr val="FFFFFF"/>
                          </a:solidFill>
                        </a:rPr>
                        <a:t>Metric</a:t>
                      </a:r>
                    </a:p>
                  </a:txBody>
                  <a:tcPr>
                    <a:solidFill>
                      <a:srgbClr val="0F255A"/>
                    </a:solidFill>
                  </a:tcPr>
                </a:tc>
                <a:tc>
                  <a:txBody>
                    <a:bodyPr/>
                    <a:lstStyle/>
                    <a:p>
                      <a:r>
                        <a:rPr b="1" sz="1100">
                          <a:solidFill>
                            <a:srgbClr val="FFFFFF"/>
                          </a:solidFill>
                        </a:rPr>
                        <a:t>Current Value</a:t>
                      </a:r>
                    </a:p>
                  </a:txBody>
                  <a:tcPr>
                    <a:solidFill>
                      <a:srgbClr val="0F255A"/>
                    </a:solidFill>
                  </a:tcPr>
                </a:tc>
                <a:tc>
                  <a:txBody>
                    <a:bodyPr/>
                    <a:lstStyle/>
                    <a:p>
                      <a:r>
                        <a:rPr b="1" sz="1100">
                          <a:solidFill>
                            <a:srgbClr val="FFFFFF"/>
                          </a:solidFill>
                        </a:rPr>
                        <a:t>Target Value</a:t>
                      </a:r>
                    </a:p>
                  </a:txBody>
                  <a:tcPr>
                    <a:solidFill>
                      <a:srgbClr val="0F255A"/>
                    </a:solidFill>
                  </a:tcPr>
                </a:tc>
                <a:tc>
                  <a:txBody>
                    <a:bodyPr/>
                    <a:lstStyle/>
                    <a:p>
                      <a:r>
                        <a:rPr b="1" sz="1100">
                          <a:solidFill>
                            <a:srgbClr val="FFFFFF"/>
                          </a:solidFill>
                        </a:rPr>
                        <a:t>Status</a:t>
                      </a:r>
                    </a:p>
                  </a:txBody>
                  <a:tcPr>
                    <a:solidFill>
                      <a:srgbClr val="0F255A"/>
                    </a:solidFill>
                  </a:tcPr>
                </a:tc>
              </a:tr>
              <a:tr h="411480">
                <a:tc>
                  <a:txBody>
                    <a:bodyPr/>
                    <a:lstStyle/>
                    <a:p>
                      <a:r>
                        <a:rPr sz="1000"/>
                        <a:t>Drive Phase</a:t>
                      </a:r>
                    </a:p>
                  </a:txBody>
                  <a:tcPr>
                    <a:solidFill>
                      <a:srgbClr val="F5F7FC"/>
                    </a:solidFill>
                  </a:tcPr>
                </a:tc>
                <a:tc>
                  <a:txBody>
                    <a:bodyPr/>
                    <a:lstStyle/>
                    <a:p>
                      <a:r>
                        <a:rPr sz="1000"/>
                        <a:t>Shin angle at push-off</a:t>
                      </a:r>
                    </a:p>
                  </a:txBody>
                  <a:tcPr>
                    <a:solidFill>
                      <a:srgbClr val="F5F7FC"/>
                    </a:solidFill>
                  </a:tcPr>
                </a:tc>
                <a:tc>
                  <a:txBody>
                    <a:bodyPr/>
                    <a:lstStyle/>
                    <a:p>
                      <a:r>
                        <a:rPr sz="1000"/>
                        <a:t>47 deg</a:t>
                      </a:r>
                    </a:p>
                  </a:txBody>
                  <a:tcPr>
                    <a:solidFill>
                      <a:srgbClr val="F5F7FC"/>
                    </a:solidFill>
                  </a:tcPr>
                </a:tc>
                <a:tc>
                  <a:txBody>
                    <a:bodyPr/>
                    <a:lstStyle/>
                    <a:p>
                      <a:r>
                        <a:rPr sz="1000"/>
                        <a:t>45-50 deg</a:t>
                      </a:r>
                    </a:p>
                  </a:txBody>
                  <a:tcPr>
                    <a:solidFill>
                      <a:srgbClr val="F5F7FC"/>
                    </a:solidFill>
                  </a:tcPr>
                </a:tc>
                <a:tc>
                  <a:txBody>
                    <a:bodyPr/>
                    <a:lstStyle/>
                    <a:p>
                      <a:r>
                        <a:rPr sz="1000"/>
                        <a:t>On Target</a:t>
                      </a:r>
                    </a:p>
                  </a:txBody>
                  <a:tcPr>
                    <a:solidFill>
                      <a:srgbClr val="F5F7FC"/>
                    </a:solidFill>
                  </a:tcPr>
                </a:tc>
              </a:tr>
              <a:tr h="411480">
                <a:tc>
                  <a:txBody>
                    <a:bodyPr/>
                    <a:lstStyle/>
                    <a:p>
                      <a:r>
                        <a:rPr sz="1000"/>
                        <a:t>Drive Phase</a:t>
                      </a:r>
                    </a:p>
                  </a:txBody>
                  <a:tcPr>
                    <a:solidFill>
                      <a:srgbClr val="FFFFFF"/>
                    </a:solidFill>
                  </a:tcPr>
                </a:tc>
                <a:tc>
                  <a:txBody>
                    <a:bodyPr/>
                    <a:lstStyle/>
                    <a:p>
                      <a:r>
                        <a:rPr sz="1000"/>
                        <a:t>Ground contact time</a:t>
                      </a:r>
                    </a:p>
                  </a:txBody>
                  <a:tcPr>
                    <a:solidFill>
                      <a:srgbClr val="FFFFFF"/>
                    </a:solidFill>
                  </a:tcPr>
                </a:tc>
                <a:tc>
                  <a:txBody>
                    <a:bodyPr/>
                    <a:lstStyle/>
                    <a:p>
                      <a:r>
                        <a:rPr sz="1000"/>
                        <a:t>0.142 sec</a:t>
                      </a:r>
                    </a:p>
                  </a:txBody>
                  <a:tcPr>
                    <a:solidFill>
                      <a:srgbClr val="FFFFFF"/>
                    </a:solidFill>
                  </a:tcPr>
                </a:tc>
                <a:tc>
                  <a:txBody>
                    <a:bodyPr/>
                    <a:lstStyle/>
                    <a:p>
                      <a:r>
                        <a:rPr sz="1000"/>
                        <a:t>&lt; 0.140 sec</a:t>
                      </a:r>
                    </a:p>
                  </a:txBody>
                  <a:tcPr>
                    <a:solidFill>
                      <a:srgbClr val="FFFFFF"/>
                    </a:solidFill>
                  </a:tcPr>
                </a:tc>
                <a:tc>
                  <a:txBody>
                    <a:bodyPr/>
                    <a:lstStyle/>
                    <a:p>
                      <a:r>
                        <a:rPr sz="1000"/>
                        <a:t>Near Target</a:t>
                      </a:r>
                    </a:p>
                  </a:txBody>
                  <a:tcPr>
                    <a:solidFill>
                      <a:srgbClr val="FFFFFF"/>
                    </a:solidFill>
                  </a:tcPr>
                </a:tc>
              </a:tr>
              <a:tr h="411480">
                <a:tc>
                  <a:txBody>
                    <a:bodyPr/>
                    <a:lstStyle/>
                    <a:p>
                      <a:r>
                        <a:rPr sz="1000"/>
                        <a:t>Drive Phase</a:t>
                      </a:r>
                    </a:p>
                  </a:txBody>
                  <a:tcPr>
                    <a:solidFill>
                      <a:srgbClr val="F5F7FC"/>
                    </a:solidFill>
                  </a:tcPr>
                </a:tc>
                <a:tc>
                  <a:txBody>
                    <a:bodyPr/>
                    <a:lstStyle/>
                    <a:p>
                      <a:r>
                        <a:rPr sz="1000"/>
                        <a:t>Hip extension at toe-off</a:t>
                      </a:r>
                    </a:p>
                  </a:txBody>
                  <a:tcPr>
                    <a:solidFill>
                      <a:srgbClr val="F5F7FC"/>
                    </a:solidFill>
                  </a:tcPr>
                </a:tc>
                <a:tc>
                  <a:txBody>
                    <a:bodyPr/>
                    <a:lstStyle/>
                    <a:p>
                      <a:r>
                        <a:rPr sz="1000"/>
                        <a:t>172 deg</a:t>
                      </a:r>
                    </a:p>
                  </a:txBody>
                  <a:tcPr>
                    <a:solidFill>
                      <a:srgbClr val="F5F7FC"/>
                    </a:solidFill>
                  </a:tcPr>
                </a:tc>
                <a:tc>
                  <a:txBody>
                    <a:bodyPr/>
                    <a:lstStyle/>
                    <a:p>
                      <a:r>
                        <a:rPr sz="1000"/>
                        <a:t>170-175 deg</a:t>
                      </a:r>
                    </a:p>
                  </a:txBody>
                  <a:tcPr>
                    <a:solidFill>
                      <a:srgbClr val="F5F7FC"/>
                    </a:solidFill>
                  </a:tcPr>
                </a:tc>
                <a:tc>
                  <a:txBody>
                    <a:bodyPr/>
                    <a:lstStyle/>
                    <a:p>
                      <a:r>
                        <a:rPr sz="1000"/>
                        <a:t>On Target</a:t>
                      </a:r>
                    </a:p>
                  </a:txBody>
                  <a:tcPr>
                    <a:solidFill>
                      <a:srgbClr val="F5F7FC"/>
                    </a:solidFill>
                  </a:tcPr>
                </a:tc>
              </a:tr>
              <a:tr h="411480">
                <a:tc>
                  <a:txBody>
                    <a:bodyPr/>
                    <a:lstStyle/>
                    <a:p>
                      <a:r>
                        <a:rPr sz="1000"/>
                        <a:t>Acceleration</a:t>
                      </a:r>
                    </a:p>
                  </a:txBody>
                  <a:tcPr>
                    <a:solidFill>
                      <a:srgbClr val="FFFFFF"/>
                    </a:solidFill>
                  </a:tcPr>
                </a:tc>
                <a:tc>
                  <a:txBody>
                    <a:bodyPr/>
                    <a:lstStyle/>
                    <a:p>
                      <a:r>
                        <a:rPr sz="1000"/>
                        <a:t>Step frequency (40m)</a:t>
                      </a:r>
                    </a:p>
                  </a:txBody>
                  <a:tcPr>
                    <a:solidFill>
                      <a:srgbClr val="FFFFFF"/>
                    </a:solidFill>
                  </a:tcPr>
                </a:tc>
                <a:tc>
                  <a:txBody>
                    <a:bodyPr/>
                    <a:lstStyle/>
                    <a:p>
                      <a:r>
                        <a:rPr sz="1000"/>
                        <a:t>4.42 steps/sec</a:t>
                      </a:r>
                    </a:p>
                  </a:txBody>
                  <a:tcPr>
                    <a:solidFill>
                      <a:srgbClr val="FFFFFF"/>
                    </a:solidFill>
                  </a:tcPr>
                </a:tc>
                <a:tc>
                  <a:txBody>
                    <a:bodyPr/>
                    <a:lstStyle/>
                    <a:p>
                      <a:r>
                        <a:rPr sz="1000"/>
                        <a:t>4.50 steps/sec</a:t>
                      </a:r>
                    </a:p>
                  </a:txBody>
                  <a:tcPr>
                    <a:solidFill>
                      <a:srgbClr val="FFFFFF"/>
                    </a:solidFill>
                  </a:tcPr>
                </a:tc>
                <a:tc>
                  <a:txBody>
                    <a:bodyPr/>
                    <a:lstStyle/>
                    <a:p>
                      <a:r>
                        <a:rPr sz="1000"/>
                        <a:t>Improving</a:t>
                      </a:r>
                    </a:p>
                  </a:txBody>
                  <a:tcPr>
                    <a:solidFill>
                      <a:srgbClr val="FFFFFF"/>
                    </a:solidFill>
                  </a:tcPr>
                </a:tc>
              </a:tr>
              <a:tr h="411480">
                <a:tc>
                  <a:txBody>
                    <a:bodyPr/>
                    <a:lstStyle/>
                    <a:p>
                      <a:r>
                        <a:rPr sz="1000"/>
                        <a:t>Max Velocity</a:t>
                      </a:r>
                    </a:p>
                  </a:txBody>
                  <a:tcPr>
                    <a:solidFill>
                      <a:srgbClr val="F5F7FC"/>
                    </a:solidFill>
                  </a:tcPr>
                </a:tc>
                <a:tc>
                  <a:txBody>
                    <a:bodyPr/>
                    <a:lstStyle/>
                    <a:p>
                      <a:r>
                        <a:rPr sz="1000"/>
                        <a:t>Stride length at 60m</a:t>
                      </a:r>
                    </a:p>
                  </a:txBody>
                  <a:tcPr>
                    <a:solidFill>
                      <a:srgbClr val="F5F7FC"/>
                    </a:solidFill>
                  </a:tcPr>
                </a:tc>
                <a:tc>
                  <a:txBody>
                    <a:bodyPr/>
                    <a:lstStyle/>
                    <a:p>
                      <a:r>
                        <a:rPr sz="1000"/>
                        <a:t>7.8 ft</a:t>
                      </a:r>
                    </a:p>
                  </a:txBody>
                  <a:tcPr>
                    <a:solidFill>
                      <a:srgbClr val="F5F7FC"/>
                    </a:solidFill>
                  </a:tcPr>
                </a:tc>
                <a:tc>
                  <a:txBody>
                    <a:bodyPr/>
                    <a:lstStyle/>
                    <a:p>
                      <a:r>
                        <a:rPr sz="1000"/>
                        <a:t>8.0+ ft</a:t>
                      </a:r>
                    </a:p>
                  </a:txBody>
                  <a:tcPr>
                    <a:solidFill>
                      <a:srgbClr val="F5F7FC"/>
                    </a:solidFill>
                  </a:tcPr>
                </a:tc>
                <a:tc>
                  <a:txBody>
                    <a:bodyPr/>
                    <a:lstStyle/>
                    <a:p>
                      <a:r>
                        <a:rPr sz="1000"/>
                        <a:t>Improving</a:t>
                      </a:r>
                    </a:p>
                  </a:txBody>
                  <a:tcPr>
                    <a:solidFill>
                      <a:srgbClr val="F5F7FC"/>
                    </a:solidFill>
                  </a:tcPr>
                </a:tc>
              </a:tr>
              <a:tr h="411480">
                <a:tc>
                  <a:txBody>
                    <a:bodyPr/>
                    <a:lstStyle/>
                    <a:p>
                      <a:r>
                        <a:rPr sz="1000"/>
                        <a:t>Max Velocity</a:t>
                      </a:r>
                    </a:p>
                  </a:txBody>
                  <a:tcPr>
                    <a:solidFill>
                      <a:srgbClr val="FFFFFF"/>
                    </a:solidFill>
                  </a:tcPr>
                </a:tc>
                <a:tc>
                  <a:txBody>
                    <a:bodyPr/>
                    <a:lstStyle/>
                    <a:p>
                      <a:r>
                        <a:rPr sz="1000"/>
                        <a:t>Forward lean angle</a:t>
                      </a:r>
                    </a:p>
                  </a:txBody>
                  <a:tcPr>
                    <a:solidFill>
                      <a:srgbClr val="FFFFFF"/>
                    </a:solidFill>
                  </a:tcPr>
                </a:tc>
                <a:tc>
                  <a:txBody>
                    <a:bodyPr/>
                    <a:lstStyle/>
                    <a:p>
                      <a:r>
                        <a:rPr sz="1000"/>
                        <a:t>6 deg</a:t>
                      </a:r>
                    </a:p>
                  </a:txBody>
                  <a:tcPr>
                    <a:solidFill>
                      <a:srgbClr val="FFFFFF"/>
                    </a:solidFill>
                  </a:tcPr>
                </a:tc>
                <a:tc>
                  <a:txBody>
                    <a:bodyPr/>
                    <a:lstStyle/>
                    <a:p>
                      <a:r>
                        <a:rPr sz="1000"/>
                        <a:t>5-7 deg</a:t>
                      </a:r>
                    </a:p>
                  </a:txBody>
                  <a:tcPr>
                    <a:solidFill>
                      <a:srgbClr val="FFFFFF"/>
                    </a:solidFill>
                  </a:tcPr>
                </a:tc>
                <a:tc>
                  <a:txBody>
                    <a:bodyPr/>
                    <a:lstStyle/>
                    <a:p>
                      <a:r>
                        <a:rPr sz="1000"/>
                        <a:t>On Target</a:t>
                      </a:r>
                    </a:p>
                  </a:txBody>
                  <a:tcPr>
                    <a:solidFill>
                      <a:srgbClr val="FFFFFF"/>
                    </a:solidFill>
                  </a:tcPr>
                </a:tc>
              </a:tr>
              <a:tr h="411480">
                <a:tc>
                  <a:txBody>
                    <a:bodyPr/>
                    <a:lstStyle/>
                    <a:p>
                      <a:r>
                        <a:rPr sz="1000"/>
                        <a:t>Hurdle Clearance</a:t>
                      </a:r>
                    </a:p>
                  </a:txBody>
                  <a:tcPr>
                    <a:solidFill>
                      <a:srgbClr val="F5F7FC"/>
                    </a:solidFill>
                  </a:tcPr>
                </a:tc>
                <a:tc>
                  <a:txBody>
                    <a:bodyPr/>
                    <a:lstStyle/>
                    <a:p>
                      <a:r>
                        <a:rPr sz="1000"/>
                        <a:t>Lead leg snap speed</a:t>
                      </a:r>
                    </a:p>
                  </a:txBody>
                  <a:tcPr>
                    <a:solidFill>
                      <a:srgbClr val="F5F7FC"/>
                    </a:solidFill>
                  </a:tcPr>
                </a:tc>
                <a:tc>
                  <a:txBody>
                    <a:bodyPr/>
                    <a:lstStyle/>
                    <a:p>
                      <a:r>
                        <a:rPr sz="1000"/>
                        <a:t>Good</a:t>
                      </a:r>
                    </a:p>
                  </a:txBody>
                  <a:tcPr>
                    <a:solidFill>
                      <a:srgbClr val="F5F7FC"/>
                    </a:solidFill>
                  </a:tcPr>
                </a:tc>
                <a:tc>
                  <a:txBody>
                    <a:bodyPr/>
                    <a:lstStyle/>
                    <a:p>
                      <a:r>
                        <a:rPr sz="1000"/>
                        <a:t>Explosive</a:t>
                      </a:r>
                    </a:p>
                  </a:txBody>
                  <a:tcPr>
                    <a:solidFill>
                      <a:srgbClr val="F5F7FC"/>
                    </a:solidFill>
                  </a:tcPr>
                </a:tc>
                <a:tc>
                  <a:txBody>
                    <a:bodyPr/>
                    <a:lstStyle/>
                    <a:p>
                      <a:r>
                        <a:rPr sz="1000"/>
                        <a:t>Focus Area</a:t>
                      </a:r>
                    </a:p>
                  </a:txBody>
                  <a:tcPr>
                    <a:solidFill>
                      <a:srgbClr val="F5F7FC"/>
                    </a:solidFill>
                  </a:tcPr>
                </a:tc>
              </a:tr>
              <a:tr h="411480">
                <a:tc>
                  <a:txBody>
                    <a:bodyPr/>
                    <a:lstStyle/>
                    <a:p>
                      <a:r>
                        <a:rPr sz="1000"/>
                        <a:t>Hurdle Clearance</a:t>
                      </a:r>
                    </a:p>
                  </a:txBody>
                  <a:tcPr>
                    <a:solidFill>
                      <a:srgbClr val="FFFFFF"/>
                    </a:solidFill>
                  </a:tcPr>
                </a:tc>
                <a:tc>
                  <a:txBody>
                    <a:bodyPr/>
                    <a:lstStyle/>
                    <a:p>
                      <a:r>
                        <a:rPr sz="1000"/>
                        <a:t>Trail leg cycle time</a:t>
                      </a:r>
                    </a:p>
                  </a:txBody>
                  <a:tcPr>
                    <a:solidFill>
                      <a:srgbClr val="FFFFFF"/>
                    </a:solidFill>
                  </a:tcPr>
                </a:tc>
                <a:tc>
                  <a:txBody>
                    <a:bodyPr/>
                    <a:lstStyle/>
                    <a:p>
                      <a:r>
                        <a:rPr sz="1000"/>
                        <a:t>0.28 sec</a:t>
                      </a:r>
                    </a:p>
                  </a:txBody>
                  <a:tcPr>
                    <a:solidFill>
                      <a:srgbClr val="FFFFFF"/>
                    </a:solidFill>
                  </a:tcPr>
                </a:tc>
                <a:tc>
                  <a:txBody>
                    <a:bodyPr/>
                    <a:lstStyle/>
                    <a:p>
                      <a:r>
                        <a:rPr sz="1000"/>
                        <a:t>&lt; 0.26 sec</a:t>
                      </a:r>
                    </a:p>
                  </a:txBody>
                  <a:tcPr>
                    <a:solidFill>
                      <a:srgbClr val="FFFFFF"/>
                    </a:solidFill>
                  </a:tcPr>
                </a:tc>
                <a:tc>
                  <a:txBody>
                    <a:bodyPr/>
                    <a:lstStyle/>
                    <a:p>
                      <a:r>
                        <a:rPr sz="1000"/>
                        <a:t>Focus Area</a:t>
                      </a:r>
                    </a:p>
                  </a:txBody>
                  <a:tcPr>
                    <a:solidFill>
                      <a:srgbClr val="FFFFFF"/>
                    </a:solidFill>
                  </a:tcPr>
                </a:tc>
              </a:tr>
              <a:tr h="411480">
                <a:tc>
                  <a:txBody>
                    <a:bodyPr/>
                    <a:lstStyle/>
                    <a:p>
                      <a:r>
                        <a:rPr sz="1000"/>
                        <a:t>Finish</a:t>
                      </a:r>
                    </a:p>
                  </a:txBody>
                  <a:tcPr>
                    <a:solidFill>
                      <a:srgbClr val="F5F7FC"/>
                    </a:solidFill>
                  </a:tcPr>
                </a:tc>
                <a:tc>
                  <a:txBody>
                    <a:bodyPr/>
                    <a:lstStyle/>
                    <a:p>
                      <a:r>
                        <a:rPr sz="1000"/>
                        <a:t>Lean timing</a:t>
                      </a:r>
                    </a:p>
                  </a:txBody>
                  <a:tcPr>
                    <a:solidFill>
                      <a:srgbClr val="F5F7FC"/>
                    </a:solidFill>
                  </a:tcPr>
                </a:tc>
                <a:tc>
                  <a:txBody>
                    <a:bodyPr/>
                    <a:lstStyle/>
                    <a:p>
                      <a:r>
                        <a:rPr sz="1000"/>
                        <a:t>Consistent</a:t>
                      </a:r>
                    </a:p>
                  </a:txBody>
                  <a:tcPr>
                    <a:solidFill>
                      <a:srgbClr val="F5F7FC"/>
                    </a:solidFill>
                  </a:tcPr>
                </a:tc>
                <a:tc>
                  <a:txBody>
                    <a:bodyPr/>
                    <a:lstStyle/>
                    <a:p>
                      <a:r>
                        <a:rPr sz="1000"/>
                        <a:t>Early and aggressive</a:t>
                      </a:r>
                    </a:p>
                  </a:txBody>
                  <a:tcPr>
                    <a:solidFill>
                      <a:srgbClr val="F5F7FC"/>
                    </a:solidFill>
                  </a:tcPr>
                </a:tc>
                <a:tc>
                  <a:txBody>
                    <a:bodyPr/>
                    <a:lstStyle/>
                    <a:p>
                      <a:r>
                        <a:rPr sz="1000"/>
                        <a:t>Coaching Cue</a:t>
                      </a:r>
                    </a:p>
                  </a:txBody>
                  <a:tcPr>
                    <a:solidFill>
                      <a:srgbClr val="F5F7FC"/>
                    </a:solidFill>
                  </a:tcPr>
                </a:tc>
              </a:tr>
            </a:tbl>
          </a:graphicData>
        </a:graphic>
      </p:graphicFrame>
      <p:sp>
        <p:nvSpPr>
          <p:cNvPr id="6" name="Rectangle 5"/>
          <p:cNvSpPr/>
          <p:nvPr/>
        </p:nvSpPr>
        <p:spPr>
          <a:xfrm>
            <a:off x="365760" y="5760720"/>
            <a:ext cx="11430000" cy="731520"/>
          </a:xfrm>
          <a:prstGeom prst="rect">
            <a:avLst/>
          </a:prstGeom>
          <a:solidFill>
            <a:srgbClr val="E6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852160"/>
            <a:ext cx="11064240" cy="548640"/>
          </a:xfrm>
          <a:prstGeom prst="rect">
            <a:avLst/>
          </a:prstGeom>
          <a:noFill/>
        </p:spPr>
        <p:txBody>
          <a:bodyPr wrap="square">
            <a:spAutoFit/>
          </a:bodyPr>
          <a:lstStyle/>
          <a:p>
            <a:pPr algn="l"/>
            <a:r>
              <a:rPr sz="1000" b="0">
                <a:solidFill>
                  <a:srgbClr val="3C465A"/>
                </a:solidFill>
              </a:rPr>
              <a:t>Analysis from frame-by-frame film review. Focus Area items are primary targets for November 2026 and December 2026 training blocks.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2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RECRUITING TIMELINE</a:t>
            </a:r>
          </a:p>
        </p:txBody>
      </p:sp>
      <p:graphicFrame>
        <p:nvGraphicFramePr>
          <p:cNvPr id="4" name="Table 3"/>
          <p:cNvGraphicFramePr>
            <a:graphicFrameLocks noGrp="1"/>
          </p:cNvGraphicFramePr>
          <p:nvPr/>
        </p:nvGraphicFramePr>
        <p:xfrm>
          <a:off x="365760" y="1005840"/>
          <a:ext cx="11430000" cy="5212080"/>
        </p:xfrm>
        <a:graphic>
          <a:graphicData uri="http://schemas.openxmlformats.org/drawingml/2006/table">
            <a:tbl>
              <a:tblPr firstRow="1" bandRow="1">
                <a:tableStyleId>{5C22544A-7EE6-4342-B048-85BDC9FD1C3A}</a:tableStyleId>
              </a:tblPr>
              <a:tblGrid>
                <a:gridCol w="2857500"/>
                <a:gridCol w="2857500"/>
                <a:gridCol w="2857500"/>
                <a:gridCol w="2857500"/>
              </a:tblGrid>
              <a:tr h="521208">
                <a:tc>
                  <a:txBody>
                    <a:bodyPr/>
                    <a:lstStyle/>
                    <a:p>
                      <a:r>
                        <a:rPr b="1" sz="1100">
                          <a:solidFill>
                            <a:srgbClr val="FFFFFF"/>
                          </a:solidFill>
                        </a:rPr>
                        <a:t>Date</a:t>
                      </a:r>
                    </a:p>
                  </a:txBody>
                  <a:tcPr>
                    <a:solidFill>
                      <a:srgbClr val="0F255A"/>
                    </a:solidFill>
                  </a:tcPr>
                </a:tc>
                <a:tc>
                  <a:txBody>
                    <a:bodyPr/>
                    <a:lstStyle/>
                    <a:p>
                      <a:r>
                        <a:rPr b="1" sz="1100">
                          <a:solidFill>
                            <a:srgbClr val="FFFFFF"/>
                          </a:solidFill>
                        </a:rPr>
                        <a:t>Milestone</a:t>
                      </a:r>
                    </a:p>
                  </a:txBody>
                  <a:tcPr>
                    <a:solidFill>
                      <a:srgbClr val="0F255A"/>
                    </a:solidFill>
                  </a:tcPr>
                </a:tc>
                <a:tc>
                  <a:txBody>
                    <a:bodyPr/>
                    <a:lstStyle/>
                    <a:p>
                      <a:r>
                        <a:rPr b="1" sz="1100">
                          <a:solidFill>
                            <a:srgbClr val="FFFFFF"/>
                          </a:solidFill>
                        </a:rPr>
                        <a:t>Responsible</a:t>
                      </a:r>
                    </a:p>
                  </a:txBody>
                  <a:tcPr>
                    <a:solidFill>
                      <a:srgbClr val="0F255A"/>
                    </a:solidFill>
                  </a:tcPr>
                </a:tc>
                <a:tc>
                  <a:txBody>
                    <a:bodyPr/>
                    <a:lstStyle/>
                    <a:p>
                      <a:r>
                        <a:rPr b="1" sz="1100">
                          <a:solidFill>
                            <a:srgbClr val="FFFFFF"/>
                          </a:solidFill>
                        </a:rPr>
                        <a:t>Notes</a:t>
                      </a:r>
                    </a:p>
                  </a:txBody>
                  <a:tcPr>
                    <a:solidFill>
                      <a:srgbClr val="0F255A"/>
                    </a:solidFill>
                  </a:tcPr>
                </a:tc>
              </a:tr>
              <a:tr h="521208">
                <a:tc>
                  <a:txBody>
                    <a:bodyPr/>
                    <a:lstStyle/>
                    <a:p>
                      <a:r>
                        <a:rPr sz="1000"/>
                        <a:t>October 2026</a:t>
                      </a:r>
                    </a:p>
                  </a:txBody>
                  <a:tcPr>
                    <a:solidFill>
                      <a:srgbClr val="F5F7FC"/>
                    </a:solidFill>
                  </a:tcPr>
                </a:tc>
                <a:tc>
                  <a:txBody>
                    <a:bodyPr/>
                    <a:lstStyle/>
                    <a:p>
                      <a:r>
                        <a:rPr sz="1000"/>
                        <a:t>Recruiting profile sent to 12 D-I programs</a:t>
                      </a:r>
                    </a:p>
                  </a:txBody>
                  <a:tcPr>
                    <a:solidFill>
                      <a:srgbClr val="F5F7FC"/>
                    </a:solidFill>
                  </a:tcPr>
                </a:tc>
                <a:tc>
                  <a:txBody>
                    <a:bodyPr/>
                    <a:lstStyle/>
                    <a:p>
                      <a:r>
                        <a:rPr sz="1000"/>
                        <a:t>Coach Perry</a:t>
                      </a:r>
                    </a:p>
                  </a:txBody>
                  <a:tcPr>
                    <a:solidFill>
                      <a:srgbClr val="F5F7FC"/>
                    </a:solidFill>
                  </a:tcPr>
                </a:tc>
                <a:tc>
                  <a:txBody>
                    <a:bodyPr/>
                    <a:lstStyle/>
                    <a:p>
                      <a:r>
                        <a:rPr sz="1000"/>
                        <a:t>Packet includes video reel and academic summary</a:t>
                      </a:r>
                    </a:p>
                  </a:txBody>
                  <a:tcPr>
                    <a:solidFill>
                      <a:srgbClr val="F5F7FC"/>
                    </a:solidFill>
                  </a:tcPr>
                </a:tc>
              </a:tr>
              <a:tr h="521208">
                <a:tc>
                  <a:txBody>
                    <a:bodyPr/>
                    <a:lstStyle/>
                    <a:p>
                      <a:r>
                        <a:rPr sz="1000"/>
                        <a:t>November 2026</a:t>
                      </a:r>
                    </a:p>
                  </a:txBody>
                  <a:tcPr>
                    <a:solidFill>
                      <a:srgbClr val="FFFFFF"/>
                    </a:solidFill>
                  </a:tcPr>
                </a:tc>
                <a:tc>
                  <a:txBody>
                    <a:bodyPr/>
                    <a:lstStyle/>
                    <a:p>
                      <a:r>
                        <a:rPr sz="1000"/>
                        <a:t>Phone and video calls with interested coaches</a:t>
                      </a:r>
                    </a:p>
                  </a:txBody>
                  <a:tcPr>
                    <a:solidFill>
                      <a:srgbClr val="FFFFFF"/>
                    </a:solidFill>
                  </a:tcPr>
                </a:tc>
                <a:tc>
                  <a:txBody>
                    <a:bodyPr/>
                    <a:lstStyle/>
                    <a:p>
                      <a:r>
                        <a:rPr sz="1000"/>
                        <a:t>Devon + Perry</a:t>
                      </a:r>
                    </a:p>
                  </a:txBody>
                  <a:tcPr>
                    <a:solidFill>
                      <a:srgbClr val="FFFFFF"/>
                    </a:solidFill>
                  </a:tcPr>
                </a:tc>
                <a:tc>
                  <a:txBody>
                    <a:bodyPr/>
                    <a:lstStyle/>
                    <a:p>
                      <a:r>
                        <a:rPr sz="1000"/>
                        <a:t>Coach Perry dials in first, then introduces Devon</a:t>
                      </a:r>
                    </a:p>
                  </a:txBody>
                  <a:tcPr>
                    <a:solidFill>
                      <a:srgbClr val="FFFFFF"/>
                    </a:solidFill>
                  </a:tcPr>
                </a:tc>
              </a:tr>
              <a:tr h="521208">
                <a:tc>
                  <a:txBody>
                    <a:bodyPr/>
                    <a:lstStyle/>
                    <a:p>
                      <a:r>
                        <a:rPr sz="1000"/>
                        <a:t>December 2026</a:t>
                      </a:r>
                    </a:p>
                  </a:txBody>
                  <a:tcPr>
                    <a:solidFill>
                      <a:srgbClr val="F5F7FC"/>
                    </a:solidFill>
                  </a:tcPr>
                </a:tc>
                <a:tc>
                  <a:txBody>
                    <a:bodyPr/>
                    <a:lstStyle/>
                    <a:p>
                      <a:r>
                        <a:rPr sz="1000"/>
                        <a:t>Unofficial campus visit - Southeast D-I program</a:t>
                      </a:r>
                    </a:p>
                  </a:txBody>
                  <a:tcPr>
                    <a:solidFill>
                      <a:srgbClr val="F5F7FC"/>
                    </a:solidFill>
                  </a:tcPr>
                </a:tc>
                <a:tc>
                  <a:txBody>
                    <a:bodyPr/>
                    <a:lstStyle/>
                    <a:p>
                      <a:r>
                        <a:rPr sz="1000"/>
                        <a:t>Devon + Perry</a:t>
                      </a:r>
                    </a:p>
                  </a:txBody>
                  <a:tcPr>
                    <a:solidFill>
                      <a:srgbClr val="F5F7FC"/>
                    </a:solidFill>
                  </a:tcPr>
                </a:tc>
                <a:tc>
                  <a:txBody>
                    <a:bodyPr/>
                    <a:lstStyle/>
                    <a:p>
                      <a:r>
                        <a:rPr sz="1000"/>
                        <a:t>Perry driving; Brenda informed; no overnight stay</a:t>
                      </a:r>
                    </a:p>
                  </a:txBody>
                  <a:tcPr>
                    <a:solidFill>
                      <a:srgbClr val="F5F7FC"/>
                    </a:solidFill>
                  </a:tcPr>
                </a:tc>
              </a:tr>
              <a:tr h="521208">
                <a:tc>
                  <a:txBody>
                    <a:bodyPr/>
                    <a:lstStyle/>
                    <a:p>
                      <a:r>
                        <a:rPr sz="1000"/>
                        <a:t>January 2027</a:t>
                      </a:r>
                    </a:p>
                  </a:txBody>
                  <a:tcPr>
                    <a:solidFill>
                      <a:srgbClr val="FFFFFF"/>
                    </a:solidFill>
                  </a:tcPr>
                </a:tc>
                <a:tc>
                  <a:txBody>
                    <a:bodyPr/>
                    <a:lstStyle/>
                    <a:p>
                      <a:r>
                        <a:rPr sz="1000"/>
                        <a:t>Video highlight reel update</a:t>
                      </a:r>
                    </a:p>
                  </a:txBody>
                  <a:tcPr>
                    <a:solidFill>
                      <a:srgbClr val="FFFFFF"/>
                    </a:solidFill>
                  </a:tcPr>
                </a:tc>
                <a:tc>
                  <a:txBody>
                    <a:bodyPr/>
                    <a:lstStyle/>
                    <a:p>
                      <a:r>
                        <a:rPr sz="1000"/>
                        <a:t>Coach Perry</a:t>
                      </a:r>
                    </a:p>
                  </a:txBody>
                  <a:tcPr>
                    <a:solidFill>
                      <a:srgbClr val="FFFFFF"/>
                    </a:solidFill>
                  </a:tcPr>
                </a:tc>
                <a:tc>
                  <a:txBody>
                    <a:bodyPr/>
                    <a:lstStyle/>
                    <a:p>
                      <a:r>
                        <a:rPr sz="1000"/>
                        <a:t>Add indoor season footage</a:t>
                      </a:r>
                    </a:p>
                  </a:txBody>
                  <a:tcPr>
                    <a:solidFill>
                      <a:srgbClr val="FFFFFF"/>
                    </a:solidFill>
                  </a:tcPr>
                </a:tc>
              </a:tr>
              <a:tr h="521208">
                <a:tc>
                  <a:txBody>
                    <a:bodyPr/>
                    <a:lstStyle/>
                    <a:p>
                      <a:r>
                        <a:rPr sz="1000"/>
                        <a:t>February 2027</a:t>
                      </a:r>
                    </a:p>
                  </a:txBody>
                  <a:tcPr>
                    <a:solidFill>
                      <a:srgbClr val="F5F7FC"/>
                    </a:solidFill>
                  </a:tcPr>
                </a:tc>
                <a:tc>
                  <a:txBody>
                    <a:bodyPr/>
                    <a:lstStyle/>
                    <a:p>
                      <a:r>
                        <a:rPr sz="1000"/>
                        <a:t>Indoor season - target sub-10.65 in 100m</a:t>
                      </a:r>
                    </a:p>
                  </a:txBody>
                  <a:tcPr>
                    <a:solidFill>
                      <a:srgbClr val="F5F7FC"/>
                    </a:solidFill>
                  </a:tcPr>
                </a:tc>
                <a:tc>
                  <a:txBody>
                    <a:bodyPr/>
                    <a:lstStyle/>
                    <a:p>
                      <a:r>
                        <a:rPr sz="1000"/>
                        <a:t>Devon</a:t>
                      </a:r>
                    </a:p>
                  </a:txBody>
                  <a:tcPr>
                    <a:solidFill>
                      <a:srgbClr val="F5F7FC"/>
                    </a:solidFill>
                  </a:tcPr>
                </a:tc>
                <a:tc>
                  <a:txBody>
                    <a:bodyPr/>
                    <a:lstStyle/>
                    <a:p>
                      <a:r>
                        <a:rPr sz="1000"/>
                        <a:t>Results shared with all recruiting programs</a:t>
                      </a:r>
                    </a:p>
                  </a:txBody>
                  <a:tcPr>
                    <a:solidFill>
                      <a:srgbClr val="F5F7FC"/>
                    </a:solidFill>
                  </a:tcPr>
                </a:tc>
              </a:tr>
              <a:tr h="521208">
                <a:tc>
                  <a:txBody>
                    <a:bodyPr/>
                    <a:lstStyle/>
                    <a:p>
                      <a:r>
                        <a:rPr sz="1000"/>
                        <a:t>February 2027</a:t>
                      </a:r>
                    </a:p>
                  </a:txBody>
                  <a:tcPr>
                    <a:solidFill>
                      <a:srgbClr val="FFFFFF"/>
                    </a:solidFill>
                  </a:tcPr>
                </a:tc>
                <a:tc>
                  <a:txBody>
                    <a:bodyPr/>
                    <a:lstStyle/>
                    <a:p>
                      <a:r>
                        <a:rPr sz="1000"/>
                        <a:t>Official visit window opens if NLI eligible</a:t>
                      </a:r>
                    </a:p>
                  </a:txBody>
                  <a:tcPr>
                    <a:solidFill>
                      <a:srgbClr val="FFFFFF"/>
                    </a:solidFill>
                  </a:tcPr>
                </a:tc>
                <a:tc>
                  <a:txBody>
                    <a:bodyPr/>
                    <a:lstStyle/>
                    <a:p>
                      <a:r>
                        <a:rPr sz="1000"/>
                        <a:t>Devon + Family</a:t>
                      </a:r>
                    </a:p>
                  </a:txBody>
                  <a:tcPr>
                    <a:solidFill>
                      <a:srgbClr val="FFFFFF"/>
                    </a:solidFill>
                  </a:tcPr>
                </a:tc>
                <a:tc>
                  <a:txBody>
                    <a:bodyPr/>
                    <a:lstStyle/>
                    <a:p>
                      <a:r>
                        <a:rPr sz="1000"/>
                        <a:t>Perry coordinates with program compliance office</a:t>
                      </a:r>
                    </a:p>
                  </a:txBody>
                  <a:tcPr>
                    <a:solidFill>
                      <a:srgbClr val="FFFFFF"/>
                    </a:solidFill>
                  </a:tcPr>
                </a:tc>
              </a:tr>
              <a:tr h="521208">
                <a:tc>
                  <a:txBody>
                    <a:bodyPr/>
                    <a:lstStyle/>
                    <a:p>
                      <a:r>
                        <a:rPr sz="1000"/>
                        <a:t>May 2027</a:t>
                      </a:r>
                    </a:p>
                  </a:txBody>
                  <a:tcPr>
                    <a:solidFill>
                      <a:srgbClr val="F5F7FC"/>
                    </a:solidFill>
                  </a:tcPr>
                </a:tc>
                <a:tc>
                  <a:txBody>
                    <a:bodyPr/>
                    <a:lstStyle/>
                    <a:p>
                      <a:r>
                        <a:rPr sz="1000"/>
                        <a:t>Outdoor season final marks for scholarship decisions</a:t>
                      </a:r>
                    </a:p>
                  </a:txBody>
                  <a:tcPr>
                    <a:solidFill>
                      <a:srgbClr val="F5F7FC"/>
                    </a:solidFill>
                  </a:tcPr>
                </a:tc>
                <a:tc>
                  <a:txBody>
                    <a:bodyPr/>
                    <a:lstStyle/>
                    <a:p>
                      <a:r>
                        <a:rPr sz="1000"/>
                        <a:t>Devon</a:t>
                      </a:r>
                    </a:p>
                  </a:txBody>
                  <a:tcPr>
                    <a:solidFill>
                      <a:srgbClr val="F5F7FC"/>
                    </a:solidFill>
                  </a:tcPr>
                </a:tc>
                <a:tc>
                  <a:txBody>
                    <a:bodyPr/>
                    <a:lstStyle/>
                    <a:p>
                      <a:r>
                        <a:rPr sz="1000"/>
                        <a:t>Target 10.55 and 21.30 for full offer consideration</a:t>
                      </a:r>
                    </a:p>
                  </a:txBody>
                  <a:tcPr>
                    <a:solidFill>
                      <a:srgbClr val="F5F7FC"/>
                    </a:solidFill>
                  </a:tcPr>
                </a:tc>
              </a:tr>
              <a:tr h="521208">
                <a:tc>
                  <a:txBody>
                    <a:bodyPr/>
                    <a:lstStyle/>
                    <a:p>
                      <a:r>
                        <a:rPr sz="1000"/>
                        <a:t>June 2027</a:t>
                      </a:r>
                    </a:p>
                  </a:txBody>
                  <a:tcPr>
                    <a:solidFill>
                      <a:srgbClr val="FFFFFF"/>
                    </a:solidFill>
                  </a:tcPr>
                </a:tc>
                <a:tc>
                  <a:txBody>
                    <a:bodyPr/>
                    <a:lstStyle/>
                    <a:p>
                      <a:r>
                        <a:rPr sz="1000"/>
                        <a:t>State meet - final recruiting showcase</a:t>
                      </a:r>
                    </a:p>
                  </a:txBody>
                  <a:tcPr>
                    <a:solidFill>
                      <a:srgbClr val="FFFFFF"/>
                    </a:solidFill>
                  </a:tcPr>
                </a:tc>
                <a:tc>
                  <a:txBody>
                    <a:bodyPr/>
                    <a:lstStyle/>
                    <a:p>
                      <a:r>
                        <a:rPr sz="1000"/>
                        <a:t>Devon</a:t>
                      </a:r>
                    </a:p>
                  </a:txBody>
                  <a:tcPr>
                    <a:solidFill>
                      <a:srgbClr val="FFFFFF"/>
                    </a:solidFill>
                  </a:tcPr>
                </a:tc>
                <a:tc>
                  <a:txBody>
                    <a:bodyPr/>
                    <a:lstStyle/>
                    <a:p>
                      <a:r>
                        <a:rPr sz="1000"/>
                        <a:t>Gulf Shores; Perry attending as coach</a:t>
                      </a:r>
                    </a:p>
                  </a:txBody>
                  <a:tcPr>
                    <a:solidFill>
                      <a:srgbClr val="FFFFFF"/>
                    </a:solidFill>
                  </a:tcPr>
                </a:tc>
              </a:tr>
              <a:tr h="521208">
                <a:tc>
                  <a:txBody>
                    <a:bodyPr/>
                    <a:lstStyle/>
                    <a:p>
                      <a:r>
                        <a:rPr sz="1000"/>
                        <a:t>June 2027</a:t>
                      </a:r>
                    </a:p>
                  </a:txBody>
                  <a:tcPr>
                    <a:solidFill>
                      <a:srgbClr val="F5F7FC"/>
                    </a:solidFill>
                  </a:tcPr>
                </a:tc>
                <a:tc>
                  <a:txBody>
                    <a:bodyPr/>
                    <a:lstStyle/>
                    <a:p>
                      <a:r>
                        <a:rPr sz="1000"/>
                        <a:t>Decision deadline for NLI signing</a:t>
                      </a:r>
                    </a:p>
                  </a:txBody>
                  <a:tcPr>
                    <a:solidFill>
                      <a:srgbClr val="F5F7FC"/>
                    </a:solidFill>
                  </a:tcPr>
                </a:tc>
                <a:tc>
                  <a:txBody>
                    <a:bodyPr/>
                    <a:lstStyle/>
                    <a:p>
                      <a:r>
                        <a:rPr sz="1000"/>
                        <a:t>Devon + Family</a:t>
                      </a:r>
                    </a:p>
                  </a:txBody>
                  <a:tcPr>
                    <a:solidFill>
                      <a:srgbClr val="F5F7FC"/>
                    </a:solidFill>
                  </a:tcPr>
                </a:tc>
                <a:tc>
                  <a:txBody>
                    <a:bodyPr/>
                    <a:lstStyle/>
                    <a:p>
                      <a:r>
                        <a:rPr sz="1000"/>
                        <a:t>Perry available to advise, decision is Devon's</a:t>
                      </a:r>
                    </a:p>
                  </a:txBody>
                  <a:tcPr>
                    <a:solidFill>
                      <a:srgbClr val="F5F7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55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CCA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ctr"/>
            <a:r>
              <a:rPr sz="2200" b="1">
                <a:solidFill>
                  <a:srgbClr val="0F255A"/>
                </a:solidFill>
              </a:rPr>
              <a:t>CONTACT INFORMATION</a:t>
            </a:r>
          </a:p>
        </p:txBody>
      </p:sp>
      <p:sp>
        <p:nvSpPr>
          <p:cNvPr id="4" name="Rectangle 3"/>
          <p:cNvSpPr/>
          <p:nvPr/>
        </p:nvSpPr>
        <p:spPr>
          <a:xfrm>
            <a:off x="2286000" y="1188720"/>
            <a:ext cx="7619695" cy="4114800"/>
          </a:xfrm>
          <a:prstGeom prst="rect">
            <a:avLst/>
          </a:prstGeom>
          <a:solidFill>
            <a:srgbClr val="142D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80" y="1371600"/>
            <a:ext cx="7315200" cy="548640"/>
          </a:xfrm>
          <a:prstGeom prst="rect">
            <a:avLst/>
          </a:prstGeom>
          <a:noFill/>
        </p:spPr>
        <p:txBody>
          <a:bodyPr wrap="square">
            <a:spAutoFit/>
          </a:bodyPr>
          <a:lstStyle/>
          <a:p>
            <a:pPr algn="ctr"/>
            <a:r>
              <a:rPr sz="2000" b="1">
                <a:solidFill>
                  <a:srgbClr val="CCA01D"/>
                </a:solidFill>
              </a:rPr>
              <a:t>Shannon D. Perry, DPT, SCS</a:t>
            </a:r>
          </a:p>
        </p:txBody>
      </p:sp>
      <p:sp>
        <p:nvSpPr>
          <p:cNvPr id="6" name="TextBox 5"/>
          <p:cNvSpPr txBox="1"/>
          <p:nvPr/>
        </p:nvSpPr>
        <p:spPr>
          <a:xfrm>
            <a:off x="2468880" y="2011680"/>
            <a:ext cx="7315200" cy="731520"/>
          </a:xfrm>
          <a:prstGeom prst="rect">
            <a:avLst/>
          </a:prstGeom>
          <a:noFill/>
        </p:spPr>
        <p:txBody>
          <a:bodyPr wrap="square">
            <a:spAutoFit/>
          </a:bodyPr>
          <a:lstStyle/>
          <a:p>
            <a:pPr algn="ctr"/>
            <a:r>
              <a:rPr sz="1300" b="0">
                <a:solidFill>
                  <a:srgbClr val="FFFFFF"/>
                </a:solidFill>
              </a:rPr>
              <a:t>Head Track and Field Coach, Crestwood High School
Sports Physical Therapist, Iron City Sports Medicine</a:t>
            </a:r>
          </a:p>
        </p:txBody>
      </p:sp>
      <p:sp>
        <p:nvSpPr>
          <p:cNvPr id="7" name="Rectangle 6"/>
          <p:cNvSpPr/>
          <p:nvPr/>
        </p:nvSpPr>
        <p:spPr>
          <a:xfrm>
            <a:off x="2468880" y="2880360"/>
            <a:ext cx="7223760" cy="36576"/>
          </a:xfrm>
          <a:prstGeom prst="rect">
            <a:avLst/>
          </a:prstGeom>
          <a:solidFill>
            <a:srgbClr val="CCA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3063240"/>
            <a:ext cx="1828800" cy="365760"/>
          </a:xfrm>
          <a:prstGeom prst="rect">
            <a:avLst/>
          </a:prstGeom>
          <a:noFill/>
        </p:spPr>
        <p:txBody>
          <a:bodyPr wrap="square">
            <a:spAutoFit/>
          </a:bodyPr>
          <a:lstStyle/>
          <a:p>
            <a:pPr algn="l"/>
            <a:r>
              <a:rPr sz="1200" b="1">
                <a:solidFill>
                  <a:srgbClr val="CCA01D"/>
                </a:solidFill>
              </a:rPr>
              <a:t>Phone:</a:t>
            </a:r>
          </a:p>
        </p:txBody>
      </p:sp>
      <p:sp>
        <p:nvSpPr>
          <p:cNvPr id="9" name="TextBox 8"/>
          <p:cNvSpPr txBox="1"/>
          <p:nvPr/>
        </p:nvSpPr>
        <p:spPr>
          <a:xfrm>
            <a:off x="4846320" y="3063240"/>
            <a:ext cx="4572000" cy="365760"/>
          </a:xfrm>
          <a:prstGeom prst="rect">
            <a:avLst/>
          </a:prstGeom>
          <a:noFill/>
        </p:spPr>
        <p:txBody>
          <a:bodyPr wrap="square">
            <a:spAutoFit/>
          </a:bodyPr>
          <a:lstStyle/>
          <a:p>
            <a:pPr algn="l"/>
            <a:r>
              <a:rPr sz="1200" b="0">
                <a:solidFill>
                  <a:srgbClr val="FFFFFF"/>
                </a:solidFill>
              </a:rPr>
              <a:t>(205) 555-0291</a:t>
            </a:r>
          </a:p>
        </p:txBody>
      </p:sp>
      <p:sp>
        <p:nvSpPr>
          <p:cNvPr id="10" name="TextBox 9"/>
          <p:cNvSpPr txBox="1"/>
          <p:nvPr/>
        </p:nvSpPr>
        <p:spPr>
          <a:xfrm>
            <a:off x="2926080" y="3474720"/>
            <a:ext cx="1828800" cy="365760"/>
          </a:xfrm>
          <a:prstGeom prst="rect">
            <a:avLst/>
          </a:prstGeom>
          <a:noFill/>
        </p:spPr>
        <p:txBody>
          <a:bodyPr wrap="square">
            <a:spAutoFit/>
          </a:bodyPr>
          <a:lstStyle/>
          <a:p>
            <a:pPr algn="l"/>
            <a:r>
              <a:rPr sz="1200" b="1">
                <a:solidFill>
                  <a:srgbClr val="CCA01D"/>
                </a:solidFill>
              </a:rPr>
              <a:t>Email:</a:t>
            </a:r>
          </a:p>
        </p:txBody>
      </p:sp>
      <p:sp>
        <p:nvSpPr>
          <p:cNvPr id="11" name="TextBox 10"/>
          <p:cNvSpPr txBox="1"/>
          <p:nvPr/>
        </p:nvSpPr>
        <p:spPr>
          <a:xfrm>
            <a:off x="4846320" y="3474720"/>
            <a:ext cx="4572000" cy="365760"/>
          </a:xfrm>
          <a:prstGeom prst="rect">
            <a:avLst/>
          </a:prstGeom>
          <a:noFill/>
        </p:spPr>
        <p:txBody>
          <a:bodyPr wrap="square">
            <a:spAutoFit/>
          </a:bodyPr>
          <a:lstStyle/>
          <a:p>
            <a:pPr algn="l"/>
            <a:r>
              <a:rPr sz="1200" b="0">
                <a:solidFill>
                  <a:srgbClr val="FFFFFF"/>
                </a:solidFill>
              </a:rPr>
              <a:t>shannon.perry@Finthesiss.ai</a:t>
            </a:r>
          </a:p>
        </p:txBody>
      </p:sp>
      <p:sp>
        <p:nvSpPr>
          <p:cNvPr id="12" name="TextBox 11"/>
          <p:cNvSpPr txBox="1"/>
          <p:nvPr/>
        </p:nvSpPr>
        <p:spPr>
          <a:xfrm>
            <a:off x="2926080" y="3886200"/>
            <a:ext cx="1828800" cy="365760"/>
          </a:xfrm>
          <a:prstGeom prst="rect">
            <a:avLst/>
          </a:prstGeom>
          <a:noFill/>
        </p:spPr>
        <p:txBody>
          <a:bodyPr wrap="square">
            <a:spAutoFit/>
          </a:bodyPr>
          <a:lstStyle/>
          <a:p>
            <a:pPr algn="l"/>
            <a:r>
              <a:rPr sz="1200" b="1">
                <a:solidFill>
                  <a:srgbClr val="CCA01D"/>
                </a:solidFill>
              </a:rPr>
              <a:t>PT License:</a:t>
            </a:r>
          </a:p>
        </p:txBody>
      </p:sp>
      <p:sp>
        <p:nvSpPr>
          <p:cNvPr id="13" name="TextBox 12"/>
          <p:cNvSpPr txBox="1"/>
          <p:nvPr/>
        </p:nvSpPr>
        <p:spPr>
          <a:xfrm>
            <a:off x="4846320" y="3886200"/>
            <a:ext cx="4572000" cy="365760"/>
          </a:xfrm>
          <a:prstGeom prst="rect">
            <a:avLst/>
          </a:prstGeom>
          <a:noFill/>
        </p:spPr>
        <p:txBody>
          <a:bodyPr wrap="square">
            <a:spAutoFit/>
          </a:bodyPr>
          <a:lstStyle/>
          <a:p>
            <a:pPr algn="l"/>
            <a:r>
              <a:rPr sz="1200" b="0">
                <a:solidFill>
                  <a:srgbClr val="FFFFFF"/>
                </a:solidFill>
              </a:rPr>
              <a:t>Alabama PT-4738</a:t>
            </a:r>
          </a:p>
        </p:txBody>
      </p:sp>
      <p:sp>
        <p:nvSpPr>
          <p:cNvPr id="14" name="TextBox 13"/>
          <p:cNvSpPr txBox="1"/>
          <p:nvPr/>
        </p:nvSpPr>
        <p:spPr>
          <a:xfrm>
            <a:off x="2926080" y="4297680"/>
            <a:ext cx="1828800" cy="365760"/>
          </a:xfrm>
          <a:prstGeom prst="rect">
            <a:avLst/>
          </a:prstGeom>
          <a:noFill/>
        </p:spPr>
        <p:txBody>
          <a:bodyPr wrap="square">
            <a:spAutoFit/>
          </a:bodyPr>
          <a:lstStyle/>
          <a:p>
            <a:pPr algn="l"/>
            <a:r>
              <a:rPr sz="1200" b="1">
                <a:solidFill>
                  <a:srgbClr val="CCA01D"/>
                </a:solidFill>
              </a:rPr>
              <a:t>Location:</a:t>
            </a:r>
          </a:p>
        </p:txBody>
      </p:sp>
      <p:sp>
        <p:nvSpPr>
          <p:cNvPr id="15" name="TextBox 14"/>
          <p:cNvSpPr txBox="1"/>
          <p:nvPr/>
        </p:nvSpPr>
        <p:spPr>
          <a:xfrm>
            <a:off x="4846320" y="4297680"/>
            <a:ext cx="4572000" cy="365760"/>
          </a:xfrm>
          <a:prstGeom prst="rect">
            <a:avLst/>
          </a:prstGeom>
          <a:noFill/>
        </p:spPr>
        <p:txBody>
          <a:bodyPr wrap="square">
            <a:spAutoFit/>
          </a:bodyPr>
          <a:lstStyle/>
          <a:p>
            <a:pPr algn="l"/>
            <a:r>
              <a:rPr sz="1200" b="0">
                <a:solidFill>
                  <a:srgbClr val="FFFFFF"/>
                </a:solidFill>
              </a:rPr>
              <a:t>Birmingham, Alabama</a:t>
            </a:r>
          </a:p>
        </p:txBody>
      </p:sp>
      <p:sp>
        <p:nvSpPr>
          <p:cNvPr id="16" name="TextBox 15"/>
          <p:cNvSpPr txBox="1"/>
          <p:nvPr/>
        </p:nvSpPr>
        <p:spPr>
          <a:xfrm>
            <a:off x="2286000" y="5394960"/>
            <a:ext cx="7619695" cy="731520"/>
          </a:xfrm>
          <a:prstGeom prst="rect">
            <a:avLst/>
          </a:prstGeom>
          <a:noFill/>
        </p:spPr>
        <p:txBody>
          <a:bodyPr wrap="square">
            <a:spAutoFit/>
          </a:bodyPr>
          <a:lstStyle/>
          <a:p>
            <a:pPr algn="ctr"/>
            <a:r>
              <a:rPr sz="1000" b="0">
                <a:solidFill>
                  <a:srgbClr val="A0AFD2"/>
                </a:solidFill>
              </a:rPr>
              <a:t>Film and meet results available upon request. Devon Mitchell's family has authorized release of this profile to NCAA and NAIA member institutions.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