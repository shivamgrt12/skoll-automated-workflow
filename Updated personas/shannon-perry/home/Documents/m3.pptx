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a:pPr>
            <a:r>
              <a:t>Weekly Volume by Position Group (Phase 2)</a:t>
            </a:r>
          </a:p>
        </c:rich>
      </c:tx>
      <c:layout/>
      <c:overlay val="0"/>
    </c:title>
    <c:autoTitleDeleted val="0"/>
    <c:plotArea>
      <c:barChart>
        <c:barDir val="bar"/>
        <c:grouping val="clustered"/>
        <c:ser>
          <c:idx val="0"/>
          <c:order val="0"/>
          <c:tx>
            <c:strRef>
              <c:f>Sheet1!$B$1</c:f>
              <c:strCache>
                <c:ptCount val="1"/>
                <c:pt idx="0">
                  <c:v>Lower Body Volume (sets/week)</c:v>
                </c:pt>
              </c:strCache>
            </c:strRef>
          </c:tx>
          <c:cat>
            <c:strRef>
              <c:f>Sheet1!$A$2:$A$7</c:f>
              <c:strCache>
                <c:ptCount val="6"/>
                <c:pt idx="0">
                  <c:v>Linemen</c:v>
                </c:pt>
                <c:pt idx="1">
                  <c:v>Linebackers</c:v>
                </c:pt>
                <c:pt idx="2">
                  <c:v>Running Backs</c:v>
                </c:pt>
                <c:pt idx="3">
                  <c:v>Wide Receivers</c:v>
                </c:pt>
                <c:pt idx="4">
                  <c:v>DBs</c:v>
                </c:pt>
                <c:pt idx="5">
                  <c:v>QBs</c:v>
                </c:pt>
              </c:strCache>
            </c:strRef>
          </c:cat>
          <c:val>
            <c:numRef>
              <c:f>Sheet1!$B$2:$B$7</c:f>
              <c:numCache>
                <c:formatCode>General</c:formatCode>
                <c:ptCount val="6"/>
                <c:pt idx="0">
                  <c:v>22</c:v>
                </c:pt>
                <c:pt idx="1">
                  <c:v>18</c:v>
                </c:pt>
                <c:pt idx="2">
                  <c:v>20</c:v>
                </c:pt>
                <c:pt idx="3">
                  <c:v>16</c:v>
                </c:pt>
                <c:pt idx="4">
                  <c:v>17</c:v>
                </c:pt>
                <c:pt idx="5">
                  <c:v>14</c:v>
                </c:pt>
              </c:numCache>
            </c:numRef>
          </c:val>
        </c:ser>
        <c:ser>
          <c:idx val="1"/>
          <c:order val="1"/>
          <c:tx>
            <c:strRef>
              <c:f>Sheet1!$C$1</c:f>
              <c:strCache>
                <c:ptCount val="1"/>
                <c:pt idx="0">
                  <c:v>Upper Body Volume (sets/week)</c:v>
                </c:pt>
              </c:strCache>
            </c:strRef>
          </c:tx>
          <c:cat>
            <c:strRef>
              <c:f>Sheet1!$A$2:$A$7</c:f>
              <c:strCache>
                <c:ptCount val="6"/>
                <c:pt idx="0">
                  <c:v>Linemen</c:v>
                </c:pt>
                <c:pt idx="1">
                  <c:v>Linebackers</c:v>
                </c:pt>
                <c:pt idx="2">
                  <c:v>Running Backs</c:v>
                </c:pt>
                <c:pt idx="3">
                  <c:v>Wide Receivers</c:v>
                </c:pt>
                <c:pt idx="4">
                  <c:v>DBs</c:v>
                </c:pt>
                <c:pt idx="5">
                  <c:v>QBs</c:v>
                </c:pt>
              </c:strCache>
            </c:strRef>
          </c:cat>
          <c:val>
            <c:numRef>
              <c:f>Sheet1!$C$2:$C$7</c:f>
              <c:numCache>
                <c:formatCode>General</c:formatCode>
                <c:ptCount val="6"/>
                <c:pt idx="0">
                  <c:v>20</c:v>
                </c:pt>
                <c:pt idx="1">
                  <c:v>16</c:v>
                </c:pt>
                <c:pt idx="2">
                  <c:v>14</c:v>
                </c:pt>
                <c:pt idx="3">
                  <c:v>12</c:v>
                </c:pt>
                <c:pt idx="4">
                  <c:v>12</c:v>
                </c:pt>
                <c:pt idx="5">
                  <c:v>18</c:v>
                </c:pt>
              </c:numCache>
            </c:numRef>
          </c:val>
        </c:ser>
        <c:ser>
          <c:idx val="2"/>
          <c:order val="2"/>
          <c:tx>
            <c:strRef>
              <c:f>Sheet1!$D$1</c:f>
              <c:strCache>
                <c:ptCount val="1"/>
                <c:pt idx="0">
                  <c:v>Core and Stability (sets/week)</c:v>
                </c:pt>
              </c:strCache>
            </c:strRef>
          </c:tx>
          <c:cat>
            <c:strRef>
              <c:f>Sheet1!$A$2:$A$7</c:f>
              <c:strCache>
                <c:ptCount val="6"/>
                <c:pt idx="0">
                  <c:v>Linemen</c:v>
                </c:pt>
                <c:pt idx="1">
                  <c:v>Linebackers</c:v>
                </c:pt>
                <c:pt idx="2">
                  <c:v>Running Backs</c:v>
                </c:pt>
                <c:pt idx="3">
                  <c:v>Wide Receivers</c:v>
                </c:pt>
                <c:pt idx="4">
                  <c:v>DBs</c:v>
                </c:pt>
                <c:pt idx="5">
                  <c:v>QBs</c:v>
                </c:pt>
              </c:strCache>
            </c:strRef>
          </c:cat>
          <c:val>
            <c:numRef>
              <c:f>Sheet1!$D$2:$D$7</c:f>
              <c:numCache>
                <c:formatCode>General</c:formatCode>
                <c:ptCount val="6"/>
                <c:pt idx="0">
                  <c:v>15</c:v>
                </c:pt>
                <c:pt idx="1">
                  <c:v>16</c:v>
                </c:pt>
                <c:pt idx="2">
                  <c:v>18</c:v>
                </c:pt>
                <c:pt idx="3">
                  <c:v>19</c:v>
                </c:pt>
                <c:pt idx="4">
                  <c:v>19</c:v>
                </c:pt>
                <c:pt idx="5">
                  <c:v>17</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Projected Injury Rate Reduction per 100 Athletes</a:t>
            </a:r>
          </a:p>
        </c:rich>
      </c:tx>
      <c:layout/>
      <c:overlay val="0"/>
    </c:title>
    <c:autoTitleDeleted val="0"/>
    <c:plotArea>
      <c:barChart>
        <c:barDir val="bar"/>
        <c:grouping val="clustered"/>
        <c:ser>
          <c:idx val="0"/>
          <c:order val="0"/>
          <c:tx>
            <c:strRef>
              <c:f>Sheet1!$B$1</c:f>
              <c:strCache>
                <c:ptCount val="1"/>
                <c:pt idx="0">
                  <c:v>Without Prehab (baseline %)</c:v>
                </c:pt>
              </c:strCache>
            </c:strRef>
          </c:tx>
          <c:cat>
            <c:strRef>
              <c:f>Sheet1!$A$2:$A$6</c:f>
              <c:strCache>
                <c:ptCount val="5"/>
                <c:pt idx="0">
                  <c:v>Muscle Strains</c:v>
                </c:pt>
                <c:pt idx="1">
                  <c:v>Ankle Sprains</c:v>
                </c:pt>
                <c:pt idx="2">
                  <c:v>Overuse Knee</c:v>
                </c:pt>
                <c:pt idx="3">
                  <c:v>Back Strains</c:v>
                </c:pt>
                <c:pt idx="4">
                  <c:v>Shoulder Instab.</c:v>
                </c:pt>
              </c:strCache>
            </c:strRef>
          </c:cat>
          <c:val>
            <c:numRef>
              <c:f>Sheet1!$B$2:$B$6</c:f>
              <c:numCache>
                <c:formatCode>General</c:formatCode>
                <c:ptCount val="5"/>
                <c:pt idx="0">
                  <c:v>18.4</c:v>
                </c:pt>
                <c:pt idx="1">
                  <c:v>22.1</c:v>
                </c:pt>
                <c:pt idx="2">
                  <c:v>11.7</c:v>
                </c:pt>
                <c:pt idx="3">
                  <c:v>9.3</c:v>
                </c:pt>
                <c:pt idx="4">
                  <c:v>6.9</c:v>
                </c:pt>
              </c:numCache>
            </c:numRef>
          </c:val>
        </c:ser>
        <c:ser>
          <c:idx val="1"/>
          <c:order val="1"/>
          <c:tx>
            <c:strRef>
              <c:f>Sheet1!$C$1</c:f>
              <c:strCache>
                <c:ptCount val="1"/>
                <c:pt idx="0">
                  <c:v>Projected With Prehab (%)</c:v>
                </c:pt>
              </c:strCache>
            </c:strRef>
          </c:tx>
          <c:cat>
            <c:strRef>
              <c:f>Sheet1!$A$2:$A$6</c:f>
              <c:strCache>
                <c:ptCount val="5"/>
                <c:pt idx="0">
                  <c:v>Muscle Strains</c:v>
                </c:pt>
                <c:pt idx="1">
                  <c:v>Ankle Sprains</c:v>
                </c:pt>
                <c:pt idx="2">
                  <c:v>Overuse Knee</c:v>
                </c:pt>
                <c:pt idx="3">
                  <c:v>Back Strains</c:v>
                </c:pt>
                <c:pt idx="4">
                  <c:v>Shoulder Instab.</c:v>
                </c:pt>
              </c:strCache>
            </c:strRef>
          </c:cat>
          <c:val>
            <c:numRef>
              <c:f>Sheet1!$C$2:$C$6</c:f>
              <c:numCache>
                <c:formatCode>General</c:formatCode>
                <c:ptCount val="5"/>
                <c:pt idx="0">
                  <c:v>7.4</c:v>
                </c:pt>
                <c:pt idx="1">
                  <c:v>9.0</c:v>
                </c:pt>
                <c:pt idx="2">
                  <c:v>4.8</c:v>
                </c:pt>
                <c:pt idx="3">
                  <c:v>4.3</c:v>
                </c:pt>
                <c:pt idx="4">
                  <c:v>4.8</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82830"/>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548640"/>
          </a:xfrm>
          <a:prstGeom prst="rect">
            <a:avLst/>
          </a:prstGeom>
          <a:noFill/>
        </p:spPr>
        <p:txBody>
          <a:bodyPr wrap="square">
            <a:spAutoFit/>
          </a:bodyPr>
          <a:lstStyle/>
          <a:p>
            <a:pPr algn="ctr"/>
            <a:r>
              <a:rPr sz="2000" b="1">
                <a:solidFill>
                  <a:srgbClr val="FFFFFF"/>
                </a:solidFill>
              </a:rPr>
              <a:t>IRON CITY SPORTS MEDICINE</a:t>
            </a:r>
          </a:p>
        </p:txBody>
      </p:sp>
      <p:sp>
        <p:nvSpPr>
          <p:cNvPr id="4" name="TextBox 3"/>
          <p:cNvSpPr txBox="1"/>
          <p:nvPr/>
        </p:nvSpPr>
        <p:spPr>
          <a:xfrm>
            <a:off x="365760" y="822960"/>
            <a:ext cx="10972800" cy="411480"/>
          </a:xfrm>
          <a:prstGeom prst="rect">
            <a:avLst/>
          </a:prstGeom>
          <a:noFill/>
        </p:spPr>
        <p:txBody>
          <a:bodyPr wrap="square">
            <a:spAutoFit/>
          </a:bodyPr>
          <a:lstStyle/>
          <a:p>
            <a:pPr algn="ctr"/>
            <a:r>
              <a:rPr sz="1400" b="0">
                <a:solidFill>
                  <a:srgbClr val="DCC8C8"/>
                </a:solidFill>
              </a:rPr>
              <a:t>Pre-Season Injury Prevention Program</a:t>
            </a:r>
          </a:p>
        </p:txBody>
      </p:sp>
      <p:sp>
        <p:nvSpPr>
          <p:cNvPr id="5" name="Rectangle 4"/>
          <p:cNvSpPr/>
          <p:nvPr/>
        </p:nvSpPr>
        <p:spPr>
          <a:xfrm>
            <a:off x="1371600" y="1554480"/>
            <a:ext cx="9448495" cy="73152"/>
          </a:xfrm>
          <a:prstGeom prst="rect">
            <a:avLst/>
          </a:prstGeom>
          <a:solidFill>
            <a:srgbClr val="D26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83080"/>
            <a:ext cx="10972800" cy="1097280"/>
          </a:xfrm>
          <a:prstGeom prst="rect">
            <a:avLst/>
          </a:prstGeom>
          <a:noFill/>
        </p:spPr>
        <p:txBody>
          <a:bodyPr wrap="square">
            <a:spAutoFit/>
          </a:bodyPr>
          <a:lstStyle/>
          <a:p>
            <a:pPr algn="ctr"/>
            <a:r>
              <a:rPr sz="4800" b="1">
                <a:solidFill>
                  <a:srgbClr val="FFFFFF"/>
                </a:solidFill>
              </a:rPr>
              <a:t>Football Prehabilitation</a:t>
            </a:r>
          </a:p>
        </p:txBody>
      </p:sp>
      <p:sp>
        <p:nvSpPr>
          <p:cNvPr id="7" name="TextBox 6"/>
          <p:cNvSpPr txBox="1"/>
          <p:nvPr/>
        </p:nvSpPr>
        <p:spPr>
          <a:xfrm>
            <a:off x="365760" y="3017520"/>
            <a:ext cx="10972800" cy="502920"/>
          </a:xfrm>
          <a:prstGeom prst="rect">
            <a:avLst/>
          </a:prstGeom>
          <a:noFill/>
        </p:spPr>
        <p:txBody>
          <a:bodyPr wrap="square">
            <a:spAutoFit/>
          </a:bodyPr>
          <a:lstStyle/>
          <a:p>
            <a:pPr algn="ctr"/>
            <a:r>
              <a:rPr sz="1600" b="0">
                <a:solidFill>
                  <a:srgbClr val="C8B4B4"/>
                </a:solidFill>
              </a:rPr>
              <a:t>Crestwood High School Athletics   |   2026-2027 Season</a:t>
            </a:r>
          </a:p>
        </p:txBody>
      </p:sp>
      <p:sp>
        <p:nvSpPr>
          <p:cNvPr id="8" name="Rectangle 7"/>
          <p:cNvSpPr/>
          <p:nvPr/>
        </p:nvSpPr>
        <p:spPr>
          <a:xfrm>
            <a:off x="1371600" y="3657600"/>
            <a:ext cx="9448495" cy="54864"/>
          </a:xfrm>
          <a:prstGeom prst="rect">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3840480"/>
            <a:ext cx="10972800" cy="822960"/>
          </a:xfrm>
          <a:prstGeom prst="rect">
            <a:avLst/>
          </a:prstGeom>
          <a:noFill/>
        </p:spPr>
        <p:txBody>
          <a:bodyPr wrap="square">
            <a:spAutoFit/>
          </a:bodyPr>
          <a:lstStyle/>
          <a:p>
            <a:pPr algn="ctr"/>
            <a:r>
              <a:rPr sz="1300" b="0">
                <a:solidFill>
                  <a:srgbClr val="B4B4BE"/>
                </a:solidFill>
              </a:rPr>
              <a:t>Program Lead: Shannon D. Perry, DPT, SCS
Iron City Sports Medicine  |  (205) 555-0291  |  shannon.perry@Finthesiss.ai</a:t>
            </a:r>
          </a:p>
        </p:txBody>
      </p:sp>
      <p:sp>
        <p:nvSpPr>
          <p:cNvPr id="10" name="TextBox 9"/>
          <p:cNvSpPr txBox="1"/>
          <p:nvPr/>
        </p:nvSpPr>
        <p:spPr>
          <a:xfrm>
            <a:off x="365760" y="4937760"/>
            <a:ext cx="10972800" cy="457200"/>
          </a:xfrm>
          <a:prstGeom prst="rect">
            <a:avLst/>
          </a:prstGeom>
          <a:noFill/>
        </p:spPr>
        <p:txBody>
          <a:bodyPr wrap="square">
            <a:spAutoFit/>
          </a:bodyPr>
          <a:lstStyle/>
          <a:p>
            <a:pPr algn="ctr"/>
            <a:r>
              <a:rPr sz="1100" b="0">
                <a:solidFill>
                  <a:srgbClr val="828291"/>
                </a:solidFill>
              </a:rPr>
              <a:t>Presented to Crestwood High School Football Staff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5F5"/>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PROGRAM RATIONALE</a:t>
            </a:r>
          </a:p>
        </p:txBody>
      </p:sp>
      <p:sp>
        <p:nvSpPr>
          <p:cNvPr id="4" name="TextBox 3"/>
          <p:cNvSpPr txBox="1"/>
          <p:nvPr/>
        </p:nvSpPr>
        <p:spPr>
          <a:xfrm>
            <a:off x="365760" y="1005840"/>
            <a:ext cx="10972800" cy="320040"/>
          </a:xfrm>
          <a:prstGeom prst="rect">
            <a:avLst/>
          </a:prstGeom>
          <a:noFill/>
        </p:spPr>
        <p:txBody>
          <a:bodyPr wrap="square">
            <a:spAutoFit/>
          </a:bodyPr>
          <a:lstStyle/>
          <a:p>
            <a:pPr algn="l"/>
            <a:r>
              <a:rPr sz="1200" b="0">
                <a:solidFill>
                  <a:srgbClr val="503232"/>
                </a:solidFill>
              </a:rPr>
              <a:t>Why structured prehabilitation before contact practice begins</a:t>
            </a:r>
          </a:p>
        </p:txBody>
      </p:sp>
      <p:graphicFrame>
        <p:nvGraphicFramePr>
          <p:cNvPr id="5" name="Table 4"/>
          <p:cNvGraphicFramePr>
            <a:graphicFrameLocks noGrp="1"/>
          </p:cNvGraphicFramePr>
          <p:nvPr/>
        </p:nvGraphicFramePr>
        <p:xfrm>
          <a:off x="365760" y="1417320"/>
          <a:ext cx="11430000" cy="3200400"/>
        </p:xfrm>
        <a:graphic>
          <a:graphicData uri="http://schemas.openxmlformats.org/drawingml/2006/table">
            <a:tbl>
              <a:tblPr firstRow="1" bandRow="1">
                <a:tableStyleId>{5C22544A-7EE6-4342-B048-85BDC9FD1C3A}</a:tableStyleId>
              </a:tblPr>
              <a:tblGrid>
                <a:gridCol w="2857500"/>
                <a:gridCol w="2857500"/>
                <a:gridCol w="2857500"/>
                <a:gridCol w="2857500"/>
              </a:tblGrid>
              <a:tr h="457200">
                <a:tc>
                  <a:txBody>
                    <a:bodyPr/>
                    <a:lstStyle/>
                    <a:p>
                      <a:r>
                        <a:rPr b="1" sz="1100">
                          <a:solidFill>
                            <a:srgbClr val="FFFFFF"/>
                          </a:solidFill>
                        </a:rPr>
                        <a:t>Injury Category</a:t>
                      </a:r>
                    </a:p>
                  </a:txBody>
                  <a:tcPr>
                    <a:solidFill>
                      <a:srgbClr val="9E0F0F"/>
                    </a:solidFill>
                  </a:tcPr>
                </a:tc>
                <a:tc>
                  <a:txBody>
                    <a:bodyPr/>
                    <a:lstStyle/>
                    <a:p>
                      <a:r>
                        <a:rPr b="1" sz="1100">
                          <a:solidFill>
                            <a:srgbClr val="FFFFFF"/>
                          </a:solidFill>
                        </a:rPr>
                        <a:t>Avg Reported Cases / 100 Athletes</a:t>
                      </a:r>
                    </a:p>
                  </a:txBody>
                  <a:tcPr>
                    <a:solidFill>
                      <a:srgbClr val="9E0F0F"/>
                    </a:solidFill>
                  </a:tcPr>
                </a:tc>
                <a:tc>
                  <a:txBody>
                    <a:bodyPr/>
                    <a:lstStyle/>
                    <a:p>
                      <a:r>
                        <a:rPr b="1" sz="1100">
                          <a:solidFill>
                            <a:srgbClr val="FFFFFF"/>
                          </a:solidFill>
                        </a:rPr>
                        <a:t>Avg Days Lost</a:t>
                      </a:r>
                    </a:p>
                  </a:txBody>
                  <a:tcPr>
                    <a:solidFill>
                      <a:srgbClr val="9E0F0F"/>
                    </a:solidFill>
                  </a:tcPr>
                </a:tc>
                <a:tc>
                  <a:txBody>
                    <a:bodyPr/>
                    <a:lstStyle/>
                    <a:p>
                      <a:r>
                        <a:rPr b="1" sz="1100">
                          <a:solidFill>
                            <a:srgbClr val="FFFFFF"/>
                          </a:solidFill>
                        </a:rPr>
                        <a:t>Preventable with Prehab</a:t>
                      </a:r>
                    </a:p>
                  </a:txBody>
                  <a:tcPr>
                    <a:solidFill>
                      <a:srgbClr val="9E0F0F"/>
                    </a:solidFill>
                  </a:tcPr>
                </a:tc>
              </a:tr>
              <a:tr h="457200">
                <a:tc>
                  <a:txBody>
                    <a:bodyPr/>
                    <a:lstStyle/>
                    <a:p>
                      <a:r>
                        <a:rPr sz="1000"/>
                        <a:t>Lower extremity muscle strain</a:t>
                      </a:r>
                    </a:p>
                  </a:txBody>
                  <a:tcPr>
                    <a:solidFill>
                      <a:srgbClr val="FCF5F5"/>
                    </a:solidFill>
                  </a:tcPr>
                </a:tc>
                <a:tc>
                  <a:txBody>
                    <a:bodyPr/>
                    <a:lstStyle/>
                    <a:p>
                      <a:r>
                        <a:rPr sz="1000"/>
                        <a:t>18.4</a:t>
                      </a:r>
                    </a:p>
                  </a:txBody>
                  <a:tcPr>
                    <a:solidFill>
                      <a:srgbClr val="FCF5F5"/>
                    </a:solidFill>
                  </a:tcPr>
                </a:tc>
                <a:tc>
                  <a:txBody>
                    <a:bodyPr/>
                    <a:lstStyle/>
                    <a:p>
                      <a:r>
                        <a:rPr sz="1000"/>
                        <a:t>8-14 days</a:t>
                      </a:r>
                    </a:p>
                  </a:txBody>
                  <a:tcPr>
                    <a:solidFill>
                      <a:srgbClr val="FCF5F5"/>
                    </a:solidFill>
                  </a:tcPr>
                </a:tc>
                <a:tc>
                  <a:txBody>
                    <a:bodyPr/>
                    <a:lstStyle/>
                    <a:p>
                      <a:r>
                        <a:rPr sz="1000"/>
                        <a:t>Yes - 60-70% reduction</a:t>
                      </a:r>
                    </a:p>
                  </a:txBody>
                  <a:tcPr>
                    <a:solidFill>
                      <a:srgbClr val="FCF5F5"/>
                    </a:solidFill>
                  </a:tcPr>
                </a:tc>
              </a:tr>
              <a:tr h="457200">
                <a:tc>
                  <a:txBody>
                    <a:bodyPr/>
                    <a:lstStyle/>
                    <a:p>
                      <a:r>
                        <a:rPr sz="1000"/>
                        <a:t>ACL/PCL ligament sprain</a:t>
                      </a:r>
                    </a:p>
                  </a:txBody>
                  <a:tcPr>
                    <a:solidFill>
                      <a:srgbClr val="FFFFFF"/>
                    </a:solidFill>
                  </a:tcPr>
                </a:tc>
                <a:tc>
                  <a:txBody>
                    <a:bodyPr/>
                    <a:lstStyle/>
                    <a:p>
                      <a:r>
                        <a:rPr sz="1000"/>
                        <a:t>3.2</a:t>
                      </a:r>
                    </a:p>
                  </a:txBody>
                  <a:tcPr>
                    <a:solidFill>
                      <a:srgbClr val="FFFFFF"/>
                    </a:solidFill>
                  </a:tcPr>
                </a:tc>
                <a:tc>
                  <a:txBody>
                    <a:bodyPr/>
                    <a:lstStyle/>
                    <a:p>
                      <a:r>
                        <a:rPr sz="1000"/>
                        <a:t>120-360 days</a:t>
                      </a:r>
                    </a:p>
                  </a:txBody>
                  <a:tcPr>
                    <a:solidFill>
                      <a:srgbClr val="FFFFFF"/>
                    </a:solidFill>
                  </a:tcPr>
                </a:tc>
                <a:tc>
                  <a:txBody>
                    <a:bodyPr/>
                    <a:lstStyle/>
                    <a:p>
                      <a:r>
                        <a:rPr sz="1000"/>
                        <a:t>Yes - 40-50% reduction</a:t>
                      </a:r>
                    </a:p>
                  </a:txBody>
                  <a:tcPr>
                    <a:solidFill>
                      <a:srgbClr val="FFFFFF"/>
                    </a:solidFill>
                  </a:tcPr>
                </a:tc>
              </a:tr>
              <a:tr h="457200">
                <a:tc>
                  <a:txBody>
                    <a:bodyPr/>
                    <a:lstStyle/>
                    <a:p>
                      <a:r>
                        <a:rPr sz="1000"/>
                        <a:t>Ankle sprain</a:t>
                      </a:r>
                    </a:p>
                  </a:txBody>
                  <a:tcPr>
                    <a:solidFill>
                      <a:srgbClr val="FCF5F5"/>
                    </a:solidFill>
                  </a:tcPr>
                </a:tc>
                <a:tc>
                  <a:txBody>
                    <a:bodyPr/>
                    <a:lstStyle/>
                    <a:p>
                      <a:r>
                        <a:rPr sz="1000"/>
                        <a:t>22.1</a:t>
                      </a:r>
                    </a:p>
                  </a:txBody>
                  <a:tcPr>
                    <a:solidFill>
                      <a:srgbClr val="FCF5F5"/>
                    </a:solidFill>
                  </a:tcPr>
                </a:tc>
                <a:tc>
                  <a:txBody>
                    <a:bodyPr/>
                    <a:lstStyle/>
                    <a:p>
                      <a:r>
                        <a:rPr sz="1000"/>
                        <a:t>5-10 days</a:t>
                      </a:r>
                    </a:p>
                  </a:txBody>
                  <a:tcPr>
                    <a:solidFill>
                      <a:srgbClr val="FCF5F5"/>
                    </a:solidFill>
                  </a:tcPr>
                </a:tc>
                <a:tc>
                  <a:txBody>
                    <a:bodyPr/>
                    <a:lstStyle/>
                    <a:p>
                      <a:r>
                        <a:rPr sz="1000"/>
                        <a:t>Yes - 50-65% reduction</a:t>
                      </a:r>
                    </a:p>
                  </a:txBody>
                  <a:tcPr>
                    <a:solidFill>
                      <a:srgbClr val="FCF5F5"/>
                    </a:solidFill>
                  </a:tcPr>
                </a:tc>
              </a:tr>
              <a:tr h="457200">
                <a:tc>
                  <a:txBody>
                    <a:bodyPr/>
                    <a:lstStyle/>
                    <a:p>
                      <a:r>
                        <a:rPr sz="1000"/>
                        <a:t>Overuse knee pain</a:t>
                      </a:r>
                    </a:p>
                  </a:txBody>
                  <a:tcPr>
                    <a:solidFill>
                      <a:srgbClr val="FFFFFF"/>
                    </a:solidFill>
                  </a:tcPr>
                </a:tc>
                <a:tc>
                  <a:txBody>
                    <a:bodyPr/>
                    <a:lstStyle/>
                    <a:p>
                      <a:r>
                        <a:rPr sz="1000"/>
                        <a:t>11.7</a:t>
                      </a:r>
                    </a:p>
                  </a:txBody>
                  <a:tcPr>
                    <a:solidFill>
                      <a:srgbClr val="FFFFFF"/>
                    </a:solidFill>
                  </a:tcPr>
                </a:tc>
                <a:tc>
                  <a:txBody>
                    <a:bodyPr/>
                    <a:lstStyle/>
                    <a:p>
                      <a:r>
                        <a:rPr sz="1000"/>
                        <a:t>14-28 days</a:t>
                      </a:r>
                    </a:p>
                  </a:txBody>
                  <a:tcPr>
                    <a:solidFill>
                      <a:srgbClr val="FFFFFF"/>
                    </a:solidFill>
                  </a:tcPr>
                </a:tc>
                <a:tc>
                  <a:txBody>
                    <a:bodyPr/>
                    <a:lstStyle/>
                    <a:p>
                      <a:r>
                        <a:rPr sz="1000"/>
                        <a:t>Yes - 55-70% reduction</a:t>
                      </a:r>
                    </a:p>
                  </a:txBody>
                  <a:tcPr>
                    <a:solidFill>
                      <a:srgbClr val="FFFFFF"/>
                    </a:solidFill>
                  </a:tcPr>
                </a:tc>
              </a:tr>
              <a:tr h="457200">
                <a:tc>
                  <a:txBody>
                    <a:bodyPr/>
                    <a:lstStyle/>
                    <a:p>
                      <a:r>
                        <a:rPr sz="1000"/>
                        <a:t>Shoulder instability</a:t>
                      </a:r>
                    </a:p>
                  </a:txBody>
                  <a:tcPr>
                    <a:solidFill>
                      <a:srgbClr val="FCF5F5"/>
                    </a:solidFill>
                  </a:tcPr>
                </a:tc>
                <a:tc>
                  <a:txBody>
                    <a:bodyPr/>
                    <a:lstStyle/>
                    <a:p>
                      <a:r>
                        <a:rPr sz="1000"/>
                        <a:t>6.9</a:t>
                      </a:r>
                    </a:p>
                  </a:txBody>
                  <a:tcPr>
                    <a:solidFill>
                      <a:srgbClr val="FCF5F5"/>
                    </a:solidFill>
                  </a:tcPr>
                </a:tc>
                <a:tc>
                  <a:txBody>
                    <a:bodyPr/>
                    <a:lstStyle/>
                    <a:p>
                      <a:r>
                        <a:rPr sz="1000"/>
                        <a:t>10-21 days</a:t>
                      </a:r>
                    </a:p>
                  </a:txBody>
                  <a:tcPr>
                    <a:solidFill>
                      <a:srgbClr val="FCF5F5"/>
                    </a:solidFill>
                  </a:tcPr>
                </a:tc>
                <a:tc>
                  <a:txBody>
                    <a:bodyPr/>
                    <a:lstStyle/>
                    <a:p>
                      <a:r>
                        <a:rPr sz="1000"/>
                        <a:t>Partial - 30-40% reduction</a:t>
                      </a:r>
                    </a:p>
                  </a:txBody>
                  <a:tcPr>
                    <a:solidFill>
                      <a:srgbClr val="FCF5F5"/>
                    </a:solidFill>
                  </a:tcPr>
                </a:tc>
              </a:tr>
              <a:tr h="457200">
                <a:tc>
                  <a:txBody>
                    <a:bodyPr/>
                    <a:lstStyle/>
                    <a:p>
                      <a:r>
                        <a:rPr sz="1000"/>
                        <a:t>Low back strain</a:t>
                      </a:r>
                    </a:p>
                  </a:txBody>
                  <a:tcPr>
                    <a:solidFill>
                      <a:srgbClr val="FFFFFF"/>
                    </a:solidFill>
                  </a:tcPr>
                </a:tc>
                <a:tc>
                  <a:txBody>
                    <a:bodyPr/>
                    <a:lstStyle/>
                    <a:p>
                      <a:r>
                        <a:rPr sz="1000"/>
                        <a:t>9.3</a:t>
                      </a:r>
                    </a:p>
                  </a:txBody>
                  <a:tcPr>
                    <a:solidFill>
                      <a:srgbClr val="FFFFFF"/>
                    </a:solidFill>
                  </a:tcPr>
                </a:tc>
                <a:tc>
                  <a:txBody>
                    <a:bodyPr/>
                    <a:lstStyle/>
                    <a:p>
                      <a:r>
                        <a:rPr sz="1000"/>
                        <a:t>7-14 days</a:t>
                      </a:r>
                    </a:p>
                  </a:txBody>
                  <a:tcPr>
                    <a:solidFill>
                      <a:srgbClr val="FFFFFF"/>
                    </a:solidFill>
                  </a:tcPr>
                </a:tc>
                <a:tc>
                  <a:txBody>
                    <a:bodyPr/>
                    <a:lstStyle/>
                    <a:p>
                      <a:r>
                        <a:rPr sz="1000"/>
                        <a:t>Yes - 45-55% reduction</a:t>
                      </a:r>
                    </a:p>
                  </a:txBody>
                  <a:tcPr>
                    <a:solidFill>
                      <a:srgbClr val="FFFFFF"/>
                    </a:solidFill>
                  </a:tcPr>
                </a:tc>
              </a:tr>
            </a:tbl>
          </a:graphicData>
        </a:graphic>
      </p:graphicFrame>
      <p:sp>
        <p:nvSpPr>
          <p:cNvPr id="6" name="TextBox 5"/>
          <p:cNvSpPr txBox="1"/>
          <p:nvPr/>
        </p:nvSpPr>
        <p:spPr>
          <a:xfrm>
            <a:off x="365760" y="4709160"/>
            <a:ext cx="11430000" cy="365760"/>
          </a:xfrm>
          <a:prstGeom prst="rect">
            <a:avLst/>
          </a:prstGeom>
          <a:noFill/>
        </p:spPr>
        <p:txBody>
          <a:bodyPr wrap="square">
            <a:spAutoFit/>
          </a:bodyPr>
          <a:lstStyle/>
          <a:p>
            <a:pPr algn="l"/>
            <a:r>
              <a:rPr sz="900" b="0">
                <a:solidFill>
                  <a:srgbClr val="645050"/>
                </a:solidFill>
              </a:rPr>
              <a:t>SOURCE: Injury incidence data compiled from published high school football surveillance research (pre-2026). Numbers are benchmarks, not clinic records.</a:t>
            </a:r>
          </a:p>
        </p:txBody>
      </p:sp>
      <p:sp>
        <p:nvSpPr>
          <p:cNvPr id="7" name="Rectangle 6"/>
          <p:cNvSpPr/>
          <p:nvPr/>
        </p:nvSpPr>
        <p:spPr>
          <a:xfrm>
            <a:off x="365760" y="5212080"/>
            <a:ext cx="11430000" cy="1005840"/>
          </a:xfrm>
          <a:prstGeom prst="rect">
            <a:avLst/>
          </a:prstGeom>
          <a:solidFill>
            <a:srgbClr val="F5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257800"/>
            <a:ext cx="2743200" cy="320040"/>
          </a:xfrm>
          <a:prstGeom prst="rect">
            <a:avLst/>
          </a:prstGeom>
          <a:noFill/>
        </p:spPr>
        <p:txBody>
          <a:bodyPr wrap="square">
            <a:spAutoFit/>
          </a:bodyPr>
          <a:lstStyle/>
          <a:p>
            <a:pPr algn="l"/>
            <a:r>
              <a:rPr sz="1200" b="1">
                <a:solidFill>
                  <a:srgbClr val="9E0F0F"/>
                </a:solidFill>
              </a:rPr>
              <a:t>PROGRAM GOAL</a:t>
            </a:r>
          </a:p>
        </p:txBody>
      </p:sp>
      <p:sp>
        <p:nvSpPr>
          <p:cNvPr id="9" name="TextBox 8"/>
          <p:cNvSpPr txBox="1"/>
          <p:nvPr/>
        </p:nvSpPr>
        <p:spPr>
          <a:xfrm>
            <a:off x="548640" y="5577840"/>
            <a:ext cx="11064240" cy="548640"/>
          </a:xfrm>
          <a:prstGeom prst="rect">
            <a:avLst/>
          </a:prstGeom>
          <a:noFill/>
        </p:spPr>
        <p:txBody>
          <a:bodyPr wrap="square">
            <a:spAutoFit/>
          </a:bodyPr>
          <a:lstStyle/>
          <a:p>
            <a:pPr algn="l"/>
            <a:r>
              <a:rPr sz="1100" b="0">
                <a:solidFill>
                  <a:srgbClr val="321E1E"/>
                </a:solidFill>
              </a:rPr>
              <a:t>Reduce in-season contact injuries by 40 percent or more. Build movement quality, force tolerance, and joint stability before the first padded practice. Return every athlete to the field better prepared than they arrived.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5F5"/>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THREE-PHASE PROGRAM STRUCTURE</a:t>
            </a:r>
          </a:p>
        </p:txBody>
      </p:sp>
      <p:sp>
        <p:nvSpPr>
          <p:cNvPr id="4" name="Rectangle 3"/>
          <p:cNvSpPr/>
          <p:nvPr/>
        </p:nvSpPr>
        <p:spPr>
          <a:xfrm>
            <a:off x="365760" y="1005840"/>
            <a:ext cx="3657600" cy="59436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51560"/>
            <a:ext cx="3383280" cy="320040"/>
          </a:xfrm>
          <a:prstGeom prst="rect">
            <a:avLst/>
          </a:prstGeom>
          <a:noFill/>
        </p:spPr>
        <p:txBody>
          <a:bodyPr wrap="square">
            <a:spAutoFit/>
          </a:bodyPr>
          <a:lstStyle/>
          <a:p>
            <a:pPr algn="l"/>
            <a:r>
              <a:rPr sz="1800" b="1">
                <a:solidFill>
                  <a:srgbClr val="FFFFFF"/>
                </a:solidFill>
              </a:rPr>
              <a:t>PHASE 1</a:t>
            </a:r>
          </a:p>
        </p:txBody>
      </p:sp>
      <p:sp>
        <p:nvSpPr>
          <p:cNvPr id="6" name="TextBox 5"/>
          <p:cNvSpPr txBox="1"/>
          <p:nvPr/>
        </p:nvSpPr>
        <p:spPr>
          <a:xfrm>
            <a:off x="502920" y="1417320"/>
            <a:ext cx="3383280" cy="320040"/>
          </a:xfrm>
          <a:prstGeom prst="rect">
            <a:avLst/>
          </a:prstGeom>
          <a:noFill/>
        </p:spPr>
        <p:txBody>
          <a:bodyPr wrap="square">
            <a:spAutoFit/>
          </a:bodyPr>
          <a:lstStyle/>
          <a:p>
            <a:pPr algn="l"/>
            <a:r>
              <a:rPr sz="1200" b="1">
                <a:solidFill>
                  <a:srgbClr val="FFFFFF"/>
                </a:solidFill>
              </a:rPr>
              <a:t>Baseline Assessment</a:t>
            </a:r>
          </a:p>
        </p:txBody>
      </p:sp>
      <p:sp>
        <p:nvSpPr>
          <p:cNvPr id="7" name="Rectangle 6"/>
          <p:cNvSpPr/>
          <p:nvPr/>
        </p:nvSpPr>
        <p:spPr>
          <a:xfrm>
            <a:off x="365760" y="1645920"/>
            <a:ext cx="3657600" cy="4480560"/>
          </a:xfrm>
          <a:prstGeom prst="rect">
            <a:avLst/>
          </a:prstGeom>
          <a:solidFill>
            <a:srgbClr val="F0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737360"/>
            <a:ext cx="3383280" cy="320040"/>
          </a:xfrm>
          <a:prstGeom prst="rect">
            <a:avLst/>
          </a:prstGeom>
          <a:noFill/>
        </p:spPr>
        <p:txBody>
          <a:bodyPr wrap="square">
            <a:spAutoFit/>
          </a:bodyPr>
          <a:lstStyle/>
          <a:p>
            <a:pPr algn="l"/>
            <a:r>
              <a:rPr sz="1000" b="1">
                <a:solidFill>
                  <a:srgbClr val="9E0F0F"/>
                </a:solidFill>
              </a:rPr>
              <a:t>Duration: Weeks 1-2</a:t>
            </a:r>
          </a:p>
        </p:txBody>
      </p:sp>
      <p:sp>
        <p:nvSpPr>
          <p:cNvPr id="9" name="TextBox 8"/>
          <p:cNvSpPr txBox="1"/>
          <p:nvPr/>
        </p:nvSpPr>
        <p:spPr>
          <a:xfrm>
            <a:off x="502920" y="2103120"/>
            <a:ext cx="3383280" cy="320040"/>
          </a:xfrm>
          <a:prstGeom prst="rect">
            <a:avLst/>
          </a:prstGeom>
          <a:noFill/>
        </p:spPr>
        <p:txBody>
          <a:bodyPr wrap="square">
            <a:spAutoFit/>
          </a:bodyPr>
          <a:lstStyle/>
          <a:p>
            <a:pPr algn="l"/>
            <a:r>
              <a:rPr sz="1000" b="0">
                <a:solidFill>
                  <a:srgbClr val="503C3C"/>
                </a:solidFill>
              </a:rPr>
              <a:t>Dates: October 2026</a:t>
            </a:r>
          </a:p>
        </p:txBody>
      </p:sp>
      <p:sp>
        <p:nvSpPr>
          <p:cNvPr id="10" name="Rectangle 9"/>
          <p:cNvSpPr/>
          <p:nvPr/>
        </p:nvSpPr>
        <p:spPr>
          <a:xfrm>
            <a:off x="457200" y="2468880"/>
            <a:ext cx="3474720" cy="36576"/>
          </a:xfrm>
          <a:prstGeom prst="rect">
            <a:avLst/>
          </a:prstGeom>
          <a:solidFill>
            <a:srgbClr val="C8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560320"/>
            <a:ext cx="3383280" cy="3383280"/>
          </a:xfrm>
          <a:prstGeom prst="rect">
            <a:avLst/>
          </a:prstGeom>
          <a:noFill/>
        </p:spPr>
        <p:txBody>
          <a:bodyPr wrap="square">
            <a:spAutoFit/>
          </a:bodyPr>
          <a:lstStyle/>
          <a:p>
            <a:pPr algn="l"/>
            <a:r>
              <a:rPr sz="1100" b="0">
                <a:solidFill>
                  <a:srgbClr val="322828"/>
                </a:solidFill>
              </a:rPr>
              <a:t>Movement screen, injury history review, strength baseline testing, flexibility and range-of-motion mapping per position group.</a:t>
            </a:r>
          </a:p>
        </p:txBody>
      </p:sp>
      <p:sp>
        <p:nvSpPr>
          <p:cNvPr id="12" name="Rectangle 11"/>
          <p:cNvSpPr/>
          <p:nvPr/>
        </p:nvSpPr>
        <p:spPr>
          <a:xfrm>
            <a:off x="4297680" y="1005840"/>
            <a:ext cx="3657600" cy="594360"/>
          </a:xfrm>
          <a:prstGeom prst="rect">
            <a:avLst/>
          </a:prstGeom>
          <a:solidFill>
            <a:srgbClr val="28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051560"/>
            <a:ext cx="3383280" cy="320040"/>
          </a:xfrm>
          <a:prstGeom prst="rect">
            <a:avLst/>
          </a:prstGeom>
          <a:noFill/>
        </p:spPr>
        <p:txBody>
          <a:bodyPr wrap="square">
            <a:spAutoFit/>
          </a:bodyPr>
          <a:lstStyle/>
          <a:p>
            <a:pPr algn="l"/>
            <a:r>
              <a:rPr sz="1800" b="1">
                <a:solidFill>
                  <a:srgbClr val="FFFFFF"/>
                </a:solidFill>
              </a:rPr>
              <a:t>PHASE 2</a:t>
            </a:r>
          </a:p>
        </p:txBody>
      </p:sp>
      <p:sp>
        <p:nvSpPr>
          <p:cNvPr id="14" name="TextBox 13"/>
          <p:cNvSpPr txBox="1"/>
          <p:nvPr/>
        </p:nvSpPr>
        <p:spPr>
          <a:xfrm>
            <a:off x="4434840" y="1417320"/>
            <a:ext cx="3383280" cy="320040"/>
          </a:xfrm>
          <a:prstGeom prst="rect">
            <a:avLst/>
          </a:prstGeom>
          <a:noFill/>
        </p:spPr>
        <p:txBody>
          <a:bodyPr wrap="square">
            <a:spAutoFit/>
          </a:bodyPr>
          <a:lstStyle/>
          <a:p>
            <a:pPr algn="l"/>
            <a:r>
              <a:rPr sz="1200" b="1">
                <a:solidFill>
                  <a:srgbClr val="FFFFFF"/>
                </a:solidFill>
              </a:rPr>
              <a:t>Targeted Conditioning</a:t>
            </a:r>
          </a:p>
        </p:txBody>
      </p:sp>
      <p:sp>
        <p:nvSpPr>
          <p:cNvPr id="15" name="Rectangle 14"/>
          <p:cNvSpPr/>
          <p:nvPr/>
        </p:nvSpPr>
        <p:spPr>
          <a:xfrm>
            <a:off x="4297680" y="1645920"/>
            <a:ext cx="3657600" cy="4480560"/>
          </a:xfrm>
          <a:prstGeom prst="rect">
            <a:avLst/>
          </a:prstGeom>
          <a:solidFill>
            <a:srgbClr val="F0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737360"/>
            <a:ext cx="3383280" cy="320040"/>
          </a:xfrm>
          <a:prstGeom prst="rect">
            <a:avLst/>
          </a:prstGeom>
          <a:noFill/>
        </p:spPr>
        <p:txBody>
          <a:bodyPr wrap="square">
            <a:spAutoFit/>
          </a:bodyPr>
          <a:lstStyle/>
          <a:p>
            <a:pPr algn="l"/>
            <a:r>
              <a:rPr sz="1000" b="1">
                <a:solidFill>
                  <a:srgbClr val="282830"/>
                </a:solidFill>
              </a:rPr>
              <a:t>Duration: Weeks 3-8</a:t>
            </a:r>
          </a:p>
        </p:txBody>
      </p:sp>
      <p:sp>
        <p:nvSpPr>
          <p:cNvPr id="17" name="TextBox 16"/>
          <p:cNvSpPr txBox="1"/>
          <p:nvPr/>
        </p:nvSpPr>
        <p:spPr>
          <a:xfrm>
            <a:off x="4434840" y="2103120"/>
            <a:ext cx="3383280" cy="320040"/>
          </a:xfrm>
          <a:prstGeom prst="rect">
            <a:avLst/>
          </a:prstGeom>
          <a:noFill/>
        </p:spPr>
        <p:txBody>
          <a:bodyPr wrap="square">
            <a:spAutoFit/>
          </a:bodyPr>
          <a:lstStyle/>
          <a:p>
            <a:pPr algn="l"/>
            <a:r>
              <a:rPr sz="1000" b="0">
                <a:solidFill>
                  <a:srgbClr val="503C3C"/>
                </a:solidFill>
              </a:rPr>
              <a:t>Dates: October - November 2026</a:t>
            </a:r>
          </a:p>
        </p:txBody>
      </p:sp>
      <p:sp>
        <p:nvSpPr>
          <p:cNvPr id="18" name="Rectangle 17"/>
          <p:cNvSpPr/>
          <p:nvPr/>
        </p:nvSpPr>
        <p:spPr>
          <a:xfrm>
            <a:off x="4389120" y="2468880"/>
            <a:ext cx="3474720" cy="36576"/>
          </a:xfrm>
          <a:prstGeom prst="rect">
            <a:avLst/>
          </a:prstGeom>
          <a:solidFill>
            <a:srgbClr val="C8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2560320"/>
            <a:ext cx="3383280" cy="3383280"/>
          </a:xfrm>
          <a:prstGeom prst="rect">
            <a:avLst/>
          </a:prstGeom>
          <a:noFill/>
        </p:spPr>
        <p:txBody>
          <a:bodyPr wrap="square">
            <a:spAutoFit/>
          </a:bodyPr>
          <a:lstStyle/>
          <a:p>
            <a:pPr algn="l"/>
            <a:r>
              <a:rPr sz="1100" b="0">
                <a:solidFill>
                  <a:srgbClr val="322828"/>
                </a:solidFill>
              </a:rPr>
              <a:t>Position-specific loading, neuromuscular control, eccentric strength for hamstrings and quads, ankle stability protocols, and hip mobility work.</a:t>
            </a:r>
          </a:p>
        </p:txBody>
      </p:sp>
      <p:sp>
        <p:nvSpPr>
          <p:cNvPr id="20" name="Rectangle 19"/>
          <p:cNvSpPr/>
          <p:nvPr/>
        </p:nvSpPr>
        <p:spPr>
          <a:xfrm>
            <a:off x="8229600" y="1005840"/>
            <a:ext cx="3657600" cy="594360"/>
          </a:xfrm>
          <a:prstGeom prst="rect">
            <a:avLst/>
          </a:prstGeom>
          <a:solidFill>
            <a:srgbClr val="D26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051560"/>
            <a:ext cx="3383280" cy="320040"/>
          </a:xfrm>
          <a:prstGeom prst="rect">
            <a:avLst/>
          </a:prstGeom>
          <a:noFill/>
        </p:spPr>
        <p:txBody>
          <a:bodyPr wrap="square">
            <a:spAutoFit/>
          </a:bodyPr>
          <a:lstStyle/>
          <a:p>
            <a:pPr algn="l"/>
            <a:r>
              <a:rPr sz="1800" b="1">
                <a:solidFill>
                  <a:srgbClr val="FFFFFF"/>
                </a:solidFill>
              </a:rPr>
              <a:t>PHASE 3</a:t>
            </a:r>
          </a:p>
        </p:txBody>
      </p:sp>
      <p:sp>
        <p:nvSpPr>
          <p:cNvPr id="22" name="TextBox 21"/>
          <p:cNvSpPr txBox="1"/>
          <p:nvPr/>
        </p:nvSpPr>
        <p:spPr>
          <a:xfrm>
            <a:off x="8366760" y="1417320"/>
            <a:ext cx="3383280" cy="320040"/>
          </a:xfrm>
          <a:prstGeom prst="rect">
            <a:avLst/>
          </a:prstGeom>
          <a:noFill/>
        </p:spPr>
        <p:txBody>
          <a:bodyPr wrap="square">
            <a:spAutoFit/>
          </a:bodyPr>
          <a:lstStyle/>
          <a:p>
            <a:pPr algn="l"/>
            <a:r>
              <a:rPr sz="1200" b="1">
                <a:solidFill>
                  <a:srgbClr val="FFFFFF"/>
                </a:solidFill>
              </a:rPr>
              <a:t>Sport-Specific Integration</a:t>
            </a:r>
          </a:p>
        </p:txBody>
      </p:sp>
      <p:sp>
        <p:nvSpPr>
          <p:cNvPr id="23" name="Rectangle 22"/>
          <p:cNvSpPr/>
          <p:nvPr/>
        </p:nvSpPr>
        <p:spPr>
          <a:xfrm>
            <a:off x="8229600" y="1645920"/>
            <a:ext cx="3657600" cy="4480560"/>
          </a:xfrm>
          <a:prstGeom prst="rect">
            <a:avLst/>
          </a:prstGeom>
          <a:solidFill>
            <a:srgbClr val="F0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1737360"/>
            <a:ext cx="3383280" cy="320040"/>
          </a:xfrm>
          <a:prstGeom prst="rect">
            <a:avLst/>
          </a:prstGeom>
          <a:noFill/>
        </p:spPr>
        <p:txBody>
          <a:bodyPr wrap="square">
            <a:spAutoFit/>
          </a:bodyPr>
          <a:lstStyle/>
          <a:p>
            <a:pPr algn="l"/>
            <a:r>
              <a:rPr sz="1000" b="1">
                <a:solidFill>
                  <a:srgbClr val="D26414"/>
                </a:solidFill>
              </a:rPr>
              <a:t>Duration: Weeks 9-14</a:t>
            </a:r>
          </a:p>
        </p:txBody>
      </p:sp>
      <p:sp>
        <p:nvSpPr>
          <p:cNvPr id="25" name="TextBox 24"/>
          <p:cNvSpPr txBox="1"/>
          <p:nvPr/>
        </p:nvSpPr>
        <p:spPr>
          <a:xfrm>
            <a:off x="8366760" y="2103120"/>
            <a:ext cx="3383280" cy="320040"/>
          </a:xfrm>
          <a:prstGeom prst="rect">
            <a:avLst/>
          </a:prstGeom>
          <a:noFill/>
        </p:spPr>
        <p:txBody>
          <a:bodyPr wrap="square">
            <a:spAutoFit/>
          </a:bodyPr>
          <a:lstStyle/>
          <a:p>
            <a:pPr algn="l"/>
            <a:r>
              <a:rPr sz="1000" b="0">
                <a:solidFill>
                  <a:srgbClr val="503C3C"/>
                </a:solidFill>
              </a:rPr>
              <a:t>Dates: November - December 2026</a:t>
            </a:r>
          </a:p>
        </p:txBody>
      </p:sp>
      <p:sp>
        <p:nvSpPr>
          <p:cNvPr id="26" name="Rectangle 25"/>
          <p:cNvSpPr/>
          <p:nvPr/>
        </p:nvSpPr>
        <p:spPr>
          <a:xfrm>
            <a:off x="8321040" y="2468880"/>
            <a:ext cx="3474720" cy="36576"/>
          </a:xfrm>
          <a:prstGeom prst="rect">
            <a:avLst/>
          </a:prstGeom>
          <a:solidFill>
            <a:srgbClr val="C8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2560320"/>
            <a:ext cx="3383280" cy="3383280"/>
          </a:xfrm>
          <a:prstGeom prst="rect">
            <a:avLst/>
          </a:prstGeom>
          <a:noFill/>
        </p:spPr>
        <p:txBody>
          <a:bodyPr wrap="square">
            <a:spAutoFit/>
          </a:bodyPr>
          <a:lstStyle/>
          <a:p>
            <a:pPr algn="l"/>
            <a:r>
              <a:rPr sz="1100" b="0">
                <a:solidFill>
                  <a:srgbClr val="322828"/>
                </a:solidFill>
              </a:rPr>
              <a:t>Contact-movement preparation, reactive agility, full-range loaded movement patterns, and return-to-contact progression for returning injured players.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5F5"/>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EXERCISE PROTOCOL</a:t>
            </a:r>
          </a:p>
        </p:txBody>
      </p:sp>
      <p:sp>
        <p:nvSpPr>
          <p:cNvPr id="4" name="TextBox 3"/>
          <p:cNvSpPr txBox="1"/>
          <p:nvPr/>
        </p:nvSpPr>
        <p:spPr>
          <a:xfrm>
            <a:off x="365760" y="960120"/>
            <a:ext cx="10972800" cy="320040"/>
          </a:xfrm>
          <a:prstGeom prst="rect">
            <a:avLst/>
          </a:prstGeom>
          <a:noFill/>
        </p:spPr>
        <p:txBody>
          <a:bodyPr wrap="square">
            <a:spAutoFit/>
          </a:bodyPr>
          <a:lstStyle/>
          <a:p>
            <a:pPr algn="l"/>
            <a:r>
              <a:rPr sz="1200" b="0">
                <a:solidFill>
                  <a:srgbClr val="503232"/>
                </a:solidFill>
              </a:rPr>
              <a:t>Phase 2 Core Exercises - All Positions</a:t>
            </a:r>
          </a:p>
        </p:txBody>
      </p:sp>
      <p:graphicFrame>
        <p:nvGraphicFramePr>
          <p:cNvPr id="5" name="Table 4"/>
          <p:cNvGraphicFramePr>
            <a:graphicFrameLocks noGrp="1"/>
          </p:cNvGraphicFramePr>
          <p:nvPr/>
        </p:nvGraphicFramePr>
        <p:xfrm>
          <a:off x="274320" y="1371600"/>
          <a:ext cx="11612880" cy="512064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65512">
                <a:tc>
                  <a:txBody>
                    <a:bodyPr/>
                    <a:lstStyle/>
                    <a:p>
                      <a:r>
                        <a:rPr b="1" sz="1100">
                          <a:solidFill>
                            <a:srgbClr val="FFFFFF"/>
                          </a:solidFill>
                        </a:rPr>
                        <a:t>Exercise</a:t>
                      </a:r>
                    </a:p>
                  </a:txBody>
                  <a:tcPr>
                    <a:solidFill>
                      <a:srgbClr val="9E0F0F"/>
                    </a:solidFill>
                  </a:tcPr>
                </a:tc>
                <a:tc>
                  <a:txBody>
                    <a:bodyPr/>
                    <a:lstStyle/>
                    <a:p>
                      <a:r>
                        <a:rPr b="1" sz="1100">
                          <a:solidFill>
                            <a:srgbClr val="FFFFFF"/>
                          </a:solidFill>
                        </a:rPr>
                        <a:t>Sets</a:t>
                      </a:r>
                    </a:p>
                  </a:txBody>
                  <a:tcPr>
                    <a:solidFill>
                      <a:srgbClr val="9E0F0F"/>
                    </a:solidFill>
                  </a:tcPr>
                </a:tc>
                <a:tc>
                  <a:txBody>
                    <a:bodyPr/>
                    <a:lstStyle/>
                    <a:p>
                      <a:r>
                        <a:rPr b="1" sz="1100">
                          <a:solidFill>
                            <a:srgbClr val="FFFFFF"/>
                          </a:solidFill>
                        </a:rPr>
                        <a:t>Reps / Duration</a:t>
                      </a:r>
                    </a:p>
                  </a:txBody>
                  <a:tcPr>
                    <a:solidFill>
                      <a:srgbClr val="9E0F0F"/>
                    </a:solidFill>
                  </a:tcPr>
                </a:tc>
                <a:tc>
                  <a:txBody>
                    <a:bodyPr/>
                    <a:lstStyle/>
                    <a:p>
                      <a:r>
                        <a:rPr b="1" sz="1100">
                          <a:solidFill>
                            <a:srgbClr val="FFFFFF"/>
                          </a:solidFill>
                        </a:rPr>
                        <a:t>Target Muscle</a:t>
                      </a:r>
                    </a:p>
                  </a:txBody>
                  <a:tcPr>
                    <a:solidFill>
                      <a:srgbClr val="9E0F0F"/>
                    </a:solidFill>
                  </a:tcPr>
                </a:tc>
                <a:tc>
                  <a:txBody>
                    <a:bodyPr/>
                    <a:lstStyle/>
                    <a:p>
                      <a:r>
                        <a:rPr b="1" sz="1100">
                          <a:solidFill>
                            <a:srgbClr val="FFFFFF"/>
                          </a:solidFill>
                        </a:rPr>
                        <a:t>Phase</a:t>
                      </a:r>
                    </a:p>
                  </a:txBody>
                  <a:tcPr>
                    <a:solidFill>
                      <a:srgbClr val="9E0F0F"/>
                    </a:solidFill>
                  </a:tcPr>
                </a:tc>
                <a:tc>
                  <a:txBody>
                    <a:bodyPr/>
                    <a:lstStyle/>
                    <a:p>
                      <a:r>
                        <a:rPr b="1" sz="1100">
                          <a:solidFill>
                            <a:srgbClr val="FFFFFF"/>
                          </a:solidFill>
                        </a:rPr>
                        <a:t>Notes</a:t>
                      </a:r>
                    </a:p>
                  </a:txBody>
                  <a:tcPr>
                    <a:solidFill>
                      <a:srgbClr val="9E0F0F"/>
                    </a:solidFill>
                  </a:tcPr>
                </a:tc>
              </a:tr>
              <a:tr h="465512">
                <a:tc>
                  <a:txBody>
                    <a:bodyPr/>
                    <a:lstStyle/>
                    <a:p>
                      <a:r>
                        <a:rPr sz="1000"/>
                        <a:t>Nordic Hamstring Curl</a:t>
                      </a:r>
                    </a:p>
                  </a:txBody>
                  <a:tcPr>
                    <a:solidFill>
                      <a:srgbClr val="FCF5F5"/>
                    </a:solidFill>
                  </a:tcPr>
                </a:tc>
                <a:tc>
                  <a:txBody>
                    <a:bodyPr/>
                    <a:lstStyle/>
                    <a:p>
                      <a:r>
                        <a:rPr sz="1000"/>
                        <a:t>3</a:t>
                      </a:r>
                    </a:p>
                  </a:txBody>
                  <a:tcPr>
                    <a:solidFill>
                      <a:srgbClr val="FCF5F5"/>
                    </a:solidFill>
                  </a:tcPr>
                </a:tc>
                <a:tc>
                  <a:txBody>
                    <a:bodyPr/>
                    <a:lstStyle/>
                    <a:p>
                      <a:r>
                        <a:rPr sz="1000"/>
                        <a:t>6-8 reps</a:t>
                      </a:r>
                    </a:p>
                  </a:txBody>
                  <a:tcPr>
                    <a:solidFill>
                      <a:srgbClr val="FCF5F5"/>
                    </a:solidFill>
                  </a:tcPr>
                </a:tc>
                <a:tc>
                  <a:txBody>
                    <a:bodyPr/>
                    <a:lstStyle/>
                    <a:p>
                      <a:r>
                        <a:rPr sz="1000"/>
                        <a:t>Biceps femoris</a:t>
                      </a:r>
                    </a:p>
                  </a:txBody>
                  <a:tcPr>
                    <a:solidFill>
                      <a:srgbClr val="FCF5F5"/>
                    </a:solidFill>
                  </a:tcPr>
                </a:tc>
                <a:tc>
                  <a:txBody>
                    <a:bodyPr/>
                    <a:lstStyle/>
                    <a:p>
                      <a:r>
                        <a:rPr sz="1000"/>
                        <a:t>2-3</a:t>
                      </a:r>
                    </a:p>
                  </a:txBody>
                  <a:tcPr>
                    <a:solidFill>
                      <a:srgbClr val="FCF5F5"/>
                    </a:solidFill>
                  </a:tcPr>
                </a:tc>
                <a:tc>
                  <a:txBody>
                    <a:bodyPr/>
                    <a:lstStyle/>
                    <a:p>
                      <a:r>
                        <a:rPr sz="1000"/>
                        <a:t>Eccentric focus; decline bench</a:t>
                      </a:r>
                    </a:p>
                  </a:txBody>
                  <a:tcPr>
                    <a:solidFill>
                      <a:srgbClr val="FCF5F5"/>
                    </a:solidFill>
                  </a:tcPr>
                </a:tc>
              </a:tr>
              <a:tr h="465512">
                <a:tc>
                  <a:txBody>
                    <a:bodyPr/>
                    <a:lstStyle/>
                    <a:p>
                      <a:r>
                        <a:rPr sz="1000"/>
                        <a:t>Single-Leg Squat</a:t>
                      </a:r>
                    </a:p>
                  </a:txBody>
                  <a:tcPr>
                    <a:solidFill>
                      <a:srgbClr val="FFFFFF"/>
                    </a:solidFill>
                  </a:tcPr>
                </a:tc>
                <a:tc>
                  <a:txBody>
                    <a:bodyPr/>
                    <a:lstStyle/>
                    <a:p>
                      <a:r>
                        <a:rPr sz="1000"/>
                        <a:t>3</a:t>
                      </a:r>
                    </a:p>
                  </a:txBody>
                  <a:tcPr>
                    <a:solidFill>
                      <a:srgbClr val="FFFFFF"/>
                    </a:solidFill>
                  </a:tcPr>
                </a:tc>
                <a:tc>
                  <a:txBody>
                    <a:bodyPr/>
                    <a:lstStyle/>
                    <a:p>
                      <a:r>
                        <a:rPr sz="1000"/>
                        <a:t>10 each side</a:t>
                      </a:r>
                    </a:p>
                  </a:txBody>
                  <a:tcPr>
                    <a:solidFill>
                      <a:srgbClr val="FFFFFF"/>
                    </a:solidFill>
                  </a:tcPr>
                </a:tc>
                <a:tc>
                  <a:txBody>
                    <a:bodyPr/>
                    <a:lstStyle/>
                    <a:p>
                      <a:r>
                        <a:rPr sz="1000"/>
                        <a:t>Quad / glute complex</a:t>
                      </a:r>
                    </a:p>
                  </a:txBody>
                  <a:tcPr>
                    <a:solidFill>
                      <a:srgbClr val="FFFFFF"/>
                    </a:solidFill>
                  </a:tcPr>
                </a:tc>
                <a:tc>
                  <a:txBody>
                    <a:bodyPr/>
                    <a:lstStyle/>
                    <a:p>
                      <a:r>
                        <a:rPr sz="1000"/>
                        <a:t>2-3</a:t>
                      </a:r>
                    </a:p>
                  </a:txBody>
                  <a:tcPr>
                    <a:solidFill>
                      <a:srgbClr val="FFFFFF"/>
                    </a:solidFill>
                  </a:tcPr>
                </a:tc>
                <a:tc>
                  <a:txBody>
                    <a:bodyPr/>
                    <a:lstStyle/>
                    <a:p>
                      <a:r>
                        <a:rPr sz="1000"/>
                        <a:t>Control valgus collapse</a:t>
                      </a:r>
                    </a:p>
                  </a:txBody>
                  <a:tcPr>
                    <a:solidFill>
                      <a:srgbClr val="FFFFFF"/>
                    </a:solidFill>
                  </a:tcPr>
                </a:tc>
              </a:tr>
              <a:tr h="465512">
                <a:tc>
                  <a:txBody>
                    <a:bodyPr/>
                    <a:lstStyle/>
                    <a:p>
                      <a:r>
                        <a:rPr sz="1000"/>
                        <a:t>Copenhagen Adductor</a:t>
                      </a:r>
                    </a:p>
                  </a:txBody>
                  <a:tcPr>
                    <a:solidFill>
                      <a:srgbClr val="FCF5F5"/>
                    </a:solidFill>
                  </a:tcPr>
                </a:tc>
                <a:tc>
                  <a:txBody>
                    <a:bodyPr/>
                    <a:lstStyle/>
                    <a:p>
                      <a:r>
                        <a:rPr sz="1000"/>
                        <a:t>3</a:t>
                      </a:r>
                    </a:p>
                  </a:txBody>
                  <a:tcPr>
                    <a:solidFill>
                      <a:srgbClr val="FCF5F5"/>
                    </a:solidFill>
                  </a:tcPr>
                </a:tc>
                <a:tc>
                  <a:txBody>
                    <a:bodyPr/>
                    <a:lstStyle/>
                    <a:p>
                      <a:r>
                        <a:rPr sz="1000"/>
                        <a:t>8-12 each side</a:t>
                      </a:r>
                    </a:p>
                  </a:txBody>
                  <a:tcPr>
                    <a:solidFill>
                      <a:srgbClr val="FCF5F5"/>
                    </a:solidFill>
                  </a:tcPr>
                </a:tc>
                <a:tc>
                  <a:txBody>
                    <a:bodyPr/>
                    <a:lstStyle/>
                    <a:p>
                      <a:r>
                        <a:rPr sz="1000"/>
                        <a:t>Hip adductors</a:t>
                      </a:r>
                    </a:p>
                  </a:txBody>
                  <a:tcPr>
                    <a:solidFill>
                      <a:srgbClr val="FCF5F5"/>
                    </a:solidFill>
                  </a:tcPr>
                </a:tc>
                <a:tc>
                  <a:txBody>
                    <a:bodyPr/>
                    <a:lstStyle/>
                    <a:p>
                      <a:r>
                        <a:rPr sz="1000"/>
                        <a:t>2-3</a:t>
                      </a:r>
                    </a:p>
                  </a:txBody>
                  <a:tcPr>
                    <a:solidFill>
                      <a:srgbClr val="FCF5F5"/>
                    </a:solidFill>
                  </a:tcPr>
                </a:tc>
                <a:tc>
                  <a:txBody>
                    <a:bodyPr/>
                    <a:lstStyle/>
                    <a:p>
                      <a:r>
                        <a:rPr sz="1000"/>
                        <a:t>Bench at knee height</a:t>
                      </a:r>
                    </a:p>
                  </a:txBody>
                  <a:tcPr>
                    <a:solidFill>
                      <a:srgbClr val="FCF5F5"/>
                    </a:solidFill>
                  </a:tcPr>
                </a:tc>
              </a:tr>
              <a:tr h="465512">
                <a:tc>
                  <a:txBody>
                    <a:bodyPr/>
                    <a:lstStyle/>
                    <a:p>
                      <a:r>
                        <a:rPr sz="1000"/>
                        <a:t>Hip Thrust (loaded)</a:t>
                      </a:r>
                    </a:p>
                  </a:txBody>
                  <a:tcPr>
                    <a:solidFill>
                      <a:srgbClr val="FFFFFF"/>
                    </a:solidFill>
                  </a:tcPr>
                </a:tc>
                <a:tc>
                  <a:txBody>
                    <a:bodyPr/>
                    <a:lstStyle/>
                    <a:p>
                      <a:r>
                        <a:rPr sz="1000"/>
                        <a:t>4</a:t>
                      </a:r>
                    </a:p>
                  </a:txBody>
                  <a:tcPr>
                    <a:solidFill>
                      <a:srgbClr val="FFFFFF"/>
                    </a:solidFill>
                  </a:tcPr>
                </a:tc>
                <a:tc>
                  <a:txBody>
                    <a:bodyPr/>
                    <a:lstStyle/>
                    <a:p>
                      <a:r>
                        <a:rPr sz="1000"/>
                        <a:t>10-12 reps</a:t>
                      </a:r>
                    </a:p>
                  </a:txBody>
                  <a:tcPr>
                    <a:solidFill>
                      <a:srgbClr val="FFFFFF"/>
                    </a:solidFill>
                  </a:tcPr>
                </a:tc>
                <a:tc>
                  <a:txBody>
                    <a:bodyPr/>
                    <a:lstStyle/>
                    <a:p>
                      <a:r>
                        <a:rPr sz="1000"/>
                        <a:t>Glute max</a:t>
                      </a:r>
                    </a:p>
                  </a:txBody>
                  <a:tcPr>
                    <a:solidFill>
                      <a:srgbClr val="FFFFFF"/>
                    </a:solidFill>
                  </a:tcPr>
                </a:tc>
                <a:tc>
                  <a:txBody>
                    <a:bodyPr/>
                    <a:lstStyle/>
                    <a:p>
                      <a:r>
                        <a:rPr sz="1000"/>
                        <a:t>2-3</a:t>
                      </a:r>
                    </a:p>
                  </a:txBody>
                  <a:tcPr>
                    <a:solidFill>
                      <a:srgbClr val="FFFFFF"/>
                    </a:solidFill>
                  </a:tcPr>
                </a:tc>
                <a:tc>
                  <a:txBody>
                    <a:bodyPr/>
                    <a:lstStyle/>
                    <a:p>
                      <a:r>
                        <a:rPr sz="1000"/>
                        <a:t>Pause at top of rep</a:t>
                      </a:r>
                    </a:p>
                  </a:txBody>
                  <a:tcPr>
                    <a:solidFill>
                      <a:srgbClr val="FFFFFF"/>
                    </a:solidFill>
                  </a:tcPr>
                </a:tc>
              </a:tr>
              <a:tr h="465512">
                <a:tc>
                  <a:txBody>
                    <a:bodyPr/>
                    <a:lstStyle/>
                    <a:p>
                      <a:r>
                        <a:rPr sz="1000"/>
                        <a:t>Lateral Band Walk</a:t>
                      </a:r>
                    </a:p>
                  </a:txBody>
                  <a:tcPr>
                    <a:solidFill>
                      <a:srgbClr val="FCF5F5"/>
                    </a:solidFill>
                  </a:tcPr>
                </a:tc>
                <a:tc>
                  <a:txBody>
                    <a:bodyPr/>
                    <a:lstStyle/>
                    <a:p>
                      <a:r>
                        <a:rPr sz="1000"/>
                        <a:t>3</a:t>
                      </a:r>
                    </a:p>
                  </a:txBody>
                  <a:tcPr>
                    <a:solidFill>
                      <a:srgbClr val="FCF5F5"/>
                    </a:solidFill>
                  </a:tcPr>
                </a:tc>
                <a:tc>
                  <a:txBody>
                    <a:bodyPr/>
                    <a:lstStyle/>
                    <a:p>
                      <a:r>
                        <a:rPr sz="1000"/>
                        <a:t>15 steps each way</a:t>
                      </a:r>
                    </a:p>
                  </a:txBody>
                  <a:tcPr>
                    <a:solidFill>
                      <a:srgbClr val="FCF5F5"/>
                    </a:solidFill>
                  </a:tcPr>
                </a:tc>
                <a:tc>
                  <a:txBody>
                    <a:bodyPr/>
                    <a:lstStyle/>
                    <a:p>
                      <a:r>
                        <a:rPr sz="1000"/>
                        <a:t>Glute med</a:t>
                      </a:r>
                    </a:p>
                  </a:txBody>
                  <a:tcPr>
                    <a:solidFill>
                      <a:srgbClr val="FCF5F5"/>
                    </a:solidFill>
                  </a:tcPr>
                </a:tc>
                <a:tc>
                  <a:txBody>
                    <a:bodyPr/>
                    <a:lstStyle/>
                    <a:p>
                      <a:r>
                        <a:rPr sz="1000"/>
                        <a:t>1-2-3</a:t>
                      </a:r>
                    </a:p>
                  </a:txBody>
                  <a:tcPr>
                    <a:solidFill>
                      <a:srgbClr val="FCF5F5"/>
                    </a:solidFill>
                  </a:tcPr>
                </a:tc>
                <a:tc>
                  <a:txBody>
                    <a:bodyPr/>
                    <a:lstStyle/>
                    <a:p>
                      <a:r>
                        <a:rPr sz="1000"/>
                        <a:t>Moderate resistance band</a:t>
                      </a:r>
                    </a:p>
                  </a:txBody>
                  <a:tcPr>
                    <a:solidFill>
                      <a:srgbClr val="FCF5F5"/>
                    </a:solidFill>
                  </a:tcPr>
                </a:tc>
              </a:tr>
              <a:tr h="465512">
                <a:tc>
                  <a:txBody>
                    <a:bodyPr/>
                    <a:lstStyle/>
                    <a:p>
                      <a:r>
                        <a:rPr sz="1000"/>
                        <a:t>Pallof Press</a:t>
                      </a:r>
                    </a:p>
                  </a:txBody>
                  <a:tcPr>
                    <a:solidFill>
                      <a:srgbClr val="FFFFFF"/>
                    </a:solidFill>
                  </a:tcPr>
                </a:tc>
                <a:tc>
                  <a:txBody>
                    <a:bodyPr/>
                    <a:lstStyle/>
                    <a:p>
                      <a:r>
                        <a:rPr sz="1000"/>
                        <a:t>3</a:t>
                      </a:r>
                    </a:p>
                  </a:txBody>
                  <a:tcPr>
                    <a:solidFill>
                      <a:srgbClr val="FFFFFF"/>
                    </a:solidFill>
                  </a:tcPr>
                </a:tc>
                <a:tc>
                  <a:txBody>
                    <a:bodyPr/>
                    <a:lstStyle/>
                    <a:p>
                      <a:r>
                        <a:rPr sz="1000"/>
                        <a:t>12 each side</a:t>
                      </a:r>
                    </a:p>
                  </a:txBody>
                  <a:tcPr>
                    <a:solidFill>
                      <a:srgbClr val="FFFFFF"/>
                    </a:solidFill>
                  </a:tcPr>
                </a:tc>
                <a:tc>
                  <a:txBody>
                    <a:bodyPr/>
                    <a:lstStyle/>
                    <a:p>
                      <a:r>
                        <a:rPr sz="1000"/>
                        <a:t>Core anti-rotation</a:t>
                      </a:r>
                    </a:p>
                  </a:txBody>
                  <a:tcPr>
                    <a:solidFill>
                      <a:srgbClr val="FFFFFF"/>
                    </a:solidFill>
                  </a:tcPr>
                </a:tc>
                <a:tc>
                  <a:txBody>
                    <a:bodyPr/>
                    <a:lstStyle/>
                    <a:p>
                      <a:r>
                        <a:rPr sz="1000"/>
                        <a:t>2-3</a:t>
                      </a:r>
                    </a:p>
                  </a:txBody>
                  <a:tcPr>
                    <a:solidFill>
                      <a:srgbClr val="FFFFFF"/>
                    </a:solidFill>
                  </a:tcPr>
                </a:tc>
                <a:tc>
                  <a:txBody>
                    <a:bodyPr/>
                    <a:lstStyle/>
                    <a:p>
                      <a:r>
                        <a:rPr sz="1000"/>
                        <a:t>Cable or band, elbows at 90</a:t>
                      </a:r>
                    </a:p>
                  </a:txBody>
                  <a:tcPr>
                    <a:solidFill>
                      <a:srgbClr val="FFFFFF"/>
                    </a:solidFill>
                  </a:tcPr>
                </a:tc>
              </a:tr>
              <a:tr h="465512">
                <a:tc>
                  <a:txBody>
                    <a:bodyPr/>
                    <a:lstStyle/>
                    <a:p>
                      <a:r>
                        <a:rPr sz="1000"/>
                        <a:t>Romanian Deadlift</a:t>
                      </a:r>
                    </a:p>
                  </a:txBody>
                  <a:tcPr>
                    <a:solidFill>
                      <a:srgbClr val="FCF5F5"/>
                    </a:solidFill>
                  </a:tcPr>
                </a:tc>
                <a:tc>
                  <a:txBody>
                    <a:bodyPr/>
                    <a:lstStyle/>
                    <a:p>
                      <a:r>
                        <a:rPr sz="1000"/>
                        <a:t>4</a:t>
                      </a:r>
                    </a:p>
                  </a:txBody>
                  <a:tcPr>
                    <a:solidFill>
                      <a:srgbClr val="FCF5F5"/>
                    </a:solidFill>
                  </a:tcPr>
                </a:tc>
                <a:tc>
                  <a:txBody>
                    <a:bodyPr/>
                    <a:lstStyle/>
                    <a:p>
                      <a:r>
                        <a:rPr sz="1000"/>
                        <a:t>8 reps</a:t>
                      </a:r>
                    </a:p>
                  </a:txBody>
                  <a:tcPr>
                    <a:solidFill>
                      <a:srgbClr val="FCF5F5"/>
                    </a:solidFill>
                  </a:tcPr>
                </a:tc>
                <a:tc>
                  <a:txBody>
                    <a:bodyPr/>
                    <a:lstStyle/>
                    <a:p>
                      <a:r>
                        <a:rPr sz="1000"/>
                        <a:t>Hamstrings / erectors</a:t>
                      </a:r>
                    </a:p>
                  </a:txBody>
                  <a:tcPr>
                    <a:solidFill>
                      <a:srgbClr val="FCF5F5"/>
                    </a:solidFill>
                  </a:tcPr>
                </a:tc>
                <a:tc>
                  <a:txBody>
                    <a:bodyPr/>
                    <a:lstStyle/>
                    <a:p>
                      <a:r>
                        <a:rPr sz="1000"/>
                        <a:t>2-3</a:t>
                      </a:r>
                    </a:p>
                  </a:txBody>
                  <a:tcPr>
                    <a:solidFill>
                      <a:srgbClr val="FCF5F5"/>
                    </a:solidFill>
                  </a:tcPr>
                </a:tc>
                <a:tc>
                  <a:txBody>
                    <a:bodyPr/>
                    <a:lstStyle/>
                    <a:p>
                      <a:r>
                        <a:rPr sz="1000"/>
                        <a:t>Moderate load, hinge focus</a:t>
                      </a:r>
                    </a:p>
                  </a:txBody>
                  <a:tcPr>
                    <a:solidFill>
                      <a:srgbClr val="FCF5F5"/>
                    </a:solidFill>
                  </a:tcPr>
                </a:tc>
              </a:tr>
              <a:tr h="465512">
                <a:tc>
                  <a:txBody>
                    <a:bodyPr/>
                    <a:lstStyle/>
                    <a:p>
                      <a:r>
                        <a:rPr sz="1000"/>
                        <a:t>Single-Leg Calf Raise</a:t>
                      </a:r>
                    </a:p>
                  </a:txBody>
                  <a:tcPr>
                    <a:solidFill>
                      <a:srgbClr val="FFFFFF"/>
                    </a:solidFill>
                  </a:tcPr>
                </a:tc>
                <a:tc>
                  <a:txBody>
                    <a:bodyPr/>
                    <a:lstStyle/>
                    <a:p>
                      <a:r>
                        <a:rPr sz="1000"/>
                        <a:t>4</a:t>
                      </a:r>
                    </a:p>
                  </a:txBody>
                  <a:tcPr>
                    <a:solidFill>
                      <a:srgbClr val="FFFFFF"/>
                    </a:solidFill>
                  </a:tcPr>
                </a:tc>
                <a:tc>
                  <a:txBody>
                    <a:bodyPr/>
                    <a:lstStyle/>
                    <a:p>
                      <a:r>
                        <a:rPr sz="1000"/>
                        <a:t>15 each leg</a:t>
                      </a:r>
                    </a:p>
                  </a:txBody>
                  <a:tcPr>
                    <a:solidFill>
                      <a:srgbClr val="FFFFFF"/>
                    </a:solidFill>
                  </a:tcPr>
                </a:tc>
                <a:tc>
                  <a:txBody>
                    <a:bodyPr/>
                    <a:lstStyle/>
                    <a:p>
                      <a:r>
                        <a:rPr sz="1000"/>
                        <a:t>Gastrocnemius / soleus</a:t>
                      </a:r>
                    </a:p>
                  </a:txBody>
                  <a:tcPr>
                    <a:solidFill>
                      <a:srgbClr val="FFFFFF"/>
                    </a:solidFill>
                  </a:tcPr>
                </a:tc>
                <a:tc>
                  <a:txBody>
                    <a:bodyPr/>
                    <a:lstStyle/>
                    <a:p>
                      <a:r>
                        <a:rPr sz="1000"/>
                        <a:t>1-2-3</a:t>
                      </a:r>
                    </a:p>
                  </a:txBody>
                  <a:tcPr>
                    <a:solidFill>
                      <a:srgbClr val="FFFFFF"/>
                    </a:solidFill>
                  </a:tcPr>
                </a:tc>
                <a:tc>
                  <a:txBody>
                    <a:bodyPr/>
                    <a:lstStyle/>
                    <a:p>
                      <a:r>
                        <a:rPr sz="1000"/>
                        <a:t>Eccentric lowering 3 sec</a:t>
                      </a:r>
                    </a:p>
                  </a:txBody>
                  <a:tcPr>
                    <a:solidFill>
                      <a:srgbClr val="FFFFFF"/>
                    </a:solidFill>
                  </a:tcPr>
                </a:tc>
              </a:tr>
              <a:tr h="465512">
                <a:tc>
                  <a:txBody>
                    <a:bodyPr/>
                    <a:lstStyle/>
                    <a:p>
                      <a:r>
                        <a:rPr sz="1000"/>
                        <a:t>Y-T-W Shoulder Complex</a:t>
                      </a:r>
                    </a:p>
                  </a:txBody>
                  <a:tcPr>
                    <a:solidFill>
                      <a:srgbClr val="FCF5F5"/>
                    </a:solidFill>
                  </a:tcPr>
                </a:tc>
                <a:tc>
                  <a:txBody>
                    <a:bodyPr/>
                    <a:lstStyle/>
                    <a:p>
                      <a:r>
                        <a:rPr sz="1000"/>
                        <a:t>3</a:t>
                      </a:r>
                    </a:p>
                  </a:txBody>
                  <a:tcPr>
                    <a:solidFill>
                      <a:srgbClr val="FCF5F5"/>
                    </a:solidFill>
                  </a:tcPr>
                </a:tc>
                <a:tc>
                  <a:txBody>
                    <a:bodyPr/>
                    <a:lstStyle/>
                    <a:p>
                      <a:r>
                        <a:rPr sz="1000"/>
                        <a:t>10 reps each</a:t>
                      </a:r>
                    </a:p>
                  </a:txBody>
                  <a:tcPr>
                    <a:solidFill>
                      <a:srgbClr val="FCF5F5"/>
                    </a:solidFill>
                  </a:tcPr>
                </a:tc>
                <a:tc>
                  <a:txBody>
                    <a:bodyPr/>
                    <a:lstStyle/>
                    <a:p>
                      <a:r>
                        <a:rPr sz="1000"/>
                        <a:t>Rotator cuff / scap</a:t>
                      </a:r>
                    </a:p>
                  </a:txBody>
                  <a:tcPr>
                    <a:solidFill>
                      <a:srgbClr val="FCF5F5"/>
                    </a:solidFill>
                  </a:tcPr>
                </a:tc>
                <a:tc>
                  <a:txBody>
                    <a:bodyPr/>
                    <a:lstStyle/>
                    <a:p>
                      <a:r>
                        <a:rPr sz="1000"/>
                        <a:t>2-3</a:t>
                      </a:r>
                    </a:p>
                  </a:txBody>
                  <a:tcPr>
                    <a:solidFill>
                      <a:srgbClr val="FCF5F5"/>
                    </a:solidFill>
                  </a:tcPr>
                </a:tc>
                <a:tc>
                  <a:txBody>
                    <a:bodyPr/>
                    <a:lstStyle/>
                    <a:p>
                      <a:r>
                        <a:rPr sz="1000"/>
                        <a:t>Light plates or bands</a:t>
                      </a:r>
                    </a:p>
                  </a:txBody>
                  <a:tcPr>
                    <a:solidFill>
                      <a:srgbClr val="FCF5F5"/>
                    </a:solidFill>
                  </a:tcPr>
                </a:tc>
              </a:tr>
              <a:tr h="465520">
                <a:tc>
                  <a:txBody>
                    <a:bodyPr/>
                    <a:lstStyle/>
                    <a:p>
                      <a:r>
                        <a:rPr sz="1000"/>
                        <a:t>Box Jump (single-leg landing)</a:t>
                      </a:r>
                    </a:p>
                  </a:txBody>
                  <a:tcPr>
                    <a:solidFill>
                      <a:srgbClr val="FFFFFF"/>
                    </a:solidFill>
                  </a:tcPr>
                </a:tc>
                <a:tc>
                  <a:txBody>
                    <a:bodyPr/>
                    <a:lstStyle/>
                    <a:p>
                      <a:r>
                        <a:rPr sz="1000"/>
                        <a:t>3</a:t>
                      </a:r>
                    </a:p>
                  </a:txBody>
                  <a:tcPr>
                    <a:solidFill>
                      <a:srgbClr val="FFFFFF"/>
                    </a:solidFill>
                  </a:tcPr>
                </a:tc>
                <a:tc>
                  <a:txBody>
                    <a:bodyPr/>
                    <a:lstStyle/>
                    <a:p>
                      <a:r>
                        <a:rPr sz="1000"/>
                        <a:t>5 each leg</a:t>
                      </a:r>
                    </a:p>
                  </a:txBody>
                  <a:tcPr>
                    <a:solidFill>
                      <a:srgbClr val="FFFFFF"/>
                    </a:solidFill>
                  </a:tcPr>
                </a:tc>
                <a:tc>
                  <a:txBody>
                    <a:bodyPr/>
                    <a:lstStyle/>
                    <a:p>
                      <a:r>
                        <a:rPr sz="1000"/>
                        <a:t>Full chain power</a:t>
                      </a:r>
                    </a:p>
                  </a:txBody>
                  <a:tcPr>
                    <a:solidFill>
                      <a:srgbClr val="FFFFFF"/>
                    </a:solidFill>
                  </a:tcPr>
                </a:tc>
                <a:tc>
                  <a:txBody>
                    <a:bodyPr/>
                    <a:lstStyle/>
                    <a:p>
                      <a:r>
                        <a:rPr sz="1000"/>
                        <a:t>3</a:t>
                      </a:r>
                    </a:p>
                  </a:txBody>
                  <a:tcPr>
                    <a:solidFill>
                      <a:srgbClr val="FFFFFF"/>
                    </a:solidFill>
                  </a:tcPr>
                </a:tc>
                <a:tc>
                  <a:txBody>
                    <a:bodyPr/>
                    <a:lstStyle/>
                    <a:p>
                      <a:r>
                        <a:rPr sz="1000"/>
                        <a:t>Stick the landing 2 sec</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5F5"/>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POSITION-SPECIFIC LOADING</a:t>
            </a:r>
          </a:p>
        </p:txBody>
      </p:sp>
      <p:graphicFrame>
        <p:nvGraphicFramePr>
          <p:cNvPr id="4" name="Chart 3"/>
          <p:cNvGraphicFramePr>
            <a:graphicFrameLocks noGrp="1"/>
          </p:cNvGraphicFramePr>
          <p:nvPr/>
        </p:nvGraphicFramePr>
        <p:xfrm>
          <a:off x="365760" y="1097280"/>
          <a:ext cx="7772400" cy="5029200"/>
        </p:xfrm>
        <a:graphic>
          <a:graphicData uri="http://schemas.openxmlformats.org/drawingml/2006/chart">
            <c:chart xmlns:c="http://schemas.openxmlformats.org/drawingml/2006/chart" r:id="rId2"/>
          </a:graphicData>
        </a:graphic>
      </p:graphicFrame>
      <p:sp>
        <p:nvSpPr>
          <p:cNvPr id="5" name="Rectangle 4"/>
          <p:cNvSpPr/>
          <p:nvPr/>
        </p:nvSpPr>
        <p:spPr>
          <a:xfrm>
            <a:off x="8412480" y="1097280"/>
            <a:ext cx="3566160" cy="5029200"/>
          </a:xfrm>
          <a:prstGeom prst="rect">
            <a:avLst/>
          </a:prstGeom>
          <a:solidFill>
            <a:srgbClr val="F0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188720"/>
            <a:ext cx="3291840" cy="411480"/>
          </a:xfrm>
          <a:prstGeom prst="rect">
            <a:avLst/>
          </a:prstGeom>
          <a:noFill/>
        </p:spPr>
        <p:txBody>
          <a:bodyPr wrap="square">
            <a:spAutoFit/>
          </a:bodyPr>
          <a:lstStyle/>
          <a:p>
            <a:pPr algn="l"/>
            <a:r>
              <a:rPr sz="1300" b="1">
                <a:solidFill>
                  <a:srgbClr val="9E0F0F"/>
                </a:solidFill>
              </a:rPr>
              <a:t>LOAD PRINCIPLES</a:t>
            </a:r>
          </a:p>
        </p:txBody>
      </p:sp>
      <p:sp>
        <p:nvSpPr>
          <p:cNvPr id="7" name="TextBox 6"/>
          <p:cNvSpPr txBox="1"/>
          <p:nvPr/>
        </p:nvSpPr>
        <p:spPr>
          <a:xfrm>
            <a:off x="8549640" y="1691640"/>
            <a:ext cx="3337560" cy="594360"/>
          </a:xfrm>
          <a:prstGeom prst="rect">
            <a:avLst/>
          </a:prstGeom>
          <a:noFill/>
        </p:spPr>
        <p:txBody>
          <a:bodyPr wrap="square">
            <a:spAutoFit/>
          </a:bodyPr>
          <a:lstStyle/>
          <a:p>
            <a:pPr algn="l"/>
            <a:r>
              <a:rPr sz="950" b="0">
                <a:solidFill>
                  <a:srgbClr val="3C2828"/>
                </a:solidFill>
              </a:rPr>
              <a:t>- Linemen carry the highest lower-body load; hip and knee stability is the priority.</a:t>
            </a:r>
          </a:p>
        </p:txBody>
      </p:sp>
      <p:sp>
        <p:nvSpPr>
          <p:cNvPr id="8" name="TextBox 7"/>
          <p:cNvSpPr txBox="1"/>
          <p:nvPr/>
        </p:nvSpPr>
        <p:spPr>
          <a:xfrm>
            <a:off x="8549640" y="2350008"/>
            <a:ext cx="3337560" cy="594360"/>
          </a:xfrm>
          <a:prstGeom prst="rect">
            <a:avLst/>
          </a:prstGeom>
          <a:noFill/>
        </p:spPr>
        <p:txBody>
          <a:bodyPr wrap="square">
            <a:spAutoFit/>
          </a:bodyPr>
          <a:lstStyle/>
          <a:p>
            <a:pPr algn="l"/>
            <a:r>
              <a:rPr sz="950" b="0">
                <a:solidFill>
                  <a:srgbClr val="3C2828"/>
                </a:solidFill>
              </a:rPr>
              <a:t>- Receivers and DBs receive the highest core volume - reactive agility depends on it.</a:t>
            </a:r>
          </a:p>
        </p:txBody>
      </p:sp>
      <p:sp>
        <p:nvSpPr>
          <p:cNvPr id="9" name="TextBox 8"/>
          <p:cNvSpPr txBox="1"/>
          <p:nvPr/>
        </p:nvSpPr>
        <p:spPr>
          <a:xfrm>
            <a:off x="8549640" y="3008376"/>
            <a:ext cx="3337560" cy="594360"/>
          </a:xfrm>
          <a:prstGeom prst="rect">
            <a:avLst/>
          </a:prstGeom>
          <a:noFill/>
        </p:spPr>
        <p:txBody>
          <a:bodyPr wrap="square">
            <a:spAutoFit/>
          </a:bodyPr>
          <a:lstStyle/>
          <a:p>
            <a:pPr algn="l"/>
            <a:r>
              <a:rPr sz="950" b="0">
                <a:solidFill>
                  <a:srgbClr val="3C2828"/>
                </a:solidFill>
              </a:rPr>
              <a:t>- QBs get additional shoulder volume with rotator cuff emphasis.</a:t>
            </a:r>
          </a:p>
        </p:txBody>
      </p:sp>
      <p:sp>
        <p:nvSpPr>
          <p:cNvPr id="10" name="TextBox 9"/>
          <p:cNvSpPr txBox="1"/>
          <p:nvPr/>
        </p:nvSpPr>
        <p:spPr>
          <a:xfrm>
            <a:off x="8549640" y="3666744"/>
            <a:ext cx="3337560" cy="594360"/>
          </a:xfrm>
          <a:prstGeom prst="rect">
            <a:avLst/>
          </a:prstGeom>
          <a:noFill/>
        </p:spPr>
        <p:txBody>
          <a:bodyPr wrap="square">
            <a:spAutoFit/>
          </a:bodyPr>
          <a:lstStyle/>
          <a:p>
            <a:pPr algn="l"/>
            <a:r>
              <a:rPr sz="950" b="0">
                <a:solidFill>
                  <a:srgbClr val="3C2828"/>
                </a:solidFill>
              </a:rPr>
              <a:t>- All positions progress 5-10% per week in Phase 2.</a:t>
            </a:r>
          </a:p>
        </p:txBody>
      </p:sp>
      <p:sp>
        <p:nvSpPr>
          <p:cNvPr id="11" name="TextBox 10"/>
          <p:cNvSpPr txBox="1"/>
          <p:nvPr/>
        </p:nvSpPr>
        <p:spPr>
          <a:xfrm>
            <a:off x="8549640" y="4325112"/>
            <a:ext cx="3337560" cy="594360"/>
          </a:xfrm>
          <a:prstGeom prst="rect">
            <a:avLst/>
          </a:prstGeom>
          <a:noFill/>
        </p:spPr>
        <p:txBody>
          <a:bodyPr wrap="square">
            <a:spAutoFit/>
          </a:bodyPr>
          <a:lstStyle/>
          <a:p>
            <a:pPr algn="l"/>
            <a:r>
              <a:rPr sz="950" b="0">
                <a:solidFill>
                  <a:srgbClr val="3C2828"/>
                </a:solidFill>
              </a:rPr>
              <a:t>- Athletes with prior injury follow an individualized return pathway.</a:t>
            </a:r>
          </a:p>
        </p:txBody>
      </p:sp>
      <p:sp>
        <p:nvSpPr>
          <p:cNvPr id="12" name="TextBox 11"/>
          <p:cNvSpPr txBox="1"/>
          <p:nvPr/>
        </p:nvSpPr>
        <p:spPr>
          <a:xfrm>
            <a:off x="8549640" y="4983479"/>
            <a:ext cx="3337560" cy="594360"/>
          </a:xfrm>
          <a:prstGeom prst="rect">
            <a:avLst/>
          </a:prstGeom>
          <a:noFill/>
        </p:spPr>
        <p:txBody>
          <a:bodyPr wrap="square">
            <a:spAutoFit/>
          </a:bodyPr>
          <a:lstStyle/>
          <a:p>
            <a:pPr algn="l"/>
            <a:r>
              <a:rPr sz="950" b="0">
                <a:solidFill>
                  <a:srgbClr val="3C2828"/>
                </a:solidFill>
              </a:rPr>
              <a:t>- Shannon Perry reviews load adjustments weekly with the athletic trainer.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5F5"/>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IMPLEMENTATION TIMELINE</a:t>
            </a:r>
          </a:p>
        </p:txBody>
      </p:sp>
      <p:graphicFrame>
        <p:nvGraphicFramePr>
          <p:cNvPr id="4" name="Table 3"/>
          <p:cNvGraphicFramePr>
            <a:graphicFrameLocks noGrp="1"/>
          </p:cNvGraphicFramePr>
          <p:nvPr/>
        </p:nvGraphicFramePr>
        <p:xfrm>
          <a:off x="274320" y="1005840"/>
          <a:ext cx="11612880" cy="5212080"/>
        </p:xfrm>
        <a:graphic>
          <a:graphicData uri="http://schemas.openxmlformats.org/drawingml/2006/table">
            <a:tbl>
              <a:tblPr firstRow="1" bandRow="1">
                <a:tableStyleId>{5C22544A-7EE6-4342-B048-85BDC9FD1C3A}</a:tableStyleId>
              </a:tblPr>
              <a:tblGrid>
                <a:gridCol w="2322576"/>
                <a:gridCol w="2322576"/>
                <a:gridCol w="2322576"/>
                <a:gridCol w="2322576"/>
                <a:gridCol w="2322576"/>
              </a:tblGrid>
              <a:tr h="579120">
                <a:tc>
                  <a:txBody>
                    <a:bodyPr/>
                    <a:lstStyle/>
                    <a:p>
                      <a:r>
                        <a:rPr b="1" sz="1100">
                          <a:solidFill>
                            <a:srgbClr val="FFFFFF"/>
                          </a:solidFill>
                        </a:rPr>
                        <a:t>Week</a:t>
                      </a:r>
                    </a:p>
                  </a:txBody>
                  <a:tcPr>
                    <a:solidFill>
                      <a:srgbClr val="9E0F0F"/>
                    </a:solidFill>
                  </a:tcPr>
                </a:tc>
                <a:tc>
                  <a:txBody>
                    <a:bodyPr/>
                    <a:lstStyle/>
                    <a:p>
                      <a:r>
                        <a:rPr b="1" sz="1100">
                          <a:solidFill>
                            <a:srgbClr val="FFFFFF"/>
                          </a:solidFill>
                        </a:rPr>
                        <a:t>Dates</a:t>
                      </a:r>
                    </a:p>
                  </a:txBody>
                  <a:tcPr>
                    <a:solidFill>
                      <a:srgbClr val="9E0F0F"/>
                    </a:solidFill>
                  </a:tcPr>
                </a:tc>
                <a:tc>
                  <a:txBody>
                    <a:bodyPr/>
                    <a:lstStyle/>
                    <a:p>
                      <a:r>
                        <a:rPr b="1" sz="1100">
                          <a:solidFill>
                            <a:srgbClr val="FFFFFF"/>
                          </a:solidFill>
                        </a:rPr>
                        <a:t>Phase</a:t>
                      </a:r>
                    </a:p>
                  </a:txBody>
                  <a:tcPr>
                    <a:solidFill>
                      <a:srgbClr val="9E0F0F"/>
                    </a:solidFill>
                  </a:tcPr>
                </a:tc>
                <a:tc>
                  <a:txBody>
                    <a:bodyPr/>
                    <a:lstStyle/>
                    <a:p>
                      <a:r>
                        <a:rPr b="1" sz="1100">
                          <a:solidFill>
                            <a:srgbClr val="FFFFFF"/>
                          </a:solidFill>
                        </a:rPr>
                        <a:t>Key Activities</a:t>
                      </a:r>
                    </a:p>
                  </a:txBody>
                  <a:tcPr>
                    <a:solidFill>
                      <a:srgbClr val="9E0F0F"/>
                    </a:solidFill>
                  </a:tcPr>
                </a:tc>
                <a:tc>
                  <a:txBody>
                    <a:bodyPr/>
                    <a:lstStyle/>
                    <a:p>
                      <a:r>
                        <a:rPr b="1" sz="1100">
                          <a:solidFill>
                            <a:srgbClr val="FFFFFF"/>
                          </a:solidFill>
                        </a:rPr>
                        <a:t>Deliverable</a:t>
                      </a:r>
                    </a:p>
                  </a:txBody>
                  <a:tcPr>
                    <a:solidFill>
                      <a:srgbClr val="9E0F0F"/>
                    </a:solidFill>
                  </a:tcPr>
                </a:tc>
              </a:tr>
              <a:tr h="579120">
                <a:tc>
                  <a:txBody>
                    <a:bodyPr/>
                    <a:lstStyle/>
                    <a:p>
                      <a:r>
                        <a:rPr sz="1000"/>
                        <a:t>1</a:t>
                      </a:r>
                    </a:p>
                  </a:txBody>
                  <a:tcPr>
                    <a:solidFill>
                      <a:srgbClr val="FCF5F5"/>
                    </a:solidFill>
                  </a:tcPr>
                </a:tc>
                <a:tc>
                  <a:txBody>
                    <a:bodyPr/>
                    <a:lstStyle/>
                    <a:p>
                      <a:r>
                        <a:rPr sz="1000"/>
                        <a:t>Oct 6-10, 2026</a:t>
                      </a:r>
                    </a:p>
                  </a:txBody>
                  <a:tcPr>
                    <a:solidFill>
                      <a:srgbClr val="FCF5F5"/>
                    </a:solidFill>
                  </a:tcPr>
                </a:tc>
                <a:tc>
                  <a:txBody>
                    <a:bodyPr/>
                    <a:lstStyle/>
                    <a:p>
                      <a:r>
                        <a:rPr sz="1000"/>
                        <a:t>1 - Assessment</a:t>
                      </a:r>
                    </a:p>
                  </a:txBody>
                  <a:tcPr>
                    <a:solidFill>
                      <a:srgbClr val="FCF5F5"/>
                    </a:solidFill>
                  </a:tcPr>
                </a:tc>
                <a:tc>
                  <a:txBody>
                    <a:bodyPr/>
                    <a:lstStyle/>
                    <a:p>
                      <a:r>
                        <a:rPr sz="1000"/>
                        <a:t>Movement screens, injury history collection</a:t>
                      </a:r>
                    </a:p>
                  </a:txBody>
                  <a:tcPr>
                    <a:solidFill>
                      <a:srgbClr val="FCF5F5"/>
                    </a:solidFill>
                  </a:tcPr>
                </a:tc>
                <a:tc>
                  <a:txBody>
                    <a:bodyPr/>
                    <a:lstStyle/>
                    <a:p>
                      <a:r>
                        <a:rPr sz="1000"/>
                        <a:t>Baseline report per athlete</a:t>
                      </a:r>
                    </a:p>
                  </a:txBody>
                  <a:tcPr>
                    <a:solidFill>
                      <a:srgbClr val="FCF5F5"/>
                    </a:solidFill>
                  </a:tcPr>
                </a:tc>
              </a:tr>
              <a:tr h="579120">
                <a:tc>
                  <a:txBody>
                    <a:bodyPr/>
                    <a:lstStyle/>
                    <a:p>
                      <a:r>
                        <a:rPr sz="1000"/>
                        <a:t>2</a:t>
                      </a:r>
                    </a:p>
                  </a:txBody>
                  <a:tcPr>
                    <a:solidFill>
                      <a:srgbClr val="FFFFFF"/>
                    </a:solidFill>
                  </a:tcPr>
                </a:tc>
                <a:tc>
                  <a:txBody>
                    <a:bodyPr/>
                    <a:lstStyle/>
                    <a:p>
                      <a:r>
                        <a:rPr sz="1000"/>
                        <a:t>Oct 13-17, 2026</a:t>
                      </a:r>
                    </a:p>
                  </a:txBody>
                  <a:tcPr>
                    <a:solidFill>
                      <a:srgbClr val="FFFFFF"/>
                    </a:solidFill>
                  </a:tcPr>
                </a:tc>
                <a:tc>
                  <a:txBody>
                    <a:bodyPr/>
                    <a:lstStyle/>
                    <a:p>
                      <a:r>
                        <a:rPr sz="1000"/>
                        <a:t>1 - Assessment</a:t>
                      </a:r>
                    </a:p>
                  </a:txBody>
                  <a:tcPr>
                    <a:solidFill>
                      <a:srgbClr val="FFFFFF"/>
                    </a:solidFill>
                  </a:tcPr>
                </a:tc>
                <a:tc>
                  <a:txBody>
                    <a:bodyPr/>
                    <a:lstStyle/>
                    <a:p>
                      <a:r>
                        <a:rPr sz="1000"/>
                        <a:t>Strength testing, flexibility mapping</a:t>
                      </a:r>
                    </a:p>
                  </a:txBody>
                  <a:tcPr>
                    <a:solidFill>
                      <a:srgbClr val="FFFFFF"/>
                    </a:solidFill>
                  </a:tcPr>
                </a:tc>
                <a:tc>
                  <a:txBody>
                    <a:bodyPr/>
                    <a:lstStyle/>
                    <a:p>
                      <a:r>
                        <a:rPr sz="1000"/>
                        <a:t>Position-group risk profile</a:t>
                      </a:r>
                    </a:p>
                  </a:txBody>
                  <a:tcPr>
                    <a:solidFill>
                      <a:srgbClr val="FFFFFF"/>
                    </a:solidFill>
                  </a:tcPr>
                </a:tc>
              </a:tr>
              <a:tr h="579120">
                <a:tc>
                  <a:txBody>
                    <a:bodyPr/>
                    <a:lstStyle/>
                    <a:p>
                      <a:r>
                        <a:rPr sz="1000"/>
                        <a:t>3-4</a:t>
                      </a:r>
                    </a:p>
                  </a:txBody>
                  <a:tcPr>
                    <a:solidFill>
                      <a:srgbClr val="FCF5F5"/>
                    </a:solidFill>
                  </a:tcPr>
                </a:tc>
                <a:tc>
                  <a:txBody>
                    <a:bodyPr/>
                    <a:lstStyle/>
                    <a:p>
                      <a:r>
                        <a:rPr sz="1000"/>
                        <a:t>Oct 20 - Oct 31, 2026</a:t>
                      </a:r>
                    </a:p>
                  </a:txBody>
                  <a:tcPr>
                    <a:solidFill>
                      <a:srgbClr val="FCF5F5"/>
                    </a:solidFill>
                  </a:tcPr>
                </a:tc>
                <a:tc>
                  <a:txBody>
                    <a:bodyPr/>
                    <a:lstStyle/>
                    <a:p>
                      <a:r>
                        <a:rPr sz="1000"/>
                        <a:t>2 - Foundation</a:t>
                      </a:r>
                    </a:p>
                  </a:txBody>
                  <a:tcPr>
                    <a:solidFill>
                      <a:srgbClr val="FCF5F5"/>
                    </a:solidFill>
                  </a:tcPr>
                </a:tc>
                <a:tc>
                  <a:txBody>
                    <a:bodyPr/>
                    <a:lstStyle/>
                    <a:p>
                      <a:r>
                        <a:rPr sz="1000"/>
                        <a:t>Eccentric lower body, core stability intro</a:t>
                      </a:r>
                    </a:p>
                  </a:txBody>
                  <a:tcPr>
                    <a:solidFill>
                      <a:srgbClr val="FCF5F5"/>
                    </a:solidFill>
                  </a:tcPr>
                </a:tc>
                <a:tc>
                  <a:txBody>
                    <a:bodyPr/>
                    <a:lstStyle/>
                    <a:p>
                      <a:r>
                        <a:rPr sz="1000"/>
                        <a:t>Weekly volume log</a:t>
                      </a:r>
                    </a:p>
                  </a:txBody>
                  <a:tcPr>
                    <a:solidFill>
                      <a:srgbClr val="FCF5F5"/>
                    </a:solidFill>
                  </a:tcPr>
                </a:tc>
              </a:tr>
              <a:tr h="579120">
                <a:tc>
                  <a:txBody>
                    <a:bodyPr/>
                    <a:lstStyle/>
                    <a:p>
                      <a:r>
                        <a:rPr sz="1000"/>
                        <a:t>5-6</a:t>
                      </a:r>
                    </a:p>
                  </a:txBody>
                  <a:tcPr>
                    <a:solidFill>
                      <a:srgbClr val="FFFFFF"/>
                    </a:solidFill>
                  </a:tcPr>
                </a:tc>
                <a:tc>
                  <a:txBody>
                    <a:bodyPr/>
                    <a:lstStyle/>
                    <a:p>
                      <a:r>
                        <a:rPr sz="1000"/>
                        <a:t>Nov 3-14, 2026</a:t>
                      </a:r>
                    </a:p>
                  </a:txBody>
                  <a:tcPr>
                    <a:solidFill>
                      <a:srgbClr val="FFFFFF"/>
                    </a:solidFill>
                  </a:tcPr>
                </a:tc>
                <a:tc>
                  <a:txBody>
                    <a:bodyPr/>
                    <a:lstStyle/>
                    <a:p>
                      <a:r>
                        <a:rPr sz="1000"/>
                        <a:t>2 - Build</a:t>
                      </a:r>
                    </a:p>
                  </a:txBody>
                  <a:tcPr>
                    <a:solidFill>
                      <a:srgbClr val="FFFFFF"/>
                    </a:solidFill>
                  </a:tcPr>
                </a:tc>
                <a:tc>
                  <a:txBody>
                    <a:bodyPr/>
                    <a:lstStyle/>
                    <a:p>
                      <a:r>
                        <a:rPr sz="1000"/>
                        <a:t>Progressive loading, hip and ankle protocols</a:t>
                      </a:r>
                    </a:p>
                  </a:txBody>
                  <a:tcPr>
                    <a:solidFill>
                      <a:srgbClr val="FFFFFF"/>
                    </a:solidFill>
                  </a:tcPr>
                </a:tc>
                <a:tc>
                  <a:txBody>
                    <a:bodyPr/>
                    <a:lstStyle/>
                    <a:p>
                      <a:r>
                        <a:rPr sz="1000"/>
                        <a:t>Movement quality scores</a:t>
                      </a:r>
                    </a:p>
                  </a:txBody>
                  <a:tcPr>
                    <a:solidFill>
                      <a:srgbClr val="FFFFFF"/>
                    </a:solidFill>
                  </a:tcPr>
                </a:tc>
              </a:tr>
              <a:tr h="579120">
                <a:tc>
                  <a:txBody>
                    <a:bodyPr/>
                    <a:lstStyle/>
                    <a:p>
                      <a:r>
                        <a:rPr sz="1000"/>
                        <a:t>7-8</a:t>
                      </a:r>
                    </a:p>
                  </a:txBody>
                  <a:tcPr>
                    <a:solidFill>
                      <a:srgbClr val="FCF5F5"/>
                    </a:solidFill>
                  </a:tcPr>
                </a:tc>
                <a:tc>
                  <a:txBody>
                    <a:bodyPr/>
                    <a:lstStyle/>
                    <a:p>
                      <a:r>
                        <a:rPr sz="1000"/>
                        <a:t>Nov 17-26, 2026</a:t>
                      </a:r>
                    </a:p>
                  </a:txBody>
                  <a:tcPr>
                    <a:solidFill>
                      <a:srgbClr val="FCF5F5"/>
                    </a:solidFill>
                  </a:tcPr>
                </a:tc>
                <a:tc>
                  <a:txBody>
                    <a:bodyPr/>
                    <a:lstStyle/>
                    <a:p>
                      <a:r>
                        <a:rPr sz="1000"/>
                        <a:t>2 - Peak</a:t>
                      </a:r>
                    </a:p>
                  </a:txBody>
                  <a:tcPr>
                    <a:solidFill>
                      <a:srgbClr val="FCF5F5"/>
                    </a:solidFill>
                  </a:tcPr>
                </a:tc>
                <a:tc>
                  <a:txBody>
                    <a:bodyPr/>
                    <a:lstStyle/>
                    <a:p>
                      <a:r>
                        <a:rPr sz="1000"/>
                        <a:t>Full Phase 2 volume, reactive drills</a:t>
                      </a:r>
                    </a:p>
                  </a:txBody>
                  <a:tcPr>
                    <a:solidFill>
                      <a:srgbClr val="FCF5F5"/>
                    </a:solidFill>
                  </a:tcPr>
                </a:tc>
                <a:tc>
                  <a:txBody>
                    <a:bodyPr/>
                    <a:lstStyle/>
                    <a:p>
                      <a:r>
                        <a:rPr sz="1000"/>
                        <a:t>End-of-phase reassessment</a:t>
                      </a:r>
                    </a:p>
                  </a:txBody>
                  <a:tcPr>
                    <a:solidFill>
                      <a:srgbClr val="FCF5F5"/>
                    </a:solidFill>
                  </a:tcPr>
                </a:tc>
              </a:tr>
              <a:tr h="579120">
                <a:tc>
                  <a:txBody>
                    <a:bodyPr/>
                    <a:lstStyle/>
                    <a:p>
                      <a:r>
                        <a:rPr sz="1000"/>
                        <a:t>9-10</a:t>
                      </a:r>
                    </a:p>
                  </a:txBody>
                  <a:tcPr>
                    <a:solidFill>
                      <a:srgbClr val="FFFFFF"/>
                    </a:solidFill>
                  </a:tcPr>
                </a:tc>
                <a:tc>
                  <a:txBody>
                    <a:bodyPr/>
                    <a:lstStyle/>
                    <a:p>
                      <a:r>
                        <a:rPr sz="1000"/>
                        <a:t>Dec 1-12, 2026</a:t>
                      </a:r>
                    </a:p>
                  </a:txBody>
                  <a:tcPr>
                    <a:solidFill>
                      <a:srgbClr val="FFFFFF"/>
                    </a:solidFill>
                  </a:tcPr>
                </a:tc>
                <a:tc>
                  <a:txBody>
                    <a:bodyPr/>
                    <a:lstStyle/>
                    <a:p>
                      <a:r>
                        <a:rPr sz="1000"/>
                        <a:t>3 - Integration</a:t>
                      </a:r>
                    </a:p>
                  </a:txBody>
                  <a:tcPr>
                    <a:solidFill>
                      <a:srgbClr val="FFFFFF"/>
                    </a:solidFill>
                  </a:tcPr>
                </a:tc>
                <a:tc>
                  <a:txBody>
                    <a:bodyPr/>
                    <a:lstStyle/>
                    <a:p>
                      <a:r>
                        <a:rPr sz="1000"/>
                        <a:t>Contact-movement prep, loaded patterns</a:t>
                      </a:r>
                    </a:p>
                  </a:txBody>
                  <a:tcPr>
                    <a:solidFill>
                      <a:srgbClr val="FFFFFF"/>
                    </a:solidFill>
                  </a:tcPr>
                </a:tc>
                <a:tc>
                  <a:txBody>
                    <a:bodyPr/>
                    <a:lstStyle/>
                    <a:p>
                      <a:r>
                        <a:rPr sz="1000"/>
                        <a:t>Return-to-contact clearances</a:t>
                      </a:r>
                    </a:p>
                  </a:txBody>
                  <a:tcPr>
                    <a:solidFill>
                      <a:srgbClr val="FFFFFF"/>
                    </a:solidFill>
                  </a:tcPr>
                </a:tc>
              </a:tr>
              <a:tr h="579120">
                <a:tc>
                  <a:txBody>
                    <a:bodyPr/>
                    <a:lstStyle/>
                    <a:p>
                      <a:r>
                        <a:rPr sz="1000"/>
                        <a:t>11-12</a:t>
                      </a:r>
                    </a:p>
                  </a:txBody>
                  <a:tcPr>
                    <a:solidFill>
                      <a:srgbClr val="FCF5F5"/>
                    </a:solidFill>
                  </a:tcPr>
                </a:tc>
                <a:tc>
                  <a:txBody>
                    <a:bodyPr/>
                    <a:lstStyle/>
                    <a:p>
                      <a:r>
                        <a:rPr sz="1000"/>
                        <a:t>Dec 15-31, 2026</a:t>
                      </a:r>
                    </a:p>
                  </a:txBody>
                  <a:tcPr>
                    <a:solidFill>
                      <a:srgbClr val="FCF5F5"/>
                    </a:solidFill>
                  </a:tcPr>
                </a:tc>
                <a:tc>
                  <a:txBody>
                    <a:bodyPr/>
                    <a:lstStyle/>
                    <a:p>
                      <a:r>
                        <a:rPr sz="1000"/>
                        <a:t>3 - Full Integration</a:t>
                      </a:r>
                    </a:p>
                  </a:txBody>
                  <a:tcPr>
                    <a:solidFill>
                      <a:srgbClr val="FCF5F5"/>
                    </a:solidFill>
                  </a:tcPr>
                </a:tc>
                <a:tc>
                  <a:txBody>
                    <a:bodyPr/>
                    <a:lstStyle/>
                    <a:p>
                      <a:r>
                        <a:rPr sz="1000"/>
                        <a:t>Sport-specific agility, team drill prep</a:t>
                      </a:r>
                    </a:p>
                  </a:txBody>
                  <a:tcPr>
                    <a:solidFill>
                      <a:srgbClr val="FCF5F5"/>
                    </a:solidFill>
                  </a:tcPr>
                </a:tc>
                <a:tc>
                  <a:txBody>
                    <a:bodyPr/>
                    <a:lstStyle/>
                    <a:p>
                      <a:r>
                        <a:rPr sz="1000"/>
                        <a:t>Pre-camp readiness report</a:t>
                      </a:r>
                    </a:p>
                  </a:txBody>
                  <a:tcPr>
                    <a:solidFill>
                      <a:srgbClr val="FCF5F5"/>
                    </a:solidFill>
                  </a:tcPr>
                </a:tc>
              </a:tr>
              <a:tr h="579120">
                <a:tc>
                  <a:txBody>
                    <a:bodyPr/>
                    <a:lstStyle/>
                    <a:p>
                      <a:r>
                        <a:rPr sz="1000"/>
                        <a:t>13-14</a:t>
                      </a:r>
                    </a:p>
                  </a:txBody>
                  <a:tcPr>
                    <a:solidFill>
                      <a:srgbClr val="FFFFFF"/>
                    </a:solidFill>
                  </a:tcPr>
                </a:tc>
                <a:tc>
                  <a:txBody>
                    <a:bodyPr/>
                    <a:lstStyle/>
                    <a:p>
                      <a:r>
                        <a:rPr sz="1000"/>
                        <a:t>Jan 5-16, 2027</a:t>
                      </a:r>
                    </a:p>
                  </a:txBody>
                  <a:tcPr>
                    <a:solidFill>
                      <a:srgbClr val="FFFFFF"/>
                    </a:solidFill>
                  </a:tcPr>
                </a:tc>
                <a:tc>
                  <a:txBody>
                    <a:bodyPr/>
                    <a:lstStyle/>
                    <a:p>
                      <a:r>
                        <a:rPr sz="1000"/>
                        <a:t>3 - Maintenance</a:t>
                      </a:r>
                    </a:p>
                  </a:txBody>
                  <a:tcPr>
                    <a:solidFill>
                      <a:srgbClr val="FFFFFF"/>
                    </a:solidFill>
                  </a:tcPr>
                </a:tc>
                <a:tc>
                  <a:txBody>
                    <a:bodyPr/>
                    <a:lstStyle/>
                    <a:p>
                      <a:r>
                        <a:rPr sz="1000"/>
                        <a:t>Reduced volume, maintain movement quality</a:t>
                      </a:r>
                    </a:p>
                  </a:txBody>
                  <a:tcPr>
                    <a:solidFill>
                      <a:srgbClr val="FFFFFF"/>
                    </a:solidFill>
                  </a:tcPr>
                </a:tc>
                <a:tc>
                  <a:txBody>
                    <a:bodyPr/>
                    <a:lstStyle/>
                    <a:p>
                      <a:r>
                        <a:rPr sz="1000"/>
                        <a:t>Final prehab summary</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5F5"/>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EXPECTED OUTCOMES</a:t>
            </a:r>
          </a:p>
        </p:txBody>
      </p:sp>
      <p:graphicFrame>
        <p:nvGraphicFramePr>
          <p:cNvPr id="4" name="Chart 3"/>
          <p:cNvGraphicFramePr>
            <a:graphicFrameLocks noGrp="1"/>
          </p:cNvGraphicFramePr>
          <p:nvPr/>
        </p:nvGraphicFramePr>
        <p:xfrm>
          <a:off x="365760" y="1097280"/>
          <a:ext cx="7315200" cy="5029200"/>
        </p:xfrm>
        <a:graphic>
          <a:graphicData uri="http://schemas.openxmlformats.org/drawingml/2006/chart">
            <c:chart xmlns:c="http://schemas.openxmlformats.org/drawingml/2006/chart" r:id="rId2"/>
          </a:graphicData>
        </a:graphic>
      </p:graphicFrame>
      <p:sp>
        <p:nvSpPr>
          <p:cNvPr id="5" name="Rectangle 4"/>
          <p:cNvSpPr/>
          <p:nvPr/>
        </p:nvSpPr>
        <p:spPr>
          <a:xfrm>
            <a:off x="7955279" y="1097280"/>
            <a:ext cx="3931920" cy="5029200"/>
          </a:xfrm>
          <a:prstGeom prst="rect">
            <a:avLst/>
          </a:prstGeom>
          <a:solidFill>
            <a:srgbClr val="F5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1188720"/>
            <a:ext cx="3657600" cy="411480"/>
          </a:xfrm>
          <a:prstGeom prst="rect">
            <a:avLst/>
          </a:prstGeom>
          <a:noFill/>
        </p:spPr>
        <p:txBody>
          <a:bodyPr wrap="square">
            <a:spAutoFit/>
          </a:bodyPr>
          <a:lstStyle/>
          <a:p>
            <a:pPr algn="l"/>
            <a:r>
              <a:rPr sz="1300" b="1">
                <a:solidFill>
                  <a:srgbClr val="9E0F0F"/>
                </a:solidFill>
              </a:rPr>
              <a:t>SECONDARY BENEFITS</a:t>
            </a:r>
          </a:p>
        </p:txBody>
      </p:sp>
      <p:sp>
        <p:nvSpPr>
          <p:cNvPr id="7" name="TextBox 6"/>
          <p:cNvSpPr txBox="1"/>
          <p:nvPr/>
        </p:nvSpPr>
        <p:spPr>
          <a:xfrm>
            <a:off x="8092440" y="1737360"/>
            <a:ext cx="3657600" cy="502920"/>
          </a:xfrm>
          <a:prstGeom prst="rect">
            <a:avLst/>
          </a:prstGeom>
          <a:noFill/>
        </p:spPr>
        <p:txBody>
          <a:bodyPr wrap="square">
            <a:spAutoFit/>
          </a:bodyPr>
          <a:lstStyle/>
          <a:p>
            <a:pPr algn="l"/>
            <a:r>
              <a:rPr sz="1000" b="0">
                <a:solidFill>
                  <a:srgbClr val="3C2828"/>
                </a:solidFill>
              </a:rPr>
              <a:t>- Improved sprint speed from enhanced hip extension strength</a:t>
            </a:r>
          </a:p>
        </p:txBody>
      </p:sp>
      <p:sp>
        <p:nvSpPr>
          <p:cNvPr id="8" name="TextBox 7"/>
          <p:cNvSpPr txBox="1"/>
          <p:nvPr/>
        </p:nvSpPr>
        <p:spPr>
          <a:xfrm>
            <a:off x="8092440" y="2286000"/>
            <a:ext cx="3657600" cy="502920"/>
          </a:xfrm>
          <a:prstGeom prst="rect">
            <a:avLst/>
          </a:prstGeom>
          <a:noFill/>
        </p:spPr>
        <p:txBody>
          <a:bodyPr wrap="square">
            <a:spAutoFit/>
          </a:bodyPr>
          <a:lstStyle/>
          <a:p>
            <a:pPr algn="l"/>
            <a:r>
              <a:rPr sz="1000" b="0">
                <a:solidFill>
                  <a:srgbClr val="3C2828"/>
                </a:solidFill>
              </a:rPr>
              <a:t>- Reduced recovery time between practices</a:t>
            </a:r>
          </a:p>
        </p:txBody>
      </p:sp>
      <p:sp>
        <p:nvSpPr>
          <p:cNvPr id="9" name="TextBox 8"/>
          <p:cNvSpPr txBox="1"/>
          <p:nvPr/>
        </p:nvSpPr>
        <p:spPr>
          <a:xfrm>
            <a:off x="8092440" y="2834639"/>
            <a:ext cx="3657600" cy="502920"/>
          </a:xfrm>
          <a:prstGeom prst="rect">
            <a:avLst/>
          </a:prstGeom>
          <a:noFill/>
        </p:spPr>
        <p:txBody>
          <a:bodyPr wrap="square">
            <a:spAutoFit/>
          </a:bodyPr>
          <a:lstStyle/>
          <a:p>
            <a:pPr algn="l"/>
            <a:r>
              <a:rPr sz="1000" b="0">
                <a:solidFill>
                  <a:srgbClr val="3C2828"/>
                </a:solidFill>
              </a:rPr>
              <a:t>- Lower long-term ACL risk for returning athletes</a:t>
            </a:r>
          </a:p>
        </p:txBody>
      </p:sp>
      <p:sp>
        <p:nvSpPr>
          <p:cNvPr id="10" name="TextBox 9"/>
          <p:cNvSpPr txBox="1"/>
          <p:nvPr/>
        </p:nvSpPr>
        <p:spPr>
          <a:xfrm>
            <a:off x="8092440" y="3383279"/>
            <a:ext cx="3657600" cy="502920"/>
          </a:xfrm>
          <a:prstGeom prst="rect">
            <a:avLst/>
          </a:prstGeom>
          <a:noFill/>
        </p:spPr>
        <p:txBody>
          <a:bodyPr wrap="square">
            <a:spAutoFit/>
          </a:bodyPr>
          <a:lstStyle/>
          <a:p>
            <a:pPr algn="l"/>
            <a:r>
              <a:rPr sz="1000" b="0">
                <a:solidFill>
                  <a:srgbClr val="3C2828"/>
                </a:solidFill>
              </a:rPr>
              <a:t>- Measurable strength gains across all position groups</a:t>
            </a:r>
          </a:p>
        </p:txBody>
      </p:sp>
      <p:sp>
        <p:nvSpPr>
          <p:cNvPr id="11" name="TextBox 10"/>
          <p:cNvSpPr txBox="1"/>
          <p:nvPr/>
        </p:nvSpPr>
        <p:spPr>
          <a:xfrm>
            <a:off x="8092440" y="3931920"/>
            <a:ext cx="3657600" cy="502920"/>
          </a:xfrm>
          <a:prstGeom prst="rect">
            <a:avLst/>
          </a:prstGeom>
          <a:noFill/>
        </p:spPr>
        <p:txBody>
          <a:bodyPr wrap="square">
            <a:spAutoFit/>
          </a:bodyPr>
          <a:lstStyle/>
          <a:p>
            <a:pPr algn="l"/>
            <a:r>
              <a:rPr sz="1000" b="0">
                <a:solidFill>
                  <a:srgbClr val="3C2828"/>
                </a:solidFill>
              </a:rPr>
              <a:t>- Better athlete body-awareness and self-screening skills</a:t>
            </a:r>
          </a:p>
        </p:txBody>
      </p:sp>
      <p:sp>
        <p:nvSpPr>
          <p:cNvPr id="12" name="TextBox 11"/>
          <p:cNvSpPr txBox="1"/>
          <p:nvPr/>
        </p:nvSpPr>
        <p:spPr>
          <a:xfrm>
            <a:off x="8092440" y="4480560"/>
            <a:ext cx="3657600" cy="502920"/>
          </a:xfrm>
          <a:prstGeom prst="rect">
            <a:avLst/>
          </a:prstGeom>
          <a:noFill/>
        </p:spPr>
        <p:txBody>
          <a:bodyPr wrap="square">
            <a:spAutoFit/>
          </a:bodyPr>
          <a:lstStyle/>
          <a:p>
            <a:pPr algn="l"/>
            <a:r>
              <a:rPr sz="1000" b="0">
                <a:solidFill>
                  <a:srgbClr val="3C2828"/>
                </a:solidFill>
              </a:rPr>
              <a:t>- Clearer return-to-play protocol for injured athletes</a:t>
            </a:r>
          </a:p>
        </p:txBody>
      </p:sp>
      <p:sp>
        <p:nvSpPr>
          <p:cNvPr id="13" name="TextBox 12"/>
          <p:cNvSpPr txBox="1"/>
          <p:nvPr/>
        </p:nvSpPr>
        <p:spPr>
          <a:xfrm>
            <a:off x="8092440" y="5029200"/>
            <a:ext cx="3657600" cy="502920"/>
          </a:xfrm>
          <a:prstGeom prst="rect">
            <a:avLst/>
          </a:prstGeom>
          <a:noFill/>
        </p:spPr>
        <p:txBody>
          <a:bodyPr wrap="square">
            <a:spAutoFit/>
          </a:bodyPr>
          <a:lstStyle/>
          <a:p>
            <a:pPr algn="l"/>
            <a:r>
              <a:rPr sz="1000" b="0">
                <a:solidFill>
                  <a:srgbClr val="3C2828"/>
                </a:solidFill>
              </a:rPr>
              <a:t>- Stronger communication between coaching and medical staff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5F5"/>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E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STAFF &amp; RESOURCES</a:t>
            </a:r>
          </a:p>
        </p:txBody>
      </p:sp>
      <p:graphicFrame>
        <p:nvGraphicFramePr>
          <p:cNvPr id="4" name="Table 3"/>
          <p:cNvGraphicFramePr>
            <a:graphicFrameLocks noGrp="1"/>
          </p:cNvGraphicFramePr>
          <p:nvPr/>
        </p:nvGraphicFramePr>
        <p:xfrm>
          <a:off x="365760" y="1005840"/>
          <a:ext cx="11430000" cy="2560320"/>
        </p:xfrm>
        <a:graphic>
          <a:graphicData uri="http://schemas.openxmlformats.org/drawingml/2006/table">
            <a:tbl>
              <a:tblPr firstRow="1" bandRow="1">
                <a:tableStyleId>{5C22544A-7EE6-4342-B048-85BDC9FD1C3A}</a:tableStyleId>
              </a:tblPr>
              <a:tblGrid>
                <a:gridCol w="2857500"/>
                <a:gridCol w="2857500"/>
                <a:gridCol w="2857500"/>
                <a:gridCol w="2857500"/>
              </a:tblGrid>
              <a:tr h="426720">
                <a:tc>
                  <a:txBody>
                    <a:bodyPr/>
                    <a:lstStyle/>
                    <a:p>
                      <a:r>
                        <a:rPr b="1" sz="1100">
                          <a:solidFill>
                            <a:srgbClr val="FFFFFF"/>
                          </a:solidFill>
                        </a:rPr>
                        <a:t>Role</a:t>
                      </a:r>
                    </a:p>
                  </a:txBody>
                  <a:tcPr>
                    <a:solidFill>
                      <a:srgbClr val="9E0F0F"/>
                    </a:solidFill>
                  </a:tcPr>
                </a:tc>
                <a:tc>
                  <a:txBody>
                    <a:bodyPr/>
                    <a:lstStyle/>
                    <a:p>
                      <a:r>
                        <a:rPr b="1" sz="1100">
                          <a:solidFill>
                            <a:srgbClr val="FFFFFF"/>
                          </a:solidFill>
                        </a:rPr>
                        <a:t>Name</a:t>
                      </a:r>
                    </a:p>
                  </a:txBody>
                  <a:tcPr>
                    <a:solidFill>
                      <a:srgbClr val="9E0F0F"/>
                    </a:solidFill>
                  </a:tcPr>
                </a:tc>
                <a:tc>
                  <a:txBody>
                    <a:bodyPr/>
                    <a:lstStyle/>
                    <a:p>
                      <a:r>
                        <a:rPr b="1" sz="1100">
                          <a:solidFill>
                            <a:srgbClr val="FFFFFF"/>
                          </a:solidFill>
                        </a:rPr>
                        <a:t>Credentials</a:t>
                      </a:r>
                    </a:p>
                  </a:txBody>
                  <a:tcPr>
                    <a:solidFill>
                      <a:srgbClr val="9E0F0F"/>
                    </a:solidFill>
                  </a:tcPr>
                </a:tc>
                <a:tc>
                  <a:txBody>
                    <a:bodyPr/>
                    <a:lstStyle/>
                    <a:p>
                      <a:r>
                        <a:rPr b="1" sz="1100">
                          <a:solidFill>
                            <a:srgbClr val="FFFFFF"/>
                          </a:solidFill>
                        </a:rPr>
                        <a:t>Contribution</a:t>
                      </a:r>
                    </a:p>
                  </a:txBody>
                  <a:tcPr>
                    <a:solidFill>
                      <a:srgbClr val="9E0F0F"/>
                    </a:solidFill>
                  </a:tcPr>
                </a:tc>
              </a:tr>
              <a:tr h="426720">
                <a:tc>
                  <a:txBody>
                    <a:bodyPr/>
                    <a:lstStyle/>
                    <a:p>
                      <a:r>
                        <a:rPr sz="1000"/>
                        <a:t>Program Lead and PT</a:t>
                      </a:r>
                    </a:p>
                  </a:txBody>
                  <a:tcPr>
                    <a:solidFill>
                      <a:srgbClr val="FCF5F5"/>
                    </a:solidFill>
                  </a:tcPr>
                </a:tc>
                <a:tc>
                  <a:txBody>
                    <a:bodyPr/>
                    <a:lstStyle/>
                    <a:p>
                      <a:r>
                        <a:rPr sz="1000"/>
                        <a:t>Shannon D. Perry</a:t>
                      </a:r>
                    </a:p>
                  </a:txBody>
                  <a:tcPr>
                    <a:solidFill>
                      <a:srgbClr val="FCF5F5"/>
                    </a:solidFill>
                  </a:tcPr>
                </a:tc>
                <a:tc>
                  <a:txBody>
                    <a:bodyPr/>
                    <a:lstStyle/>
                    <a:p>
                      <a:r>
                        <a:rPr sz="1000"/>
                        <a:t>DPT, SCS; License PT-4738</a:t>
                      </a:r>
                    </a:p>
                  </a:txBody>
                  <a:tcPr>
                    <a:solidFill>
                      <a:srgbClr val="FCF5F5"/>
                    </a:solidFill>
                  </a:tcPr>
                </a:tc>
                <a:tc>
                  <a:txBody>
                    <a:bodyPr/>
                    <a:lstStyle/>
                    <a:p>
                      <a:r>
                        <a:rPr sz="1000"/>
                        <a:t>Protocol design, athlete assessments, weekly review</a:t>
                      </a:r>
                    </a:p>
                  </a:txBody>
                  <a:tcPr>
                    <a:solidFill>
                      <a:srgbClr val="FCF5F5"/>
                    </a:solidFill>
                  </a:tcPr>
                </a:tc>
              </a:tr>
              <a:tr h="426720">
                <a:tc>
                  <a:txBody>
                    <a:bodyPr/>
                    <a:lstStyle/>
                    <a:p>
                      <a:r>
                        <a:rPr sz="1000"/>
                        <a:t>Clinic Medical Director</a:t>
                      </a:r>
                    </a:p>
                  </a:txBody>
                  <a:tcPr>
                    <a:solidFill>
                      <a:srgbClr val="FFFFFF"/>
                    </a:solidFill>
                  </a:tcPr>
                </a:tc>
                <a:tc>
                  <a:txBody>
                    <a:bodyPr/>
                    <a:lstStyle/>
                    <a:p>
                      <a:r>
                        <a:rPr sz="1000"/>
                        <a:t>Dr. Anita Lawson</a:t>
                      </a:r>
                    </a:p>
                  </a:txBody>
                  <a:tcPr>
                    <a:solidFill>
                      <a:srgbClr val="FFFFFF"/>
                    </a:solidFill>
                  </a:tcPr>
                </a:tc>
                <a:tc>
                  <a:txBody>
                    <a:bodyPr/>
                    <a:lstStyle/>
                    <a:p>
                      <a:r>
                        <a:rPr sz="1000"/>
                        <a:t>Orthopedic Surgeon</a:t>
                      </a:r>
                    </a:p>
                  </a:txBody>
                  <a:tcPr>
                    <a:solidFill>
                      <a:srgbClr val="FFFFFF"/>
                    </a:solidFill>
                  </a:tcPr>
                </a:tc>
                <a:tc>
                  <a:txBody>
                    <a:bodyPr/>
                    <a:lstStyle/>
                    <a:p>
                      <a:r>
                        <a:rPr sz="1000"/>
                        <a:t>Protocol oversight, injury escalation pathway</a:t>
                      </a:r>
                    </a:p>
                  </a:txBody>
                  <a:tcPr>
                    <a:solidFill>
                      <a:srgbClr val="FFFFFF"/>
                    </a:solidFill>
                  </a:tcPr>
                </a:tc>
              </a:tr>
              <a:tr h="426720">
                <a:tc>
                  <a:txBody>
                    <a:bodyPr/>
                    <a:lstStyle/>
                    <a:p>
                      <a:r>
                        <a:rPr sz="1000"/>
                        <a:t>Athletic Trainer (School)</a:t>
                      </a:r>
                    </a:p>
                  </a:txBody>
                  <a:tcPr>
                    <a:solidFill>
                      <a:srgbClr val="FCF5F5"/>
                    </a:solidFill>
                  </a:tcPr>
                </a:tc>
                <a:tc>
                  <a:txBody>
                    <a:bodyPr/>
                    <a:lstStyle/>
                    <a:p>
                      <a:r>
                        <a:rPr sz="1000"/>
                        <a:t>Crestwood Certified AT</a:t>
                      </a:r>
                    </a:p>
                  </a:txBody>
                  <a:tcPr>
                    <a:solidFill>
                      <a:srgbClr val="FCF5F5"/>
                    </a:solidFill>
                  </a:tcPr>
                </a:tc>
                <a:tc>
                  <a:txBody>
                    <a:bodyPr/>
                    <a:lstStyle/>
                    <a:p>
                      <a:r>
                        <a:rPr sz="1000"/>
                        <a:t>ATC</a:t>
                      </a:r>
                    </a:p>
                  </a:txBody>
                  <a:tcPr>
                    <a:solidFill>
                      <a:srgbClr val="FCF5F5"/>
                    </a:solidFill>
                  </a:tcPr>
                </a:tc>
                <a:tc>
                  <a:txBody>
                    <a:bodyPr/>
                    <a:lstStyle/>
                    <a:p>
                      <a:r>
                        <a:rPr sz="1000"/>
                        <a:t>Daily session supervision, injury documentation</a:t>
                      </a:r>
                    </a:p>
                  </a:txBody>
                  <a:tcPr>
                    <a:solidFill>
                      <a:srgbClr val="FCF5F5"/>
                    </a:solidFill>
                  </a:tcPr>
                </a:tc>
              </a:tr>
              <a:tr h="426720">
                <a:tc>
                  <a:txBody>
                    <a:bodyPr/>
                    <a:lstStyle/>
                    <a:p>
                      <a:r>
                        <a:rPr sz="1000"/>
                        <a:t>Head Football Coach</a:t>
                      </a:r>
                    </a:p>
                  </a:txBody>
                  <a:tcPr>
                    <a:solidFill>
                      <a:srgbClr val="FFFFFF"/>
                    </a:solidFill>
                  </a:tcPr>
                </a:tc>
                <a:tc>
                  <a:txBody>
                    <a:bodyPr/>
                    <a:lstStyle/>
                    <a:p>
                      <a:r>
                        <a:rPr sz="1000"/>
                        <a:t>Crestwood Staff</a:t>
                      </a:r>
                    </a:p>
                  </a:txBody>
                  <a:tcPr>
                    <a:solidFill>
                      <a:srgbClr val="FFFFFF"/>
                    </a:solidFill>
                  </a:tcPr>
                </a:tc>
                <a:tc>
                  <a:txBody>
                    <a:bodyPr/>
                    <a:lstStyle/>
                    <a:p>
                      <a:r>
                        <a:rPr sz="1000"/>
                        <a:t>AHSAA Certified</a:t>
                      </a:r>
                    </a:p>
                  </a:txBody>
                  <a:tcPr>
                    <a:solidFill>
                      <a:srgbClr val="FFFFFF"/>
                    </a:solidFill>
                  </a:tcPr>
                </a:tc>
                <a:tc>
                  <a:txBody>
                    <a:bodyPr/>
                    <a:lstStyle/>
                    <a:p>
                      <a:r>
                        <a:rPr sz="1000"/>
                        <a:t>Scheduling, player attendance accountability</a:t>
                      </a:r>
                    </a:p>
                  </a:txBody>
                  <a:tcPr>
                    <a:solidFill>
                      <a:srgbClr val="FFFFFF"/>
                    </a:solidFill>
                  </a:tcPr>
                </a:tc>
              </a:tr>
              <a:tr h="426720">
                <a:tc>
                  <a:txBody>
                    <a:bodyPr/>
                    <a:lstStyle/>
                    <a:p>
                      <a:r>
                        <a:rPr sz="1000"/>
                        <a:t>Assistant Coach - Track</a:t>
                      </a:r>
                    </a:p>
                  </a:txBody>
                  <a:tcPr>
                    <a:solidFill>
                      <a:srgbClr val="FCF5F5"/>
                    </a:solidFill>
                  </a:tcPr>
                </a:tc>
                <a:tc>
                  <a:txBody>
                    <a:bodyPr/>
                    <a:lstStyle/>
                    <a:p>
                      <a:r>
                        <a:rPr sz="1000"/>
                        <a:t>Demetrius Washington</a:t>
                      </a:r>
                    </a:p>
                  </a:txBody>
                  <a:tcPr>
                    <a:solidFill>
                      <a:srgbClr val="FCF5F5"/>
                    </a:solidFill>
                  </a:tcPr>
                </a:tc>
                <a:tc>
                  <a:txBody>
                    <a:bodyPr/>
                    <a:lstStyle/>
                    <a:p>
                      <a:r>
                        <a:rPr sz="1000"/>
                        <a:t>BS Tuskegee</a:t>
                      </a:r>
                    </a:p>
                  </a:txBody>
                  <a:tcPr>
                    <a:solidFill>
                      <a:srgbClr val="FCF5F5"/>
                    </a:solidFill>
                  </a:tcPr>
                </a:tc>
                <a:tc>
                  <a:txBody>
                    <a:bodyPr/>
                    <a:lstStyle/>
                    <a:p>
                      <a:r>
                        <a:rPr sz="1000"/>
                        <a:t>Cross-referral for shared multi-sport athletes</a:t>
                      </a:r>
                    </a:p>
                  </a:txBody>
                  <a:tcPr>
                    <a:solidFill>
                      <a:srgbClr val="FCF5F5"/>
                    </a:solidFill>
                  </a:tcPr>
                </a:tc>
              </a:tr>
            </a:tbl>
          </a:graphicData>
        </a:graphic>
      </p:graphicFrame>
      <p:sp>
        <p:nvSpPr>
          <p:cNvPr id="5" name="TextBox 4"/>
          <p:cNvSpPr txBox="1"/>
          <p:nvPr/>
        </p:nvSpPr>
        <p:spPr>
          <a:xfrm>
            <a:off x="365760" y="3749039"/>
            <a:ext cx="11430000" cy="411480"/>
          </a:xfrm>
          <a:prstGeom prst="rect">
            <a:avLst/>
          </a:prstGeom>
          <a:noFill/>
        </p:spPr>
        <p:txBody>
          <a:bodyPr wrap="square">
            <a:spAutoFit/>
          </a:bodyPr>
          <a:lstStyle/>
          <a:p>
            <a:pPr algn="l"/>
            <a:r>
              <a:rPr sz="1400" b="1">
                <a:solidFill>
                  <a:srgbClr val="9E0F0F"/>
                </a:solidFill>
              </a:rPr>
              <a:t>EQUIPMENT NEEDS</a:t>
            </a:r>
          </a:p>
        </p:txBody>
      </p:sp>
      <p:graphicFrame>
        <p:nvGraphicFramePr>
          <p:cNvPr id="6" name="Table 5"/>
          <p:cNvGraphicFramePr>
            <a:graphicFrameLocks noGrp="1"/>
          </p:cNvGraphicFramePr>
          <p:nvPr/>
        </p:nvGraphicFramePr>
        <p:xfrm>
          <a:off x="365760" y="4251960"/>
          <a:ext cx="11430000" cy="2331720"/>
        </p:xfrm>
        <a:graphic>
          <a:graphicData uri="http://schemas.openxmlformats.org/drawingml/2006/table">
            <a:tbl>
              <a:tblPr firstRow="1" bandRow="1">
                <a:tableStyleId>{5C22544A-7EE6-4342-B048-85BDC9FD1C3A}</a:tableStyleId>
              </a:tblPr>
              <a:tblGrid>
                <a:gridCol w="2857500"/>
                <a:gridCol w="2857500"/>
                <a:gridCol w="2857500"/>
                <a:gridCol w="2857500"/>
              </a:tblGrid>
              <a:tr h="388620">
                <a:tc>
                  <a:txBody>
                    <a:bodyPr/>
                    <a:lstStyle/>
                    <a:p>
                      <a:r>
                        <a:rPr b="1" sz="1100">
                          <a:solidFill>
                            <a:srgbClr val="FFFFFF"/>
                          </a:solidFill>
                        </a:rPr>
                        <a:t>Item</a:t>
                      </a:r>
                    </a:p>
                  </a:txBody>
                  <a:tcPr>
                    <a:solidFill>
                      <a:srgbClr val="282830"/>
                    </a:solidFill>
                  </a:tcPr>
                </a:tc>
                <a:tc>
                  <a:txBody>
                    <a:bodyPr/>
                    <a:lstStyle/>
                    <a:p>
                      <a:r>
                        <a:rPr b="1" sz="1100">
                          <a:solidFill>
                            <a:srgbClr val="FFFFFF"/>
                          </a:solidFill>
                        </a:rPr>
                        <a:t>Quantity</a:t>
                      </a:r>
                    </a:p>
                  </a:txBody>
                  <a:tcPr>
                    <a:solidFill>
                      <a:srgbClr val="282830"/>
                    </a:solidFill>
                  </a:tcPr>
                </a:tc>
                <a:tc>
                  <a:txBody>
                    <a:bodyPr/>
                    <a:lstStyle/>
                    <a:p>
                      <a:r>
                        <a:rPr b="1" sz="1100">
                          <a:solidFill>
                            <a:srgbClr val="FFFFFF"/>
                          </a:solidFill>
                        </a:rPr>
                        <a:t>Purpose</a:t>
                      </a:r>
                    </a:p>
                  </a:txBody>
                  <a:tcPr>
                    <a:solidFill>
                      <a:srgbClr val="282830"/>
                    </a:solidFill>
                  </a:tcPr>
                </a:tc>
                <a:tc>
                  <a:txBody>
                    <a:bodyPr/>
                    <a:lstStyle/>
                    <a:p>
                      <a:r>
                        <a:rPr b="1" sz="1100">
                          <a:solidFill>
                            <a:srgbClr val="FFFFFF"/>
                          </a:solidFill>
                        </a:rPr>
                        <a:t>Source</a:t>
                      </a:r>
                    </a:p>
                  </a:txBody>
                  <a:tcPr>
                    <a:solidFill>
                      <a:srgbClr val="282830"/>
                    </a:solidFill>
                  </a:tcPr>
                </a:tc>
              </a:tr>
              <a:tr h="388620">
                <a:tc>
                  <a:txBody>
                    <a:bodyPr/>
                    <a:lstStyle/>
                    <a:p>
                      <a:r>
                        <a:rPr sz="1000"/>
                        <a:t>Resistance band set (light / medium / heavy)</a:t>
                      </a:r>
                    </a:p>
                  </a:txBody>
                  <a:tcPr>
                    <a:solidFill>
                      <a:srgbClr val="FCF5F5"/>
                    </a:solidFill>
                  </a:tcPr>
                </a:tc>
                <a:tc>
                  <a:txBody>
                    <a:bodyPr/>
                    <a:lstStyle/>
                    <a:p>
                      <a:r>
                        <a:rPr sz="1000"/>
                        <a:t>3 sets</a:t>
                      </a:r>
                    </a:p>
                  </a:txBody>
                  <a:tcPr>
                    <a:solidFill>
                      <a:srgbClr val="FCF5F5"/>
                    </a:solidFill>
                  </a:tcPr>
                </a:tc>
                <a:tc>
                  <a:txBody>
                    <a:bodyPr/>
                    <a:lstStyle/>
                    <a:p>
                      <a:r>
                        <a:rPr sz="1000"/>
                        <a:t>Lateral walks, Pallof, shoulder work</a:t>
                      </a:r>
                    </a:p>
                  </a:txBody>
                  <a:tcPr>
                    <a:solidFill>
                      <a:srgbClr val="FCF5F5"/>
                    </a:solidFill>
                  </a:tcPr>
                </a:tc>
                <a:tc>
                  <a:txBody>
                    <a:bodyPr/>
                    <a:lstStyle/>
                    <a:p>
                      <a:r>
                        <a:rPr sz="1000"/>
                        <a:t>Clinic-supplied</a:t>
                      </a:r>
                    </a:p>
                  </a:txBody>
                  <a:tcPr>
                    <a:solidFill>
                      <a:srgbClr val="FCF5F5"/>
                    </a:solidFill>
                  </a:tcPr>
                </a:tc>
              </a:tr>
              <a:tr h="388620">
                <a:tc>
                  <a:txBody>
                    <a:bodyPr/>
                    <a:lstStyle/>
                    <a:p>
                      <a:r>
                        <a:rPr sz="1000"/>
                        <a:t>Nordic hamstring bench or anchor strap</a:t>
                      </a:r>
                    </a:p>
                  </a:txBody>
                  <a:tcPr>
                    <a:solidFill>
                      <a:srgbClr val="FFFFFF"/>
                    </a:solidFill>
                  </a:tcPr>
                </a:tc>
                <a:tc>
                  <a:txBody>
                    <a:bodyPr/>
                    <a:lstStyle/>
                    <a:p>
                      <a:r>
                        <a:rPr sz="1000"/>
                        <a:t>2 units</a:t>
                      </a:r>
                    </a:p>
                  </a:txBody>
                  <a:tcPr>
                    <a:solidFill>
                      <a:srgbClr val="FFFFFF"/>
                    </a:solidFill>
                  </a:tcPr>
                </a:tc>
                <a:tc>
                  <a:txBody>
                    <a:bodyPr/>
                    <a:lstStyle/>
                    <a:p>
                      <a:r>
                        <a:rPr sz="1000"/>
                        <a:t>Eccentric hamstring protocol</a:t>
                      </a:r>
                    </a:p>
                  </a:txBody>
                  <a:tcPr>
                    <a:solidFill>
                      <a:srgbClr val="FFFFFF"/>
                    </a:solidFill>
                  </a:tcPr>
                </a:tc>
                <a:tc>
                  <a:txBody>
                    <a:bodyPr/>
                    <a:lstStyle/>
                    <a:p>
                      <a:r>
                        <a:rPr sz="1000"/>
                        <a:t>School gym or clinic loan</a:t>
                      </a:r>
                    </a:p>
                  </a:txBody>
                  <a:tcPr>
                    <a:solidFill>
                      <a:srgbClr val="FFFFFF"/>
                    </a:solidFill>
                  </a:tcPr>
                </a:tc>
              </a:tr>
              <a:tr h="388620">
                <a:tc>
                  <a:txBody>
                    <a:bodyPr/>
                    <a:lstStyle/>
                    <a:p>
                      <a:r>
                        <a:rPr sz="1000"/>
                        <a:t>Foam roller set</a:t>
                      </a:r>
                    </a:p>
                  </a:txBody>
                  <a:tcPr>
                    <a:solidFill>
                      <a:srgbClr val="FCF5F5"/>
                    </a:solidFill>
                  </a:tcPr>
                </a:tc>
                <a:tc>
                  <a:txBody>
                    <a:bodyPr/>
                    <a:lstStyle/>
                    <a:p>
                      <a:r>
                        <a:rPr sz="1000"/>
                        <a:t>10 units</a:t>
                      </a:r>
                    </a:p>
                  </a:txBody>
                  <a:tcPr>
                    <a:solidFill>
                      <a:srgbClr val="FCF5F5"/>
                    </a:solidFill>
                  </a:tcPr>
                </a:tc>
                <a:tc>
                  <a:txBody>
                    <a:bodyPr/>
                    <a:lstStyle/>
                    <a:p>
                      <a:r>
                        <a:rPr sz="1000"/>
                        <a:t>Pre-session tissue prep</a:t>
                      </a:r>
                    </a:p>
                  </a:txBody>
                  <a:tcPr>
                    <a:solidFill>
                      <a:srgbClr val="FCF5F5"/>
                    </a:solidFill>
                  </a:tcPr>
                </a:tc>
                <a:tc>
                  <a:txBody>
                    <a:bodyPr/>
                    <a:lstStyle/>
                    <a:p>
                      <a:r>
                        <a:rPr sz="1000"/>
                        <a:t>Shared with track program</a:t>
                      </a:r>
                    </a:p>
                  </a:txBody>
                  <a:tcPr>
                    <a:solidFill>
                      <a:srgbClr val="FCF5F5"/>
                    </a:solidFill>
                  </a:tcPr>
                </a:tc>
              </a:tr>
              <a:tr h="388620">
                <a:tc>
                  <a:txBody>
                    <a:bodyPr/>
                    <a:lstStyle/>
                    <a:p>
                      <a:r>
                        <a:rPr sz="1000"/>
                        <a:t>Agility ladder</a:t>
                      </a:r>
                    </a:p>
                  </a:txBody>
                  <a:tcPr>
                    <a:solidFill>
                      <a:srgbClr val="FFFFFF"/>
                    </a:solidFill>
                  </a:tcPr>
                </a:tc>
                <a:tc>
                  <a:txBody>
                    <a:bodyPr/>
                    <a:lstStyle/>
                    <a:p>
                      <a:r>
                        <a:rPr sz="1000"/>
                        <a:t>4 units</a:t>
                      </a:r>
                    </a:p>
                  </a:txBody>
                  <a:tcPr>
                    <a:solidFill>
                      <a:srgbClr val="FFFFFF"/>
                    </a:solidFill>
                  </a:tcPr>
                </a:tc>
                <a:tc>
                  <a:txBody>
                    <a:bodyPr/>
                    <a:lstStyle/>
                    <a:p>
                      <a:r>
                        <a:rPr sz="1000"/>
                        <a:t>Phase 3 reactive drills</a:t>
                      </a:r>
                    </a:p>
                  </a:txBody>
                  <a:tcPr>
                    <a:solidFill>
                      <a:srgbClr val="FFFFFF"/>
                    </a:solidFill>
                  </a:tcPr>
                </a:tc>
                <a:tc>
                  <a:txBody>
                    <a:bodyPr/>
                    <a:lstStyle/>
                    <a:p>
                      <a:r>
                        <a:rPr sz="1000"/>
                        <a:t>Athletics storage</a:t>
                      </a:r>
                    </a:p>
                  </a:txBody>
                  <a:tcPr>
                    <a:solidFill>
                      <a:srgbClr val="FFFFFF"/>
                    </a:solidFill>
                  </a:tcPr>
                </a:tc>
              </a:tr>
              <a:tr h="388620">
                <a:tc>
                  <a:txBody>
                    <a:bodyPr/>
                    <a:lstStyle/>
                    <a:p>
                      <a:r>
                        <a:rPr sz="1000"/>
                        <a:t>Jump boxes (12 in and 18 in)</a:t>
                      </a:r>
                    </a:p>
                  </a:txBody>
                  <a:tcPr>
                    <a:solidFill>
                      <a:srgbClr val="FCF5F5"/>
                    </a:solidFill>
                  </a:tcPr>
                </a:tc>
                <a:tc>
                  <a:txBody>
                    <a:bodyPr/>
                    <a:lstStyle/>
                    <a:p>
                      <a:r>
                        <a:rPr sz="1000"/>
                        <a:t>2 sets</a:t>
                      </a:r>
                    </a:p>
                  </a:txBody>
                  <a:tcPr>
                    <a:solidFill>
                      <a:srgbClr val="FCF5F5"/>
                    </a:solidFill>
                  </a:tcPr>
                </a:tc>
                <a:tc>
                  <a:txBody>
                    <a:bodyPr/>
                    <a:lstStyle/>
                    <a:p>
                      <a:r>
                        <a:rPr sz="1000"/>
                        <a:t>Phase 3 power landing</a:t>
                      </a:r>
                    </a:p>
                  </a:txBody>
                  <a:tcPr>
                    <a:solidFill>
                      <a:srgbClr val="FCF5F5"/>
                    </a:solidFill>
                  </a:tcPr>
                </a:tc>
                <a:tc>
                  <a:txBody>
                    <a:bodyPr/>
                    <a:lstStyle/>
                    <a:p>
                      <a:r>
                        <a:rPr sz="1000"/>
                        <a:t>Request from athletics budget</a:t>
                      </a:r>
                    </a:p>
                  </a:txBody>
                  <a:tcPr>
                    <a:solidFill>
                      <a:srgbClr val="FCF5F5"/>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