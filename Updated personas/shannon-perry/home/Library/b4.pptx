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Performance Targets: 2026 vs. 2027 Goal</a:t>
            </a:r>
          </a:p>
        </c:rich>
      </c:tx>
      <c:layout/>
      <c:overlay val="0"/>
    </c:title>
    <c:autoTitleDeleted val="0"/>
    <c:plotArea>
      <c:barChart>
        <c:barDir val="bar"/>
        <c:grouping val="clustered"/>
        <c:ser>
          <c:idx val="0"/>
          <c:order val="0"/>
          <c:tx>
            <c:strRef>
              <c:f>Sheet1!$B$1</c:f>
              <c:strCache>
                <c:ptCount val="1"/>
                <c:pt idx="0">
                  <c:v>2026 Season Best (seconds)</c:v>
                </c:pt>
              </c:strCache>
            </c:strRef>
          </c:tx>
          <c:cat>
            <c:strRef>
              <c:f>Sheet1!$A$2:$A$8</c:f>
              <c:strCache>
                <c:ptCount val="7"/>
                <c:pt idx="0">
                  <c:v>100m</c:v>
                </c:pt>
                <c:pt idx="1">
                  <c:v>200m</c:v>
                </c:pt>
                <c:pt idx="2">
                  <c:v>110mH</c:v>
                </c:pt>
                <c:pt idx="3">
                  <c:v>4x100</c:v>
                </c:pt>
                <c:pt idx="4">
                  <c:v>800m</c:v>
                </c:pt>
                <c:pt idx="5">
                  <c:v>1600m</c:v>
                </c:pt>
                <c:pt idx="6">
                  <c:v>400m</c:v>
                </c:pt>
              </c:strCache>
            </c:strRef>
          </c:cat>
          <c:val>
            <c:numRef>
              <c:f>Sheet1!$B$2:$B$8</c:f>
              <c:numCache>
                <c:formatCode>General</c:formatCode>
                <c:ptCount val="7"/>
                <c:pt idx="0">
                  <c:v>10.71</c:v>
                </c:pt>
                <c:pt idx="1">
                  <c:v>21.53</c:v>
                </c:pt>
                <c:pt idx="2">
                  <c:v>14.28</c:v>
                </c:pt>
                <c:pt idx="3">
                  <c:v>41.88</c:v>
                </c:pt>
                <c:pt idx="4">
                  <c:v>116.4</c:v>
                </c:pt>
                <c:pt idx="5">
                  <c:v>268.7</c:v>
                </c:pt>
                <c:pt idx="6">
                  <c:v>49.72</c:v>
                </c:pt>
              </c:numCache>
            </c:numRef>
          </c:val>
        </c:ser>
        <c:ser>
          <c:idx val="1"/>
          <c:order val="1"/>
          <c:tx>
            <c:strRef>
              <c:f>Sheet1!$C$1</c:f>
              <c:strCache>
                <c:ptCount val="1"/>
                <c:pt idx="0">
                  <c:v>2027 Target (seconds)</c:v>
                </c:pt>
              </c:strCache>
            </c:strRef>
          </c:tx>
          <c:cat>
            <c:strRef>
              <c:f>Sheet1!$A$2:$A$8</c:f>
              <c:strCache>
                <c:ptCount val="7"/>
                <c:pt idx="0">
                  <c:v>100m</c:v>
                </c:pt>
                <c:pt idx="1">
                  <c:v>200m</c:v>
                </c:pt>
                <c:pt idx="2">
                  <c:v>110mH</c:v>
                </c:pt>
                <c:pt idx="3">
                  <c:v>4x100</c:v>
                </c:pt>
                <c:pt idx="4">
                  <c:v>800m</c:v>
                </c:pt>
                <c:pt idx="5">
                  <c:v>1600m</c:v>
                </c:pt>
                <c:pt idx="6">
                  <c:v>400m</c:v>
                </c:pt>
              </c:strCache>
            </c:strRef>
          </c:cat>
          <c:val>
            <c:numRef>
              <c:f>Sheet1!$C$2:$C$8</c:f>
              <c:numCache>
                <c:formatCode>General</c:formatCode>
                <c:ptCount val="7"/>
                <c:pt idx="0">
                  <c:v>10.55</c:v>
                </c:pt>
                <c:pt idx="1">
                  <c:v>21.2</c:v>
                </c:pt>
                <c:pt idx="2">
                  <c:v>13.95</c:v>
                </c:pt>
                <c:pt idx="3">
                  <c:v>41.3</c:v>
                </c:pt>
                <c:pt idx="4">
                  <c:v>113.0</c:v>
                </c:pt>
                <c:pt idx="5">
                  <c:v>263.0</c:v>
                </c:pt>
                <c:pt idx="6">
                  <c:v>48.8</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5A2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0A37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0972800" cy="502920"/>
          </a:xfrm>
          <a:prstGeom prst="rect">
            <a:avLst/>
          </a:prstGeom>
          <a:noFill/>
        </p:spPr>
        <p:txBody>
          <a:bodyPr wrap="square">
            <a:spAutoFit/>
          </a:bodyPr>
          <a:lstStyle/>
          <a:p>
            <a:pPr algn="ctr"/>
            <a:r>
              <a:rPr sz="2000" b="1">
                <a:solidFill>
                  <a:srgbClr val="B4E6C3"/>
                </a:solidFill>
              </a:rPr>
              <a:t>CRESTWOOD HIGH SCHOOL</a:t>
            </a:r>
          </a:p>
        </p:txBody>
      </p:sp>
      <p:sp>
        <p:nvSpPr>
          <p:cNvPr id="5" name="TextBox 4"/>
          <p:cNvSpPr txBox="1"/>
          <p:nvPr/>
        </p:nvSpPr>
        <p:spPr>
          <a:xfrm>
            <a:off x="365760" y="777240"/>
            <a:ext cx="10972800" cy="502920"/>
          </a:xfrm>
          <a:prstGeom prst="rect">
            <a:avLst/>
          </a:prstGeom>
          <a:noFill/>
        </p:spPr>
        <p:txBody>
          <a:bodyPr wrap="square">
            <a:spAutoFit/>
          </a:bodyPr>
          <a:lstStyle/>
          <a:p>
            <a:pPr algn="ctr"/>
            <a:r>
              <a:rPr sz="1500" b="0">
                <a:solidFill>
                  <a:srgbClr val="FFFFFF"/>
                </a:solidFill>
              </a:rPr>
              <a:t>Track and Field Program</a:t>
            </a:r>
          </a:p>
        </p:txBody>
      </p:sp>
      <p:sp>
        <p:nvSpPr>
          <p:cNvPr id="6" name="Rectangle 5"/>
          <p:cNvSpPr/>
          <p:nvPr/>
        </p:nvSpPr>
        <p:spPr>
          <a:xfrm>
            <a:off x="1828800" y="1600200"/>
            <a:ext cx="8534095" cy="73152"/>
          </a:xfrm>
          <a:prstGeom prst="rect">
            <a:avLst/>
          </a:prstGeom>
          <a:solidFill>
            <a:srgbClr val="B4E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20240"/>
            <a:ext cx="10972800" cy="1005840"/>
          </a:xfrm>
          <a:prstGeom prst="rect">
            <a:avLst/>
          </a:prstGeom>
          <a:noFill/>
        </p:spPr>
        <p:txBody>
          <a:bodyPr wrap="square">
            <a:spAutoFit/>
          </a:bodyPr>
          <a:lstStyle/>
          <a:p>
            <a:pPr algn="ctr"/>
            <a:r>
              <a:rPr sz="4000" b="1">
                <a:solidFill>
                  <a:srgbClr val="FFFFFF"/>
                </a:solidFill>
              </a:rPr>
              <a:t>2026 - 2027 Season Preview</a:t>
            </a:r>
          </a:p>
        </p:txBody>
      </p:sp>
      <p:sp>
        <p:nvSpPr>
          <p:cNvPr id="8" name="TextBox 7"/>
          <p:cNvSpPr txBox="1"/>
          <p:nvPr/>
        </p:nvSpPr>
        <p:spPr>
          <a:xfrm>
            <a:off x="365760" y="3108960"/>
            <a:ext cx="10972800" cy="457200"/>
          </a:xfrm>
          <a:prstGeom prst="rect">
            <a:avLst/>
          </a:prstGeom>
          <a:noFill/>
        </p:spPr>
        <p:txBody>
          <a:bodyPr wrap="square">
            <a:spAutoFit/>
          </a:bodyPr>
          <a:lstStyle/>
          <a:p>
            <a:pPr algn="ctr"/>
            <a:r>
              <a:rPr sz="1500" b="0">
                <a:solidFill>
                  <a:srgbClr val="B4E6C3"/>
                </a:solidFill>
              </a:rPr>
              <a:t>Building Toward State  |  AHSAA Class 6A</a:t>
            </a:r>
          </a:p>
        </p:txBody>
      </p:sp>
      <p:sp>
        <p:nvSpPr>
          <p:cNvPr id="9" name="Rectangle 8"/>
          <p:cNvSpPr/>
          <p:nvPr/>
        </p:nvSpPr>
        <p:spPr>
          <a:xfrm>
            <a:off x="1828800" y="3657600"/>
            <a:ext cx="8534095" cy="54864"/>
          </a:xfrm>
          <a:prstGeom prst="rect">
            <a:avLst/>
          </a:prstGeom>
          <a:solidFill>
            <a:srgbClr val="64A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840480"/>
            <a:ext cx="10972800" cy="731520"/>
          </a:xfrm>
          <a:prstGeom prst="rect">
            <a:avLst/>
          </a:prstGeom>
          <a:noFill/>
        </p:spPr>
        <p:txBody>
          <a:bodyPr wrap="square">
            <a:spAutoFit/>
          </a:bodyPr>
          <a:lstStyle/>
          <a:p>
            <a:pPr algn="ctr"/>
            <a:r>
              <a:rPr sz="1400" b="0">
                <a:solidFill>
                  <a:srgbClr val="C8EBD7"/>
                </a:solidFill>
              </a:rPr>
              <a:t>Head Coach: Shannon D. Perry, DPT, SCS
Assistant Coach: Demetrius Washington</a:t>
            </a:r>
          </a:p>
        </p:txBody>
      </p:sp>
      <p:sp>
        <p:nvSpPr>
          <p:cNvPr id="11" name="TextBox 10"/>
          <p:cNvSpPr txBox="1"/>
          <p:nvPr/>
        </p:nvSpPr>
        <p:spPr>
          <a:xfrm>
            <a:off x="365760" y="4846320"/>
            <a:ext cx="10972800" cy="411480"/>
          </a:xfrm>
          <a:prstGeom prst="rect">
            <a:avLst/>
          </a:prstGeom>
          <a:noFill/>
        </p:spPr>
        <p:txBody>
          <a:bodyPr wrap="square">
            <a:spAutoFit/>
          </a:bodyPr>
          <a:lstStyle/>
          <a:p>
            <a:pPr algn="ctr"/>
            <a:r>
              <a:rPr sz="1100" b="0">
                <a:solidFill>
                  <a:srgbClr val="96C3A5"/>
                </a:solidFill>
              </a:rPr>
              <a:t>Presented to Athletes and Families  |  October 2026</a:t>
            </a:r>
          </a:p>
        </p:txBody>
      </p:sp>
      <p:sp>
        <p:nvSpPr>
          <p:cNvPr id="12" name="Rectangle 11"/>
          <p:cNvSpPr/>
          <p:nvPr/>
        </p:nvSpPr>
        <p:spPr>
          <a:xfrm>
            <a:off x="0" y="6217920"/>
            <a:ext cx="12191695" cy="640080"/>
          </a:xfrm>
          <a:prstGeom prst="rect">
            <a:avLst/>
          </a:prstGeom>
          <a:solidFill>
            <a:srgbClr val="0A37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263640"/>
            <a:ext cx="10972800" cy="411480"/>
          </a:xfrm>
          <a:prstGeom prst="rect">
            <a:avLst/>
          </a:prstGeom>
          <a:noFill/>
        </p:spPr>
        <p:txBody>
          <a:bodyPr wrap="square">
            <a:spAutoFit/>
          </a:bodyPr>
          <a:lstStyle/>
          <a:p>
            <a:pPr algn="ctr"/>
            <a:r>
              <a:rPr sz="1100" b="0">
                <a:solidFill>
                  <a:srgbClr val="AAD2B9"/>
                </a:solidFill>
              </a:rPr>
              <a:t>Contact: (205) 555-0291  |  shannon.perry@Finthesiss.ai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2025-2026 SEASON RECAP</a:t>
            </a:r>
          </a:p>
        </p:txBody>
      </p:sp>
      <p:graphicFrame>
        <p:nvGraphicFramePr>
          <p:cNvPr id="4" name="Table 3"/>
          <p:cNvGraphicFramePr>
            <a:graphicFrameLocks noGrp="1"/>
          </p:cNvGraphicFramePr>
          <p:nvPr/>
        </p:nvGraphicFramePr>
        <p:xfrm>
          <a:off x="365760" y="1005840"/>
          <a:ext cx="11430000" cy="4572000"/>
        </p:xfrm>
        <a:graphic>
          <a:graphicData uri="http://schemas.openxmlformats.org/drawingml/2006/table">
            <a:tbl>
              <a:tblPr firstRow="1" bandRow="1">
                <a:tableStyleId>{5C22544A-7EE6-4342-B048-85BDC9FD1C3A}</a:tableStyleId>
              </a:tblPr>
              <a:tblGrid>
                <a:gridCol w="2857500"/>
                <a:gridCol w="2857500"/>
                <a:gridCol w="2857500"/>
                <a:gridCol w="2857500"/>
              </a:tblGrid>
              <a:tr h="381000">
                <a:tc>
                  <a:txBody>
                    <a:bodyPr/>
                    <a:lstStyle/>
                    <a:p>
                      <a:r>
                        <a:rPr b="1" sz="1100">
                          <a:solidFill>
                            <a:srgbClr val="FFFFFF"/>
                          </a:solidFill>
                        </a:rPr>
                        <a:t>Event</a:t>
                      </a:r>
                    </a:p>
                  </a:txBody>
                  <a:tcPr>
                    <a:solidFill>
                      <a:srgbClr val="145A2D"/>
                    </a:solidFill>
                  </a:tcPr>
                </a:tc>
                <a:tc>
                  <a:txBody>
                    <a:bodyPr/>
                    <a:lstStyle/>
                    <a:p>
                      <a:r>
                        <a:rPr b="1" sz="1100">
                          <a:solidFill>
                            <a:srgbClr val="FFFFFF"/>
                          </a:solidFill>
                        </a:rPr>
                        <a:t>Best Mark</a:t>
                      </a:r>
                    </a:p>
                  </a:txBody>
                  <a:tcPr>
                    <a:solidFill>
                      <a:srgbClr val="145A2D"/>
                    </a:solidFill>
                  </a:tcPr>
                </a:tc>
                <a:tc>
                  <a:txBody>
                    <a:bodyPr/>
                    <a:lstStyle/>
                    <a:p>
                      <a:r>
                        <a:rPr b="1" sz="1100">
                          <a:solidFill>
                            <a:srgbClr val="FFFFFF"/>
                          </a:solidFill>
                        </a:rPr>
                        <a:t>Athlete</a:t>
                      </a:r>
                    </a:p>
                  </a:txBody>
                  <a:tcPr>
                    <a:solidFill>
                      <a:srgbClr val="145A2D"/>
                    </a:solidFill>
                  </a:tcPr>
                </a:tc>
                <a:tc>
                  <a:txBody>
                    <a:bodyPr/>
                    <a:lstStyle/>
                    <a:p>
                      <a:r>
                        <a:rPr b="1" sz="1100">
                          <a:solidFill>
                            <a:srgbClr val="FFFFFF"/>
                          </a:solidFill>
                        </a:rPr>
                        <a:t>Season Highlight</a:t>
                      </a:r>
                    </a:p>
                  </a:txBody>
                  <a:tcPr>
                    <a:solidFill>
                      <a:srgbClr val="145A2D"/>
                    </a:solidFill>
                  </a:tcPr>
                </a:tc>
              </a:tr>
              <a:tr h="381000">
                <a:tc>
                  <a:txBody>
                    <a:bodyPr/>
                    <a:lstStyle/>
                    <a:p>
                      <a:r>
                        <a:rPr sz="1000"/>
                        <a:t>100m (Men)</a:t>
                      </a:r>
                    </a:p>
                  </a:txBody>
                  <a:tcPr>
                    <a:solidFill>
                      <a:srgbClr val="F0FAF4"/>
                    </a:solidFill>
                  </a:tcPr>
                </a:tc>
                <a:tc>
                  <a:txBody>
                    <a:bodyPr/>
                    <a:lstStyle/>
                    <a:p>
                      <a:r>
                        <a:rPr sz="1000"/>
                        <a:t>10.71s</a:t>
                      </a:r>
                    </a:p>
                  </a:txBody>
                  <a:tcPr>
                    <a:solidFill>
                      <a:srgbClr val="F0FAF4"/>
                    </a:solidFill>
                  </a:tcPr>
                </a:tc>
                <a:tc>
                  <a:txBody>
                    <a:bodyPr/>
                    <a:lstStyle/>
                    <a:p>
                      <a:r>
                        <a:rPr sz="1000"/>
                        <a:t>Devon Mitchell</a:t>
                      </a:r>
                    </a:p>
                  </a:txBody>
                  <a:tcPr>
                    <a:solidFill>
                      <a:srgbClr val="F0FAF4"/>
                    </a:solidFill>
                  </a:tcPr>
                </a:tc>
                <a:tc>
                  <a:txBody>
                    <a:bodyPr/>
                    <a:lstStyle/>
                    <a:p>
                      <a:r>
                        <a:rPr sz="1000"/>
                        <a:t>4th at State 6A</a:t>
                      </a:r>
                    </a:p>
                  </a:txBody>
                  <a:tcPr>
                    <a:solidFill>
                      <a:srgbClr val="F0FAF4"/>
                    </a:solidFill>
                  </a:tcPr>
                </a:tc>
              </a:tr>
              <a:tr h="381000">
                <a:tc>
                  <a:txBody>
                    <a:bodyPr/>
                    <a:lstStyle/>
                    <a:p>
                      <a:r>
                        <a:rPr sz="1000"/>
                        <a:t>200m (Men)</a:t>
                      </a:r>
                    </a:p>
                  </a:txBody>
                  <a:tcPr>
                    <a:solidFill>
                      <a:srgbClr val="FFFFFF"/>
                    </a:solidFill>
                  </a:tcPr>
                </a:tc>
                <a:tc>
                  <a:txBody>
                    <a:bodyPr/>
                    <a:lstStyle/>
                    <a:p>
                      <a:r>
                        <a:rPr sz="1000"/>
                        <a:t>21.53s</a:t>
                      </a:r>
                    </a:p>
                  </a:txBody>
                  <a:tcPr>
                    <a:solidFill>
                      <a:srgbClr val="FFFFFF"/>
                    </a:solidFill>
                  </a:tcPr>
                </a:tc>
                <a:tc>
                  <a:txBody>
                    <a:bodyPr/>
                    <a:lstStyle/>
                    <a:p>
                      <a:r>
                        <a:rPr sz="1000"/>
                        <a:t>Devon Mitchell</a:t>
                      </a:r>
                    </a:p>
                  </a:txBody>
                  <a:tcPr>
                    <a:solidFill>
                      <a:srgbClr val="FFFFFF"/>
                    </a:solidFill>
                  </a:tcPr>
                </a:tc>
                <a:tc>
                  <a:txBody>
                    <a:bodyPr/>
                    <a:lstStyle/>
                    <a:p>
                      <a:r>
                        <a:rPr sz="1000"/>
                        <a:t>5th at State 6A</a:t>
                      </a:r>
                    </a:p>
                  </a:txBody>
                  <a:tcPr>
                    <a:solidFill>
                      <a:srgbClr val="FFFFFF"/>
                    </a:solidFill>
                  </a:tcPr>
                </a:tc>
              </a:tr>
              <a:tr h="381000">
                <a:tc>
                  <a:txBody>
                    <a:bodyPr/>
                    <a:lstStyle/>
                    <a:p>
                      <a:r>
                        <a:rPr sz="1000"/>
                        <a:t>110m Hurdles (Men)</a:t>
                      </a:r>
                    </a:p>
                  </a:txBody>
                  <a:tcPr>
                    <a:solidFill>
                      <a:srgbClr val="F0FAF4"/>
                    </a:solidFill>
                  </a:tcPr>
                </a:tc>
                <a:tc>
                  <a:txBody>
                    <a:bodyPr/>
                    <a:lstStyle/>
                    <a:p>
                      <a:r>
                        <a:rPr sz="1000"/>
                        <a:t>14.28s</a:t>
                      </a:r>
                    </a:p>
                  </a:txBody>
                  <a:tcPr>
                    <a:solidFill>
                      <a:srgbClr val="F0FAF4"/>
                    </a:solidFill>
                  </a:tcPr>
                </a:tc>
                <a:tc>
                  <a:txBody>
                    <a:bodyPr/>
                    <a:lstStyle/>
                    <a:p>
                      <a:r>
                        <a:rPr sz="1000"/>
                        <a:t>Devon Mitchell</a:t>
                      </a:r>
                    </a:p>
                  </a:txBody>
                  <a:tcPr>
                    <a:solidFill>
                      <a:srgbClr val="F0FAF4"/>
                    </a:solidFill>
                  </a:tcPr>
                </a:tc>
                <a:tc>
                  <a:txBody>
                    <a:bodyPr/>
                    <a:lstStyle/>
                    <a:p>
                      <a:r>
                        <a:rPr sz="1000"/>
                        <a:t>3rd at State 6A</a:t>
                      </a:r>
                    </a:p>
                  </a:txBody>
                  <a:tcPr>
                    <a:solidFill>
                      <a:srgbClr val="F0FAF4"/>
                    </a:solidFill>
                  </a:tcPr>
                </a:tc>
              </a:tr>
              <a:tr h="381000">
                <a:tc>
                  <a:txBody>
                    <a:bodyPr/>
                    <a:lstStyle/>
                    <a:p>
                      <a:r>
                        <a:rPr sz="1000"/>
                        <a:t>4x100 Relay (Men)</a:t>
                      </a:r>
                    </a:p>
                  </a:txBody>
                  <a:tcPr>
                    <a:solidFill>
                      <a:srgbClr val="FFFFFF"/>
                    </a:solidFill>
                  </a:tcPr>
                </a:tc>
                <a:tc>
                  <a:txBody>
                    <a:bodyPr/>
                    <a:lstStyle/>
                    <a:p>
                      <a:r>
                        <a:rPr sz="1000"/>
                        <a:t>41.88s</a:t>
                      </a:r>
                    </a:p>
                  </a:txBody>
                  <a:tcPr>
                    <a:solidFill>
                      <a:srgbClr val="FFFFFF"/>
                    </a:solidFill>
                  </a:tcPr>
                </a:tc>
                <a:tc>
                  <a:txBody>
                    <a:bodyPr/>
                    <a:lstStyle/>
                    <a:p>
                      <a:r>
                        <a:rPr sz="1000"/>
                        <a:t>Mitchell, Owens, Carter, Webb</a:t>
                      </a:r>
                    </a:p>
                  </a:txBody>
                  <a:tcPr>
                    <a:solidFill>
                      <a:srgbClr val="FFFFFF"/>
                    </a:solidFill>
                  </a:tcPr>
                </a:tc>
                <a:tc>
                  <a:txBody>
                    <a:bodyPr/>
                    <a:lstStyle/>
                    <a:p>
                      <a:r>
                        <a:rPr sz="1000"/>
                        <a:t>2nd at State 6A</a:t>
                      </a:r>
                    </a:p>
                  </a:txBody>
                  <a:tcPr>
                    <a:solidFill>
                      <a:srgbClr val="FFFFFF"/>
                    </a:solidFill>
                  </a:tcPr>
                </a:tc>
              </a:tr>
              <a:tr h="381000">
                <a:tc>
                  <a:txBody>
                    <a:bodyPr/>
                    <a:lstStyle/>
                    <a:p>
                      <a:r>
                        <a:rPr sz="1000"/>
                        <a:t>400m (Men)</a:t>
                      </a:r>
                    </a:p>
                  </a:txBody>
                  <a:tcPr>
                    <a:solidFill>
                      <a:srgbClr val="F0FAF4"/>
                    </a:solidFill>
                  </a:tcPr>
                </a:tc>
                <a:tc>
                  <a:txBody>
                    <a:bodyPr/>
                    <a:lstStyle/>
                    <a:p>
                      <a:r>
                        <a:rPr sz="1000"/>
                        <a:t>49.72s</a:t>
                      </a:r>
                    </a:p>
                  </a:txBody>
                  <a:tcPr>
                    <a:solidFill>
                      <a:srgbClr val="F0FAF4"/>
                    </a:solidFill>
                  </a:tcPr>
                </a:tc>
                <a:tc>
                  <a:txBody>
                    <a:bodyPr/>
                    <a:lstStyle/>
                    <a:p>
                      <a:r>
                        <a:rPr sz="1000"/>
                        <a:t>Marcus Owens</a:t>
                      </a:r>
                    </a:p>
                  </a:txBody>
                  <a:tcPr>
                    <a:solidFill>
                      <a:srgbClr val="F0FAF4"/>
                    </a:solidFill>
                  </a:tcPr>
                </a:tc>
                <a:tc>
                  <a:txBody>
                    <a:bodyPr/>
                    <a:lstStyle/>
                    <a:p>
                      <a:r>
                        <a:rPr sz="1000"/>
                        <a:t>Regional qualifier</a:t>
                      </a:r>
                    </a:p>
                  </a:txBody>
                  <a:tcPr>
                    <a:solidFill>
                      <a:srgbClr val="F0FAF4"/>
                    </a:solidFill>
                  </a:tcPr>
                </a:tc>
              </a:tr>
              <a:tr h="381000">
                <a:tc>
                  <a:txBody>
                    <a:bodyPr/>
                    <a:lstStyle/>
                    <a:p>
                      <a:r>
                        <a:rPr sz="1000"/>
                        <a:t>800m (Men)</a:t>
                      </a:r>
                    </a:p>
                  </a:txBody>
                  <a:tcPr>
                    <a:solidFill>
                      <a:srgbClr val="FFFFFF"/>
                    </a:solidFill>
                  </a:tcPr>
                </a:tc>
                <a:tc>
                  <a:txBody>
                    <a:bodyPr/>
                    <a:lstStyle/>
                    <a:p>
                      <a:r>
                        <a:rPr sz="1000"/>
                        <a:t>1:56.4</a:t>
                      </a:r>
                    </a:p>
                  </a:txBody>
                  <a:tcPr>
                    <a:solidFill>
                      <a:srgbClr val="FFFFFF"/>
                    </a:solidFill>
                  </a:tcPr>
                </a:tc>
                <a:tc>
                  <a:txBody>
                    <a:bodyPr/>
                    <a:lstStyle/>
                    <a:p>
                      <a:r>
                        <a:rPr sz="1000"/>
                        <a:t>James Tillman</a:t>
                      </a:r>
                    </a:p>
                  </a:txBody>
                  <a:tcPr>
                    <a:solidFill>
                      <a:srgbClr val="FFFFFF"/>
                    </a:solidFill>
                  </a:tcPr>
                </a:tc>
                <a:tc>
                  <a:txBody>
                    <a:bodyPr/>
                    <a:lstStyle/>
                    <a:p>
                      <a:r>
                        <a:rPr sz="1000"/>
                        <a:t>School record</a:t>
                      </a:r>
                    </a:p>
                  </a:txBody>
                  <a:tcPr>
                    <a:solidFill>
                      <a:srgbClr val="FFFFFF"/>
                    </a:solidFill>
                  </a:tcPr>
                </a:tc>
              </a:tr>
              <a:tr h="381000">
                <a:tc>
                  <a:txBody>
                    <a:bodyPr/>
                    <a:lstStyle/>
                    <a:p>
                      <a:r>
                        <a:rPr sz="1000"/>
                        <a:t>1600m (Men)</a:t>
                      </a:r>
                    </a:p>
                  </a:txBody>
                  <a:tcPr>
                    <a:solidFill>
                      <a:srgbClr val="F0FAF4"/>
                    </a:solidFill>
                  </a:tcPr>
                </a:tc>
                <a:tc>
                  <a:txBody>
                    <a:bodyPr/>
                    <a:lstStyle/>
                    <a:p>
                      <a:r>
                        <a:rPr sz="1000"/>
                        <a:t>4:28.7</a:t>
                      </a:r>
                    </a:p>
                  </a:txBody>
                  <a:tcPr>
                    <a:solidFill>
                      <a:srgbClr val="F0FAF4"/>
                    </a:solidFill>
                  </a:tcPr>
                </a:tc>
                <a:tc>
                  <a:txBody>
                    <a:bodyPr/>
                    <a:lstStyle/>
                    <a:p>
                      <a:r>
                        <a:rPr sz="1000"/>
                        <a:t>James Tillman</a:t>
                      </a:r>
                    </a:p>
                  </a:txBody>
                  <a:tcPr>
                    <a:solidFill>
                      <a:srgbClr val="F0FAF4"/>
                    </a:solidFill>
                  </a:tcPr>
                </a:tc>
                <a:tc>
                  <a:txBody>
                    <a:bodyPr/>
                    <a:lstStyle/>
                    <a:p>
                      <a:r>
                        <a:rPr sz="1000"/>
                        <a:t>State qualifier</a:t>
                      </a:r>
                    </a:p>
                  </a:txBody>
                  <a:tcPr>
                    <a:solidFill>
                      <a:srgbClr val="F0FAF4"/>
                    </a:solidFill>
                  </a:tcPr>
                </a:tc>
              </a:tr>
              <a:tr h="381000">
                <a:tc>
                  <a:txBody>
                    <a:bodyPr/>
                    <a:lstStyle/>
                    <a:p>
                      <a:r>
                        <a:rPr sz="1000"/>
                        <a:t>Long Jump (Men)</a:t>
                      </a:r>
                    </a:p>
                  </a:txBody>
                  <a:tcPr>
                    <a:solidFill>
                      <a:srgbClr val="FFFFFF"/>
                    </a:solidFill>
                  </a:tcPr>
                </a:tc>
                <a:tc>
                  <a:txBody>
                    <a:bodyPr/>
                    <a:lstStyle/>
                    <a:p>
                      <a:r>
                        <a:rPr sz="1000"/>
                        <a:t>22 ft 3 in</a:t>
                      </a:r>
                    </a:p>
                  </a:txBody>
                  <a:tcPr>
                    <a:solidFill>
                      <a:srgbClr val="FFFFFF"/>
                    </a:solidFill>
                  </a:tcPr>
                </a:tc>
                <a:tc>
                  <a:txBody>
                    <a:bodyPr/>
                    <a:lstStyle/>
                    <a:p>
                      <a:r>
                        <a:rPr sz="1000"/>
                        <a:t>Calvin Webb</a:t>
                      </a:r>
                    </a:p>
                  </a:txBody>
                  <a:tcPr>
                    <a:solidFill>
                      <a:srgbClr val="FFFFFF"/>
                    </a:solidFill>
                  </a:tcPr>
                </a:tc>
                <a:tc>
                  <a:txBody>
                    <a:bodyPr/>
                    <a:lstStyle/>
                    <a:p>
                      <a:r>
                        <a:rPr sz="1000"/>
                        <a:t>3rd at Regionals</a:t>
                      </a:r>
                    </a:p>
                  </a:txBody>
                  <a:tcPr>
                    <a:solidFill>
                      <a:srgbClr val="FFFFFF"/>
                    </a:solidFill>
                  </a:tcPr>
                </a:tc>
              </a:tr>
              <a:tr h="381000">
                <a:tc>
                  <a:txBody>
                    <a:bodyPr/>
                    <a:lstStyle/>
                    <a:p>
                      <a:r>
                        <a:rPr sz="1000"/>
                        <a:t>100m (Women)</a:t>
                      </a:r>
                    </a:p>
                  </a:txBody>
                  <a:tcPr>
                    <a:solidFill>
                      <a:srgbClr val="F0FAF4"/>
                    </a:solidFill>
                  </a:tcPr>
                </a:tc>
                <a:tc>
                  <a:txBody>
                    <a:bodyPr/>
                    <a:lstStyle/>
                    <a:p>
                      <a:r>
                        <a:rPr sz="1000"/>
                        <a:t>12.18s</a:t>
                      </a:r>
                    </a:p>
                  </a:txBody>
                  <a:tcPr>
                    <a:solidFill>
                      <a:srgbClr val="F0FAF4"/>
                    </a:solidFill>
                  </a:tcPr>
                </a:tc>
                <a:tc>
                  <a:txBody>
                    <a:bodyPr/>
                    <a:lstStyle/>
                    <a:p>
                      <a:r>
                        <a:rPr sz="1000"/>
                        <a:t>Amara Johnson</a:t>
                      </a:r>
                    </a:p>
                  </a:txBody>
                  <a:tcPr>
                    <a:solidFill>
                      <a:srgbClr val="F0FAF4"/>
                    </a:solidFill>
                  </a:tcPr>
                </a:tc>
                <a:tc>
                  <a:txBody>
                    <a:bodyPr/>
                    <a:lstStyle/>
                    <a:p>
                      <a:r>
                        <a:rPr sz="1000"/>
                        <a:t>Regional finalist</a:t>
                      </a:r>
                    </a:p>
                  </a:txBody>
                  <a:tcPr>
                    <a:solidFill>
                      <a:srgbClr val="F0FAF4"/>
                    </a:solidFill>
                  </a:tcPr>
                </a:tc>
              </a:tr>
              <a:tr h="381000">
                <a:tc>
                  <a:txBody>
                    <a:bodyPr/>
                    <a:lstStyle/>
                    <a:p>
                      <a:r>
                        <a:rPr sz="1000"/>
                        <a:t>400m (Women)</a:t>
                      </a:r>
                    </a:p>
                  </a:txBody>
                  <a:tcPr>
                    <a:solidFill>
                      <a:srgbClr val="FFFFFF"/>
                    </a:solidFill>
                  </a:tcPr>
                </a:tc>
                <a:tc>
                  <a:txBody>
                    <a:bodyPr/>
                    <a:lstStyle/>
                    <a:p>
                      <a:r>
                        <a:rPr sz="1000"/>
                        <a:t>57.42s</a:t>
                      </a:r>
                    </a:p>
                  </a:txBody>
                  <a:tcPr>
                    <a:solidFill>
                      <a:srgbClr val="FFFFFF"/>
                    </a:solidFill>
                  </a:tcPr>
                </a:tc>
                <a:tc>
                  <a:txBody>
                    <a:bodyPr/>
                    <a:lstStyle/>
                    <a:p>
                      <a:r>
                        <a:rPr sz="1000"/>
                        <a:t>Keely Barrett</a:t>
                      </a:r>
                    </a:p>
                  </a:txBody>
                  <a:tcPr>
                    <a:solidFill>
                      <a:srgbClr val="FFFFFF"/>
                    </a:solidFill>
                  </a:tcPr>
                </a:tc>
                <a:tc>
                  <a:txBody>
                    <a:bodyPr/>
                    <a:lstStyle/>
                    <a:p>
                      <a:r>
                        <a:rPr sz="1000"/>
                        <a:t>State qualifier</a:t>
                      </a:r>
                    </a:p>
                  </a:txBody>
                  <a:tcPr>
                    <a:solidFill>
                      <a:srgbClr val="FFFFFF"/>
                    </a:solidFill>
                  </a:tcPr>
                </a:tc>
              </a:tr>
              <a:tr h="381000">
                <a:tc>
                  <a:txBody>
                    <a:bodyPr/>
                    <a:lstStyle/>
                    <a:p>
                      <a:r>
                        <a:rPr sz="1000"/>
                        <a:t>4x400 Relay (Women)</a:t>
                      </a:r>
                    </a:p>
                  </a:txBody>
                  <a:tcPr>
                    <a:solidFill>
                      <a:srgbClr val="F0FAF4"/>
                    </a:solidFill>
                  </a:tcPr>
                </a:tc>
                <a:tc>
                  <a:txBody>
                    <a:bodyPr/>
                    <a:lstStyle/>
                    <a:p>
                      <a:r>
                        <a:rPr sz="1000"/>
                        <a:t>4:05.3</a:t>
                      </a:r>
                    </a:p>
                  </a:txBody>
                  <a:tcPr>
                    <a:solidFill>
                      <a:srgbClr val="F0FAF4"/>
                    </a:solidFill>
                  </a:tcPr>
                </a:tc>
                <a:tc>
                  <a:txBody>
                    <a:bodyPr/>
                    <a:lstStyle/>
                    <a:p>
                      <a:r>
                        <a:rPr sz="1000"/>
                        <a:t>Mixed roster</a:t>
                      </a:r>
                    </a:p>
                  </a:txBody>
                  <a:tcPr>
                    <a:solidFill>
                      <a:srgbClr val="F0FAF4"/>
                    </a:solidFill>
                  </a:tcPr>
                </a:tc>
                <a:tc>
                  <a:txBody>
                    <a:bodyPr/>
                    <a:lstStyle/>
                    <a:p>
                      <a:r>
                        <a:rPr sz="1000"/>
                        <a:t>Regional runner-up</a:t>
                      </a:r>
                    </a:p>
                  </a:txBody>
                  <a:tcPr>
                    <a:solidFill>
                      <a:srgbClr val="F0FAF4"/>
                    </a:solidFill>
                  </a:tcPr>
                </a:tc>
              </a:tr>
            </a:tbl>
          </a:graphicData>
        </a:graphic>
      </p:graphicFrame>
      <p:sp>
        <p:nvSpPr>
          <p:cNvPr id="5" name="Rectangle 4"/>
          <p:cNvSpPr/>
          <p:nvPr/>
        </p:nvSpPr>
        <p:spPr>
          <a:xfrm>
            <a:off x="365760" y="5760720"/>
            <a:ext cx="11430000" cy="777240"/>
          </a:xfrm>
          <a:prstGeom prst="rect">
            <a:avLst/>
          </a:prstGeom>
          <a:solidFill>
            <a:srgbClr val="E1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852160"/>
            <a:ext cx="11064240" cy="548640"/>
          </a:xfrm>
          <a:prstGeom prst="rect">
            <a:avLst/>
          </a:prstGeom>
          <a:noFill/>
        </p:spPr>
        <p:txBody>
          <a:bodyPr wrap="square">
            <a:spAutoFit/>
          </a:bodyPr>
          <a:lstStyle/>
          <a:p>
            <a:pPr algn="l"/>
            <a:r>
              <a:rPr sz="1000" b="0">
                <a:solidFill>
                  <a:srgbClr val="285037"/>
                </a:solidFill>
              </a:rPr>
              <a:t>All results from the 2025-2026 AHSAA indoor season, January through February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RETURNING ATHLETES 2026-2027</a:t>
            </a:r>
          </a:p>
        </p:txBody>
      </p:sp>
      <p:graphicFrame>
        <p:nvGraphicFramePr>
          <p:cNvPr id="4" name="Table 3"/>
          <p:cNvGraphicFramePr>
            <a:graphicFrameLocks noGrp="1"/>
          </p:cNvGraphicFramePr>
          <p:nvPr/>
        </p:nvGraphicFramePr>
        <p:xfrm>
          <a:off x="365760" y="1005840"/>
          <a:ext cx="11430000" cy="5394960"/>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414996">
                <a:tc>
                  <a:txBody>
                    <a:bodyPr/>
                    <a:lstStyle/>
                    <a:p>
                      <a:r>
                        <a:rPr b="1" sz="1100">
                          <a:solidFill>
                            <a:srgbClr val="FFFFFF"/>
                          </a:solidFill>
                        </a:rPr>
                        <a:t>Athlete</a:t>
                      </a:r>
                    </a:p>
                  </a:txBody>
                  <a:tcPr>
                    <a:solidFill>
                      <a:srgbClr val="145A2D"/>
                    </a:solidFill>
                  </a:tcPr>
                </a:tc>
                <a:tc>
                  <a:txBody>
                    <a:bodyPr/>
                    <a:lstStyle/>
                    <a:p>
                      <a:r>
                        <a:rPr b="1" sz="1100">
                          <a:solidFill>
                            <a:srgbClr val="FFFFFF"/>
                          </a:solidFill>
                        </a:rPr>
                        <a:t>Grade</a:t>
                      </a:r>
                    </a:p>
                  </a:txBody>
                  <a:tcPr>
                    <a:solidFill>
                      <a:srgbClr val="145A2D"/>
                    </a:solidFill>
                  </a:tcPr>
                </a:tc>
                <a:tc>
                  <a:txBody>
                    <a:bodyPr/>
                    <a:lstStyle/>
                    <a:p>
                      <a:r>
                        <a:rPr b="1" sz="1100">
                          <a:solidFill>
                            <a:srgbClr val="FFFFFF"/>
                          </a:solidFill>
                        </a:rPr>
                        <a:t>Events</a:t>
                      </a:r>
                    </a:p>
                  </a:txBody>
                  <a:tcPr>
                    <a:solidFill>
                      <a:srgbClr val="145A2D"/>
                    </a:solidFill>
                  </a:tcPr>
                </a:tc>
                <a:tc>
                  <a:txBody>
                    <a:bodyPr/>
                    <a:lstStyle/>
                    <a:p>
                      <a:r>
                        <a:rPr b="1" sz="1100">
                          <a:solidFill>
                            <a:srgbClr val="FFFFFF"/>
                          </a:solidFill>
                        </a:rPr>
                        <a:t>Status</a:t>
                      </a:r>
                    </a:p>
                  </a:txBody>
                  <a:tcPr>
                    <a:solidFill>
                      <a:srgbClr val="145A2D"/>
                    </a:solidFill>
                  </a:tcPr>
                </a:tc>
                <a:tc>
                  <a:txBody>
                    <a:bodyPr/>
                    <a:lstStyle/>
                    <a:p>
                      <a:r>
                        <a:rPr b="1" sz="1100">
                          <a:solidFill>
                            <a:srgbClr val="FFFFFF"/>
                          </a:solidFill>
                        </a:rPr>
                        <a:t>2026 Best Mark</a:t>
                      </a:r>
                    </a:p>
                  </a:txBody>
                  <a:tcPr>
                    <a:solidFill>
                      <a:srgbClr val="145A2D"/>
                    </a:solidFill>
                  </a:tcPr>
                </a:tc>
              </a:tr>
              <a:tr h="414996">
                <a:tc>
                  <a:txBody>
                    <a:bodyPr/>
                    <a:lstStyle/>
                    <a:p>
                      <a:r>
                        <a:rPr sz="1000"/>
                        <a:t>Devon Mitchell</a:t>
                      </a:r>
                    </a:p>
                  </a:txBody>
                  <a:tcPr>
                    <a:solidFill>
                      <a:srgbClr val="F0FAF4"/>
                    </a:solidFill>
                  </a:tcPr>
                </a:tc>
                <a:tc>
                  <a:txBody>
                    <a:bodyPr/>
                    <a:lstStyle/>
                    <a:p>
                      <a:r>
                        <a:rPr sz="1000"/>
                        <a:t>Senior</a:t>
                      </a:r>
                    </a:p>
                  </a:txBody>
                  <a:tcPr>
                    <a:solidFill>
                      <a:srgbClr val="F0FAF4"/>
                    </a:solidFill>
                  </a:tcPr>
                </a:tc>
                <a:tc>
                  <a:txBody>
                    <a:bodyPr/>
                    <a:lstStyle/>
                    <a:p>
                      <a:r>
                        <a:rPr sz="1000"/>
                        <a:t>100m, 200m, 110mH, 4x100</a:t>
                      </a:r>
                    </a:p>
                  </a:txBody>
                  <a:tcPr>
                    <a:solidFill>
                      <a:srgbClr val="F0FAF4"/>
                    </a:solidFill>
                  </a:tcPr>
                </a:tc>
                <a:tc>
                  <a:txBody>
                    <a:bodyPr/>
                    <a:lstStyle/>
                    <a:p>
                      <a:r>
                        <a:rPr sz="1000"/>
                        <a:t>Full training</a:t>
                      </a:r>
                    </a:p>
                  </a:txBody>
                  <a:tcPr>
                    <a:solidFill>
                      <a:srgbClr val="F0FAF4"/>
                    </a:solidFill>
                  </a:tcPr>
                </a:tc>
                <a:tc>
                  <a:txBody>
                    <a:bodyPr/>
                    <a:lstStyle/>
                    <a:p>
                      <a:r>
                        <a:rPr sz="1000"/>
                        <a:t>10.71s / 21.53s</a:t>
                      </a:r>
                    </a:p>
                  </a:txBody>
                  <a:tcPr>
                    <a:solidFill>
                      <a:srgbClr val="F0FAF4"/>
                    </a:solidFill>
                  </a:tcPr>
                </a:tc>
              </a:tr>
              <a:tr h="414996">
                <a:tc>
                  <a:txBody>
                    <a:bodyPr/>
                    <a:lstStyle/>
                    <a:p>
                      <a:r>
                        <a:rPr sz="1000"/>
                        <a:t>Marcus Owens</a:t>
                      </a:r>
                    </a:p>
                  </a:txBody>
                  <a:tcPr>
                    <a:solidFill>
                      <a:srgbClr val="FFFFFF"/>
                    </a:solidFill>
                  </a:tcPr>
                </a:tc>
                <a:tc>
                  <a:txBody>
                    <a:bodyPr/>
                    <a:lstStyle/>
                    <a:p>
                      <a:r>
                        <a:rPr sz="1000"/>
                        <a:t>Senior</a:t>
                      </a:r>
                    </a:p>
                  </a:txBody>
                  <a:tcPr>
                    <a:solidFill>
                      <a:srgbClr val="FFFFFF"/>
                    </a:solidFill>
                  </a:tcPr>
                </a:tc>
                <a:tc>
                  <a:txBody>
                    <a:bodyPr/>
                    <a:lstStyle/>
                    <a:p>
                      <a:r>
                        <a:rPr sz="1000"/>
                        <a:t>200m, 400m, 4x100, 4x400</a:t>
                      </a:r>
                    </a:p>
                  </a:txBody>
                  <a:tcPr>
                    <a:solidFill>
                      <a:srgbClr val="FFFFFF"/>
                    </a:solidFill>
                  </a:tcPr>
                </a:tc>
                <a:tc>
                  <a:txBody>
                    <a:bodyPr/>
                    <a:lstStyle/>
                    <a:p>
                      <a:r>
                        <a:rPr sz="1000"/>
                        <a:t>Full training</a:t>
                      </a:r>
                    </a:p>
                  </a:txBody>
                  <a:tcPr>
                    <a:solidFill>
                      <a:srgbClr val="FFFFFF"/>
                    </a:solidFill>
                  </a:tcPr>
                </a:tc>
                <a:tc>
                  <a:txBody>
                    <a:bodyPr/>
                    <a:lstStyle/>
                    <a:p>
                      <a:r>
                        <a:rPr sz="1000"/>
                        <a:t>49.72s (400m)</a:t>
                      </a:r>
                    </a:p>
                  </a:txBody>
                  <a:tcPr>
                    <a:solidFill>
                      <a:srgbClr val="FFFFFF"/>
                    </a:solidFill>
                  </a:tcPr>
                </a:tc>
              </a:tr>
              <a:tr h="414996">
                <a:tc>
                  <a:txBody>
                    <a:bodyPr/>
                    <a:lstStyle/>
                    <a:p>
                      <a:r>
                        <a:rPr sz="1000"/>
                        <a:t>James Tillman</a:t>
                      </a:r>
                    </a:p>
                  </a:txBody>
                  <a:tcPr>
                    <a:solidFill>
                      <a:srgbClr val="F0FAF4"/>
                    </a:solidFill>
                  </a:tcPr>
                </a:tc>
                <a:tc>
                  <a:txBody>
                    <a:bodyPr/>
                    <a:lstStyle/>
                    <a:p>
                      <a:r>
                        <a:rPr sz="1000"/>
                        <a:t>Senior</a:t>
                      </a:r>
                    </a:p>
                  </a:txBody>
                  <a:tcPr>
                    <a:solidFill>
                      <a:srgbClr val="F0FAF4"/>
                    </a:solidFill>
                  </a:tcPr>
                </a:tc>
                <a:tc>
                  <a:txBody>
                    <a:bodyPr/>
                    <a:lstStyle/>
                    <a:p>
                      <a:r>
                        <a:rPr sz="1000"/>
                        <a:t>800m, 1600m, 3200m</a:t>
                      </a:r>
                    </a:p>
                  </a:txBody>
                  <a:tcPr>
                    <a:solidFill>
                      <a:srgbClr val="F0FAF4"/>
                    </a:solidFill>
                  </a:tcPr>
                </a:tc>
                <a:tc>
                  <a:txBody>
                    <a:bodyPr/>
                    <a:lstStyle/>
                    <a:p>
                      <a:r>
                        <a:rPr sz="1000"/>
                        <a:t>Full training</a:t>
                      </a:r>
                    </a:p>
                  </a:txBody>
                  <a:tcPr>
                    <a:solidFill>
                      <a:srgbClr val="F0FAF4"/>
                    </a:solidFill>
                  </a:tcPr>
                </a:tc>
                <a:tc>
                  <a:txBody>
                    <a:bodyPr/>
                    <a:lstStyle/>
                    <a:p>
                      <a:r>
                        <a:rPr sz="1000"/>
                        <a:t>1:56.4 (800m)</a:t>
                      </a:r>
                    </a:p>
                  </a:txBody>
                  <a:tcPr>
                    <a:solidFill>
                      <a:srgbClr val="F0FAF4"/>
                    </a:solidFill>
                  </a:tcPr>
                </a:tc>
              </a:tr>
              <a:tr h="414996">
                <a:tc>
                  <a:txBody>
                    <a:bodyPr/>
                    <a:lstStyle/>
                    <a:p>
                      <a:r>
                        <a:rPr sz="1000"/>
                        <a:t>Calvin Webb</a:t>
                      </a:r>
                    </a:p>
                  </a:txBody>
                  <a:tcPr>
                    <a:solidFill>
                      <a:srgbClr val="FFFFFF"/>
                    </a:solidFill>
                  </a:tcPr>
                </a:tc>
                <a:tc>
                  <a:txBody>
                    <a:bodyPr/>
                    <a:lstStyle/>
                    <a:p>
                      <a:r>
                        <a:rPr sz="1000"/>
                        <a:t>Junior</a:t>
                      </a:r>
                    </a:p>
                  </a:txBody>
                  <a:tcPr>
                    <a:solidFill>
                      <a:srgbClr val="FFFFFF"/>
                    </a:solidFill>
                  </a:tcPr>
                </a:tc>
                <a:tc>
                  <a:txBody>
                    <a:bodyPr/>
                    <a:lstStyle/>
                    <a:p>
                      <a:r>
                        <a:rPr sz="1000"/>
                        <a:t>Long Jump, 100m, 4x100</a:t>
                      </a:r>
                    </a:p>
                  </a:txBody>
                  <a:tcPr>
                    <a:solidFill>
                      <a:srgbClr val="FFFFFF"/>
                    </a:solidFill>
                  </a:tcPr>
                </a:tc>
                <a:tc>
                  <a:txBody>
                    <a:bodyPr/>
                    <a:lstStyle/>
                    <a:p>
                      <a:r>
                        <a:rPr sz="1000"/>
                        <a:t>Full training</a:t>
                      </a:r>
                    </a:p>
                  </a:txBody>
                  <a:tcPr>
                    <a:solidFill>
                      <a:srgbClr val="FFFFFF"/>
                    </a:solidFill>
                  </a:tcPr>
                </a:tc>
                <a:tc>
                  <a:txBody>
                    <a:bodyPr/>
                    <a:lstStyle/>
                    <a:p>
                      <a:r>
                        <a:rPr sz="1000"/>
                        <a:t>22 ft 3 in</a:t>
                      </a:r>
                    </a:p>
                  </a:txBody>
                  <a:tcPr>
                    <a:solidFill>
                      <a:srgbClr val="FFFFFF"/>
                    </a:solidFill>
                  </a:tcPr>
                </a:tc>
              </a:tr>
              <a:tr h="414996">
                <a:tc>
                  <a:txBody>
                    <a:bodyPr/>
                    <a:lstStyle/>
                    <a:p>
                      <a:r>
                        <a:rPr sz="1000"/>
                        <a:t>Amara Johnson</a:t>
                      </a:r>
                    </a:p>
                  </a:txBody>
                  <a:tcPr>
                    <a:solidFill>
                      <a:srgbClr val="F0FAF4"/>
                    </a:solidFill>
                  </a:tcPr>
                </a:tc>
                <a:tc>
                  <a:txBody>
                    <a:bodyPr/>
                    <a:lstStyle/>
                    <a:p>
                      <a:r>
                        <a:rPr sz="1000"/>
                        <a:t>Junior</a:t>
                      </a:r>
                    </a:p>
                  </a:txBody>
                  <a:tcPr>
                    <a:solidFill>
                      <a:srgbClr val="F0FAF4"/>
                    </a:solidFill>
                  </a:tcPr>
                </a:tc>
                <a:tc>
                  <a:txBody>
                    <a:bodyPr/>
                    <a:lstStyle/>
                    <a:p>
                      <a:r>
                        <a:rPr sz="1000"/>
                        <a:t>100m, 200m, 4x100</a:t>
                      </a:r>
                    </a:p>
                  </a:txBody>
                  <a:tcPr>
                    <a:solidFill>
                      <a:srgbClr val="F0FAF4"/>
                    </a:solidFill>
                  </a:tcPr>
                </a:tc>
                <a:tc>
                  <a:txBody>
                    <a:bodyPr/>
                    <a:lstStyle/>
                    <a:p>
                      <a:r>
                        <a:rPr sz="1000"/>
                        <a:t>Full training</a:t>
                      </a:r>
                    </a:p>
                  </a:txBody>
                  <a:tcPr>
                    <a:solidFill>
                      <a:srgbClr val="F0FAF4"/>
                    </a:solidFill>
                  </a:tcPr>
                </a:tc>
                <a:tc>
                  <a:txBody>
                    <a:bodyPr/>
                    <a:lstStyle/>
                    <a:p>
                      <a:r>
                        <a:rPr sz="1000"/>
                        <a:t>12.18s (100m)</a:t>
                      </a:r>
                    </a:p>
                  </a:txBody>
                  <a:tcPr>
                    <a:solidFill>
                      <a:srgbClr val="F0FAF4"/>
                    </a:solidFill>
                  </a:tcPr>
                </a:tc>
              </a:tr>
              <a:tr h="414996">
                <a:tc>
                  <a:txBody>
                    <a:bodyPr/>
                    <a:lstStyle/>
                    <a:p>
                      <a:r>
                        <a:rPr sz="1000"/>
                        <a:t>Keely Barrett</a:t>
                      </a:r>
                    </a:p>
                  </a:txBody>
                  <a:tcPr>
                    <a:solidFill>
                      <a:srgbClr val="FFFFFF"/>
                    </a:solidFill>
                  </a:tcPr>
                </a:tc>
                <a:tc>
                  <a:txBody>
                    <a:bodyPr/>
                    <a:lstStyle/>
                    <a:p>
                      <a:r>
                        <a:rPr sz="1000"/>
                        <a:t>Junior</a:t>
                      </a:r>
                    </a:p>
                  </a:txBody>
                  <a:tcPr>
                    <a:solidFill>
                      <a:srgbClr val="FFFFFF"/>
                    </a:solidFill>
                  </a:tcPr>
                </a:tc>
                <a:tc>
                  <a:txBody>
                    <a:bodyPr/>
                    <a:lstStyle/>
                    <a:p>
                      <a:r>
                        <a:rPr sz="1000"/>
                        <a:t>400m, 4x400</a:t>
                      </a:r>
                    </a:p>
                  </a:txBody>
                  <a:tcPr>
                    <a:solidFill>
                      <a:srgbClr val="FFFFFF"/>
                    </a:solidFill>
                  </a:tcPr>
                </a:tc>
                <a:tc>
                  <a:txBody>
                    <a:bodyPr/>
                    <a:lstStyle/>
                    <a:p>
                      <a:r>
                        <a:rPr sz="1000"/>
                        <a:t>Full training</a:t>
                      </a:r>
                    </a:p>
                  </a:txBody>
                  <a:tcPr>
                    <a:solidFill>
                      <a:srgbClr val="FFFFFF"/>
                    </a:solidFill>
                  </a:tcPr>
                </a:tc>
                <a:tc>
                  <a:txBody>
                    <a:bodyPr/>
                    <a:lstStyle/>
                    <a:p>
                      <a:r>
                        <a:rPr sz="1000"/>
                        <a:t>57.42s (400m)</a:t>
                      </a:r>
                    </a:p>
                  </a:txBody>
                  <a:tcPr>
                    <a:solidFill>
                      <a:srgbClr val="FFFFFF"/>
                    </a:solidFill>
                  </a:tcPr>
                </a:tc>
              </a:tr>
              <a:tr h="414996">
                <a:tc>
                  <a:txBody>
                    <a:bodyPr/>
                    <a:lstStyle/>
                    <a:p>
                      <a:r>
                        <a:rPr sz="1000"/>
                        <a:t>Darius Cole</a:t>
                      </a:r>
                    </a:p>
                  </a:txBody>
                  <a:tcPr>
                    <a:solidFill>
                      <a:srgbClr val="F0FAF4"/>
                    </a:solidFill>
                  </a:tcPr>
                </a:tc>
                <a:tc>
                  <a:txBody>
                    <a:bodyPr/>
                    <a:lstStyle/>
                    <a:p>
                      <a:r>
                        <a:rPr sz="1000"/>
                        <a:t>Sophomore</a:t>
                      </a:r>
                    </a:p>
                  </a:txBody>
                  <a:tcPr>
                    <a:solidFill>
                      <a:srgbClr val="F0FAF4"/>
                    </a:solidFill>
                  </a:tcPr>
                </a:tc>
                <a:tc>
                  <a:txBody>
                    <a:bodyPr/>
                    <a:lstStyle/>
                    <a:p>
                      <a:r>
                        <a:rPr sz="1000"/>
                        <a:t>400m, 4x400</a:t>
                      </a:r>
                    </a:p>
                  </a:txBody>
                  <a:tcPr>
                    <a:solidFill>
                      <a:srgbClr val="F0FAF4"/>
                    </a:solidFill>
                  </a:tcPr>
                </a:tc>
                <a:tc>
                  <a:txBody>
                    <a:bodyPr/>
                    <a:lstStyle/>
                    <a:p>
                      <a:r>
                        <a:rPr sz="1000"/>
                        <a:t>Returning from ankle sprain - Oct 2026</a:t>
                      </a:r>
                    </a:p>
                  </a:txBody>
                  <a:tcPr>
                    <a:solidFill>
                      <a:srgbClr val="F0FAF4"/>
                    </a:solidFill>
                  </a:tcPr>
                </a:tc>
                <a:tc>
                  <a:txBody>
                    <a:bodyPr/>
                    <a:lstStyle/>
                    <a:p>
                      <a:r>
                        <a:rPr sz="1000"/>
                        <a:t>51.90s (400m)</a:t>
                      </a:r>
                    </a:p>
                  </a:txBody>
                  <a:tcPr>
                    <a:solidFill>
                      <a:srgbClr val="F0FAF4"/>
                    </a:solidFill>
                  </a:tcPr>
                </a:tc>
              </a:tr>
              <a:tr h="414996">
                <a:tc>
                  <a:txBody>
                    <a:bodyPr/>
                    <a:lstStyle/>
                    <a:p>
                      <a:r>
                        <a:rPr sz="1000"/>
                        <a:t>Latoya Harris</a:t>
                      </a:r>
                    </a:p>
                  </a:txBody>
                  <a:tcPr>
                    <a:solidFill>
                      <a:srgbClr val="FFFFFF"/>
                    </a:solidFill>
                  </a:tcPr>
                </a:tc>
                <a:tc>
                  <a:txBody>
                    <a:bodyPr/>
                    <a:lstStyle/>
                    <a:p>
                      <a:r>
                        <a:rPr sz="1000"/>
                        <a:t>Senior</a:t>
                      </a:r>
                    </a:p>
                  </a:txBody>
                  <a:tcPr>
                    <a:solidFill>
                      <a:srgbClr val="FFFFFF"/>
                    </a:solidFill>
                  </a:tcPr>
                </a:tc>
                <a:tc>
                  <a:txBody>
                    <a:bodyPr/>
                    <a:lstStyle/>
                    <a:p>
                      <a:r>
                        <a:rPr sz="1000"/>
                        <a:t>High Jump, Long Jump</a:t>
                      </a:r>
                    </a:p>
                  </a:txBody>
                  <a:tcPr>
                    <a:solidFill>
                      <a:srgbClr val="FFFFFF"/>
                    </a:solidFill>
                  </a:tcPr>
                </a:tc>
                <a:tc>
                  <a:txBody>
                    <a:bodyPr/>
                    <a:lstStyle/>
                    <a:p>
                      <a:r>
                        <a:rPr sz="1000"/>
                        <a:t>Full training</a:t>
                      </a:r>
                    </a:p>
                  </a:txBody>
                  <a:tcPr>
                    <a:solidFill>
                      <a:srgbClr val="FFFFFF"/>
                    </a:solidFill>
                  </a:tcPr>
                </a:tc>
                <a:tc>
                  <a:txBody>
                    <a:bodyPr/>
                    <a:lstStyle/>
                    <a:p>
                      <a:r>
                        <a:rPr sz="1000"/>
                        <a:t>5 ft 4 in (HJ)</a:t>
                      </a:r>
                    </a:p>
                  </a:txBody>
                  <a:tcPr>
                    <a:solidFill>
                      <a:srgbClr val="FFFFFF"/>
                    </a:solidFill>
                  </a:tcPr>
                </a:tc>
              </a:tr>
              <a:tr h="414996">
                <a:tc>
                  <a:txBody>
                    <a:bodyPr/>
                    <a:lstStyle/>
                    <a:p>
                      <a:r>
                        <a:rPr sz="1000"/>
                        <a:t>Evan Moore</a:t>
                      </a:r>
                    </a:p>
                  </a:txBody>
                  <a:tcPr>
                    <a:solidFill>
                      <a:srgbClr val="F0FAF4"/>
                    </a:solidFill>
                  </a:tcPr>
                </a:tc>
                <a:tc>
                  <a:txBody>
                    <a:bodyPr/>
                    <a:lstStyle/>
                    <a:p>
                      <a:r>
                        <a:rPr sz="1000"/>
                        <a:t>Junior</a:t>
                      </a:r>
                    </a:p>
                  </a:txBody>
                  <a:tcPr>
                    <a:solidFill>
                      <a:srgbClr val="F0FAF4"/>
                    </a:solidFill>
                  </a:tcPr>
                </a:tc>
                <a:tc>
                  <a:txBody>
                    <a:bodyPr/>
                    <a:lstStyle/>
                    <a:p>
                      <a:r>
                        <a:rPr sz="1000"/>
                        <a:t>Shot Put, Discus</a:t>
                      </a:r>
                    </a:p>
                  </a:txBody>
                  <a:tcPr>
                    <a:solidFill>
                      <a:srgbClr val="F0FAF4"/>
                    </a:solidFill>
                  </a:tcPr>
                </a:tc>
                <a:tc>
                  <a:txBody>
                    <a:bodyPr/>
                    <a:lstStyle/>
                    <a:p>
                      <a:r>
                        <a:rPr sz="1000"/>
                        <a:t>Full training</a:t>
                      </a:r>
                    </a:p>
                  </a:txBody>
                  <a:tcPr>
                    <a:solidFill>
                      <a:srgbClr val="F0FAF4"/>
                    </a:solidFill>
                  </a:tcPr>
                </a:tc>
                <a:tc>
                  <a:txBody>
                    <a:bodyPr/>
                    <a:lstStyle/>
                    <a:p>
                      <a:r>
                        <a:rPr sz="1000"/>
                        <a:t>46 ft 2 in (SP)</a:t>
                      </a:r>
                    </a:p>
                  </a:txBody>
                  <a:tcPr>
                    <a:solidFill>
                      <a:srgbClr val="F0FAF4"/>
                    </a:solidFill>
                  </a:tcPr>
                </a:tc>
              </a:tr>
              <a:tr h="414996">
                <a:tc>
                  <a:txBody>
                    <a:bodyPr/>
                    <a:lstStyle/>
                    <a:p>
                      <a:r>
                        <a:rPr sz="1000"/>
                        <a:t>Brianna Simms</a:t>
                      </a:r>
                    </a:p>
                  </a:txBody>
                  <a:tcPr>
                    <a:solidFill>
                      <a:srgbClr val="FFFFFF"/>
                    </a:solidFill>
                  </a:tcPr>
                </a:tc>
                <a:tc>
                  <a:txBody>
                    <a:bodyPr/>
                    <a:lstStyle/>
                    <a:p>
                      <a:r>
                        <a:rPr sz="1000"/>
                        <a:t>Sophomore</a:t>
                      </a:r>
                    </a:p>
                  </a:txBody>
                  <a:tcPr>
                    <a:solidFill>
                      <a:srgbClr val="FFFFFF"/>
                    </a:solidFill>
                  </a:tcPr>
                </a:tc>
                <a:tc>
                  <a:txBody>
                    <a:bodyPr/>
                    <a:lstStyle/>
                    <a:p>
                      <a:r>
                        <a:rPr sz="1000"/>
                        <a:t>800m, 4x400</a:t>
                      </a:r>
                    </a:p>
                  </a:txBody>
                  <a:tcPr>
                    <a:solidFill>
                      <a:srgbClr val="FFFFFF"/>
                    </a:solidFill>
                  </a:tcPr>
                </a:tc>
                <a:tc>
                  <a:txBody>
                    <a:bodyPr/>
                    <a:lstStyle/>
                    <a:p>
                      <a:r>
                        <a:rPr sz="1000"/>
                        <a:t>Full training</a:t>
                      </a:r>
                    </a:p>
                  </a:txBody>
                  <a:tcPr>
                    <a:solidFill>
                      <a:srgbClr val="FFFFFF"/>
                    </a:solidFill>
                  </a:tcPr>
                </a:tc>
                <a:tc>
                  <a:txBody>
                    <a:bodyPr/>
                    <a:lstStyle/>
                    <a:p>
                      <a:r>
                        <a:rPr sz="1000"/>
                        <a:t>2:18.6 (800m)</a:t>
                      </a:r>
                    </a:p>
                  </a:txBody>
                  <a:tcPr>
                    <a:solidFill>
                      <a:srgbClr val="FFFFFF"/>
                    </a:solidFill>
                  </a:tcPr>
                </a:tc>
              </a:tr>
              <a:tr h="414996">
                <a:tc>
                  <a:txBody>
                    <a:bodyPr/>
                    <a:lstStyle/>
                    <a:p>
                      <a:r>
                        <a:rPr sz="1000"/>
                        <a:t>Kwame Jenkins</a:t>
                      </a:r>
                    </a:p>
                  </a:txBody>
                  <a:tcPr>
                    <a:solidFill>
                      <a:srgbClr val="F0FAF4"/>
                    </a:solidFill>
                  </a:tcPr>
                </a:tc>
                <a:tc>
                  <a:txBody>
                    <a:bodyPr/>
                    <a:lstStyle/>
                    <a:p>
                      <a:r>
                        <a:rPr sz="1000"/>
                        <a:t>Junior</a:t>
                      </a:r>
                    </a:p>
                  </a:txBody>
                  <a:tcPr>
                    <a:solidFill>
                      <a:srgbClr val="F0FAF4"/>
                    </a:solidFill>
                  </a:tcPr>
                </a:tc>
                <a:tc>
                  <a:txBody>
                    <a:bodyPr/>
                    <a:lstStyle/>
                    <a:p>
                      <a:r>
                        <a:rPr sz="1000"/>
                        <a:t>Triple Jump, Long Jump</a:t>
                      </a:r>
                    </a:p>
                  </a:txBody>
                  <a:tcPr>
                    <a:solidFill>
                      <a:srgbClr val="F0FAF4"/>
                    </a:solidFill>
                  </a:tcPr>
                </a:tc>
                <a:tc>
                  <a:txBody>
                    <a:bodyPr/>
                    <a:lstStyle/>
                    <a:p>
                      <a:r>
                        <a:rPr sz="1000"/>
                        <a:t>Full training</a:t>
                      </a:r>
                    </a:p>
                  </a:txBody>
                  <a:tcPr>
                    <a:solidFill>
                      <a:srgbClr val="F0FAF4"/>
                    </a:solidFill>
                  </a:tcPr>
                </a:tc>
                <a:tc>
                  <a:txBody>
                    <a:bodyPr/>
                    <a:lstStyle/>
                    <a:p>
                      <a:r>
                        <a:rPr sz="1000"/>
                        <a:t>43 ft 1 in (TJ)</a:t>
                      </a:r>
                    </a:p>
                  </a:txBody>
                  <a:tcPr>
                    <a:solidFill>
                      <a:srgbClr val="F0FAF4"/>
                    </a:solidFill>
                  </a:tcPr>
                </a:tc>
              </a:tr>
              <a:tr h="415008">
                <a:tc>
                  <a:txBody>
                    <a:bodyPr/>
                    <a:lstStyle/>
                    <a:p>
                      <a:r>
                        <a:rPr sz="1000"/>
                        <a:t>Nadia Flowers</a:t>
                      </a:r>
                    </a:p>
                  </a:txBody>
                  <a:tcPr>
                    <a:solidFill>
                      <a:srgbClr val="FFFFFF"/>
                    </a:solidFill>
                  </a:tcPr>
                </a:tc>
                <a:tc>
                  <a:txBody>
                    <a:bodyPr/>
                    <a:lstStyle/>
                    <a:p>
                      <a:r>
                        <a:rPr sz="1000"/>
                        <a:t>Junior</a:t>
                      </a:r>
                    </a:p>
                  </a:txBody>
                  <a:tcPr>
                    <a:solidFill>
                      <a:srgbClr val="FFFFFF"/>
                    </a:solidFill>
                  </a:tcPr>
                </a:tc>
                <a:tc>
                  <a:txBody>
                    <a:bodyPr/>
                    <a:lstStyle/>
                    <a:p>
                      <a:r>
                        <a:rPr sz="1000"/>
                        <a:t>400m Hurdles, 4x400</a:t>
                      </a:r>
                    </a:p>
                  </a:txBody>
                  <a:tcPr>
                    <a:solidFill>
                      <a:srgbClr val="FFFFFF"/>
                    </a:solidFill>
                  </a:tcPr>
                </a:tc>
                <a:tc>
                  <a:txBody>
                    <a:bodyPr/>
                    <a:lstStyle/>
                    <a:p>
                      <a:r>
                        <a:rPr sz="1000"/>
                        <a:t>Monitoring shin splints</a:t>
                      </a:r>
                    </a:p>
                  </a:txBody>
                  <a:tcPr>
                    <a:solidFill>
                      <a:srgbClr val="FFFFFF"/>
                    </a:solidFill>
                  </a:tcPr>
                </a:tc>
                <a:tc>
                  <a:txBody>
                    <a:bodyPr/>
                    <a:lstStyle/>
                    <a:p>
                      <a:r>
                        <a:rPr sz="1000"/>
                        <a:t>67.3s (400mH)</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2026-2027 SEASON GOALS</a:t>
            </a:r>
          </a:p>
        </p:txBody>
      </p:sp>
      <p:graphicFrame>
        <p:nvGraphicFramePr>
          <p:cNvPr id="4" name="Chart 3"/>
          <p:cNvGraphicFramePr>
            <a:graphicFrameLocks noGrp="1"/>
          </p:cNvGraphicFramePr>
          <p:nvPr/>
        </p:nvGraphicFramePr>
        <p:xfrm>
          <a:off x="365760" y="1097280"/>
          <a:ext cx="6858000" cy="5029200"/>
        </p:xfrm>
        <a:graphic>
          <a:graphicData uri="http://schemas.openxmlformats.org/drawingml/2006/chart">
            <c:chart xmlns:c="http://schemas.openxmlformats.org/drawingml/2006/chart" r:id="rId2"/>
          </a:graphicData>
        </a:graphic>
      </p:graphicFrame>
      <p:sp>
        <p:nvSpPr>
          <p:cNvPr id="5" name="Rectangle 4"/>
          <p:cNvSpPr/>
          <p:nvPr/>
        </p:nvSpPr>
        <p:spPr>
          <a:xfrm>
            <a:off x="7498079" y="1097280"/>
            <a:ext cx="4389120" cy="5029200"/>
          </a:xfrm>
          <a:prstGeom prst="rect">
            <a:avLst/>
          </a:prstGeom>
          <a:solidFill>
            <a:srgbClr val="E1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35240" y="1188720"/>
            <a:ext cx="4114800" cy="411480"/>
          </a:xfrm>
          <a:prstGeom prst="rect">
            <a:avLst/>
          </a:prstGeom>
          <a:noFill/>
        </p:spPr>
        <p:txBody>
          <a:bodyPr wrap="square">
            <a:spAutoFit/>
          </a:bodyPr>
          <a:lstStyle/>
          <a:p>
            <a:pPr algn="l"/>
            <a:r>
              <a:rPr sz="1300" b="1">
                <a:solidFill>
                  <a:srgbClr val="145A2D"/>
                </a:solidFill>
              </a:rPr>
              <a:t>TEAM OBJECTIVES</a:t>
            </a:r>
          </a:p>
        </p:txBody>
      </p:sp>
      <p:sp>
        <p:nvSpPr>
          <p:cNvPr id="7" name="TextBox 6"/>
          <p:cNvSpPr txBox="1"/>
          <p:nvPr/>
        </p:nvSpPr>
        <p:spPr>
          <a:xfrm>
            <a:off x="7635240" y="1691640"/>
            <a:ext cx="4160520" cy="475488"/>
          </a:xfrm>
          <a:prstGeom prst="rect">
            <a:avLst/>
          </a:prstGeom>
          <a:noFill/>
        </p:spPr>
        <p:txBody>
          <a:bodyPr wrap="square">
            <a:spAutoFit/>
          </a:bodyPr>
          <a:lstStyle/>
          <a:p>
            <a:pPr algn="l"/>
            <a:r>
              <a:rPr sz="1000" b="0">
                <a:solidFill>
                  <a:srgbClr val="1E3C28"/>
                </a:solidFill>
              </a:rPr>
              <a:t>1. Win the Regional 6A championship.</a:t>
            </a:r>
          </a:p>
        </p:txBody>
      </p:sp>
      <p:sp>
        <p:nvSpPr>
          <p:cNvPr id="8" name="TextBox 7"/>
          <p:cNvSpPr txBox="1"/>
          <p:nvPr/>
        </p:nvSpPr>
        <p:spPr>
          <a:xfrm>
            <a:off x="7635240" y="2194560"/>
            <a:ext cx="4160520" cy="475488"/>
          </a:xfrm>
          <a:prstGeom prst="rect">
            <a:avLst/>
          </a:prstGeom>
          <a:noFill/>
        </p:spPr>
        <p:txBody>
          <a:bodyPr wrap="square">
            <a:spAutoFit/>
          </a:bodyPr>
          <a:lstStyle/>
          <a:p>
            <a:pPr algn="l"/>
            <a:r>
              <a:rPr sz="1000" b="0">
                <a:solidFill>
                  <a:srgbClr val="1E3C28"/>
                </a:solidFill>
              </a:rPr>
              <a:t>2. Place top 3 at the AHSAA State meet.</a:t>
            </a:r>
          </a:p>
        </p:txBody>
      </p:sp>
      <p:sp>
        <p:nvSpPr>
          <p:cNvPr id="9" name="TextBox 8"/>
          <p:cNvSpPr txBox="1"/>
          <p:nvPr/>
        </p:nvSpPr>
        <p:spPr>
          <a:xfrm>
            <a:off x="7635240" y="2697480"/>
            <a:ext cx="4160520" cy="475488"/>
          </a:xfrm>
          <a:prstGeom prst="rect">
            <a:avLst/>
          </a:prstGeom>
          <a:noFill/>
        </p:spPr>
        <p:txBody>
          <a:bodyPr wrap="square">
            <a:spAutoFit/>
          </a:bodyPr>
          <a:lstStyle/>
          <a:p>
            <a:pPr algn="l"/>
            <a:r>
              <a:rPr sz="1000" b="0">
                <a:solidFill>
                  <a:srgbClr val="1E3C28"/>
                </a:solidFill>
              </a:rPr>
              <a:t>3. Secure at least two individual state titles.</a:t>
            </a:r>
          </a:p>
        </p:txBody>
      </p:sp>
      <p:sp>
        <p:nvSpPr>
          <p:cNvPr id="10" name="TextBox 9"/>
          <p:cNvSpPr txBox="1"/>
          <p:nvPr/>
        </p:nvSpPr>
        <p:spPr>
          <a:xfrm>
            <a:off x="7635240" y="3200400"/>
            <a:ext cx="4160520" cy="475488"/>
          </a:xfrm>
          <a:prstGeom prst="rect">
            <a:avLst/>
          </a:prstGeom>
          <a:noFill/>
        </p:spPr>
        <p:txBody>
          <a:bodyPr wrap="square">
            <a:spAutoFit/>
          </a:bodyPr>
          <a:lstStyle/>
          <a:p>
            <a:pPr algn="l"/>
            <a:r>
              <a:rPr sz="1000" b="0">
                <a:solidFill>
                  <a:srgbClr val="1E3C28"/>
                </a:solidFill>
              </a:rPr>
              <a:t>4. Devon Mitchell signs a D-I letter of intent by June 2027.</a:t>
            </a:r>
          </a:p>
        </p:txBody>
      </p:sp>
      <p:sp>
        <p:nvSpPr>
          <p:cNvPr id="11" name="TextBox 10"/>
          <p:cNvSpPr txBox="1"/>
          <p:nvPr/>
        </p:nvSpPr>
        <p:spPr>
          <a:xfrm>
            <a:off x="7635240" y="3703320"/>
            <a:ext cx="4160520" cy="475488"/>
          </a:xfrm>
          <a:prstGeom prst="rect">
            <a:avLst/>
          </a:prstGeom>
          <a:noFill/>
        </p:spPr>
        <p:txBody>
          <a:bodyPr wrap="square">
            <a:spAutoFit/>
          </a:bodyPr>
          <a:lstStyle/>
          <a:p>
            <a:pPr algn="l"/>
            <a:r>
              <a:rPr sz="1000" b="0">
                <a:solidFill>
                  <a:srgbClr val="1E3C28"/>
                </a:solidFill>
              </a:rPr>
              <a:t>5. Marcus Owens qualifies for state in both 200m and 400m.</a:t>
            </a:r>
          </a:p>
        </p:txBody>
      </p:sp>
      <p:sp>
        <p:nvSpPr>
          <p:cNvPr id="12" name="TextBox 11"/>
          <p:cNvSpPr txBox="1"/>
          <p:nvPr/>
        </p:nvSpPr>
        <p:spPr>
          <a:xfrm>
            <a:off x="7635240" y="4206240"/>
            <a:ext cx="4160520" cy="475488"/>
          </a:xfrm>
          <a:prstGeom prst="rect">
            <a:avLst/>
          </a:prstGeom>
          <a:noFill/>
        </p:spPr>
        <p:txBody>
          <a:bodyPr wrap="square">
            <a:spAutoFit/>
          </a:bodyPr>
          <a:lstStyle/>
          <a:p>
            <a:pPr algn="l"/>
            <a:r>
              <a:rPr sz="1000" b="0">
                <a:solidFill>
                  <a:srgbClr val="1E3C28"/>
                </a:solidFill>
              </a:rPr>
              <a:t>6. James Tillman breaks 4:25 in the mile.</a:t>
            </a:r>
          </a:p>
        </p:txBody>
      </p:sp>
      <p:sp>
        <p:nvSpPr>
          <p:cNvPr id="13" name="TextBox 12"/>
          <p:cNvSpPr txBox="1"/>
          <p:nvPr/>
        </p:nvSpPr>
        <p:spPr>
          <a:xfrm>
            <a:off x="7635240" y="4709160"/>
            <a:ext cx="4160520" cy="475488"/>
          </a:xfrm>
          <a:prstGeom prst="rect">
            <a:avLst/>
          </a:prstGeom>
          <a:noFill/>
        </p:spPr>
        <p:txBody>
          <a:bodyPr wrap="square">
            <a:spAutoFit/>
          </a:bodyPr>
          <a:lstStyle/>
          <a:p>
            <a:pPr algn="l"/>
            <a:r>
              <a:rPr sz="1000" b="0">
                <a:solidFill>
                  <a:srgbClr val="1E3C28"/>
                </a:solidFill>
              </a:rPr>
              <a:t>7. Women's 4x400 makes the state podium.</a:t>
            </a:r>
          </a:p>
        </p:txBody>
      </p:sp>
      <p:sp>
        <p:nvSpPr>
          <p:cNvPr id="14" name="TextBox 13"/>
          <p:cNvSpPr txBox="1"/>
          <p:nvPr/>
        </p:nvSpPr>
        <p:spPr>
          <a:xfrm>
            <a:off x="7635240" y="5212080"/>
            <a:ext cx="4160520" cy="475488"/>
          </a:xfrm>
          <a:prstGeom prst="rect">
            <a:avLst/>
          </a:prstGeom>
          <a:noFill/>
        </p:spPr>
        <p:txBody>
          <a:bodyPr wrap="square">
            <a:spAutoFit/>
          </a:bodyPr>
          <a:lstStyle/>
          <a:p>
            <a:pPr algn="l"/>
            <a:r>
              <a:rPr sz="1000" b="0">
                <a:solidFill>
                  <a:srgbClr val="1E3C28"/>
                </a:solidFill>
              </a:rPr>
              <a:t>8. Zero season-ending injuries with the new prehab program.</a:t>
            </a:r>
          </a:p>
        </p:txBody>
      </p:sp>
      <p:sp>
        <p:nvSpPr>
          <p:cNvPr id="15" name="TextBox 14"/>
          <p:cNvSpPr txBox="1"/>
          <p:nvPr/>
        </p:nvSpPr>
        <p:spPr>
          <a:xfrm>
            <a:off x="7635240" y="5715000"/>
            <a:ext cx="4160520" cy="475488"/>
          </a:xfrm>
          <a:prstGeom prst="rect">
            <a:avLst/>
          </a:prstGeom>
          <a:noFill/>
        </p:spPr>
        <p:txBody>
          <a:bodyPr wrap="square">
            <a:spAutoFit/>
          </a:bodyPr>
          <a:lstStyle/>
          <a:p>
            <a:pPr algn="l"/>
            <a:r>
              <a:rPr sz="1000" b="0">
                <a:solidFill>
                  <a:srgbClr val="1E3C28"/>
                </a:solidFill>
              </a:rPr>
              <a:t>9. 25 athletes complete the full season without missed meets.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TRAINING PHILOSOPHY</a:t>
            </a:r>
          </a:p>
        </p:txBody>
      </p:sp>
      <p:sp>
        <p:nvSpPr>
          <p:cNvPr id="4" name="Rectangle 3"/>
          <p:cNvSpPr/>
          <p:nvPr/>
        </p:nvSpPr>
        <p:spPr>
          <a:xfrm>
            <a:off x="365760" y="1005840"/>
            <a:ext cx="11430000" cy="54864"/>
          </a:xfrm>
          <a:prstGeom prst="rect">
            <a:avLst/>
          </a:prstGeom>
          <a:solidFill>
            <a:srgbClr val="B4E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88720"/>
            <a:ext cx="5669280" cy="237744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98448"/>
            <a:ext cx="5303520" cy="457200"/>
          </a:xfrm>
          <a:prstGeom prst="rect">
            <a:avLst/>
          </a:prstGeom>
          <a:noFill/>
        </p:spPr>
        <p:txBody>
          <a:bodyPr wrap="square">
            <a:spAutoFit/>
          </a:bodyPr>
          <a:lstStyle/>
          <a:p>
            <a:pPr algn="l"/>
            <a:r>
              <a:rPr sz="1100" b="1">
                <a:solidFill>
                  <a:srgbClr val="B4E6C3"/>
                </a:solidFill>
              </a:rPr>
              <a:t>SHOWING UP IS MOST OF THE WORK.</a:t>
            </a:r>
          </a:p>
        </p:txBody>
      </p:sp>
      <p:sp>
        <p:nvSpPr>
          <p:cNvPr id="7" name="TextBox 6"/>
          <p:cNvSpPr txBox="1"/>
          <p:nvPr/>
        </p:nvSpPr>
        <p:spPr>
          <a:xfrm>
            <a:off x="548640" y="1783080"/>
            <a:ext cx="5303520" cy="1691640"/>
          </a:xfrm>
          <a:prstGeom prst="rect">
            <a:avLst/>
          </a:prstGeom>
          <a:noFill/>
        </p:spPr>
        <p:txBody>
          <a:bodyPr wrap="square">
            <a:spAutoFit/>
          </a:bodyPr>
          <a:lstStyle/>
          <a:p>
            <a:pPr algn="l"/>
            <a:r>
              <a:rPr sz="1000" b="0">
                <a:solidFill>
                  <a:srgbClr val="FFFFFF"/>
                </a:solidFill>
              </a:rPr>
              <a:t>Consistency beats brilliance every week. An athlete who misses two practices per month loses the compounding benefit that makes a good athlete a great one. We expect everyone on the roster at every session unless cleared otherwise.</a:t>
            </a:r>
          </a:p>
        </p:txBody>
      </p:sp>
      <p:sp>
        <p:nvSpPr>
          <p:cNvPr id="8" name="Rectangle 7"/>
          <p:cNvSpPr/>
          <p:nvPr/>
        </p:nvSpPr>
        <p:spPr>
          <a:xfrm>
            <a:off x="6309360" y="1188720"/>
            <a:ext cx="5669280" cy="2377440"/>
          </a:xfrm>
          <a:prstGeom prst="rect">
            <a:avLst/>
          </a:prstGeom>
          <a:solidFill>
            <a:srgbClr val="0A37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98448"/>
            <a:ext cx="5303520" cy="457200"/>
          </a:xfrm>
          <a:prstGeom prst="rect">
            <a:avLst/>
          </a:prstGeom>
          <a:noFill/>
        </p:spPr>
        <p:txBody>
          <a:bodyPr wrap="square">
            <a:spAutoFit/>
          </a:bodyPr>
          <a:lstStyle/>
          <a:p>
            <a:pPr algn="l"/>
            <a:r>
              <a:rPr sz="1100" b="1">
                <a:solidFill>
                  <a:srgbClr val="B4E6C3"/>
                </a:solidFill>
              </a:rPr>
              <a:t>TECHNIQUE BEFORE SPEED.</a:t>
            </a:r>
          </a:p>
        </p:txBody>
      </p:sp>
      <p:sp>
        <p:nvSpPr>
          <p:cNvPr id="10" name="TextBox 9"/>
          <p:cNvSpPr txBox="1"/>
          <p:nvPr/>
        </p:nvSpPr>
        <p:spPr>
          <a:xfrm>
            <a:off x="6492240" y="1783080"/>
            <a:ext cx="5303520" cy="1691640"/>
          </a:xfrm>
          <a:prstGeom prst="rect">
            <a:avLst/>
          </a:prstGeom>
          <a:noFill/>
        </p:spPr>
        <p:txBody>
          <a:bodyPr wrap="square">
            <a:spAutoFit/>
          </a:bodyPr>
          <a:lstStyle/>
          <a:p>
            <a:pPr algn="l"/>
            <a:r>
              <a:rPr sz="1000" b="0">
                <a:solidFill>
                  <a:srgbClr val="FFFFFF"/>
                </a:solidFill>
              </a:rPr>
              <a:t>A bad habit run fast is still a bad habit, and it eventually breaks you. We will spend the entire October conditioning block on mechanics before we add race-pace volume. This is the foundation that lets everything else work.</a:t>
            </a:r>
          </a:p>
        </p:txBody>
      </p:sp>
      <p:sp>
        <p:nvSpPr>
          <p:cNvPr id="11" name="Rectangle 10"/>
          <p:cNvSpPr/>
          <p:nvPr/>
        </p:nvSpPr>
        <p:spPr>
          <a:xfrm>
            <a:off x="365760" y="3840480"/>
            <a:ext cx="5669280" cy="237744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950208"/>
            <a:ext cx="5303520" cy="457200"/>
          </a:xfrm>
          <a:prstGeom prst="rect">
            <a:avLst/>
          </a:prstGeom>
          <a:noFill/>
        </p:spPr>
        <p:txBody>
          <a:bodyPr wrap="square">
            <a:spAutoFit/>
          </a:bodyPr>
          <a:lstStyle/>
          <a:p>
            <a:pPr algn="l"/>
            <a:r>
              <a:rPr sz="1100" b="1">
                <a:solidFill>
                  <a:srgbClr val="B4E6C3"/>
                </a:solidFill>
              </a:rPr>
              <a:t>BODY KNOWLEDGE IS AN ATHLETIC SKILL.</a:t>
            </a:r>
          </a:p>
        </p:txBody>
      </p:sp>
      <p:sp>
        <p:nvSpPr>
          <p:cNvPr id="13" name="TextBox 12"/>
          <p:cNvSpPr txBox="1"/>
          <p:nvPr/>
        </p:nvSpPr>
        <p:spPr>
          <a:xfrm>
            <a:off x="548640" y="4434840"/>
            <a:ext cx="5303520" cy="1691640"/>
          </a:xfrm>
          <a:prstGeom prst="rect">
            <a:avLst/>
          </a:prstGeom>
          <a:noFill/>
        </p:spPr>
        <p:txBody>
          <a:bodyPr wrap="square">
            <a:spAutoFit/>
          </a:bodyPr>
          <a:lstStyle/>
          <a:p>
            <a:pPr algn="l"/>
            <a:r>
              <a:rPr sz="1000" b="0">
                <a:solidFill>
                  <a:srgbClr val="FFFFFF"/>
                </a:solidFill>
              </a:rPr>
              <a:t>Athletes who can read their own fatigue and pain make better decisions than coaches can from the sideline. We teach body awareness alongside sprint mechanics. If something hurts outside of normal training load, say it.</a:t>
            </a:r>
          </a:p>
        </p:txBody>
      </p:sp>
      <p:sp>
        <p:nvSpPr>
          <p:cNvPr id="14" name="Rectangle 13"/>
          <p:cNvSpPr/>
          <p:nvPr/>
        </p:nvSpPr>
        <p:spPr>
          <a:xfrm>
            <a:off x="6309360" y="3840480"/>
            <a:ext cx="5669280" cy="2377440"/>
          </a:xfrm>
          <a:prstGeom prst="rect">
            <a:avLst/>
          </a:prstGeom>
          <a:solidFill>
            <a:srgbClr val="0A37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950208"/>
            <a:ext cx="5303520" cy="457200"/>
          </a:xfrm>
          <a:prstGeom prst="rect">
            <a:avLst/>
          </a:prstGeom>
          <a:noFill/>
        </p:spPr>
        <p:txBody>
          <a:bodyPr wrap="square">
            <a:spAutoFit/>
          </a:bodyPr>
          <a:lstStyle/>
          <a:p>
            <a:pPr algn="l"/>
            <a:r>
              <a:rPr sz="1100" b="1">
                <a:solidFill>
                  <a:srgbClr val="B4E6C3"/>
                </a:solidFill>
              </a:rPr>
              <a:t>EFFORT IS REQUIRED. EXCUSES ARE NOT.</a:t>
            </a:r>
          </a:p>
        </p:txBody>
      </p:sp>
      <p:sp>
        <p:nvSpPr>
          <p:cNvPr id="16" name="TextBox 15"/>
          <p:cNvSpPr txBox="1"/>
          <p:nvPr/>
        </p:nvSpPr>
        <p:spPr>
          <a:xfrm>
            <a:off x="6492240" y="4434840"/>
            <a:ext cx="5303520" cy="1691640"/>
          </a:xfrm>
          <a:prstGeom prst="rect">
            <a:avLst/>
          </a:prstGeom>
          <a:noFill/>
        </p:spPr>
        <p:txBody>
          <a:bodyPr wrap="square">
            <a:spAutoFit/>
          </a:bodyPr>
          <a:lstStyle/>
          <a:p>
            <a:pPr algn="l"/>
            <a:r>
              <a:rPr sz="1000" b="0">
                <a:solidFill>
                  <a:srgbClr val="FFFFFF"/>
                </a:solidFill>
              </a:rPr>
              <a:t>We do not care about your circumstances on the track. Every athlete here has something going on. What separates the ones who make it is the ability to compete anyway. Complaints belong off the track. Effort belongs on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2027 MEET SCHEDULE</a:t>
            </a:r>
          </a:p>
        </p:txBody>
      </p:sp>
      <p:graphicFrame>
        <p:nvGraphicFramePr>
          <p:cNvPr id="4" name="Table 3"/>
          <p:cNvGraphicFramePr>
            <a:graphicFrameLocks noGrp="1"/>
          </p:cNvGraphicFramePr>
          <p:nvPr/>
        </p:nvGraphicFramePr>
        <p:xfrm>
          <a:off x="365760" y="1005840"/>
          <a:ext cx="11430000" cy="5577840"/>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429064">
                <a:tc>
                  <a:txBody>
                    <a:bodyPr/>
                    <a:lstStyle/>
                    <a:p>
                      <a:r>
                        <a:rPr b="1" sz="1100">
                          <a:solidFill>
                            <a:srgbClr val="FFFFFF"/>
                          </a:solidFill>
                        </a:rPr>
                        <a:t>Date</a:t>
                      </a:r>
                    </a:p>
                  </a:txBody>
                  <a:tcPr>
                    <a:solidFill>
                      <a:srgbClr val="145A2D"/>
                    </a:solidFill>
                  </a:tcPr>
                </a:tc>
                <a:tc>
                  <a:txBody>
                    <a:bodyPr/>
                    <a:lstStyle/>
                    <a:p>
                      <a:r>
                        <a:rPr b="1" sz="1100">
                          <a:solidFill>
                            <a:srgbClr val="FFFFFF"/>
                          </a:solidFill>
                        </a:rPr>
                        <a:t>Meet Name</a:t>
                      </a:r>
                    </a:p>
                  </a:txBody>
                  <a:tcPr>
                    <a:solidFill>
                      <a:srgbClr val="145A2D"/>
                    </a:solidFill>
                  </a:tcPr>
                </a:tc>
                <a:tc>
                  <a:txBody>
                    <a:bodyPr/>
                    <a:lstStyle/>
                    <a:p>
                      <a:r>
                        <a:rPr b="1" sz="1100">
                          <a:solidFill>
                            <a:srgbClr val="FFFFFF"/>
                          </a:solidFill>
                        </a:rPr>
                        <a:t>Location</a:t>
                      </a:r>
                    </a:p>
                  </a:txBody>
                  <a:tcPr>
                    <a:solidFill>
                      <a:srgbClr val="145A2D"/>
                    </a:solidFill>
                  </a:tcPr>
                </a:tc>
                <a:tc>
                  <a:txBody>
                    <a:bodyPr/>
                    <a:lstStyle/>
                    <a:p>
                      <a:r>
                        <a:rPr b="1" sz="1100">
                          <a:solidFill>
                            <a:srgbClr val="FFFFFF"/>
                          </a:solidFill>
                        </a:rPr>
                        <a:t>Level</a:t>
                      </a:r>
                    </a:p>
                  </a:txBody>
                  <a:tcPr>
                    <a:solidFill>
                      <a:srgbClr val="145A2D"/>
                    </a:solidFill>
                  </a:tcPr>
                </a:tc>
                <a:tc>
                  <a:txBody>
                    <a:bodyPr/>
                    <a:lstStyle/>
                    <a:p>
                      <a:r>
                        <a:rPr b="1" sz="1100">
                          <a:solidFill>
                            <a:srgbClr val="FFFFFF"/>
                          </a:solidFill>
                        </a:rPr>
                        <a:t>Notes</a:t>
                      </a:r>
                    </a:p>
                  </a:txBody>
                  <a:tcPr>
                    <a:solidFill>
                      <a:srgbClr val="145A2D"/>
                    </a:solidFill>
                  </a:tcPr>
                </a:tc>
              </a:tr>
              <a:tr h="429064">
                <a:tc>
                  <a:txBody>
                    <a:bodyPr/>
                    <a:lstStyle/>
                    <a:p>
                      <a:r>
                        <a:rPr sz="1000"/>
                        <a:t>Feb 13, 2027</a:t>
                      </a:r>
                    </a:p>
                  </a:txBody>
                  <a:tcPr>
                    <a:solidFill>
                      <a:srgbClr val="F0FAF4"/>
                    </a:solidFill>
                  </a:tcPr>
                </a:tc>
                <a:tc>
                  <a:txBody>
                    <a:bodyPr/>
                    <a:lstStyle/>
                    <a:p>
                      <a:r>
                        <a:rPr sz="1000"/>
                        <a:t>Season Opener Invitational</a:t>
                      </a:r>
                    </a:p>
                  </a:txBody>
                  <a:tcPr>
                    <a:solidFill>
                      <a:srgbClr val="F0FAF4"/>
                    </a:solidFill>
                  </a:tcPr>
                </a:tc>
                <a:tc>
                  <a:txBody>
                    <a:bodyPr/>
                    <a:lstStyle/>
                    <a:p>
                      <a:r>
                        <a:rPr sz="1000"/>
                        <a:t>Crestwood HS</a:t>
                      </a:r>
                    </a:p>
                  </a:txBody>
                  <a:tcPr>
                    <a:solidFill>
                      <a:srgbClr val="F0FAF4"/>
                    </a:solidFill>
                  </a:tcPr>
                </a:tc>
                <a:tc>
                  <a:txBody>
                    <a:bodyPr/>
                    <a:lstStyle/>
                    <a:p>
                      <a:r>
                        <a:rPr sz="1000"/>
                        <a:t>Invitational</a:t>
                      </a:r>
                    </a:p>
                  </a:txBody>
                  <a:tcPr>
                    <a:solidFill>
                      <a:srgbClr val="F0FAF4"/>
                    </a:solidFill>
                  </a:tcPr>
                </a:tc>
                <a:tc>
                  <a:txBody>
                    <a:bodyPr/>
                    <a:lstStyle/>
                    <a:p>
                      <a:r>
                        <a:rPr sz="1000"/>
                        <a:t>Home meet; all athletes compete</a:t>
                      </a:r>
                    </a:p>
                  </a:txBody>
                  <a:tcPr>
                    <a:solidFill>
                      <a:srgbClr val="F0FAF4"/>
                    </a:solidFill>
                  </a:tcPr>
                </a:tc>
              </a:tr>
              <a:tr h="429064">
                <a:tc>
                  <a:txBody>
                    <a:bodyPr/>
                    <a:lstStyle/>
                    <a:p>
                      <a:r>
                        <a:rPr sz="1000"/>
                        <a:t>Feb 20, 2027</a:t>
                      </a:r>
                    </a:p>
                  </a:txBody>
                  <a:tcPr>
                    <a:solidFill>
                      <a:srgbClr val="FFFFFF"/>
                    </a:solidFill>
                  </a:tcPr>
                </a:tc>
                <a:tc>
                  <a:txBody>
                    <a:bodyPr/>
                    <a:lstStyle/>
                    <a:p>
                      <a:r>
                        <a:rPr sz="1000"/>
                        <a:t>Birmingham Indoor Invitational</a:t>
                      </a:r>
                    </a:p>
                  </a:txBody>
                  <a:tcPr>
                    <a:solidFill>
                      <a:srgbClr val="FFFFFF"/>
                    </a:solidFill>
                  </a:tcPr>
                </a:tc>
                <a:tc>
                  <a:txBody>
                    <a:bodyPr/>
                    <a:lstStyle/>
                    <a:p>
                      <a:r>
                        <a:rPr sz="1000"/>
                        <a:t>Birmingham CrossPlex</a:t>
                      </a:r>
                    </a:p>
                  </a:txBody>
                  <a:tcPr>
                    <a:solidFill>
                      <a:srgbClr val="FFFFFF"/>
                    </a:solidFill>
                  </a:tcPr>
                </a:tc>
                <a:tc>
                  <a:txBody>
                    <a:bodyPr/>
                    <a:lstStyle/>
                    <a:p>
                      <a:r>
                        <a:rPr sz="1000"/>
                        <a:t>Invitational</a:t>
                      </a:r>
                    </a:p>
                  </a:txBody>
                  <a:tcPr>
                    <a:solidFill>
                      <a:srgbClr val="FFFFFF"/>
                    </a:solidFill>
                  </a:tcPr>
                </a:tc>
                <a:tc>
                  <a:txBody>
                    <a:bodyPr/>
                    <a:lstStyle/>
                    <a:p>
                      <a:r>
                        <a:rPr sz="1000"/>
                        <a:t>Indoor facility; 60m sprint format</a:t>
                      </a:r>
                    </a:p>
                  </a:txBody>
                  <a:tcPr>
                    <a:solidFill>
                      <a:srgbClr val="FFFFFF"/>
                    </a:solidFill>
                  </a:tcPr>
                </a:tc>
              </a:tr>
              <a:tr h="429064">
                <a:tc>
                  <a:txBody>
                    <a:bodyPr/>
                    <a:lstStyle/>
                    <a:p>
                      <a:r>
                        <a:rPr sz="1000"/>
                        <a:t>Feb 27, 2027</a:t>
                      </a:r>
                    </a:p>
                  </a:txBody>
                  <a:tcPr>
                    <a:solidFill>
                      <a:srgbClr val="F0FAF4"/>
                    </a:solidFill>
                  </a:tcPr>
                </a:tc>
                <a:tc>
                  <a:txBody>
                    <a:bodyPr/>
                    <a:lstStyle/>
                    <a:p>
                      <a:r>
                        <a:rPr sz="1000"/>
                        <a:t>Crestwood Home Classic</a:t>
                      </a:r>
                    </a:p>
                  </a:txBody>
                  <a:tcPr>
                    <a:solidFill>
                      <a:srgbClr val="F0FAF4"/>
                    </a:solidFill>
                  </a:tcPr>
                </a:tc>
                <a:tc>
                  <a:txBody>
                    <a:bodyPr/>
                    <a:lstStyle/>
                    <a:p>
                      <a:r>
                        <a:rPr sz="1000"/>
                        <a:t>Crestwood HS</a:t>
                      </a:r>
                    </a:p>
                  </a:txBody>
                  <a:tcPr>
                    <a:solidFill>
                      <a:srgbClr val="F0FAF4"/>
                    </a:solidFill>
                  </a:tcPr>
                </a:tc>
                <a:tc>
                  <a:txBody>
                    <a:bodyPr/>
                    <a:lstStyle/>
                    <a:p>
                      <a:r>
                        <a:rPr sz="1000"/>
                        <a:t>Invitational</a:t>
                      </a:r>
                    </a:p>
                  </a:txBody>
                  <a:tcPr>
                    <a:solidFill>
                      <a:srgbClr val="F0FAF4"/>
                    </a:solidFill>
                  </a:tcPr>
                </a:tc>
                <a:tc>
                  <a:txBody>
                    <a:bodyPr/>
                    <a:lstStyle/>
                    <a:p>
                      <a:r>
                        <a:rPr sz="1000"/>
                        <a:t>Alumni recognition night</a:t>
                      </a:r>
                    </a:p>
                  </a:txBody>
                  <a:tcPr>
                    <a:solidFill>
                      <a:srgbClr val="F0FAF4"/>
                    </a:solidFill>
                  </a:tcPr>
                </a:tc>
              </a:tr>
              <a:tr h="429064">
                <a:tc>
                  <a:txBody>
                    <a:bodyPr/>
                    <a:lstStyle/>
                    <a:p>
                      <a:r>
                        <a:rPr sz="1000"/>
                        <a:t>Mar 6, 2027</a:t>
                      </a:r>
                    </a:p>
                  </a:txBody>
                  <a:tcPr>
                    <a:solidFill>
                      <a:srgbClr val="FFFFFF"/>
                    </a:solidFill>
                  </a:tcPr>
                </a:tc>
                <a:tc>
                  <a:txBody>
                    <a:bodyPr/>
                    <a:lstStyle/>
                    <a:p>
                      <a:r>
                        <a:rPr sz="1000"/>
                        <a:t>Pelham Invitational</a:t>
                      </a:r>
                    </a:p>
                  </a:txBody>
                  <a:tcPr>
                    <a:solidFill>
                      <a:srgbClr val="FFFFFF"/>
                    </a:solidFill>
                  </a:tcPr>
                </a:tc>
                <a:tc>
                  <a:txBody>
                    <a:bodyPr/>
                    <a:lstStyle/>
                    <a:p>
                      <a:r>
                        <a:rPr sz="1000"/>
                        <a:t>Pelham HS</a:t>
                      </a:r>
                    </a:p>
                  </a:txBody>
                  <a:tcPr>
                    <a:solidFill>
                      <a:srgbClr val="FFFFFF"/>
                    </a:solidFill>
                  </a:tcPr>
                </a:tc>
                <a:tc>
                  <a:txBody>
                    <a:bodyPr/>
                    <a:lstStyle/>
                    <a:p>
                      <a:r>
                        <a:rPr sz="1000"/>
                        <a:t>Invitational</a:t>
                      </a:r>
                    </a:p>
                  </a:txBody>
                  <a:tcPr>
                    <a:solidFill>
                      <a:srgbClr val="FFFFFF"/>
                    </a:solidFill>
                  </a:tcPr>
                </a:tc>
                <a:tc>
                  <a:txBody>
                    <a:bodyPr/>
                    <a:lstStyle/>
                    <a:p>
                      <a:r>
                        <a:rPr sz="1000"/>
                        <a:t>Strong competition; measure fitness</a:t>
                      </a:r>
                    </a:p>
                  </a:txBody>
                  <a:tcPr>
                    <a:solidFill>
                      <a:srgbClr val="FFFFFF"/>
                    </a:solidFill>
                  </a:tcPr>
                </a:tc>
              </a:tr>
              <a:tr h="429064">
                <a:tc>
                  <a:txBody>
                    <a:bodyPr/>
                    <a:lstStyle/>
                    <a:p>
                      <a:r>
                        <a:rPr sz="1000"/>
                        <a:t>Mar 13, 2027</a:t>
                      </a:r>
                    </a:p>
                  </a:txBody>
                  <a:tcPr>
                    <a:solidFill>
                      <a:srgbClr val="F0FAF4"/>
                    </a:solidFill>
                  </a:tcPr>
                </a:tc>
                <a:tc>
                  <a:txBody>
                    <a:bodyPr/>
                    <a:lstStyle/>
                    <a:p>
                      <a:r>
                        <a:rPr sz="1000"/>
                        <a:t>Mountain Brook Invitational</a:t>
                      </a:r>
                    </a:p>
                  </a:txBody>
                  <a:tcPr>
                    <a:solidFill>
                      <a:srgbClr val="F0FAF4"/>
                    </a:solidFill>
                  </a:tcPr>
                </a:tc>
                <a:tc>
                  <a:txBody>
                    <a:bodyPr/>
                    <a:lstStyle/>
                    <a:p>
                      <a:r>
                        <a:rPr sz="1000"/>
                        <a:t>Mountain Brook HS</a:t>
                      </a:r>
                    </a:p>
                  </a:txBody>
                  <a:tcPr>
                    <a:solidFill>
                      <a:srgbClr val="F0FAF4"/>
                    </a:solidFill>
                  </a:tcPr>
                </a:tc>
                <a:tc>
                  <a:txBody>
                    <a:bodyPr/>
                    <a:lstStyle/>
                    <a:p>
                      <a:r>
                        <a:rPr sz="1000"/>
                        <a:t>Invitational</a:t>
                      </a:r>
                    </a:p>
                  </a:txBody>
                  <a:tcPr>
                    <a:solidFill>
                      <a:srgbClr val="F0FAF4"/>
                    </a:solidFill>
                  </a:tcPr>
                </a:tc>
                <a:tc>
                  <a:txBody>
                    <a:bodyPr/>
                    <a:lstStyle/>
                    <a:p>
                      <a:r>
                        <a:rPr sz="1000"/>
                        <a:t>Key tune-up meet</a:t>
                      </a:r>
                    </a:p>
                  </a:txBody>
                  <a:tcPr>
                    <a:solidFill>
                      <a:srgbClr val="F0FAF4"/>
                    </a:solidFill>
                  </a:tcPr>
                </a:tc>
              </a:tr>
              <a:tr h="429064">
                <a:tc>
                  <a:txBody>
                    <a:bodyPr/>
                    <a:lstStyle/>
                    <a:p>
                      <a:r>
                        <a:rPr sz="1000"/>
                        <a:t>Mar 27, 2027</a:t>
                      </a:r>
                    </a:p>
                  </a:txBody>
                  <a:tcPr>
                    <a:solidFill>
                      <a:srgbClr val="FFFFFF"/>
                    </a:solidFill>
                  </a:tcPr>
                </a:tc>
                <a:tc>
                  <a:txBody>
                    <a:bodyPr/>
                    <a:lstStyle/>
                    <a:p>
                      <a:r>
                        <a:rPr sz="1000"/>
                        <a:t>Jefferson County Dual Meets</a:t>
                      </a:r>
                    </a:p>
                  </a:txBody>
                  <a:tcPr>
                    <a:solidFill>
                      <a:srgbClr val="FFFFFF"/>
                    </a:solidFill>
                  </a:tcPr>
                </a:tc>
                <a:tc>
                  <a:txBody>
                    <a:bodyPr/>
                    <a:lstStyle/>
                    <a:p>
                      <a:r>
                        <a:rPr sz="1000"/>
                        <a:t>Various sites</a:t>
                      </a:r>
                    </a:p>
                  </a:txBody>
                  <a:tcPr>
                    <a:solidFill>
                      <a:srgbClr val="FFFFFF"/>
                    </a:solidFill>
                  </a:tcPr>
                </a:tc>
                <a:tc>
                  <a:txBody>
                    <a:bodyPr/>
                    <a:lstStyle/>
                    <a:p>
                      <a:r>
                        <a:rPr sz="1000"/>
                        <a:t>Dual</a:t>
                      </a:r>
                    </a:p>
                  </a:txBody>
                  <a:tcPr>
                    <a:solidFill>
                      <a:srgbClr val="FFFFFF"/>
                    </a:solidFill>
                  </a:tcPr>
                </a:tc>
                <a:tc>
                  <a:txBody>
                    <a:bodyPr/>
                    <a:lstStyle/>
                    <a:p>
                      <a:r>
                        <a:rPr sz="1000"/>
                        <a:t>Four duals across the county</a:t>
                      </a:r>
                    </a:p>
                  </a:txBody>
                  <a:tcPr>
                    <a:solidFill>
                      <a:srgbClr val="FFFFFF"/>
                    </a:solidFill>
                  </a:tcPr>
                </a:tc>
              </a:tr>
              <a:tr h="429064">
                <a:tc>
                  <a:txBody>
                    <a:bodyPr/>
                    <a:lstStyle/>
                    <a:p>
                      <a:r>
                        <a:rPr sz="1000"/>
                        <a:t>Apr 10, 2027</a:t>
                      </a:r>
                    </a:p>
                  </a:txBody>
                  <a:tcPr>
                    <a:solidFill>
                      <a:srgbClr val="F0FAF4"/>
                    </a:solidFill>
                  </a:tcPr>
                </a:tc>
                <a:tc>
                  <a:txBody>
                    <a:bodyPr/>
                    <a:lstStyle/>
                    <a:p>
                      <a:r>
                        <a:rPr sz="1000"/>
                        <a:t>Oak Mountain Relay Classic</a:t>
                      </a:r>
                    </a:p>
                  </a:txBody>
                  <a:tcPr>
                    <a:solidFill>
                      <a:srgbClr val="F0FAF4"/>
                    </a:solidFill>
                  </a:tcPr>
                </a:tc>
                <a:tc>
                  <a:txBody>
                    <a:bodyPr/>
                    <a:lstStyle/>
                    <a:p>
                      <a:r>
                        <a:rPr sz="1000"/>
                        <a:t>Oak Mountain HS</a:t>
                      </a:r>
                    </a:p>
                  </a:txBody>
                  <a:tcPr>
                    <a:solidFill>
                      <a:srgbClr val="F0FAF4"/>
                    </a:solidFill>
                  </a:tcPr>
                </a:tc>
                <a:tc>
                  <a:txBody>
                    <a:bodyPr/>
                    <a:lstStyle/>
                    <a:p>
                      <a:r>
                        <a:rPr sz="1000"/>
                        <a:t>Invitational</a:t>
                      </a:r>
                    </a:p>
                  </a:txBody>
                  <a:tcPr>
                    <a:solidFill>
                      <a:srgbClr val="F0FAF4"/>
                    </a:solidFill>
                  </a:tcPr>
                </a:tc>
                <a:tc>
                  <a:txBody>
                    <a:bodyPr/>
                    <a:lstStyle/>
                    <a:p>
                      <a:r>
                        <a:rPr sz="1000"/>
                        <a:t>Relay focus; all relay rosters locked</a:t>
                      </a:r>
                    </a:p>
                  </a:txBody>
                  <a:tcPr>
                    <a:solidFill>
                      <a:srgbClr val="F0FAF4"/>
                    </a:solidFill>
                  </a:tcPr>
                </a:tc>
              </a:tr>
              <a:tr h="429064">
                <a:tc>
                  <a:txBody>
                    <a:bodyPr/>
                    <a:lstStyle/>
                    <a:p>
                      <a:r>
                        <a:rPr sz="1000"/>
                        <a:t>Apr 17, 2027</a:t>
                      </a:r>
                    </a:p>
                  </a:txBody>
                  <a:tcPr>
                    <a:solidFill>
                      <a:srgbClr val="FFFFFF"/>
                    </a:solidFill>
                  </a:tcPr>
                </a:tc>
                <a:tc>
                  <a:txBody>
                    <a:bodyPr/>
                    <a:lstStyle/>
                    <a:p>
                      <a:r>
                        <a:rPr sz="1000"/>
                        <a:t>Shelby County Invitational</a:t>
                      </a:r>
                    </a:p>
                  </a:txBody>
                  <a:tcPr>
                    <a:solidFill>
                      <a:srgbClr val="FFFFFF"/>
                    </a:solidFill>
                  </a:tcPr>
                </a:tc>
                <a:tc>
                  <a:txBody>
                    <a:bodyPr/>
                    <a:lstStyle/>
                    <a:p>
                      <a:r>
                        <a:rPr sz="1000"/>
                        <a:t>Chilton County HS</a:t>
                      </a:r>
                    </a:p>
                  </a:txBody>
                  <a:tcPr>
                    <a:solidFill>
                      <a:srgbClr val="FFFFFF"/>
                    </a:solidFill>
                  </a:tcPr>
                </a:tc>
                <a:tc>
                  <a:txBody>
                    <a:bodyPr/>
                    <a:lstStyle/>
                    <a:p>
                      <a:r>
                        <a:rPr sz="1000"/>
                        <a:t>Invitational</a:t>
                      </a:r>
                    </a:p>
                  </a:txBody>
                  <a:tcPr>
                    <a:solidFill>
                      <a:srgbClr val="FFFFFF"/>
                    </a:solidFill>
                  </a:tcPr>
                </a:tc>
                <a:tc>
                  <a:txBody>
                    <a:bodyPr/>
                    <a:lstStyle/>
                    <a:p>
                      <a:r>
                        <a:rPr sz="1000"/>
                        <a:t>Large field; PR conditions</a:t>
                      </a:r>
                    </a:p>
                  </a:txBody>
                  <a:tcPr>
                    <a:solidFill>
                      <a:srgbClr val="FFFFFF"/>
                    </a:solidFill>
                  </a:tcPr>
                </a:tc>
              </a:tr>
              <a:tr h="429064">
                <a:tc>
                  <a:txBody>
                    <a:bodyPr/>
                    <a:lstStyle/>
                    <a:p>
                      <a:r>
                        <a:rPr sz="1000"/>
                        <a:t>May 2, 2027</a:t>
                      </a:r>
                    </a:p>
                  </a:txBody>
                  <a:tcPr>
                    <a:solidFill>
                      <a:srgbClr val="F0FAF4"/>
                    </a:solidFill>
                  </a:tcPr>
                </a:tc>
                <a:tc>
                  <a:txBody>
                    <a:bodyPr/>
                    <a:lstStyle/>
                    <a:p>
                      <a:r>
                        <a:rPr sz="1000"/>
                        <a:t>6A Area 6 Championship</a:t>
                      </a:r>
                    </a:p>
                  </a:txBody>
                  <a:tcPr>
                    <a:solidFill>
                      <a:srgbClr val="F0FAF4"/>
                    </a:solidFill>
                  </a:tcPr>
                </a:tc>
                <a:tc>
                  <a:txBody>
                    <a:bodyPr/>
                    <a:lstStyle/>
                    <a:p>
                      <a:r>
                        <a:rPr sz="1000"/>
                        <a:t>TBD - Area site</a:t>
                      </a:r>
                    </a:p>
                  </a:txBody>
                  <a:tcPr>
                    <a:solidFill>
                      <a:srgbClr val="F0FAF4"/>
                    </a:solidFill>
                  </a:tcPr>
                </a:tc>
                <a:tc>
                  <a:txBody>
                    <a:bodyPr/>
                    <a:lstStyle/>
                    <a:p>
                      <a:r>
                        <a:rPr sz="1000"/>
                        <a:t>Championship</a:t>
                      </a:r>
                    </a:p>
                  </a:txBody>
                  <a:tcPr>
                    <a:solidFill>
                      <a:srgbClr val="F0FAF4"/>
                    </a:solidFill>
                  </a:tcPr>
                </a:tc>
                <a:tc>
                  <a:txBody>
                    <a:bodyPr/>
                    <a:lstStyle/>
                    <a:p>
                      <a:r>
                        <a:rPr sz="1000"/>
                        <a:t>Qualifying meet for Regionals</a:t>
                      </a:r>
                    </a:p>
                  </a:txBody>
                  <a:tcPr>
                    <a:solidFill>
                      <a:srgbClr val="F0FAF4"/>
                    </a:solidFill>
                  </a:tcPr>
                </a:tc>
              </a:tr>
              <a:tr h="429064">
                <a:tc>
                  <a:txBody>
                    <a:bodyPr/>
                    <a:lstStyle/>
                    <a:p>
                      <a:r>
                        <a:rPr sz="1000"/>
                        <a:t>May 9, 2027</a:t>
                      </a:r>
                    </a:p>
                  </a:txBody>
                  <a:tcPr>
                    <a:solidFill>
                      <a:srgbClr val="FFFFFF"/>
                    </a:solidFill>
                  </a:tcPr>
                </a:tc>
                <a:tc>
                  <a:txBody>
                    <a:bodyPr/>
                    <a:lstStyle/>
                    <a:p>
                      <a:r>
                        <a:rPr sz="1000"/>
                        <a:t>6A Sectional</a:t>
                      </a:r>
                    </a:p>
                  </a:txBody>
                  <a:tcPr>
                    <a:solidFill>
                      <a:srgbClr val="FFFFFF"/>
                    </a:solidFill>
                  </a:tcPr>
                </a:tc>
                <a:tc>
                  <a:txBody>
                    <a:bodyPr/>
                    <a:lstStyle/>
                    <a:p>
                      <a:r>
                        <a:rPr sz="1000"/>
                        <a:t>TBD</a:t>
                      </a:r>
                    </a:p>
                  </a:txBody>
                  <a:tcPr>
                    <a:solidFill>
                      <a:srgbClr val="FFFFFF"/>
                    </a:solidFill>
                  </a:tcPr>
                </a:tc>
                <a:tc>
                  <a:txBody>
                    <a:bodyPr/>
                    <a:lstStyle/>
                    <a:p>
                      <a:r>
                        <a:rPr sz="1000"/>
                        <a:t>Championship</a:t>
                      </a:r>
                    </a:p>
                  </a:txBody>
                  <a:tcPr>
                    <a:solidFill>
                      <a:srgbClr val="FFFFFF"/>
                    </a:solidFill>
                  </a:tcPr>
                </a:tc>
                <a:tc>
                  <a:txBody>
                    <a:bodyPr/>
                    <a:lstStyle/>
                    <a:p>
                      <a:r>
                        <a:rPr sz="1000"/>
                        <a:t>Top qualifiers advance to State</a:t>
                      </a:r>
                    </a:p>
                  </a:txBody>
                  <a:tcPr>
                    <a:solidFill>
                      <a:srgbClr val="FFFFFF"/>
                    </a:solidFill>
                  </a:tcPr>
                </a:tc>
              </a:tr>
              <a:tr h="429064">
                <a:tc>
                  <a:txBody>
                    <a:bodyPr/>
                    <a:lstStyle/>
                    <a:p>
                      <a:r>
                        <a:rPr sz="1000"/>
                        <a:t>May 17, 2027</a:t>
                      </a:r>
                    </a:p>
                  </a:txBody>
                  <a:tcPr>
                    <a:solidFill>
                      <a:srgbClr val="F0FAF4"/>
                    </a:solidFill>
                  </a:tcPr>
                </a:tc>
                <a:tc>
                  <a:txBody>
                    <a:bodyPr/>
                    <a:lstStyle/>
                    <a:p>
                      <a:r>
                        <a:rPr sz="1000"/>
                        <a:t>6A Regional Championship</a:t>
                      </a:r>
                    </a:p>
                  </a:txBody>
                  <a:tcPr>
                    <a:solidFill>
                      <a:srgbClr val="F0FAF4"/>
                    </a:solidFill>
                  </a:tcPr>
                </a:tc>
                <a:tc>
                  <a:txBody>
                    <a:bodyPr/>
                    <a:lstStyle/>
                    <a:p>
                      <a:r>
                        <a:rPr sz="1000"/>
                        <a:t>TBD</a:t>
                      </a:r>
                    </a:p>
                  </a:txBody>
                  <a:tcPr>
                    <a:solidFill>
                      <a:srgbClr val="F0FAF4"/>
                    </a:solidFill>
                  </a:tcPr>
                </a:tc>
                <a:tc>
                  <a:txBody>
                    <a:bodyPr/>
                    <a:lstStyle/>
                    <a:p>
                      <a:r>
                        <a:rPr sz="1000"/>
                        <a:t>Championship</a:t>
                      </a:r>
                    </a:p>
                  </a:txBody>
                  <a:tcPr>
                    <a:solidFill>
                      <a:srgbClr val="F0FAF4"/>
                    </a:solidFill>
                  </a:tcPr>
                </a:tc>
                <a:tc>
                  <a:txBody>
                    <a:bodyPr/>
                    <a:lstStyle/>
                    <a:p>
                      <a:r>
                        <a:rPr sz="1000"/>
                        <a:t>State qualifying; top 2 advance</a:t>
                      </a:r>
                    </a:p>
                  </a:txBody>
                  <a:tcPr>
                    <a:solidFill>
                      <a:srgbClr val="F0FAF4"/>
                    </a:solidFill>
                  </a:tcPr>
                </a:tc>
              </a:tr>
              <a:tr h="429072">
                <a:tc>
                  <a:txBody>
                    <a:bodyPr/>
                    <a:lstStyle/>
                    <a:p>
                      <a:r>
                        <a:rPr sz="1000"/>
                        <a:t>Jun 5, 2027</a:t>
                      </a:r>
                    </a:p>
                  </a:txBody>
                  <a:tcPr>
                    <a:solidFill>
                      <a:srgbClr val="FFFFFF"/>
                    </a:solidFill>
                  </a:tcPr>
                </a:tc>
                <a:tc>
                  <a:txBody>
                    <a:bodyPr/>
                    <a:lstStyle/>
                    <a:p>
                      <a:r>
                        <a:rPr sz="1000"/>
                        <a:t>AHSAA 6A State Championship</a:t>
                      </a:r>
                    </a:p>
                  </a:txBody>
                  <a:tcPr>
                    <a:solidFill>
                      <a:srgbClr val="FFFFFF"/>
                    </a:solidFill>
                  </a:tcPr>
                </a:tc>
                <a:tc>
                  <a:txBody>
                    <a:bodyPr/>
                    <a:lstStyle/>
                    <a:p>
                      <a:r>
                        <a:rPr sz="1000"/>
                        <a:t>Gulf Shores, AL</a:t>
                      </a:r>
                    </a:p>
                  </a:txBody>
                  <a:tcPr>
                    <a:solidFill>
                      <a:srgbClr val="FFFFFF"/>
                    </a:solidFill>
                  </a:tcPr>
                </a:tc>
                <a:tc>
                  <a:txBody>
                    <a:bodyPr/>
                    <a:lstStyle/>
                    <a:p>
                      <a:r>
                        <a:rPr sz="1000"/>
                        <a:t>State</a:t>
                      </a:r>
                    </a:p>
                  </a:txBody>
                  <a:tcPr>
                    <a:solidFill>
                      <a:srgbClr val="FFFFFF"/>
                    </a:solidFill>
                  </a:tcPr>
                </a:tc>
                <a:tc>
                  <a:txBody>
                    <a:bodyPr/>
                    <a:lstStyle/>
                    <a:p>
                      <a:r>
                        <a:rPr sz="1000"/>
                        <a:t>Season endpoint; Devon's final showcase</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45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594360"/>
          </a:xfrm>
          <a:prstGeom prst="rect">
            <a:avLst/>
          </a:prstGeom>
          <a:noFill/>
        </p:spPr>
        <p:txBody>
          <a:bodyPr wrap="square">
            <a:spAutoFit/>
          </a:bodyPr>
          <a:lstStyle/>
          <a:p>
            <a:pPr algn="l"/>
            <a:r>
              <a:rPr sz="2200" b="1">
                <a:solidFill>
                  <a:srgbClr val="FFFFFF"/>
                </a:solidFill>
              </a:rPr>
              <a:t>PROGRAM OUTLOOK &amp; RECRUITING</a:t>
            </a:r>
          </a:p>
        </p:txBody>
      </p:sp>
      <p:sp>
        <p:nvSpPr>
          <p:cNvPr id="4" name="Rectangle 3"/>
          <p:cNvSpPr/>
          <p:nvPr/>
        </p:nvSpPr>
        <p:spPr>
          <a:xfrm>
            <a:off x="365760" y="1005840"/>
            <a:ext cx="5486400" cy="5394960"/>
          </a:xfrm>
          <a:prstGeom prst="rect">
            <a:avLst/>
          </a:prstGeom>
          <a:solidFill>
            <a:srgbClr val="E1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5120640" cy="411480"/>
          </a:xfrm>
          <a:prstGeom prst="rect">
            <a:avLst/>
          </a:prstGeom>
          <a:noFill/>
        </p:spPr>
        <p:txBody>
          <a:bodyPr wrap="square">
            <a:spAutoFit/>
          </a:bodyPr>
          <a:lstStyle/>
          <a:p>
            <a:pPr algn="l"/>
            <a:r>
              <a:rPr sz="1400" b="1">
                <a:solidFill>
                  <a:srgbClr val="145A2D"/>
                </a:solidFill>
              </a:rPr>
              <a:t>DIVISION I PROSPECTS</a:t>
            </a:r>
          </a:p>
        </p:txBody>
      </p:sp>
      <p:graphicFrame>
        <p:nvGraphicFramePr>
          <p:cNvPr id="6" name="Table 5"/>
          <p:cNvGraphicFramePr>
            <a:graphicFrameLocks noGrp="1"/>
          </p:cNvGraphicFramePr>
          <p:nvPr/>
        </p:nvGraphicFramePr>
        <p:xfrm>
          <a:off x="365760" y="1600200"/>
          <a:ext cx="5394960" cy="2194560"/>
        </p:xfrm>
        <a:graphic>
          <a:graphicData uri="http://schemas.openxmlformats.org/drawingml/2006/table">
            <a:tbl>
              <a:tblPr firstRow="1" bandRow="1">
                <a:tableStyleId>{5C22544A-7EE6-4342-B048-85BDC9FD1C3A}</a:tableStyleId>
              </a:tblPr>
              <a:tblGrid>
                <a:gridCol w="1798320"/>
                <a:gridCol w="1798320"/>
                <a:gridCol w="1798320"/>
              </a:tblGrid>
              <a:tr h="365760">
                <a:tc>
                  <a:txBody>
                    <a:bodyPr/>
                    <a:lstStyle/>
                    <a:p>
                      <a:r>
                        <a:rPr b="1" sz="1100">
                          <a:solidFill>
                            <a:srgbClr val="FFFFFF"/>
                          </a:solidFill>
                        </a:rPr>
                        <a:t>Athlete</a:t>
                      </a:r>
                    </a:p>
                  </a:txBody>
                  <a:tcPr>
                    <a:solidFill>
                      <a:srgbClr val="145A2D"/>
                    </a:solidFill>
                  </a:tcPr>
                </a:tc>
                <a:tc>
                  <a:txBody>
                    <a:bodyPr/>
                    <a:lstStyle/>
                    <a:p>
                      <a:r>
                        <a:rPr b="1" sz="1100">
                          <a:solidFill>
                            <a:srgbClr val="FFFFFF"/>
                          </a:solidFill>
                        </a:rPr>
                        <a:t>Event</a:t>
                      </a:r>
                    </a:p>
                  </a:txBody>
                  <a:tcPr>
                    <a:solidFill>
                      <a:srgbClr val="145A2D"/>
                    </a:solidFill>
                  </a:tcPr>
                </a:tc>
                <a:tc>
                  <a:txBody>
                    <a:bodyPr/>
                    <a:lstStyle/>
                    <a:p>
                      <a:r>
                        <a:rPr b="1" sz="1100">
                          <a:solidFill>
                            <a:srgbClr val="FFFFFF"/>
                          </a:solidFill>
                        </a:rPr>
                        <a:t>D-I Target Level</a:t>
                      </a:r>
                    </a:p>
                  </a:txBody>
                  <a:tcPr>
                    <a:solidFill>
                      <a:srgbClr val="145A2D"/>
                    </a:solidFill>
                  </a:tcPr>
                </a:tc>
              </a:tr>
              <a:tr h="365760">
                <a:tc>
                  <a:txBody>
                    <a:bodyPr/>
                    <a:lstStyle/>
                    <a:p>
                      <a:r>
                        <a:rPr sz="1000"/>
                        <a:t>Devon Mitchell</a:t>
                      </a:r>
                    </a:p>
                  </a:txBody>
                  <a:tcPr>
                    <a:solidFill>
                      <a:srgbClr val="F0FAF4"/>
                    </a:solidFill>
                  </a:tcPr>
                </a:tc>
                <a:tc>
                  <a:txBody>
                    <a:bodyPr/>
                    <a:lstStyle/>
                    <a:p>
                      <a:r>
                        <a:rPr sz="1000"/>
                        <a:t>100m / 200m / 110mH</a:t>
                      </a:r>
                    </a:p>
                  </a:txBody>
                  <a:tcPr>
                    <a:solidFill>
                      <a:srgbClr val="F0FAF4"/>
                    </a:solidFill>
                  </a:tcPr>
                </a:tc>
                <a:tc>
                  <a:txBody>
                    <a:bodyPr/>
                    <a:lstStyle/>
                    <a:p>
                      <a:r>
                        <a:rPr sz="1000"/>
                        <a:t>Power 5 or Group of 5</a:t>
                      </a:r>
                    </a:p>
                  </a:txBody>
                  <a:tcPr>
                    <a:solidFill>
                      <a:srgbClr val="F0FAF4"/>
                    </a:solidFill>
                  </a:tcPr>
                </a:tc>
              </a:tr>
              <a:tr h="365760">
                <a:tc>
                  <a:txBody>
                    <a:bodyPr/>
                    <a:lstStyle/>
                    <a:p>
                      <a:r>
                        <a:rPr sz="1000"/>
                        <a:t>Marcus Owens</a:t>
                      </a:r>
                    </a:p>
                  </a:txBody>
                  <a:tcPr>
                    <a:solidFill>
                      <a:srgbClr val="FFFFFF"/>
                    </a:solidFill>
                  </a:tcPr>
                </a:tc>
                <a:tc>
                  <a:txBody>
                    <a:bodyPr/>
                    <a:lstStyle/>
                    <a:p>
                      <a:r>
                        <a:rPr sz="1000"/>
                        <a:t>400m</a:t>
                      </a:r>
                    </a:p>
                  </a:txBody>
                  <a:tcPr>
                    <a:solidFill>
                      <a:srgbClr val="FFFFFF"/>
                    </a:solidFill>
                  </a:tcPr>
                </a:tc>
                <a:tc>
                  <a:txBody>
                    <a:bodyPr/>
                    <a:lstStyle/>
                    <a:p>
                      <a:r>
                        <a:rPr sz="1000"/>
                        <a:t>Group of 5 or MAC</a:t>
                      </a:r>
                    </a:p>
                  </a:txBody>
                  <a:tcPr>
                    <a:solidFill>
                      <a:srgbClr val="FFFFFF"/>
                    </a:solidFill>
                  </a:tcPr>
                </a:tc>
              </a:tr>
              <a:tr h="365760">
                <a:tc>
                  <a:txBody>
                    <a:bodyPr/>
                    <a:lstStyle/>
                    <a:p>
                      <a:r>
                        <a:rPr sz="1000"/>
                        <a:t>James Tillman</a:t>
                      </a:r>
                    </a:p>
                  </a:txBody>
                  <a:tcPr>
                    <a:solidFill>
                      <a:srgbClr val="F0FAF4"/>
                    </a:solidFill>
                  </a:tcPr>
                </a:tc>
                <a:tc>
                  <a:txBody>
                    <a:bodyPr/>
                    <a:lstStyle/>
                    <a:p>
                      <a:r>
                        <a:rPr sz="1000"/>
                        <a:t>800m / 1600m</a:t>
                      </a:r>
                    </a:p>
                  </a:txBody>
                  <a:tcPr>
                    <a:solidFill>
                      <a:srgbClr val="F0FAF4"/>
                    </a:solidFill>
                  </a:tcPr>
                </a:tc>
                <a:tc>
                  <a:txBody>
                    <a:bodyPr/>
                    <a:lstStyle/>
                    <a:p>
                      <a:r>
                        <a:rPr sz="1000"/>
                        <a:t>Mid-major D-I</a:t>
                      </a:r>
                    </a:p>
                  </a:txBody>
                  <a:tcPr>
                    <a:solidFill>
                      <a:srgbClr val="F0FAF4"/>
                    </a:solidFill>
                  </a:tcPr>
                </a:tc>
              </a:tr>
              <a:tr h="365760">
                <a:tc>
                  <a:txBody>
                    <a:bodyPr/>
                    <a:lstStyle/>
                    <a:p>
                      <a:r>
                        <a:rPr sz="1000"/>
                        <a:t>Calvin Webb</a:t>
                      </a:r>
                    </a:p>
                  </a:txBody>
                  <a:tcPr>
                    <a:solidFill>
                      <a:srgbClr val="FFFFFF"/>
                    </a:solidFill>
                  </a:tcPr>
                </a:tc>
                <a:tc>
                  <a:txBody>
                    <a:bodyPr/>
                    <a:lstStyle/>
                    <a:p>
                      <a:r>
                        <a:rPr sz="1000"/>
                        <a:t>Long Jump / 100m</a:t>
                      </a:r>
                    </a:p>
                  </a:txBody>
                  <a:tcPr>
                    <a:solidFill>
                      <a:srgbClr val="FFFFFF"/>
                    </a:solidFill>
                  </a:tcPr>
                </a:tc>
                <a:tc>
                  <a:txBody>
                    <a:bodyPr/>
                    <a:lstStyle/>
                    <a:p>
                      <a:r>
                        <a:rPr sz="1000"/>
                        <a:t>D-I or D-II evaluation</a:t>
                      </a:r>
                    </a:p>
                  </a:txBody>
                  <a:tcPr>
                    <a:solidFill>
                      <a:srgbClr val="FFFFFF"/>
                    </a:solidFill>
                  </a:tcPr>
                </a:tc>
              </a:tr>
              <a:tr h="365760">
                <a:tc>
                  <a:txBody>
                    <a:bodyPr/>
                    <a:lstStyle/>
                    <a:p>
                      <a:r>
                        <a:rPr sz="1000"/>
                        <a:t>Amara Johnson</a:t>
                      </a:r>
                    </a:p>
                  </a:txBody>
                  <a:tcPr>
                    <a:solidFill>
                      <a:srgbClr val="F0FAF4"/>
                    </a:solidFill>
                  </a:tcPr>
                </a:tc>
                <a:tc>
                  <a:txBody>
                    <a:bodyPr/>
                    <a:lstStyle/>
                    <a:p>
                      <a:r>
                        <a:rPr sz="1000"/>
                        <a:t>100m / 200m</a:t>
                      </a:r>
                    </a:p>
                  </a:txBody>
                  <a:tcPr>
                    <a:solidFill>
                      <a:srgbClr val="F0FAF4"/>
                    </a:solidFill>
                  </a:tcPr>
                </a:tc>
                <a:tc>
                  <a:txBody>
                    <a:bodyPr/>
                    <a:lstStyle/>
                    <a:p>
                      <a:r>
                        <a:rPr sz="1000"/>
                        <a:t>D-I or D-II evaluation</a:t>
                      </a:r>
                    </a:p>
                  </a:txBody>
                  <a:tcPr>
                    <a:solidFill>
                      <a:srgbClr val="F0FAF4"/>
                    </a:solidFill>
                  </a:tcPr>
                </a:tc>
              </a:tr>
            </a:tbl>
          </a:graphicData>
        </a:graphic>
      </p:graphicFrame>
      <p:sp>
        <p:nvSpPr>
          <p:cNvPr id="7" name="TextBox 6"/>
          <p:cNvSpPr txBox="1"/>
          <p:nvPr/>
        </p:nvSpPr>
        <p:spPr>
          <a:xfrm>
            <a:off x="548640" y="3931920"/>
            <a:ext cx="5120640" cy="411480"/>
          </a:xfrm>
          <a:prstGeom prst="rect">
            <a:avLst/>
          </a:prstGeom>
          <a:noFill/>
        </p:spPr>
        <p:txBody>
          <a:bodyPr wrap="square">
            <a:spAutoFit/>
          </a:bodyPr>
          <a:lstStyle/>
          <a:p>
            <a:pPr algn="l"/>
            <a:r>
              <a:rPr sz="1300" b="1">
                <a:solidFill>
                  <a:srgbClr val="145A2D"/>
                </a:solidFill>
              </a:rPr>
              <a:t>RECRUITING SUPPORT PROVIDED</a:t>
            </a:r>
          </a:p>
        </p:txBody>
      </p:sp>
      <p:sp>
        <p:nvSpPr>
          <p:cNvPr id="8" name="TextBox 7"/>
          <p:cNvSpPr txBox="1"/>
          <p:nvPr/>
        </p:nvSpPr>
        <p:spPr>
          <a:xfrm>
            <a:off x="548640" y="4434840"/>
            <a:ext cx="5212080" cy="256032"/>
          </a:xfrm>
          <a:prstGeom prst="rect">
            <a:avLst/>
          </a:prstGeom>
          <a:noFill/>
        </p:spPr>
        <p:txBody>
          <a:bodyPr wrap="square">
            <a:spAutoFit/>
          </a:bodyPr>
          <a:lstStyle/>
          <a:p>
            <a:pPr algn="l"/>
            <a:r>
              <a:rPr sz="1000" b="0">
                <a:solidFill>
                  <a:srgbClr val="1E3C28"/>
                </a:solidFill>
              </a:rPr>
              <a:t>- Video reel production from practice and meet film</a:t>
            </a:r>
          </a:p>
        </p:txBody>
      </p:sp>
      <p:sp>
        <p:nvSpPr>
          <p:cNvPr id="9" name="TextBox 8"/>
          <p:cNvSpPr txBox="1"/>
          <p:nvPr/>
        </p:nvSpPr>
        <p:spPr>
          <a:xfrm>
            <a:off x="548640" y="4709159"/>
            <a:ext cx="5212080" cy="256032"/>
          </a:xfrm>
          <a:prstGeom prst="rect">
            <a:avLst/>
          </a:prstGeom>
          <a:noFill/>
        </p:spPr>
        <p:txBody>
          <a:bodyPr wrap="square">
            <a:spAutoFit/>
          </a:bodyPr>
          <a:lstStyle/>
          <a:p>
            <a:pPr algn="l"/>
            <a:r>
              <a:rPr sz="1000" b="0">
                <a:solidFill>
                  <a:srgbClr val="1E3C28"/>
                </a:solidFill>
              </a:rPr>
              <a:t>- Direct outreach to college program contacts</a:t>
            </a:r>
          </a:p>
        </p:txBody>
      </p:sp>
      <p:sp>
        <p:nvSpPr>
          <p:cNvPr id="10" name="TextBox 9"/>
          <p:cNvSpPr txBox="1"/>
          <p:nvPr/>
        </p:nvSpPr>
        <p:spPr>
          <a:xfrm>
            <a:off x="548640" y="4983479"/>
            <a:ext cx="5212080" cy="256032"/>
          </a:xfrm>
          <a:prstGeom prst="rect">
            <a:avLst/>
          </a:prstGeom>
          <a:noFill/>
        </p:spPr>
        <p:txBody>
          <a:bodyPr wrap="square">
            <a:spAutoFit/>
          </a:bodyPr>
          <a:lstStyle/>
          <a:p>
            <a:pPr algn="l"/>
            <a:r>
              <a:rPr sz="1000" b="0">
                <a:solidFill>
                  <a:srgbClr val="1E3C28"/>
                </a:solidFill>
              </a:rPr>
              <a:t>- Recruiting profile packet (marks, academics, assessment)</a:t>
            </a:r>
          </a:p>
        </p:txBody>
      </p:sp>
      <p:sp>
        <p:nvSpPr>
          <p:cNvPr id="11" name="TextBox 10"/>
          <p:cNvSpPr txBox="1"/>
          <p:nvPr/>
        </p:nvSpPr>
        <p:spPr>
          <a:xfrm>
            <a:off x="548640" y="5257800"/>
            <a:ext cx="5212080" cy="256032"/>
          </a:xfrm>
          <a:prstGeom prst="rect">
            <a:avLst/>
          </a:prstGeom>
          <a:noFill/>
        </p:spPr>
        <p:txBody>
          <a:bodyPr wrap="square">
            <a:spAutoFit/>
          </a:bodyPr>
          <a:lstStyle/>
          <a:p>
            <a:pPr algn="l"/>
            <a:r>
              <a:rPr sz="1000" b="0">
                <a:solidFill>
                  <a:srgbClr val="1E3C28"/>
                </a:solidFill>
              </a:rPr>
              <a:t>- Coach-to-coach calls for athletes and families</a:t>
            </a:r>
          </a:p>
        </p:txBody>
      </p:sp>
      <p:sp>
        <p:nvSpPr>
          <p:cNvPr id="12" name="TextBox 11"/>
          <p:cNvSpPr txBox="1"/>
          <p:nvPr/>
        </p:nvSpPr>
        <p:spPr>
          <a:xfrm>
            <a:off x="548640" y="5532120"/>
            <a:ext cx="5212080" cy="256032"/>
          </a:xfrm>
          <a:prstGeom prst="rect">
            <a:avLst/>
          </a:prstGeom>
          <a:noFill/>
        </p:spPr>
        <p:txBody>
          <a:bodyPr wrap="square">
            <a:spAutoFit/>
          </a:bodyPr>
          <a:lstStyle/>
          <a:p>
            <a:pPr algn="l"/>
            <a:r>
              <a:rPr sz="1000" b="0">
                <a:solidFill>
                  <a:srgbClr val="1E3C28"/>
                </a:solidFill>
              </a:rPr>
              <a:t>- Guidance on official and unofficial visit logistics</a:t>
            </a:r>
          </a:p>
        </p:txBody>
      </p:sp>
      <p:sp>
        <p:nvSpPr>
          <p:cNvPr id="13" name="TextBox 12"/>
          <p:cNvSpPr txBox="1"/>
          <p:nvPr/>
        </p:nvSpPr>
        <p:spPr>
          <a:xfrm>
            <a:off x="548640" y="5806440"/>
            <a:ext cx="5212080" cy="256032"/>
          </a:xfrm>
          <a:prstGeom prst="rect">
            <a:avLst/>
          </a:prstGeom>
          <a:noFill/>
        </p:spPr>
        <p:txBody>
          <a:bodyPr wrap="square">
            <a:spAutoFit/>
          </a:bodyPr>
          <a:lstStyle/>
          <a:p>
            <a:pPr algn="l"/>
            <a:r>
              <a:rPr sz="1000" b="0">
                <a:solidFill>
                  <a:srgbClr val="1E3C28"/>
                </a:solidFill>
              </a:rPr>
              <a:t>- Compliance tracking to protect eligibility</a:t>
            </a:r>
          </a:p>
        </p:txBody>
      </p:sp>
      <p:sp>
        <p:nvSpPr>
          <p:cNvPr id="14" name="Rectangle 13"/>
          <p:cNvSpPr/>
          <p:nvPr/>
        </p:nvSpPr>
        <p:spPr>
          <a:xfrm>
            <a:off x="6217920" y="1005840"/>
            <a:ext cx="5623560" cy="5394960"/>
          </a:xfrm>
          <a:prstGeom prst="rect">
            <a:avLst/>
          </a:prstGeom>
          <a:solidFill>
            <a:srgbClr val="0A37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097280"/>
            <a:ext cx="5212080" cy="411480"/>
          </a:xfrm>
          <a:prstGeom prst="rect">
            <a:avLst/>
          </a:prstGeom>
          <a:noFill/>
        </p:spPr>
        <p:txBody>
          <a:bodyPr wrap="square">
            <a:spAutoFit/>
          </a:bodyPr>
          <a:lstStyle/>
          <a:p>
            <a:pPr algn="l"/>
            <a:r>
              <a:rPr sz="1400" b="1">
                <a:solidFill>
                  <a:srgbClr val="B4E6C3"/>
                </a:solidFill>
              </a:rPr>
              <a:t>FROM COACH PERRY</a:t>
            </a:r>
          </a:p>
        </p:txBody>
      </p:sp>
      <p:sp>
        <p:nvSpPr>
          <p:cNvPr id="16" name="TextBox 15"/>
          <p:cNvSpPr txBox="1"/>
          <p:nvPr/>
        </p:nvSpPr>
        <p:spPr>
          <a:xfrm>
            <a:off x="6400800" y="1600200"/>
            <a:ext cx="5212080" cy="4114800"/>
          </a:xfrm>
          <a:prstGeom prst="rect">
            <a:avLst/>
          </a:prstGeom>
          <a:noFill/>
        </p:spPr>
        <p:txBody>
          <a:bodyPr wrap="square">
            <a:spAutoFit/>
          </a:bodyPr>
          <a:lstStyle/>
          <a:p>
            <a:pPr algn="l"/>
            <a:r>
              <a:rPr sz="1100" b="0">
                <a:solidFill>
                  <a:srgbClr val="FFFFFF"/>
                </a:solidFill>
              </a:rPr>
              <a:t>This is the best roster I have had at Crestwood.
The seniors are the leaders we needed them to be. The juniors are pushing them. The freshmen we brought in this fall have real potential.
What I want from this season is not just wins, though we plan to win. I want every athlete who finishes this season to be better at understanding their body, better at competing when it is hard, and better at showing up when they would rather not.
That is what this program teaches. Everything else follows from that.
See you at the first practice.</a:t>
            </a:r>
          </a:p>
        </p:txBody>
      </p:sp>
      <p:sp>
        <p:nvSpPr>
          <p:cNvPr id="17" name="TextBox 16"/>
          <p:cNvSpPr txBox="1"/>
          <p:nvPr/>
        </p:nvSpPr>
        <p:spPr>
          <a:xfrm>
            <a:off x="6400800" y="5943600"/>
            <a:ext cx="5212080" cy="365760"/>
          </a:xfrm>
          <a:prstGeom prst="rect">
            <a:avLst/>
          </a:prstGeom>
          <a:noFill/>
        </p:spPr>
        <p:txBody>
          <a:bodyPr wrap="square">
            <a:spAutoFit/>
          </a:bodyPr>
          <a:lstStyle/>
          <a:p>
            <a:pPr algn="l"/>
            <a:r>
              <a:rPr sz="1000" b="1">
                <a:solidFill>
                  <a:srgbClr val="B4E6C3"/>
                </a:solidFill>
              </a:rPr>
              <a:t>-- Shannon D. Perry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