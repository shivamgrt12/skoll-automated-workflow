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Cost (USD)</c:v>
                </c:pt>
              </c:strCache>
            </c:strRef>
          </c:tx>
          <c:spPr>
            <a:solidFill>
              <a:srgbClr val="1B2A45"/>
            </a:solidFill>
          </c:spPr>
          <c:cat>
            <c:strRef>
              <c:f>Sheet1!$A$2:$A$4</c:f>
              <c:strCache>
                <c:ptCount val="3"/>
                <c:pt idx="0">
                  <c:v>Current (8%)</c:v>
                </c:pt>
                <c:pt idx="1">
                  <c:v>Union Counter (11%)</c:v>
                </c:pt>
                <c:pt idx="2">
                  <c:v>Mgmt Proposal (20%)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696</c:v>
                </c:pt>
                <c:pt idx="1">
                  <c:v>957</c:v>
                </c:pt>
                <c:pt idx="2">
                  <c:v>1740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Active Cases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Step 1</c:v>
                </c:pt>
                <c:pt idx="1">
                  <c:v>Step 2</c:v>
                </c:pt>
                <c:pt idx="2">
                  <c:v>Step 3 / Arbitration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3</c:v>
                </c:pt>
                <c:pt idx="2">
                  <c:v>1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91440"/>
            <a:ext cx="73152" cy="667512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A84B"/>
                </a:solidFill>
              </a:rPr>
              <a:t>LOCAL 247 - ALLIED AUTO WORKERS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8412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Contract Negotiation
2026-2027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38328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B4CC"/>
                </a:solidFill>
              </a:rPr>
              <a:t>Irongate Motor Assembly Plant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9319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A84B"/>
                </a:solidFill>
              </a:rPr>
              <a:t>Prepared by Shawn Dawson, Union Steward #247-100453 - February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CONFIDENTIAL - Negotiating Committee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The Central Issue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4B"/>
                </a:solidFill>
              </a:rPr>
              <a:t>Management's healthcare premium proposal in plain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1B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702552"/>
            <a:ext cx="8778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A84B"/>
                </a:solidFill>
              </a:rPr>
              <a:t>Local 247 Contract Negotiation 2026-2027 |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3931920" cy="2194560"/>
          </a:xfrm>
          <a:prstGeom prst="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393192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Management's 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5727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</a:rPr>
              <a:t>+12% Annual Premium Increase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6596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Employee share rises from 8% to 20%
Average member cost: $696 to $1,740/year
Additional out-of-pocket: $1,044 per year
($87 per month per member)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097280"/>
            <a:ext cx="4114800" cy="2194560"/>
          </a:xfrm>
          <a:prstGeom prst="rect">
            <a:avLst/>
          </a:prstGeom>
          <a:solidFill>
            <a:srgbClr val="E8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97280"/>
            <a:ext cx="4114800" cy="64008"/>
          </a:xfrm>
          <a:prstGeom prst="rect">
            <a:avLst/>
          </a:prstGeom>
          <a:solidFill>
            <a:srgbClr val="27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1887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05A"/>
                </a:solidFill>
              </a:rPr>
              <a:t>Union Counter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57276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</a:rPr>
              <a:t>+3% Maximum Increase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96596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Employee share rises from 8% to 11%
Average member cost: $696 to $957/year
Additional out-of-pocket: $261 per year
($21.75 per month per member)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47472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5"/>
                </a:solidFill>
              </a:rPr>
              <a:t>The Difference Per Member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794760"/>
            <a:ext cx="8595360" cy="73152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97763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2A45"/>
                </a:solidFill>
              </a:rPr>
              <a:t>Annual savings under union counter vs. management proposal: $783 per member   |   Monthly savings: $65.25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Annual Premium Cost Per 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4B"/>
                </a:solidFill>
              </a:rPr>
              <a:t>Comparison across all three positions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1B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702552"/>
            <a:ext cx="8778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A84B"/>
                </a:solidFill>
              </a:rPr>
              <a:t>Local 247 Contract Negotiation 2026-2027 | CONFIDENTIAL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188720"/>
          <a:ext cx="50292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0" y="1188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5"/>
                </a:solidFill>
              </a:rPr>
              <a:t>Key Figures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600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66"/>
                </a:solidFill>
              </a:rPr>
              <a:t>Current member annual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600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B2A45"/>
                </a:solidFill>
              </a:rPr>
              <a:t>$696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89280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66"/>
                </a:solidFill>
              </a:rPr>
              <a:t>Union counter annual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89280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B2A45"/>
                </a:solidFill>
              </a:rPr>
              <a:t>$957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8541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66"/>
                </a:solidFill>
              </a:rPr>
              <a:t>Management proposal annual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1854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B2A45"/>
                </a:solidFill>
              </a:rPr>
              <a:t>$1,740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77063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66"/>
                </a:solidFill>
              </a:rPr>
              <a:t>Monthly savings (union vs mgmt)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770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B2A45"/>
                </a:solidFill>
              </a:rPr>
              <a:t>$65.25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0632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66"/>
                </a:solidFill>
              </a:rPr>
              <a:t>Annual savings (union vs mgmt)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30632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B2A45"/>
                </a:solidFill>
              </a:rPr>
              <a:t>$783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35584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66"/>
                </a:solidFill>
              </a:rPr>
              <a:t>10-year savings per member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35584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B2A45"/>
                </a:solidFill>
              </a:rPr>
              <a:t>$7,830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577840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66"/>
                </a:solidFill>
              </a:rPr>
              <a:t>Source: Local 247 contract analysis, February 2026. Based on average single-coverage premiums.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Negotiation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4B"/>
                </a:solidFill>
              </a:rPr>
              <a:t>Critical milestones to the January 31, 2027 contract deadline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1B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702552"/>
            <a:ext cx="8778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A84B"/>
                </a:solidFill>
              </a:rPr>
              <a:t>Local 247 Contract Negotiation 2026-2027 |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188720"/>
            <a:ext cx="91440" cy="77724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536192"/>
            <a:ext cx="7772400" cy="9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070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A84B"/>
                </a:solidFill>
              </a:rPr>
              <a:t>Feb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49047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</a:rPr>
              <a:t>Committee preparation begins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71907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66"/>
                </a:solidFill>
              </a:rPr>
              <a:t>Cost modeling, grievance pattern review, position-building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" y="2103120"/>
            <a:ext cx="91440" cy="777240"/>
          </a:xfrm>
          <a:prstGeom prst="rect">
            <a:avLst/>
          </a:prstGeom>
          <a:solidFill>
            <a:srgbClr val="1B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2450591"/>
            <a:ext cx="7772400" cy="9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1214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5"/>
                </a:solidFill>
              </a:rPr>
              <a:t>Oct 6,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40487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</a:rPr>
              <a:t>Local 247 membership meeting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63347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66"/>
                </a:solidFill>
              </a:rPr>
              <a:t>Status update and contract vote discussion at the hall, 6:00 PM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3017520"/>
            <a:ext cx="91440" cy="777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3364991"/>
            <a:ext cx="7772400" cy="9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0358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</a:rPr>
              <a:t>Oct 28,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31927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</a:rPr>
              <a:t>Negotiation session with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54787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66"/>
                </a:solidFill>
              </a:rPr>
              <a:t>Primary session on healthcare premium and other proposals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" y="3931920"/>
            <a:ext cx="91440" cy="77724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4048" y="4279392"/>
            <a:ext cx="7772400" cy="9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95020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5282"/>
                </a:solidFill>
              </a:rPr>
              <a:t>Nov-Dec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23367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</a:rPr>
              <a:t>Counter response and final position lock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46227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66"/>
                </a:solidFill>
              </a:rPr>
              <a:t>Committee evaluates management response; prepares ratification materials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" y="4846320"/>
            <a:ext cx="91440" cy="777240"/>
          </a:xfrm>
          <a:prstGeom prst="rect">
            <a:avLst/>
          </a:prstGeom>
          <a:solidFill>
            <a:srgbClr val="27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4048" y="5193792"/>
            <a:ext cx="7772400" cy="9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86460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A05A"/>
                </a:solidFill>
              </a:rPr>
              <a:t>Jan 31, 2027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14807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</a:rPr>
              <a:t>Contract expiration - new term effective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37667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66"/>
                </a:solidFill>
              </a:rPr>
              <a:t>No extension without ratification. Members vote.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Active Grievance Caseload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4B"/>
                </a:solidFill>
              </a:rPr>
              <a:t>9 cases in progress - February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1B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702552"/>
            <a:ext cx="8778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A84B"/>
                </a:solidFill>
              </a:rPr>
              <a:t>Local 247 Contract Negotiation 2026-2027 | CONFIDENTIAL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274320" y="1097280"/>
          <a:ext cx="384048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4251960" y="1097280"/>
            <a:ext cx="4663440" cy="320040"/>
          </a:xfrm>
          <a:prstGeom prst="rect">
            <a:avLst/>
          </a:prstGeom>
          <a:solidFill>
            <a:srgbClr val="1B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14300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Case No.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59" y="114300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Issue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114300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0" y="114300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435607"/>
            <a:ext cx="4663440" cy="347472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499616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</a:rPr>
              <a:t>GR-2025-0417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59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</a:rPr>
              <a:t>Wrongful termination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149961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392B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149961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</a:rPr>
              <a:t>Arbitration pending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1792224"/>
            <a:ext cx="4663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1856231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</a:rPr>
              <a:t>GR-2025-0392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59" y="1856231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</a:rPr>
              <a:t>Overtime distribution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1856231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C5282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1856231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</a:rPr>
              <a:t>Hearing scheduled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2148840"/>
            <a:ext cx="4663440" cy="347472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221284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</a:rPr>
              <a:t>GR-2025-0388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59" y="2212848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</a:rPr>
              <a:t>Safety / line speed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221284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C5282"/>
                </a:solidFill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221284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</a:rPr>
              <a:t>Under review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60" y="2505456"/>
            <a:ext cx="4663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256946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</a:rPr>
              <a:t>GR-2026-0009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59" y="2569464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</a:rPr>
              <a:t>Disciplinary writeup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256946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7A05A"/>
                </a:solidFill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80" y="256946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</a:rPr>
              <a:t>Investigating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60" y="2862072"/>
            <a:ext cx="4663440" cy="347472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292608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</a:rPr>
              <a:t>GR-2026-0013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23559" y="292608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</a:rPr>
              <a:t>Seniority bypass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60" y="292608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7A05A"/>
                </a:solidFill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80" y="292608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</a:rPr>
              <a:t>Awaiting docs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60" y="3218688"/>
            <a:ext cx="4663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43400" y="3282696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</a:rPr>
              <a:t>GR-2026-0021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3559" y="328269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</a:rPr>
              <a:t>Break time dispute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2360" y="328269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7A05A"/>
                </a:solidFill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80" y="328269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</a:rPr>
              <a:t>Mediation set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51960" y="3575304"/>
            <a:ext cx="4663440" cy="347472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43400" y="363931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</a:rPr>
              <a:t>GR-2025-0410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3559" y="3639312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</a:rPr>
              <a:t>Classification pay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52360" y="363931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C5282"/>
                </a:solidFill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80" y="363931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</a:rPr>
              <a:t>Appealing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51960" y="3931920"/>
            <a:ext cx="4663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43400" y="399592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</a:rPr>
              <a:t>GR-2026-0024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23559" y="3995928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</a:rPr>
              <a:t>Shift reassignment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52360" y="399592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7A05A"/>
                </a:solidFill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55280" y="399592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</a:rPr>
              <a:t>Open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Member Impact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4B"/>
                </a:solidFill>
              </a:rPr>
              <a:t>What management's proposal means in household dollars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1B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702552"/>
            <a:ext cx="8778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A84B"/>
                </a:solidFill>
              </a:rPr>
              <a:t>Local 247 Contract Negotiation 2026-2027 |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097280"/>
            <a:ext cx="8686800" cy="347472"/>
          </a:xfrm>
          <a:prstGeom prst="rect">
            <a:avLst/>
          </a:prstGeom>
          <a:solidFill>
            <a:srgbClr val="1B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52144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152144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Current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1152144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Mgmt Proposal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1152144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Union Counter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115214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Member Saves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1463040"/>
            <a:ext cx="8686800" cy="438912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554480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Single - monthly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15544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$58/mo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1554480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$145/mo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1554480"/>
            <a:ext cx="1691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05A"/>
                </a:solidFill>
              </a:rPr>
              <a:t>$79.75/mo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15544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</a:rPr>
              <a:t>$65.25/mo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" y="1920240"/>
            <a:ext cx="86868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011680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Single - annual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20116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$696/yr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2011680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$1,740/yr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2011680"/>
            <a:ext cx="1691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05A"/>
                </a:solidFill>
              </a:rPr>
              <a:t>$957/yr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20116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</a:rPr>
              <a:t>$783/yr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" y="2377440"/>
            <a:ext cx="8686800" cy="438912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468880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Family - monthly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24688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$116/mo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39" y="2468880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$290/mo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2468880"/>
            <a:ext cx="1691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05A"/>
                </a:solidFill>
              </a:rPr>
              <a:t>$159.50/mo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2468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</a:rPr>
              <a:t>$130.50/mo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" y="2834640"/>
            <a:ext cx="86868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2926080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Family - annual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29260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$1,392/yr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77639" y="2926080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$3,480/yr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2926080"/>
            <a:ext cx="1691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05A"/>
                </a:solidFill>
              </a:rPr>
              <a:t>$1,914/yr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29260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</a:rPr>
              <a:t>$1,566/yr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347472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The union counter saves the average single-coverage member $783 per year compared to management's proposal. That is real money in a member's pocket every year the contract runs.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1B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6702552"/>
            <a:ext cx="8778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A84B"/>
                </a:solidFill>
              </a:rPr>
              <a:t>Local 247 Contract Negotiation 2026-2027 |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Our Bargaining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A84B"/>
                </a:solidFill>
              </a:rPr>
              <a:t>What the negotiating committee stands on in every session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02920" cy="86868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55448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2A45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490472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Hold the line on healthcare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74519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4CC"/>
                </a:solidFill>
              </a:rPr>
              <a:t>3% is not the opening bid. It is the position. Every paycheck depends on holding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468880"/>
            <a:ext cx="502920" cy="86868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60604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2A45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42032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Justice on the floor is the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92608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4CC"/>
                </a:solidFill>
              </a:rPr>
              <a:t>A 20-year employee going to arbitration is not a technicality. It is the test of what we stand for.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520440"/>
            <a:ext cx="502920" cy="86868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65760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2A45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593592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Safety before production quotas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977639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4CC"/>
                </a:solidFill>
              </a:rPr>
              <a:t>Article 22 exists for a reason. Line speed grievances are a signal we will not ignore.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572000"/>
            <a:ext cx="502920" cy="86868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470916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2A45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645152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Members decide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0292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4CC"/>
                </a:solidFill>
              </a:rPr>
              <a:t>No ratification without a full plain-language briefing. They vote. We serve.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Action Items Before October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4B"/>
                </a:solidFill>
              </a:rPr>
              <a:t>Work to complete before the next management session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1B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702552"/>
            <a:ext cx="8778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A84B"/>
                </a:solidFill>
              </a:rPr>
              <a:t>Local 247 Contract Negotiation 2026-2027 |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188720"/>
            <a:ext cx="8686800" cy="749808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188720"/>
            <a:ext cx="82296" cy="749808"/>
          </a:xfrm>
          <a:prstGeom prst="rect">
            <a:avLst/>
          </a:prstGeom>
          <a:solidFill>
            <a:srgbClr val="1B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7101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5"/>
                </a:solidFill>
              </a:rPr>
              <a:t>Committee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591056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Complete cost modeling on all proposal variations - submit to VP Simmons by Oct 1, 2026.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011680"/>
            <a:ext cx="8686800" cy="749808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011680"/>
            <a:ext cx="82296" cy="7498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09397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Steward Dawson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414016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Advance GR-2025-0417 to arbitration. Prepare the 20-year member file. Confirm hearing date.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2834640"/>
            <a:ext cx="8686800" cy="749808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2834640"/>
            <a:ext cx="82296" cy="749808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91693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5282"/>
                </a:solidFill>
              </a:rPr>
              <a:t>All Stewards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36976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Document any new grievances through proper channels. Nothing informal or verbal without a written follow-up.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" y="3657600"/>
            <a:ext cx="8686800" cy="749808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6032" y="3657600"/>
            <a:ext cx="82296" cy="749808"/>
          </a:xfrm>
          <a:prstGeom prst="rect">
            <a:avLst/>
          </a:prstGeom>
          <a:solidFill>
            <a:srgbClr val="27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73989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05A"/>
                </a:solidFill>
              </a:rPr>
              <a:t>VP Simmons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59936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Request precedent cases from Allied Auto Workers regional office. Obtain Indianapolis contract comparison.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" y="4480560"/>
            <a:ext cx="8686800" cy="749808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6032" y="4480560"/>
            <a:ext cx="82296" cy="749808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56285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84B"/>
                </a:solidFill>
              </a:rPr>
              <a:t>Communications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882896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Draft the Oct 6 member letter. Plain language, straight numbers. No technical jargon.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Thirty years on this floor.
Nine years at this 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A84B"/>
                </a:solidFill>
              </a:rPr>
              <a:t>The work is not finished until every member is treated right.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B4CC"/>
                </a:solidFill>
              </a:rPr>
              <a:t>Local 247 - Allied Auto Workers - Irongate Motor Assembly Plant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A84B"/>
                </a:solidFill>
              </a:rPr>
              <a:t>Shawn Dawson, Steward #247-100453 | (313) 555-3920 | shawn.dawson@finthesiss.ai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392B"/>
                </a:solidFill>
              </a:rPr>
              <a:t>CONFIDENTIAL - Negotiating Committee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