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1A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B89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B89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91440"/>
            <a:ext cx="73152" cy="6675120"/>
          </a:xfrm>
          <a:prstGeom prst="rect">
            <a:avLst/>
          </a:prstGeom>
          <a:solidFill>
            <a:srgbClr val="B89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89630"/>
                </a:solidFill>
              </a:rPr>
              <a:t>GREATER HOPE BAPTIST CHURCH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8412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DF6E3"/>
                </a:solidFill>
              </a:rPr>
              <a:t>75th Anniversary
Celebration 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38328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C098"/>
                </a:solidFill>
              </a:rPr>
              <a:t>October 17, 2026 - 16400 Pembroke Avenue, Detroit, MI 48235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9319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9630"/>
                </a:solidFill>
              </a:rPr>
              <a:t>Lead Coordinator: Deacon Shawn Dawson | Senior Pastor: James Caldwell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48056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070"/>
                </a:solidFill>
              </a:rPr>
              <a:t>Planning subcommittee formed February 15,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A1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B89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B89630"/>
                </a:solidFill>
              </a:rPr>
              <a:t>Event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C098"/>
                </a:solidFill>
              </a:rPr>
              <a:t>What we are celebrating and what we want this day to be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2A1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93408"/>
            <a:ext cx="8778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89630"/>
                </a:solidFill>
              </a:rPr>
              <a:t>Greater Hope Baptist Church 75th Anniversary | Planning Document | February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8595360" cy="640080"/>
          </a:xfrm>
          <a:prstGeom prst="rect">
            <a:avLst/>
          </a:prstGeom>
          <a:solidFill>
            <a:srgbClr val="2A1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DF6E3"/>
                </a:solidFill>
              </a:rPr>
              <a:t>PURPOSE: To mark seventy-five years of Greater Hope with a celebration that honors the founders, welcomes the wider community, and reflects the spirit of service the church has carried since its first Sunday.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965960"/>
            <a:ext cx="192024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965960"/>
            <a:ext cx="1920240" cy="64008"/>
          </a:xfrm>
          <a:prstGeom prst="rect">
            <a:avLst/>
          </a:prstGeom>
          <a:solidFill>
            <a:srgbClr val="B89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0756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4A1A"/>
                </a:solidFill>
              </a:rPr>
              <a:t>Date and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37744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A1A05"/>
                </a:solidFill>
              </a:rPr>
              <a:t>Sunday, October 17, 2026
After morning service - approximately 1:00 PM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1965960"/>
            <a:ext cx="192024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77440" y="1965960"/>
            <a:ext cx="1920240" cy="64008"/>
          </a:xfrm>
          <a:prstGeom prst="rect">
            <a:avLst/>
          </a:prstGeom>
          <a:solidFill>
            <a:srgbClr val="B89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0" y="20756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4A1A"/>
                </a:solidFill>
              </a:rPr>
              <a:t>Location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37744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A1A05"/>
                </a:solidFill>
              </a:rPr>
              <a:t>Greater Hope Baptist Church
16400 Pembroke Avenue, Detroit, MI 48235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19" y="3794760"/>
            <a:ext cx="192024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19" y="3794760"/>
            <a:ext cx="1920240" cy="64008"/>
          </a:xfrm>
          <a:prstGeom prst="rect">
            <a:avLst/>
          </a:prstGeom>
          <a:solidFill>
            <a:srgbClr val="B89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59" y="39044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4A1A"/>
                </a:solidFill>
              </a:rPr>
              <a:t>Lead Coordinator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59" y="420624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A1A05"/>
                </a:solidFill>
              </a:rPr>
              <a:t>Deacon Shawn Dawson
Subcommittee formed Feb 15, 2026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880" y="3794760"/>
            <a:ext cx="192024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68880" y="3794760"/>
            <a:ext cx="1920240" cy="64008"/>
          </a:xfrm>
          <a:prstGeom prst="rect">
            <a:avLst/>
          </a:prstGeom>
          <a:solidFill>
            <a:srgbClr val="B89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60320" y="39044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4A1A"/>
                </a:solidFill>
              </a:rPr>
              <a:t>Church Contact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420624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A1A05"/>
                </a:solidFill>
              </a:rPr>
              <a:t>Linda Marsh, Church Secretary
Pastor James Caldwell presiding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54406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4A1A"/>
                </a:solidFill>
              </a:rPr>
              <a:t>The goal: a full house and a warm welcome. Every member who helped build this church deserves to be seen on this 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A1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B89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B89630"/>
                </a:solidFill>
              </a:rPr>
              <a:t>75 Years of Greater Hope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C098"/>
                </a:solidFill>
              </a:rPr>
              <a:t>A brief timeline of our history and milestones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2A1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93408"/>
            <a:ext cx="8778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89630"/>
                </a:solidFill>
              </a:rPr>
              <a:t>Greater Hope Baptist Church 75th Anniversary | Planning Document | February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097280"/>
            <a:ext cx="91440" cy="804672"/>
          </a:xfrm>
          <a:prstGeom prst="rect">
            <a:avLst/>
          </a:prstGeom>
          <a:solidFill>
            <a:srgbClr val="B89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1556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4A1A"/>
                </a:solidFill>
              </a:rPr>
              <a:t>1951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8988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1A05"/>
                </a:solidFill>
              </a:rPr>
              <a:t>Founding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097280"/>
            <a:ext cx="66751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A1A05"/>
                </a:solidFill>
              </a:rPr>
              <a:t>Greater Hope Baptist Church established in northwest Detroit by a small congregation of twelve founding families.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01952"/>
            <a:ext cx="8595360" cy="9144"/>
          </a:xfrm>
          <a:prstGeom prst="rect">
            <a:avLst/>
          </a:prstGeom>
          <a:solidFill>
            <a:srgbClr val="EEE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" y="1993391"/>
            <a:ext cx="91440" cy="804672"/>
          </a:xfrm>
          <a:prstGeom prst="rect">
            <a:avLst/>
          </a:prstGeom>
          <a:solidFill>
            <a:srgbClr val="B89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011679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4A1A"/>
                </a:solidFill>
              </a:rPr>
              <a:t>1960s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285999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1A05"/>
                </a:solidFill>
              </a:rPr>
              <a:t>Community anchor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1993391"/>
            <a:ext cx="66751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A1A05"/>
                </a:solidFill>
              </a:rPr>
              <a:t>The church becomes a gathering point during the civil rights era. Pastor-led voter registration drives and neighborhood outreach.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798063"/>
            <a:ext cx="8595360" cy="9144"/>
          </a:xfrm>
          <a:prstGeom prst="rect">
            <a:avLst/>
          </a:prstGeom>
          <a:solidFill>
            <a:srgbClr val="EEE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" y="2889503"/>
            <a:ext cx="91440" cy="804672"/>
          </a:xfrm>
          <a:prstGeom prst="rect">
            <a:avLst/>
          </a:prstGeom>
          <a:solidFill>
            <a:srgbClr val="B89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907791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4A1A"/>
                </a:solidFill>
              </a:rPr>
              <a:t>1970s-80s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182111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1A05"/>
                </a:solidFill>
              </a:rPr>
              <a:t>Growth and building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2889503"/>
            <a:ext cx="66751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A1A05"/>
                </a:solidFill>
              </a:rPr>
              <a:t>Congregation grows. The Pembroke Avenue building is expanded to accommodate the growing membership.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694176"/>
            <a:ext cx="8595360" cy="9144"/>
          </a:xfrm>
          <a:prstGeom prst="rect">
            <a:avLst/>
          </a:prstGeom>
          <a:solidFill>
            <a:srgbClr val="EEE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3785615"/>
            <a:ext cx="91440" cy="804672"/>
          </a:xfrm>
          <a:prstGeom prst="rect">
            <a:avLst/>
          </a:prstGeom>
          <a:solidFill>
            <a:srgbClr val="B89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803903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4A1A"/>
                </a:solidFill>
              </a:rPr>
              <a:t>1990s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07822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1A05"/>
                </a:solidFill>
              </a:rPr>
              <a:t>Deacon board established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3785615"/>
            <a:ext cx="66751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A1A05"/>
                </a:solidFill>
              </a:rPr>
              <a:t>Deacon structure formalized. Community outreach programs expanded including the food drive and sick visitation ministry.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590288"/>
            <a:ext cx="8595360" cy="9144"/>
          </a:xfrm>
          <a:prstGeom prst="rect">
            <a:avLst/>
          </a:prstGeom>
          <a:solidFill>
            <a:srgbClr val="EEE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" y="4681727"/>
            <a:ext cx="91440" cy="804672"/>
          </a:xfrm>
          <a:prstGeom prst="rect">
            <a:avLst/>
          </a:prstGeom>
          <a:solidFill>
            <a:srgbClr val="B89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700015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4A1A"/>
                </a:solidFill>
              </a:rPr>
              <a:t>2004-now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97433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1A05"/>
                </a:solidFill>
              </a:rPr>
              <a:t>Pastor James Caldwell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4681727"/>
            <a:ext cx="66751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A1A05"/>
                </a:solidFill>
              </a:rPr>
              <a:t>Twenty years of pastoral leadership. Greater Hope grows into a multi-generational congregation serving northwest Detroit.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486399"/>
            <a:ext cx="8595360" cy="9144"/>
          </a:xfrm>
          <a:prstGeom prst="rect">
            <a:avLst/>
          </a:prstGeom>
          <a:solidFill>
            <a:srgbClr val="EEE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6032" y="5577840"/>
            <a:ext cx="91440" cy="804672"/>
          </a:xfrm>
          <a:prstGeom prst="rect">
            <a:avLst/>
          </a:prstGeom>
          <a:solidFill>
            <a:srgbClr val="B89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596127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4A1A"/>
                </a:solidFill>
              </a:rPr>
              <a:t>Oct 17,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87044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1A05"/>
                </a:solidFill>
              </a:rPr>
              <a:t>75th Anniversary Celebration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94560" y="5577840"/>
            <a:ext cx="66751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A1A05"/>
                </a:solidFill>
              </a:rPr>
              <a:t>The milestone we are planning today. A day of worship, remembrance, and thanksgiving.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6382512"/>
            <a:ext cx="8595360" cy="9144"/>
          </a:xfrm>
          <a:prstGeom prst="rect">
            <a:avLst/>
          </a:prstGeom>
          <a:solidFill>
            <a:srgbClr val="EEE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A1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B89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B89630"/>
                </a:solidFill>
              </a:rPr>
              <a:t>Proposed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C098"/>
                </a:solidFill>
              </a:rPr>
              <a:t>Draft order of service for the 75th Anniversary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2A1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93408"/>
            <a:ext cx="8778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89630"/>
                </a:solidFill>
              </a:rPr>
              <a:t>Greater Hope Baptist Church 75th Anniversary | Planning Document | February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097280"/>
            <a:ext cx="8686800" cy="320040"/>
          </a:xfrm>
          <a:prstGeom prst="rect">
            <a:avLst/>
          </a:prstGeom>
          <a:solidFill>
            <a:srgbClr val="2A1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5214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89630"/>
                </a:solidFill>
              </a:rPr>
              <a:t>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152144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89630"/>
                </a:solidFill>
              </a:rPr>
              <a:t>Event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152144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89630"/>
                </a:solidFill>
              </a:rPr>
              <a:t>Lead / Notes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1435607"/>
            <a:ext cx="868680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5179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4A1A"/>
                </a:solidFill>
              </a:rPr>
              <a:t>1:00 PM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1517904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A1A05"/>
                </a:solidFill>
              </a:rPr>
              <a:t>Welcome and Call to Worship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517904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66"/>
                </a:solidFill>
              </a:rPr>
              <a:t>Pastor James Caldwell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1847088"/>
            <a:ext cx="8686800" cy="393192"/>
          </a:xfrm>
          <a:prstGeom prst="rect">
            <a:avLst/>
          </a:prstGeom>
          <a:solidFill>
            <a:srgbClr val="F8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192938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4A1A"/>
                </a:solidFill>
              </a:rPr>
              <a:t>1:15 PM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1929384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A1A05"/>
                </a:solidFill>
              </a:rPr>
              <a:t>Historical reflection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929384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66"/>
                </a:solidFill>
              </a:rPr>
              <a:t>Founding families and long-tenured members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" y="2258568"/>
            <a:ext cx="868680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34086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4A1A"/>
                </a:solidFill>
              </a:rPr>
              <a:t>1:45 PM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2340864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A1A05"/>
                </a:solidFill>
              </a:rPr>
              <a:t>Musical tribute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2340864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66"/>
                </a:solidFill>
              </a:rPr>
              <a:t>Choir and special guests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" y="2670048"/>
            <a:ext cx="8686800" cy="393192"/>
          </a:xfrm>
          <a:prstGeom prst="rect">
            <a:avLst/>
          </a:prstGeom>
          <a:solidFill>
            <a:srgbClr val="F8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275234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4A1A"/>
                </a:solidFill>
              </a:rPr>
              <a:t>2:15 PM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2752344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A1A05"/>
                </a:solidFill>
              </a:rPr>
              <a:t>Community recognition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2752344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66"/>
                </a:solidFill>
              </a:rPr>
              <a:t>Deacon board and ministry leaders recognized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" y="3081528"/>
            <a:ext cx="868680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316382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4A1A"/>
                </a:solidFill>
              </a:rPr>
              <a:t>2:45 PM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3163824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A1A05"/>
                </a:solidFill>
              </a:rPr>
              <a:t>Special anniversary message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3163824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66"/>
                </a:solidFill>
              </a:rPr>
              <a:t>Pastor Caldwell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" y="3493008"/>
            <a:ext cx="8686800" cy="393192"/>
          </a:xfrm>
          <a:prstGeom prst="rect">
            <a:avLst/>
          </a:prstGeom>
          <a:solidFill>
            <a:srgbClr val="F8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35753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4A1A"/>
                </a:solidFill>
              </a:rPr>
              <a:t>3:15 PM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3575304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A1A05"/>
                </a:solidFill>
              </a:rPr>
              <a:t>Closing prayer and fellowship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3575304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66"/>
                </a:solidFill>
              </a:rPr>
              <a:t>Deacon Dawson - lead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" y="3904488"/>
            <a:ext cx="868680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398678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4A1A"/>
                </a:solidFill>
              </a:rPr>
              <a:t>3:30 PM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17320" y="3986784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A1A05"/>
                </a:solidFill>
              </a:rPr>
              <a:t>Reception and memorial display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3986784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66"/>
                </a:solidFill>
              </a:rPr>
              <a:t>Open to all - founding photos and church archive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A1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B89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B89630"/>
                </a:solidFill>
              </a:rPr>
              <a:t>Budget and Building Fund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C098"/>
                </a:solidFill>
              </a:rPr>
              <a:t>Current fund position and anticipated anniversary costs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2A1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93408"/>
            <a:ext cx="8778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89630"/>
                </a:solidFill>
              </a:rPr>
              <a:t>Greater Hope Baptist Church 75th Anniversary | Planning Document | February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4023360" cy="402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4023360" cy="64008"/>
          </a:xfrm>
          <a:prstGeom prst="rect">
            <a:avLst/>
          </a:prstGeom>
          <a:solidFill>
            <a:srgbClr val="B89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704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4A1A"/>
                </a:solidFill>
              </a:rPr>
              <a:t>Building Fund - February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50876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A1A05"/>
                </a:solidFill>
              </a:rPr>
              <a:t>Opening balance (Jan 1,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5087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4A1A"/>
                </a:solidFill>
              </a:rPr>
              <a:t>$18,450.00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78308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A1A05"/>
                </a:solidFill>
              </a:rPr>
              <a:t>Jan 11 - Special offering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178308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7A05A"/>
                </a:solidFill>
              </a:rPr>
              <a:t>+$2,240.00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0574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A1A05"/>
                </a:solidFill>
              </a:rPr>
              <a:t>Jan 18 - Designated gifts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05740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7A05A"/>
                </a:solidFill>
              </a:rPr>
              <a:t>+$875.00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3317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A1A05"/>
                </a:solidFill>
              </a:rPr>
              <a:t>Feb 1 - Boiler inspection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233172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0392B"/>
                </a:solidFill>
              </a:rPr>
              <a:t>-$320.00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606039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A1A05"/>
                </a:solidFill>
              </a:rPr>
              <a:t>Feb 8 - Special offering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2606039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7A05A"/>
                </a:solidFill>
              </a:rPr>
              <a:t>+$1,980.00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880359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A1A05"/>
                </a:solidFill>
              </a:rPr>
              <a:t>Feb 15 - 75th anniversary gifts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2880359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7A05A"/>
                </a:solidFill>
              </a:rPr>
              <a:t>+$1,100.00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154679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A1A05"/>
                </a:solidFill>
              </a:rPr>
              <a:t>Feb 22 - Parking lot seal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3154679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0392B"/>
                </a:solidFill>
              </a:rPr>
              <a:t>-$880.00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428999"/>
            <a:ext cx="3931920" cy="9144"/>
          </a:xfrm>
          <a:prstGeom prst="rect">
            <a:avLst/>
          </a:prstGeom>
          <a:solidFill>
            <a:srgbClr val="EEE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703319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4A1A"/>
                </a:solidFill>
              </a:rPr>
              <a:t>CURRENT BALANCE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3703319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4A1A"/>
                </a:solidFill>
              </a:rPr>
              <a:t>$23,445.00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1097280"/>
            <a:ext cx="4297680" cy="402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0" y="1097280"/>
            <a:ext cx="4297680" cy="64008"/>
          </a:xfrm>
          <a:prstGeom prst="rect">
            <a:avLst/>
          </a:prstGeom>
          <a:solidFill>
            <a:srgbClr val="B89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0" y="117043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4A1A"/>
                </a:solidFill>
              </a:rPr>
              <a:t>Anniversary Budget (Estimated)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150876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A1A05"/>
                </a:solidFill>
              </a:rPr>
              <a:t>Catering and reception food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150876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4A1A"/>
                </a:solidFill>
              </a:rPr>
              <a:t>$1,800 - $2,400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178308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A1A05"/>
                </a:solidFill>
              </a:rPr>
              <a:t>Anniversary program booklets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178308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4A1A"/>
                </a:solidFill>
              </a:rPr>
              <a:t>$350 - $500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20574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A1A05"/>
                </a:solidFill>
              </a:rPr>
              <a:t>Flowers and decorations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205740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4A1A"/>
                </a:solidFill>
              </a:rPr>
              <a:t>$400 - $600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23317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A1A05"/>
                </a:solidFill>
              </a:rPr>
              <a:t>Sound and audiovisual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233172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4A1A"/>
                </a:solidFill>
              </a:rPr>
              <a:t>$300 - $500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0" y="2606039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A1A05"/>
                </a:solidFill>
              </a:rPr>
              <a:t>Photography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2606039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4A1A"/>
                </a:solidFill>
              </a:rPr>
              <a:t>$400 - $600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0" y="2880359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A1A05"/>
                </a:solidFill>
              </a:rPr>
              <a:t>Guest minister honorarium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2880359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4A1A"/>
                </a:solidFill>
              </a:rPr>
              <a:t>$200 - $400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0" y="3154679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A1A05"/>
                </a:solidFill>
              </a:rPr>
              <a:t>Choir accompanist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3154679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4A1A"/>
                </a:solidFill>
              </a:rPr>
              <a:t>$150 - $250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80" y="3428999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A1A05"/>
                </a:solidFill>
              </a:rPr>
              <a:t>Memorial display and archive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3428999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4A1A"/>
                </a:solidFill>
              </a:rPr>
              <a:t>$200 - $350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17720" y="3703319"/>
            <a:ext cx="4206240" cy="9144"/>
          </a:xfrm>
          <a:prstGeom prst="rect">
            <a:avLst/>
          </a:prstGeom>
          <a:solidFill>
            <a:srgbClr val="EEE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54880" y="3977639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4A1A"/>
                </a:solidFill>
              </a:rPr>
              <a:t>TOTAL ESTIMATED RANGE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3977639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4A1A"/>
                </a:solidFill>
              </a:rPr>
              <a:t>$3,800 - $5,600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" y="52120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A1A05"/>
                </a:solidFill>
              </a:rPr>
              <a:t>Any commitment at or above the board approval threshold requires full deacon board review before signing. Budget to be confirmed at the next board meeting.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A1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B89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B89630"/>
                </a:solidFill>
              </a:rPr>
              <a:t>Volunteer and Committee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C098"/>
                </a:solidFill>
              </a:rPr>
              <a:t>Who is responsible for what on the day and in the weeks before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2A1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93408"/>
            <a:ext cx="8778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89630"/>
                </a:solidFill>
              </a:rPr>
              <a:t>Greater Hope Baptist Church 75th Anniversary | Planning Document | February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097280"/>
            <a:ext cx="8686800" cy="320040"/>
          </a:xfrm>
          <a:prstGeom prst="rect">
            <a:avLst/>
          </a:prstGeom>
          <a:solidFill>
            <a:srgbClr val="2A1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52144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89630"/>
                </a:solidFill>
              </a:rPr>
              <a:t>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152144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89630"/>
                </a:solidFill>
              </a:rPr>
              <a:t>Assigned 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1152144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89630"/>
                </a:solidFill>
              </a:rPr>
              <a:t>Responsibilities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1435607"/>
            <a:ext cx="8686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517904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4A1A"/>
                </a:solidFill>
              </a:rPr>
              <a:t>Lead Coordinator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151790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A1A05"/>
                </a:solidFill>
              </a:rPr>
              <a:t>Deacon Shawn Dawson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59" y="1517904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66"/>
                </a:solidFill>
              </a:rPr>
              <a:t>Overall planning, budget oversight, final program approval, day-of coordination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1856231"/>
            <a:ext cx="8686800" cy="411480"/>
          </a:xfrm>
          <a:prstGeom prst="rect">
            <a:avLst/>
          </a:prstGeom>
          <a:solidFill>
            <a:srgbClr val="F8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1938527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4A1A"/>
                </a:solidFill>
              </a:rPr>
              <a:t>Church Secretary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1938527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A1A05"/>
                </a:solidFill>
              </a:rPr>
              <a:t>Linda Marsh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59" y="1938527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66"/>
                </a:solidFill>
              </a:rPr>
              <a:t>Communications, RSVPs, bulletin insert, member notifications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" y="2276856"/>
            <a:ext cx="8686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359151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4A1A"/>
                </a:solidFill>
              </a:rPr>
              <a:t>Facilities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2359151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A1A05"/>
                </a:solidFill>
              </a:rPr>
              <a:t>To be assigned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59" y="2359151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66"/>
                </a:solidFill>
              </a:rPr>
              <a:t>Room setup, parking, AV check, reception tables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" y="2697479"/>
            <a:ext cx="8686800" cy="411480"/>
          </a:xfrm>
          <a:prstGeom prst="rect">
            <a:avLst/>
          </a:prstGeom>
          <a:solidFill>
            <a:srgbClr val="F8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2779775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4A1A"/>
                </a:solidFill>
              </a:rPr>
              <a:t>Catering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2779775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A1A05"/>
                </a:solidFill>
              </a:rPr>
              <a:t>To be assigned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59" y="2779775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66"/>
                </a:solidFill>
              </a:rPr>
              <a:t>Food coordination and serving team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" y="3118103"/>
            <a:ext cx="8686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3200399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4A1A"/>
                </a:solidFill>
              </a:rPr>
              <a:t>Photography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3200399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A1A05"/>
                </a:solidFill>
              </a:rPr>
              <a:t>To be assigned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59" y="3200399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66"/>
                </a:solidFill>
              </a:rPr>
              <a:t>Event photography, archive display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" y="3538727"/>
            <a:ext cx="8686800" cy="411480"/>
          </a:xfrm>
          <a:prstGeom prst="rect">
            <a:avLst/>
          </a:prstGeom>
          <a:solidFill>
            <a:srgbClr val="F8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3621023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4A1A"/>
                </a:solidFill>
              </a:rPr>
              <a:t>Hospitality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20" y="3621023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A1A05"/>
                </a:solidFill>
              </a:rPr>
              <a:t>To be assigned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59" y="3621023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66"/>
                </a:solidFill>
              </a:rPr>
              <a:t>Welcome table, visitor management, elder assistance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" y="3959352"/>
            <a:ext cx="8686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04164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4A1A"/>
                </a:solidFill>
              </a:rPr>
              <a:t>Choir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03120" y="404164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A1A05"/>
                </a:solidFill>
              </a:rPr>
              <a:t>Church music director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23359" y="404164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66"/>
                </a:solidFill>
              </a:rPr>
              <a:t>Musical selections and rehearsal coordination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A1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B89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B89630"/>
                </a:solidFill>
              </a:rPr>
              <a:t>Pre-Event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C098"/>
                </a:solidFill>
              </a:rPr>
              <a:t>Tasks to complete before October 17,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2A1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93408"/>
            <a:ext cx="8778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89630"/>
                </a:solidFill>
              </a:rPr>
              <a:t>Greater Hope Baptist Church 75th Anniversary | Planning Document | February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097280"/>
            <a:ext cx="8686800" cy="320040"/>
          </a:xfrm>
          <a:prstGeom prst="rect">
            <a:avLst/>
          </a:prstGeom>
          <a:solidFill>
            <a:srgbClr val="2A1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52144"/>
            <a:ext cx="960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89630"/>
                </a:solidFill>
              </a:rPr>
              <a:t>Priority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152144"/>
            <a:ext cx="4526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89630"/>
                </a:solidFill>
              </a:rPr>
              <a:t>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15214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89630"/>
                </a:solidFill>
              </a:rPr>
              <a:t>Timing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1435607"/>
            <a:ext cx="8686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517904"/>
            <a:ext cx="9601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4A1A"/>
                </a:solidFill>
              </a:rPr>
              <a:t>Board approval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1517904"/>
            <a:ext cx="4526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A1A05"/>
                </a:solidFill>
              </a:rPr>
              <a:t>Confirm budget at next deacon board meeting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517904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66"/>
                </a:solidFill>
              </a:rPr>
              <a:t>Priority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1828799"/>
            <a:ext cx="8686800" cy="384048"/>
          </a:xfrm>
          <a:prstGeom prst="rect">
            <a:avLst/>
          </a:prstGeom>
          <a:solidFill>
            <a:srgbClr val="F8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1911095"/>
            <a:ext cx="9601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4A1A"/>
                </a:solidFill>
              </a:rPr>
              <a:t>Catering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1911095"/>
            <a:ext cx="4526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A1A05"/>
                </a:solidFill>
              </a:rPr>
              <a:t>Select vendor and sign contract - minimum 6 weeks 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911095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66"/>
                </a:solidFill>
              </a:rPr>
              <a:t>Priority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" y="2221991"/>
            <a:ext cx="8686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304287"/>
            <a:ext cx="9601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4A1A"/>
                </a:solidFill>
              </a:rPr>
              <a:t>Program booklet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2304287"/>
            <a:ext cx="4526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A1A05"/>
                </a:solidFill>
              </a:rPr>
              <a:t>Design, review, and print - 3 weeks before event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304287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66"/>
                </a:solidFill>
              </a:rPr>
              <a:t>Priority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" y="2615184"/>
            <a:ext cx="8686800" cy="384048"/>
          </a:xfrm>
          <a:prstGeom prst="rect">
            <a:avLst/>
          </a:prstGeom>
          <a:solidFill>
            <a:srgbClr val="F8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2697479"/>
            <a:ext cx="9601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4A1A"/>
                </a:solidFill>
              </a:rPr>
              <a:t>Guest invitations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2697479"/>
            <a:ext cx="4526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A1A05"/>
                </a:solidFill>
              </a:rPr>
              <a:t>Mail to founding families and long-tenured members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697479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66"/>
                </a:solidFill>
              </a:rPr>
              <a:t>4 weeks out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" y="3008376"/>
            <a:ext cx="8686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3090672"/>
            <a:ext cx="9601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4A1A"/>
                </a:solidFill>
              </a:rPr>
              <a:t>Sound 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3090672"/>
            <a:ext cx="4526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A1A05"/>
                </a:solidFill>
              </a:rPr>
              <a:t>Schedule AV team walkthrough day before event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3090672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66"/>
                </a:solidFill>
              </a:rPr>
              <a:t>1 week out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" y="3401568"/>
            <a:ext cx="8686800" cy="384048"/>
          </a:xfrm>
          <a:prstGeom prst="rect">
            <a:avLst/>
          </a:prstGeom>
          <a:solidFill>
            <a:srgbClr val="F8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3483864"/>
            <a:ext cx="9601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4A1A"/>
                </a:solidFill>
              </a:rPr>
              <a:t>Archive display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08760" y="3483864"/>
            <a:ext cx="4526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A1A05"/>
                </a:solidFill>
              </a:rPr>
              <a:t>Gather founding photos and historic church documents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3483864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66"/>
                </a:solidFill>
              </a:rPr>
              <a:t>4 weeks out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" y="3794760"/>
            <a:ext cx="8686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3877056"/>
            <a:ext cx="9601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4A1A"/>
                </a:solidFill>
              </a:rPr>
              <a:t>Bulletin announcement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08760" y="3877056"/>
            <a:ext cx="4526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A1A05"/>
                </a:solidFill>
              </a:rPr>
              <a:t>Pastor Caldwell to announce from pulpit - 4 Sundays before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3877056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66"/>
                </a:solidFill>
              </a:rPr>
              <a:t>Ongoing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6032" y="4187952"/>
            <a:ext cx="8686800" cy="384048"/>
          </a:xfrm>
          <a:prstGeom prst="rect">
            <a:avLst/>
          </a:prstGeom>
          <a:solidFill>
            <a:srgbClr val="F8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4270248"/>
            <a:ext cx="9601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4A1A"/>
                </a:solidFill>
              </a:rPr>
              <a:t>Final headcount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08760" y="4270248"/>
            <a:ext cx="4526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A1A05"/>
                </a:solidFill>
              </a:rPr>
              <a:t>Lock attendance count 2 weeks before for catering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4270248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66"/>
                </a:solidFill>
              </a:rPr>
              <a:t>2 weeks out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6032" y="4581144"/>
            <a:ext cx="8686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4663440"/>
            <a:ext cx="9601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4A1A"/>
                </a:solidFill>
              </a:rPr>
              <a:t>Thank you letters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08760" y="4663440"/>
            <a:ext cx="4526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A1A05"/>
                </a:solidFill>
              </a:rPr>
              <a:t>Prepare for all volunteers and donors post-event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4663440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66"/>
                </a:solidFill>
              </a:rPr>
              <a:t>Post-event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1A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B89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B89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B89630"/>
                </a:solidFill>
              </a:rPr>
              <a:t>Seventy-Five Years of Greater Hope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DF6E3"/>
                </a:solidFill>
              </a:rPr>
              <a:t>The goal is a full house and a warm welcome.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29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0C098"/>
                </a:solidFill>
              </a:rPr>
              <a:t>Every member who helped build this church deserves to be seen on October 17, 2026.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89630"/>
                </a:solidFill>
              </a:rPr>
              <a:t>Greater Hope Baptist Church - 16400 Pembroke Avenue, Detroit, MI 48235 - (313) 555-6650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834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9070"/>
                </a:solidFill>
              </a:rPr>
              <a:t>Lead Coordinator: Deacon Shawn Dawson - (313) 555-3920 | Secretary: Linda Marsh - (313) 555-1144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