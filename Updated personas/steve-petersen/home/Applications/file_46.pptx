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F2F5F7"/>
                </a:solidFill>
              </a:rPr>
              <a:t>Certifications by Process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Certifications</c:v>
                </c:pt>
              </c:strCache>
            </c:strRef>
          </c:tx>
          <c:spPr>
            <a:solidFill>
              <a:srgbClr val="FF7A18"/>
            </a:solidFill>
          </c:spPr>
          <c:cat>
            <c:strRef>
              <c:f>Sheet1!$A$2:$A$5</c:f>
              <c:strCache>
                <c:ptCount val="4"/>
                <c:pt idx="0">
                  <c:v>GMAW</c:v>
                </c:pt>
                <c:pt idx="1">
                  <c:v>SMAW</c:v>
                </c:pt>
                <c:pt idx="2">
                  <c:v>Oxy-fuel</c:v>
                </c:pt>
                <c:pt idx="3">
                  <c:v>Pipe fit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6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>
                <a:solidFill>
                  <a:srgbClr val="F2F5F7"/>
                </a:solidFill>
              </a:rPr>
              <a:t>Placement Outcome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FF7A18"/>
              </a:solidFill>
            </c:spPr>
          </c:dPt>
          <c:dPt>
            <c:idx val="1"/>
            <c:spPr>
              <a:solidFill>
                <a:srgbClr val="4AA3DF"/>
              </a:solidFill>
            </c:spPr>
          </c:dPt>
          <c:cat>
            <c:strRef>
              <c:f>Sheet1!$A$2:$A$3</c:f>
              <c:strCache>
                <c:ptCount val="2"/>
                <c:pt idx="0">
                  <c:v>Placed</c:v>
                </c:pt>
                <c:pt idx="1">
                  <c:v>Interviewing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</c:v>
                </c:pt>
                <c:pt idx="1">
                  <c:v>7</c:v>
                </c:pt>
              </c:numCache>
            </c:numRef>
          </c:val>
        </c:ser>
        <c:dLbls>
          <c:numFmt formatCode="0&quot;%&quot;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2F5F7"/>
                </a:solidFill>
                <a:latin typeface="Calibri"/>
              </a:rPr>
              <a:t>Welding Certification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7A18"/>
                </a:solidFill>
                <a:latin typeface="Calibri"/>
              </a:rPr>
              <a:t>January 2026 Cohort, Three Rivers Trade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FB0B8"/>
                </a:solidFill>
                <a:latin typeface="Calibri"/>
              </a:rPr>
              <a:t>Instructor of record: Steve Petersen Jr.   Strip District, Pittsburgh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2F5F7"/>
                </a:solidFill>
                <a:latin typeface="Calibri"/>
              </a:rPr>
              <a:t>Cohort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2560320" cy="1828800"/>
          </a:xfrm>
          <a:prstGeom prst="rect">
            <a:avLst/>
          </a:prstGeom>
          <a:solidFill>
            <a:srgbClr val="27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2560320" cy="9144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4AA3DF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FB0B8"/>
                </a:solidFill>
                <a:latin typeface="Calibri"/>
              </a:rPr>
              <a:t>Students enrolled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79" y="1371600"/>
            <a:ext cx="2560320" cy="1828800"/>
          </a:xfrm>
          <a:prstGeom prst="rect">
            <a:avLst/>
          </a:prstGeom>
          <a:solidFill>
            <a:srgbClr val="27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11879" y="1371600"/>
            <a:ext cx="2560320" cy="9144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73736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4AA3DF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265176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FB0B8"/>
                </a:solidFill>
                <a:latin typeface="Calibri"/>
              </a:rPr>
              <a:t>Pass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2560320" cy="1828800"/>
          </a:xfrm>
          <a:prstGeom prst="rect">
            <a:avLst/>
          </a:prstGeom>
          <a:solidFill>
            <a:srgbClr val="27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2560320" cy="9144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4AA3DF"/>
                </a:solidFill>
                <a:latin typeface="Calibri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FB0B8"/>
                </a:solidFill>
                <a:latin typeface="Calibri"/>
              </a:rPr>
              <a:t>Placed in trades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19" y="1371600"/>
            <a:ext cx="2560320" cy="1828800"/>
          </a:xfrm>
          <a:prstGeom prst="rect">
            <a:avLst/>
          </a:prstGeom>
          <a:solidFill>
            <a:srgbClr val="273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89719" y="1371600"/>
            <a:ext cx="2560320" cy="9144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173736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4AA3DF"/>
                </a:solidFill>
                <a:latin typeface="Calibri"/>
              </a:rP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265176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FB0B8"/>
                </a:solidFill>
                <a:latin typeface="Calibri"/>
              </a:rPr>
              <a:t>Week program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822960" y="3566160"/>
          <a:ext cx="105156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2F5F7"/>
                </a:solidFill>
                <a:latin typeface="Calibri"/>
              </a:rPr>
              <a:t>Results and Placement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51206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0" y="1554480"/>
          <a:ext cx="56692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529"/>
                          </a:solidFill>
                        </a:rPr>
                        <a:t>Student</a:t>
                      </a:r>
                    </a:p>
                  </a:txBody>
                  <a:tcPr>
                    <a:solidFill>
                      <a:srgbClr val="FF7A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529"/>
                          </a:solidFill>
                        </a:rPr>
                        <a:t>Process</a:t>
                      </a:r>
                    </a:p>
                  </a:txBody>
                  <a:tcPr>
                    <a:solidFill>
                      <a:srgbClr val="FF7A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529"/>
                          </a:solidFill>
                        </a:rPr>
                        <a:t>Position</a:t>
                      </a:r>
                    </a:p>
                  </a:txBody>
                  <a:tcPr>
                    <a:solidFill>
                      <a:srgbClr val="FF7A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529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FF7A1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Marcus Williams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GMAW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3G Vertical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Placed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A. Bauer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SMAW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2G Horizontal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Placed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C. Delgado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GMAW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1G Flat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Placed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D. Okafor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SMAW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3G Vertical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Interviewing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E. Ruszkowski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GMAW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4G Overhead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2F5F7"/>
                          </a:solidFill>
                        </a:rPr>
                        <a:t>Placed</a:t>
                      </a:r>
                    </a:p>
                  </a:txBody>
                  <a:tcPr>
                    <a:solidFill>
                      <a:srgbClr val="273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2F5F7"/>
                </a:solidFill>
                <a:latin typeface="Calibri"/>
              </a:rPr>
              <a:t>October 2026 Program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91840"/>
            <a:ext cx="10515600" cy="50800"/>
          </a:xfrm>
          <a:prstGeom prst="rect">
            <a:avLst/>
          </a:prstGeom>
          <a:solidFill>
            <a:srgbClr val="4A5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" y="3145536"/>
            <a:ext cx="402336" cy="402336"/>
          </a:xfrm>
          <a:prstGeom prst="ellipse">
            <a:avLst/>
          </a:prstGeom>
          <a:solidFill>
            <a:srgbClr val="FF7A1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24231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7A18"/>
                </a:solidFill>
                <a:latin typeface="Calibri"/>
              </a:rPr>
              <a:t>Weeks 1-4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74320" y="361188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2F5F7"/>
                </a:solidFill>
                <a:latin typeface="Calibri"/>
              </a:rPr>
              <a:t>Foundations and safety sign-off</a:t>
            </a:r>
          </a:p>
        </p:txBody>
      </p:sp>
      <p:sp>
        <p:nvSpPr>
          <p:cNvPr id="7" name="Oval 6"/>
          <p:cNvSpPr/>
          <p:nvPr/>
        </p:nvSpPr>
        <p:spPr>
          <a:xfrm>
            <a:off x="4126992" y="3145536"/>
            <a:ext cx="402336" cy="402336"/>
          </a:xfrm>
          <a:prstGeom prst="ellipse">
            <a:avLst/>
          </a:prstGeom>
          <a:solidFill>
            <a:srgbClr val="FF7A1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30880" y="24231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7A18"/>
                </a:solidFill>
                <a:latin typeface="Calibri"/>
              </a:rPr>
              <a:t>Weeks 5-9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0880" y="361188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2F5F7"/>
                </a:solidFill>
                <a:latin typeface="Calibri"/>
              </a:rPr>
              <a:t>SMAW and GMAW training</a:t>
            </a:r>
          </a:p>
        </p:txBody>
      </p:sp>
      <p:sp>
        <p:nvSpPr>
          <p:cNvPr id="10" name="Oval 9"/>
          <p:cNvSpPr/>
          <p:nvPr/>
        </p:nvSpPr>
        <p:spPr>
          <a:xfrm>
            <a:off x="7632192" y="3145536"/>
            <a:ext cx="402336" cy="402336"/>
          </a:xfrm>
          <a:prstGeom prst="ellipse">
            <a:avLst/>
          </a:prstGeom>
          <a:solidFill>
            <a:srgbClr val="FF7A1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6080" y="24231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7A18"/>
                </a:solidFill>
                <a:latin typeface="Calibri"/>
              </a:rPr>
              <a:t>Weeks 10-14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6080" y="361188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2F5F7"/>
                </a:solidFill>
                <a:latin typeface="Calibri"/>
              </a:rPr>
              <a:t>Position welding, pipe fit-up</a:t>
            </a:r>
          </a:p>
        </p:txBody>
      </p:sp>
      <p:sp>
        <p:nvSpPr>
          <p:cNvPr id="13" name="Oval 12"/>
          <p:cNvSpPr/>
          <p:nvPr/>
        </p:nvSpPr>
        <p:spPr>
          <a:xfrm>
            <a:off x="11137392" y="3145536"/>
            <a:ext cx="402336" cy="402336"/>
          </a:xfrm>
          <a:prstGeom prst="ellipse">
            <a:avLst/>
          </a:prstGeom>
          <a:solidFill>
            <a:srgbClr val="FF7A1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0" y="24231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7A18"/>
                </a:solidFill>
                <a:latin typeface="Calibri"/>
              </a:rPr>
              <a:t>Weeks 15-16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61188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2F5F7"/>
                </a:solidFill>
                <a:latin typeface="Calibri"/>
              </a:rPr>
              <a:t>Certification and placement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FB0B8"/>
                </a:solidFill>
                <a:latin typeface="Calibri"/>
              </a:rPr>
              <a:t>Class meets Monday through Thursday, 8 AM to 3 PM. Fridays reserved for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