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EEF3F5"/>
                </a:solidFill>
              </a:rPr>
              <a:t>Letters Submitted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Letters</c:v>
                </c:pt>
              </c:strCache>
            </c:strRef>
          </c:tx>
          <c:spPr>
            <a:ln w="31750">
              <a:solidFill>
                <a:srgbClr val="B5532A"/>
              </a:solidFill>
            </a:ln>
          </c:spPr>
          <c:cat>
            <c:strRef>
              <c:f>Sheet1!$A$2:$A$5</c:f>
              <c:strCache>
                <c:ptCount val="4"/>
                <c:pt idx="0">
                  <c:v>Nov 2025</c:v>
                </c:pt>
                <c:pt idx="1">
                  <c:v>Dec 2025</c:v>
                </c:pt>
                <c:pt idx="2">
                  <c:v>Jan 2026</c:v>
                </c:pt>
                <c:pt idx="3">
                  <c:v>Feb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42</c:v>
                </c:pt>
                <c:pt idx="3">
                  <c:v>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>
                <a:solidFill>
                  <a:srgbClr val="EEF3F5"/>
                </a:solidFill>
              </a:rPr>
              <a:t>Committee Focus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B5532A"/>
              </a:solidFill>
            </c:spPr>
          </c:dPt>
          <c:dPt>
            <c:idx val="1"/>
            <c:spPr>
              <a:solidFill>
                <a:srgbClr val="3D7A99"/>
              </a:solidFill>
            </c:spPr>
          </c:dPt>
          <c:dPt>
            <c:idx val="2"/>
            <c:spPr>
              <a:solidFill>
                <a:srgbClr val="D8A23A"/>
              </a:solidFill>
            </c:spPr>
          </c:dPt>
          <c:cat>
            <c:strRef>
              <c:f>Sheet1!$A$2:$A$4</c:f>
              <c:strCache>
                <c:ptCount val="3"/>
                <c:pt idx="0">
                  <c:v>Benefits</c:v>
                </c:pt>
                <c:pt idx="1">
                  <c:v>Outreach</c:v>
                </c:pt>
                <c:pt idx="2">
                  <c:v>Records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dLbls>
          <c:numFmt formatCode="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09728"/>
          </a:xfrm>
          <a:prstGeom prst="rect">
            <a:avLst/>
          </a:prstGeom>
          <a:solidFill>
            <a:srgbClr val="D8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EEF3F5"/>
                </a:solidFill>
                <a:latin typeface="Calibri"/>
              </a:rPr>
              <a:t>Retiree Health Co-Pay Campaign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8A23A"/>
                </a:solidFill>
                <a:latin typeface="Calibri"/>
              </a:rPr>
              <a:t>USW Local 1437 Retiree Advisory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7BCC7"/>
                </a:solidFill>
                <a:latin typeface="Calibri"/>
              </a:rPr>
              <a:t>Prepared for the board by Steve Petersen Jr., Benefits Advocacy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EF3F5"/>
                </a:solidFill>
                <a:latin typeface="Calibri"/>
              </a:rPr>
              <a:t>Campaign Momentum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80160"/>
            <a:ext cx="2560320" cy="1554480"/>
          </a:xfrm>
          <a:prstGeom prst="rect">
            <a:avLst/>
          </a:prstGeom>
          <a:solidFill>
            <a:srgbClr val="21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280160"/>
            <a:ext cx="91440" cy="1554480"/>
          </a:xfrm>
          <a:prstGeom prst="rect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8A23A"/>
                </a:solidFill>
                <a:latin typeface="Calibri"/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CC7"/>
                </a:solidFill>
                <a:latin typeface="Calibri"/>
              </a:rPr>
              <a:t>Letters collected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79" y="1280160"/>
            <a:ext cx="2560320" cy="1554480"/>
          </a:xfrm>
          <a:prstGeom prst="rect">
            <a:avLst/>
          </a:prstGeom>
          <a:solidFill>
            <a:srgbClr val="21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79" y="1280160"/>
            <a:ext cx="91440" cy="1554480"/>
          </a:xfrm>
          <a:prstGeom prst="rect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4630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8A23A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2860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CC7"/>
                </a:solidFill>
                <a:latin typeface="Calibri"/>
              </a:rPr>
              <a:t>Board members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2560320" cy="1554480"/>
          </a:xfrm>
          <a:prstGeom prst="rect">
            <a:avLst/>
          </a:prstGeom>
          <a:solidFill>
            <a:srgbClr val="21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91440" cy="1554480"/>
          </a:xfrm>
          <a:prstGeom prst="rect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8A23A"/>
                </a:solidFill>
                <a:latin typeface="Calibri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CC7"/>
                </a:solidFill>
                <a:latin typeface="Calibri"/>
              </a:rPr>
              <a:t>Steve years of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1280160"/>
            <a:ext cx="2560320" cy="1554480"/>
          </a:xfrm>
          <a:prstGeom prst="rect">
            <a:avLst/>
          </a:prstGeom>
          <a:solidFill>
            <a:srgbClr val="214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89719" y="1280160"/>
            <a:ext cx="91440" cy="1554480"/>
          </a:xfrm>
          <a:prstGeom prst="rect">
            <a:avLst/>
          </a:prstGeom>
          <a:solidFill>
            <a:srgbClr val="B5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14630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D8A23A"/>
                </a:solidFill>
                <a:latin typeface="Calibri"/>
              </a:rP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22860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7BCC7"/>
                </a:solidFill>
                <a:latin typeface="Calibri"/>
              </a:rPr>
              <a:t>Increase accepted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2960" y="3108960"/>
          <a:ext cx="10515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EF3F5"/>
                </a:solidFill>
                <a:latin typeface="Calibri"/>
              </a:rPr>
              <a:t>Board Composition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554480"/>
          <a:ext cx="5486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13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D8A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13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D8A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313F"/>
                          </a:solidFill>
                        </a:rPr>
                        <a:t>Years</a:t>
                      </a:r>
                    </a:p>
                  </a:txBody>
                  <a:tcPr>
                    <a:solidFill>
                      <a:srgbClr val="D8A2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Steve Petersen Jr.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Board member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T. Kowalczyk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Chair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R. Sienkiewicz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Secretary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W. Dunlavey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Treasurer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41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S. Polanski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Health co-pay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EF3F5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146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EF3F5"/>
                </a:solidFill>
                <a:latin typeface="Calibri"/>
              </a:rPr>
              <a:t>Path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291840"/>
            <a:ext cx="10515600" cy="50800"/>
          </a:xfrm>
          <a:prstGeom prst="rect">
            <a:avLst/>
          </a:prstGeom>
          <a:solidFill>
            <a:srgbClr val="3D6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" y="3145536"/>
            <a:ext cx="402336" cy="402336"/>
          </a:xfrm>
          <a:prstGeom prst="ellipse">
            <a:avLst/>
          </a:prstGeom>
          <a:solidFill>
            <a:srgbClr val="D8A23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7432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8A23A"/>
                </a:solidFill>
                <a:latin typeface="Calibri"/>
              </a:rPr>
              <a:t>Oct 14,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7432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EF3F5"/>
                </a:solidFill>
                <a:latin typeface="Calibri"/>
              </a:rPr>
              <a:t>Board meeting, packet review</a:t>
            </a:r>
          </a:p>
        </p:txBody>
      </p:sp>
      <p:sp>
        <p:nvSpPr>
          <p:cNvPr id="7" name="Oval 6"/>
          <p:cNvSpPr/>
          <p:nvPr/>
        </p:nvSpPr>
        <p:spPr>
          <a:xfrm>
            <a:off x="5879592" y="3145536"/>
            <a:ext cx="402336" cy="402336"/>
          </a:xfrm>
          <a:prstGeom prst="ellipse">
            <a:avLst/>
          </a:prstGeom>
          <a:solidFill>
            <a:srgbClr val="D8A23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8A23A"/>
                </a:solidFill>
                <a:latin typeface="Calibri"/>
              </a:rPr>
              <a:t>Nov 11,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EF3F5"/>
                </a:solidFill>
                <a:latin typeface="Calibri"/>
              </a:rPr>
              <a:t>Veterans Day event at hall</a:t>
            </a:r>
          </a:p>
        </p:txBody>
      </p:sp>
      <p:sp>
        <p:nvSpPr>
          <p:cNvPr id="10" name="Oval 9"/>
          <p:cNvSpPr/>
          <p:nvPr/>
        </p:nvSpPr>
        <p:spPr>
          <a:xfrm>
            <a:off x="11137392" y="3145536"/>
            <a:ext cx="402336" cy="402336"/>
          </a:xfrm>
          <a:prstGeom prst="ellipse">
            <a:avLst/>
          </a:prstGeom>
          <a:solidFill>
            <a:srgbClr val="D8A23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242316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D8A23A"/>
                </a:solidFill>
                <a:latin typeface="Calibri"/>
              </a:rPr>
              <a:t>Dec 9,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3611880"/>
            <a:ext cx="2194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EEF3F5"/>
                </a:solidFill>
                <a:latin typeface="Calibri"/>
              </a:rPr>
              <a:t>Year-end benefits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7BCC7"/>
                </a:solidFill>
                <a:latin typeface="Calibri"/>
              </a:rPr>
              <a:t>Board meets the second Wednesday of each month at 5:00 PM at the union hall.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