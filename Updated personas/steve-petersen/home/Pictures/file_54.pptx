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2B2014"/>
                </a:solidFill>
              </a:rPr>
              <a:t>Stock by Piece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in stock</c:v>
                </c:pt>
              </c:strCache>
            </c:strRef>
          </c:tx>
          <c:spPr>
            <a:solidFill>
              <a:srgbClr val="A9742F"/>
            </a:solidFill>
          </c:spPr>
          <c:cat>
            <c:strRef>
              <c:f>Sheet1!$A$2:$A$6</c:f>
              <c:strCache>
                <c:ptCount val="5"/>
                <c:pt idx="0">
                  <c:v>Birdhouse</c:v>
                </c:pt>
                <c:pt idx="1">
                  <c:v>Board</c:v>
                </c:pt>
                <c:pt idx="2">
                  <c:v>Spice</c:v>
                </c:pt>
                <c:pt idx="3">
                  <c:v>Box</c:v>
                </c:pt>
                <c:pt idx="4">
                  <c:v>Horse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>
                <a:solidFill>
                  <a:srgbClr val="2B2014"/>
                </a:solidFill>
              </a:rPr>
              <a:t>Sales by Wood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9742F"/>
              </a:solidFill>
            </c:spPr>
          </c:dPt>
          <c:dPt>
            <c:idx val="1"/>
            <c:spPr>
              <a:solidFill>
                <a:srgbClr val="5A3D23"/>
              </a:solidFill>
            </c:spPr>
          </c:dPt>
          <c:dPt>
            <c:idx val="2"/>
            <c:spPr>
              <a:solidFill>
                <a:srgbClr val="6B7A4F"/>
              </a:solidFill>
            </c:spPr>
          </c:dPt>
          <c:dPt>
            <c:idx val="3"/>
            <c:spPr>
              <a:solidFill>
                <a:srgbClr val="C79A4A"/>
              </a:solidFill>
            </c:spPr>
          </c:dPt>
          <c:cat>
            <c:strRef>
              <c:f>Sheet1!$A$2:$A$5</c:f>
              <c:strCache>
                <c:ptCount val="4"/>
                <c:pt idx="0">
                  <c:v>Maple/Walnut</c:v>
                </c:pt>
                <c:pt idx="1">
                  <c:v>Cherry</c:v>
                </c:pt>
                <c:pt idx="2">
                  <c:v>Oak</c:v>
                </c:pt>
                <c:pt idx="3">
                  <c:v>Cedar/Pine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A9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EFE6"/>
                </a:solidFill>
                <a:latin typeface="Calibri"/>
              </a:rPr>
              <a:t>South Side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D8C0"/>
                </a:solidFill>
                <a:latin typeface="Calibri"/>
              </a:rPr>
              <a:t>Hand-Built Pieces for the St. Michael's Craft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B89A"/>
                </a:solidFill>
                <a:latin typeface="Calibri"/>
              </a:rPr>
              <a:t>Built one at a time in a Pittsburgh garage by Steve Petersen Jr.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A3D23"/>
                </a:solidFill>
                <a:latin typeface="Calibri"/>
              </a:rPr>
              <a:t>Catalog and Stock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EFE6"/>
                          </a:solidFill>
                        </a:rPr>
                        <a:t>Piece</a:t>
                      </a:r>
                    </a:p>
                  </a:txBody>
                  <a:tcPr>
                    <a:solidFill>
                      <a:srgbClr val="5A3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EFE6"/>
                          </a:solidFill>
                        </a:rPr>
                        <a:t>Wood</a:t>
                      </a:r>
                    </a:p>
                  </a:txBody>
                  <a:tcPr>
                    <a:solidFill>
                      <a:srgbClr val="5A3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EFE6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5A3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EFE6"/>
                          </a:solidFill>
                        </a:rPr>
                        <a:t>Stock</a:t>
                      </a:r>
                    </a:p>
                  </a:txBody>
                  <a:tcPr>
                    <a:solidFill>
                      <a:srgbClr val="5A3D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Cutting 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Maple and walnut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$45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Birdhouse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Cedar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$30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Rocking horse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Poplar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Spice 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Oak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$35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Jewelry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Cherry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$55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463040"/>
          <a:ext cx="52120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A3D23"/>
                </a:solidFill>
                <a:latin typeface="Calibri"/>
              </a:rPr>
              <a:t>Sales Mix and Queue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8288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Commission</a:t>
                      </a:r>
                    </a:p>
                  </a:txBody>
                  <a:tcPr>
                    <a:solidFill>
                      <a:srgbClr val="A97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A974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Cherry jewelry box for Carol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Joinery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Maple dining 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Design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Walnut boards, set of four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014"/>
                          </a:solidFill>
                        </a:rPr>
                        <a:t>Second oil coat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41148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3D23"/>
                </a:solidFill>
                <a:latin typeface="Calibri"/>
              </a:rPr>
              <a:t>Rags kept in a sealed metal can. Bench takes paste wax once assembled.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A3D23"/>
                </a:solidFill>
                <a:latin typeface="Calibri"/>
              </a:rPr>
              <a:t>From Lumber to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10515600" cy="50800"/>
          </a:xfrm>
          <a:prstGeom prst="rect">
            <a:avLst/>
          </a:prstGeom>
          <a:solidFill>
            <a:srgbClr val="D8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3145536"/>
            <a:ext cx="402336" cy="402336"/>
          </a:xfrm>
          <a:prstGeom prst="ellipse">
            <a:avLst/>
          </a:prstGeom>
          <a:solidFill>
            <a:srgbClr val="A9742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9742F"/>
                </a:solidFill>
                <a:latin typeface="Calibri"/>
              </a:rPr>
              <a:t>Rough lumber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7432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2014"/>
                </a:solidFill>
                <a:latin typeface="Calibri"/>
              </a:rPr>
              <a:t>Stock selected and dried</a:t>
            </a:r>
          </a:p>
        </p:txBody>
      </p:sp>
      <p:sp>
        <p:nvSpPr>
          <p:cNvPr id="7" name="Oval 6"/>
          <p:cNvSpPr/>
          <p:nvPr/>
        </p:nvSpPr>
        <p:spPr>
          <a:xfrm>
            <a:off x="3250692" y="3145536"/>
            <a:ext cx="402336" cy="402336"/>
          </a:xfrm>
          <a:prstGeom prst="ellipse">
            <a:avLst/>
          </a:prstGeom>
          <a:solidFill>
            <a:srgbClr val="A9742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45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9742F"/>
                </a:solidFill>
                <a:latin typeface="Calibri"/>
              </a:rPr>
              <a:t>Milling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45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2014"/>
                </a:solidFill>
                <a:latin typeface="Calibri"/>
              </a:rPr>
              <a:t>Squared and dimensioned</a:t>
            </a:r>
          </a:p>
        </p:txBody>
      </p:sp>
      <p:sp>
        <p:nvSpPr>
          <p:cNvPr id="10" name="Oval 9"/>
          <p:cNvSpPr/>
          <p:nvPr/>
        </p:nvSpPr>
        <p:spPr>
          <a:xfrm>
            <a:off x="5879592" y="3145536"/>
            <a:ext cx="402336" cy="402336"/>
          </a:xfrm>
          <a:prstGeom prst="ellipse">
            <a:avLst/>
          </a:prstGeom>
          <a:solidFill>
            <a:srgbClr val="A9742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9742F"/>
                </a:solidFill>
                <a:latin typeface="Calibri"/>
              </a:rPr>
              <a:t>Joinery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2014"/>
                </a:solidFill>
                <a:latin typeface="Calibri"/>
              </a:rPr>
              <a:t>Cut and fit by hand</a:t>
            </a:r>
          </a:p>
        </p:txBody>
      </p:sp>
      <p:sp>
        <p:nvSpPr>
          <p:cNvPr id="13" name="Oval 12"/>
          <p:cNvSpPr/>
          <p:nvPr/>
        </p:nvSpPr>
        <p:spPr>
          <a:xfrm>
            <a:off x="8508492" y="3145536"/>
            <a:ext cx="402336" cy="402336"/>
          </a:xfrm>
          <a:prstGeom prst="ellipse">
            <a:avLst/>
          </a:prstGeom>
          <a:solidFill>
            <a:srgbClr val="A9742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23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9742F"/>
                </a:solidFill>
                <a:latin typeface="Calibri"/>
              </a:rPr>
              <a:t>Finishing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2014"/>
                </a:solidFill>
                <a:latin typeface="Calibri"/>
              </a:rPr>
              <a:t>Tung oil and paste wax</a:t>
            </a:r>
          </a:p>
        </p:txBody>
      </p:sp>
      <p:sp>
        <p:nvSpPr>
          <p:cNvPr id="16" name="Oval 15"/>
          <p:cNvSpPr/>
          <p:nvPr/>
        </p:nvSpPr>
        <p:spPr>
          <a:xfrm>
            <a:off x="11137392" y="3145536"/>
            <a:ext cx="402336" cy="402336"/>
          </a:xfrm>
          <a:prstGeom prst="ellipse">
            <a:avLst/>
          </a:prstGeom>
          <a:solidFill>
            <a:srgbClr val="A9742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9742F"/>
                </a:solidFill>
                <a:latin typeface="Calibri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2014"/>
                </a:solidFill>
                <a:latin typeface="Calibri"/>
              </a:rPr>
              <a:t>Fair table December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