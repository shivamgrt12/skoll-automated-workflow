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01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Denying CAFO Permit CAFO-2026-0473</a:t>
            </a:r>
          </a:p>
        </p:txBody>
      </p:sp>
      <p:sp>
        <p:nvSpPr>
          <p:cNvPr id="205" name="TextBox 204"/>
          <p:cNvSpPr txBox="1"/>
          <p:nvPr/>
        </p:nvSpPr>
        <p:spPr>
          <a:xfrm>
            <a:off x="360000" y="1500000"/>
            <a:ext cx="11471695" cy="420000"/>
          </a:xfrm>
          <a:prstGeom prst="rect">
            <a:avLst/>
          </a:prstGeom>
          <a:noFill/>
        </p:spPr>
        <p:txBody>
          <a:bodyPr wrap="square" lIns="0" rIns="0" tIns="0" bIns="0">
            <a:spAutoFit/>
          </a:bodyPr>
          <a:lstStyle/>
          <a:p>
            <a:pPr algn="l"/>
            <a:r>
              <a:rPr sz="1600" b="0" i="1">
                <a:solidFill>
                  <a:srgbClr val="50695C"/>
                </a:solidFill>
                <a:latin typeface="Calibri"/>
              </a:rPr>
              <a:t>Three rounds of citizen monitoring across 14 river sites</a:t>
            </a:r>
          </a:p>
        </p:txBody>
      </p:sp>
      <p:sp>
        <p:nvSpPr>
          <p:cNvPr id="215" name="TextBox 214"/>
          <p:cNvSpPr txBox="1"/>
          <p:nvPr/>
        </p:nvSpPr>
        <p:spPr>
          <a:xfrm>
            <a:off x="360000" y="2100000"/>
            <a:ext cx="11471695" cy="2500000"/>
          </a:xfrm>
          <a:prstGeom prst="rect">
            <a:avLst/>
          </a:prstGeom>
          <a:noFill/>
        </p:spPr>
        <p:txBody>
          <a:bodyPr wrap="square" lIns="0" rIns="0" tIns="0" bIns="0">
            <a:spAutoFit/>
          </a:bodyPr>
          <a:lstStyle/>
          <a:p>
            <a:pPr algn="l"/>
            <a:r>
              <a:rPr sz="1500" b="0" i="0">
                <a:solidFill>
                  <a:srgbClr val="283730"/>
                </a:solidFill>
                <a:latin typeface="Calibri"/>
              </a:rPr>
              <a:t>Prepared by Stuart Myer, Water Quality Testing Lead, for board review before the October 22 county hearing. This deck walks through methodology, the headline finding at Site 12, and the Board ask.</a:t>
            </a:r>
          </a:p>
        </p:txBody>
      </p:sp>
      <p:sp>
        <p:nvSpPr>
          <p:cNvPr id="225" name="Rectangle 224"/>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27" name="TextBox 226"/>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200"/>
                                  </p:stCondLst>
                                  <p:childTnLst>
                                    <p:set>
                                      <p:cBhvr>
                                        <p:cTn id="213" dur="1" fill="hold">
                                          <p:stCondLst>
                                            <p:cond delay="0"/>
                                          </p:stCondLst>
                                        </p:cTn>
                                        <p:tgtEl>
                                          <p:spTgt spid="205"/>
                                        </p:tgtEl>
                                        <p:attrNameLst>
                                          <p:attrName>style.visibility</p:attrName>
                                        </p:attrNameLst>
                                      </p:cBhvr>
                                      <p:to>
                                        <p:strVal val="visible"/>
                                      </p:to>
                                    </p:set>
                                    <p:anim calcmode="lin" valueType="num">
                                      <p:cBhvr additive="base">
                                        <p:cTn id="214" dur="500" fill="hold"/>
                                        <p:tgtEl>
                                          <p:spTgt spid="20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200"/>
                                  </p:stCondLst>
                                  <p:childTnLst>
                                    <p:set>
                                      <p:cBhvr>
                                        <p:cTn id="223" dur="1" fill="hold">
                                          <p:stCondLst>
                                            <p:cond delay="0"/>
                                          </p:stCondLst>
                                        </p:cTn>
                                        <p:tgtEl>
                                          <p:spTgt spid="215"/>
                                        </p:tgtEl>
                                        <p:attrNameLst>
                                          <p:attrName>style.visibility</p:attrName>
                                        </p:attrNameLst>
                                      </p:cBhvr>
                                      <p:to>
                                        <p:strVal val="visible"/>
                                      </p:to>
                                    </p:set>
                                    <p:anim calcmode="lin" valueType="num">
                                      <p:cBhvr additive="base">
                                        <p:cTn id="224" dur="500" fill="hold"/>
                                        <p:tgtEl>
                                          <p:spTgt spid="21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02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Why this hearing matters</a:t>
            </a:r>
          </a:p>
        </p:txBody>
      </p:sp>
      <p:sp>
        <p:nvSpPr>
          <p:cNvPr id="205" name="TextBox 204"/>
          <p:cNvSpPr txBox="1"/>
          <p:nvPr/>
        </p:nvSpPr>
        <p:spPr>
          <a:xfrm>
            <a:off x="360000" y="1500000"/>
            <a:ext cx="11471695" cy="420000"/>
          </a:xfrm>
          <a:prstGeom prst="rect">
            <a:avLst/>
          </a:prstGeom>
          <a:noFill/>
        </p:spPr>
        <p:txBody>
          <a:bodyPr wrap="square" lIns="0" rIns="0" tIns="0" bIns="0">
            <a:spAutoFit/>
          </a:bodyPr>
          <a:lstStyle/>
          <a:p>
            <a:pPr algn="l"/>
            <a:r>
              <a:rPr sz="1600" b="0" i="1">
                <a:solidFill>
                  <a:srgbClr val="50695C"/>
                </a:solidFill>
                <a:latin typeface="Calibri"/>
              </a:rPr>
              <a:t>Site 12 has crossed the regulatory threshold for the first time</a:t>
            </a:r>
          </a:p>
        </p:txBody>
      </p:sp>
      <p:sp>
        <p:nvSpPr>
          <p:cNvPr id="215" name="Rectangle 214"/>
          <p:cNvSpPr/>
          <p:nvPr/>
        </p:nvSpPr>
        <p:spPr>
          <a:xfrm>
            <a:off x="420000" y="2280000"/>
            <a:ext cx="120000" cy="12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40000" y="2200000"/>
            <a:ext cx="10500000" cy="380000"/>
          </a:xfrm>
          <a:prstGeom prst="rect">
            <a:avLst/>
          </a:prstGeom>
          <a:noFill/>
        </p:spPr>
        <p:txBody>
          <a:bodyPr wrap="square" lIns="0" rIns="0" tIns="0" bIns="0">
            <a:spAutoFit/>
          </a:bodyPr>
          <a:lstStyle/>
          <a:p>
            <a:pPr algn="l"/>
            <a:r>
              <a:rPr sz="1600" b="0" i="0">
                <a:solidFill>
                  <a:srgbClr val="283730"/>
                </a:solidFill>
                <a:latin typeface="Calibri"/>
              </a:rPr>
              <a:t>Site 12 on Fairview Creek sits directly downstream of the CAFO parcel</a:t>
            </a:r>
          </a:p>
        </p:txBody>
      </p:sp>
      <p:sp>
        <p:nvSpPr>
          <p:cNvPr id="235" name="Rectangle 234"/>
          <p:cNvSpPr/>
          <p:nvPr/>
        </p:nvSpPr>
        <p:spPr>
          <a:xfrm>
            <a:off x="420000" y="2800000"/>
            <a:ext cx="120000" cy="12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640000" y="2720000"/>
            <a:ext cx="10500000" cy="380000"/>
          </a:xfrm>
          <a:prstGeom prst="rect">
            <a:avLst/>
          </a:prstGeom>
          <a:noFill/>
        </p:spPr>
        <p:txBody>
          <a:bodyPr wrap="square" lIns="0" rIns="0" tIns="0" bIns="0">
            <a:spAutoFit/>
          </a:bodyPr>
          <a:lstStyle/>
          <a:p>
            <a:pPr algn="l"/>
            <a:r>
              <a:rPr sz="1600" b="0" i="0">
                <a:solidFill>
                  <a:srgbClr val="283730"/>
                </a:solidFill>
                <a:latin typeface="Calibri"/>
              </a:rPr>
              <a:t>Phosphorus climbed across three rounds: 0.082, 0.089, 0.112 mg/L</a:t>
            </a:r>
          </a:p>
        </p:txBody>
      </p:sp>
      <p:sp>
        <p:nvSpPr>
          <p:cNvPr id="255" name="Rectangle 254"/>
          <p:cNvSpPr/>
          <p:nvPr/>
        </p:nvSpPr>
        <p:spPr>
          <a:xfrm>
            <a:off x="420000" y="3320000"/>
            <a:ext cx="120000" cy="12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640000" y="3240000"/>
            <a:ext cx="10500000" cy="380000"/>
          </a:xfrm>
          <a:prstGeom prst="rect">
            <a:avLst/>
          </a:prstGeom>
          <a:noFill/>
        </p:spPr>
        <p:txBody>
          <a:bodyPr wrap="square" lIns="0" rIns="0" tIns="0" bIns="0">
            <a:spAutoFit/>
          </a:bodyPr>
          <a:lstStyle/>
          <a:p>
            <a:pPr algn="l"/>
            <a:r>
              <a:rPr sz="1600" b="0" i="0">
                <a:solidFill>
                  <a:srgbClr val="283730"/>
                </a:solidFill>
                <a:latin typeface="Calibri"/>
              </a:rPr>
              <a:t>PFAS at Site 12 measures 11.2 ng/L, well above the EPA 4 ng/L action level</a:t>
            </a:r>
          </a:p>
        </p:txBody>
      </p:sp>
      <p:sp>
        <p:nvSpPr>
          <p:cNvPr id="275" name="Rectangle 274"/>
          <p:cNvSpPr/>
          <p:nvPr/>
        </p:nvSpPr>
        <p:spPr>
          <a:xfrm>
            <a:off x="420000" y="3840000"/>
            <a:ext cx="120000" cy="12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TextBox 275"/>
          <p:cNvSpPr txBox="1"/>
          <p:nvPr/>
        </p:nvSpPr>
        <p:spPr>
          <a:xfrm>
            <a:off x="640000" y="3760000"/>
            <a:ext cx="10500000" cy="380000"/>
          </a:xfrm>
          <a:prstGeom prst="rect">
            <a:avLst/>
          </a:prstGeom>
          <a:noFill/>
        </p:spPr>
        <p:txBody>
          <a:bodyPr wrap="square" lIns="0" rIns="0" tIns="0" bIns="0">
            <a:spAutoFit/>
          </a:bodyPr>
          <a:lstStyle/>
          <a:p>
            <a:pPr algn="l"/>
            <a:r>
              <a:rPr sz="1600" b="0" i="0">
                <a:solidFill>
                  <a:srgbClr val="283730"/>
                </a:solidFill>
                <a:latin typeface="Calibri"/>
              </a:rPr>
              <a:t>No prior monitoring round has shown any site cross the state threshold</a:t>
            </a:r>
          </a:p>
        </p:txBody>
      </p:sp>
      <p:sp>
        <p:nvSpPr>
          <p:cNvPr id="295" name="Rectangle 294"/>
          <p:cNvSpPr/>
          <p:nvPr/>
        </p:nvSpPr>
        <p:spPr>
          <a:xfrm>
            <a:off x="360000" y="2050000"/>
            <a:ext cx="2702923" cy="9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360000" y="2050000"/>
            <a:ext cx="80000" cy="90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TextBox 296"/>
          <p:cNvSpPr txBox="1"/>
          <p:nvPr/>
        </p:nvSpPr>
        <p:spPr>
          <a:xfrm>
            <a:off x="540000" y="2170000"/>
            <a:ext cx="2422923" cy="220000"/>
          </a:xfrm>
          <a:prstGeom prst="rect">
            <a:avLst/>
          </a:prstGeom>
          <a:noFill/>
        </p:spPr>
        <p:txBody>
          <a:bodyPr wrap="square" lIns="0" rIns="0" tIns="0" bIns="0">
            <a:spAutoFit/>
          </a:bodyPr>
          <a:lstStyle/>
          <a:p>
            <a:pPr algn="l"/>
            <a:r>
              <a:rPr sz="1000" b="0" i="0">
                <a:solidFill>
                  <a:srgbClr val="50695C"/>
                </a:solidFill>
                <a:latin typeface="Calibri"/>
              </a:rPr>
              <a:t>Sites monitored</a:t>
            </a:r>
          </a:p>
        </p:txBody>
      </p:sp>
      <p:sp>
        <p:nvSpPr>
          <p:cNvPr id="298" name="TextBox 297"/>
          <p:cNvSpPr txBox="1"/>
          <p:nvPr/>
        </p:nvSpPr>
        <p:spPr>
          <a:xfrm>
            <a:off x="540000" y="2410000"/>
            <a:ext cx="2422923" cy="500000"/>
          </a:xfrm>
          <a:prstGeom prst="rect">
            <a:avLst/>
          </a:prstGeom>
          <a:noFill/>
        </p:spPr>
        <p:txBody>
          <a:bodyPr wrap="square" lIns="0" rIns="0" tIns="0" bIns="0">
            <a:spAutoFit/>
          </a:bodyPr>
          <a:lstStyle/>
          <a:p>
            <a:pPr algn="l"/>
            <a:r>
              <a:rPr sz="2200" b="1" i="0">
                <a:solidFill>
                  <a:srgbClr val="0F3228"/>
                </a:solidFill>
                <a:latin typeface="Calibri"/>
              </a:rPr>
              <a:t>14</a:t>
            </a:r>
          </a:p>
        </p:txBody>
      </p:sp>
      <p:sp>
        <p:nvSpPr>
          <p:cNvPr id="299" name="Rectangle 298"/>
          <p:cNvSpPr/>
          <p:nvPr/>
        </p:nvSpPr>
        <p:spPr>
          <a:xfrm>
            <a:off x="3282923" y="2050000"/>
            <a:ext cx="2702923" cy="9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3282923" y="2050000"/>
            <a:ext cx="80000" cy="90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3462923" y="2170000"/>
            <a:ext cx="2422923" cy="220000"/>
          </a:xfrm>
          <a:prstGeom prst="rect">
            <a:avLst/>
          </a:prstGeom>
          <a:noFill/>
        </p:spPr>
        <p:txBody>
          <a:bodyPr wrap="square" lIns="0" rIns="0" tIns="0" bIns="0">
            <a:spAutoFit/>
          </a:bodyPr>
          <a:lstStyle/>
          <a:p>
            <a:pPr algn="l"/>
            <a:r>
              <a:rPr sz="1000" b="0" i="0">
                <a:solidFill>
                  <a:srgbClr val="50695C"/>
                </a:solidFill>
                <a:latin typeface="Calibri"/>
              </a:rPr>
              <a:t>Sampling rounds completed</a:t>
            </a:r>
          </a:p>
        </p:txBody>
      </p:sp>
      <p:sp>
        <p:nvSpPr>
          <p:cNvPr id="302" name="TextBox 301"/>
          <p:cNvSpPr txBox="1"/>
          <p:nvPr/>
        </p:nvSpPr>
        <p:spPr>
          <a:xfrm>
            <a:off x="3462923" y="2410000"/>
            <a:ext cx="2422923" cy="500000"/>
          </a:xfrm>
          <a:prstGeom prst="rect">
            <a:avLst/>
          </a:prstGeom>
          <a:noFill/>
        </p:spPr>
        <p:txBody>
          <a:bodyPr wrap="square" lIns="0" rIns="0" tIns="0" bIns="0">
            <a:spAutoFit/>
          </a:bodyPr>
          <a:lstStyle/>
          <a:p>
            <a:pPr algn="l"/>
            <a:r>
              <a:rPr sz="2200" b="1" i="0">
                <a:solidFill>
                  <a:srgbClr val="0F3228"/>
                </a:solidFill>
                <a:latin typeface="Calibri"/>
              </a:rPr>
              <a:t>3</a:t>
            </a:r>
          </a:p>
        </p:txBody>
      </p:sp>
      <p:sp>
        <p:nvSpPr>
          <p:cNvPr id="303" name="Rectangle 302"/>
          <p:cNvSpPr/>
          <p:nvPr/>
        </p:nvSpPr>
        <p:spPr>
          <a:xfrm>
            <a:off x="6205846" y="2050000"/>
            <a:ext cx="2702923" cy="9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6205846" y="2050000"/>
            <a:ext cx="80000" cy="90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6385846" y="2170000"/>
            <a:ext cx="2422923" cy="220000"/>
          </a:xfrm>
          <a:prstGeom prst="rect">
            <a:avLst/>
          </a:prstGeom>
          <a:noFill/>
        </p:spPr>
        <p:txBody>
          <a:bodyPr wrap="square" lIns="0" rIns="0" tIns="0" bIns="0">
            <a:spAutoFit/>
          </a:bodyPr>
          <a:lstStyle/>
          <a:p>
            <a:pPr algn="l"/>
            <a:r>
              <a:rPr sz="1000" b="0" i="0">
                <a:solidFill>
                  <a:srgbClr val="50695C"/>
                </a:solidFill>
                <a:latin typeface="Calibri"/>
              </a:rPr>
              <a:t>Sites above phosphorus threshold</a:t>
            </a:r>
          </a:p>
        </p:txBody>
      </p:sp>
      <p:sp>
        <p:nvSpPr>
          <p:cNvPr id="306" name="TextBox 305"/>
          <p:cNvSpPr txBox="1"/>
          <p:nvPr/>
        </p:nvSpPr>
        <p:spPr>
          <a:xfrm>
            <a:off x="6385846" y="2410000"/>
            <a:ext cx="2422923" cy="500000"/>
          </a:xfrm>
          <a:prstGeom prst="rect">
            <a:avLst/>
          </a:prstGeom>
          <a:noFill/>
        </p:spPr>
        <p:txBody>
          <a:bodyPr wrap="square" lIns="0" rIns="0" tIns="0" bIns="0">
            <a:spAutoFit/>
          </a:bodyPr>
          <a:lstStyle/>
          <a:p>
            <a:pPr algn="l"/>
            <a:r>
              <a:rPr sz="2200" b="1" i="0">
                <a:solidFill>
                  <a:srgbClr val="0F3228"/>
                </a:solidFill>
                <a:latin typeface="Calibri"/>
              </a:rPr>
              <a:t>1</a:t>
            </a:r>
          </a:p>
        </p:txBody>
      </p:sp>
      <p:sp>
        <p:nvSpPr>
          <p:cNvPr id="307" name="Rectangle 306"/>
          <p:cNvSpPr/>
          <p:nvPr/>
        </p:nvSpPr>
        <p:spPr>
          <a:xfrm>
            <a:off x="9128769" y="2050000"/>
            <a:ext cx="2702923" cy="9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9128769" y="2050000"/>
            <a:ext cx="80000" cy="90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308769" y="2170000"/>
            <a:ext cx="2422923" cy="220000"/>
          </a:xfrm>
          <a:prstGeom prst="rect">
            <a:avLst/>
          </a:prstGeom>
          <a:noFill/>
        </p:spPr>
        <p:txBody>
          <a:bodyPr wrap="square" lIns="0" rIns="0" tIns="0" bIns="0">
            <a:spAutoFit/>
          </a:bodyPr>
          <a:lstStyle/>
          <a:p>
            <a:pPr algn="l"/>
            <a:r>
              <a:rPr sz="1000" b="0" i="0">
                <a:solidFill>
                  <a:srgbClr val="50695C"/>
                </a:solidFill>
                <a:latin typeface="Calibri"/>
              </a:rPr>
              <a:t>PFAS exceedances</a:t>
            </a:r>
          </a:p>
        </p:txBody>
      </p:sp>
      <p:sp>
        <p:nvSpPr>
          <p:cNvPr id="310" name="TextBox 309"/>
          <p:cNvSpPr txBox="1"/>
          <p:nvPr/>
        </p:nvSpPr>
        <p:spPr>
          <a:xfrm>
            <a:off x="9308769" y="2410000"/>
            <a:ext cx="2422923" cy="500000"/>
          </a:xfrm>
          <a:prstGeom prst="rect">
            <a:avLst/>
          </a:prstGeom>
          <a:noFill/>
        </p:spPr>
        <p:txBody>
          <a:bodyPr wrap="square" lIns="0" rIns="0" tIns="0" bIns="0">
            <a:spAutoFit/>
          </a:bodyPr>
          <a:lstStyle/>
          <a:p>
            <a:pPr algn="l"/>
            <a:r>
              <a:rPr sz="2200" b="1" i="0">
                <a:solidFill>
                  <a:srgbClr val="0F3228"/>
                </a:solidFill>
                <a:latin typeface="Calibri"/>
              </a:rPr>
              <a:t>4</a:t>
            </a:r>
          </a:p>
        </p:txBody>
      </p:sp>
      <p:sp>
        <p:nvSpPr>
          <p:cNvPr id="311" name="Rectangle 310"/>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313" name="TextBox 312"/>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200"/>
                                  </p:stCondLst>
                                  <p:childTnLst>
                                    <p:set>
                                      <p:cBhvr>
                                        <p:cTn id="213" dur="1" fill="hold">
                                          <p:stCondLst>
                                            <p:cond delay="0"/>
                                          </p:stCondLst>
                                        </p:cTn>
                                        <p:tgtEl>
                                          <p:spTgt spid="205"/>
                                        </p:tgtEl>
                                        <p:attrNameLst>
                                          <p:attrName>style.visibility</p:attrName>
                                        </p:attrNameLst>
                                      </p:cBhvr>
                                      <p:to>
                                        <p:strVal val="visible"/>
                                      </p:to>
                                    </p:set>
                                    <p:anim calcmode="lin" valueType="num">
                                      <p:cBhvr additive="base">
                                        <p:cTn id="214" dur="500" fill="hold"/>
                                        <p:tgtEl>
                                          <p:spTgt spid="20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300"/>
                                  </p:stCondLst>
                                  <p:childTnLst>
                                    <p:set>
                                      <p:cBhvr>
                                        <p:cTn id="223" dur="1" fill="hold">
                                          <p:stCondLst>
                                            <p:cond delay="0"/>
                                          </p:stCondLst>
                                        </p:cTn>
                                        <p:tgtEl>
                                          <p:spTgt spid="215"/>
                                        </p:tgtEl>
                                        <p:attrNameLst>
                                          <p:attrName>style.visibility</p:attrName>
                                        </p:attrNameLst>
                                      </p:cBhvr>
                                      <p:to>
                                        <p:strVal val="visible"/>
                                      </p:to>
                                    </p:set>
                                    <p:anim calcmode="lin" valueType="num">
                                      <p:cBhvr additive="base">
                                        <p:cTn id="224" dur="500" fill="hold"/>
                                        <p:tgtEl>
                                          <p:spTgt spid="215"/>
                                        </p:tgtEl>
                                        <p:attrNameLst>
                                          <p:attrName>style.opacity</p:attrName>
                                        </p:attrNameLst>
                                      </p:cBhvr>
                                      <p:tavLst>
                                        <p:tav tm="0">
                                          <p:val>
                                            <p:fltVal val="0"/>
                                          </p:val>
                                        </p:tav>
                                        <p:tav tm="100000">
                                          <p:val>
                                            <p:fltVal val="1"/>
                                          </p:val>
                                        </p:tav>
                                      </p:tavLst>
                                    </p:anim>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300"/>
                                  </p:stCondLst>
                                  <p:childTnLst>
                                    <p:set>
                                      <p:cBhvr>
                                        <p:cTn id="233" dur="1" fill="hold">
                                          <p:stCondLst>
                                            <p:cond delay="0"/>
                                          </p:stCondLst>
                                        </p:cTn>
                                        <p:tgtEl>
                                          <p:spTgt spid="216"/>
                                        </p:tgtEl>
                                        <p:attrNameLst>
                                          <p:attrName>style.visibility</p:attrName>
                                        </p:attrNameLst>
                                      </p:cBhvr>
                                      <p:to>
                                        <p:strVal val="visible"/>
                                      </p:to>
                                    </p:set>
                                    <p:anim calcmode="lin" valueType="num">
                                      <p:cBhvr additive="base">
                                        <p:cTn id="234" dur="500" fill="hold"/>
                                        <p:tgtEl>
                                          <p:spTgt spid="216"/>
                                        </p:tgtEl>
                                        <p:attrNameLst>
                                          <p:attrName>style.opacity</p:attrName>
                                        </p:attrNameLst>
                                      </p:cBhvr>
                                      <p:tavLst>
                                        <p:tav tm="0">
                                          <p:val>
                                            <p:fltVal val="0"/>
                                          </p:val>
                                        </p:tav>
                                        <p:tav tm="100000">
                                          <p:val>
                                            <p:fltVal val="1"/>
                                          </p:val>
                                        </p:tav>
                                      </p:tavLst>
                                    </p:anim>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grpId="0" nodeType="clickEffect">
                                  <p:stCondLst>
                                    <p:cond delay="480"/>
                                  </p:stCondLst>
                                  <p:childTnLst>
                                    <p:set>
                                      <p:cBhvr>
                                        <p:cTn id="243" dur="1" fill="hold">
                                          <p:stCondLst>
                                            <p:cond delay="0"/>
                                          </p:stCondLst>
                                        </p:cTn>
                                        <p:tgtEl>
                                          <p:spTgt spid="235"/>
                                        </p:tgtEl>
                                        <p:attrNameLst>
                                          <p:attrName>style.visibility</p:attrName>
                                        </p:attrNameLst>
                                      </p:cBhvr>
                                      <p:to>
                                        <p:strVal val="visible"/>
                                      </p:to>
                                    </p:set>
                                    <p:anim calcmode="lin" valueType="num">
                                      <p:cBhvr additive="base">
                                        <p:cTn id="244" dur="500" fill="hold"/>
                                        <p:tgtEl>
                                          <p:spTgt spid="235"/>
                                        </p:tgtEl>
                                        <p:attrNameLst>
                                          <p:attrName>style.opacity</p:attrName>
                                        </p:attrNameLst>
                                      </p:cBhvr>
                                      <p:tavLst>
                                        <p:tav tm="0">
                                          <p:val>
                                            <p:fltVal val="0"/>
                                          </p:val>
                                        </p:tav>
                                        <p:tav tm="100000">
                                          <p:val>
                                            <p:fltVal val="1"/>
                                          </p:val>
                                        </p:tav>
                                      </p:tavLst>
                                    </p:anim>
                                  </p:childTnLst>
                                </p:cTn>
                              </p:par>
                            </p:childTnLst>
                          </p:cTn>
                        </p:par>
                      </p:childTnLst>
                    </p:cTn>
                  </p:par>
                  <p:par>
                    <p:cTn id="250" fill="hold">
                      <p:stCondLst>
                        <p:cond delay="indefinite"/>
                      </p:stCondLst>
                      <p:childTnLst>
                        <p:par>
                          <p:cTn id="251" fill="hold">
                            <p:stCondLst>
                              <p:cond delay="0"/>
                            </p:stCondLst>
                            <p:childTnLst>
                              <p:par>
                                <p:cTn id="252" presetID="10" presetClass="entr" presetSubtype="0" fill="hold" grpId="0" nodeType="clickEffect">
                                  <p:stCondLst>
                                    <p:cond delay="480"/>
                                  </p:stCondLst>
                                  <p:childTnLst>
                                    <p:set>
                                      <p:cBhvr>
                                        <p:cTn id="253" dur="1" fill="hold">
                                          <p:stCondLst>
                                            <p:cond delay="0"/>
                                          </p:stCondLst>
                                        </p:cTn>
                                        <p:tgtEl>
                                          <p:spTgt spid="236"/>
                                        </p:tgtEl>
                                        <p:attrNameLst>
                                          <p:attrName>style.visibility</p:attrName>
                                        </p:attrNameLst>
                                      </p:cBhvr>
                                      <p:to>
                                        <p:strVal val="visible"/>
                                      </p:to>
                                    </p:set>
                                    <p:anim calcmode="lin" valueType="num">
                                      <p:cBhvr additive="base">
                                        <p:cTn id="254" dur="500" fill="hold"/>
                                        <p:tgtEl>
                                          <p:spTgt spid="236"/>
                                        </p:tgtEl>
                                        <p:attrNameLst>
                                          <p:attrName>style.opacity</p:attrName>
                                        </p:attrNameLst>
                                      </p:cBhvr>
                                      <p:tavLst>
                                        <p:tav tm="0">
                                          <p:val>
                                            <p:fltVal val="0"/>
                                          </p:val>
                                        </p:tav>
                                        <p:tav tm="100000">
                                          <p:val>
                                            <p:fltVal val="1"/>
                                          </p:val>
                                        </p:tav>
                                      </p:tavLst>
                                    </p:anim>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grpId="0" nodeType="clickEffect">
                                  <p:stCondLst>
                                    <p:cond delay="660"/>
                                  </p:stCondLst>
                                  <p:childTnLst>
                                    <p:set>
                                      <p:cBhvr>
                                        <p:cTn id="263" dur="1" fill="hold">
                                          <p:stCondLst>
                                            <p:cond delay="0"/>
                                          </p:stCondLst>
                                        </p:cTn>
                                        <p:tgtEl>
                                          <p:spTgt spid="255"/>
                                        </p:tgtEl>
                                        <p:attrNameLst>
                                          <p:attrName>style.visibility</p:attrName>
                                        </p:attrNameLst>
                                      </p:cBhvr>
                                      <p:to>
                                        <p:strVal val="visible"/>
                                      </p:to>
                                    </p:set>
                                    <p:anim calcmode="lin" valueType="num">
                                      <p:cBhvr additive="base">
                                        <p:cTn id="264" dur="500" fill="hold"/>
                                        <p:tgtEl>
                                          <p:spTgt spid="255"/>
                                        </p:tgtEl>
                                        <p:attrNameLst>
                                          <p:attrName>style.opacity</p:attrName>
                                        </p:attrNameLst>
                                      </p:cBhvr>
                                      <p:tavLst>
                                        <p:tav tm="0">
                                          <p:val>
                                            <p:fltVal val="0"/>
                                          </p:val>
                                        </p:tav>
                                        <p:tav tm="100000">
                                          <p:val>
                                            <p:fltVal val="1"/>
                                          </p:val>
                                        </p:tav>
                                      </p:tavLst>
                                    </p:anim>
                                  </p:childTnLst>
                                </p:cTn>
                              </p:par>
                            </p:childTnLst>
                          </p:cTn>
                        </p:par>
                      </p:childTnLst>
                    </p:cTn>
                  </p:par>
                  <p:par>
                    <p:cTn id="270" fill="hold">
                      <p:stCondLst>
                        <p:cond delay="indefinite"/>
                      </p:stCondLst>
                      <p:childTnLst>
                        <p:par>
                          <p:cTn id="271" fill="hold">
                            <p:stCondLst>
                              <p:cond delay="0"/>
                            </p:stCondLst>
                            <p:childTnLst>
                              <p:par>
                                <p:cTn id="272" presetID="10" presetClass="entr" presetSubtype="0" fill="hold" grpId="0" nodeType="clickEffect">
                                  <p:stCondLst>
                                    <p:cond delay="660"/>
                                  </p:stCondLst>
                                  <p:childTnLst>
                                    <p:set>
                                      <p:cBhvr>
                                        <p:cTn id="273" dur="1" fill="hold">
                                          <p:stCondLst>
                                            <p:cond delay="0"/>
                                          </p:stCondLst>
                                        </p:cTn>
                                        <p:tgtEl>
                                          <p:spTgt spid="256"/>
                                        </p:tgtEl>
                                        <p:attrNameLst>
                                          <p:attrName>style.visibility</p:attrName>
                                        </p:attrNameLst>
                                      </p:cBhvr>
                                      <p:to>
                                        <p:strVal val="visible"/>
                                      </p:to>
                                    </p:set>
                                    <p:anim calcmode="lin" valueType="num">
                                      <p:cBhvr additive="base">
                                        <p:cTn id="274" dur="500" fill="hold"/>
                                        <p:tgtEl>
                                          <p:spTgt spid="256"/>
                                        </p:tgtEl>
                                        <p:attrNameLst>
                                          <p:attrName>style.opacity</p:attrName>
                                        </p:attrNameLst>
                                      </p:cBhvr>
                                      <p:tavLst>
                                        <p:tav tm="0">
                                          <p:val>
                                            <p:fltVal val="0"/>
                                          </p:val>
                                        </p:tav>
                                        <p:tav tm="100000">
                                          <p:val>
                                            <p:fltVal val="1"/>
                                          </p:val>
                                        </p:tav>
                                      </p:tavLst>
                                    </p:anim>
                                  </p:childTnLst>
                                </p:cTn>
                              </p:par>
                            </p:childTnLst>
                          </p:cTn>
                        </p:par>
                      </p:childTnLst>
                    </p:cTn>
                  </p:par>
                  <p:par>
                    <p:cTn id="280" fill="hold">
                      <p:stCondLst>
                        <p:cond delay="indefinite"/>
                      </p:stCondLst>
                      <p:childTnLst>
                        <p:par>
                          <p:cTn id="281" fill="hold">
                            <p:stCondLst>
                              <p:cond delay="0"/>
                            </p:stCondLst>
                            <p:childTnLst>
                              <p:par>
                                <p:cTn id="282" presetID="10" presetClass="entr" presetSubtype="0" fill="hold" grpId="0" nodeType="clickEffect">
                                  <p:stCondLst>
                                    <p:cond delay="840"/>
                                  </p:stCondLst>
                                  <p:childTnLst>
                                    <p:set>
                                      <p:cBhvr>
                                        <p:cTn id="283" dur="1" fill="hold">
                                          <p:stCondLst>
                                            <p:cond delay="0"/>
                                          </p:stCondLst>
                                        </p:cTn>
                                        <p:tgtEl>
                                          <p:spTgt spid="275"/>
                                        </p:tgtEl>
                                        <p:attrNameLst>
                                          <p:attrName>style.visibility</p:attrName>
                                        </p:attrNameLst>
                                      </p:cBhvr>
                                      <p:to>
                                        <p:strVal val="visible"/>
                                      </p:to>
                                    </p:set>
                                    <p:anim calcmode="lin" valueType="num">
                                      <p:cBhvr additive="base">
                                        <p:cTn id="284" dur="500" fill="hold"/>
                                        <p:tgtEl>
                                          <p:spTgt spid="275"/>
                                        </p:tgtEl>
                                        <p:attrNameLst>
                                          <p:attrName>style.opacity</p:attrName>
                                        </p:attrNameLst>
                                      </p:cBhvr>
                                      <p:tavLst>
                                        <p:tav tm="0">
                                          <p:val>
                                            <p:fltVal val="0"/>
                                          </p:val>
                                        </p:tav>
                                        <p:tav tm="100000">
                                          <p:val>
                                            <p:fltVal val="1"/>
                                          </p:val>
                                        </p:tav>
                                      </p:tavLst>
                                    </p:anim>
                                  </p:childTnLst>
                                </p:cTn>
                              </p:par>
                            </p:childTnLst>
                          </p:cTn>
                        </p:par>
                      </p:childTnLst>
                    </p:cTn>
                  </p:par>
                  <p:par>
                    <p:cTn id="290" fill="hold">
                      <p:stCondLst>
                        <p:cond delay="indefinite"/>
                      </p:stCondLst>
                      <p:childTnLst>
                        <p:par>
                          <p:cTn id="291" fill="hold">
                            <p:stCondLst>
                              <p:cond delay="0"/>
                            </p:stCondLst>
                            <p:childTnLst>
                              <p:par>
                                <p:cTn id="292" presetID="10" presetClass="entr" presetSubtype="0" fill="hold" grpId="0" nodeType="clickEffect">
                                  <p:stCondLst>
                                    <p:cond delay="840"/>
                                  </p:stCondLst>
                                  <p:childTnLst>
                                    <p:set>
                                      <p:cBhvr>
                                        <p:cTn id="293" dur="1" fill="hold">
                                          <p:stCondLst>
                                            <p:cond delay="0"/>
                                          </p:stCondLst>
                                        </p:cTn>
                                        <p:tgtEl>
                                          <p:spTgt spid="276"/>
                                        </p:tgtEl>
                                        <p:attrNameLst>
                                          <p:attrName>style.visibility</p:attrName>
                                        </p:attrNameLst>
                                      </p:cBhvr>
                                      <p:to>
                                        <p:strVal val="visible"/>
                                      </p:to>
                                    </p:set>
                                    <p:anim calcmode="lin" valueType="num">
                                      <p:cBhvr additive="base">
                                        <p:cTn id="294" dur="500" fill="hold"/>
                                        <p:tgtEl>
                                          <p:spTgt spid="27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03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Phosphorus trend, Site 12 Fairview Creek</a:t>
            </a:r>
          </a:p>
        </p:txBody>
      </p:sp>
      <p:sp>
        <p:nvSpPr>
          <p:cNvPr id="205" name="TextBox 204"/>
          <p:cNvSpPr txBox="1"/>
          <p:nvPr/>
        </p:nvSpPr>
        <p:spPr>
          <a:xfrm>
            <a:off x="360000" y="2050000"/>
            <a:ext cx="11471695" cy="380000"/>
          </a:xfrm>
          <a:prstGeom prst="rect">
            <a:avLst/>
          </a:prstGeom>
          <a:noFill/>
        </p:spPr>
        <p:txBody>
          <a:bodyPr wrap="square" lIns="0" rIns="0" tIns="0" bIns="0">
            <a:spAutoFit/>
          </a:bodyPr>
          <a:lstStyle/>
          <a:p>
            <a:pPr algn="l"/>
            <a:r>
              <a:rPr sz="1700" b="1" i="0">
                <a:solidFill>
                  <a:srgbClr val="0F3228"/>
                </a:solidFill>
                <a:latin typeface="Calibri"/>
              </a:rPr>
              <a:t>Three rounds, milligrams per liter</a:t>
            </a:r>
          </a:p>
        </p:txBody>
      </p:sp>
      <p:sp>
        <p:nvSpPr>
          <p:cNvPr id="206" name="Rectangle 205"/>
          <p:cNvSpPr/>
          <p:nvPr/>
        </p:nvSpPr>
        <p:spPr>
          <a:xfrm>
            <a:off x="960000" y="5890000"/>
            <a:ext cx="10551695" cy="8000"/>
          </a:xfrm>
          <a:prstGeom prst="rect">
            <a:avLst/>
          </a:prstGeom>
          <a:solidFill>
            <a:srgbClr val="6E8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960000" y="3455000"/>
            <a:ext cx="10551695" cy="40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60000" y="3365000"/>
            <a:ext cx="280000" cy="180000"/>
          </a:xfrm>
          <a:prstGeom prst="rect">
            <a:avLst/>
          </a:prstGeom>
          <a:noFill/>
        </p:spPr>
        <p:txBody>
          <a:bodyPr wrap="square" lIns="0" rIns="0" tIns="0" bIns="0">
            <a:spAutoFit/>
          </a:bodyPr>
          <a:lstStyle/>
          <a:p>
            <a:pPr algn="r"/>
            <a:r>
              <a:rPr sz="800" b="0" i="0">
                <a:solidFill>
                  <a:srgbClr val="6E8276"/>
                </a:solidFill>
                <a:latin typeface="Calibri"/>
              </a:rPr>
              <a:t>0.084</a:t>
            </a:r>
          </a:p>
        </p:txBody>
      </p:sp>
      <p:sp>
        <p:nvSpPr>
          <p:cNvPr id="209" name="Rectangle 208"/>
          <p:cNvSpPr/>
          <p:nvPr/>
        </p:nvSpPr>
        <p:spPr>
          <a:xfrm>
            <a:off x="960000" y="4240000"/>
            <a:ext cx="10551695" cy="40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660000" y="4150000"/>
            <a:ext cx="280000" cy="180000"/>
          </a:xfrm>
          <a:prstGeom prst="rect">
            <a:avLst/>
          </a:prstGeom>
          <a:noFill/>
        </p:spPr>
        <p:txBody>
          <a:bodyPr wrap="square" lIns="0" rIns="0" tIns="0" bIns="0">
            <a:spAutoFit/>
          </a:bodyPr>
          <a:lstStyle/>
          <a:p>
            <a:pPr algn="r"/>
            <a:r>
              <a:rPr sz="800" b="0" i="0">
                <a:solidFill>
                  <a:srgbClr val="6E8276"/>
                </a:solidFill>
                <a:latin typeface="Calibri"/>
              </a:rPr>
              <a:t>0.056</a:t>
            </a:r>
          </a:p>
        </p:txBody>
      </p:sp>
      <p:sp>
        <p:nvSpPr>
          <p:cNvPr id="211" name="Rectangle 210"/>
          <p:cNvSpPr/>
          <p:nvPr/>
        </p:nvSpPr>
        <p:spPr>
          <a:xfrm>
            <a:off x="960000" y="5025000"/>
            <a:ext cx="10551695" cy="40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660000" y="4935000"/>
            <a:ext cx="280000" cy="180000"/>
          </a:xfrm>
          <a:prstGeom prst="rect">
            <a:avLst/>
          </a:prstGeom>
          <a:noFill/>
        </p:spPr>
        <p:txBody>
          <a:bodyPr wrap="square" lIns="0" rIns="0" tIns="0" bIns="0">
            <a:spAutoFit/>
          </a:bodyPr>
          <a:lstStyle/>
          <a:p>
            <a:pPr algn="r"/>
            <a:r>
              <a:rPr sz="800" b="0" i="0">
                <a:solidFill>
                  <a:srgbClr val="6E8276"/>
                </a:solidFill>
                <a:latin typeface="Calibri"/>
              </a:rPr>
              <a:t>0.028</a:t>
            </a:r>
          </a:p>
        </p:txBody>
      </p:sp>
      <p:sp>
        <p:nvSpPr>
          <p:cNvPr id="213" name="Rectangle 212"/>
          <p:cNvSpPr/>
          <p:nvPr/>
        </p:nvSpPr>
        <p:spPr>
          <a:xfrm>
            <a:off x="960000" y="5810000"/>
            <a:ext cx="10551695" cy="40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660000" y="5720000"/>
            <a:ext cx="280000" cy="180000"/>
          </a:xfrm>
          <a:prstGeom prst="rect">
            <a:avLst/>
          </a:prstGeom>
          <a:noFill/>
        </p:spPr>
        <p:txBody>
          <a:bodyPr wrap="square" lIns="0" rIns="0" tIns="0" bIns="0">
            <a:spAutoFit/>
          </a:bodyPr>
          <a:lstStyle/>
          <a:p>
            <a:pPr algn="r"/>
            <a:r>
              <a:rPr sz="800" b="0" i="0">
                <a:solidFill>
                  <a:srgbClr val="6E8276"/>
                </a:solidFill>
                <a:latin typeface="Calibri"/>
              </a:rPr>
              <a:t>0.000</a:t>
            </a:r>
          </a:p>
        </p:txBody>
      </p:sp>
      <p:sp>
        <p:nvSpPr>
          <p:cNvPr id="215" name="Rectangle 214"/>
          <p:cNvSpPr/>
          <p:nvPr/>
        </p:nvSpPr>
        <p:spPr>
          <a:xfrm>
            <a:off x="1000000" y="3591072"/>
            <a:ext cx="3437231" cy="2298928"/>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1000000" y="3371072"/>
            <a:ext cx="3437231" cy="180000"/>
          </a:xfrm>
          <a:prstGeom prst="rect">
            <a:avLst/>
          </a:prstGeom>
          <a:noFill/>
        </p:spPr>
        <p:txBody>
          <a:bodyPr wrap="square" lIns="0" rIns="0" tIns="0" bIns="0">
            <a:spAutoFit/>
          </a:bodyPr>
          <a:lstStyle/>
          <a:p>
            <a:pPr algn="ctr"/>
            <a:r>
              <a:rPr sz="900" b="1" i="0">
                <a:solidFill>
                  <a:srgbClr val="145341"/>
                </a:solidFill>
                <a:latin typeface="Calibri"/>
              </a:rPr>
              <a:t>0.082</a:t>
            </a:r>
          </a:p>
        </p:txBody>
      </p:sp>
      <p:sp>
        <p:nvSpPr>
          <p:cNvPr id="217" name="TextBox 216"/>
          <p:cNvSpPr txBox="1"/>
          <p:nvPr/>
        </p:nvSpPr>
        <p:spPr>
          <a:xfrm>
            <a:off x="1000000" y="5940000"/>
            <a:ext cx="3437231" cy="220000"/>
          </a:xfrm>
          <a:prstGeom prst="rect">
            <a:avLst/>
          </a:prstGeom>
          <a:noFill/>
        </p:spPr>
        <p:txBody>
          <a:bodyPr wrap="square" lIns="0" rIns="0" tIns="0" bIns="0">
            <a:spAutoFit/>
          </a:bodyPr>
          <a:lstStyle/>
          <a:p>
            <a:pPr algn="ctr"/>
            <a:r>
              <a:rPr sz="900" b="0" i="0">
                <a:solidFill>
                  <a:srgbClr val="6E8276"/>
                </a:solidFill>
                <a:latin typeface="Calibri"/>
              </a:rPr>
              <a:t>Nov 2025</a:t>
            </a:r>
          </a:p>
        </p:txBody>
      </p:sp>
      <p:sp>
        <p:nvSpPr>
          <p:cNvPr id="218" name="Rectangle 217"/>
          <p:cNvSpPr/>
          <p:nvPr/>
        </p:nvSpPr>
        <p:spPr>
          <a:xfrm>
            <a:off x="4517231" y="3394822"/>
            <a:ext cx="3437231" cy="2495178"/>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4517231" y="3174822"/>
            <a:ext cx="3437231" cy="180000"/>
          </a:xfrm>
          <a:prstGeom prst="rect">
            <a:avLst/>
          </a:prstGeom>
          <a:noFill/>
        </p:spPr>
        <p:txBody>
          <a:bodyPr wrap="square" lIns="0" rIns="0" tIns="0" bIns="0">
            <a:spAutoFit/>
          </a:bodyPr>
          <a:lstStyle/>
          <a:p>
            <a:pPr algn="ctr"/>
            <a:r>
              <a:rPr sz="900" b="1" i="0">
                <a:solidFill>
                  <a:srgbClr val="145341"/>
                </a:solidFill>
                <a:latin typeface="Calibri"/>
              </a:rPr>
              <a:t>0.089</a:t>
            </a:r>
          </a:p>
        </p:txBody>
      </p:sp>
      <p:sp>
        <p:nvSpPr>
          <p:cNvPr id="226" name="TextBox 225"/>
          <p:cNvSpPr txBox="1"/>
          <p:nvPr/>
        </p:nvSpPr>
        <p:spPr>
          <a:xfrm>
            <a:off x="4517231" y="5940000"/>
            <a:ext cx="3437231" cy="220000"/>
          </a:xfrm>
          <a:prstGeom prst="rect">
            <a:avLst/>
          </a:prstGeom>
          <a:noFill/>
        </p:spPr>
        <p:txBody>
          <a:bodyPr wrap="square" lIns="0" rIns="0" tIns="0" bIns="0">
            <a:spAutoFit/>
          </a:bodyPr>
          <a:lstStyle/>
          <a:p>
            <a:pPr algn="ctr"/>
            <a:r>
              <a:rPr sz="900" b="0" i="0">
                <a:solidFill>
                  <a:srgbClr val="6E8276"/>
                </a:solidFill>
                <a:latin typeface="Calibri"/>
              </a:rPr>
              <a:t>Feb 2026</a:t>
            </a:r>
          </a:p>
        </p:txBody>
      </p:sp>
      <p:sp>
        <p:nvSpPr>
          <p:cNvPr id="227" name="Rectangle 226"/>
          <p:cNvSpPr/>
          <p:nvPr/>
        </p:nvSpPr>
        <p:spPr>
          <a:xfrm>
            <a:off x="8034462" y="2750000"/>
            <a:ext cx="3437231" cy="314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034462" y="2530000"/>
            <a:ext cx="3437231" cy="180000"/>
          </a:xfrm>
          <a:prstGeom prst="rect">
            <a:avLst/>
          </a:prstGeom>
          <a:noFill/>
        </p:spPr>
        <p:txBody>
          <a:bodyPr wrap="square" lIns="0" rIns="0" tIns="0" bIns="0">
            <a:spAutoFit/>
          </a:bodyPr>
          <a:lstStyle/>
          <a:p>
            <a:pPr algn="ctr"/>
            <a:r>
              <a:rPr sz="900" b="1" i="0">
                <a:solidFill>
                  <a:srgbClr val="145341"/>
                </a:solidFill>
                <a:latin typeface="Calibri"/>
              </a:rPr>
              <a:t>0.112</a:t>
            </a:r>
          </a:p>
        </p:txBody>
      </p:sp>
      <p:sp>
        <p:nvSpPr>
          <p:cNvPr id="236" name="TextBox 235"/>
          <p:cNvSpPr txBox="1"/>
          <p:nvPr/>
        </p:nvSpPr>
        <p:spPr>
          <a:xfrm>
            <a:off x="8034462" y="5940000"/>
            <a:ext cx="3437231" cy="220000"/>
          </a:xfrm>
          <a:prstGeom prst="rect">
            <a:avLst/>
          </a:prstGeom>
          <a:noFill/>
        </p:spPr>
        <p:txBody>
          <a:bodyPr wrap="square" lIns="0" rIns="0" tIns="0" bIns="0">
            <a:spAutoFit/>
          </a:bodyPr>
          <a:lstStyle/>
          <a:p>
            <a:pPr algn="ctr"/>
            <a:r>
              <a:rPr sz="900" b="0" i="0">
                <a:solidFill>
                  <a:srgbClr val="6E8276"/>
                </a:solidFill>
                <a:latin typeface="Calibri"/>
              </a:rPr>
              <a:t>Oct 2026</a:t>
            </a:r>
          </a:p>
        </p:txBody>
      </p:sp>
      <p:sp>
        <p:nvSpPr>
          <p:cNvPr id="237" name="Rectangle 236"/>
          <p:cNvSpPr/>
          <p:nvPr/>
        </p:nvSpPr>
        <p:spPr>
          <a:xfrm>
            <a:off x="960000" y="3086429"/>
            <a:ext cx="10551695" cy="6000"/>
          </a:xfrm>
          <a:prstGeom prst="rect">
            <a:avLst/>
          </a:prstGeom>
          <a:solidFill>
            <a:srgbClr val="B43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960000" y="2906429"/>
            <a:ext cx="10551695" cy="160000"/>
          </a:xfrm>
          <a:prstGeom prst="rect">
            <a:avLst/>
          </a:prstGeom>
          <a:noFill/>
        </p:spPr>
        <p:txBody>
          <a:bodyPr wrap="square" lIns="0" rIns="0" tIns="0" bIns="0">
            <a:spAutoFit/>
          </a:bodyPr>
          <a:lstStyle/>
          <a:p>
            <a:pPr algn="r"/>
            <a:r>
              <a:rPr sz="900" b="0" i="1">
                <a:solidFill>
                  <a:srgbClr val="B43C32"/>
                </a:solidFill>
                <a:latin typeface="Calibri"/>
              </a:rPr>
              <a:t>State threshold 0.100 mg/L</a:t>
            </a:r>
          </a:p>
        </p:txBody>
      </p:sp>
      <p:sp>
        <p:nvSpPr>
          <p:cNvPr id="239" name="TextBox 238"/>
          <p:cNvSpPr txBox="1"/>
          <p:nvPr/>
        </p:nvSpPr>
        <p:spPr>
          <a:xfrm>
            <a:off x="360000" y="6500000"/>
            <a:ext cx="11471695" cy="280000"/>
          </a:xfrm>
          <a:prstGeom prst="rect">
            <a:avLst/>
          </a:prstGeom>
          <a:noFill/>
        </p:spPr>
        <p:txBody>
          <a:bodyPr wrap="square" lIns="0" rIns="0" tIns="0" bIns="0">
            <a:spAutoFit/>
          </a:bodyPr>
          <a:lstStyle/>
          <a:p>
            <a:pPr algn="l"/>
            <a:r>
              <a:rPr sz="1200" b="0" i="1">
                <a:solidFill>
                  <a:srgbClr val="50695C"/>
                </a:solidFill>
                <a:latin typeface="Calibri"/>
              </a:rPr>
              <a:t>First time any monitored site has crossed the 0.1 mg/L state phosphorus guidance.</a:t>
            </a:r>
          </a:p>
        </p:txBody>
      </p:sp>
      <p:sp>
        <p:nvSpPr>
          <p:cNvPr id="240" name="Rectangle 239"/>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42" name="TextBox 241"/>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200"/>
                                  </p:stCondLst>
                                  <p:childTnLst>
                                    <p:set>
                                      <p:cBhvr>
                                        <p:cTn id="213" dur="1" fill="hold">
                                          <p:stCondLst>
                                            <p:cond delay="0"/>
                                          </p:stCondLst>
                                        </p:cTn>
                                        <p:tgtEl>
                                          <p:spTgt spid="215"/>
                                        </p:tgtEl>
                                        <p:attrNameLst>
                                          <p:attrName>style.visibility</p:attrName>
                                        </p:attrNameLst>
                                      </p:cBhvr>
                                      <p:to>
                                        <p:strVal val="visible"/>
                                      </p:to>
                                    </p:set>
                                    <p:anim calcmode="lin" valueType="num">
                                      <p:cBhvr additive="base">
                                        <p:cTn id="214" dur="500" fill="hold"/>
                                        <p:tgtEl>
                                          <p:spTgt spid="21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380"/>
                                  </p:stCondLst>
                                  <p:childTnLst>
                                    <p:set>
                                      <p:cBhvr>
                                        <p:cTn id="223" dur="1" fill="hold">
                                          <p:stCondLst>
                                            <p:cond delay="0"/>
                                          </p:stCondLst>
                                        </p:cTn>
                                        <p:tgtEl>
                                          <p:spTgt spid="218"/>
                                        </p:tgtEl>
                                        <p:attrNameLst>
                                          <p:attrName>style.visibility</p:attrName>
                                        </p:attrNameLst>
                                      </p:cBhvr>
                                      <p:to>
                                        <p:strVal val="visible"/>
                                      </p:to>
                                    </p:set>
                                    <p:anim calcmode="lin" valueType="num">
                                      <p:cBhvr additive="base">
                                        <p:cTn id="224" dur="500" fill="hold"/>
                                        <p:tgtEl>
                                          <p:spTgt spid="218"/>
                                        </p:tgtEl>
                                        <p:attrNameLst>
                                          <p:attrName>style.opacity</p:attrName>
                                        </p:attrNameLst>
                                      </p:cBhvr>
                                      <p:tavLst>
                                        <p:tav tm="0">
                                          <p:val>
                                            <p:fltVal val="0"/>
                                          </p:val>
                                        </p:tav>
                                        <p:tav tm="100000">
                                          <p:val>
                                            <p:fltVal val="1"/>
                                          </p:val>
                                        </p:tav>
                                      </p:tavLst>
                                    </p:anim>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560"/>
                                  </p:stCondLst>
                                  <p:childTnLst>
                                    <p:set>
                                      <p:cBhvr>
                                        <p:cTn id="233" dur="1" fill="hold">
                                          <p:stCondLst>
                                            <p:cond delay="0"/>
                                          </p:stCondLst>
                                        </p:cTn>
                                        <p:tgtEl>
                                          <p:spTgt spid="227"/>
                                        </p:tgtEl>
                                        <p:attrNameLst>
                                          <p:attrName>style.visibility</p:attrName>
                                        </p:attrNameLst>
                                      </p:cBhvr>
                                      <p:to>
                                        <p:strVal val="visible"/>
                                      </p:to>
                                    </p:set>
                                    <p:anim calcmode="lin" valueType="num">
                                      <p:cBhvr additive="base">
                                        <p:cTn id="234" dur="500" fill="hold"/>
                                        <p:tgtEl>
                                          <p:spTgt spid="2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04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Where the contamination is</a:t>
            </a:r>
          </a:p>
        </p:txBody>
      </p:sp>
      <p:sp>
        <p:nvSpPr>
          <p:cNvPr id="205" name="TextBox 204"/>
          <p:cNvSpPr txBox="1"/>
          <p:nvPr/>
        </p:nvSpPr>
        <p:spPr>
          <a:xfrm>
            <a:off x="360000" y="1500000"/>
            <a:ext cx="11471695" cy="420000"/>
          </a:xfrm>
          <a:prstGeom prst="rect">
            <a:avLst/>
          </a:prstGeom>
          <a:noFill/>
        </p:spPr>
        <p:txBody>
          <a:bodyPr wrap="square" lIns="0" rIns="0" tIns="0" bIns="0">
            <a:spAutoFit/>
          </a:bodyPr>
          <a:lstStyle/>
          <a:p>
            <a:pPr algn="l"/>
            <a:r>
              <a:rPr sz="1600" b="0" i="1">
                <a:solidFill>
                  <a:srgbClr val="50695C"/>
                </a:solidFill>
                <a:latin typeface="Calibri"/>
              </a:rPr>
              <a:t>Sites grouped by current status, October round</a:t>
            </a:r>
          </a:p>
        </p:txBody>
      </p:sp>
      <p:sp>
        <p:nvSpPr>
          <p:cNvPr id="215" name="TextBox 214"/>
          <p:cNvSpPr txBox="1"/>
          <p:nvPr/>
        </p:nvSpPr>
        <p:spPr>
          <a:xfrm>
            <a:off x="360000" y="2050000"/>
            <a:ext cx="11471695" cy="380000"/>
          </a:xfrm>
          <a:prstGeom prst="rect">
            <a:avLst/>
          </a:prstGeom>
          <a:noFill/>
        </p:spPr>
        <p:txBody>
          <a:bodyPr wrap="square" lIns="0" rIns="0" tIns="0" bIns="0">
            <a:spAutoFit/>
          </a:bodyPr>
          <a:lstStyle/>
          <a:p>
            <a:pPr algn="l"/>
            <a:r>
              <a:rPr sz="1700" b="1" i="0">
                <a:solidFill>
                  <a:srgbClr val="0F3228"/>
                </a:solidFill>
                <a:latin typeface="Calibri"/>
              </a:rPr>
              <a:t>Site status snapshot, October 10, 2026</a:t>
            </a:r>
          </a:p>
        </p:txBody>
      </p:sp>
      <p:sp>
        <p:nvSpPr>
          <p:cNvPr id="216" name="Rectangle 215"/>
          <p:cNvSpPr/>
          <p:nvPr/>
        </p:nvSpPr>
        <p:spPr>
          <a:xfrm>
            <a:off x="360000" y="2550000"/>
            <a:ext cx="11471694" cy="3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440000" y="2630000"/>
            <a:ext cx="3281508" cy="240000"/>
          </a:xfrm>
          <a:prstGeom prst="rect">
            <a:avLst/>
          </a:prstGeom>
          <a:noFill/>
        </p:spPr>
        <p:txBody>
          <a:bodyPr wrap="square" lIns="0" rIns="0" tIns="0" bIns="0">
            <a:spAutoFit/>
          </a:bodyPr>
          <a:lstStyle/>
          <a:p>
            <a:pPr algn="l"/>
            <a:r>
              <a:rPr sz="1100" b="1" i="0">
                <a:solidFill>
                  <a:srgbClr val="FFFFFF"/>
                </a:solidFill>
                <a:latin typeface="Calibri"/>
              </a:rPr>
              <a:t>Site, location</a:t>
            </a:r>
          </a:p>
        </p:txBody>
      </p:sp>
      <p:sp>
        <p:nvSpPr>
          <p:cNvPr id="218" name="TextBox 217"/>
          <p:cNvSpPr txBox="1"/>
          <p:nvPr/>
        </p:nvSpPr>
        <p:spPr>
          <a:xfrm>
            <a:off x="3881508" y="2630000"/>
            <a:ext cx="1675471" cy="240000"/>
          </a:xfrm>
          <a:prstGeom prst="rect">
            <a:avLst/>
          </a:prstGeom>
          <a:noFill/>
        </p:spPr>
        <p:txBody>
          <a:bodyPr wrap="square" lIns="0" rIns="0" tIns="0" bIns="0">
            <a:spAutoFit/>
          </a:bodyPr>
          <a:lstStyle/>
          <a:p>
            <a:pPr algn="r"/>
            <a:r>
              <a:rPr sz="1100" b="1" i="0">
                <a:solidFill>
                  <a:srgbClr val="FFFFFF"/>
                </a:solidFill>
                <a:latin typeface="Calibri"/>
              </a:rPr>
              <a:t>Waterbody</a:t>
            </a:r>
          </a:p>
        </p:txBody>
      </p:sp>
      <p:sp>
        <p:nvSpPr>
          <p:cNvPr id="219" name="TextBox 218"/>
          <p:cNvSpPr txBox="1"/>
          <p:nvPr/>
        </p:nvSpPr>
        <p:spPr>
          <a:xfrm>
            <a:off x="5716979" y="2630000"/>
            <a:ext cx="1904905" cy="240000"/>
          </a:xfrm>
          <a:prstGeom prst="rect">
            <a:avLst/>
          </a:prstGeom>
          <a:noFill/>
        </p:spPr>
        <p:txBody>
          <a:bodyPr wrap="square" lIns="0" rIns="0" tIns="0" bIns="0">
            <a:spAutoFit/>
          </a:bodyPr>
          <a:lstStyle/>
          <a:p>
            <a:pPr algn="r"/>
            <a:r>
              <a:rPr sz="1100" b="1" i="0">
                <a:solidFill>
                  <a:srgbClr val="FFFFFF"/>
                </a:solidFill>
                <a:latin typeface="Calibri"/>
              </a:rPr>
              <a:t>P (mg/L)</a:t>
            </a:r>
          </a:p>
        </p:txBody>
      </p:sp>
      <p:sp>
        <p:nvSpPr>
          <p:cNvPr id="220" name="TextBox 219"/>
          <p:cNvSpPr txBox="1"/>
          <p:nvPr/>
        </p:nvSpPr>
        <p:spPr>
          <a:xfrm>
            <a:off x="7781884" y="2630000"/>
            <a:ext cx="1904905" cy="240000"/>
          </a:xfrm>
          <a:prstGeom prst="rect">
            <a:avLst/>
          </a:prstGeom>
          <a:noFill/>
        </p:spPr>
        <p:txBody>
          <a:bodyPr wrap="square" lIns="0" rIns="0" tIns="0" bIns="0">
            <a:spAutoFit/>
          </a:bodyPr>
          <a:lstStyle/>
          <a:p>
            <a:pPr algn="r"/>
            <a:r>
              <a:rPr sz="1100" b="1" i="0">
                <a:solidFill>
                  <a:srgbClr val="FFFFFF"/>
                </a:solidFill>
                <a:latin typeface="Calibri"/>
              </a:rPr>
              <a:t>PFAS (ng/L)</a:t>
            </a:r>
          </a:p>
        </p:txBody>
      </p:sp>
      <p:sp>
        <p:nvSpPr>
          <p:cNvPr id="221" name="TextBox 220"/>
          <p:cNvSpPr txBox="1"/>
          <p:nvPr/>
        </p:nvSpPr>
        <p:spPr>
          <a:xfrm>
            <a:off x="9846789" y="2630000"/>
            <a:ext cx="1904905" cy="240000"/>
          </a:xfrm>
          <a:prstGeom prst="rect">
            <a:avLst/>
          </a:prstGeom>
          <a:noFill/>
        </p:spPr>
        <p:txBody>
          <a:bodyPr wrap="square" lIns="0" rIns="0" tIns="0" bIns="0">
            <a:spAutoFit/>
          </a:bodyPr>
          <a:lstStyle/>
          <a:p>
            <a:pPr algn="r"/>
            <a:r>
              <a:rPr sz="1100" b="1" i="0">
                <a:solidFill>
                  <a:srgbClr val="FFFFFF"/>
                </a:solidFill>
                <a:latin typeface="Calibri"/>
              </a:rPr>
              <a:t>Status</a:t>
            </a:r>
          </a:p>
        </p:txBody>
      </p:sp>
      <p:sp>
        <p:nvSpPr>
          <p:cNvPr id="222" name="Rectangle 221"/>
          <p:cNvSpPr/>
          <p:nvPr/>
        </p:nvSpPr>
        <p:spPr>
          <a:xfrm>
            <a:off x="360000" y="293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440000" y="3010000"/>
            <a:ext cx="3281508" cy="240000"/>
          </a:xfrm>
          <a:prstGeom prst="rect">
            <a:avLst/>
          </a:prstGeom>
          <a:noFill/>
        </p:spPr>
        <p:txBody>
          <a:bodyPr wrap="square" lIns="0" rIns="0" tIns="0" bIns="0">
            <a:spAutoFit/>
          </a:bodyPr>
          <a:lstStyle/>
          <a:p>
            <a:pPr algn="l"/>
            <a:r>
              <a:rPr sz="1100" b="1" i="0">
                <a:solidFill>
                  <a:srgbClr val="283730"/>
                </a:solidFill>
                <a:latin typeface="Calibri"/>
              </a:rPr>
              <a:t>Site 12, Fairview CAFO</a:t>
            </a:r>
          </a:p>
        </p:txBody>
      </p:sp>
      <p:sp>
        <p:nvSpPr>
          <p:cNvPr id="224" name="TextBox 223"/>
          <p:cNvSpPr txBox="1"/>
          <p:nvPr/>
        </p:nvSpPr>
        <p:spPr>
          <a:xfrm>
            <a:off x="3881508" y="3010000"/>
            <a:ext cx="1675471" cy="240000"/>
          </a:xfrm>
          <a:prstGeom prst="rect">
            <a:avLst/>
          </a:prstGeom>
          <a:noFill/>
        </p:spPr>
        <p:txBody>
          <a:bodyPr wrap="square" lIns="0" rIns="0" tIns="0" bIns="0">
            <a:spAutoFit/>
          </a:bodyPr>
          <a:lstStyle/>
          <a:p>
            <a:pPr algn="r"/>
            <a:r>
              <a:rPr sz="1100" b="0" i="0">
                <a:solidFill>
                  <a:srgbClr val="283730"/>
                </a:solidFill>
                <a:latin typeface="Calibri"/>
              </a:rPr>
              <a:t>Fairview Creek</a:t>
            </a:r>
          </a:p>
        </p:txBody>
      </p:sp>
      <p:sp>
        <p:nvSpPr>
          <p:cNvPr id="225" name="TextBox 224"/>
          <p:cNvSpPr txBox="1"/>
          <p:nvPr/>
        </p:nvSpPr>
        <p:spPr>
          <a:xfrm>
            <a:off x="5716979" y="3010000"/>
            <a:ext cx="1904905" cy="240000"/>
          </a:xfrm>
          <a:prstGeom prst="rect">
            <a:avLst/>
          </a:prstGeom>
          <a:noFill/>
        </p:spPr>
        <p:txBody>
          <a:bodyPr wrap="square" lIns="0" rIns="0" tIns="0" bIns="0">
            <a:spAutoFit/>
          </a:bodyPr>
          <a:lstStyle/>
          <a:p>
            <a:pPr algn="r"/>
            <a:r>
              <a:rPr sz="1100" b="0" i="0">
                <a:solidFill>
                  <a:srgbClr val="283730"/>
                </a:solidFill>
                <a:latin typeface="Calibri"/>
              </a:rPr>
              <a:t>0.112</a:t>
            </a:r>
          </a:p>
        </p:txBody>
      </p:sp>
      <p:sp>
        <p:nvSpPr>
          <p:cNvPr id="226" name="TextBox 225"/>
          <p:cNvSpPr txBox="1"/>
          <p:nvPr/>
        </p:nvSpPr>
        <p:spPr>
          <a:xfrm>
            <a:off x="7781884" y="3010000"/>
            <a:ext cx="1904905" cy="240000"/>
          </a:xfrm>
          <a:prstGeom prst="rect">
            <a:avLst/>
          </a:prstGeom>
          <a:noFill/>
        </p:spPr>
        <p:txBody>
          <a:bodyPr wrap="square" lIns="0" rIns="0" tIns="0" bIns="0">
            <a:spAutoFit/>
          </a:bodyPr>
          <a:lstStyle/>
          <a:p>
            <a:pPr algn="r"/>
            <a:r>
              <a:rPr sz="1100" b="0" i="0">
                <a:solidFill>
                  <a:srgbClr val="283730"/>
                </a:solidFill>
                <a:latin typeface="Calibri"/>
              </a:rPr>
              <a:t>11.2</a:t>
            </a:r>
          </a:p>
        </p:txBody>
      </p:sp>
      <p:sp>
        <p:nvSpPr>
          <p:cNvPr id="227" name="TextBox 226"/>
          <p:cNvSpPr txBox="1"/>
          <p:nvPr/>
        </p:nvSpPr>
        <p:spPr>
          <a:xfrm>
            <a:off x="9846789" y="3010000"/>
            <a:ext cx="1904905" cy="240000"/>
          </a:xfrm>
          <a:prstGeom prst="rect">
            <a:avLst/>
          </a:prstGeom>
          <a:noFill/>
        </p:spPr>
        <p:txBody>
          <a:bodyPr wrap="square" lIns="0" rIns="0" tIns="0" bIns="0">
            <a:spAutoFit/>
          </a:bodyPr>
          <a:lstStyle/>
          <a:p>
            <a:pPr algn="r"/>
            <a:r>
              <a:rPr sz="1100" b="0" i="0">
                <a:solidFill>
                  <a:srgbClr val="283730"/>
                </a:solidFill>
                <a:latin typeface="Calibri"/>
              </a:rPr>
              <a:t>Exceeds</a:t>
            </a:r>
          </a:p>
        </p:txBody>
      </p:sp>
      <p:sp>
        <p:nvSpPr>
          <p:cNvPr id="228" name="Rectangle 227"/>
          <p:cNvSpPr/>
          <p:nvPr/>
        </p:nvSpPr>
        <p:spPr>
          <a:xfrm>
            <a:off x="360000" y="3310000"/>
            <a:ext cx="11471694"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440000" y="3390000"/>
            <a:ext cx="3281508" cy="240000"/>
          </a:xfrm>
          <a:prstGeom prst="rect">
            <a:avLst/>
          </a:prstGeom>
          <a:noFill/>
        </p:spPr>
        <p:txBody>
          <a:bodyPr wrap="square" lIns="0" rIns="0" tIns="0" bIns="0">
            <a:spAutoFit/>
          </a:bodyPr>
          <a:lstStyle/>
          <a:p>
            <a:pPr algn="l"/>
            <a:r>
              <a:rPr sz="1100" b="1" i="0">
                <a:solidFill>
                  <a:srgbClr val="283730"/>
                </a:solidFill>
                <a:latin typeface="Calibri"/>
              </a:rPr>
              <a:t>Site 9, Johnson Milwaukie</a:t>
            </a:r>
          </a:p>
        </p:txBody>
      </p:sp>
      <p:sp>
        <p:nvSpPr>
          <p:cNvPr id="230" name="TextBox 229"/>
          <p:cNvSpPr txBox="1"/>
          <p:nvPr/>
        </p:nvSpPr>
        <p:spPr>
          <a:xfrm>
            <a:off x="3881508" y="3390000"/>
            <a:ext cx="1675471" cy="240000"/>
          </a:xfrm>
          <a:prstGeom prst="rect">
            <a:avLst/>
          </a:prstGeom>
          <a:noFill/>
        </p:spPr>
        <p:txBody>
          <a:bodyPr wrap="square" lIns="0" rIns="0" tIns="0" bIns="0">
            <a:spAutoFit/>
          </a:bodyPr>
          <a:lstStyle/>
          <a:p>
            <a:pPr algn="r"/>
            <a:r>
              <a:rPr sz="1100" b="0" i="0">
                <a:solidFill>
                  <a:srgbClr val="283730"/>
                </a:solidFill>
                <a:latin typeface="Calibri"/>
              </a:rPr>
              <a:t>Johnson Creek</a:t>
            </a:r>
          </a:p>
        </p:txBody>
      </p:sp>
      <p:sp>
        <p:nvSpPr>
          <p:cNvPr id="231" name="TextBox 230"/>
          <p:cNvSpPr txBox="1"/>
          <p:nvPr/>
        </p:nvSpPr>
        <p:spPr>
          <a:xfrm>
            <a:off x="5716979" y="3390000"/>
            <a:ext cx="1904905" cy="240000"/>
          </a:xfrm>
          <a:prstGeom prst="rect">
            <a:avLst/>
          </a:prstGeom>
          <a:noFill/>
        </p:spPr>
        <p:txBody>
          <a:bodyPr wrap="square" lIns="0" rIns="0" tIns="0" bIns="0">
            <a:spAutoFit/>
          </a:bodyPr>
          <a:lstStyle/>
          <a:p>
            <a:pPr algn="r"/>
            <a:r>
              <a:rPr sz="1100" b="0" i="0">
                <a:solidFill>
                  <a:srgbClr val="283730"/>
                </a:solidFill>
                <a:latin typeface="Calibri"/>
              </a:rPr>
              <a:t>0.094</a:t>
            </a:r>
          </a:p>
        </p:txBody>
      </p:sp>
      <p:sp>
        <p:nvSpPr>
          <p:cNvPr id="232" name="TextBox 231"/>
          <p:cNvSpPr txBox="1"/>
          <p:nvPr/>
        </p:nvSpPr>
        <p:spPr>
          <a:xfrm>
            <a:off x="7781884" y="3390000"/>
            <a:ext cx="1904905" cy="240000"/>
          </a:xfrm>
          <a:prstGeom prst="rect">
            <a:avLst/>
          </a:prstGeom>
          <a:noFill/>
        </p:spPr>
        <p:txBody>
          <a:bodyPr wrap="square" lIns="0" rIns="0" tIns="0" bIns="0">
            <a:spAutoFit/>
          </a:bodyPr>
          <a:lstStyle/>
          <a:p>
            <a:pPr algn="r"/>
            <a:r>
              <a:rPr sz="1100" b="0" i="0">
                <a:solidFill>
                  <a:srgbClr val="283730"/>
                </a:solidFill>
                <a:latin typeface="Calibri"/>
              </a:rPr>
              <a:t>5.8</a:t>
            </a:r>
          </a:p>
        </p:txBody>
      </p:sp>
      <p:sp>
        <p:nvSpPr>
          <p:cNvPr id="233" name="TextBox 232"/>
          <p:cNvSpPr txBox="1"/>
          <p:nvPr/>
        </p:nvSpPr>
        <p:spPr>
          <a:xfrm>
            <a:off x="9846789" y="3390000"/>
            <a:ext cx="1904905" cy="240000"/>
          </a:xfrm>
          <a:prstGeom prst="rect">
            <a:avLst/>
          </a:prstGeom>
          <a:noFill/>
        </p:spPr>
        <p:txBody>
          <a:bodyPr wrap="square" lIns="0" rIns="0" tIns="0" bIns="0">
            <a:spAutoFit/>
          </a:bodyPr>
          <a:lstStyle/>
          <a:p>
            <a:pPr algn="r"/>
            <a:r>
              <a:rPr sz="1100" b="0" i="0">
                <a:solidFill>
                  <a:srgbClr val="283730"/>
                </a:solidFill>
                <a:latin typeface="Calibri"/>
              </a:rPr>
              <a:t>Approaching</a:t>
            </a:r>
          </a:p>
        </p:txBody>
      </p:sp>
      <p:sp>
        <p:nvSpPr>
          <p:cNvPr id="234" name="Rectangle 233"/>
          <p:cNvSpPr/>
          <p:nvPr/>
        </p:nvSpPr>
        <p:spPr>
          <a:xfrm>
            <a:off x="360000" y="369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440000" y="3770000"/>
            <a:ext cx="3281508" cy="240000"/>
          </a:xfrm>
          <a:prstGeom prst="rect">
            <a:avLst/>
          </a:prstGeom>
          <a:noFill/>
        </p:spPr>
        <p:txBody>
          <a:bodyPr wrap="square" lIns="0" rIns="0" tIns="0" bIns="0">
            <a:spAutoFit/>
          </a:bodyPr>
          <a:lstStyle/>
          <a:p>
            <a:pPr algn="l"/>
            <a:r>
              <a:rPr sz="1100" b="1" i="0">
                <a:solidFill>
                  <a:srgbClr val="283730"/>
                </a:solidFill>
                <a:latin typeface="Calibri"/>
              </a:rPr>
              <a:t>Site 10, Fairview Lake</a:t>
            </a:r>
          </a:p>
        </p:txBody>
      </p:sp>
      <p:sp>
        <p:nvSpPr>
          <p:cNvPr id="236" name="TextBox 235"/>
          <p:cNvSpPr txBox="1"/>
          <p:nvPr/>
        </p:nvSpPr>
        <p:spPr>
          <a:xfrm>
            <a:off x="3881508" y="3770000"/>
            <a:ext cx="1675471" cy="240000"/>
          </a:xfrm>
          <a:prstGeom prst="rect">
            <a:avLst/>
          </a:prstGeom>
          <a:noFill/>
        </p:spPr>
        <p:txBody>
          <a:bodyPr wrap="square" lIns="0" rIns="0" tIns="0" bIns="0">
            <a:spAutoFit/>
          </a:bodyPr>
          <a:lstStyle/>
          <a:p>
            <a:pPr algn="r"/>
            <a:r>
              <a:rPr sz="1100" b="0" i="0">
                <a:solidFill>
                  <a:srgbClr val="283730"/>
                </a:solidFill>
                <a:latin typeface="Calibri"/>
              </a:rPr>
              <a:t>Fairview Lake</a:t>
            </a:r>
          </a:p>
        </p:txBody>
      </p:sp>
      <p:sp>
        <p:nvSpPr>
          <p:cNvPr id="237" name="TextBox 236"/>
          <p:cNvSpPr txBox="1"/>
          <p:nvPr/>
        </p:nvSpPr>
        <p:spPr>
          <a:xfrm>
            <a:off x="5716979" y="3770000"/>
            <a:ext cx="1904905" cy="240000"/>
          </a:xfrm>
          <a:prstGeom prst="rect">
            <a:avLst/>
          </a:prstGeom>
          <a:noFill/>
        </p:spPr>
        <p:txBody>
          <a:bodyPr wrap="square" lIns="0" rIns="0" tIns="0" bIns="0">
            <a:spAutoFit/>
          </a:bodyPr>
          <a:lstStyle/>
          <a:p>
            <a:pPr algn="r"/>
            <a:r>
              <a:rPr sz="1100" b="0" i="0">
                <a:solidFill>
                  <a:srgbClr val="283730"/>
                </a:solidFill>
                <a:latin typeface="Calibri"/>
              </a:rPr>
              <a:t>0.087</a:t>
            </a:r>
          </a:p>
        </p:txBody>
      </p:sp>
      <p:sp>
        <p:nvSpPr>
          <p:cNvPr id="238" name="TextBox 237"/>
          <p:cNvSpPr txBox="1"/>
          <p:nvPr/>
        </p:nvSpPr>
        <p:spPr>
          <a:xfrm>
            <a:off x="7781884" y="3770000"/>
            <a:ext cx="1904905" cy="240000"/>
          </a:xfrm>
          <a:prstGeom prst="rect">
            <a:avLst/>
          </a:prstGeom>
          <a:noFill/>
        </p:spPr>
        <p:txBody>
          <a:bodyPr wrap="square" lIns="0" rIns="0" tIns="0" bIns="0">
            <a:spAutoFit/>
          </a:bodyPr>
          <a:lstStyle/>
          <a:p>
            <a:pPr algn="r"/>
            <a:r>
              <a:rPr sz="1100" b="0" i="0">
                <a:solidFill>
                  <a:srgbClr val="283730"/>
                </a:solidFill>
                <a:latin typeface="Calibri"/>
              </a:rPr>
              <a:t>4.4</a:t>
            </a:r>
          </a:p>
        </p:txBody>
      </p:sp>
      <p:sp>
        <p:nvSpPr>
          <p:cNvPr id="239" name="TextBox 238"/>
          <p:cNvSpPr txBox="1"/>
          <p:nvPr/>
        </p:nvSpPr>
        <p:spPr>
          <a:xfrm>
            <a:off x="9846789" y="3770000"/>
            <a:ext cx="1904905" cy="240000"/>
          </a:xfrm>
          <a:prstGeom prst="rect">
            <a:avLst/>
          </a:prstGeom>
          <a:noFill/>
        </p:spPr>
        <p:txBody>
          <a:bodyPr wrap="square" lIns="0" rIns="0" tIns="0" bIns="0">
            <a:spAutoFit/>
          </a:bodyPr>
          <a:lstStyle/>
          <a:p>
            <a:pPr algn="r"/>
            <a:r>
              <a:rPr sz="1100" b="0" i="0">
                <a:solidFill>
                  <a:srgbClr val="283730"/>
                </a:solidFill>
                <a:latin typeface="Calibri"/>
              </a:rPr>
              <a:t>Approaching</a:t>
            </a:r>
          </a:p>
        </p:txBody>
      </p:sp>
      <p:sp>
        <p:nvSpPr>
          <p:cNvPr id="240" name="Rectangle 239"/>
          <p:cNvSpPr/>
          <p:nvPr/>
        </p:nvSpPr>
        <p:spPr>
          <a:xfrm>
            <a:off x="360000" y="4070000"/>
            <a:ext cx="11471694"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440000" y="4150000"/>
            <a:ext cx="3281508" cy="240000"/>
          </a:xfrm>
          <a:prstGeom prst="rect">
            <a:avLst/>
          </a:prstGeom>
          <a:noFill/>
        </p:spPr>
        <p:txBody>
          <a:bodyPr wrap="square" lIns="0" rIns="0" tIns="0" bIns="0">
            <a:spAutoFit/>
          </a:bodyPr>
          <a:lstStyle/>
          <a:p>
            <a:pPr algn="l"/>
            <a:r>
              <a:rPr sz="1100" b="1" i="0">
                <a:solidFill>
                  <a:srgbClr val="283730"/>
                </a:solidFill>
                <a:latin typeface="Calibri"/>
              </a:rPr>
              <a:t>Site 3, Slough West</a:t>
            </a:r>
          </a:p>
        </p:txBody>
      </p:sp>
      <p:sp>
        <p:nvSpPr>
          <p:cNvPr id="242" name="TextBox 241"/>
          <p:cNvSpPr txBox="1"/>
          <p:nvPr/>
        </p:nvSpPr>
        <p:spPr>
          <a:xfrm>
            <a:off x="3881508" y="4150000"/>
            <a:ext cx="1675471" cy="240000"/>
          </a:xfrm>
          <a:prstGeom prst="rect">
            <a:avLst/>
          </a:prstGeom>
          <a:noFill/>
        </p:spPr>
        <p:txBody>
          <a:bodyPr wrap="square" lIns="0" rIns="0" tIns="0" bIns="0">
            <a:spAutoFit/>
          </a:bodyPr>
          <a:lstStyle/>
          <a:p>
            <a:pPr algn="r"/>
            <a:r>
              <a:rPr sz="1100" b="0" i="0">
                <a:solidFill>
                  <a:srgbClr val="283730"/>
                </a:solidFill>
                <a:latin typeface="Calibri"/>
              </a:rPr>
              <a:t>Columbia Slough</a:t>
            </a:r>
          </a:p>
        </p:txBody>
      </p:sp>
      <p:sp>
        <p:nvSpPr>
          <p:cNvPr id="243" name="TextBox 242"/>
          <p:cNvSpPr txBox="1"/>
          <p:nvPr/>
        </p:nvSpPr>
        <p:spPr>
          <a:xfrm>
            <a:off x="5716979" y="4150000"/>
            <a:ext cx="1904905" cy="240000"/>
          </a:xfrm>
          <a:prstGeom prst="rect">
            <a:avLst/>
          </a:prstGeom>
          <a:noFill/>
        </p:spPr>
        <p:txBody>
          <a:bodyPr wrap="square" lIns="0" rIns="0" tIns="0" bIns="0">
            <a:spAutoFit/>
          </a:bodyPr>
          <a:lstStyle/>
          <a:p>
            <a:pPr algn="r"/>
            <a:r>
              <a:rPr sz="1100" b="0" i="0">
                <a:solidFill>
                  <a:srgbClr val="283730"/>
                </a:solidFill>
                <a:latin typeface="Calibri"/>
              </a:rPr>
              <a:t>0.061</a:t>
            </a:r>
          </a:p>
        </p:txBody>
      </p:sp>
      <p:sp>
        <p:nvSpPr>
          <p:cNvPr id="244" name="TextBox 243"/>
          <p:cNvSpPr txBox="1"/>
          <p:nvPr/>
        </p:nvSpPr>
        <p:spPr>
          <a:xfrm>
            <a:off x="7781884" y="4150000"/>
            <a:ext cx="1904905" cy="240000"/>
          </a:xfrm>
          <a:prstGeom prst="rect">
            <a:avLst/>
          </a:prstGeom>
          <a:noFill/>
        </p:spPr>
        <p:txBody>
          <a:bodyPr wrap="square" lIns="0" rIns="0" tIns="0" bIns="0">
            <a:spAutoFit/>
          </a:bodyPr>
          <a:lstStyle/>
          <a:p>
            <a:pPr algn="r"/>
            <a:r>
              <a:rPr sz="1100" b="0" i="0">
                <a:solidFill>
                  <a:srgbClr val="283730"/>
                </a:solidFill>
                <a:latin typeface="Calibri"/>
              </a:rPr>
              <a:t>4.6</a:t>
            </a:r>
          </a:p>
        </p:txBody>
      </p:sp>
      <p:sp>
        <p:nvSpPr>
          <p:cNvPr id="245" name="TextBox 244"/>
          <p:cNvSpPr txBox="1"/>
          <p:nvPr/>
        </p:nvSpPr>
        <p:spPr>
          <a:xfrm>
            <a:off x="9846789" y="4150000"/>
            <a:ext cx="1904905" cy="240000"/>
          </a:xfrm>
          <a:prstGeom prst="rect">
            <a:avLst/>
          </a:prstGeom>
          <a:noFill/>
        </p:spPr>
        <p:txBody>
          <a:bodyPr wrap="square" lIns="0" rIns="0" tIns="0" bIns="0">
            <a:spAutoFit/>
          </a:bodyPr>
          <a:lstStyle/>
          <a:p>
            <a:pPr algn="r"/>
            <a:r>
              <a:rPr sz="1100" b="0" i="0">
                <a:solidFill>
                  <a:srgbClr val="283730"/>
                </a:solidFill>
                <a:latin typeface="Calibri"/>
              </a:rPr>
              <a:t>PFAS over</a:t>
            </a:r>
          </a:p>
        </p:txBody>
      </p:sp>
      <p:sp>
        <p:nvSpPr>
          <p:cNvPr id="246" name="Rectangle 245"/>
          <p:cNvSpPr/>
          <p:nvPr/>
        </p:nvSpPr>
        <p:spPr>
          <a:xfrm>
            <a:off x="360000" y="445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440000" y="4530000"/>
            <a:ext cx="3281508" cy="240000"/>
          </a:xfrm>
          <a:prstGeom prst="rect">
            <a:avLst/>
          </a:prstGeom>
          <a:noFill/>
        </p:spPr>
        <p:txBody>
          <a:bodyPr wrap="square" lIns="0" rIns="0" tIns="0" bIns="0">
            <a:spAutoFit/>
          </a:bodyPr>
          <a:lstStyle/>
          <a:p>
            <a:pPr algn="l"/>
            <a:r>
              <a:rPr sz="1100" b="1" i="0">
                <a:solidFill>
                  <a:srgbClr val="283730"/>
                </a:solidFill>
                <a:latin typeface="Calibri"/>
              </a:rPr>
              <a:t>Site 11, Gresham outfall</a:t>
            </a:r>
          </a:p>
        </p:txBody>
      </p:sp>
      <p:sp>
        <p:nvSpPr>
          <p:cNvPr id="248" name="TextBox 247"/>
          <p:cNvSpPr txBox="1"/>
          <p:nvPr/>
        </p:nvSpPr>
        <p:spPr>
          <a:xfrm>
            <a:off x="3881508" y="4530000"/>
            <a:ext cx="1675471" cy="240000"/>
          </a:xfrm>
          <a:prstGeom prst="rect">
            <a:avLst/>
          </a:prstGeom>
          <a:noFill/>
        </p:spPr>
        <p:txBody>
          <a:bodyPr wrap="square" lIns="0" rIns="0" tIns="0" bIns="0">
            <a:spAutoFit/>
          </a:bodyPr>
          <a:lstStyle/>
          <a:p>
            <a:pPr algn="r"/>
            <a:r>
              <a:rPr sz="1100" b="0" i="0">
                <a:solidFill>
                  <a:srgbClr val="283730"/>
                </a:solidFill>
                <a:latin typeface="Calibri"/>
              </a:rPr>
              <a:t>Gresham Creek</a:t>
            </a:r>
          </a:p>
        </p:txBody>
      </p:sp>
      <p:sp>
        <p:nvSpPr>
          <p:cNvPr id="249" name="TextBox 248"/>
          <p:cNvSpPr txBox="1"/>
          <p:nvPr/>
        </p:nvSpPr>
        <p:spPr>
          <a:xfrm>
            <a:off x="5716979" y="4530000"/>
            <a:ext cx="1904905" cy="240000"/>
          </a:xfrm>
          <a:prstGeom prst="rect">
            <a:avLst/>
          </a:prstGeom>
          <a:noFill/>
        </p:spPr>
        <p:txBody>
          <a:bodyPr wrap="square" lIns="0" rIns="0" tIns="0" bIns="0">
            <a:spAutoFit/>
          </a:bodyPr>
          <a:lstStyle/>
          <a:p>
            <a:pPr algn="r"/>
            <a:r>
              <a:rPr sz="1100" b="0" i="0">
                <a:solidFill>
                  <a:srgbClr val="283730"/>
                </a:solidFill>
                <a:latin typeface="Calibri"/>
              </a:rPr>
              <a:t>0.072</a:t>
            </a:r>
          </a:p>
        </p:txBody>
      </p:sp>
      <p:sp>
        <p:nvSpPr>
          <p:cNvPr id="250" name="TextBox 249"/>
          <p:cNvSpPr txBox="1"/>
          <p:nvPr/>
        </p:nvSpPr>
        <p:spPr>
          <a:xfrm>
            <a:off x="7781884" y="4530000"/>
            <a:ext cx="1904905" cy="240000"/>
          </a:xfrm>
          <a:prstGeom prst="rect">
            <a:avLst/>
          </a:prstGeom>
          <a:noFill/>
        </p:spPr>
        <p:txBody>
          <a:bodyPr wrap="square" lIns="0" rIns="0" tIns="0" bIns="0">
            <a:spAutoFit/>
          </a:bodyPr>
          <a:lstStyle/>
          <a:p>
            <a:pPr algn="r"/>
            <a:r>
              <a:rPr sz="1100" b="0" i="0">
                <a:solidFill>
                  <a:srgbClr val="283730"/>
                </a:solidFill>
                <a:latin typeface="Calibri"/>
              </a:rPr>
              <a:t>3.0</a:t>
            </a:r>
          </a:p>
        </p:txBody>
      </p:sp>
      <p:sp>
        <p:nvSpPr>
          <p:cNvPr id="251" name="TextBox 250"/>
          <p:cNvSpPr txBox="1"/>
          <p:nvPr/>
        </p:nvSpPr>
        <p:spPr>
          <a:xfrm>
            <a:off x="9846789" y="4530000"/>
            <a:ext cx="1904905" cy="240000"/>
          </a:xfrm>
          <a:prstGeom prst="rect">
            <a:avLst/>
          </a:prstGeom>
          <a:noFill/>
        </p:spPr>
        <p:txBody>
          <a:bodyPr wrap="square" lIns="0" rIns="0" tIns="0" bIns="0">
            <a:spAutoFit/>
          </a:bodyPr>
          <a:lstStyle/>
          <a:p>
            <a:pPr algn="r"/>
            <a:r>
              <a:rPr sz="1100" b="0" i="0">
                <a:solidFill>
                  <a:srgbClr val="283730"/>
                </a:solidFill>
                <a:latin typeface="Calibri"/>
              </a:rPr>
              <a:t>Below</a:t>
            </a:r>
          </a:p>
        </p:txBody>
      </p:sp>
      <p:sp>
        <p:nvSpPr>
          <p:cNvPr id="252" name="Rectangle 251"/>
          <p:cNvSpPr/>
          <p:nvPr/>
        </p:nvSpPr>
        <p:spPr>
          <a:xfrm>
            <a:off x="360000" y="4830000"/>
            <a:ext cx="11471694"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440000" y="4910000"/>
            <a:ext cx="3281508" cy="240000"/>
          </a:xfrm>
          <a:prstGeom prst="rect">
            <a:avLst/>
          </a:prstGeom>
          <a:noFill/>
        </p:spPr>
        <p:txBody>
          <a:bodyPr wrap="square" lIns="0" rIns="0" tIns="0" bIns="0">
            <a:spAutoFit/>
          </a:bodyPr>
          <a:lstStyle/>
          <a:p>
            <a:pPr algn="l"/>
            <a:r>
              <a:rPr sz="1100" b="1" i="0">
                <a:solidFill>
                  <a:srgbClr val="283730"/>
                </a:solidFill>
                <a:latin typeface="Calibri"/>
              </a:rPr>
              <a:t>Site 14, Kelley Point</a:t>
            </a:r>
          </a:p>
        </p:txBody>
      </p:sp>
      <p:sp>
        <p:nvSpPr>
          <p:cNvPr id="254" name="TextBox 253"/>
          <p:cNvSpPr txBox="1"/>
          <p:nvPr/>
        </p:nvSpPr>
        <p:spPr>
          <a:xfrm>
            <a:off x="3881508" y="4910000"/>
            <a:ext cx="1675471" cy="240000"/>
          </a:xfrm>
          <a:prstGeom prst="rect">
            <a:avLst/>
          </a:prstGeom>
          <a:noFill/>
        </p:spPr>
        <p:txBody>
          <a:bodyPr wrap="square" lIns="0" rIns="0" tIns="0" bIns="0">
            <a:spAutoFit/>
          </a:bodyPr>
          <a:lstStyle/>
          <a:p>
            <a:pPr algn="r"/>
            <a:r>
              <a:rPr sz="1100" b="0" i="0">
                <a:solidFill>
                  <a:srgbClr val="283730"/>
                </a:solidFill>
                <a:latin typeface="Calibri"/>
              </a:rPr>
              <a:t>Columbia River</a:t>
            </a:r>
          </a:p>
        </p:txBody>
      </p:sp>
      <p:sp>
        <p:nvSpPr>
          <p:cNvPr id="255" name="TextBox 254"/>
          <p:cNvSpPr txBox="1"/>
          <p:nvPr/>
        </p:nvSpPr>
        <p:spPr>
          <a:xfrm>
            <a:off x="5716979" y="4910000"/>
            <a:ext cx="1904905" cy="240000"/>
          </a:xfrm>
          <a:prstGeom prst="rect">
            <a:avLst/>
          </a:prstGeom>
          <a:noFill/>
        </p:spPr>
        <p:txBody>
          <a:bodyPr wrap="square" lIns="0" rIns="0" tIns="0" bIns="0">
            <a:spAutoFit/>
          </a:bodyPr>
          <a:lstStyle/>
          <a:p>
            <a:pPr algn="r"/>
            <a:r>
              <a:rPr sz="1100" b="0" i="0">
                <a:solidFill>
                  <a:srgbClr val="283730"/>
                </a:solidFill>
                <a:latin typeface="Calibri"/>
              </a:rPr>
              <a:t>0.038</a:t>
            </a:r>
          </a:p>
        </p:txBody>
      </p:sp>
      <p:sp>
        <p:nvSpPr>
          <p:cNvPr id="256" name="TextBox 255"/>
          <p:cNvSpPr txBox="1"/>
          <p:nvPr/>
        </p:nvSpPr>
        <p:spPr>
          <a:xfrm>
            <a:off x="7781884" y="4910000"/>
            <a:ext cx="1904905" cy="240000"/>
          </a:xfrm>
          <a:prstGeom prst="rect">
            <a:avLst/>
          </a:prstGeom>
          <a:noFill/>
        </p:spPr>
        <p:txBody>
          <a:bodyPr wrap="square" lIns="0" rIns="0" tIns="0" bIns="0">
            <a:spAutoFit/>
          </a:bodyPr>
          <a:lstStyle/>
          <a:p>
            <a:pPr algn="r"/>
            <a:r>
              <a:rPr sz="1100" b="0" i="0">
                <a:solidFill>
                  <a:srgbClr val="283730"/>
                </a:solidFill>
                <a:latin typeface="Calibri"/>
              </a:rPr>
              <a:t>1.5</a:t>
            </a:r>
          </a:p>
        </p:txBody>
      </p:sp>
      <p:sp>
        <p:nvSpPr>
          <p:cNvPr id="257" name="TextBox 256"/>
          <p:cNvSpPr txBox="1"/>
          <p:nvPr/>
        </p:nvSpPr>
        <p:spPr>
          <a:xfrm>
            <a:off x="9846789" y="4910000"/>
            <a:ext cx="1904905" cy="240000"/>
          </a:xfrm>
          <a:prstGeom prst="rect">
            <a:avLst/>
          </a:prstGeom>
          <a:noFill/>
        </p:spPr>
        <p:txBody>
          <a:bodyPr wrap="square" lIns="0" rIns="0" tIns="0" bIns="0">
            <a:spAutoFit/>
          </a:bodyPr>
          <a:lstStyle/>
          <a:p>
            <a:pPr algn="r"/>
            <a:r>
              <a:rPr sz="1100" b="0" i="0">
                <a:solidFill>
                  <a:srgbClr val="283730"/>
                </a:solidFill>
                <a:latin typeface="Calibri"/>
              </a:rPr>
              <a:t>Below</a:t>
            </a:r>
          </a:p>
        </p:txBody>
      </p:sp>
      <p:sp>
        <p:nvSpPr>
          <p:cNvPr id="258" name="TextBox 257"/>
          <p:cNvSpPr txBox="1"/>
          <p:nvPr/>
        </p:nvSpPr>
        <p:spPr>
          <a:xfrm>
            <a:off x="360000" y="6500000"/>
            <a:ext cx="11471695" cy="280000"/>
          </a:xfrm>
          <a:prstGeom prst="rect">
            <a:avLst/>
          </a:prstGeom>
          <a:noFill/>
        </p:spPr>
        <p:txBody>
          <a:bodyPr wrap="square" lIns="0" rIns="0" tIns="0" bIns="0">
            <a:spAutoFit/>
          </a:bodyPr>
          <a:lstStyle/>
          <a:p>
            <a:pPr algn="l"/>
            <a:r>
              <a:rPr sz="1200" b="0" i="1">
                <a:solidFill>
                  <a:srgbClr val="50695C"/>
                </a:solidFill>
                <a:latin typeface="Calibri"/>
              </a:rPr>
              <a:t>Full 14-site table available as appendix; six representative sites shown.</a:t>
            </a:r>
          </a:p>
        </p:txBody>
      </p:sp>
      <p:sp>
        <p:nvSpPr>
          <p:cNvPr id="259" name="Rectangle 258"/>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61" name="TextBox 260"/>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200"/>
                                  </p:stCondLst>
                                  <p:childTnLst>
                                    <p:set>
                                      <p:cBhvr>
                                        <p:cTn id="213" dur="1" fill="hold">
                                          <p:stCondLst>
                                            <p:cond delay="0"/>
                                          </p:stCondLst>
                                        </p:cTn>
                                        <p:tgtEl>
                                          <p:spTgt spid="205"/>
                                        </p:tgtEl>
                                        <p:attrNameLst>
                                          <p:attrName>style.visibility</p:attrName>
                                        </p:attrNameLst>
                                      </p:cBhvr>
                                      <p:to>
                                        <p:strVal val="visible"/>
                                      </p:to>
                                    </p:set>
                                    <p:anim calcmode="lin" valueType="num">
                                      <p:cBhvr additive="base">
                                        <p:cTn id="214" dur="500" fill="hold"/>
                                        <p:tgtEl>
                                          <p:spTgt spid="20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300"/>
                                  </p:stCondLst>
                                  <p:childTnLst>
                                    <p:set>
                                      <p:cBhvr>
                                        <p:cTn id="223" dur="1" fill="hold">
                                          <p:stCondLst>
                                            <p:cond delay="0"/>
                                          </p:stCondLst>
                                        </p:cTn>
                                        <p:tgtEl>
                                          <p:spTgt spid="227"/>
                                        </p:tgtEl>
                                        <p:attrNameLst>
                                          <p:attrName>style.visibility</p:attrName>
                                        </p:attrNameLst>
                                      </p:cBhvr>
                                      <p:to>
                                        <p:strVal val="visible"/>
                                      </p:to>
                                    </p:set>
                                    <p:anim calcmode="lin" valueType="num">
                                      <p:cBhvr additive="base">
                                        <p:cTn id="224" dur="500" fill="hold"/>
                                        <p:tgtEl>
                                          <p:spTgt spid="2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05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Sampling methodology</a:t>
            </a:r>
          </a:p>
        </p:txBody>
      </p:sp>
      <p:sp>
        <p:nvSpPr>
          <p:cNvPr id="205" name="TextBox 204"/>
          <p:cNvSpPr txBox="1"/>
          <p:nvPr/>
        </p:nvSpPr>
        <p:spPr>
          <a:xfrm>
            <a:off x="360000" y="1500000"/>
            <a:ext cx="11471695" cy="420000"/>
          </a:xfrm>
          <a:prstGeom prst="rect">
            <a:avLst/>
          </a:prstGeom>
          <a:noFill/>
        </p:spPr>
        <p:txBody>
          <a:bodyPr wrap="square" lIns="0" rIns="0" tIns="0" bIns="0">
            <a:spAutoFit/>
          </a:bodyPr>
          <a:lstStyle/>
          <a:p>
            <a:pPr algn="l"/>
            <a:r>
              <a:rPr sz="1600" b="0" i="1">
                <a:solidFill>
                  <a:srgbClr val="50695C"/>
                </a:solidFill>
                <a:latin typeface="Calibri"/>
              </a:rPr>
              <a:t>Citizen volunteers, standardized protocol, three rounds per year</a:t>
            </a:r>
          </a:p>
        </p:txBody>
      </p:sp>
      <p:sp>
        <p:nvSpPr>
          <p:cNvPr id="215" name="TextBox 214"/>
          <p:cNvSpPr txBox="1"/>
          <p:nvPr/>
        </p:nvSpPr>
        <p:spPr>
          <a:xfrm>
            <a:off x="360000" y="2050000"/>
            <a:ext cx="11471695" cy="380000"/>
          </a:xfrm>
          <a:prstGeom prst="rect">
            <a:avLst/>
          </a:prstGeom>
          <a:noFill/>
        </p:spPr>
        <p:txBody>
          <a:bodyPr wrap="square" lIns="0" rIns="0" tIns="0" bIns="0">
            <a:spAutoFit/>
          </a:bodyPr>
          <a:lstStyle/>
          <a:p>
            <a:pPr algn="l"/>
            <a:r>
              <a:rPr sz="1700" b="1" i="0">
                <a:solidFill>
                  <a:srgbClr val="0F3228"/>
                </a:solidFill>
                <a:latin typeface="Calibri"/>
              </a:rPr>
              <a:t>How each round runs, from field to Airtable</a:t>
            </a:r>
          </a:p>
        </p:txBody>
      </p:sp>
      <p:sp>
        <p:nvSpPr>
          <p:cNvPr id="216" name="Rectangle 215"/>
          <p:cNvSpPr/>
          <p:nvPr/>
        </p:nvSpPr>
        <p:spPr>
          <a:xfrm>
            <a:off x="360000" y="255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360000" y="255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40000" y="269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440000" y="2690000"/>
            <a:ext cx="380000" cy="380000"/>
          </a:xfrm>
          <a:prstGeom prst="rect">
            <a:avLst/>
          </a:prstGeom>
          <a:noFill/>
        </p:spPr>
        <p:txBody>
          <a:bodyPr wrap="square" lIns="0" rIns="0" tIns="0" bIns="0">
            <a:spAutoFit/>
          </a:bodyPr>
          <a:lstStyle/>
          <a:p>
            <a:pPr algn="ctr"/>
            <a:r>
              <a:rPr sz="1800" b="1" i="0">
                <a:solidFill>
                  <a:srgbClr val="FFFFFF"/>
                </a:solidFill>
                <a:latin typeface="Calibri"/>
              </a:rPr>
              <a:t>1</a:t>
            </a:r>
          </a:p>
        </p:txBody>
      </p:sp>
      <p:sp>
        <p:nvSpPr>
          <p:cNvPr id="220" name="TextBox 219"/>
          <p:cNvSpPr txBox="1"/>
          <p:nvPr/>
        </p:nvSpPr>
        <p:spPr>
          <a:xfrm>
            <a:off x="900000" y="2730000"/>
            <a:ext cx="2097923" cy="280000"/>
          </a:xfrm>
          <a:prstGeom prst="rect">
            <a:avLst/>
          </a:prstGeom>
          <a:noFill/>
        </p:spPr>
        <p:txBody>
          <a:bodyPr wrap="square" lIns="0" rIns="0" tIns="0" bIns="0">
            <a:spAutoFit/>
          </a:bodyPr>
          <a:lstStyle/>
          <a:p>
            <a:pPr algn="l"/>
            <a:r>
              <a:rPr sz="1300" b="1" i="0">
                <a:solidFill>
                  <a:srgbClr val="0F3228"/>
                </a:solidFill>
                <a:latin typeface="Calibri"/>
              </a:rPr>
              <a:t>Field collection</a:t>
            </a:r>
          </a:p>
        </p:txBody>
      </p:sp>
      <p:sp>
        <p:nvSpPr>
          <p:cNvPr id="221" name="TextBox 220"/>
          <p:cNvSpPr txBox="1"/>
          <p:nvPr/>
        </p:nvSpPr>
        <p:spPr>
          <a:xfrm>
            <a:off x="900000" y="3010000"/>
            <a:ext cx="2097923" cy="960000"/>
          </a:xfrm>
          <a:prstGeom prst="rect">
            <a:avLst/>
          </a:prstGeom>
          <a:noFill/>
        </p:spPr>
        <p:txBody>
          <a:bodyPr wrap="square" lIns="0" rIns="0" tIns="0" bIns="0">
            <a:spAutoFit/>
          </a:bodyPr>
          <a:lstStyle/>
          <a:p>
            <a:pPr algn="l"/>
            <a:r>
              <a:rPr sz="1000" b="0" i="0">
                <a:solidFill>
                  <a:srgbClr val="283730"/>
                </a:solidFill>
                <a:latin typeface="Calibri"/>
              </a:rPr>
              <a:t>Volunteers collect bottle samples at each site; pH and temperature noted on the spot.</a:t>
            </a:r>
          </a:p>
        </p:txBody>
      </p:sp>
      <p:cxnSp>
        <p:nvCxnSpPr>
          <p:cNvPr id="225" name="Connector 224"/>
          <p:cNvCxnSpPr/>
          <p:nvPr/>
        </p:nvCxnSpPr>
        <p:spPr>
          <a:xfrm>
            <a:off x="3097923" y="3300000"/>
            <a:ext cx="160000" cy="0"/>
          </a:xfrm>
          <a:prstGeom prst="line">
            <a:avLst/>
          </a:prstGeom>
          <a:ln w="25400">
            <a:solidFill>
              <a:srgbClr val="1453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6" name="Rectangle 225"/>
          <p:cNvSpPr/>
          <p:nvPr/>
        </p:nvSpPr>
        <p:spPr>
          <a:xfrm>
            <a:off x="3277923" y="255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3277923" y="255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3357923" y="269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3357923" y="2690000"/>
            <a:ext cx="380000" cy="380000"/>
          </a:xfrm>
          <a:prstGeom prst="rect">
            <a:avLst/>
          </a:prstGeom>
          <a:noFill/>
        </p:spPr>
        <p:txBody>
          <a:bodyPr wrap="square" lIns="0" rIns="0" tIns="0" bIns="0">
            <a:spAutoFit/>
          </a:bodyPr>
          <a:lstStyle/>
          <a:p>
            <a:pPr algn="ctr"/>
            <a:r>
              <a:rPr sz="1800" b="1" i="0">
                <a:solidFill>
                  <a:srgbClr val="FFFFFF"/>
                </a:solidFill>
                <a:latin typeface="Calibri"/>
              </a:rPr>
              <a:t>2</a:t>
            </a:r>
          </a:p>
        </p:txBody>
      </p:sp>
      <p:sp>
        <p:nvSpPr>
          <p:cNvPr id="230" name="TextBox 229"/>
          <p:cNvSpPr txBox="1"/>
          <p:nvPr/>
        </p:nvSpPr>
        <p:spPr>
          <a:xfrm>
            <a:off x="3817923" y="2730000"/>
            <a:ext cx="2097923" cy="280000"/>
          </a:xfrm>
          <a:prstGeom prst="rect">
            <a:avLst/>
          </a:prstGeom>
          <a:noFill/>
        </p:spPr>
        <p:txBody>
          <a:bodyPr wrap="square" lIns="0" rIns="0" tIns="0" bIns="0">
            <a:spAutoFit/>
          </a:bodyPr>
          <a:lstStyle/>
          <a:p>
            <a:pPr algn="l"/>
            <a:r>
              <a:rPr sz="1300" b="1" i="0">
                <a:solidFill>
                  <a:srgbClr val="0F3228"/>
                </a:solidFill>
                <a:latin typeface="Calibri"/>
              </a:rPr>
              <a:t>Chilled transit</a:t>
            </a:r>
          </a:p>
        </p:txBody>
      </p:sp>
      <p:sp>
        <p:nvSpPr>
          <p:cNvPr id="231" name="TextBox 230"/>
          <p:cNvSpPr txBox="1"/>
          <p:nvPr/>
        </p:nvSpPr>
        <p:spPr>
          <a:xfrm>
            <a:off x="3817923" y="3010000"/>
            <a:ext cx="2097923" cy="960000"/>
          </a:xfrm>
          <a:prstGeom prst="rect">
            <a:avLst/>
          </a:prstGeom>
          <a:noFill/>
        </p:spPr>
        <p:txBody>
          <a:bodyPr wrap="square" lIns="0" rIns="0" tIns="0" bIns="0">
            <a:spAutoFit/>
          </a:bodyPr>
          <a:lstStyle/>
          <a:p>
            <a:pPr algn="l"/>
            <a:r>
              <a:rPr sz="1000" b="0" i="0">
                <a:solidFill>
                  <a:srgbClr val="283730"/>
                </a:solidFill>
                <a:latin typeface="Calibri"/>
              </a:rPr>
              <a:t>Samples are iced and delivered to the coalition lab within four hours of collection.</a:t>
            </a:r>
          </a:p>
        </p:txBody>
      </p:sp>
      <p:cxnSp>
        <p:nvCxnSpPr>
          <p:cNvPr id="235" name="Connector 234"/>
          <p:cNvCxnSpPr/>
          <p:nvPr/>
        </p:nvCxnSpPr>
        <p:spPr>
          <a:xfrm>
            <a:off x="6015846" y="3300000"/>
            <a:ext cx="160000" cy="0"/>
          </a:xfrm>
          <a:prstGeom prst="line">
            <a:avLst/>
          </a:prstGeom>
          <a:ln w="25400">
            <a:solidFill>
              <a:srgbClr val="1453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6" name="Rectangle 235"/>
          <p:cNvSpPr/>
          <p:nvPr/>
        </p:nvSpPr>
        <p:spPr>
          <a:xfrm>
            <a:off x="6195846" y="255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6195846" y="255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6275846" y="269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6275846" y="2690000"/>
            <a:ext cx="380000" cy="380000"/>
          </a:xfrm>
          <a:prstGeom prst="rect">
            <a:avLst/>
          </a:prstGeom>
          <a:noFill/>
        </p:spPr>
        <p:txBody>
          <a:bodyPr wrap="square" lIns="0" rIns="0" tIns="0" bIns="0">
            <a:spAutoFit/>
          </a:bodyPr>
          <a:lstStyle/>
          <a:p>
            <a:pPr algn="ctr"/>
            <a:r>
              <a:rPr sz="1800" b="1" i="0">
                <a:solidFill>
                  <a:srgbClr val="FFFFFF"/>
                </a:solidFill>
                <a:latin typeface="Calibri"/>
              </a:rPr>
              <a:t>3</a:t>
            </a:r>
          </a:p>
        </p:txBody>
      </p:sp>
      <p:sp>
        <p:nvSpPr>
          <p:cNvPr id="240" name="TextBox 239"/>
          <p:cNvSpPr txBox="1"/>
          <p:nvPr/>
        </p:nvSpPr>
        <p:spPr>
          <a:xfrm>
            <a:off x="6735846" y="2730000"/>
            <a:ext cx="2097923" cy="280000"/>
          </a:xfrm>
          <a:prstGeom prst="rect">
            <a:avLst/>
          </a:prstGeom>
          <a:noFill/>
        </p:spPr>
        <p:txBody>
          <a:bodyPr wrap="square" lIns="0" rIns="0" tIns="0" bIns="0">
            <a:spAutoFit/>
          </a:bodyPr>
          <a:lstStyle/>
          <a:p>
            <a:pPr algn="l"/>
            <a:r>
              <a:rPr sz="1300" b="1" i="0">
                <a:solidFill>
                  <a:srgbClr val="0F3228"/>
                </a:solidFill>
                <a:latin typeface="Calibri"/>
              </a:rPr>
              <a:t>Lab analysis</a:t>
            </a:r>
          </a:p>
        </p:txBody>
      </p:sp>
      <p:sp>
        <p:nvSpPr>
          <p:cNvPr id="241" name="TextBox 240"/>
          <p:cNvSpPr txBox="1"/>
          <p:nvPr/>
        </p:nvSpPr>
        <p:spPr>
          <a:xfrm>
            <a:off x="6735846" y="3010000"/>
            <a:ext cx="2097923" cy="960000"/>
          </a:xfrm>
          <a:prstGeom prst="rect">
            <a:avLst/>
          </a:prstGeom>
          <a:noFill/>
        </p:spPr>
        <p:txBody>
          <a:bodyPr wrap="square" lIns="0" rIns="0" tIns="0" bIns="0">
            <a:spAutoFit/>
          </a:bodyPr>
          <a:lstStyle/>
          <a:p>
            <a:pPr algn="l"/>
            <a:r>
              <a:rPr sz="1000" b="0" i="0">
                <a:solidFill>
                  <a:srgbClr val="283730"/>
                </a:solidFill>
                <a:latin typeface="Calibri"/>
              </a:rPr>
              <a:t>Phosphorus by standard colorimetric procedure; PFAS by accredited contractor lab.</a:t>
            </a:r>
          </a:p>
        </p:txBody>
      </p:sp>
      <p:cxnSp>
        <p:nvCxnSpPr>
          <p:cNvPr id="245" name="Connector 244"/>
          <p:cNvCxnSpPr/>
          <p:nvPr/>
        </p:nvCxnSpPr>
        <p:spPr>
          <a:xfrm>
            <a:off x="8933769" y="3300000"/>
            <a:ext cx="160000" cy="0"/>
          </a:xfrm>
          <a:prstGeom prst="line">
            <a:avLst/>
          </a:prstGeom>
          <a:ln w="25400">
            <a:solidFill>
              <a:srgbClr val="1453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6" name="Rectangle 245"/>
          <p:cNvSpPr/>
          <p:nvPr/>
        </p:nvSpPr>
        <p:spPr>
          <a:xfrm>
            <a:off x="9113769" y="255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9113769" y="255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9193769" y="269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9193769" y="2690000"/>
            <a:ext cx="380000" cy="380000"/>
          </a:xfrm>
          <a:prstGeom prst="rect">
            <a:avLst/>
          </a:prstGeom>
          <a:noFill/>
        </p:spPr>
        <p:txBody>
          <a:bodyPr wrap="square" lIns="0" rIns="0" tIns="0" bIns="0">
            <a:spAutoFit/>
          </a:bodyPr>
          <a:lstStyle/>
          <a:p>
            <a:pPr algn="ctr"/>
            <a:r>
              <a:rPr sz="1800" b="1" i="0">
                <a:solidFill>
                  <a:srgbClr val="FFFFFF"/>
                </a:solidFill>
                <a:latin typeface="Calibri"/>
              </a:rPr>
              <a:t>4</a:t>
            </a:r>
          </a:p>
        </p:txBody>
      </p:sp>
      <p:sp>
        <p:nvSpPr>
          <p:cNvPr id="250" name="TextBox 249"/>
          <p:cNvSpPr txBox="1"/>
          <p:nvPr/>
        </p:nvSpPr>
        <p:spPr>
          <a:xfrm>
            <a:off x="9653769" y="2730000"/>
            <a:ext cx="2097923" cy="280000"/>
          </a:xfrm>
          <a:prstGeom prst="rect">
            <a:avLst/>
          </a:prstGeom>
          <a:noFill/>
        </p:spPr>
        <p:txBody>
          <a:bodyPr wrap="square" lIns="0" rIns="0" tIns="0" bIns="0">
            <a:spAutoFit/>
          </a:bodyPr>
          <a:lstStyle/>
          <a:p>
            <a:pPr algn="l"/>
            <a:r>
              <a:rPr sz="1300" b="1" i="0">
                <a:solidFill>
                  <a:srgbClr val="0F3228"/>
                </a:solidFill>
                <a:latin typeface="Calibri"/>
              </a:rPr>
              <a:t>Airtable entry</a:t>
            </a:r>
          </a:p>
        </p:txBody>
      </p:sp>
      <p:sp>
        <p:nvSpPr>
          <p:cNvPr id="251" name="TextBox 250"/>
          <p:cNvSpPr txBox="1"/>
          <p:nvPr/>
        </p:nvSpPr>
        <p:spPr>
          <a:xfrm>
            <a:off x="9653769" y="3010000"/>
            <a:ext cx="2097923" cy="960000"/>
          </a:xfrm>
          <a:prstGeom prst="rect">
            <a:avLst/>
          </a:prstGeom>
          <a:noFill/>
        </p:spPr>
        <p:txBody>
          <a:bodyPr wrap="square" lIns="0" rIns="0" tIns="0" bIns="0">
            <a:spAutoFit/>
          </a:bodyPr>
          <a:lstStyle/>
          <a:p>
            <a:pPr algn="l"/>
            <a:r>
              <a:rPr sz="1000" b="0" i="0">
                <a:solidFill>
                  <a:srgbClr val="283730"/>
                </a:solidFill>
                <a:latin typeface="Calibri"/>
              </a:rPr>
              <a:t>Results entered against site ID and round date by the volunteer who collected.</a:t>
            </a:r>
          </a:p>
        </p:txBody>
      </p:sp>
      <p:sp>
        <p:nvSpPr>
          <p:cNvPr id="255" name="Rectangle 254"/>
          <p:cNvSpPr/>
          <p:nvPr/>
        </p:nvSpPr>
        <p:spPr>
          <a:xfrm>
            <a:off x="360000" y="443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360000" y="443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440000" y="457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440000" y="4570000"/>
            <a:ext cx="380000" cy="380000"/>
          </a:xfrm>
          <a:prstGeom prst="rect">
            <a:avLst/>
          </a:prstGeom>
          <a:noFill/>
        </p:spPr>
        <p:txBody>
          <a:bodyPr wrap="square" lIns="0" rIns="0" tIns="0" bIns="0">
            <a:spAutoFit/>
          </a:bodyPr>
          <a:lstStyle/>
          <a:p>
            <a:pPr algn="ctr"/>
            <a:r>
              <a:rPr sz="1800" b="1" i="0">
                <a:solidFill>
                  <a:srgbClr val="FFFFFF"/>
                </a:solidFill>
                <a:latin typeface="Calibri"/>
              </a:rPr>
              <a:t>5</a:t>
            </a:r>
          </a:p>
        </p:txBody>
      </p:sp>
      <p:sp>
        <p:nvSpPr>
          <p:cNvPr id="259" name="TextBox 258"/>
          <p:cNvSpPr txBox="1"/>
          <p:nvPr/>
        </p:nvSpPr>
        <p:spPr>
          <a:xfrm>
            <a:off x="900000" y="4610000"/>
            <a:ext cx="2097923" cy="280000"/>
          </a:xfrm>
          <a:prstGeom prst="rect">
            <a:avLst/>
          </a:prstGeom>
          <a:noFill/>
        </p:spPr>
        <p:txBody>
          <a:bodyPr wrap="square" lIns="0" rIns="0" tIns="0" bIns="0">
            <a:spAutoFit/>
          </a:bodyPr>
          <a:lstStyle/>
          <a:p>
            <a:pPr algn="l"/>
            <a:r>
              <a:rPr sz="1300" b="1" i="0">
                <a:solidFill>
                  <a:srgbClr val="0F3228"/>
                </a:solidFill>
                <a:latin typeface="Calibri"/>
              </a:rPr>
              <a:t>Cross check</a:t>
            </a:r>
          </a:p>
        </p:txBody>
      </p:sp>
      <p:sp>
        <p:nvSpPr>
          <p:cNvPr id="260" name="TextBox 259"/>
          <p:cNvSpPr txBox="1"/>
          <p:nvPr/>
        </p:nvSpPr>
        <p:spPr>
          <a:xfrm>
            <a:off x="900000" y="4890000"/>
            <a:ext cx="2097923" cy="960000"/>
          </a:xfrm>
          <a:prstGeom prst="rect">
            <a:avLst/>
          </a:prstGeom>
          <a:noFill/>
        </p:spPr>
        <p:txBody>
          <a:bodyPr wrap="square" lIns="0" rIns="0" tIns="0" bIns="0">
            <a:spAutoFit/>
          </a:bodyPr>
          <a:lstStyle/>
          <a:p>
            <a:pPr algn="l"/>
            <a:r>
              <a:rPr sz="1000" b="0" i="0">
                <a:solidFill>
                  <a:srgbClr val="283730"/>
                </a:solidFill>
                <a:latin typeface="Calibri"/>
              </a:rPr>
              <a:t>Stuart reviews each entry within 48 hours; flags outliers for resampling if needed.</a:t>
            </a:r>
          </a:p>
        </p:txBody>
      </p:sp>
      <p:cxnSp>
        <p:nvCxnSpPr>
          <p:cNvPr id="265" name="Connector 264"/>
          <p:cNvCxnSpPr/>
          <p:nvPr/>
        </p:nvCxnSpPr>
        <p:spPr>
          <a:xfrm>
            <a:off x="3097923" y="5180000"/>
            <a:ext cx="160000" cy="0"/>
          </a:xfrm>
          <a:prstGeom prst="line">
            <a:avLst/>
          </a:prstGeom>
          <a:ln w="25400">
            <a:solidFill>
              <a:srgbClr val="1453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6" name="Rectangle 265"/>
          <p:cNvSpPr/>
          <p:nvPr/>
        </p:nvSpPr>
        <p:spPr>
          <a:xfrm>
            <a:off x="3277923" y="443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3277923" y="443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3357923" y="457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3357923" y="4570000"/>
            <a:ext cx="380000" cy="380000"/>
          </a:xfrm>
          <a:prstGeom prst="rect">
            <a:avLst/>
          </a:prstGeom>
          <a:noFill/>
        </p:spPr>
        <p:txBody>
          <a:bodyPr wrap="square" lIns="0" rIns="0" tIns="0" bIns="0">
            <a:spAutoFit/>
          </a:bodyPr>
          <a:lstStyle/>
          <a:p>
            <a:pPr algn="ctr"/>
            <a:r>
              <a:rPr sz="1800" b="1" i="0">
                <a:solidFill>
                  <a:srgbClr val="FFFFFF"/>
                </a:solidFill>
                <a:latin typeface="Calibri"/>
              </a:rPr>
              <a:t>6</a:t>
            </a:r>
          </a:p>
        </p:txBody>
      </p:sp>
      <p:sp>
        <p:nvSpPr>
          <p:cNvPr id="270" name="TextBox 269"/>
          <p:cNvSpPr txBox="1"/>
          <p:nvPr/>
        </p:nvSpPr>
        <p:spPr>
          <a:xfrm>
            <a:off x="3817923" y="4610000"/>
            <a:ext cx="2097923" cy="280000"/>
          </a:xfrm>
          <a:prstGeom prst="rect">
            <a:avLst/>
          </a:prstGeom>
          <a:noFill/>
        </p:spPr>
        <p:txBody>
          <a:bodyPr wrap="square" lIns="0" rIns="0" tIns="0" bIns="0">
            <a:spAutoFit/>
          </a:bodyPr>
          <a:lstStyle/>
          <a:p>
            <a:pPr algn="l"/>
            <a:r>
              <a:rPr sz="1300" b="1" i="0">
                <a:solidFill>
                  <a:srgbClr val="0F3228"/>
                </a:solidFill>
                <a:latin typeface="Calibri"/>
              </a:rPr>
              <a:t>Quarterly report</a:t>
            </a:r>
          </a:p>
        </p:txBody>
      </p:sp>
      <p:sp>
        <p:nvSpPr>
          <p:cNvPr id="271" name="TextBox 270"/>
          <p:cNvSpPr txBox="1"/>
          <p:nvPr/>
        </p:nvSpPr>
        <p:spPr>
          <a:xfrm>
            <a:off x="3817923" y="4890000"/>
            <a:ext cx="2097923" cy="960000"/>
          </a:xfrm>
          <a:prstGeom prst="rect">
            <a:avLst/>
          </a:prstGeom>
          <a:noFill/>
        </p:spPr>
        <p:txBody>
          <a:bodyPr wrap="square" lIns="0" rIns="0" tIns="0" bIns="0">
            <a:spAutoFit/>
          </a:bodyPr>
          <a:lstStyle/>
          <a:p>
            <a:pPr algn="l"/>
            <a:r>
              <a:rPr sz="1000" b="0" i="0">
                <a:solidFill>
                  <a:srgbClr val="283730"/>
                </a:solidFill>
                <a:latin typeface="Calibri"/>
              </a:rPr>
              <a:t>Round-level findings shared with the board and incorporated into the annual report.</a:t>
            </a:r>
          </a:p>
        </p:txBody>
      </p:sp>
      <p:cxnSp>
        <p:nvCxnSpPr>
          <p:cNvPr id="275" name="Connector 274"/>
          <p:cNvCxnSpPr/>
          <p:nvPr/>
        </p:nvCxnSpPr>
        <p:spPr>
          <a:xfrm>
            <a:off x="6015846" y="5180000"/>
            <a:ext cx="160000" cy="0"/>
          </a:xfrm>
          <a:prstGeom prst="line">
            <a:avLst/>
          </a:prstGeom>
          <a:ln w="25400">
            <a:solidFill>
              <a:srgbClr val="1453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Rectangle 275"/>
          <p:cNvSpPr/>
          <p:nvPr/>
        </p:nvSpPr>
        <p:spPr>
          <a:xfrm>
            <a:off x="6195846" y="443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6195846" y="443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6275846" y="457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6275846" y="4570000"/>
            <a:ext cx="380000" cy="380000"/>
          </a:xfrm>
          <a:prstGeom prst="rect">
            <a:avLst/>
          </a:prstGeom>
          <a:noFill/>
        </p:spPr>
        <p:txBody>
          <a:bodyPr wrap="square" lIns="0" rIns="0" tIns="0" bIns="0">
            <a:spAutoFit/>
          </a:bodyPr>
          <a:lstStyle/>
          <a:p>
            <a:pPr algn="ctr"/>
            <a:r>
              <a:rPr sz="1800" b="1" i="0">
                <a:solidFill>
                  <a:srgbClr val="FFFFFF"/>
                </a:solidFill>
                <a:latin typeface="Calibri"/>
              </a:rPr>
              <a:t>7</a:t>
            </a:r>
          </a:p>
        </p:txBody>
      </p:sp>
      <p:sp>
        <p:nvSpPr>
          <p:cNvPr id="280" name="TextBox 279"/>
          <p:cNvSpPr txBox="1"/>
          <p:nvPr/>
        </p:nvSpPr>
        <p:spPr>
          <a:xfrm>
            <a:off x="6735846" y="4610000"/>
            <a:ext cx="2097923" cy="280000"/>
          </a:xfrm>
          <a:prstGeom prst="rect">
            <a:avLst/>
          </a:prstGeom>
          <a:noFill/>
        </p:spPr>
        <p:txBody>
          <a:bodyPr wrap="square" lIns="0" rIns="0" tIns="0" bIns="0">
            <a:spAutoFit/>
          </a:bodyPr>
          <a:lstStyle/>
          <a:p>
            <a:pPr algn="l"/>
            <a:r>
              <a:rPr sz="1300" b="1" i="0">
                <a:solidFill>
                  <a:srgbClr val="0F3228"/>
                </a:solidFill>
                <a:latin typeface="Calibri"/>
              </a:rPr>
              <a:t>Regulatory submission</a:t>
            </a:r>
          </a:p>
        </p:txBody>
      </p:sp>
      <p:sp>
        <p:nvSpPr>
          <p:cNvPr id="281" name="TextBox 280"/>
          <p:cNvSpPr txBox="1"/>
          <p:nvPr/>
        </p:nvSpPr>
        <p:spPr>
          <a:xfrm>
            <a:off x="6735846" y="4890000"/>
            <a:ext cx="2097923" cy="960000"/>
          </a:xfrm>
          <a:prstGeom prst="rect">
            <a:avLst/>
          </a:prstGeom>
          <a:noFill/>
        </p:spPr>
        <p:txBody>
          <a:bodyPr wrap="square" lIns="0" rIns="0" tIns="0" bIns="0">
            <a:spAutoFit/>
          </a:bodyPr>
          <a:lstStyle/>
          <a:p>
            <a:pPr algn="l"/>
            <a:r>
              <a:rPr sz="1000" b="0" i="0">
                <a:solidFill>
                  <a:srgbClr val="283730"/>
                </a:solidFill>
                <a:latin typeface="Calibri"/>
              </a:rPr>
              <a:t>Significant exceedances flagged for inclusion in hearing testimony and county comment letters.</a:t>
            </a:r>
          </a:p>
        </p:txBody>
      </p:sp>
      <p:cxnSp>
        <p:nvCxnSpPr>
          <p:cNvPr id="285" name="Connector 284"/>
          <p:cNvCxnSpPr/>
          <p:nvPr/>
        </p:nvCxnSpPr>
        <p:spPr>
          <a:xfrm>
            <a:off x="8933769" y="5180000"/>
            <a:ext cx="160000" cy="0"/>
          </a:xfrm>
          <a:prstGeom prst="line">
            <a:avLst/>
          </a:prstGeom>
          <a:ln w="25400">
            <a:solidFill>
              <a:srgbClr val="1453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6" name="Rectangle 285"/>
          <p:cNvSpPr/>
          <p:nvPr/>
        </p:nvSpPr>
        <p:spPr>
          <a:xfrm>
            <a:off x="9113769" y="4430000"/>
            <a:ext cx="2717923" cy="15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113769" y="4430000"/>
            <a:ext cx="2717923" cy="6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9193769" y="4570000"/>
            <a:ext cx="380000" cy="380000"/>
          </a:xfrm>
          <a:prstGeom prst="ellipse">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193769" y="4570000"/>
            <a:ext cx="380000" cy="380000"/>
          </a:xfrm>
          <a:prstGeom prst="rect">
            <a:avLst/>
          </a:prstGeom>
          <a:noFill/>
        </p:spPr>
        <p:txBody>
          <a:bodyPr wrap="square" lIns="0" rIns="0" tIns="0" bIns="0">
            <a:spAutoFit/>
          </a:bodyPr>
          <a:lstStyle/>
          <a:p>
            <a:pPr algn="ctr"/>
            <a:r>
              <a:rPr sz="1800" b="1" i="0">
                <a:solidFill>
                  <a:srgbClr val="FFFFFF"/>
                </a:solidFill>
                <a:latin typeface="Calibri"/>
              </a:rPr>
              <a:t>8</a:t>
            </a:r>
          </a:p>
        </p:txBody>
      </p:sp>
      <p:sp>
        <p:nvSpPr>
          <p:cNvPr id="290" name="TextBox 289"/>
          <p:cNvSpPr txBox="1"/>
          <p:nvPr/>
        </p:nvSpPr>
        <p:spPr>
          <a:xfrm>
            <a:off x="9653769" y="4610000"/>
            <a:ext cx="2097923" cy="280000"/>
          </a:xfrm>
          <a:prstGeom prst="rect">
            <a:avLst/>
          </a:prstGeom>
          <a:noFill/>
        </p:spPr>
        <p:txBody>
          <a:bodyPr wrap="square" lIns="0" rIns="0" tIns="0" bIns="0">
            <a:spAutoFit/>
          </a:bodyPr>
          <a:lstStyle/>
          <a:p>
            <a:pPr algn="l"/>
            <a:r>
              <a:rPr sz="1300" b="1" i="0">
                <a:solidFill>
                  <a:srgbClr val="0F3228"/>
                </a:solidFill>
                <a:latin typeface="Calibri"/>
              </a:rPr>
              <a:t>Public dashboard</a:t>
            </a:r>
          </a:p>
        </p:txBody>
      </p:sp>
      <p:sp>
        <p:nvSpPr>
          <p:cNvPr id="291" name="TextBox 290"/>
          <p:cNvSpPr txBox="1"/>
          <p:nvPr/>
        </p:nvSpPr>
        <p:spPr>
          <a:xfrm>
            <a:off x="9653769" y="4890000"/>
            <a:ext cx="2097923" cy="960000"/>
          </a:xfrm>
          <a:prstGeom prst="rect">
            <a:avLst/>
          </a:prstGeom>
          <a:noFill/>
        </p:spPr>
        <p:txBody>
          <a:bodyPr wrap="square" lIns="0" rIns="0" tIns="0" bIns="0">
            <a:spAutoFit/>
          </a:bodyPr>
          <a:lstStyle/>
          <a:p>
            <a:pPr algn="l"/>
            <a:r>
              <a:rPr sz="1000" b="0" i="0">
                <a:solidFill>
                  <a:srgbClr val="283730"/>
                </a:solidFill>
                <a:latin typeface="Calibri"/>
              </a:rPr>
              <a:t>Anonymized site status published to the coalition website each quarter.</a:t>
            </a:r>
          </a:p>
        </p:txBody>
      </p:sp>
      <p:sp>
        <p:nvSpPr>
          <p:cNvPr id="295" name="Rectangle 294"/>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97" name="TextBox 296"/>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200"/>
                                  </p:stCondLst>
                                  <p:childTnLst>
                                    <p:set>
                                      <p:cBhvr>
                                        <p:cTn id="213" dur="1" fill="hold">
                                          <p:stCondLst>
                                            <p:cond delay="0"/>
                                          </p:stCondLst>
                                        </p:cTn>
                                        <p:tgtEl>
                                          <p:spTgt spid="205"/>
                                        </p:tgtEl>
                                        <p:attrNameLst>
                                          <p:attrName>style.visibility</p:attrName>
                                        </p:attrNameLst>
                                      </p:cBhvr>
                                      <p:to>
                                        <p:strVal val="visible"/>
                                      </p:to>
                                    </p:set>
                                    <p:anim calcmode="lin" valueType="num">
                                      <p:cBhvr additive="base">
                                        <p:cTn id="214" dur="500" fill="hold"/>
                                        <p:tgtEl>
                                          <p:spTgt spid="20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420"/>
                                  </p:stCondLst>
                                  <p:childTnLst>
                                    <p:set>
                                      <p:cBhvr>
                                        <p:cTn id="223" dur="1" fill="hold">
                                          <p:stCondLst>
                                            <p:cond delay="0"/>
                                          </p:stCondLst>
                                        </p:cTn>
                                        <p:tgtEl>
                                          <p:spTgt spid="216"/>
                                        </p:tgtEl>
                                        <p:attrNameLst>
                                          <p:attrName>style.visibility</p:attrName>
                                        </p:attrNameLst>
                                      </p:cBhvr>
                                      <p:to>
                                        <p:strVal val="visible"/>
                                      </p:to>
                                    </p:set>
                                    <p:anim calcmode="lin" valueType="num">
                                      <p:cBhvr additive="base">
                                        <p:cTn id="224" dur="500" fill="hold"/>
                                        <p:tgtEl>
                                          <p:spTgt spid="216"/>
                                        </p:tgtEl>
                                        <p:attrNameLst>
                                          <p:attrName>style.opacity</p:attrName>
                                        </p:attrNameLst>
                                      </p:cBhvr>
                                      <p:tavLst>
                                        <p:tav tm="0">
                                          <p:val>
                                            <p:fltVal val="0"/>
                                          </p:val>
                                        </p:tav>
                                        <p:tav tm="100000">
                                          <p:val>
                                            <p:fltVal val="1"/>
                                          </p:val>
                                        </p:tav>
                                      </p:tavLst>
                                    </p:anim>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540"/>
                                  </p:stCondLst>
                                  <p:childTnLst>
                                    <p:set>
                                      <p:cBhvr>
                                        <p:cTn id="233" dur="1" fill="hold">
                                          <p:stCondLst>
                                            <p:cond delay="0"/>
                                          </p:stCondLst>
                                        </p:cTn>
                                        <p:tgtEl>
                                          <p:spTgt spid="226"/>
                                        </p:tgtEl>
                                        <p:attrNameLst>
                                          <p:attrName>style.visibility</p:attrName>
                                        </p:attrNameLst>
                                      </p:cBhvr>
                                      <p:to>
                                        <p:strVal val="visible"/>
                                      </p:to>
                                    </p:set>
                                    <p:anim calcmode="lin" valueType="num">
                                      <p:cBhvr additive="base">
                                        <p:cTn id="234" dur="500" fill="hold"/>
                                        <p:tgtEl>
                                          <p:spTgt spid="226"/>
                                        </p:tgtEl>
                                        <p:attrNameLst>
                                          <p:attrName>style.opacity</p:attrName>
                                        </p:attrNameLst>
                                      </p:cBhvr>
                                      <p:tavLst>
                                        <p:tav tm="0">
                                          <p:val>
                                            <p:fltVal val="0"/>
                                          </p:val>
                                        </p:tav>
                                        <p:tav tm="100000">
                                          <p:val>
                                            <p:fltVal val="1"/>
                                          </p:val>
                                        </p:tav>
                                      </p:tavLst>
                                    </p:anim>
                                  </p:childTnLst>
                                </p:cTn>
                              </p:par>
                            </p:childTnLst>
                          </p:cTn>
                        </p:par>
                      </p:childTnLst>
                    </p:cTn>
                  </p:par>
                  <p:par>
                    <p:cTn id="240" fill="hold">
                      <p:stCondLst>
                        <p:cond delay="indefinite"/>
                      </p:stCondLst>
                      <p:childTnLst>
                        <p:par>
                          <p:cTn id="241" fill="hold">
                            <p:stCondLst>
                              <p:cond delay="0"/>
                            </p:stCondLst>
                            <p:childTnLst>
                              <p:par>
                                <p:cTn id="242" presetID="10" presetClass="entr" presetSubtype="0" fill="hold" grpId="0" nodeType="clickEffect">
                                  <p:stCondLst>
                                    <p:cond delay="660"/>
                                  </p:stCondLst>
                                  <p:childTnLst>
                                    <p:set>
                                      <p:cBhvr>
                                        <p:cTn id="243" dur="1" fill="hold">
                                          <p:stCondLst>
                                            <p:cond delay="0"/>
                                          </p:stCondLst>
                                        </p:cTn>
                                        <p:tgtEl>
                                          <p:spTgt spid="236"/>
                                        </p:tgtEl>
                                        <p:attrNameLst>
                                          <p:attrName>style.visibility</p:attrName>
                                        </p:attrNameLst>
                                      </p:cBhvr>
                                      <p:to>
                                        <p:strVal val="visible"/>
                                      </p:to>
                                    </p:set>
                                    <p:anim calcmode="lin" valueType="num">
                                      <p:cBhvr additive="base">
                                        <p:cTn id="244" dur="500" fill="hold"/>
                                        <p:tgtEl>
                                          <p:spTgt spid="236"/>
                                        </p:tgtEl>
                                        <p:attrNameLst>
                                          <p:attrName>style.opacity</p:attrName>
                                        </p:attrNameLst>
                                      </p:cBhvr>
                                      <p:tavLst>
                                        <p:tav tm="0">
                                          <p:val>
                                            <p:fltVal val="0"/>
                                          </p:val>
                                        </p:tav>
                                        <p:tav tm="100000">
                                          <p:val>
                                            <p:fltVal val="1"/>
                                          </p:val>
                                        </p:tav>
                                      </p:tavLst>
                                    </p:anim>
                                  </p:childTnLst>
                                </p:cTn>
                              </p:par>
                            </p:childTnLst>
                          </p:cTn>
                        </p:par>
                      </p:childTnLst>
                    </p:cTn>
                  </p:par>
                  <p:par>
                    <p:cTn id="250" fill="hold">
                      <p:stCondLst>
                        <p:cond delay="indefinite"/>
                      </p:stCondLst>
                      <p:childTnLst>
                        <p:par>
                          <p:cTn id="251" fill="hold">
                            <p:stCondLst>
                              <p:cond delay="0"/>
                            </p:stCondLst>
                            <p:childTnLst>
                              <p:par>
                                <p:cTn id="252" presetID="10" presetClass="entr" presetSubtype="0" fill="hold" grpId="0" nodeType="clickEffect">
                                  <p:stCondLst>
                                    <p:cond delay="780"/>
                                  </p:stCondLst>
                                  <p:childTnLst>
                                    <p:set>
                                      <p:cBhvr>
                                        <p:cTn id="253" dur="1" fill="hold">
                                          <p:stCondLst>
                                            <p:cond delay="0"/>
                                          </p:stCondLst>
                                        </p:cTn>
                                        <p:tgtEl>
                                          <p:spTgt spid="246"/>
                                        </p:tgtEl>
                                        <p:attrNameLst>
                                          <p:attrName>style.visibility</p:attrName>
                                        </p:attrNameLst>
                                      </p:cBhvr>
                                      <p:to>
                                        <p:strVal val="visible"/>
                                      </p:to>
                                    </p:set>
                                    <p:anim calcmode="lin" valueType="num">
                                      <p:cBhvr additive="base">
                                        <p:cTn id="254" dur="500" fill="hold"/>
                                        <p:tgtEl>
                                          <p:spTgt spid="246"/>
                                        </p:tgtEl>
                                        <p:attrNameLst>
                                          <p:attrName>style.opacity</p:attrName>
                                        </p:attrNameLst>
                                      </p:cBhvr>
                                      <p:tavLst>
                                        <p:tav tm="0">
                                          <p:val>
                                            <p:fltVal val="0"/>
                                          </p:val>
                                        </p:tav>
                                        <p:tav tm="100000">
                                          <p:val>
                                            <p:fltVal val="1"/>
                                          </p:val>
                                        </p:tav>
                                      </p:tavLst>
                                    </p:anim>
                                  </p:childTnLst>
                                </p:cTn>
                              </p:par>
                            </p:childTnLst>
                          </p:cTn>
                        </p:par>
                      </p:childTnLst>
                    </p:cTn>
                  </p:par>
                  <p:par>
                    <p:cTn id="260" fill="hold">
                      <p:stCondLst>
                        <p:cond delay="indefinite"/>
                      </p:stCondLst>
                      <p:childTnLst>
                        <p:par>
                          <p:cTn id="261" fill="hold">
                            <p:stCondLst>
                              <p:cond delay="0"/>
                            </p:stCondLst>
                            <p:childTnLst>
                              <p:par>
                                <p:cTn id="262" presetID="10" presetClass="entr" presetSubtype="0" fill="hold" grpId="0" nodeType="clickEffect">
                                  <p:stCondLst>
                                    <p:cond delay="900"/>
                                  </p:stCondLst>
                                  <p:childTnLst>
                                    <p:set>
                                      <p:cBhvr>
                                        <p:cTn id="263" dur="1" fill="hold">
                                          <p:stCondLst>
                                            <p:cond delay="0"/>
                                          </p:stCondLst>
                                        </p:cTn>
                                        <p:tgtEl>
                                          <p:spTgt spid="255"/>
                                        </p:tgtEl>
                                        <p:attrNameLst>
                                          <p:attrName>style.visibility</p:attrName>
                                        </p:attrNameLst>
                                      </p:cBhvr>
                                      <p:to>
                                        <p:strVal val="visible"/>
                                      </p:to>
                                    </p:set>
                                    <p:anim calcmode="lin" valueType="num">
                                      <p:cBhvr additive="base">
                                        <p:cTn id="264" dur="500" fill="hold"/>
                                        <p:tgtEl>
                                          <p:spTgt spid="255"/>
                                        </p:tgtEl>
                                        <p:attrNameLst>
                                          <p:attrName>style.opacity</p:attrName>
                                        </p:attrNameLst>
                                      </p:cBhvr>
                                      <p:tavLst>
                                        <p:tav tm="0">
                                          <p:val>
                                            <p:fltVal val="0"/>
                                          </p:val>
                                        </p:tav>
                                        <p:tav tm="100000">
                                          <p:val>
                                            <p:fltVal val="1"/>
                                          </p:val>
                                        </p:tav>
                                      </p:tavLst>
                                    </p:anim>
                                  </p:childTnLst>
                                </p:cTn>
                              </p:par>
                            </p:childTnLst>
                          </p:cTn>
                        </p:par>
                      </p:childTnLst>
                    </p:cTn>
                  </p:par>
                  <p:par>
                    <p:cTn id="270" fill="hold">
                      <p:stCondLst>
                        <p:cond delay="indefinite"/>
                      </p:stCondLst>
                      <p:childTnLst>
                        <p:par>
                          <p:cTn id="271" fill="hold">
                            <p:stCondLst>
                              <p:cond delay="0"/>
                            </p:stCondLst>
                            <p:childTnLst>
                              <p:par>
                                <p:cTn id="272" presetID="10" presetClass="entr" presetSubtype="0" fill="hold" grpId="0" nodeType="clickEffect">
                                  <p:stCondLst>
                                    <p:cond delay="1020"/>
                                  </p:stCondLst>
                                  <p:childTnLst>
                                    <p:set>
                                      <p:cBhvr>
                                        <p:cTn id="273" dur="1" fill="hold">
                                          <p:stCondLst>
                                            <p:cond delay="0"/>
                                          </p:stCondLst>
                                        </p:cTn>
                                        <p:tgtEl>
                                          <p:spTgt spid="266"/>
                                        </p:tgtEl>
                                        <p:attrNameLst>
                                          <p:attrName>style.visibility</p:attrName>
                                        </p:attrNameLst>
                                      </p:cBhvr>
                                      <p:to>
                                        <p:strVal val="visible"/>
                                      </p:to>
                                    </p:set>
                                    <p:anim calcmode="lin" valueType="num">
                                      <p:cBhvr additive="base">
                                        <p:cTn id="274" dur="500" fill="hold"/>
                                        <p:tgtEl>
                                          <p:spTgt spid="266"/>
                                        </p:tgtEl>
                                        <p:attrNameLst>
                                          <p:attrName>style.opacity</p:attrName>
                                        </p:attrNameLst>
                                      </p:cBhvr>
                                      <p:tavLst>
                                        <p:tav tm="0">
                                          <p:val>
                                            <p:fltVal val="0"/>
                                          </p:val>
                                        </p:tav>
                                        <p:tav tm="100000">
                                          <p:val>
                                            <p:fltVal val="1"/>
                                          </p:val>
                                        </p:tav>
                                      </p:tavLst>
                                    </p:anim>
                                  </p:childTnLst>
                                </p:cTn>
                              </p:par>
                            </p:childTnLst>
                          </p:cTn>
                        </p:par>
                      </p:childTnLst>
                    </p:cTn>
                  </p:par>
                  <p:par>
                    <p:cTn id="280" fill="hold">
                      <p:stCondLst>
                        <p:cond delay="indefinite"/>
                      </p:stCondLst>
                      <p:childTnLst>
                        <p:par>
                          <p:cTn id="281" fill="hold">
                            <p:stCondLst>
                              <p:cond delay="0"/>
                            </p:stCondLst>
                            <p:childTnLst>
                              <p:par>
                                <p:cTn id="282" presetID="10" presetClass="entr" presetSubtype="0" fill="hold" grpId="0" nodeType="clickEffect">
                                  <p:stCondLst>
                                    <p:cond delay="1140"/>
                                  </p:stCondLst>
                                  <p:childTnLst>
                                    <p:set>
                                      <p:cBhvr>
                                        <p:cTn id="283" dur="1" fill="hold">
                                          <p:stCondLst>
                                            <p:cond delay="0"/>
                                          </p:stCondLst>
                                        </p:cTn>
                                        <p:tgtEl>
                                          <p:spTgt spid="276"/>
                                        </p:tgtEl>
                                        <p:attrNameLst>
                                          <p:attrName>style.visibility</p:attrName>
                                        </p:attrNameLst>
                                      </p:cBhvr>
                                      <p:to>
                                        <p:strVal val="visible"/>
                                      </p:to>
                                    </p:set>
                                    <p:anim calcmode="lin" valueType="num">
                                      <p:cBhvr additive="base">
                                        <p:cTn id="284" dur="500" fill="hold"/>
                                        <p:tgtEl>
                                          <p:spTgt spid="276"/>
                                        </p:tgtEl>
                                        <p:attrNameLst>
                                          <p:attrName>style.opacity</p:attrName>
                                        </p:attrNameLst>
                                      </p:cBhvr>
                                      <p:tavLst>
                                        <p:tav tm="0">
                                          <p:val>
                                            <p:fltVal val="0"/>
                                          </p:val>
                                        </p:tav>
                                        <p:tav tm="100000">
                                          <p:val>
                                            <p:fltVal val="1"/>
                                          </p:val>
                                        </p:tav>
                                      </p:tavLst>
                                    </p:anim>
                                  </p:childTnLst>
                                </p:cTn>
                              </p:par>
                            </p:childTnLst>
                          </p:cTn>
                        </p:par>
                      </p:childTnLst>
                    </p:cTn>
                  </p:par>
                  <p:par>
                    <p:cTn id="290" fill="hold">
                      <p:stCondLst>
                        <p:cond delay="indefinite"/>
                      </p:stCondLst>
                      <p:childTnLst>
                        <p:par>
                          <p:cTn id="291" fill="hold">
                            <p:stCondLst>
                              <p:cond delay="0"/>
                            </p:stCondLst>
                            <p:childTnLst>
                              <p:par>
                                <p:cTn id="292" presetID="10" presetClass="entr" presetSubtype="0" fill="hold" grpId="0" nodeType="clickEffect">
                                  <p:stCondLst>
                                    <p:cond delay="1260"/>
                                  </p:stCondLst>
                                  <p:childTnLst>
                                    <p:set>
                                      <p:cBhvr>
                                        <p:cTn id="293" dur="1" fill="hold">
                                          <p:stCondLst>
                                            <p:cond delay="0"/>
                                          </p:stCondLst>
                                        </p:cTn>
                                        <p:tgtEl>
                                          <p:spTgt spid="286"/>
                                        </p:tgtEl>
                                        <p:attrNameLst>
                                          <p:attrName>style.visibility</p:attrName>
                                        </p:attrNameLst>
                                      </p:cBhvr>
                                      <p:to>
                                        <p:strVal val="visible"/>
                                      </p:to>
                                    </p:set>
                                    <p:anim calcmode="lin" valueType="num">
                                      <p:cBhvr additive="base">
                                        <p:cTn id="294" dur="500" fill="hold"/>
                                        <p:tgtEl>
                                          <p:spTgt spid="28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06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Headline findings</a:t>
            </a:r>
          </a:p>
        </p:txBody>
      </p:sp>
      <p:sp>
        <p:nvSpPr>
          <p:cNvPr id="205" name="Rectangle 204"/>
          <p:cNvSpPr/>
          <p:nvPr/>
        </p:nvSpPr>
        <p:spPr>
          <a:xfrm>
            <a:off x="360000" y="2300000"/>
            <a:ext cx="3677231" cy="3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360000" y="2300000"/>
            <a:ext cx="3677231" cy="3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500000" y="2360000"/>
            <a:ext cx="3397231" cy="280000"/>
          </a:xfrm>
          <a:prstGeom prst="rect">
            <a:avLst/>
          </a:prstGeom>
          <a:noFill/>
        </p:spPr>
        <p:txBody>
          <a:bodyPr wrap="square" lIns="0" rIns="0" tIns="0" bIns="0">
            <a:spAutoFit/>
          </a:bodyPr>
          <a:lstStyle/>
          <a:p>
            <a:pPr algn="l"/>
            <a:r>
              <a:rPr sz="1200" b="1" i="0">
                <a:solidFill>
                  <a:srgbClr val="FFFFFF"/>
                </a:solidFill>
                <a:latin typeface="Calibri"/>
              </a:rPr>
              <a:t>Sites above threshold</a:t>
            </a:r>
          </a:p>
        </p:txBody>
      </p:sp>
      <p:sp>
        <p:nvSpPr>
          <p:cNvPr id="208" name="TextBox 207"/>
          <p:cNvSpPr txBox="1"/>
          <p:nvPr/>
        </p:nvSpPr>
        <p:spPr>
          <a:xfrm>
            <a:off x="500000" y="2770000"/>
            <a:ext cx="3397231" cy="700000"/>
          </a:xfrm>
          <a:prstGeom prst="rect">
            <a:avLst/>
          </a:prstGeom>
          <a:noFill/>
        </p:spPr>
        <p:txBody>
          <a:bodyPr wrap="square" lIns="0" rIns="0" tIns="0" bIns="0">
            <a:spAutoFit/>
          </a:bodyPr>
          <a:lstStyle/>
          <a:p>
            <a:pPr algn="l"/>
            <a:r>
              <a:rPr sz="3200" b="1" i="0">
                <a:solidFill>
                  <a:srgbClr val="0F3228"/>
                </a:solidFill>
                <a:latin typeface="Calibri"/>
              </a:rPr>
              <a:t>1 of 14</a:t>
            </a:r>
          </a:p>
        </p:txBody>
      </p:sp>
      <p:sp>
        <p:nvSpPr>
          <p:cNvPr id="209" name="TextBox 208"/>
          <p:cNvSpPr txBox="1"/>
          <p:nvPr/>
        </p:nvSpPr>
        <p:spPr>
          <a:xfrm>
            <a:off x="500000" y="3540000"/>
            <a:ext cx="3397231" cy="2200000"/>
          </a:xfrm>
          <a:prstGeom prst="rect">
            <a:avLst/>
          </a:prstGeom>
          <a:noFill/>
        </p:spPr>
        <p:txBody>
          <a:bodyPr wrap="square" lIns="0" rIns="0" tIns="0" bIns="0">
            <a:spAutoFit/>
          </a:bodyPr>
          <a:lstStyle/>
          <a:p>
            <a:pPr algn="l"/>
            <a:r>
              <a:rPr sz="1200" b="0" i="0">
                <a:solidFill>
                  <a:srgbClr val="283730"/>
                </a:solidFill>
                <a:latin typeface="Calibri"/>
              </a:rPr>
              <a:t>Site 12 on Fairview Creek now exceeds the state guidance threshold for phosphorus at 0.112 mg/L.</a:t>
            </a:r>
          </a:p>
        </p:txBody>
      </p:sp>
      <p:sp>
        <p:nvSpPr>
          <p:cNvPr id="215" name="Rectangle 214"/>
          <p:cNvSpPr/>
          <p:nvPr/>
        </p:nvSpPr>
        <p:spPr>
          <a:xfrm>
            <a:off x="4257231" y="2300000"/>
            <a:ext cx="3677231" cy="3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4257231" y="2300000"/>
            <a:ext cx="3677231" cy="3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4397231" y="2360000"/>
            <a:ext cx="3397231" cy="280000"/>
          </a:xfrm>
          <a:prstGeom prst="rect">
            <a:avLst/>
          </a:prstGeom>
          <a:noFill/>
        </p:spPr>
        <p:txBody>
          <a:bodyPr wrap="square" lIns="0" rIns="0" tIns="0" bIns="0">
            <a:spAutoFit/>
          </a:bodyPr>
          <a:lstStyle/>
          <a:p>
            <a:pPr algn="l"/>
            <a:r>
              <a:rPr sz="1200" b="1" i="0">
                <a:solidFill>
                  <a:srgbClr val="FFFFFF"/>
                </a:solidFill>
                <a:latin typeface="Calibri"/>
              </a:rPr>
              <a:t>PFAS exceedances</a:t>
            </a:r>
          </a:p>
        </p:txBody>
      </p:sp>
      <p:sp>
        <p:nvSpPr>
          <p:cNvPr id="218" name="TextBox 217"/>
          <p:cNvSpPr txBox="1"/>
          <p:nvPr/>
        </p:nvSpPr>
        <p:spPr>
          <a:xfrm>
            <a:off x="4397231" y="2770000"/>
            <a:ext cx="3397231" cy="700000"/>
          </a:xfrm>
          <a:prstGeom prst="rect">
            <a:avLst/>
          </a:prstGeom>
          <a:noFill/>
        </p:spPr>
        <p:txBody>
          <a:bodyPr wrap="square" lIns="0" rIns="0" tIns="0" bIns="0">
            <a:spAutoFit/>
          </a:bodyPr>
          <a:lstStyle/>
          <a:p>
            <a:pPr algn="l"/>
            <a:r>
              <a:rPr sz="3200" b="1" i="0">
                <a:solidFill>
                  <a:srgbClr val="0F3228"/>
                </a:solidFill>
                <a:latin typeface="Calibri"/>
              </a:rPr>
              <a:t>4 of 14</a:t>
            </a:r>
          </a:p>
        </p:txBody>
      </p:sp>
      <p:sp>
        <p:nvSpPr>
          <p:cNvPr id="219" name="TextBox 218"/>
          <p:cNvSpPr txBox="1"/>
          <p:nvPr/>
        </p:nvSpPr>
        <p:spPr>
          <a:xfrm>
            <a:off x="4397231" y="3540000"/>
            <a:ext cx="3397231" cy="2200000"/>
          </a:xfrm>
          <a:prstGeom prst="rect">
            <a:avLst/>
          </a:prstGeom>
          <a:noFill/>
        </p:spPr>
        <p:txBody>
          <a:bodyPr wrap="square" lIns="0" rIns="0" tIns="0" bIns="0">
            <a:spAutoFit/>
          </a:bodyPr>
          <a:lstStyle/>
          <a:p>
            <a:pPr algn="l"/>
            <a:r>
              <a:rPr sz="1200" b="0" i="0">
                <a:solidFill>
                  <a:srgbClr val="283730"/>
                </a:solidFill>
                <a:latin typeface="Calibri"/>
              </a:rPr>
              <a:t>Four sites exceed the federal action level of 4 ng/L. Site 12 is highest at 11.2 ng/L.</a:t>
            </a:r>
          </a:p>
        </p:txBody>
      </p:sp>
      <p:sp>
        <p:nvSpPr>
          <p:cNvPr id="225" name="Rectangle 224"/>
          <p:cNvSpPr/>
          <p:nvPr/>
        </p:nvSpPr>
        <p:spPr>
          <a:xfrm>
            <a:off x="8154462" y="2300000"/>
            <a:ext cx="3677231" cy="3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8154462" y="2300000"/>
            <a:ext cx="3677231" cy="3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8294462" y="2360000"/>
            <a:ext cx="3397231" cy="280000"/>
          </a:xfrm>
          <a:prstGeom prst="rect">
            <a:avLst/>
          </a:prstGeom>
          <a:noFill/>
        </p:spPr>
        <p:txBody>
          <a:bodyPr wrap="square" lIns="0" rIns="0" tIns="0" bIns="0">
            <a:spAutoFit/>
          </a:bodyPr>
          <a:lstStyle/>
          <a:p>
            <a:pPr algn="l"/>
            <a:r>
              <a:rPr sz="1200" b="1" i="0">
                <a:solidFill>
                  <a:srgbClr val="FFFFFF"/>
                </a:solidFill>
                <a:latin typeface="Calibri"/>
              </a:rPr>
              <a:t>Sites approaching</a:t>
            </a:r>
          </a:p>
        </p:txBody>
      </p:sp>
      <p:sp>
        <p:nvSpPr>
          <p:cNvPr id="228" name="TextBox 227"/>
          <p:cNvSpPr txBox="1"/>
          <p:nvPr/>
        </p:nvSpPr>
        <p:spPr>
          <a:xfrm>
            <a:off x="8294462" y="2770000"/>
            <a:ext cx="3397231" cy="700000"/>
          </a:xfrm>
          <a:prstGeom prst="rect">
            <a:avLst/>
          </a:prstGeom>
          <a:noFill/>
        </p:spPr>
        <p:txBody>
          <a:bodyPr wrap="square" lIns="0" rIns="0" tIns="0" bIns="0">
            <a:spAutoFit/>
          </a:bodyPr>
          <a:lstStyle/>
          <a:p>
            <a:pPr algn="l"/>
            <a:r>
              <a:rPr sz="3200" b="1" i="0">
                <a:solidFill>
                  <a:srgbClr val="0F3228"/>
                </a:solidFill>
                <a:latin typeface="Calibri"/>
              </a:rPr>
              <a:t>Site 9</a:t>
            </a:r>
          </a:p>
        </p:txBody>
      </p:sp>
      <p:sp>
        <p:nvSpPr>
          <p:cNvPr id="229" name="TextBox 228"/>
          <p:cNvSpPr txBox="1"/>
          <p:nvPr/>
        </p:nvSpPr>
        <p:spPr>
          <a:xfrm>
            <a:off x="8294462" y="3540000"/>
            <a:ext cx="3397231" cy="2200000"/>
          </a:xfrm>
          <a:prstGeom prst="rect">
            <a:avLst/>
          </a:prstGeom>
          <a:noFill/>
        </p:spPr>
        <p:txBody>
          <a:bodyPr wrap="square" lIns="0" rIns="0" tIns="0" bIns="0">
            <a:spAutoFit/>
          </a:bodyPr>
          <a:lstStyle/>
          <a:p>
            <a:pPr algn="l"/>
            <a:r>
              <a:rPr sz="1200" b="0" i="0">
                <a:solidFill>
                  <a:srgbClr val="283730"/>
                </a:solidFill>
                <a:latin typeface="Calibri"/>
              </a:rPr>
              <a:t>Johnson Creek is at 0.094 mg/L and trending up across the three monitoring rounds.</a:t>
            </a:r>
          </a:p>
        </p:txBody>
      </p:sp>
      <p:sp>
        <p:nvSpPr>
          <p:cNvPr id="235" name="Rectangle 234"/>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37" name="TextBox 236"/>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400"/>
                                  </p:stCondLst>
                                  <p:childTnLst>
                                    <p:set>
                                      <p:cBhvr>
                                        <p:cTn id="213" dur="1" fill="hold">
                                          <p:stCondLst>
                                            <p:cond delay="0"/>
                                          </p:stCondLst>
                                        </p:cTn>
                                        <p:tgtEl>
                                          <p:spTgt spid="205"/>
                                        </p:tgtEl>
                                        <p:attrNameLst>
                                          <p:attrName>style.visibility</p:attrName>
                                        </p:attrNameLst>
                                      </p:cBhvr>
                                      <p:to>
                                        <p:strVal val="visible"/>
                                      </p:to>
                                    </p:set>
                                    <p:anim calcmode="lin" valueType="num">
                                      <p:cBhvr additive="base">
                                        <p:cTn id="214" dur="500" fill="hold"/>
                                        <p:tgtEl>
                                          <p:spTgt spid="20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700"/>
                                  </p:stCondLst>
                                  <p:childTnLst>
                                    <p:set>
                                      <p:cBhvr>
                                        <p:cTn id="223" dur="1" fill="hold">
                                          <p:stCondLst>
                                            <p:cond delay="0"/>
                                          </p:stCondLst>
                                        </p:cTn>
                                        <p:tgtEl>
                                          <p:spTgt spid="215"/>
                                        </p:tgtEl>
                                        <p:attrNameLst>
                                          <p:attrName>style.visibility</p:attrName>
                                        </p:attrNameLst>
                                      </p:cBhvr>
                                      <p:to>
                                        <p:strVal val="visible"/>
                                      </p:to>
                                    </p:set>
                                    <p:anim calcmode="lin" valueType="num">
                                      <p:cBhvr additive="base">
                                        <p:cTn id="224" dur="500" fill="hold"/>
                                        <p:tgtEl>
                                          <p:spTgt spid="215"/>
                                        </p:tgtEl>
                                        <p:attrNameLst>
                                          <p:attrName>style.opacity</p:attrName>
                                        </p:attrNameLst>
                                      </p:cBhvr>
                                      <p:tavLst>
                                        <p:tav tm="0">
                                          <p:val>
                                            <p:fltVal val="0"/>
                                          </p:val>
                                        </p:tav>
                                        <p:tav tm="100000">
                                          <p:val>
                                            <p:fltVal val="1"/>
                                          </p:val>
                                        </p:tav>
                                      </p:tavLst>
                                    </p:anim>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1000"/>
                                  </p:stCondLst>
                                  <p:childTnLst>
                                    <p:set>
                                      <p:cBhvr>
                                        <p:cTn id="233" dur="1" fill="hold">
                                          <p:stCondLst>
                                            <p:cond delay="0"/>
                                          </p:stCondLst>
                                        </p:cTn>
                                        <p:tgtEl>
                                          <p:spTgt spid="225"/>
                                        </p:tgtEl>
                                        <p:attrNameLst>
                                          <p:attrName>style.visibility</p:attrName>
                                        </p:attrNameLst>
                                      </p:cBhvr>
                                      <p:to>
                                        <p:strVal val="visible"/>
                                      </p:to>
                                    </p:set>
                                    <p:anim calcmode="lin" valueType="num">
                                      <p:cBhvr additive="base">
                                        <p:cTn id="234" dur="500" fill="hold"/>
                                        <p:tgtEl>
                                          <p:spTgt spid="2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07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Recommended Board ask</a:t>
            </a:r>
          </a:p>
        </p:txBody>
      </p:sp>
      <p:sp>
        <p:nvSpPr>
          <p:cNvPr id="205" name="TextBox 204"/>
          <p:cNvSpPr txBox="1"/>
          <p:nvPr/>
        </p:nvSpPr>
        <p:spPr>
          <a:xfrm>
            <a:off x="360000" y="2200000"/>
            <a:ext cx="5595847" cy="360000"/>
          </a:xfrm>
          <a:prstGeom prst="rect">
            <a:avLst/>
          </a:prstGeom>
          <a:noFill/>
        </p:spPr>
        <p:txBody>
          <a:bodyPr wrap="square" lIns="0" rIns="0" tIns="0" bIns="0">
            <a:spAutoFit/>
          </a:bodyPr>
          <a:lstStyle/>
          <a:p>
            <a:pPr algn="l"/>
            <a:r>
              <a:rPr sz="1500" b="1" i="0">
                <a:solidFill>
                  <a:srgbClr val="0F3228"/>
                </a:solidFill>
                <a:latin typeface="Calibri"/>
              </a:rPr>
              <a:t>Coalition position</a:t>
            </a:r>
          </a:p>
        </p:txBody>
      </p:sp>
      <p:sp>
        <p:nvSpPr>
          <p:cNvPr id="206" name="Rectangle 205"/>
          <p:cNvSpPr/>
          <p:nvPr/>
        </p:nvSpPr>
        <p:spPr>
          <a:xfrm>
            <a:off x="360000" y="273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500000" y="2640000"/>
            <a:ext cx="5435847" cy="340000"/>
          </a:xfrm>
          <a:prstGeom prst="rect">
            <a:avLst/>
          </a:prstGeom>
          <a:noFill/>
        </p:spPr>
        <p:txBody>
          <a:bodyPr wrap="square" lIns="0" rIns="0" tIns="0" bIns="0">
            <a:spAutoFit/>
          </a:bodyPr>
          <a:lstStyle/>
          <a:p>
            <a:pPr algn="l"/>
            <a:r>
              <a:rPr sz="1300" b="0" i="0">
                <a:solidFill>
                  <a:srgbClr val="283730"/>
                </a:solidFill>
                <a:latin typeface="Calibri"/>
              </a:rPr>
              <a:t>Deny the CAFO permit as written</a:t>
            </a:r>
          </a:p>
        </p:txBody>
      </p:sp>
      <p:sp>
        <p:nvSpPr>
          <p:cNvPr id="208" name="Rectangle 207"/>
          <p:cNvSpPr/>
          <p:nvPr/>
        </p:nvSpPr>
        <p:spPr>
          <a:xfrm>
            <a:off x="360000" y="315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500000" y="3060000"/>
            <a:ext cx="5435847" cy="340000"/>
          </a:xfrm>
          <a:prstGeom prst="rect">
            <a:avLst/>
          </a:prstGeom>
          <a:noFill/>
        </p:spPr>
        <p:txBody>
          <a:bodyPr wrap="square" lIns="0" rIns="0" tIns="0" bIns="0">
            <a:spAutoFit/>
          </a:bodyPr>
          <a:lstStyle/>
          <a:p>
            <a:pPr algn="l"/>
            <a:r>
              <a:rPr sz="1300" b="0" i="0">
                <a:solidFill>
                  <a:srgbClr val="283730"/>
                </a:solidFill>
                <a:latin typeface="Calibri"/>
              </a:rPr>
              <a:t>If conditioned, require independent downstream monitoring</a:t>
            </a:r>
          </a:p>
        </p:txBody>
      </p:sp>
      <p:sp>
        <p:nvSpPr>
          <p:cNvPr id="210" name="Rectangle 209"/>
          <p:cNvSpPr/>
          <p:nvPr/>
        </p:nvSpPr>
        <p:spPr>
          <a:xfrm>
            <a:off x="360000" y="357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500000" y="3480000"/>
            <a:ext cx="5435847" cy="340000"/>
          </a:xfrm>
          <a:prstGeom prst="rect">
            <a:avLst/>
          </a:prstGeom>
          <a:noFill/>
        </p:spPr>
        <p:txBody>
          <a:bodyPr wrap="square" lIns="0" rIns="0" tIns="0" bIns="0">
            <a:spAutoFit/>
          </a:bodyPr>
          <a:lstStyle/>
          <a:p>
            <a:pPr algn="l"/>
            <a:r>
              <a:rPr sz="1300" b="0" i="0">
                <a:solidFill>
                  <a:srgbClr val="283730"/>
                </a:solidFill>
                <a:latin typeface="Calibri"/>
              </a:rPr>
              <a:t>Phosphorus management plan as condition of any expansion</a:t>
            </a:r>
          </a:p>
        </p:txBody>
      </p:sp>
      <p:sp>
        <p:nvSpPr>
          <p:cNvPr id="212" name="Rectangle 211"/>
          <p:cNvSpPr/>
          <p:nvPr/>
        </p:nvSpPr>
        <p:spPr>
          <a:xfrm>
            <a:off x="360000" y="399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500000" y="3900000"/>
            <a:ext cx="5435847" cy="340000"/>
          </a:xfrm>
          <a:prstGeom prst="rect">
            <a:avLst/>
          </a:prstGeom>
          <a:noFill/>
        </p:spPr>
        <p:txBody>
          <a:bodyPr wrap="square" lIns="0" rIns="0" tIns="0" bIns="0">
            <a:spAutoFit/>
          </a:bodyPr>
          <a:lstStyle/>
          <a:p>
            <a:pPr algn="l"/>
            <a:r>
              <a:rPr sz="1300" b="0" i="0">
                <a:solidFill>
                  <a:srgbClr val="283730"/>
                </a:solidFill>
                <a:latin typeface="Calibri"/>
              </a:rPr>
              <a:t>Enter Site 12 exceedance into official record</a:t>
            </a:r>
          </a:p>
        </p:txBody>
      </p:sp>
      <p:sp>
        <p:nvSpPr>
          <p:cNvPr id="214" name="Rectangle 213"/>
          <p:cNvSpPr/>
          <p:nvPr/>
        </p:nvSpPr>
        <p:spPr>
          <a:xfrm>
            <a:off x="360000" y="441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500000" y="4320000"/>
            <a:ext cx="5435847" cy="340000"/>
          </a:xfrm>
          <a:prstGeom prst="rect">
            <a:avLst/>
          </a:prstGeom>
          <a:noFill/>
        </p:spPr>
        <p:txBody>
          <a:bodyPr wrap="square" lIns="0" rIns="0" tIns="0" bIns="0">
            <a:spAutoFit/>
          </a:bodyPr>
          <a:lstStyle/>
          <a:p>
            <a:pPr algn="l"/>
            <a:r>
              <a:rPr sz="1300" b="0" i="0">
                <a:solidFill>
                  <a:srgbClr val="283730"/>
                </a:solidFill>
                <a:latin typeface="Calibri"/>
              </a:rPr>
              <a:t>Continue monthly sampling at Sites 9, 10, 11, 12</a:t>
            </a:r>
          </a:p>
        </p:txBody>
      </p:sp>
      <p:sp>
        <p:nvSpPr>
          <p:cNvPr id="216" name="TextBox 215"/>
          <p:cNvSpPr txBox="1"/>
          <p:nvPr/>
        </p:nvSpPr>
        <p:spPr>
          <a:xfrm>
            <a:off x="6235847" y="2200000"/>
            <a:ext cx="5595847" cy="360000"/>
          </a:xfrm>
          <a:prstGeom prst="rect">
            <a:avLst/>
          </a:prstGeom>
          <a:noFill/>
        </p:spPr>
        <p:txBody>
          <a:bodyPr wrap="square" lIns="0" rIns="0" tIns="0" bIns="0">
            <a:spAutoFit/>
          </a:bodyPr>
          <a:lstStyle/>
          <a:p>
            <a:pPr algn="l"/>
            <a:r>
              <a:rPr sz="1500" b="1" i="0">
                <a:solidFill>
                  <a:srgbClr val="0F3228"/>
                </a:solidFill>
                <a:latin typeface="Calibri"/>
              </a:rPr>
              <a:t>Operational support</a:t>
            </a:r>
          </a:p>
        </p:txBody>
      </p:sp>
      <p:sp>
        <p:nvSpPr>
          <p:cNvPr id="217" name="Rectangle 216"/>
          <p:cNvSpPr/>
          <p:nvPr/>
        </p:nvSpPr>
        <p:spPr>
          <a:xfrm>
            <a:off x="6235847" y="273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6375847" y="2640000"/>
            <a:ext cx="5435847" cy="340000"/>
          </a:xfrm>
          <a:prstGeom prst="rect">
            <a:avLst/>
          </a:prstGeom>
          <a:noFill/>
        </p:spPr>
        <p:txBody>
          <a:bodyPr wrap="square" lIns="0" rIns="0" tIns="0" bIns="0">
            <a:spAutoFit/>
          </a:bodyPr>
          <a:lstStyle/>
          <a:p>
            <a:pPr algn="l"/>
            <a:r>
              <a:rPr sz="1300" b="0" i="0">
                <a:solidFill>
                  <a:srgbClr val="283730"/>
                </a:solidFill>
                <a:latin typeface="Calibri"/>
              </a:rPr>
              <a:t>Expand volunteer roster, every-two-weeks cadence at hot spots</a:t>
            </a:r>
          </a:p>
        </p:txBody>
      </p:sp>
      <p:sp>
        <p:nvSpPr>
          <p:cNvPr id="219" name="Rectangle 218"/>
          <p:cNvSpPr/>
          <p:nvPr/>
        </p:nvSpPr>
        <p:spPr>
          <a:xfrm>
            <a:off x="6235847" y="315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6375847" y="3060000"/>
            <a:ext cx="5435847" cy="340000"/>
          </a:xfrm>
          <a:prstGeom prst="rect">
            <a:avLst/>
          </a:prstGeom>
          <a:noFill/>
        </p:spPr>
        <p:txBody>
          <a:bodyPr wrap="square" lIns="0" rIns="0" tIns="0" bIns="0">
            <a:spAutoFit/>
          </a:bodyPr>
          <a:lstStyle/>
          <a:p>
            <a:pPr algn="l"/>
            <a:r>
              <a:rPr sz="1300" b="0" i="0">
                <a:solidFill>
                  <a:srgbClr val="283730"/>
                </a:solidFill>
                <a:latin typeface="Calibri"/>
              </a:rPr>
              <a:t>Budget allocation for PFAS contractor lab fees</a:t>
            </a:r>
          </a:p>
        </p:txBody>
      </p:sp>
      <p:sp>
        <p:nvSpPr>
          <p:cNvPr id="221" name="Rectangle 220"/>
          <p:cNvSpPr/>
          <p:nvPr/>
        </p:nvSpPr>
        <p:spPr>
          <a:xfrm>
            <a:off x="6235847" y="357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6375847" y="3480000"/>
            <a:ext cx="5435847" cy="340000"/>
          </a:xfrm>
          <a:prstGeom prst="rect">
            <a:avLst/>
          </a:prstGeom>
          <a:noFill/>
        </p:spPr>
        <p:txBody>
          <a:bodyPr wrap="square" lIns="0" rIns="0" tIns="0" bIns="0">
            <a:spAutoFit/>
          </a:bodyPr>
          <a:lstStyle/>
          <a:p>
            <a:pPr algn="l"/>
            <a:r>
              <a:rPr sz="1300" b="0" i="0">
                <a:solidFill>
                  <a:srgbClr val="283730"/>
                </a:solidFill>
                <a:latin typeface="Calibri"/>
              </a:rPr>
              <a:t>Coordinate with downstream water districts for joint advocacy</a:t>
            </a:r>
          </a:p>
        </p:txBody>
      </p:sp>
      <p:sp>
        <p:nvSpPr>
          <p:cNvPr id="223" name="Rectangle 222"/>
          <p:cNvSpPr/>
          <p:nvPr/>
        </p:nvSpPr>
        <p:spPr>
          <a:xfrm>
            <a:off x="6235847" y="399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6375847" y="3900000"/>
            <a:ext cx="5435847" cy="340000"/>
          </a:xfrm>
          <a:prstGeom prst="rect">
            <a:avLst/>
          </a:prstGeom>
          <a:noFill/>
        </p:spPr>
        <p:txBody>
          <a:bodyPr wrap="square" lIns="0" rIns="0" tIns="0" bIns="0">
            <a:spAutoFit/>
          </a:bodyPr>
          <a:lstStyle/>
          <a:p>
            <a:pPr algn="l"/>
            <a:r>
              <a:rPr sz="1300" b="0" i="0">
                <a:solidFill>
                  <a:srgbClr val="283730"/>
                </a:solidFill>
                <a:latin typeface="Calibri"/>
              </a:rPr>
              <a:t>Brief David Cortez on final testimony before October 21</a:t>
            </a:r>
          </a:p>
        </p:txBody>
      </p:sp>
      <p:sp>
        <p:nvSpPr>
          <p:cNvPr id="225" name="Rectangle 224"/>
          <p:cNvSpPr/>
          <p:nvPr/>
        </p:nvSpPr>
        <p:spPr>
          <a:xfrm>
            <a:off x="6235847" y="4410000"/>
            <a:ext cx="80000" cy="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6375847" y="4320000"/>
            <a:ext cx="5435847" cy="340000"/>
          </a:xfrm>
          <a:prstGeom prst="rect">
            <a:avLst/>
          </a:prstGeom>
          <a:noFill/>
        </p:spPr>
        <p:txBody>
          <a:bodyPr wrap="square" lIns="0" rIns="0" tIns="0" bIns="0">
            <a:spAutoFit/>
          </a:bodyPr>
          <a:lstStyle/>
          <a:p>
            <a:pPr algn="l"/>
            <a:r>
              <a:rPr sz="1300" b="0" i="0">
                <a:solidFill>
                  <a:srgbClr val="283730"/>
                </a:solidFill>
                <a:latin typeface="Calibri"/>
              </a:rPr>
              <a:t>Post-hearing follow up letter within seven days</a:t>
            </a:r>
          </a:p>
        </p:txBody>
      </p:sp>
      <p:sp>
        <p:nvSpPr>
          <p:cNvPr id="227" name="Rectangle 226"/>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29" name="TextBox 228"/>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6"/>
        </a:solidFill>
        <a:effectLst/>
      </p:bgPr>
    </p:bg>
    <p:spTree>
      <p:nvGrpSpPr>
        <p:cNvPr id="1" name=""/>
        <p:cNvGrpSpPr/>
        <p:nvPr/>
      </p:nvGrpSpPr>
      <p:grpSpPr/>
      <p:sp>
        <p:nvSpPr>
          <p:cNvPr id="2" name="Rectangle 1"/>
          <p:cNvSpPr/>
          <p:nvPr/>
        </p:nvSpPr>
        <p:spPr>
          <a:xfrm>
            <a:off x="0" y="0"/>
            <a:ext cx="120000" cy="6858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00" y="0"/>
            <a:ext cx="12071695" cy="6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80000" y="170000"/>
            <a:ext cx="8000000" cy="360000"/>
          </a:xfrm>
          <a:prstGeom prst="rect">
            <a:avLst/>
          </a:prstGeom>
          <a:noFill/>
        </p:spPr>
        <p:txBody>
          <a:bodyPr wrap="square" lIns="0" rIns="0" tIns="0" bIns="0">
            <a:spAutoFit/>
          </a:bodyPr>
          <a:lstStyle/>
          <a:p>
            <a:pPr algn="l"/>
            <a:r>
              <a:rPr sz="1100" b="1" i="0">
                <a:solidFill>
                  <a:srgbClr val="145341"/>
                </a:solidFill>
                <a:latin typeface="Calibri"/>
              </a:rPr>
              <a:t>Multnomah County Clean Water Coalition · Hearing Prep</a:t>
            </a:r>
          </a:p>
        </p:txBody>
      </p:sp>
      <p:sp>
        <p:nvSpPr>
          <p:cNvPr id="5" name="TextBox 4"/>
          <p:cNvSpPr txBox="1"/>
          <p:nvPr/>
        </p:nvSpPr>
        <p:spPr>
          <a:xfrm>
            <a:off x="9791695" y="170000"/>
            <a:ext cx="2000000" cy="360000"/>
          </a:xfrm>
          <a:prstGeom prst="rect">
            <a:avLst/>
          </a:prstGeom>
          <a:noFill/>
        </p:spPr>
        <p:txBody>
          <a:bodyPr wrap="square" lIns="0" rIns="0" tIns="0" bIns="0">
            <a:spAutoFit/>
          </a:bodyPr>
          <a:lstStyle/>
          <a:p>
            <a:pPr algn="r"/>
            <a:r>
              <a:rPr sz="1100" b="1" i="0">
                <a:solidFill>
                  <a:srgbClr val="145341"/>
                </a:solidFill>
                <a:latin typeface="Calibri"/>
              </a:rPr>
              <a:t>08 / 08</a:t>
            </a:r>
          </a:p>
        </p:txBody>
      </p:sp>
      <p:sp>
        <p:nvSpPr>
          <p:cNvPr id="6" name="TextBox 5"/>
          <p:cNvSpPr txBox="1"/>
          <p:nvPr/>
        </p:nvSpPr>
        <p:spPr>
          <a:xfrm>
            <a:off x="360000" y="800000"/>
            <a:ext cx="11471695" cy="700000"/>
          </a:xfrm>
          <a:prstGeom prst="rect">
            <a:avLst/>
          </a:prstGeom>
          <a:noFill/>
        </p:spPr>
        <p:txBody>
          <a:bodyPr wrap="square" lIns="0" rIns="0" tIns="0" bIns="0">
            <a:spAutoFit/>
          </a:bodyPr>
          <a:lstStyle/>
          <a:p>
            <a:pPr algn="l"/>
            <a:r>
              <a:rPr sz="3200" b="1" i="0">
                <a:solidFill>
                  <a:srgbClr val="0F3228"/>
                </a:solidFill>
                <a:latin typeface="Calibri"/>
              </a:rPr>
              <a:t>Speaker logistics</a:t>
            </a:r>
          </a:p>
        </p:txBody>
      </p:sp>
      <p:sp>
        <p:nvSpPr>
          <p:cNvPr id="205" name="TextBox 204"/>
          <p:cNvSpPr txBox="1"/>
          <p:nvPr/>
        </p:nvSpPr>
        <p:spPr>
          <a:xfrm>
            <a:off x="360000" y="1500000"/>
            <a:ext cx="11471695" cy="420000"/>
          </a:xfrm>
          <a:prstGeom prst="rect">
            <a:avLst/>
          </a:prstGeom>
          <a:noFill/>
        </p:spPr>
        <p:txBody>
          <a:bodyPr wrap="square" lIns="0" rIns="0" tIns="0" bIns="0">
            <a:spAutoFit/>
          </a:bodyPr>
          <a:lstStyle/>
          <a:p>
            <a:pPr algn="l"/>
            <a:r>
              <a:rPr sz="1600" b="0" i="1">
                <a:solidFill>
                  <a:srgbClr val="50695C"/>
                </a:solidFill>
                <a:latin typeface="Calibri"/>
              </a:rPr>
              <a:t>Hearing date October 22, 2026, Multnomah Building, 9:30 AM</a:t>
            </a:r>
          </a:p>
        </p:txBody>
      </p:sp>
      <p:sp>
        <p:nvSpPr>
          <p:cNvPr id="215" name="TextBox 214"/>
          <p:cNvSpPr txBox="1"/>
          <p:nvPr/>
        </p:nvSpPr>
        <p:spPr>
          <a:xfrm>
            <a:off x="360000" y="2050000"/>
            <a:ext cx="11471695" cy="380000"/>
          </a:xfrm>
          <a:prstGeom prst="rect">
            <a:avLst/>
          </a:prstGeom>
          <a:noFill/>
        </p:spPr>
        <p:txBody>
          <a:bodyPr wrap="square" lIns="0" rIns="0" tIns="0" bIns="0">
            <a:spAutoFit/>
          </a:bodyPr>
          <a:lstStyle/>
          <a:p>
            <a:pPr algn="l"/>
            <a:r>
              <a:rPr sz="1700" b="1" i="0">
                <a:solidFill>
                  <a:srgbClr val="0F3228"/>
                </a:solidFill>
                <a:latin typeface="Calibri"/>
              </a:rPr>
              <a:t>Speaker checklist</a:t>
            </a:r>
          </a:p>
        </p:txBody>
      </p:sp>
      <p:sp>
        <p:nvSpPr>
          <p:cNvPr id="216" name="Rectangle 215"/>
          <p:cNvSpPr/>
          <p:nvPr/>
        </p:nvSpPr>
        <p:spPr>
          <a:xfrm>
            <a:off x="360000" y="2550000"/>
            <a:ext cx="11471694" cy="380000"/>
          </a:xfrm>
          <a:prstGeom prst="rect">
            <a:avLst/>
          </a:prstGeom>
          <a:solidFill>
            <a:srgbClr val="145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440000" y="2630000"/>
            <a:ext cx="4428678" cy="240000"/>
          </a:xfrm>
          <a:prstGeom prst="rect">
            <a:avLst/>
          </a:prstGeom>
          <a:noFill/>
        </p:spPr>
        <p:txBody>
          <a:bodyPr wrap="square" lIns="0" rIns="0" tIns="0" bIns="0">
            <a:spAutoFit/>
          </a:bodyPr>
          <a:lstStyle/>
          <a:p>
            <a:pPr algn="l"/>
            <a:r>
              <a:rPr sz="1100" b="1" i="0">
                <a:solidFill>
                  <a:srgbClr val="FFFFFF"/>
                </a:solidFill>
                <a:latin typeface="Calibri"/>
              </a:rPr>
              <a:t>Item</a:t>
            </a:r>
          </a:p>
        </p:txBody>
      </p:sp>
      <p:sp>
        <p:nvSpPr>
          <p:cNvPr id="218" name="TextBox 217"/>
          <p:cNvSpPr txBox="1"/>
          <p:nvPr/>
        </p:nvSpPr>
        <p:spPr>
          <a:xfrm>
            <a:off x="5028678" y="2630000"/>
            <a:ext cx="3281508" cy="240000"/>
          </a:xfrm>
          <a:prstGeom prst="rect">
            <a:avLst/>
          </a:prstGeom>
          <a:noFill/>
        </p:spPr>
        <p:txBody>
          <a:bodyPr wrap="square" lIns="0" rIns="0" tIns="0" bIns="0">
            <a:spAutoFit/>
          </a:bodyPr>
          <a:lstStyle/>
          <a:p>
            <a:pPr algn="r"/>
            <a:r>
              <a:rPr sz="1100" b="1" i="0">
                <a:solidFill>
                  <a:srgbClr val="FFFFFF"/>
                </a:solidFill>
                <a:latin typeface="Calibri"/>
              </a:rPr>
              <a:t>Owner</a:t>
            </a:r>
          </a:p>
        </p:txBody>
      </p:sp>
      <p:sp>
        <p:nvSpPr>
          <p:cNvPr id="219" name="TextBox 218"/>
          <p:cNvSpPr txBox="1"/>
          <p:nvPr/>
        </p:nvSpPr>
        <p:spPr>
          <a:xfrm>
            <a:off x="8470186" y="2630000"/>
            <a:ext cx="3281508" cy="240000"/>
          </a:xfrm>
          <a:prstGeom prst="rect">
            <a:avLst/>
          </a:prstGeom>
          <a:noFill/>
        </p:spPr>
        <p:txBody>
          <a:bodyPr wrap="square" lIns="0" rIns="0" tIns="0" bIns="0">
            <a:spAutoFit/>
          </a:bodyPr>
          <a:lstStyle/>
          <a:p>
            <a:pPr algn="r"/>
            <a:r>
              <a:rPr sz="1100" b="1" i="0">
                <a:solidFill>
                  <a:srgbClr val="FFFFFF"/>
                </a:solidFill>
                <a:latin typeface="Calibri"/>
              </a:rPr>
              <a:t>Status</a:t>
            </a:r>
          </a:p>
        </p:txBody>
      </p:sp>
      <p:sp>
        <p:nvSpPr>
          <p:cNvPr id="220" name="Rectangle 219"/>
          <p:cNvSpPr/>
          <p:nvPr/>
        </p:nvSpPr>
        <p:spPr>
          <a:xfrm>
            <a:off x="360000" y="293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440000" y="3010000"/>
            <a:ext cx="4428678" cy="240000"/>
          </a:xfrm>
          <a:prstGeom prst="rect">
            <a:avLst/>
          </a:prstGeom>
          <a:noFill/>
        </p:spPr>
        <p:txBody>
          <a:bodyPr wrap="square" lIns="0" rIns="0" tIns="0" bIns="0">
            <a:spAutoFit/>
          </a:bodyPr>
          <a:lstStyle/>
          <a:p>
            <a:pPr algn="l"/>
            <a:r>
              <a:rPr sz="1100" b="1" i="0">
                <a:solidFill>
                  <a:srgbClr val="283730"/>
                </a:solidFill>
                <a:latin typeface="Calibri"/>
              </a:rPr>
              <a:t>Confirmation MULTCO-HRG-2026-22-0091</a:t>
            </a:r>
          </a:p>
        </p:txBody>
      </p:sp>
      <p:sp>
        <p:nvSpPr>
          <p:cNvPr id="222" name="TextBox 221"/>
          <p:cNvSpPr txBox="1"/>
          <p:nvPr/>
        </p:nvSpPr>
        <p:spPr>
          <a:xfrm>
            <a:off x="5028678" y="3010000"/>
            <a:ext cx="3281508" cy="240000"/>
          </a:xfrm>
          <a:prstGeom prst="rect">
            <a:avLst/>
          </a:prstGeom>
          <a:noFill/>
        </p:spPr>
        <p:txBody>
          <a:bodyPr wrap="square" lIns="0" rIns="0" tIns="0" bIns="0">
            <a:spAutoFit/>
          </a:bodyPr>
          <a:lstStyle/>
          <a:p>
            <a:pPr algn="r"/>
            <a:r>
              <a:rPr sz="1100" b="0" i="0">
                <a:solidFill>
                  <a:srgbClr val="283730"/>
                </a:solidFill>
                <a:latin typeface="Calibri"/>
              </a:rPr>
              <a:t>County clerk</a:t>
            </a:r>
          </a:p>
        </p:txBody>
      </p:sp>
      <p:sp>
        <p:nvSpPr>
          <p:cNvPr id="223" name="TextBox 222"/>
          <p:cNvSpPr txBox="1"/>
          <p:nvPr/>
        </p:nvSpPr>
        <p:spPr>
          <a:xfrm>
            <a:off x="8470186" y="3010000"/>
            <a:ext cx="3281508" cy="240000"/>
          </a:xfrm>
          <a:prstGeom prst="rect">
            <a:avLst/>
          </a:prstGeom>
          <a:noFill/>
        </p:spPr>
        <p:txBody>
          <a:bodyPr wrap="square" lIns="0" rIns="0" tIns="0" bIns="0">
            <a:spAutoFit/>
          </a:bodyPr>
          <a:lstStyle/>
          <a:p>
            <a:pPr algn="r"/>
            <a:r>
              <a:rPr sz="1100" b="0" i="0">
                <a:solidFill>
                  <a:srgbClr val="283730"/>
                </a:solidFill>
                <a:latin typeface="Calibri"/>
              </a:rPr>
              <a:t>Received Oct 12</a:t>
            </a:r>
          </a:p>
        </p:txBody>
      </p:sp>
      <p:sp>
        <p:nvSpPr>
          <p:cNvPr id="225" name="Rectangle 224"/>
          <p:cNvSpPr/>
          <p:nvPr/>
        </p:nvSpPr>
        <p:spPr>
          <a:xfrm>
            <a:off x="360000" y="3310000"/>
            <a:ext cx="11471694"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440000" y="3390000"/>
            <a:ext cx="4428678" cy="240000"/>
          </a:xfrm>
          <a:prstGeom prst="rect">
            <a:avLst/>
          </a:prstGeom>
          <a:noFill/>
        </p:spPr>
        <p:txBody>
          <a:bodyPr wrap="square" lIns="0" rIns="0" tIns="0" bIns="0">
            <a:spAutoFit/>
          </a:bodyPr>
          <a:lstStyle/>
          <a:p>
            <a:pPr algn="l"/>
            <a:r>
              <a:rPr sz="1100" b="1" i="0">
                <a:solidFill>
                  <a:srgbClr val="283730"/>
                </a:solidFill>
                <a:latin typeface="Calibri"/>
              </a:rPr>
              <a:t>Written testimony to portal</a:t>
            </a:r>
          </a:p>
        </p:txBody>
      </p:sp>
      <p:sp>
        <p:nvSpPr>
          <p:cNvPr id="227" name="TextBox 226"/>
          <p:cNvSpPr txBox="1"/>
          <p:nvPr/>
        </p:nvSpPr>
        <p:spPr>
          <a:xfrm>
            <a:off x="5028678" y="3390000"/>
            <a:ext cx="3281508" cy="240000"/>
          </a:xfrm>
          <a:prstGeom prst="rect">
            <a:avLst/>
          </a:prstGeom>
          <a:noFill/>
        </p:spPr>
        <p:txBody>
          <a:bodyPr wrap="square" lIns="0" rIns="0" tIns="0" bIns="0">
            <a:spAutoFit/>
          </a:bodyPr>
          <a:lstStyle/>
          <a:p>
            <a:pPr algn="r"/>
            <a:r>
              <a:rPr sz="1100" b="0" i="0">
                <a:solidFill>
                  <a:srgbClr val="283730"/>
                </a:solidFill>
                <a:latin typeface="Calibri"/>
              </a:rPr>
              <a:t>Stuart</a:t>
            </a:r>
          </a:p>
        </p:txBody>
      </p:sp>
      <p:sp>
        <p:nvSpPr>
          <p:cNvPr id="228" name="TextBox 227"/>
          <p:cNvSpPr txBox="1"/>
          <p:nvPr/>
        </p:nvSpPr>
        <p:spPr>
          <a:xfrm>
            <a:off x="8470186" y="3390000"/>
            <a:ext cx="3281508" cy="240000"/>
          </a:xfrm>
          <a:prstGeom prst="rect">
            <a:avLst/>
          </a:prstGeom>
          <a:noFill/>
        </p:spPr>
        <p:txBody>
          <a:bodyPr wrap="square" lIns="0" rIns="0" tIns="0" bIns="0">
            <a:spAutoFit/>
          </a:bodyPr>
          <a:lstStyle/>
          <a:p>
            <a:pPr algn="r"/>
            <a:r>
              <a:rPr sz="1100" b="0" i="0">
                <a:solidFill>
                  <a:srgbClr val="283730"/>
                </a:solidFill>
                <a:latin typeface="Calibri"/>
              </a:rPr>
              <a:t>By 5 PM Oct 21</a:t>
            </a:r>
          </a:p>
        </p:txBody>
      </p:sp>
      <p:sp>
        <p:nvSpPr>
          <p:cNvPr id="229" name="Rectangle 228"/>
          <p:cNvSpPr/>
          <p:nvPr/>
        </p:nvSpPr>
        <p:spPr>
          <a:xfrm>
            <a:off x="360000" y="369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TextBox 229"/>
          <p:cNvSpPr txBox="1"/>
          <p:nvPr/>
        </p:nvSpPr>
        <p:spPr>
          <a:xfrm>
            <a:off x="440000" y="3770000"/>
            <a:ext cx="4428678" cy="240000"/>
          </a:xfrm>
          <a:prstGeom prst="rect">
            <a:avLst/>
          </a:prstGeom>
          <a:noFill/>
        </p:spPr>
        <p:txBody>
          <a:bodyPr wrap="square" lIns="0" rIns="0" tIns="0" bIns="0">
            <a:spAutoFit/>
          </a:bodyPr>
          <a:lstStyle/>
          <a:p>
            <a:pPr algn="l"/>
            <a:r>
              <a:rPr sz="1100" b="1" i="0">
                <a:solidFill>
                  <a:srgbClr val="283730"/>
                </a:solidFill>
                <a:latin typeface="Calibri"/>
              </a:rPr>
              <a:t>Raw water testing dataset</a:t>
            </a:r>
          </a:p>
        </p:txBody>
      </p:sp>
      <p:sp>
        <p:nvSpPr>
          <p:cNvPr id="231" name="TextBox 230"/>
          <p:cNvSpPr txBox="1"/>
          <p:nvPr/>
        </p:nvSpPr>
        <p:spPr>
          <a:xfrm>
            <a:off x="5028678" y="3770000"/>
            <a:ext cx="3281508" cy="240000"/>
          </a:xfrm>
          <a:prstGeom prst="rect">
            <a:avLst/>
          </a:prstGeom>
          <a:noFill/>
        </p:spPr>
        <p:txBody>
          <a:bodyPr wrap="square" lIns="0" rIns="0" tIns="0" bIns="0">
            <a:spAutoFit/>
          </a:bodyPr>
          <a:lstStyle/>
          <a:p>
            <a:pPr algn="r"/>
            <a:r>
              <a:rPr sz="1100" b="0" i="0">
                <a:solidFill>
                  <a:srgbClr val="283730"/>
                </a:solidFill>
                <a:latin typeface="Calibri"/>
              </a:rPr>
              <a:t>Coalition</a:t>
            </a:r>
          </a:p>
        </p:txBody>
      </p:sp>
      <p:sp>
        <p:nvSpPr>
          <p:cNvPr id="232" name="TextBox 231"/>
          <p:cNvSpPr txBox="1"/>
          <p:nvPr/>
        </p:nvSpPr>
        <p:spPr>
          <a:xfrm>
            <a:off x="8470186" y="3770000"/>
            <a:ext cx="3281508" cy="240000"/>
          </a:xfrm>
          <a:prstGeom prst="rect">
            <a:avLst/>
          </a:prstGeom>
          <a:noFill/>
        </p:spPr>
        <p:txBody>
          <a:bodyPr wrap="square" lIns="0" rIns="0" tIns="0" bIns="0">
            <a:spAutoFit/>
          </a:bodyPr>
          <a:lstStyle/>
          <a:p>
            <a:pPr algn="r"/>
            <a:r>
              <a:rPr sz="1100" b="0" i="0">
                <a:solidFill>
                  <a:srgbClr val="283730"/>
                </a:solidFill>
                <a:latin typeface="Calibri"/>
              </a:rPr>
              <a:t>Internal until cleared</a:t>
            </a:r>
          </a:p>
        </p:txBody>
      </p:sp>
      <p:sp>
        <p:nvSpPr>
          <p:cNvPr id="233" name="Rectangle 232"/>
          <p:cNvSpPr/>
          <p:nvPr/>
        </p:nvSpPr>
        <p:spPr>
          <a:xfrm>
            <a:off x="360000" y="4070000"/>
            <a:ext cx="11471694"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440000" y="4150000"/>
            <a:ext cx="4428678" cy="240000"/>
          </a:xfrm>
          <a:prstGeom prst="rect">
            <a:avLst/>
          </a:prstGeom>
          <a:noFill/>
        </p:spPr>
        <p:txBody>
          <a:bodyPr wrap="square" lIns="0" rIns="0" tIns="0" bIns="0">
            <a:spAutoFit/>
          </a:bodyPr>
          <a:lstStyle/>
          <a:p>
            <a:pPr algn="l"/>
            <a:r>
              <a:rPr sz="1100" b="1" i="0">
                <a:solidFill>
                  <a:srgbClr val="283730"/>
                </a:solidFill>
                <a:latin typeface="Calibri"/>
              </a:rPr>
              <a:t>David review and sign off</a:t>
            </a:r>
          </a:p>
        </p:txBody>
      </p:sp>
      <p:sp>
        <p:nvSpPr>
          <p:cNvPr id="235" name="TextBox 234"/>
          <p:cNvSpPr txBox="1"/>
          <p:nvPr/>
        </p:nvSpPr>
        <p:spPr>
          <a:xfrm>
            <a:off x="5028678" y="4150000"/>
            <a:ext cx="3281508" cy="240000"/>
          </a:xfrm>
          <a:prstGeom prst="rect">
            <a:avLst/>
          </a:prstGeom>
          <a:noFill/>
        </p:spPr>
        <p:txBody>
          <a:bodyPr wrap="square" lIns="0" rIns="0" tIns="0" bIns="0">
            <a:spAutoFit/>
          </a:bodyPr>
          <a:lstStyle/>
          <a:p>
            <a:pPr algn="r"/>
            <a:r>
              <a:rPr sz="1100" b="0" i="0">
                <a:solidFill>
                  <a:srgbClr val="283730"/>
                </a:solidFill>
                <a:latin typeface="Calibri"/>
              </a:rPr>
              <a:t>David Cortez</a:t>
            </a:r>
          </a:p>
        </p:txBody>
      </p:sp>
      <p:sp>
        <p:nvSpPr>
          <p:cNvPr id="236" name="TextBox 235"/>
          <p:cNvSpPr txBox="1"/>
          <p:nvPr/>
        </p:nvSpPr>
        <p:spPr>
          <a:xfrm>
            <a:off x="8470186" y="4150000"/>
            <a:ext cx="3281508" cy="240000"/>
          </a:xfrm>
          <a:prstGeom prst="rect">
            <a:avLst/>
          </a:prstGeom>
          <a:noFill/>
        </p:spPr>
        <p:txBody>
          <a:bodyPr wrap="square" lIns="0" rIns="0" tIns="0" bIns="0">
            <a:spAutoFit/>
          </a:bodyPr>
          <a:lstStyle/>
          <a:p>
            <a:pPr algn="r"/>
            <a:r>
              <a:rPr sz="1100" b="0" i="0">
                <a:solidFill>
                  <a:srgbClr val="283730"/>
                </a:solidFill>
                <a:latin typeface="Calibri"/>
              </a:rPr>
              <a:t>By end of day Oct 20</a:t>
            </a:r>
          </a:p>
        </p:txBody>
      </p:sp>
      <p:sp>
        <p:nvSpPr>
          <p:cNvPr id="237" name="Rectangle 236"/>
          <p:cNvSpPr/>
          <p:nvPr/>
        </p:nvSpPr>
        <p:spPr>
          <a:xfrm>
            <a:off x="360000" y="445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440000" y="4530000"/>
            <a:ext cx="4428678" cy="240000"/>
          </a:xfrm>
          <a:prstGeom prst="rect">
            <a:avLst/>
          </a:prstGeom>
          <a:noFill/>
        </p:spPr>
        <p:txBody>
          <a:bodyPr wrap="square" lIns="0" rIns="0" tIns="0" bIns="0">
            <a:spAutoFit/>
          </a:bodyPr>
          <a:lstStyle/>
          <a:p>
            <a:pPr algn="l"/>
            <a:r>
              <a:rPr sz="1100" b="1" i="0">
                <a:solidFill>
                  <a:srgbClr val="283730"/>
                </a:solidFill>
                <a:latin typeface="Calibri"/>
              </a:rPr>
              <a:t>Speaker arrival, check in</a:t>
            </a:r>
          </a:p>
        </p:txBody>
      </p:sp>
      <p:sp>
        <p:nvSpPr>
          <p:cNvPr id="239" name="TextBox 238"/>
          <p:cNvSpPr txBox="1"/>
          <p:nvPr/>
        </p:nvSpPr>
        <p:spPr>
          <a:xfrm>
            <a:off x="5028678" y="4530000"/>
            <a:ext cx="3281508" cy="240000"/>
          </a:xfrm>
          <a:prstGeom prst="rect">
            <a:avLst/>
          </a:prstGeom>
          <a:noFill/>
        </p:spPr>
        <p:txBody>
          <a:bodyPr wrap="square" lIns="0" rIns="0" tIns="0" bIns="0">
            <a:spAutoFit/>
          </a:bodyPr>
          <a:lstStyle/>
          <a:p>
            <a:pPr algn="r"/>
            <a:r>
              <a:rPr sz="1100" b="0" i="0">
                <a:solidFill>
                  <a:srgbClr val="283730"/>
                </a:solidFill>
                <a:latin typeface="Calibri"/>
              </a:rPr>
              <a:t>Stuart</a:t>
            </a:r>
          </a:p>
        </p:txBody>
      </p:sp>
      <p:sp>
        <p:nvSpPr>
          <p:cNvPr id="240" name="TextBox 239"/>
          <p:cNvSpPr txBox="1"/>
          <p:nvPr/>
        </p:nvSpPr>
        <p:spPr>
          <a:xfrm>
            <a:off x="8470186" y="4530000"/>
            <a:ext cx="3281508" cy="240000"/>
          </a:xfrm>
          <a:prstGeom prst="rect">
            <a:avLst/>
          </a:prstGeom>
          <a:noFill/>
        </p:spPr>
        <p:txBody>
          <a:bodyPr wrap="square" lIns="0" rIns="0" tIns="0" bIns="0">
            <a:spAutoFit/>
          </a:bodyPr>
          <a:lstStyle/>
          <a:p>
            <a:pPr algn="r"/>
            <a:r>
              <a:rPr sz="1100" b="0" i="0">
                <a:solidFill>
                  <a:srgbClr val="283730"/>
                </a:solidFill>
                <a:latin typeface="Calibri"/>
              </a:rPr>
              <a:t>15 minutes early</a:t>
            </a:r>
          </a:p>
        </p:txBody>
      </p:sp>
      <p:sp>
        <p:nvSpPr>
          <p:cNvPr id="241" name="Rectangle 240"/>
          <p:cNvSpPr/>
          <p:nvPr/>
        </p:nvSpPr>
        <p:spPr>
          <a:xfrm>
            <a:off x="360000" y="4830000"/>
            <a:ext cx="11471694"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440000" y="4910000"/>
            <a:ext cx="4428678" cy="240000"/>
          </a:xfrm>
          <a:prstGeom prst="rect">
            <a:avLst/>
          </a:prstGeom>
          <a:noFill/>
        </p:spPr>
        <p:txBody>
          <a:bodyPr wrap="square" lIns="0" rIns="0" tIns="0" bIns="0">
            <a:spAutoFit/>
          </a:bodyPr>
          <a:lstStyle/>
          <a:p>
            <a:pPr algn="l"/>
            <a:r>
              <a:rPr sz="1100" b="1" i="0">
                <a:solidFill>
                  <a:srgbClr val="283730"/>
                </a:solidFill>
                <a:latin typeface="Calibri"/>
              </a:rPr>
              <a:t>Three minutes oral testimony</a:t>
            </a:r>
          </a:p>
        </p:txBody>
      </p:sp>
      <p:sp>
        <p:nvSpPr>
          <p:cNvPr id="243" name="TextBox 242"/>
          <p:cNvSpPr txBox="1"/>
          <p:nvPr/>
        </p:nvSpPr>
        <p:spPr>
          <a:xfrm>
            <a:off x="5028678" y="4910000"/>
            <a:ext cx="3281508" cy="240000"/>
          </a:xfrm>
          <a:prstGeom prst="rect">
            <a:avLst/>
          </a:prstGeom>
          <a:noFill/>
        </p:spPr>
        <p:txBody>
          <a:bodyPr wrap="square" lIns="0" rIns="0" tIns="0" bIns="0">
            <a:spAutoFit/>
          </a:bodyPr>
          <a:lstStyle/>
          <a:p>
            <a:pPr algn="r"/>
            <a:r>
              <a:rPr sz="1100" b="0" i="0">
                <a:solidFill>
                  <a:srgbClr val="283730"/>
                </a:solidFill>
                <a:latin typeface="Calibri"/>
              </a:rPr>
              <a:t>Stuart</a:t>
            </a:r>
          </a:p>
        </p:txBody>
      </p:sp>
      <p:sp>
        <p:nvSpPr>
          <p:cNvPr id="244" name="TextBox 243"/>
          <p:cNvSpPr txBox="1"/>
          <p:nvPr/>
        </p:nvSpPr>
        <p:spPr>
          <a:xfrm>
            <a:off x="8470186" y="4910000"/>
            <a:ext cx="3281508" cy="240000"/>
          </a:xfrm>
          <a:prstGeom prst="rect">
            <a:avLst/>
          </a:prstGeom>
          <a:noFill/>
        </p:spPr>
        <p:txBody>
          <a:bodyPr wrap="square" lIns="0" rIns="0" tIns="0" bIns="0">
            <a:spAutoFit/>
          </a:bodyPr>
          <a:lstStyle/>
          <a:p>
            <a:pPr algn="r"/>
            <a:r>
              <a:rPr sz="1100" b="0" i="0">
                <a:solidFill>
                  <a:srgbClr val="283730"/>
                </a:solidFill>
                <a:latin typeface="Calibri"/>
              </a:rPr>
              <a:t>Opposed position</a:t>
            </a:r>
          </a:p>
        </p:txBody>
      </p:sp>
      <p:sp>
        <p:nvSpPr>
          <p:cNvPr id="245" name="Rectangle 244"/>
          <p:cNvSpPr/>
          <p:nvPr/>
        </p:nvSpPr>
        <p:spPr>
          <a:xfrm>
            <a:off x="360000" y="5210000"/>
            <a:ext cx="11471694" cy="38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440000" y="5290000"/>
            <a:ext cx="4428678" cy="240000"/>
          </a:xfrm>
          <a:prstGeom prst="rect">
            <a:avLst/>
          </a:prstGeom>
          <a:noFill/>
        </p:spPr>
        <p:txBody>
          <a:bodyPr wrap="square" lIns="0" rIns="0" tIns="0" bIns="0">
            <a:spAutoFit/>
          </a:bodyPr>
          <a:lstStyle/>
          <a:p>
            <a:pPr algn="l"/>
            <a:r>
              <a:rPr sz="1100" b="1" i="0">
                <a:solidFill>
                  <a:srgbClr val="283730"/>
                </a:solidFill>
                <a:latin typeface="Calibri"/>
              </a:rPr>
              <a:t>Follow up letter to Board</a:t>
            </a:r>
          </a:p>
        </p:txBody>
      </p:sp>
      <p:sp>
        <p:nvSpPr>
          <p:cNvPr id="247" name="TextBox 246"/>
          <p:cNvSpPr txBox="1"/>
          <p:nvPr/>
        </p:nvSpPr>
        <p:spPr>
          <a:xfrm>
            <a:off x="5028678" y="5290000"/>
            <a:ext cx="3281508" cy="240000"/>
          </a:xfrm>
          <a:prstGeom prst="rect">
            <a:avLst/>
          </a:prstGeom>
          <a:noFill/>
        </p:spPr>
        <p:txBody>
          <a:bodyPr wrap="square" lIns="0" rIns="0" tIns="0" bIns="0">
            <a:spAutoFit/>
          </a:bodyPr>
          <a:lstStyle/>
          <a:p>
            <a:pPr algn="r"/>
            <a:r>
              <a:rPr sz="1100" b="0" i="0">
                <a:solidFill>
                  <a:srgbClr val="283730"/>
                </a:solidFill>
                <a:latin typeface="Calibri"/>
              </a:rPr>
              <a:t>David Cortez</a:t>
            </a:r>
          </a:p>
        </p:txBody>
      </p:sp>
      <p:sp>
        <p:nvSpPr>
          <p:cNvPr id="248" name="TextBox 247"/>
          <p:cNvSpPr txBox="1"/>
          <p:nvPr/>
        </p:nvSpPr>
        <p:spPr>
          <a:xfrm>
            <a:off x="8470186" y="5290000"/>
            <a:ext cx="3281508" cy="240000"/>
          </a:xfrm>
          <a:prstGeom prst="rect">
            <a:avLst/>
          </a:prstGeom>
          <a:noFill/>
        </p:spPr>
        <p:txBody>
          <a:bodyPr wrap="square" lIns="0" rIns="0" tIns="0" bIns="0">
            <a:spAutoFit/>
          </a:bodyPr>
          <a:lstStyle/>
          <a:p>
            <a:pPr algn="r"/>
            <a:r>
              <a:rPr sz="1100" b="0" i="0">
                <a:solidFill>
                  <a:srgbClr val="283730"/>
                </a:solidFill>
                <a:latin typeface="Calibri"/>
              </a:rPr>
              <a:t>Within 7 days of hearing</a:t>
            </a:r>
          </a:p>
        </p:txBody>
      </p:sp>
      <p:sp>
        <p:nvSpPr>
          <p:cNvPr id="249" name="Rectangle 248"/>
          <p:cNvSpPr/>
          <p:nvPr/>
        </p:nvSpPr>
        <p:spPr>
          <a:xfrm>
            <a:off x="120000" y="6438000"/>
            <a:ext cx="12071695" cy="420000"/>
          </a:xfrm>
          <a:prstGeom prst="rect">
            <a:avLst/>
          </a:prstGeom>
          <a:solidFill>
            <a:srgbClr val="E8F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280000" y="6538000"/>
            <a:ext cx="8000000" cy="280000"/>
          </a:xfrm>
          <a:prstGeom prst="rect">
            <a:avLst/>
          </a:prstGeom>
          <a:noFill/>
        </p:spPr>
        <p:txBody>
          <a:bodyPr wrap="square" lIns="0" rIns="0" tIns="0" bIns="0">
            <a:spAutoFit/>
          </a:bodyPr>
          <a:lstStyle/>
          <a:p>
            <a:pPr algn="l"/>
            <a:r>
              <a:rPr sz="1000" b="0" i="0">
                <a:solidFill>
                  <a:srgbClr val="50695C"/>
                </a:solidFill>
                <a:latin typeface="Calibri"/>
              </a:rPr>
              <a:t>Internal coalition document. Not for distribution.</a:t>
            </a:r>
          </a:p>
        </p:txBody>
      </p:sp>
      <p:sp>
        <p:nvSpPr>
          <p:cNvPr id="251" name="TextBox 250"/>
          <p:cNvSpPr txBox="1"/>
          <p:nvPr/>
        </p:nvSpPr>
        <p:spPr>
          <a:xfrm>
            <a:off x="9791695" y="6538000"/>
            <a:ext cx="2000000" cy="280000"/>
          </a:xfrm>
          <a:prstGeom prst="rect">
            <a:avLst/>
          </a:prstGeom>
          <a:noFill/>
        </p:spPr>
        <p:txBody>
          <a:bodyPr wrap="square" lIns="0" rIns="0" tIns="0" bIns="0">
            <a:spAutoFit/>
          </a:bodyPr>
          <a:lstStyle/>
          <a:p>
            <a:pPr algn="r"/>
            <a:r>
              <a:rPr sz="1000" b="0" i="0">
                <a:solidFill>
                  <a:srgbClr val="50695C"/>
                </a:solidFill>
                <a:latin typeface="Calibri"/>
              </a:rPr>
              <a:t/>
            </a:r>
          </a:p>
        </p:txBody>
      </p:sp>
    </p:spTree>
  </p:cSld>
  <p:clrMapOvr>
    <a:masterClrMapping/>
  </p:clrMapOvr>
  <p:timing>
    <p:tnLst>
      <p:par>
        <p:cTn id="1" dur="indefinite" restart="never" nodeType="tmRoot">
          <p:childTnLst>
            <p:seq concurrent="1" nextAc="seek">
              <p:cTn id="2" dur="indefinite" nodeType="mainSeq">
                <p:childTnLst>
                  <p:par>
                    <p:cTn id="200" fill="hold">
                      <p:stCondLst>
                        <p:cond delay="indefinite"/>
                      </p:stCondLst>
                      <p:childTnLst>
                        <p:par>
                          <p:cTn id="201" fill="hold">
                            <p:stCondLst>
                              <p:cond delay="0"/>
                            </p:stCondLst>
                            <p:childTnLst>
                              <p:par>
                                <p:cTn id="202" presetID="10" presetClass="entr" presetSubtype="0" fill="hold" grpId="0" nodeType="clickEffect">
                                  <p:stCondLst>
                                    <p:cond delay="0"/>
                                  </p:stCondLst>
                                  <p:childTnLst>
                                    <p:set>
                                      <p:cBhvr>
                                        <p:cTn id="203" dur="1" fill="hold">
                                          <p:stCondLst>
                                            <p:cond delay="0"/>
                                          </p:stCondLst>
                                        </p:cTn>
                                        <p:tgtEl>
                                          <p:spTgt spid="6"/>
                                        </p:tgtEl>
                                        <p:attrNameLst>
                                          <p:attrName>style.visibility</p:attrName>
                                        </p:attrNameLst>
                                      </p:cBhvr>
                                      <p:to>
                                        <p:strVal val="visible"/>
                                      </p:to>
                                    </p:set>
                                    <p:anim calcmode="lin" valueType="num">
                                      <p:cBhvr additive="base">
                                        <p:cTn id="204"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0" fill="hold">
                      <p:stCondLst>
                        <p:cond delay="indefinite"/>
                      </p:stCondLst>
                      <p:childTnLst>
                        <p:par>
                          <p:cTn id="211" fill="hold">
                            <p:stCondLst>
                              <p:cond delay="0"/>
                            </p:stCondLst>
                            <p:childTnLst>
                              <p:par>
                                <p:cTn id="212" presetID="10" presetClass="entr" presetSubtype="0" fill="hold" grpId="0" nodeType="clickEffect">
                                  <p:stCondLst>
                                    <p:cond delay="200"/>
                                  </p:stCondLst>
                                  <p:childTnLst>
                                    <p:set>
                                      <p:cBhvr>
                                        <p:cTn id="213" dur="1" fill="hold">
                                          <p:stCondLst>
                                            <p:cond delay="0"/>
                                          </p:stCondLst>
                                        </p:cTn>
                                        <p:tgtEl>
                                          <p:spTgt spid="205"/>
                                        </p:tgtEl>
                                        <p:attrNameLst>
                                          <p:attrName>style.visibility</p:attrName>
                                        </p:attrNameLst>
                                      </p:cBhvr>
                                      <p:to>
                                        <p:strVal val="visible"/>
                                      </p:to>
                                    </p:set>
                                    <p:anim calcmode="lin" valueType="num">
                                      <p:cBhvr additive="base">
                                        <p:cTn id="214" dur="500" fill="hold"/>
                                        <p:tgtEl>
                                          <p:spTgt spid="205"/>
                                        </p:tgtEl>
                                        <p:attrNameLst>
                                          <p:attrName>style.opacity</p:attrName>
                                        </p:attrNameLst>
                                      </p:cBhvr>
                                      <p:tavLst>
                                        <p:tav tm="0">
                                          <p:val>
                                            <p:fltVal val="0"/>
                                          </p:val>
                                        </p:tav>
                                        <p:tav tm="100000">
                                          <p:val>
                                            <p:fltVal val="1"/>
                                          </p:val>
                                        </p:tav>
                                      </p:tavLst>
                                    </p:anim>
                                  </p:childTnLst>
                                </p:cTn>
                              </p:par>
                            </p:childTnLst>
                          </p:cTn>
                        </p:par>
                      </p:childTnLst>
                    </p:cTn>
                  </p:par>
                  <p:par>
                    <p:cTn id="220" fill="hold">
                      <p:stCondLst>
                        <p:cond delay="indefinite"/>
                      </p:stCondLst>
                      <p:childTnLst>
                        <p:par>
                          <p:cTn id="221" fill="hold">
                            <p:stCondLst>
                              <p:cond delay="0"/>
                            </p:stCondLst>
                            <p:childTnLst>
                              <p:par>
                                <p:cTn id="222" presetID="10" presetClass="entr" presetSubtype="0" fill="hold" grpId="0" nodeType="clickEffect">
                                  <p:stCondLst>
                                    <p:cond delay="300"/>
                                  </p:stCondLst>
                                  <p:childTnLst>
                                    <p:set>
                                      <p:cBhvr>
                                        <p:cTn id="223" dur="1" fill="hold">
                                          <p:stCondLst>
                                            <p:cond delay="0"/>
                                          </p:stCondLst>
                                        </p:cTn>
                                        <p:tgtEl>
                                          <p:spTgt spid="223"/>
                                        </p:tgtEl>
                                        <p:attrNameLst>
                                          <p:attrName>style.visibility</p:attrName>
                                        </p:attrNameLst>
                                      </p:cBhvr>
                                      <p:to>
                                        <p:strVal val="visible"/>
                                      </p:to>
                                    </p:set>
                                    <p:anim calcmode="lin" valueType="num">
                                      <p:cBhvr additive="base">
                                        <p:cTn id="224" dur="500" fill="hold"/>
                                        <p:tgtEl>
                                          <p:spTgt spid="2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