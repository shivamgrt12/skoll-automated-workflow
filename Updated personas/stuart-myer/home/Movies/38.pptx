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65F46"/>
                </a:solidFill>
                <a:latin typeface="Verdana"/>
              </a:rPr>
              <a:t>Driftwood Brewing · Taproom Education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65F46"/>
                </a:solidFill>
                <a:latin typeface="Verdana"/>
              </a:rPr>
              <a:t>01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Brewing 101 at Driftwood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1500000"/>
            <a:ext cx="11471695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97D64"/>
                </a:solidFill>
                <a:latin typeface="Verdana"/>
              </a:rPr>
              <a:t>A taproom walk through how beer is actually made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60000" y="2100000"/>
            <a:ext cx="11471695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C463C"/>
                </a:solidFill>
                <a:latin typeface="Verdana"/>
              </a:rPr>
              <a:t>Hosted by Stuart Myer, head brewer. A guided 45 minute talk over a sample flight in the taproom, designed for guests with no prior brewing knowledge.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97D64"/>
                </a:solidFill>
                <a:latin typeface="Verdana"/>
              </a:rPr>
              <a:t>For taproom guests and beginning homebrewers.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97D64"/>
                </a:solidFill>
                <a:latin typeface="Verdan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65F46"/>
                </a:solidFill>
                <a:latin typeface="Verdana"/>
              </a:rPr>
              <a:t>Driftwood Brewing · Taproom Education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65F46"/>
                </a:solidFill>
                <a:latin typeface="Verdana"/>
              </a:rP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The four ingredients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60000" y="2300000"/>
            <a:ext cx="3677231" cy="37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60000" y="2300000"/>
            <a:ext cx="3677231" cy="3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00000" y="2360000"/>
            <a:ext cx="339723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Water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0000" y="2770000"/>
            <a:ext cx="3397231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Mineral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00000" y="3540000"/>
            <a:ext cx="3397231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63C"/>
                </a:solidFill>
                <a:latin typeface="Verdana"/>
              </a:rPr>
              <a:t>Calcium, sulfate, chloride, and magnesium tune the malt and hop expression for each style.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257231" y="2300000"/>
            <a:ext cx="3677231" cy="37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257231" y="2300000"/>
            <a:ext cx="3677231" cy="3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397231" y="2360000"/>
            <a:ext cx="339723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Malt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397231" y="2770000"/>
            <a:ext cx="3397231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Sugar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397231" y="3540000"/>
            <a:ext cx="3397231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63C"/>
                </a:solidFill>
                <a:latin typeface="Verdana"/>
              </a:rPr>
              <a:t>Pilsner, Munich, pale ale, crystal, and roasted malts shape color, body, and base sugar profile.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154462" y="2300000"/>
            <a:ext cx="3677231" cy="37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154462" y="2300000"/>
            <a:ext cx="3677231" cy="3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294462" y="2360000"/>
            <a:ext cx="339723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Hops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294462" y="2770000"/>
            <a:ext cx="3397231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Aroma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294462" y="3540000"/>
            <a:ext cx="3397231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63C"/>
                </a:solidFill>
                <a:latin typeface="Verdana"/>
              </a:rPr>
              <a:t>Bittering hops at the boil; flavor and aroma additions late, with dry hopping for the wild and saison styles.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97D64"/>
                </a:solidFill>
                <a:latin typeface="Verdana"/>
              </a:rPr>
              <a:t>For taproom guests and beginning homebrewers.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97D64"/>
                </a:solidFill>
                <a:latin typeface="Verdan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65F46"/>
                </a:solidFill>
                <a:latin typeface="Verdana"/>
              </a:rPr>
              <a:t>Driftwood Brewing · Taproom Education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65F46"/>
                </a:solidFill>
                <a:latin typeface="Verdana"/>
              </a:rP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How a 7-barrel batch runs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24632"/>
                </a:solidFill>
                <a:latin typeface="Verdana"/>
              </a:rPr>
              <a:t>From grain delivery to taproom pour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60000" y="255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60000" y="255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40000" y="269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40000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00000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Mill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00000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Mill the grain to crack the kernel without shredding the husk.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3097923" y="3300000"/>
            <a:ext cx="160000" cy="0"/>
          </a:xfrm>
          <a:prstGeom prst="line">
            <a:avLst/>
          </a:prstGeom>
          <a:ln w="25400">
            <a:solidFill>
              <a:srgbClr val="7891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/>
          <p:cNvSpPr/>
          <p:nvPr/>
        </p:nvSpPr>
        <p:spPr>
          <a:xfrm>
            <a:off x="3277923" y="255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277923" y="255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3357923" y="269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357923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817923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Mash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817923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Mash the crushed malt at 152 to 156 F to convert starch to sugar.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015846" y="3300000"/>
            <a:ext cx="160000" cy="0"/>
          </a:xfrm>
          <a:prstGeom prst="line">
            <a:avLst/>
          </a:prstGeom>
          <a:ln w="25400">
            <a:solidFill>
              <a:srgbClr val="7891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6195846" y="255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195846" y="255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6275846" y="269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275846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35846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Lauter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35846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Lauter and sparge to rinse sugar from the spent grain bed.</a:t>
            </a:r>
          </a:p>
        </p:txBody>
      </p:sp>
      <p:cxnSp>
        <p:nvCxnSpPr>
          <p:cNvPr id="235" name="Connector 234"/>
          <p:cNvCxnSpPr/>
          <p:nvPr/>
        </p:nvCxnSpPr>
        <p:spPr>
          <a:xfrm>
            <a:off x="8933769" y="3300000"/>
            <a:ext cx="160000" cy="0"/>
          </a:xfrm>
          <a:prstGeom prst="line">
            <a:avLst/>
          </a:prstGeom>
          <a:ln w="25400">
            <a:solidFill>
              <a:srgbClr val="7891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ectangle 235"/>
          <p:cNvSpPr/>
          <p:nvPr/>
        </p:nvSpPr>
        <p:spPr>
          <a:xfrm>
            <a:off x="9113769" y="255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113769" y="255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193769" y="269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193769" y="26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653769" y="273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Boil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653769" y="301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Boil the wort with hops in waves: bittering, flavor, aroma.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0000" y="443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360000" y="443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40000" y="457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40000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00000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Chill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00000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Whirlpool, chill, oxygenate, and pitch yeast into the fermentor.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3097923" y="5180000"/>
            <a:ext cx="160000" cy="0"/>
          </a:xfrm>
          <a:prstGeom prst="line">
            <a:avLst/>
          </a:prstGeom>
          <a:ln w="25400">
            <a:solidFill>
              <a:srgbClr val="7891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ectangle 255"/>
          <p:cNvSpPr/>
          <p:nvPr/>
        </p:nvSpPr>
        <p:spPr>
          <a:xfrm>
            <a:off x="3277923" y="443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277923" y="443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3357923" y="457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357923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817923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Ferment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817923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Hold at style appropriate temperature for one to four weeks.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6015846" y="5180000"/>
            <a:ext cx="160000" cy="0"/>
          </a:xfrm>
          <a:prstGeom prst="line">
            <a:avLst/>
          </a:prstGeom>
          <a:ln w="25400">
            <a:solidFill>
              <a:srgbClr val="7891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ectangle 265"/>
          <p:cNvSpPr/>
          <p:nvPr/>
        </p:nvSpPr>
        <p:spPr>
          <a:xfrm>
            <a:off x="6195846" y="443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195846" y="443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75846" y="457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275846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7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735846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Package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735846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Lager, carbonate, and package once tasting and gravity stabilize.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8933769" y="5180000"/>
            <a:ext cx="160000" cy="0"/>
          </a:xfrm>
          <a:prstGeom prst="line">
            <a:avLst/>
          </a:prstGeom>
          <a:ln w="25400">
            <a:solidFill>
              <a:srgbClr val="7891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Rectangle 275"/>
          <p:cNvSpPr/>
          <p:nvPr/>
        </p:nvSpPr>
        <p:spPr>
          <a:xfrm>
            <a:off x="9113769" y="4430000"/>
            <a:ext cx="2717923" cy="150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113769" y="4430000"/>
            <a:ext cx="2717923" cy="6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9193769" y="4570000"/>
            <a:ext cx="380000" cy="380000"/>
          </a:xfrm>
          <a:prstGeom prst="ellipse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193769" y="45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8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653769" y="4610000"/>
            <a:ext cx="2097923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24632"/>
                </a:solidFill>
                <a:latin typeface="Verdana"/>
              </a:rPr>
              <a:t>Serve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653769" y="4890000"/>
            <a:ext cx="2097923" cy="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C463C"/>
                </a:solidFill>
                <a:latin typeface="Verdana"/>
              </a:rPr>
              <a:t>Tap, taste, repeat at the brewery, the taproom, and beyond.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97D64"/>
                </a:solidFill>
                <a:latin typeface="Verdana"/>
              </a:rPr>
              <a:t>For taproom guests and beginning homebrewers.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97D64"/>
                </a:solidFill>
                <a:latin typeface="Verdan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65F46"/>
                </a:solidFill>
                <a:latin typeface="Verdana"/>
              </a:rPr>
              <a:t>Driftwood Brewing · Taproom Education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65F46"/>
                </a:solidFill>
                <a:latin typeface="Verdana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Five common Driftwood styles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24632"/>
                </a:solidFill>
                <a:latin typeface="Verdana"/>
              </a:rPr>
              <a:t>Typical alcohol by volume, percent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60000" y="5890000"/>
            <a:ext cx="10551695" cy="8000"/>
          </a:xfrm>
          <a:prstGeom prst="rect">
            <a:avLst/>
          </a:prstGeom>
          <a:solidFill>
            <a:srgbClr val="78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60000" y="3455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60000" y="3365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88C78"/>
                </a:solidFill>
                <a:latin typeface="Calibri"/>
              </a:rPr>
              <a:t>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60000" y="4240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60000" y="4150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88C78"/>
                </a:solidFill>
                <a:latin typeface="Calibri"/>
              </a:rPr>
              <a:t>4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60000" y="5025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60000" y="4935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88C78"/>
                </a:solidFill>
                <a:latin typeface="Calibri"/>
              </a:rPr>
              <a:t>2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60000" y="5810000"/>
            <a:ext cx="10551695" cy="4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60000" y="5720000"/>
            <a:ext cx="2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88C78"/>
                </a:solidFill>
                <a:latin typeface="Calibri"/>
              </a:rPr>
              <a:t>0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00000" y="3764189"/>
            <a:ext cx="2030339" cy="2125811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00000" y="3544189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8916E"/>
                </a:solidFill>
                <a:latin typeface="Calibri"/>
              </a:rPr>
              <a:t>4.8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00000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88C78"/>
                </a:solidFill>
                <a:latin typeface="Calibri"/>
              </a:rPr>
              <a:t>Pilsner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3110339" y="2750000"/>
            <a:ext cx="2030339" cy="314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3110339" y="2530000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8916E"/>
                </a:solidFill>
                <a:latin typeface="Calibri"/>
              </a:rPr>
              <a:t>7.09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110339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88C78"/>
                </a:solidFill>
                <a:latin typeface="Calibri"/>
              </a:rPr>
              <a:t>Saison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5220678" y="3564895"/>
            <a:ext cx="2030339" cy="2325105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220678" y="3344895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8916E"/>
                </a:solidFill>
                <a:latin typeface="Calibri"/>
              </a:rPr>
              <a:t>5.25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220678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88C78"/>
                </a:solidFill>
                <a:latin typeface="Calibri"/>
              </a:rPr>
              <a:t>Amber Lager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331017" y="3680043"/>
            <a:ext cx="2030339" cy="2209957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331017" y="3460043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8916E"/>
                </a:solidFill>
                <a:latin typeface="Calibri"/>
              </a:rPr>
              <a:t>4.99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331017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88C78"/>
                </a:solidFill>
                <a:latin typeface="Calibri"/>
              </a:rPr>
              <a:t>Munich Dunkel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441356" y="2984725"/>
            <a:ext cx="2030339" cy="2905275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441356" y="2764725"/>
            <a:ext cx="203033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8916E"/>
                </a:solidFill>
                <a:latin typeface="Calibri"/>
              </a:rPr>
              <a:t>6.56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441356" y="5940000"/>
            <a:ext cx="2030339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88C78"/>
                </a:solidFill>
                <a:latin typeface="Calibri"/>
              </a:rPr>
              <a:t>Wild Ale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60000" y="6500000"/>
            <a:ext cx="11471695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97D64"/>
                </a:solidFill>
                <a:latin typeface="Verdana"/>
              </a:rPr>
              <a:t>Each style is tuned to a different yeast strain and fermentation window.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97D64"/>
                </a:solidFill>
                <a:latin typeface="Verdana"/>
              </a:rPr>
              <a:t>For taproom guests and beginning homebrewers.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97D64"/>
                </a:solidFill>
                <a:latin typeface="Verdan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65F46"/>
                </a:solidFill>
                <a:latin typeface="Verdana"/>
              </a:rPr>
              <a:t>Driftwood Brewing · Taproom Education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65F46"/>
                </a:solidFill>
                <a:latin typeface="Verdana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Style specifications, side by side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2050000"/>
            <a:ext cx="11471695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24632"/>
                </a:solidFill>
                <a:latin typeface="Verdana"/>
              </a:rPr>
              <a:t>How the five Driftwood styles compare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60000" y="2550000"/>
            <a:ext cx="11471693" cy="3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0000" y="263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Verdana"/>
              </a:rPr>
              <a:t>Style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963772" y="26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Verdana"/>
              </a:rPr>
              <a:t>OG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799243" y="2630000"/>
            <a:ext cx="1446037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Verdana"/>
              </a:rPr>
              <a:t>FG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405280" y="26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Verdana"/>
              </a:rPr>
              <a:t>ABV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240751" y="26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Verdana"/>
              </a:rPr>
              <a:t>IBU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076222" y="26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Verdana"/>
              </a:rPr>
              <a:t>Color (SRM)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60000" y="2930000"/>
            <a:ext cx="11471693" cy="38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40000" y="301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C463C"/>
                </a:solidFill>
                <a:latin typeface="Verdana"/>
              </a:rPr>
              <a:t>Czech Pilsner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963772" y="301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1.048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799243" y="3010000"/>
            <a:ext cx="1446037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1.012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405280" y="301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4.8%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240751" y="301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35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076222" y="301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3.5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60000" y="3310000"/>
            <a:ext cx="11471693" cy="38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40000" y="339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C463C"/>
                </a:solidFill>
                <a:latin typeface="Verdana"/>
              </a:rPr>
              <a:t>Holiday Saison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963772" y="339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1.060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99243" y="3390000"/>
            <a:ext cx="1446037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1.006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405280" y="339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7.09%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240751" y="339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28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076222" y="339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6.0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360000" y="3690000"/>
            <a:ext cx="11471693" cy="38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40000" y="377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C463C"/>
                </a:solidFill>
                <a:latin typeface="Verdana"/>
              </a:rPr>
              <a:t>Oktoberfest Amber Lager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963772" y="377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1.052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799243" y="3770000"/>
            <a:ext cx="1446037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1.012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5280" y="377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5.25%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8240751" y="377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25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076222" y="377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12.0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360000" y="4070000"/>
            <a:ext cx="11471693" cy="3800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40000" y="415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C463C"/>
                </a:solidFill>
                <a:latin typeface="Verdana"/>
              </a:rPr>
              <a:t>Munich Dunkel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963772" y="415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1.052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99243" y="4150000"/>
            <a:ext cx="1446037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1.014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405280" y="415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4.99%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240751" y="415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22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076222" y="415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20.0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60000" y="4450000"/>
            <a:ext cx="11471693" cy="38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40000" y="4530000"/>
            <a:ext cx="2363772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C463C"/>
                </a:solidFill>
                <a:latin typeface="Verdana"/>
              </a:rPr>
              <a:t>Anniversary Wild Ale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963772" y="45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1.054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799243" y="4530000"/>
            <a:ext cx="1446037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1.004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405280" y="45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6.56%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240751" y="45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15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076222" y="4530000"/>
            <a:ext cx="1675471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C463C"/>
                </a:solidFill>
                <a:latin typeface="Verdana"/>
              </a:rPr>
              <a:t>7.0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60000" y="6500000"/>
            <a:ext cx="11471695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97D64"/>
                </a:solidFill>
                <a:latin typeface="Verdana"/>
              </a:rPr>
              <a:t>Original and final gravity readings come from the hydrometer; ABV uses (OG-FG) x 131.25.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97D64"/>
                </a:solidFill>
                <a:latin typeface="Verdana"/>
              </a:rPr>
              <a:t>For taproom guests and beginning homebrewers.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97D64"/>
                </a:solidFill>
                <a:latin typeface="Verdan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65F46"/>
                </a:solidFill>
                <a:latin typeface="Verdana"/>
              </a:rPr>
              <a:t>Driftwood Brewing · Taproom Education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65F46"/>
                </a:solidFill>
                <a:latin typeface="Verdana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Mash temperature affects body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0000" y="1500000"/>
            <a:ext cx="11471695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97D64"/>
                </a:solidFill>
                <a:latin typeface="Verdana"/>
              </a:rPr>
              <a:t>Temperature sets the balance between fermentable and unfermentable sugars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60000" y="2200000"/>
            <a:ext cx="5595847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24632"/>
                </a:solidFill>
                <a:latin typeface="Verdana"/>
              </a:rPr>
              <a:t>Lower mash, 148 to 152 F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60000" y="273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500000" y="264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Beta amylase enzyme is most active in this range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360000" y="315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00000" y="306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Produces more simple, fermentable sugars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60000" y="357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00000" y="348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Drier finish, higher attenuation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60000" y="399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00000" y="390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Best for crisp lagers and saisons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360000" y="441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00000" y="432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Common choice for our Czech Pilsner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235847" y="2200000"/>
            <a:ext cx="5595847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24632"/>
                </a:solidFill>
                <a:latin typeface="Verdana"/>
              </a:rPr>
              <a:t>Higher mash, 154 to 158 F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235847" y="273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375847" y="264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Alpha amylase is favored in this range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235847" y="315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375847" y="306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Produces more complex, unfermentable sugars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235847" y="357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375847" y="348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Sweeter, fuller body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6235847" y="399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375847" y="390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Best for stouts, dunkels, malty ambers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6235847" y="4410000"/>
            <a:ext cx="80000" cy="8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375847" y="4320000"/>
            <a:ext cx="5435847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63C"/>
                </a:solidFill>
                <a:latin typeface="Verdana"/>
              </a:rPr>
              <a:t>Common choice for our Munich Dunkel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97D64"/>
                </a:solidFill>
                <a:latin typeface="Verdana"/>
              </a:rPr>
              <a:t>For taproom guests and beginning homebrewers.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97D64"/>
                </a:solidFill>
                <a:latin typeface="Verdan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" y="0"/>
            <a:ext cx="12071695" cy="6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70000"/>
            <a:ext cx="8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65F46"/>
                </a:solidFill>
                <a:latin typeface="Verdana"/>
              </a:rPr>
              <a:t>Driftwood Brewing · Taproom Education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1695" y="17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65F46"/>
                </a:solidFill>
                <a:latin typeface="Verdana"/>
              </a:rPr>
              <a:t>07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800000"/>
            <a:ext cx="114716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24632"/>
                </a:solidFill>
                <a:latin typeface="Verdana"/>
              </a:rPr>
              <a:t>How to taste a beer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20000" y="2280000"/>
            <a:ext cx="120000" cy="12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40000" y="220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C463C"/>
                </a:solidFill>
                <a:latin typeface="Verdana"/>
              </a:rPr>
              <a:t>Pour into a clean glass, leave a finger of head to release aroma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420000" y="2800000"/>
            <a:ext cx="120000" cy="12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40000" y="272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C463C"/>
                </a:solidFill>
                <a:latin typeface="Verdana"/>
              </a:rPr>
              <a:t>Look at color, clarity, and head retention before drinking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20000" y="3320000"/>
            <a:ext cx="120000" cy="12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40000" y="324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C463C"/>
                </a:solidFill>
                <a:latin typeface="Verdana"/>
              </a:rPr>
              <a:t>Smell first with the mouth closed, then lightly with the mouth open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420000" y="3840000"/>
            <a:ext cx="120000" cy="12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40000" y="376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C463C"/>
                </a:solidFill>
                <a:latin typeface="Verdana"/>
              </a:rPr>
              <a:t>Sip and roll the beer across the tongue to find sweet, bitter, and acid notes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20000" y="4360000"/>
            <a:ext cx="120000" cy="12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40000" y="428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C463C"/>
                </a:solidFill>
                <a:latin typeface="Verdana"/>
              </a:rPr>
              <a:t>Note the finish: dry, sweet, lingering bitter, or warm alcohol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20000" y="4880000"/>
            <a:ext cx="120000" cy="12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40000" y="480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C463C"/>
                </a:solidFill>
                <a:latin typeface="Verdana"/>
              </a:rPr>
              <a:t>Try the same beer at two different temperatures to feel how aroma changes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20000" y="5400000"/>
            <a:ext cx="120000" cy="120000"/>
          </a:xfrm>
          <a:prstGeom prst="rect">
            <a:avLst/>
          </a:prstGeom>
          <a:solidFill>
            <a:srgbClr val="7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40000" y="532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C463C"/>
                </a:solidFill>
                <a:latin typeface="Verdana"/>
              </a:rPr>
              <a:t>Visit again next month for sour beer 102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120000" y="6438000"/>
            <a:ext cx="12071695" cy="420000"/>
          </a:xfrm>
          <a:prstGeom prst="rect">
            <a:avLst/>
          </a:prstGeom>
          <a:solidFill>
            <a:srgbClr val="E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280000" y="653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97D64"/>
                </a:solidFill>
                <a:latin typeface="Verdana"/>
              </a:rPr>
              <a:t>For taproom guests and beginning homebrewers.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9791695" y="6538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97D64"/>
                </a:solidFill>
                <a:latin typeface="Verdana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0" presetClass="entr" presetSubtype="0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0" presetClass="entr" presetSubtype="0" fill="hold" grpId="0" nodeType="click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grpId="0" nodeType="click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