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69E2E"/>
                </a:solidFill>
                <a:latin typeface="Constantia"/>
              </a:rPr>
              <a:t>Driftwood Brewing Company · Q4 2026 Partner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69E2E"/>
                </a:solidFill>
                <a:latin typeface="Constantia"/>
              </a:rPr>
              <a:t>01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Q4 2026 partner review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1500000"/>
            <a:ext cx="11471695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4A274"/>
                </a:solidFill>
                <a:latin typeface="Constantia"/>
              </a:rPr>
              <a:t>First meaningful net profit in year three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60000" y="2100000"/>
            <a:ext cx="11471695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8DAC4"/>
                </a:solidFill>
                <a:latin typeface="Constantia"/>
              </a:rPr>
              <a:t>Year to date through October 5 plus full year projection. Eight slides covering revenue, expenses, batch costs, P and L detail, and the decisions Stuart and Jake need to make this quarter.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Confidential, partners only. Stuart Myer and Jake Callahan.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4A274"/>
                </a:solidFill>
                <a:latin typeface="Constanti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69E2E"/>
                </a:solidFill>
                <a:latin typeface="Constantia"/>
              </a:rPr>
              <a:t>Driftwood Brewing Company · Q4 2026 Partner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69E2E"/>
                </a:solidFill>
                <a:latin typeface="Constantia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Where the money came from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1500000"/>
            <a:ext cx="11471695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4A274"/>
                </a:solidFill>
                <a:latin typeface="Constantia"/>
              </a:rPr>
              <a:t>Taproom remains the anchor; festival weeks shift the mix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60000" y="2050000"/>
            <a:ext cx="11471695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7E8C8"/>
                </a:solidFill>
                <a:latin typeface="Constantia"/>
              </a:rPr>
              <a:t>Revenue mix, projected 2026 (USD thousands)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60000" y="5890000"/>
            <a:ext cx="10551695" cy="8000"/>
          </a:xfrm>
          <a:prstGeom prst="rect">
            <a:avLst/>
          </a:prstGeom>
          <a:solidFill>
            <a:srgbClr val="AA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60000" y="3455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60000" y="3365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916E"/>
                </a:solidFill>
                <a:latin typeface="Calibri"/>
              </a:rPr>
              <a:t>160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60000" y="4240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60000" y="4150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916E"/>
                </a:solidFill>
                <a:latin typeface="Calibri"/>
              </a:rPr>
              <a:t>107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60000" y="5025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60000" y="4935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916E"/>
                </a:solidFill>
                <a:latin typeface="Calibri"/>
              </a:rPr>
              <a:t>54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960000" y="5810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60000" y="5720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916E"/>
                </a:solidFill>
                <a:latin typeface="Calibri"/>
              </a:rPr>
              <a:t>0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000000" y="2750000"/>
            <a:ext cx="2030339" cy="314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000000" y="2530000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214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00000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Taproom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110339" y="4598786"/>
            <a:ext cx="2030339" cy="129121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3110339" y="4378786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88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110339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Distribution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220678" y="5361776"/>
            <a:ext cx="2030339" cy="52822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5220678" y="5141776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36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220678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Releases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7331017" y="5449814"/>
            <a:ext cx="2030339" cy="44018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7331017" y="5229814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30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331017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Festivals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9441356" y="5713926"/>
            <a:ext cx="2030339" cy="17607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9441356" y="5493926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12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441356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Merch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60000" y="6500000"/>
            <a:ext cx="11471695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4A274"/>
                </a:solidFill>
                <a:latin typeface="Constantia"/>
              </a:rPr>
              <a:t>Taproom share rose from 52% in 2025 to 56% projected for 2026.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60000" y="2050000"/>
            <a:ext cx="2702923" cy="9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360000" y="2050000"/>
            <a:ext cx="80000" cy="90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40000" y="2170000"/>
            <a:ext cx="2422923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Projected revenue 2026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40000" y="2410000"/>
            <a:ext cx="2422923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7E8C8"/>
                </a:solidFill>
                <a:latin typeface="Constantia"/>
              </a:rPr>
              <a:t>$380K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3282923" y="2050000"/>
            <a:ext cx="2702923" cy="9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3282923" y="2050000"/>
            <a:ext cx="80000" cy="90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3462923" y="2170000"/>
            <a:ext cx="2422923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Projected expenses 2026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462923" y="2410000"/>
            <a:ext cx="2422923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7E8C8"/>
                </a:solidFill>
                <a:latin typeface="Constantia"/>
              </a:rPr>
              <a:t>$340K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205846" y="2050000"/>
            <a:ext cx="2702923" cy="9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205846" y="2050000"/>
            <a:ext cx="80000" cy="90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385846" y="2170000"/>
            <a:ext cx="2422923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Projected net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6385846" y="2410000"/>
            <a:ext cx="2422923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7E8C8"/>
                </a:solidFill>
                <a:latin typeface="Constantia"/>
              </a:rPr>
              <a:t>$40K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9128769" y="2050000"/>
            <a:ext cx="2702923" cy="9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128769" y="2050000"/>
            <a:ext cx="80000" cy="90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9308769" y="2170000"/>
            <a:ext cx="2422923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Partner split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308769" y="2410000"/>
            <a:ext cx="2422923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7E8C8"/>
                </a:solidFill>
                <a:latin typeface="Constantia"/>
              </a:rPr>
              <a:t>50 / 50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Confidential, partners only. Stuart Myer and Jake Callahan.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4A274"/>
                </a:solidFill>
                <a:latin typeface="Constanti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0" nodeType="click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69E2E"/>
                </a:solidFill>
                <a:latin typeface="Constantia"/>
              </a:rPr>
              <a:t>Driftwood Brewing Company · Q4 2026 Partner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69E2E"/>
                </a:solidFill>
                <a:latin typeface="Constantia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Operating snapshot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60000" y="2300000"/>
            <a:ext cx="3677231" cy="37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60000" y="2300000"/>
            <a:ext cx="3677231" cy="3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00000" y="2360000"/>
            <a:ext cx="339723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tantia"/>
              </a:rPr>
              <a:t>Revenue 2026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00000" y="2770000"/>
            <a:ext cx="3397231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$380K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00000" y="3540000"/>
            <a:ext cx="3397231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DAC4"/>
                </a:solidFill>
                <a:latin typeface="Constantia"/>
              </a:rPr>
              <a:t>Taproom Wed to Sun, 8 distribution accounts, plus the October festival window.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257231" y="2300000"/>
            <a:ext cx="3677231" cy="37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257231" y="2300000"/>
            <a:ext cx="3677231" cy="3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397231" y="2360000"/>
            <a:ext cx="339723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tantia"/>
              </a:rPr>
              <a:t>Expenses 2026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397231" y="2770000"/>
            <a:ext cx="3397231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$340K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397231" y="3540000"/>
            <a:ext cx="3397231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DAC4"/>
                </a:solidFill>
                <a:latin typeface="Constantia"/>
              </a:rPr>
              <a:t>Pacific Malt, Crosby Hops, cans, payroll, rent and utilities at 2,800 monthly.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154462" y="2300000"/>
            <a:ext cx="3677231" cy="37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154462" y="2300000"/>
            <a:ext cx="3677231" cy="3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294462" y="2360000"/>
            <a:ext cx="339723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tantia"/>
              </a:rPr>
              <a:t>Projected net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294462" y="2770000"/>
            <a:ext cx="3397231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$40K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294462" y="3540000"/>
            <a:ext cx="3397231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DAC4"/>
                </a:solidFill>
                <a:latin typeface="Constantia"/>
              </a:rPr>
              <a:t>Split 50 / 50 with Jake. First meaningful owner distribution since year one.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Confidential, partners only. Stuart Myer and Jake Callahan.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4A274"/>
                </a:solidFill>
                <a:latin typeface="Constanti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69E2E"/>
                </a:solidFill>
                <a:latin typeface="Constantia"/>
              </a:rPr>
              <a:t>Driftwood Brewing Company · Q4 2026 Partner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69E2E"/>
                </a:solidFill>
                <a:latin typeface="Constantia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Cost trend, ingredient bill per batch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2050000"/>
            <a:ext cx="11471695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7E8C8"/>
                </a:solidFill>
                <a:latin typeface="Constantia"/>
              </a:rPr>
              <a:t>Recent 7-barrel batches, USD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960000" y="5890000"/>
            <a:ext cx="10551695" cy="8000"/>
          </a:xfrm>
          <a:prstGeom prst="rect">
            <a:avLst/>
          </a:prstGeom>
          <a:solidFill>
            <a:srgbClr val="AA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60000" y="3455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60000" y="3365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916E"/>
                </a:solidFill>
                <a:latin typeface="Calibri"/>
              </a:rPr>
              <a:t>388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60000" y="4240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60000" y="4150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916E"/>
                </a:solidFill>
                <a:latin typeface="Calibri"/>
              </a:rPr>
              <a:t>259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60000" y="5025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60000" y="4935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916E"/>
                </a:solidFill>
                <a:latin typeface="Calibri"/>
              </a:rPr>
              <a:t>129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60000" y="5810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60000" y="5720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916E"/>
                </a:solidFill>
                <a:latin typeface="Calibri"/>
              </a:rPr>
              <a:t>0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000000" y="4049148"/>
            <a:ext cx="2030339" cy="184085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00000" y="3829148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303.6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00000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DW-14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3110339" y="2902556"/>
            <a:ext cx="2030339" cy="298744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3110339" y="2682556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492.7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110339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DW-15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5220678" y="2794021"/>
            <a:ext cx="2030339" cy="3095979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220678" y="2574021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510.6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220678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DW-16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7331017" y="3189962"/>
            <a:ext cx="2030339" cy="270003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331017" y="2969962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445.3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331017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DW-17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441356" y="2750000"/>
            <a:ext cx="2030339" cy="314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9441356" y="2530000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69E2E"/>
                </a:solidFill>
                <a:latin typeface="Calibri"/>
              </a:rPr>
              <a:t>517.86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441356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A916E"/>
                </a:solidFill>
                <a:latin typeface="Calibri"/>
              </a:rPr>
              <a:t>DW-18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60000" y="6500000"/>
            <a:ext cx="11471695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4A274"/>
                </a:solidFill>
                <a:latin typeface="Constantia"/>
              </a:rPr>
              <a:t>Munich Dunkel (DW-18) pilots Q4 pricing; Winter Ale (DW-16) is the most expensive grain bill of the set.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Confidential, partners only. Stuart Myer and Jake Callahan.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4A274"/>
                </a:solidFill>
                <a:latin typeface="Constanti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69E2E"/>
                </a:solidFill>
                <a:latin typeface="Constantia"/>
              </a:rPr>
              <a:t>Driftwood Brewing Company · Q4 2026 Partner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69E2E"/>
                </a:solidFill>
                <a:latin typeface="Constantia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P and L detail, year to date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2050000"/>
            <a:ext cx="11471695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7E8C8"/>
                </a:solidFill>
                <a:latin typeface="Constantia"/>
              </a:rPr>
              <a:t>Driftwood Brewing Company, 2026 YTD through October 5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60000" y="2550000"/>
            <a:ext cx="11471694" cy="3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40000" y="263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tantia"/>
              </a:rPr>
              <a:t>Line item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602262" y="263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tantia"/>
              </a:rPr>
              <a:t>YTD actual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667167" y="263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tantia"/>
              </a:rPr>
              <a:t>Q4 projection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732072" y="263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tantia"/>
              </a:rPr>
              <a:t>Full year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0000" y="2930000"/>
            <a:ext cx="11471694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40000" y="301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Taproom sales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602262" y="301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$169,400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667167" y="301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$44,600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732072" y="301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$214,000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360000" y="3310000"/>
            <a:ext cx="11471694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40000" y="339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Self distribution to 8 accounts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602262" y="339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$69,200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667167" y="339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$18,800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732072" y="339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$88,000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60000" y="3690000"/>
            <a:ext cx="11471694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40000" y="377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Releases and festivals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602262" y="377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$24,800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667167" y="377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$11,200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732072" y="377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$36,000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360000" y="4070000"/>
            <a:ext cx="11471694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40000" y="415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Merchandise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602262" y="415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$8,400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667167" y="415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$3,600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732072" y="415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$12,000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60000" y="4450000"/>
            <a:ext cx="11471694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40000" y="453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Total revenue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602262" y="453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$271,800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667167" y="453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$78,200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732072" y="453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$350,000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360000" y="4830000"/>
            <a:ext cx="11471694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40000" y="491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Ingredients and packaging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602262" y="491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$98,100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667167" y="491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$25,900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732072" y="491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$124,000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360000" y="5210000"/>
            <a:ext cx="11471694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40000" y="529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Wages and payroll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602262" y="529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$108,200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667167" y="529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$29,800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2072" y="529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$138,000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60000" y="5590000"/>
            <a:ext cx="11471694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440000" y="567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Rent and utilities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602262" y="567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$22,400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667167" y="567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$11,200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732072" y="567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$33,600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60000" y="5970000"/>
            <a:ext cx="11471694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40000" y="605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Marketing and distribution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602262" y="605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$8,900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667167" y="605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$4,100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732072" y="605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$13,000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360000" y="6350000"/>
            <a:ext cx="11471694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440000" y="643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Insurance, licenses, fees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02262" y="643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$22,600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667167" y="643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$8,800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732072" y="643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$31,400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360000" y="6730000"/>
            <a:ext cx="11471694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40000" y="681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Total expenses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602262" y="681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$260,200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667167" y="681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$79,800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9732072" y="681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$340,000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60000" y="7110000"/>
            <a:ext cx="11471694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440000" y="7190000"/>
            <a:ext cx="500226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Net operating income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602262" y="719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$11,600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667167" y="7190000"/>
            <a:ext cx="1904905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-$1,600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9732072" y="7190000"/>
            <a:ext cx="201962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$10,000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360000" y="6500000"/>
            <a:ext cx="11471695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4A274"/>
                </a:solidFill>
                <a:latin typeface="Constantia"/>
              </a:rPr>
              <a:t>Q4 is the seasonal lean quarter; full year net moves to $40K when owner distributions reverse.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Confidential, partners only. Stuart Myer and Jake Callahan.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4A274"/>
                </a:solidFill>
                <a:latin typeface="Constanti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69E2E"/>
                </a:solidFill>
                <a:latin typeface="Constantia"/>
              </a:rPr>
              <a:t>Driftwood Brewing Company · Q4 2026 Partner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69E2E"/>
                </a:solidFill>
                <a:latin typeface="Constantia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Q4 production calendar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2050000"/>
            <a:ext cx="11471695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7E8C8"/>
                </a:solidFill>
                <a:latin typeface="Constantia"/>
              </a:rPr>
              <a:t>Batches in flight, October through December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60000" y="2550000"/>
            <a:ext cx="2717923" cy="15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60000" y="2550000"/>
            <a:ext cx="2717923" cy="6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40000" y="2690000"/>
            <a:ext cx="380000" cy="380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40000" y="26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tantia"/>
              </a:rPr>
              <a:t>1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00000" y="273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E8C8"/>
                </a:solidFill>
                <a:latin typeface="Constantia"/>
              </a:rPr>
              <a:t>DW-2026-16 Winter Ale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00000" y="301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DAC4"/>
                </a:solidFill>
                <a:latin typeface="Constantia"/>
              </a:rPr>
              <a:t>Brewed Oct 6, fermenting, packaged Dec 12 for Dec 19 holiday release.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3097923" y="3300000"/>
            <a:ext cx="160000" cy="0"/>
          </a:xfrm>
          <a:prstGeom prst="line">
            <a:avLst/>
          </a:prstGeom>
          <a:ln w="25400">
            <a:solidFill>
              <a:srgbClr val="D69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 215"/>
          <p:cNvSpPr/>
          <p:nvPr/>
        </p:nvSpPr>
        <p:spPr>
          <a:xfrm>
            <a:off x="3277923" y="2550000"/>
            <a:ext cx="2717923" cy="15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277923" y="2550000"/>
            <a:ext cx="2717923" cy="6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3357923" y="2690000"/>
            <a:ext cx="380000" cy="380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357923" y="26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tantia"/>
              </a:rPr>
              <a:t>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817923" y="273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E8C8"/>
                </a:solidFill>
                <a:latin typeface="Constantia"/>
              </a:rPr>
              <a:t>DW-2026-17 Holiday Saison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817923" y="301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DAC4"/>
                </a:solidFill>
                <a:latin typeface="Constantia"/>
              </a:rPr>
              <a:t>Brewed Oct 8, warm-fermented with spices, packaged Nov 21.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015846" y="3300000"/>
            <a:ext cx="160000" cy="0"/>
          </a:xfrm>
          <a:prstGeom prst="line">
            <a:avLst/>
          </a:prstGeom>
          <a:ln w="25400">
            <a:solidFill>
              <a:srgbClr val="D69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6195846" y="2550000"/>
            <a:ext cx="2717923" cy="15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195846" y="2550000"/>
            <a:ext cx="2717923" cy="6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6275846" y="2690000"/>
            <a:ext cx="380000" cy="380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275846" y="26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tantia"/>
              </a:rPr>
              <a:t>3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35846" y="273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E8C8"/>
                </a:solidFill>
                <a:latin typeface="Constantia"/>
              </a:rPr>
              <a:t>DW-2026-18 Munich Dunkel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35846" y="301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DAC4"/>
                </a:solidFill>
                <a:latin typeface="Constantia"/>
              </a:rPr>
              <a:t>Brewed Oct 13, Q4 pricing trial, packaged Nov 14.</a:t>
            </a:r>
          </a:p>
        </p:txBody>
      </p:sp>
      <p:cxnSp>
        <p:nvCxnSpPr>
          <p:cNvPr id="235" name="Connector 234"/>
          <p:cNvCxnSpPr/>
          <p:nvPr/>
        </p:nvCxnSpPr>
        <p:spPr>
          <a:xfrm>
            <a:off x="8933769" y="3300000"/>
            <a:ext cx="160000" cy="0"/>
          </a:xfrm>
          <a:prstGeom prst="line">
            <a:avLst/>
          </a:prstGeom>
          <a:ln w="25400">
            <a:solidFill>
              <a:srgbClr val="D69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ectangle 235"/>
          <p:cNvSpPr/>
          <p:nvPr/>
        </p:nvSpPr>
        <p:spPr>
          <a:xfrm>
            <a:off x="9113769" y="2550000"/>
            <a:ext cx="2717923" cy="15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113769" y="2550000"/>
            <a:ext cx="2717923" cy="6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193769" y="2690000"/>
            <a:ext cx="380000" cy="380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193769" y="26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tantia"/>
              </a:rPr>
              <a:t>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653769" y="273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E8C8"/>
                </a:solidFill>
                <a:latin typeface="Constantia"/>
              </a:rPr>
              <a:t>DW-2026-19 Cellar Wild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653769" y="301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DAC4"/>
                </a:solidFill>
                <a:latin typeface="Constantia"/>
              </a:rPr>
              <a:t>Foeder pull early November, single night cellar release.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0000" y="4430000"/>
            <a:ext cx="2717923" cy="15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360000" y="4430000"/>
            <a:ext cx="2717923" cy="6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440000" y="4570000"/>
            <a:ext cx="380000" cy="380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440000" y="457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tantia"/>
              </a:rPr>
              <a:t>5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00000" y="461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E8C8"/>
                </a:solidFill>
                <a:latin typeface="Constantia"/>
              </a:rPr>
              <a:t>DW-2026-20 Czech Pilsner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00000" y="489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DAC4"/>
                </a:solidFill>
                <a:latin typeface="Constantia"/>
              </a:rPr>
              <a:t>Brew day Nov 24, long lager into early February.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3097923" y="5180000"/>
            <a:ext cx="160000" cy="0"/>
          </a:xfrm>
          <a:prstGeom prst="line">
            <a:avLst/>
          </a:prstGeom>
          <a:ln w="25400">
            <a:solidFill>
              <a:srgbClr val="D69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ectangle 255"/>
          <p:cNvSpPr/>
          <p:nvPr/>
        </p:nvSpPr>
        <p:spPr>
          <a:xfrm>
            <a:off x="3277923" y="4430000"/>
            <a:ext cx="2717923" cy="15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3277923" y="4430000"/>
            <a:ext cx="2717923" cy="6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3357923" y="4570000"/>
            <a:ext cx="380000" cy="380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3357923" y="457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tantia"/>
              </a:rPr>
              <a:t>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817923" y="461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E8C8"/>
                </a:solidFill>
                <a:latin typeface="Constantia"/>
              </a:rPr>
              <a:t>DW-2026-21 Belgian Dubbel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817923" y="489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DAC4"/>
                </a:solidFill>
                <a:latin typeface="Constantia"/>
              </a:rPr>
              <a:t>Brew day Dec 1, holiday week pour at the taproom.</a:t>
            </a:r>
          </a:p>
        </p:txBody>
      </p:sp>
      <p:cxnSp>
        <p:nvCxnSpPr>
          <p:cNvPr id="265" name="Connector 264"/>
          <p:cNvCxnSpPr/>
          <p:nvPr/>
        </p:nvCxnSpPr>
        <p:spPr>
          <a:xfrm>
            <a:off x="6015846" y="5180000"/>
            <a:ext cx="160000" cy="0"/>
          </a:xfrm>
          <a:prstGeom prst="line">
            <a:avLst/>
          </a:prstGeom>
          <a:ln w="25400">
            <a:solidFill>
              <a:srgbClr val="D69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Rectangle 265"/>
          <p:cNvSpPr/>
          <p:nvPr/>
        </p:nvSpPr>
        <p:spPr>
          <a:xfrm>
            <a:off x="6195846" y="4430000"/>
            <a:ext cx="2717923" cy="15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195846" y="4430000"/>
            <a:ext cx="2717923" cy="6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75846" y="4570000"/>
            <a:ext cx="380000" cy="380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275846" y="457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tantia"/>
              </a:rPr>
              <a:t>7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735846" y="461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E8C8"/>
                </a:solidFill>
                <a:latin typeface="Constantia"/>
              </a:rPr>
              <a:t>Cellar pours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6735846" y="489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DAC4"/>
                </a:solidFill>
                <a:latin typeface="Constantia"/>
              </a:rPr>
              <a:t>Every other Wednesday, tap-only single keg specials.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8933769" y="5180000"/>
            <a:ext cx="160000" cy="0"/>
          </a:xfrm>
          <a:prstGeom prst="line">
            <a:avLst/>
          </a:prstGeom>
          <a:ln w="25400">
            <a:solidFill>
              <a:srgbClr val="D69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Rectangle 275"/>
          <p:cNvSpPr/>
          <p:nvPr/>
        </p:nvSpPr>
        <p:spPr>
          <a:xfrm>
            <a:off x="9113769" y="4430000"/>
            <a:ext cx="2717923" cy="150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113769" y="4430000"/>
            <a:ext cx="2717923" cy="6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9193769" y="4570000"/>
            <a:ext cx="380000" cy="380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193769" y="457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tantia"/>
              </a:rPr>
              <a:t>8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653769" y="461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E8C8"/>
                </a:solidFill>
                <a:latin typeface="Constantia"/>
              </a:rPr>
              <a:t>Year end inventory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9653769" y="489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DAC4"/>
                </a:solidFill>
                <a:latin typeface="Constantia"/>
              </a:rPr>
              <a:t>Dec 30 inventory count, COGS true-up before year close.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Confidential, partners only. Stuart Myer and Jake Callahan.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4A274"/>
                </a:solidFill>
                <a:latin typeface="Constanti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0" nodeType="click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click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69E2E"/>
                </a:solidFill>
                <a:latin typeface="Constantia"/>
              </a:rPr>
              <a:t>Driftwood Brewing Company · Q4 2026 Partner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69E2E"/>
                </a:solidFill>
                <a:latin typeface="Constantia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Distribution mix, 8 accounts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2050000"/>
            <a:ext cx="11471695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7E8C8"/>
                </a:solidFill>
                <a:latin typeface="Constantia"/>
              </a:rPr>
              <a:t>Self distribution accounts, monthly case volume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60000" y="2550000"/>
            <a:ext cx="11471693" cy="3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40000" y="2630000"/>
            <a:ext cx="396981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tantia"/>
              </a:rPr>
              <a:t>Account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569810" y="263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tantia"/>
              </a:rPr>
              <a:t>Neighborhood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093582" y="263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tantia"/>
              </a:rPr>
              <a:t>Last order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617354" y="2630000"/>
            <a:ext cx="2134339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tantia"/>
              </a:rPr>
              <a:t>Cases / month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0000" y="2930000"/>
            <a:ext cx="11471693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40000" y="3010000"/>
            <a:ext cx="396981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Greenfield’s Deli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569810" y="301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SE Hawthorne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093582" y="301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Oct 02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617354" y="3010000"/>
            <a:ext cx="2134339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24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360000" y="3310000"/>
            <a:ext cx="11471693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40000" y="3390000"/>
            <a:ext cx="396981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The Knotty Pine Pub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569810" y="339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NE Fremont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093582" y="339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Oct 01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617354" y="3390000"/>
            <a:ext cx="2134339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18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60000" y="3690000"/>
            <a:ext cx="11471693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40000" y="3770000"/>
            <a:ext cx="396981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Rivergate Bottle Shop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569810" y="377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N Lombard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093582" y="377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Oct 03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617354" y="3770000"/>
            <a:ext cx="2134339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22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360000" y="4070000"/>
            <a:ext cx="11471693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40000" y="4150000"/>
            <a:ext cx="396981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Hollow Oak Kitchen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569810" y="415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SE Division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093582" y="415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Oct 04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617354" y="4150000"/>
            <a:ext cx="2134339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16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60000" y="4450000"/>
            <a:ext cx="11471693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40000" y="4530000"/>
            <a:ext cx="396981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Sellwood Public House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569810" y="453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SE 13th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093582" y="453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Sep 29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617354" y="4530000"/>
            <a:ext cx="2134339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14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360000" y="4830000"/>
            <a:ext cx="11471693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40000" y="4910000"/>
            <a:ext cx="396981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Eastside Tavern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569810" y="491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SE Grand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093582" y="491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Sep 25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617354" y="4910000"/>
            <a:ext cx="2134339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12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360000" y="5210000"/>
            <a:ext cx="11471693" cy="38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40000" y="5290000"/>
            <a:ext cx="396981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Vivian Wine and Beer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569810" y="529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NW 23rd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093582" y="529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Sep 28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617354" y="5290000"/>
            <a:ext cx="2134339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8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60000" y="5590000"/>
            <a:ext cx="11471693" cy="380000"/>
          </a:xfrm>
          <a:prstGeom prst="rect">
            <a:avLst/>
          </a:prstGeom>
          <a:solidFill>
            <a:srgbClr val="3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440000" y="5670000"/>
            <a:ext cx="396981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DAC4"/>
                </a:solidFill>
                <a:latin typeface="Constantia"/>
              </a:rPr>
              <a:t>Cardinal Bar and Grill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569810" y="567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SE Foster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093582" y="567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Sep 27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617354" y="5670000"/>
            <a:ext cx="2134339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E8DAC4"/>
                </a:solidFill>
                <a:latin typeface="Constantia"/>
              </a:rPr>
              <a:t>10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360000" y="6500000"/>
            <a:ext cx="11471695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4A274"/>
                </a:solidFill>
                <a:latin typeface="Constantia"/>
              </a:rPr>
              <a:t>Total monthly case volume 124. Eastside Tavern is the slowest mover.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Confidential, partners only. Stuart Myer and Jake Callahan.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4A274"/>
                </a:solidFill>
                <a:latin typeface="Constanti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69E2E"/>
                </a:solidFill>
                <a:latin typeface="Constantia"/>
              </a:rPr>
              <a:t>Driftwood Brewing Company · Q4 2026 Partner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69E2E"/>
                </a:solidFill>
                <a:latin typeface="Constantia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E8C8"/>
                </a:solidFill>
                <a:latin typeface="Constantia"/>
              </a:rPr>
              <a:t>Decisions to make this quarter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2200000"/>
            <a:ext cx="5595847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7E8C8"/>
                </a:solidFill>
                <a:latin typeface="Constantia"/>
              </a:rPr>
              <a:t>Commercial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60000" y="2730000"/>
            <a:ext cx="80000" cy="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00000" y="264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DAC4"/>
                </a:solidFill>
                <a:latin typeface="Constantia"/>
              </a:rPr>
              <a:t>Confirm 2027 Pacific Malt rates before Q1 brewing window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360000" y="3150000"/>
            <a:ext cx="80000" cy="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00000" y="306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DAC4"/>
                </a:solidFill>
                <a:latin typeface="Constantia"/>
              </a:rPr>
              <a:t>Negotiate Crosby Hops alpha acid contract for 2027 crop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0000" y="3570000"/>
            <a:ext cx="80000" cy="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500000" y="348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DAC4"/>
                </a:solidFill>
                <a:latin typeface="Constantia"/>
              </a:rPr>
              <a:t>Decide whether to expand distribution beyond eight accounts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60000" y="3990000"/>
            <a:ext cx="80000" cy="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500000" y="390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DAC4"/>
                </a:solidFill>
                <a:latin typeface="Constantia"/>
              </a:rPr>
              <a:t>Approve 2026 partner distribution split before tax filing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235847" y="2200000"/>
            <a:ext cx="5595847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7E8C8"/>
                </a:solidFill>
                <a:latin typeface="Constantia"/>
              </a:rPr>
              <a:t>Operations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235847" y="2730000"/>
            <a:ext cx="80000" cy="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375847" y="264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DAC4"/>
                </a:solidFill>
                <a:latin typeface="Constantia"/>
              </a:rPr>
              <a:t>Lock 2027 festival lineup, Pacific Craft, Anniversary, Spring fest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235847" y="3150000"/>
            <a:ext cx="80000" cy="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375847" y="306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DAC4"/>
                </a:solidFill>
                <a:latin typeface="Constantia"/>
              </a:rPr>
              <a:t>Decide on Munich Dunkel as a permanent regular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235847" y="3570000"/>
            <a:ext cx="80000" cy="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375847" y="348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DAC4"/>
                </a:solidFill>
                <a:latin typeface="Constantia"/>
              </a:rPr>
              <a:t>Q1 brewer salary review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6235847" y="3990000"/>
            <a:ext cx="80000" cy="8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375847" y="390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DAC4"/>
                </a:solidFill>
                <a:latin typeface="Constantia"/>
              </a:rPr>
              <a:t>Plan packaging line upgrade or defer to 2028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2B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A274"/>
                </a:solidFill>
                <a:latin typeface="Constantia"/>
              </a:rPr>
              <a:t>Confidential, partners only. Stuart Myer and Jake Callahan.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4A274"/>
                </a:solidFill>
                <a:latin typeface="Constanti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