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Goal</c:v>
                </c:pt>
              </c:strCache>
            </c:strRef>
          </c:tx>
          <c:spPr>
            <a:solidFill>
              <a:srgbClr val="A03540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Booking change</c:v>
                </c:pt>
                <c:pt idx="1">
                  <c:v>Restaurant</c:v>
                </c:pt>
                <c:pt idx="2">
                  <c:v>Transport</c:v>
                </c:pt>
                <c:pt idx="3">
                  <c:v>In-room maintenance</c:v>
                </c:pt>
                <c:pt idx="4">
                  <c:v>Lost item</c:v>
                </c:pt>
                <c:pt idx="5">
                  <c:v>Billing dispute</c:v>
                </c:pt>
                <c:pt idx="6">
                  <c:v>Recommendation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12</c:v>
                </c:pt>
                <c:pt idx="4">
                  <c:v>18</c:v>
                </c:pt>
                <c:pt idx="5">
                  <c:v>10</c:v>
                </c:pt>
                <c:pt idx="6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2026</c:v>
                </c:pt>
              </c:strCache>
            </c:strRef>
          </c:tx>
          <c:spPr>
            <a:solidFill>
              <a:srgbClr val="C7A15A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Booking change</c:v>
                </c:pt>
                <c:pt idx="1">
                  <c:v>Restaurant</c:v>
                </c:pt>
                <c:pt idx="2">
                  <c:v>Transport</c:v>
                </c:pt>
                <c:pt idx="3">
                  <c:v>In-room maintenance</c:v>
                </c:pt>
                <c:pt idx="4">
                  <c:v>Lost item</c:v>
                </c:pt>
                <c:pt idx="5">
                  <c:v>Billing dispute</c:v>
                </c:pt>
                <c:pt idx="6">
                  <c:v>Recommendation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9</c:v>
                </c:pt>
                <c:pt idx="4">
                  <c:v>14</c:v>
                </c:pt>
                <c:pt idx="5">
                  <c:v>7</c:v>
                </c:pt>
                <c:pt idx="6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3540"/>
                </a:solidFill>
                <a:latin typeface="Georgia"/>
              </a:rPr>
              <a:t>THE HAWTHORNE GRAND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2A221C"/>
                </a:solidFill>
                <a:latin typeface="Georgia"/>
              </a:rPr>
              <a:t>Concierge Service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5594E"/>
                </a:solidFill>
                <a:latin typeface="Georgia"/>
              </a:rPr>
              <a:t>Onboarding deck for new front-of-house staff.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03320"/>
            <a:ext cx="3657600" cy="36576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2A"/>
                </a:solidFill>
                <a:latin typeface="Georgia"/>
              </a:rPr>
              <a:t>Prepared by Y. Quinn, lead afternoon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5594E"/>
                </a:solidFill>
                <a:latin typeface="Georgia"/>
              </a:rPr>
              <a:t>Reviewed by A. Marsh, front office manager  |  Edition 4, autumn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5594E"/>
                </a:solidFill>
                <a:latin typeface="Calibri"/>
              </a:rPr>
              <a:t>Hawthorne Grand Concierge  |  Onboarding, ed.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594E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A15A"/>
                </a:solidFill>
                <a:latin typeface="Georgia"/>
              </a:rPr>
              <a:t>01 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A221C"/>
                </a:solidFill>
                <a:latin typeface="Georgia"/>
              </a:rPr>
              <a:t>Four principles, in priority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035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54864" cy="2331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399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7A15A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39111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B1F2A"/>
                </a:solidFill>
                <a:latin typeface="Georgia"/>
              </a:rPr>
              <a:t>Recognize the guest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59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A221C"/>
                </a:solidFill>
                <a:latin typeface="Georgia"/>
              </a:rPr>
              <a:t>Every interaction starts by reading the guest before reading the request. Name, mood, time pressure, language. The desk that opens with recognition fixes most problems before they begin.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74519"/>
            <a:ext cx="53035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4864" cy="2331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399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7A15A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039111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B1F2A"/>
                </a:solidFill>
                <a:latin typeface="Georgia"/>
              </a:rPr>
              <a:t>Own the outcome end-to-end.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51759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A221C"/>
                </a:solidFill>
                <a:latin typeface="Georgia"/>
              </a:rPr>
              <a:t>Whoever picks up the request keeps it until the guest confirms it is done. Hand-offs to housekeeping, bell or engineering are tracked, never assumed.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53035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4864" cy="2331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7A15A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079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B1F2A"/>
                </a:solidFill>
                <a:latin typeface="Georgia"/>
              </a:rPr>
              <a:t>Quote facts you have verified.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A221C"/>
                </a:solidFill>
                <a:latin typeface="Georgia"/>
              </a:rPr>
              <a:t>If you have not personally checked a room status, a vendor opening time, or a charge on a folio in the last hour, say 'let me confirm' before answering.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343400"/>
            <a:ext cx="53035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343400"/>
            <a:ext cx="54864" cy="2331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5262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7A15A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5079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B1F2A"/>
                </a:solidFill>
                <a:latin typeface="Georgia"/>
              </a:rPr>
              <a:t>Recover, then document.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206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A221C"/>
                </a:solidFill>
                <a:latin typeface="Georgia"/>
              </a:rPr>
              <a:t>Service recovery happens at the desk in real time. The write-up comes after, never before. A guest watching you type does not feel served.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5594E"/>
                </a:solidFill>
                <a:latin typeface="Calibri"/>
              </a:rPr>
              <a:t>Hawthorne Grand Concierge  |  Onboarding, ed.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594E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A15A"/>
                </a:solidFill>
                <a:latin typeface="Georgia"/>
              </a:rPr>
              <a:t>02 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A221C"/>
                </a:solidFill>
                <a:latin typeface="Georgia"/>
              </a:rPr>
              <a:t>Five rungs. Climb in order, never skip.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7B1F2A"/>
          </a:solidFill>
          <a:ln>
            <a:solidFill>
              <a:srgbClr val="C7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7A15A"/>
                </a:solidFill>
                <a:latin typeface="Georgia"/>
              </a:rPr>
              <a:t>Rung 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11680" y="1984248"/>
            <a:ext cx="548640" cy="292608"/>
          </a:xfrm>
          <a:prstGeom prst="rightArrow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97480" y="1783080"/>
            <a:ext cx="8961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84708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2A"/>
                </a:solidFill>
                <a:latin typeface="Georgia"/>
              </a:rPr>
              <a:t>Desk attempt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14884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21C"/>
                </a:solidFill>
                <a:latin typeface="Georgia"/>
              </a:rPr>
              <a:t>You, with on-floor authority up to a $200 credit.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7B1F2A"/>
          </a:solidFill>
          <a:ln>
            <a:solidFill>
              <a:srgbClr val="C7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7A15A"/>
                </a:solidFill>
                <a:latin typeface="Georgia"/>
              </a:rPr>
              <a:t>Rung 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852928"/>
            <a:ext cx="548640" cy="292608"/>
          </a:xfrm>
          <a:prstGeom prst="rightArrow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7480" y="2651760"/>
            <a:ext cx="8961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7157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2A"/>
                </a:solidFill>
                <a:latin typeface="Georgia"/>
              </a:rPr>
              <a:t>Shift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01752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21C"/>
                </a:solidFill>
                <a:latin typeface="Georgia"/>
              </a:rPr>
              <a:t>Lead concierge or duty manager on rotation. Pass with one-line summary.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7B1F2A"/>
          </a:solidFill>
          <a:ln>
            <a:solidFill>
              <a:srgbClr val="C7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39311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7A15A"/>
                </a:solidFill>
                <a:latin typeface="Georgia"/>
              </a:rPr>
              <a:t>Rung 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011680" y="3721607"/>
            <a:ext cx="548640" cy="292608"/>
          </a:xfrm>
          <a:prstGeom prst="rightArrow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3520439"/>
            <a:ext cx="8961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58444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2A"/>
                </a:solidFill>
                <a:latin typeface="Georgia"/>
              </a:rPr>
              <a:t>Front office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88619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21C"/>
                </a:solidFill>
                <a:latin typeface="Georgia"/>
              </a:rPr>
              <a:t>Andrea Marsh. Reach via Hotel app, ext 412, mobile last.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7B1F2A"/>
          </a:solidFill>
          <a:ln>
            <a:solidFill>
              <a:srgbClr val="C7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7A15A"/>
                </a:solidFill>
                <a:latin typeface="Georgia"/>
              </a:rPr>
              <a:t>Rung 4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011680" y="4590288"/>
            <a:ext cx="548640" cy="292608"/>
          </a:xfrm>
          <a:prstGeom prst="rightArrow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97480" y="4389120"/>
            <a:ext cx="8961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44531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2A"/>
                </a:solidFill>
                <a:latin typeface="Georgia"/>
              </a:rPr>
              <a:t>GM on duty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75488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21C"/>
                </a:solidFill>
                <a:latin typeface="Georgia"/>
              </a:rPr>
              <a:t>Only after rung 3 has been attempted or the issue is safety / legal.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5780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7B1F2A"/>
          </a:solidFill>
          <a:ln>
            <a:solidFill>
              <a:srgbClr val="C7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7A15A"/>
                </a:solidFill>
                <a:latin typeface="Georgia"/>
              </a:rPr>
              <a:t>Rung 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011680" y="5458968"/>
            <a:ext cx="548640" cy="292608"/>
          </a:xfrm>
          <a:prstGeom prst="rightArrow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697480" y="5257800"/>
            <a:ext cx="8961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53218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2A"/>
                </a:solidFill>
                <a:latin typeface="Georgia"/>
              </a:rPr>
              <a:t>Brand standards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62356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21C"/>
                </a:solidFill>
                <a:latin typeface="Georgia"/>
              </a:rPr>
              <a:t>Corporate guest relations, post-stay only, with full paper trail.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5594E"/>
                </a:solidFill>
                <a:latin typeface="Calibri"/>
              </a:rPr>
              <a:t>Hawthorne Grand Concierge  |  Onboarding, ed.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594E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A15A"/>
                </a:solidFill>
                <a:latin typeface="Georgia"/>
              </a:rPr>
              <a:t>03 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A221C"/>
                </a:solidFill>
                <a:latin typeface="Georgia"/>
              </a:rPr>
              <a:t>Eight items, every single shift.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109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467360">
                <a:tc>
                  <a:txBody>
                    <a:bodyPr lIns="73152"/>
                    <a:lstStyle/>
                    <a:p>
                      <a:r>
                        <a:rPr sz="1100" b="1">
                          <a:solidFill>
                            <a:srgbClr val="C7A15A"/>
                          </a:solidFill>
                          <a:latin typeface="Georgia"/>
                        </a:rPr>
                        <a:t>#</a:t>
                      </a:r>
                    </a:p>
                  </a:txBody>
                  <a:tcPr>
                    <a:solidFill>
                      <a:srgbClr val="7B1F2A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 b="1">
                          <a:solidFill>
                            <a:srgbClr val="C7A15A"/>
                          </a:solidFill>
                          <a:latin typeface="Georgia"/>
                        </a:rPr>
                        <a:t>Item</a:t>
                      </a:r>
                    </a:p>
                  </a:txBody>
                  <a:tcPr>
                    <a:solidFill>
                      <a:srgbClr val="7B1F2A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 b="1">
                          <a:solidFill>
                            <a:srgbClr val="C7A15A"/>
                          </a:solidFill>
                          <a:latin typeface="Georgia"/>
                        </a:rPr>
                        <a:t>Where</a:t>
                      </a:r>
                    </a:p>
                  </a:txBody>
                  <a:tcPr>
                    <a:solidFill>
                      <a:srgbClr val="7B1F2A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 b="1">
                          <a:solidFill>
                            <a:srgbClr val="C7A15A"/>
                          </a:solidFill>
                          <a:latin typeface="Georgia"/>
                        </a:rPr>
                        <a:t>Who confirms</a:t>
                      </a:r>
                    </a:p>
                  </a:txBody>
                  <a:tcPr>
                    <a:solidFill>
                      <a:srgbClr val="7B1F2A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 b="1">
                          <a:solidFill>
                            <a:srgbClr val="C7A15A"/>
                          </a:solidFill>
                          <a:latin typeface="Georgia"/>
                        </a:rPr>
                        <a:t>Notes</a:t>
                      </a:r>
                    </a:p>
                  </a:txBody>
                  <a:tcPr>
                    <a:solidFill>
                      <a:srgbClr val="7B1F2A"/>
                    </a:solidFill>
                  </a:tcPr>
                </a:tc>
              </a:tr>
              <a:tr h="467360"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VIP arrivals roster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Opera PMS, VIP tab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Outgoing concierge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Read aloud, not just shared.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2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Open guest issues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GoldenIQ ticket queue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Outgoing lead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Each ticket needs an owner before handoff ends.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</a:tr>
              <a:tr h="467360"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Vendor expected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Front desk diary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Bell captain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Florist, courier, equipment drops.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4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Comp authority remaining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Manager sheet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Front office manager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Refresh authority at start of each shift.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</a:tr>
              <a:tr h="467360"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Cash float / safe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Safe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Two-person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Discrepancy over $5 escalates immediately.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6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Group movements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Event board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Banquet liaison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Confirm coach arrivals / departures.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</a:tr>
              <a:tr h="467360"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Engineering open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Engineering radio +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Engineering on duty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Especially elevator and HVAC.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8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Weather / road status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ODOT, weather app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Outgoing concierge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100">
                          <a:solidFill>
                            <a:srgbClr val="2A221C"/>
                          </a:solidFill>
                          <a:latin typeface="Georgia"/>
                        </a:rPr>
                        <a:t>Drives airport ETA quotes.</a:t>
                      </a:r>
                    </a:p>
                  </a:txBody>
                  <a:tcPr>
                    <a:solidFill>
                      <a:srgbClr val="F1E8D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09960" cy="411480"/>
          </a:xfrm>
          <a:prstGeom prst="roundRect">
            <a:avLst>
              <a:gd name="adj" fmla="val 12000"/>
            </a:avLst>
          </a:prstGeom>
          <a:solidFill>
            <a:srgbClr val="A03540"/>
          </a:solidFill>
          <a:ln>
            <a:solidFill>
              <a:srgbClr val="C7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539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F6EC"/>
                </a:solidFill>
                <a:latin typeface="Georgia"/>
              </a:rPr>
              <a:t>Handoff is a conversation, not an email. Two minutes face to face beats a paragraph in chat.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5594E"/>
                </a:solidFill>
                <a:latin typeface="Calibri"/>
              </a:rPr>
              <a:t>Hawthorne Grand Concierge  |  Onboarding, ed.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594E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A15A"/>
                </a:solidFill>
                <a:latin typeface="Georgia"/>
              </a:rPr>
              <a:t>04  VIP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A221C"/>
                </a:solidFill>
                <a:latin typeface="Georgia"/>
              </a:rPr>
              <a:t>Average minutes to resolution, by category, last 12 months.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83080"/>
          <a:ext cx="7589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783080"/>
            <a:ext cx="324612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920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B1F2A"/>
                </a:solidFill>
                <a:latin typeface="Georgia"/>
              </a:rPr>
              <a:t>READ IT THIS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286000"/>
            <a:ext cx="29260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Across all categories the desk is meeting or beating goal.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The slowest category is 'lost item' (14 min vs 18 goal).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Slowest single ticket in October was a billing dispute on a group folio - 38 min, escalated to rung 3.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Watch for 'booking change' creep in December - holiday volume historically pushes this up 1 to 2 min.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5594E"/>
                </a:solidFill>
                <a:latin typeface="Calibri"/>
              </a:rPr>
              <a:t>Hawthorne Grand Concierge  |  Onboarding, ed.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594E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A15A"/>
                </a:solidFill>
                <a:latin typeface="Georgia"/>
              </a:rPr>
              <a:t>05 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A221C"/>
                </a:solidFill>
                <a:latin typeface="Georgia"/>
              </a:rPr>
              <a:t>What lives on the desk.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45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1F2A"/>
                </a:solidFill>
                <a:latin typeface="Georgia"/>
              </a:rPr>
              <a:t>Opera PMS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A15A"/>
                </a:solidFill>
                <a:latin typeface="Georgia"/>
              </a:rPr>
              <a:t>Property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Reservation lookup, folio, comp authority, VIP flag.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520440" cy="45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1F2A"/>
                </a:solidFill>
                <a:latin typeface="Georgia"/>
              </a:rPr>
              <a:t>GoldenIQ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A15A"/>
                </a:solidFill>
                <a:latin typeface="Georgia"/>
              </a:rPr>
              <a:t>Guest issue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Every open ticket has an owner, a deadline and a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3520440" cy="45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1F2A"/>
                </a:solidFill>
                <a:latin typeface="Georgia"/>
              </a:rPr>
              <a:t>Microsoft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3774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A15A"/>
                </a:solidFill>
                <a:latin typeface="Georgia"/>
              </a:rPr>
              <a:t>Internal voice /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74320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Bell, housekeeping, engineering, F&amp;B. Walkie group on channel 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3520440" cy="45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1F2A"/>
                </a:solidFill>
                <a:latin typeface="Georgia"/>
              </a:rPr>
              <a:t>Hawthorne Hotel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54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A15A"/>
                </a:solidFill>
                <a:latin typeface="Georgia"/>
              </a:rPr>
              <a:t>Brand standards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Brand voice, comp matrix, escalation phone tree.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20624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4206240"/>
            <a:ext cx="3520440" cy="45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1F2A"/>
                </a:solidFill>
                <a:latin typeface="Georgia"/>
              </a:rPr>
              <a:t>Front desk diary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754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A15A"/>
                </a:solidFill>
                <a:latin typeface="Georgia"/>
              </a:rPr>
              <a:t>Paper, intentional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1206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Vendor arrivals, courier drops, walk-ins. Two-pen rule.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20624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0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4206240"/>
            <a:ext cx="3520440" cy="4572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1F2A"/>
                </a:solidFill>
                <a:latin typeface="Georgia"/>
              </a:rPr>
              <a:t>Outlook (yves.quinn@voissync.ai)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754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A15A"/>
                </a:solidFill>
                <a:latin typeface="Georgia"/>
              </a:rPr>
              <a:t>Workspace email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51206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A221C"/>
                </a:solidFill>
                <a:latin typeface="Georgia"/>
              </a:rPr>
              <a:t>Long-form internal, vendor confirmations, post-stay follow-up.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7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5594E"/>
                </a:solidFill>
                <a:latin typeface="Calibri"/>
              </a:rPr>
              <a:t>Hawthorne Grand Concierge  |  Onboarding, ed.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5594E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73152" cy="1280160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7A15A"/>
                </a:solidFill>
                <a:latin typeface="Georgia"/>
              </a:rPr>
              <a:t>QUESTIONS, FEEDBACK,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BF6EC"/>
                </a:solidFill>
                <a:latin typeface="Georgia"/>
              </a:rPr>
              <a:t>Thank you. Now ask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1E8D0"/>
                </a:solidFill>
                <a:latin typeface="Georgia"/>
              </a:rPr>
              <a:t>If the answer is 'I do not know yet,' that is an acceptable answer here. Bring it to the next shift huddle.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37760"/>
            <a:ext cx="11109960" cy="1371600"/>
          </a:xfrm>
          <a:prstGeom prst="roundRect">
            <a:avLst>
              <a:gd name="adj" fmla="val 12000"/>
            </a:avLst>
          </a:prstGeom>
          <a:solidFill>
            <a:srgbClr val="A03540"/>
          </a:solidFill>
          <a:ln>
            <a:solidFill>
              <a:srgbClr val="C7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A15A"/>
                </a:solidFill>
                <a:latin typeface="Georgia"/>
              </a:rPr>
              <a:t>FOLLOW-UP CONTACTS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BF6EC"/>
                </a:solidFill>
                <a:latin typeface="Georgia"/>
              </a:rPr>
              <a:t>Y. Quinn (lead afternoon) - yves.quinn@voissync.ai - (503) 555-0192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FBF6EC"/>
                </a:solidFill>
                <a:latin typeface="Georgia"/>
              </a:rPr>
              <a:t>A. Marsh (FOM) - andrea.marsh@gmail.com - extension 412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C7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1E8D0"/>
                </a:solidFill>
                <a:latin typeface="Calibri"/>
              </a:rPr>
              <a:t>Hawthorne Grand Concierge  |  Onboarding, ed.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1E8D0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