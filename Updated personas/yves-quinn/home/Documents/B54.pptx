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</c:v>
                </c:pt>
              </c:strCache>
            </c:strRef>
          </c:tx>
          <c:spPr>
            <a:solidFill>
              <a:srgbClr val="C89B3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H1 2024</c:v>
                </c:pt>
                <c:pt idx="1">
                  <c:v>H2 2024</c:v>
                </c:pt>
                <c:pt idx="2">
                  <c:v>H1 2025</c:v>
                </c:pt>
                <c:pt idx="3">
                  <c:v>H2 2025</c:v>
                </c:pt>
                <c:pt idx="4">
                  <c:v>H1 2026</c:v>
                </c:pt>
                <c:pt idx="5">
                  <c:v>H2 2026 (proj)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</c:v>
                </c:pt>
                <c:pt idx="1">
                  <c:v>11.6</c:v>
                </c:pt>
                <c:pt idx="2">
                  <c:v>16.5</c:v>
                </c:pt>
                <c:pt idx="3">
                  <c:v>21.5</c:v>
                </c:pt>
                <c:pt idx="4">
                  <c:v>27.4</c:v>
                </c:pt>
                <c:pt idx="5">
                  <c:v>33.6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after costs</c:v>
                </c:pt>
              </c:strCache>
            </c:strRef>
          </c:tx>
          <c:spPr>
            <a:solidFill>
              <a:srgbClr val="1A2E4A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H1 2024</c:v>
                </c:pt>
                <c:pt idx="1">
                  <c:v>H2 2024</c:v>
                </c:pt>
                <c:pt idx="2">
                  <c:v>H1 2025</c:v>
                </c:pt>
                <c:pt idx="3">
                  <c:v>H2 2025</c:v>
                </c:pt>
                <c:pt idx="4">
                  <c:v>H1 2026</c:v>
                </c:pt>
                <c:pt idx="5">
                  <c:v>H2 2026 (proj)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</c:v>
                </c:pt>
                <c:pt idx="1">
                  <c:v>6.6</c:v>
                </c:pt>
                <c:pt idx="2">
                  <c:v>9.6</c:v>
                </c:pt>
                <c:pt idx="3">
                  <c:v>12.4</c:v>
                </c:pt>
                <c:pt idx="4">
                  <c:v>16.0</c:v>
                </c:pt>
                <c:pt idx="5">
                  <c:v>19.2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spPr>
              <a:solidFill>
                <a:srgbClr val="C89B3C"/>
              </a:solidFill>
              <a:ln w="19050">
                <a:solidFill>
                  <a:srgbClr val="F6EFDD"/>
                </a:solidFill>
              </a:ln>
            </c:spPr>
          </c:dPt>
          <c:dPt>
            <c:idx val="1"/>
            <c:spPr>
              <a:solidFill>
                <a:srgbClr val="1A2E4A"/>
              </a:solidFill>
              <a:ln w="19050">
                <a:solidFill>
                  <a:srgbClr val="F6EFDD"/>
                </a:solidFill>
              </a:ln>
            </c:spPr>
          </c:dPt>
          <c:dPt>
            <c:idx val="2"/>
            <c:spPr>
              <a:solidFill>
                <a:srgbClr val="B04A2C"/>
              </a:solidFill>
              <a:ln w="19050">
                <a:solidFill>
                  <a:srgbClr val="F6EFDD"/>
                </a:solidFill>
              </a:ln>
            </c:spPr>
          </c:dPt>
          <c:dPt>
            <c:idx val="3"/>
            <c:spPr>
              <a:solidFill>
                <a:srgbClr val="3E6F55"/>
              </a:solidFill>
              <a:ln w="19050">
                <a:solidFill>
                  <a:srgbClr val="F6EFDD"/>
                </a:solidFill>
              </a:ln>
            </c:spPr>
          </c:dPt>
          <c:dPt>
            <c:idx val="4"/>
            <c:spPr>
              <a:solidFill>
                <a:srgbClr val="A9B6C8"/>
              </a:solidFill>
              <a:ln w="19050">
                <a:solidFill>
                  <a:srgbClr val="F6EFDD"/>
                </a:solidFill>
              </a:ln>
            </c:spPr>
          </c:dPt>
          <c:dPt>
            <c:idx val="5"/>
            <c:spPr>
              <a:solidFill>
                <a:srgbClr val="80704A"/>
              </a:solidFill>
              <a:ln w="19050">
                <a:solidFill>
                  <a:srgbClr val="F6EFDD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Truck build &amp; fit-out</c:v>
                </c:pt>
                <c:pt idx="1">
                  <c:v>Equipment (reefer, fryer, POS)</c:v>
                </c:pt>
                <c:pt idx="2">
                  <c:v>Permits &amp; insurance</c:v>
                </c:pt>
                <c:pt idx="3">
                  <c:v>Branding &amp; wrap</c:v>
                </c:pt>
                <c:pt idx="4">
                  <c:v>Working capital (90 days)</c:v>
                </c:pt>
                <c:pt idx="5">
                  <c:v>Contingency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32000</c:v>
                </c:pt>
                <c:pt idx="1">
                  <c:v>9000</c:v>
                </c:pt>
                <c:pt idx="2">
                  <c:v>4500</c:v>
                </c:pt>
                <c:pt idx="3">
                  <c:v>3500</c:v>
                </c:pt>
                <c:pt idx="4">
                  <c:v>6000</c:v>
                </c:pt>
                <c:pt idx="5">
                  <c:v>3000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73152" cy="12801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9B3C"/>
                </a:solidFill>
                <a:latin typeface="Calibri"/>
              </a:rPr>
              <a:t>CUISINE DU NORD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6EFDD"/>
                </a:solidFill>
                <a:latin typeface="Calibri"/>
              </a:rPr>
              <a:t>Funding the next kitchen.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9B6C8"/>
                </a:solidFill>
                <a:latin typeface="Calibri"/>
              </a:rPr>
              <a:t>SBA 7(a) loan request, food-truck expansion 2027.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937760"/>
            <a:ext cx="3657600" cy="1280160"/>
          </a:xfrm>
          <a:prstGeom prst="roundRect">
            <a:avLst>
              <a:gd name="adj" fmla="val 12000"/>
            </a:avLst>
          </a:prstGeom>
          <a:solidFill>
            <a:srgbClr val="1A2E4A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5074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6C8"/>
                </a:solidFill>
                <a:latin typeface="Calibri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53492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EFDD"/>
                </a:solidFill>
                <a:latin typeface="Calibri"/>
              </a:rPr>
              <a:t>Yves Quinn, owner-operator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5715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9B6C8"/>
                </a:solidFill>
                <a:latin typeface="Calibri"/>
              </a:rPr>
              <a:t>Beaverton, OR  |  November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6C8"/>
                </a:solidFill>
                <a:latin typeface="Calibri"/>
              </a:rPr>
              <a:t>Cuisine du Nord  |  SBA 7(a) request, November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A9B6C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B3C"/>
                </a:solidFill>
                <a:latin typeface="Calibri"/>
              </a:rPr>
              <a:t>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F33"/>
                </a:solidFill>
                <a:latin typeface="Calibri"/>
              </a:rPr>
              <a:t>A demand wall the home kitchen cannot serve.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E4A"/>
                </a:solidFill>
                <a:latin typeface="Calibri"/>
              </a:rPr>
              <a:t>Portland metro Quebecois catering, 2024 to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1F33"/>
                </a:solidFill>
                <a:latin typeface="Calibri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9B3C"/>
                </a:solidFill>
                <a:latin typeface="Calibri"/>
              </a:rPr>
              <a:t>bookings in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Up from 22 in 2024. Repeat rate 96 percent.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1F33"/>
                </a:solidFill>
                <a:latin typeface="Calibri"/>
              </a:rPr>
              <a:t>$38k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9B3C"/>
                </a:solidFill>
                <a:latin typeface="Calibri"/>
              </a:rPr>
              <a:t>gross revenue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290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Net $22k after food cost and 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2402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1F33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9B3C"/>
                </a:solidFill>
                <a:latin typeface="Calibri"/>
              </a:rPr>
              <a:t>inquiries turned 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4290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Volume the home kitchen could not safely handle in 2026 to 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11109960" cy="1554480"/>
          </a:xfrm>
          <a:prstGeom prst="roundRect">
            <a:avLst>
              <a:gd name="adj" fmla="val 12000"/>
            </a:avLst>
          </a:prstGeom>
          <a:solidFill>
            <a:srgbClr val="0F1F33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B3C"/>
                </a:solidFill>
                <a:latin typeface="Calibri"/>
              </a:rPr>
              <a:t>THE BOTTLENECK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EFDD"/>
                </a:solidFill>
                <a:latin typeface="Calibri"/>
              </a:rPr>
              <a:t>The Oregon Domestic Kitchen license caps batch output. Anything over 60 covers needs commercial space and a delivery shape we do not own.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EFDD"/>
                </a:solidFill>
                <a:latin typeface="Calibri"/>
              </a:rPr>
              <a:t>A licensed food truck unlocks 80 to 200 cover events and a recurring lunch route on weekdays around Beaverton, Tigard and Hillsboro.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2E4A"/>
                </a:solidFill>
                <a:latin typeface="Calibri"/>
              </a:rPr>
              <a:t>Cuisine du Nord  |  SBA 7(a) request, November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A2E4A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B3C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Calibri"/>
              </a:rPr>
              <a:t>Three years of steady, mostly-organic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E4A"/>
                </a:solidFill>
                <a:latin typeface="Calibri"/>
              </a:rPr>
              <a:t>Gross revenue by half-year, in USD thousands.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28800"/>
          <a:ext cx="80467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869680" y="1828800"/>
            <a:ext cx="2788920" cy="4206240"/>
          </a:xfrm>
          <a:prstGeom prst="roundRect">
            <a:avLst>
              <a:gd name="adj" fmla="val 12000"/>
            </a:avLst>
          </a:prstGeom>
          <a:solidFill>
            <a:srgbClr val="0F1F33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WHAT THE CURVE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331720"/>
            <a:ext cx="2468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6EFDD"/>
                </a:solidFill>
                <a:latin typeface="Calibri"/>
              </a:rPr>
              <a:t>CAGR 84 percent on gross over the period shown.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F6EFDD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F6EFDD"/>
                </a:solidFill>
                <a:latin typeface="Calibri"/>
              </a:rPr>
              <a:t>Net margin held 56 to 58 percent across all six halves; pricing and food cost are stable.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F6EFDD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F6EFDD"/>
                </a:solidFill>
                <a:latin typeface="Calibri"/>
              </a:rPr>
              <a:t>H2 2026 projection assumes no food truck. With the truck, H1 2027 baseline is $48k to $54k.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2E4A"/>
                </a:solidFill>
                <a:latin typeface="Calibri"/>
              </a:rPr>
              <a:t>Cuisine du Nord  |  SBA 7(a) request, November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A2E4A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B3C"/>
                </a:solidFill>
                <a:latin typeface="Calibr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Calibri"/>
              </a:rPr>
              <a:t>What one cover earns, before and after the truck.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109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411480"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C89B3C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>
                    <a:solidFill>
                      <a:srgbClr val="0F1F33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C89B3C"/>
                          </a:solidFill>
                          <a:latin typeface="Calibri"/>
                        </a:rPr>
                        <a:t>Classic (home)</a:t>
                      </a:r>
                    </a:p>
                  </a:txBody>
                  <a:tcPr>
                    <a:solidFill>
                      <a:srgbClr val="0F1F33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C89B3C"/>
                          </a:solidFill>
                          <a:latin typeface="Calibri"/>
                        </a:rPr>
                        <a:t>Premium (home)</a:t>
                      </a:r>
                    </a:p>
                  </a:txBody>
                  <a:tcPr>
                    <a:solidFill>
                      <a:srgbClr val="0F1F33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C89B3C"/>
                          </a:solidFill>
                          <a:latin typeface="Calibri"/>
                        </a:rPr>
                        <a:t>Truck (route lunch)</a:t>
                      </a:r>
                    </a:p>
                  </a:txBody>
                  <a:tcPr>
                    <a:solidFill>
                      <a:srgbClr val="0F1F33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C89B3C"/>
                          </a:solidFill>
                          <a:latin typeface="Calibri"/>
                        </a:rPr>
                        <a:t>Truck (event)</a:t>
                      </a:r>
                    </a:p>
                  </a:txBody>
                  <a:tcPr>
                    <a:solidFill>
                      <a:srgbClr val="0F1F33"/>
                    </a:solidFill>
                  </a:tcPr>
                </a:tc>
              </a:tr>
              <a:tr h="41148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Sell price per cover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Food cost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$5.85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$7.70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$5.46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$8.40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</a:tr>
              <a:tr h="41148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Packaging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Labor allocation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$2.40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$3.30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$1.80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$3.10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</a:tr>
              <a:tr h="41148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Kitchen / fuel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Contribution per cover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$5.20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$8.95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$4.94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$10.25</a:t>
                      </a:r>
                    </a:p>
                  </a:txBody>
                  <a:tcPr>
                    <a:solidFill>
                      <a:srgbClr val="EFE7D2"/>
                    </a:solidFill>
                  </a:tcPr>
                </a:tc>
              </a:tr>
              <a:tr h="41148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Contribution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34.7%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40.7%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35.3%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A2E4A"/>
                          </a:solidFill>
                          <a:latin typeface="Calibri"/>
                        </a:rPr>
                        <a:t>42.7%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303520"/>
            <a:ext cx="11109960" cy="777240"/>
          </a:xfrm>
          <a:prstGeom prst="roundRect">
            <a:avLst>
              <a:gd name="adj" fmla="val 12000"/>
            </a:avLst>
          </a:prstGeom>
          <a:solidFill>
            <a:srgbClr val="1A2E4A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4223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6EFDD"/>
                </a:solidFill>
                <a:latin typeface="Calibri"/>
              </a:rPr>
              <a:t>Truck shifts the mix: lower per-cover dollars on weekday route, higher contribution on event work that the home kitchen cannot serve.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2E4A"/>
                </a:solidFill>
                <a:latin typeface="Calibri"/>
              </a:rPr>
              <a:t>Cuisine du Nord  |  SBA 7(a) request, November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A2E4A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B3C"/>
                </a:solidFill>
                <a:latin typeface="Calibri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Calibri"/>
              </a:rPr>
              <a:t>Six month build-out, twelve month payback.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1069848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487168"/>
            <a:ext cx="365760" cy="365760"/>
          </a:xfrm>
          <a:prstGeom prst="ellipse">
            <a:avLst/>
          </a:prstGeom>
          <a:solidFill>
            <a:srgbClr val="0F1F33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Calibri"/>
              </a:rPr>
              <a:t>Mo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3017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F33"/>
                </a:solidFill>
                <a:latin typeface="Calibri"/>
              </a:rPr>
              <a:t>Loan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" y="342900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A2E4A"/>
                </a:solidFill>
                <a:latin typeface="Calibri"/>
              </a:rPr>
              <a:t>SBA disbursement, escrow set.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2487168"/>
            <a:ext cx="365760" cy="365760"/>
          </a:xfrm>
          <a:prstGeom prst="ellipse">
            <a:avLst/>
          </a:prstGeom>
          <a:solidFill>
            <a:srgbClr val="0F1F33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Calibri"/>
              </a:rPr>
              <a:t>Mo 2-3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017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F33"/>
                </a:solidFill>
                <a:latin typeface="Calibri"/>
              </a:rPr>
              <a:t>Truck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42900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A2E4A"/>
                </a:solidFill>
                <a:latin typeface="Calibri"/>
              </a:rPr>
              <a:t>Reefer trailer + prep galley, fit-out at Cascade Mobile Kitchens.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0" y="2487168"/>
            <a:ext cx="365760" cy="365760"/>
          </a:xfrm>
          <a:prstGeom prst="ellipse">
            <a:avLst/>
          </a:prstGeom>
          <a:solidFill>
            <a:srgbClr val="0F1F33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Calibri"/>
              </a:rPr>
              <a:t>Mo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17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F33"/>
                </a:solidFill>
                <a:latin typeface="Calibri"/>
              </a:rPr>
              <a:t>Permits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42900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A2E4A"/>
                </a:solidFill>
                <a:latin typeface="Calibri"/>
              </a:rPr>
              <a:t>Multnomah + Washington county mobile food permits, OLCC waiver.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79" y="2487168"/>
            <a:ext cx="365760" cy="365760"/>
          </a:xfrm>
          <a:prstGeom prst="ellipse">
            <a:avLst/>
          </a:prstGeom>
          <a:solidFill>
            <a:srgbClr val="0F1F33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9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Calibri"/>
              </a:rPr>
              <a:t>Mo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9" y="3017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F33"/>
                </a:solidFill>
                <a:latin typeface="Calibri"/>
              </a:rPr>
              <a:t>Soft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399" y="342900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A2E4A"/>
                </a:solidFill>
                <a:latin typeface="Calibri"/>
              </a:rPr>
              <a:t>Weekend test at Tualatin and Beaverton lots, low volume.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0" y="2487168"/>
            <a:ext cx="365760" cy="365760"/>
          </a:xfrm>
          <a:prstGeom prst="ellipse">
            <a:avLst/>
          </a:prstGeom>
          <a:solidFill>
            <a:srgbClr val="0F1F33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Calibri"/>
              </a:rPr>
              <a:t>Mo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017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F33"/>
                </a:solidFill>
                <a:latin typeface="Calibri"/>
              </a:rPr>
              <a:t>Full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42900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A2E4A"/>
                </a:solidFill>
                <a:latin typeface="Calibri"/>
              </a:rPr>
              <a:t>Mon to Thu lunch route + weekend events.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11109960" cy="960120"/>
          </a:xfrm>
          <a:prstGeom prst="roundRect">
            <a:avLst>
              <a:gd name="adj" fmla="val 12000"/>
            </a:avLst>
          </a:prstGeom>
          <a:solidFill>
            <a:srgbClr val="0F1F33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BREAK-EVEN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6EFDD"/>
                </a:solidFill>
                <a:latin typeface="Calibri"/>
              </a:rPr>
              <a:t>Conservative: month 11. Base case: month 9. Aggressive (3 weekend events / month): month 7.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2E4A"/>
                </a:solidFill>
                <a:latin typeface="Calibri"/>
              </a:rPr>
              <a:t>Cuisine du Nord  |  SBA 7(a) request, November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A2E4A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B3C"/>
                </a:solidFill>
                <a:latin typeface="Calibri"/>
              </a:rP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Calibri"/>
              </a:rPr>
              <a:t>Where the $58,000 goes.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56692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737360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7451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B3C"/>
                </a:solidFill>
                <a:latin typeface="Calibri"/>
              </a:rPr>
              <a:t>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F33"/>
                </a:solidFill>
                <a:latin typeface="Calibri"/>
              </a:rPr>
              <a:t>Truck build &amp; fit-out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331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1A2E4A"/>
                </a:solidFill>
                <a:latin typeface="Calibri"/>
              </a:rPr>
              <a:t>$32,000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331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C89B3C"/>
                </a:solidFill>
                <a:latin typeface="Calibri"/>
              </a:rPr>
              <a:t>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2587752"/>
            <a:ext cx="4892040" cy="8000"/>
          </a:xfrm>
          <a:prstGeom prst="rect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62432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F33"/>
                </a:solidFill>
                <a:latin typeface="Calibri"/>
              </a:rPr>
              <a:t>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62432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1A2E4A"/>
                </a:solidFill>
                <a:latin typeface="Calibri"/>
              </a:rPr>
              <a:t>$9,000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262432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C89B3C"/>
                </a:solidFill>
                <a:latin typeface="Calibri"/>
              </a:rPr>
              <a:t>16%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880359"/>
            <a:ext cx="4892040" cy="8000"/>
          </a:xfrm>
          <a:prstGeom prst="rect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9169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F33"/>
                </a:solidFill>
                <a:latin typeface="Calibri"/>
              </a:rPr>
              <a:t>Permits &amp; insurance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9169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1A2E4A"/>
                </a:solidFill>
                <a:latin typeface="Calibri"/>
              </a:rPr>
              <a:t>$4,500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291693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C89B3C"/>
                </a:solidFill>
                <a:latin typeface="Calibri"/>
              </a:rPr>
              <a:t>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3172968"/>
            <a:ext cx="4892040" cy="8000"/>
          </a:xfrm>
          <a:prstGeom prst="rect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2095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F33"/>
                </a:solidFill>
                <a:latin typeface="Calibri"/>
              </a:rPr>
              <a:t>Branding &amp; wrap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095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1A2E4A"/>
                </a:solidFill>
                <a:latin typeface="Calibri"/>
              </a:rPr>
              <a:t>$3,500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320954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C89B3C"/>
                </a:solidFill>
                <a:latin typeface="Calibri"/>
              </a:rPr>
              <a:t>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3465576"/>
            <a:ext cx="4892040" cy="8000"/>
          </a:xfrm>
          <a:prstGeom prst="rect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5021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F33"/>
                </a:solidFill>
                <a:latin typeface="Calibri"/>
              </a:rPr>
              <a:t>Working capital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5021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1A2E4A"/>
                </a:solidFill>
                <a:latin typeface="Calibri"/>
              </a:rPr>
              <a:t>$6,000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35021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C89B3C"/>
                </a:solidFill>
                <a:latin typeface="Calibri"/>
              </a:rPr>
              <a:t>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3758184"/>
            <a:ext cx="4892040" cy="8000"/>
          </a:xfrm>
          <a:prstGeom prst="rect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794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F33"/>
                </a:solidFill>
                <a:latin typeface="Calibri"/>
              </a:rPr>
              <a:t>Contingency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7947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1A2E4A"/>
                </a:solidFill>
                <a:latin typeface="Calibri"/>
              </a:rPr>
              <a:t>$3,000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3794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C89B3C"/>
                </a:solidFill>
                <a:latin typeface="Calibri"/>
              </a:rPr>
              <a:t>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4050792"/>
            <a:ext cx="4892040" cy="8000"/>
          </a:xfrm>
          <a:prstGeom prst="rect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087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F33"/>
                </a:solidFill>
                <a:latin typeface="Calibri"/>
              </a:rP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87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A2E4A"/>
                </a:solidFill>
                <a:latin typeface="Calibri"/>
              </a:rPr>
              <a:t>$58,000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40873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C89B3C"/>
                </a:solidFill>
                <a:latin typeface="Calibri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2E4A"/>
                </a:solidFill>
                <a:latin typeface="Calibri"/>
              </a:rPr>
              <a:t>Cuisine du Nord  |  SBA 7(a) request, November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A2E4A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B3C"/>
                </a:solidFill>
                <a:latin typeface="Calibri"/>
              </a:rPr>
              <a:t>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Calibri"/>
              </a:rPr>
              <a:t>Three honest risks, three matched mitigations.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R01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Calibri"/>
              </a:rPr>
              <a:t>Two-job bandwidth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Hawthorne Grand afternoon rotation plus a truck route is the same person twice.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Hand the weekday lunch route to Emile (FT-equivalent) from month 4; Yves stays on weekends and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6118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R02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Calibri"/>
              </a:rPr>
              <a:t>Permit slip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Mobile food permits in both counties can drift 6 to 8 weeks if anything is missing.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177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Pre-engage Multnomah and Washington inspectors in month 3, parallel filings, expedite fee budgeted.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6118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R03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Calibri"/>
              </a:rPr>
              <a:t>Weather and season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88036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Q1 truck volume in Portland is weather-sensitive; first quarter break-even risk.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297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MITIGATION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6177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2E4A"/>
                </a:solidFill>
                <a:latin typeface="Calibri"/>
              </a:rPr>
              <a:t>Q1 anchored on three repeat private-event clients already signed; route revenue is upside, not floor.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2E4A"/>
                </a:solidFill>
                <a:latin typeface="Calibri"/>
              </a:rPr>
              <a:t>Cuisine du Nord  |  SBA 7(a) request, November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A2E4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" cy="10972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9B3C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6EFDD"/>
                </a:solidFill>
                <a:latin typeface="Calibri"/>
              </a:rPr>
              <a:t>$58,000 SBA 7(a), 84 months, 7.9% APR.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9B6C8"/>
                </a:solidFill>
                <a:latin typeface="Calibri"/>
              </a:rPr>
              <a:t>Estimated monthly debt service $903; covered 3.5x by base-case truck contribution.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1A2E4A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C89B3C"/>
                </a:solidFill>
                <a:latin typeface="Calibri"/>
              </a:rPr>
              <a:t>$58,000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EFDD"/>
                </a:solidFill>
                <a:latin typeface="Calibri"/>
              </a:rPr>
              <a:t>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B6C8"/>
                </a:solidFill>
                <a:latin typeface="Calibri"/>
              </a:rPr>
              <a:t>Final number after fit-out quotes; 5% contingency included.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4320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1A2E4A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C89B3C"/>
                </a:solidFill>
                <a:latin typeface="Calibri"/>
              </a:rPr>
              <a:t>$903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EFDD"/>
                </a:solidFill>
                <a:latin typeface="Calibri"/>
              </a:rPr>
              <a:t>monthly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B6C8"/>
                </a:solidFill>
                <a:latin typeface="Calibri"/>
              </a:rPr>
              <a:t>84 months at 7.9% APR. First payment month 7 after Mo 6 grace.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1A2E4A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880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C89B3C"/>
                </a:solidFill>
                <a:latin typeface="Calibri"/>
              </a:rPr>
              <a:t>3.5x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EFDD"/>
                </a:solidFill>
                <a:latin typeface="Calibri"/>
              </a:rPr>
              <a:t>DSCR (base)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0690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B6C8"/>
                </a:solidFill>
                <a:latin typeface="Calibri"/>
              </a:rPr>
              <a:t>Base-case contribution $3,150 / month from route + events.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12000"/>
            </a:avLst>
          </a:prstGeom>
          <a:solidFill>
            <a:srgbClr val="1A2E4A"/>
          </a:solidFill>
          <a:ln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9B3C"/>
                </a:solidFill>
                <a:latin typeface="Calibri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6EFDD"/>
                </a:solidFill>
                <a:latin typeface="Calibri"/>
              </a:rPr>
              <a:t>Patrick Doyle, mentor referral, can broker the intake call. Yves Quinn  |  (503) 555-0192  |  yves.quinn@voissync.ai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6C8"/>
                </a:solidFill>
                <a:latin typeface="Calibri"/>
              </a:rPr>
              <a:t>Cuisine du Nord  |  SBA 7(a) request, November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A9B6C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