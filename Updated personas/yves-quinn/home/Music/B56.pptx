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rgbClr val="0C6E6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 (proj)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1840</c:v>
                </c:pt>
                <c:pt idx="1">
                  <c:v>2960</c:v>
                </c:pt>
                <c:pt idx="2">
                  <c:v>3620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Reveillon / private</c:v>
                </c:pt>
              </c:strCache>
            </c:strRef>
          </c:tx>
          <c:spPr>
            <a:solidFill>
              <a:srgbClr val="9AC53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 (proj)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1200</c:v>
                </c:pt>
                <c:pt idx="1">
                  <c:v>1640</c:v>
                </c:pt>
                <c:pt idx="2">
                  <c:v>4480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booth</c:v>
                </c:pt>
              </c:strCache>
            </c:strRef>
          </c:tx>
          <c:spPr>
            <a:solidFill>
              <a:srgbClr val="E9C46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 (proj)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820</c:v>
                </c:pt>
                <c:pt idx="1">
                  <c:v>980</c:v>
                </c:pt>
                <c:pt idx="2">
                  <c:v>1240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Wedding / event</c:v>
                </c:pt>
              </c:strCache>
            </c:strRef>
          </c:tx>
          <c:spPr>
            <a:solidFill>
              <a:srgbClr val="E07B6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 (proj)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560</c:v>
                </c:pt>
                <c:pt idx="1">
                  <c:v>880</c:v>
                </c:pt>
                <c:pt idx="2">
                  <c:v>1420</c:v>
                </c:pt>
              </c:numCache>
            </c:numRef>
          </c:val>
        </c:ser>
        <c:gapWidth val="1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spend</c:v>
                </c:pt>
              </c:strCache>
            </c:strRef>
          </c:tx>
          <c:dPt>
            <c:idx val="0"/>
            <c:spPr>
              <a:solidFill>
                <a:srgbClr val="0C6E6B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AC53F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9C46A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07B60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16918C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9B6BCC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5B6B73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Food cost</c:v>
                </c:pt>
                <c:pt idx="1">
                  <c:v>Packaging</c:v>
                </c:pt>
                <c:pt idx="2">
                  <c:v>Kitchen / fuel</c:v>
                </c:pt>
                <c:pt idx="3">
                  <c:v>Labor (Emile / Sienna)</c:v>
                </c:pt>
                <c:pt idx="4">
                  <c:v>Permits &amp; insurance</c:v>
                </c:pt>
                <c:pt idx="5">
                  <c:v>Marketing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3680</c:v>
                </c:pt>
                <c:pt idx="1">
                  <c:v>720</c:v>
                </c:pt>
                <c:pt idx="2">
                  <c:v>1240</c:v>
                </c:pt>
                <c:pt idx="3">
                  <c:v>1820</c:v>
                </c:pt>
                <c:pt idx="4">
                  <c:v>410</c:v>
                </c:pt>
                <c:pt idx="5">
                  <c:v>280</c:v>
                </c:pt>
                <c:pt idx="6">
                  <c:v>360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23160"/>
            <a:ext cx="12191695" cy="45720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73152" cy="914400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C53F"/>
                </a:solidFill>
                <a:latin typeface="Calibri"/>
              </a:rPr>
              <a:t>CUISINE DU NORD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Q4 2026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31B1F"/>
                </a:solidFill>
                <a:latin typeface="Calibri"/>
              </a:rPr>
              <a:t>What we ran, what we earned,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C6E6B"/>
                </a:solidFill>
                <a:latin typeface="Calibri"/>
              </a:rPr>
              <a:t>what we change for Q1 2027.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5029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918C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5896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31B1F"/>
                </a:solidFill>
                <a:latin typeface="Calibri"/>
              </a:rPr>
              <a:t>Yves Quinn  |  Sunday review, 29 Nov 2026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5120640"/>
            <a:ext cx="320040" cy="320040"/>
          </a:xfrm>
          <a:prstGeom prst="ellipse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20" y="5120640"/>
            <a:ext cx="320040" cy="320040"/>
          </a:xfrm>
          <a:prstGeom prst="ellipse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07040" y="5120640"/>
            <a:ext cx="320040" cy="320040"/>
          </a:xfrm>
          <a:prstGeom prst="ellipse">
            <a:avLst/>
          </a:prstGeom>
          <a:solidFill>
            <a:srgbClr val="E0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0" y="5623559"/>
            <a:ext cx="320040" cy="3200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04120" y="5623559"/>
            <a:ext cx="320040" cy="320040"/>
          </a:xfrm>
          <a:prstGeom prst="ellipse">
            <a:avLst/>
          </a:prstGeom>
          <a:solidFill>
            <a:srgbClr val="169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0" y="5623559"/>
            <a:ext cx="320040" cy="320040"/>
          </a:xfrm>
          <a:prstGeom prst="ellipse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01 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Q4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91440" cy="201168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$18,640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C6E6B"/>
                </a:solidFill>
                <a:latin typeface="Calibri"/>
              </a:rPr>
              <a:t>Q4 gross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+22% vs Q3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91440" cy="2011680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C53F"/>
                </a:solidFill>
                <a:latin typeface="Calibri"/>
              </a:rPr>
              <a:t>bookings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+6 vs 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69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91440" cy="2011680"/>
          </a:xfrm>
          <a:prstGeom prst="rect">
            <a:avLst/>
          </a:prstGeom>
          <a:solidFill>
            <a:srgbClr val="169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$23.60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918C"/>
                </a:solidFill>
                <a:latin typeface="Calibri"/>
              </a:rPr>
              <a:t>avg per 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+$0.40 vs Q3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91440" cy="201168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C46A"/>
                </a:solidFill>
                <a:latin typeface="Calibri"/>
              </a:rPr>
              <a:t>repeat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7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114800"/>
            <a:ext cx="91440" cy="2011680"/>
          </a:xfrm>
          <a:prstGeom prst="rect">
            <a:avLst/>
          </a:prstGeom>
          <a:solidFill>
            <a:srgbClr val="E0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343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$7,560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7B60"/>
                </a:solidFill>
                <a:latin typeface="Calibri"/>
              </a:rPr>
              <a:t>food truck 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486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on target for Mar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114800"/>
            <a:ext cx="91440" cy="201168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31B1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C6E6B"/>
                </a:solidFill>
                <a:latin typeface="Calibri"/>
              </a:rPr>
              <a:t>no-show inquiries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486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3"/>
                </a:solidFill>
                <a:latin typeface="Calibri"/>
              </a:rPr>
              <a:t>down from 9 in Q3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02 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Revenue by event type, monthly.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83080"/>
            <a:ext cx="29718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918C"/>
                </a:solidFill>
                <a:latin typeface="Calibri"/>
              </a:rPr>
              <a:t>WHAT 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286000"/>
            <a:ext cx="26517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>Reveillon and private events triple in Dec - the seasonal load that funds the rest of the year.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>Corporate is now consistently the largest weekday channel, up from 27% in Q3 to 38% in Q4.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>Market booth is flat as a share but grew in absolute dollars; weather held.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31B1F"/>
                </a:solidFill>
                <a:latin typeface="Calibri"/>
              </a:rPr>
              <a:t>Wedding channel still small but climbing; two referrals out of one September job.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03 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Top clients, year to date.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109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  <a:gridCol w="1851660"/>
                <a:gridCol w="1851660"/>
              </a:tblGrid>
              <a:tr h="447040"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Bookings YTD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Revenue YTD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Avg cover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 b="1">
                          <a:solidFill>
                            <a:srgbClr val="9AC53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C6E6B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Ambervale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Repeat, 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Cedar Crest Events (referrer)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$3,940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$21.50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Referral channel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St Anselm parish 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$3,610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Reveillon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Voissync (workspace event)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$1,760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$22.00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New, growing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Holloway &amp; Marsh 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$1,560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Lunch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Beaverton Tech Collective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$22.00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First booking 2026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Lisa Chen (planner)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Referrer, 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Saturday market walk-up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$3,940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varies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  <a:tc>
                  <a:txBody>
                    <a:bodyPr lIns="73152"/>
                    <a:lstStyle/>
                    <a:p>
                      <a:r>
                        <a:rPr sz="1200">
                          <a:solidFill>
                            <a:srgbClr val="131B1F"/>
                          </a:solidFill>
                          <a:latin typeface="Calibri"/>
                        </a:rPr>
                        <a:t>Booth B47</a:t>
                      </a:r>
                    </a:p>
                  </a:txBody>
                  <a:tcPr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989320"/>
            <a:ext cx="11109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69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Top 4 clients = 65% of revenue. Healthy concentration, but watch the parish hall dependence over the holiday weeks.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04  EXPENSE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Where Q4 spend went.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78308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918C"/>
                </a:solidFill>
                <a:latin typeface="Calibri"/>
              </a:rPr>
              <a:t>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331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$3,680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3317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3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Labor (crew)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60603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$1,820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60603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Kitchen / fuel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8803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$1,240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8803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5467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Packaging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15467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$720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15467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29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Permits &amp; insurance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4290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$410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34290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033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033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$280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7033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97763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31B1F"/>
                </a:solidFill>
                <a:latin typeface="Calibri"/>
              </a:rPr>
              <a:t>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97763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0C6E6B"/>
                </a:solidFill>
                <a:latin typeface="Calibri"/>
              </a:rPr>
              <a:t>$360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97763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5B6B73"/>
                </a:solidFill>
                <a:latin typeface="Calibri"/>
              </a:rPr>
              <a:t>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51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31B1F"/>
                </a:solidFill>
                <a:latin typeface="Calibri"/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251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C6E6B"/>
                </a:solidFill>
                <a:latin typeface="Calibri"/>
              </a:rPr>
              <a:t>$8,510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42519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5B6B73"/>
                </a:solidFill>
                <a:latin typeface="Calibri"/>
              </a:rPr>
              <a:t>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05  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What worked, what bit 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5321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532120" cy="54864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918C"/>
                </a:solidFill>
                <a:latin typeface="Calibri"/>
              </a:rPr>
              <a:t>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566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Reveillon pre-order push at the market drove 18 advance covers.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Kitchen pre-inspection passed first time on 5 Nov.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Two new corporate accounts from a single Lisa Chen referral.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Hand-built kimchi tourtiere with Sienna sold out two Saturdays running.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Square deposit pattern fully replaces emailed PDFs - faster close.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Crew rota for 12 Dec locked four weeks ahead, no last-minute scramble.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9496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7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394960" cy="54864"/>
          </a:xfrm>
          <a:prstGeom prst="rect">
            <a:avLst/>
          </a:prstGeom>
          <a:solidFill>
            <a:srgbClr val="E0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7B60"/>
                </a:solidFill>
                <a:latin typeface="Calibri"/>
              </a:rPr>
              <a:t>LESSONS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5029200" cy="3566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Lost a quote to slow turnaround on 12 Nov - target 24h, hit 41h.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Packaging cost crept up after the Costco move; revisit suppliers in Jan.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One allergen swap missed; chefs need cross-check before invoice goes out.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Saturday market booth labor (3 hours setup) under-counted in cost model.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31B1F"/>
                </a:solidFill>
                <a:latin typeface="Calibri"/>
              </a:rPr>
              <a:t>-  Inventory sheets still on paper - move to Airtable in Q1.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C53F"/>
                </a:solidFill>
                <a:latin typeface="Calibri"/>
              </a:rPr>
              <a:t>06 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1B1F"/>
                </a:solidFill>
                <a:latin typeface="Calibri"/>
              </a:rPr>
              <a:t>Q1 2027, three workstreams.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3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6E6B"/>
                </a:solidFill>
                <a:latin typeface="Calibri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Migrate inventory + recipes to Airtable.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130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6E6B"/>
                </a:solidFill>
                <a:latin typeface="Calibri"/>
              </a:rPr>
              <a:t>Feb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Costco vs Restaurant Depot price comparison rerun.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C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474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C6E6B"/>
                </a:solidFill>
                <a:latin typeface="Calibri"/>
              </a:rPr>
              <a:t>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Trial second kitchen day at Culinary Crossroads.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828800"/>
            <a:ext cx="3611880" cy="502920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883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46888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786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AC53F"/>
                </a:solidFill>
                <a:latin typeface="Calibri"/>
              </a:rPr>
              <a:t>Jan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New 2027 menu PDF, 6 tourtiere variants + kimchi 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0332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130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AC53F"/>
                </a:solidFill>
                <a:latin typeface="Calibri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Wedding-channel push, 4 venue intros via Lisa Chen.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93776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0474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AC53F"/>
                </a:solidFill>
                <a:latin typeface="Calibri"/>
              </a:rPr>
              <a:t>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Soft-launch food truck pre-orders on website.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11880" cy="502920"/>
          </a:xfrm>
          <a:prstGeom prst="rect">
            <a:avLst/>
          </a:prstGeom>
          <a:solidFill>
            <a:srgbClr val="E0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883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46888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7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5786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7B60"/>
                </a:solidFill>
                <a:latin typeface="Calibri"/>
              </a:rPr>
              <a:t>Jan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926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SBA intake call (Patrick Doyle warm intro).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70332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7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8130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7B60"/>
                </a:solidFill>
                <a:latin typeface="Calibri"/>
              </a:rPr>
              <a:t>Feb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Truck quote shortlist, three vendors.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93776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7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50474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7B60"/>
                </a:solidFill>
                <a:latin typeface="Calibri"/>
              </a:rPr>
              <a:t>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31B1F"/>
                </a:solidFill>
                <a:latin typeface="Calibri"/>
              </a:rPr>
              <a:t>Loan decision; capex commit if approved.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0C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3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3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6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" cy="1280160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C53F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Q4 closes well. Q1 begins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4F7F6"/>
                </a:solidFill>
                <a:latin typeface="Calibri"/>
              </a:rPr>
              <a:t>Three things from this deck land on Monday's task list, nothing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3611880" cy="1554480"/>
          </a:xfrm>
          <a:prstGeom prst="roundRect">
            <a:avLst>
              <a:gd name="adj" fmla="val 12000"/>
            </a:avLst>
          </a:prstGeom>
          <a:solidFill>
            <a:srgbClr val="0A524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AC53F"/>
                </a:solidFill>
                <a:latin typeface="Calibri"/>
              </a:rPr>
              <a:t>Airtable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Inventory + recipes by Jan 31.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572000"/>
            <a:ext cx="3611880" cy="1554480"/>
          </a:xfrm>
          <a:prstGeom prst="roundRect">
            <a:avLst>
              <a:gd name="adj" fmla="val 12000"/>
            </a:avLst>
          </a:prstGeom>
          <a:solidFill>
            <a:srgbClr val="0A524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09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AC53F"/>
                </a:solidFill>
                <a:latin typeface="Calibri"/>
              </a:rPr>
              <a:t>SBA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Patrick warm intro by Jan 15.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572000"/>
            <a:ext cx="3611880" cy="1554480"/>
          </a:xfrm>
          <a:prstGeom prst="roundRect">
            <a:avLst>
              <a:gd name="adj" fmla="val 12000"/>
            </a:avLst>
          </a:prstGeom>
          <a:solidFill>
            <a:srgbClr val="0A524F"/>
          </a:solidFill>
          <a:ln>
            <a:solidFill>
              <a:srgbClr val="9AC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09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9AC53F"/>
                </a:solidFill>
                <a:latin typeface="Calibri"/>
              </a:rPr>
              <a:t>2027 menu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166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Draft by Feb 1, print Feb 15.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9AC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4F7F6"/>
                </a:solidFill>
                <a:latin typeface="Calibri"/>
              </a:rPr>
              <a:t>Cuisine du Nord  |  Q4 2026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4F7F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